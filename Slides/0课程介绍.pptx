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69" r:id="rId4"/>
    <p:sldId id="271" r:id="rId5"/>
    <p:sldId id="264" r:id="rId6"/>
    <p:sldId id="265" r:id="rId7"/>
    <p:sldId id="266" r:id="rId8"/>
    <p:sldId id="267" r:id="rId9"/>
    <p:sldId id="270" r:id="rId10"/>
    <p:sldId id="257" r:id="rId11"/>
    <p:sldId id="262" r:id="rId12"/>
    <p:sldId id="263" r:id="rId13"/>
    <p:sldId id="260" r:id="rId14"/>
    <p:sldId id="273" r:id="rId15"/>
    <p:sldId id="274" r:id="rId16"/>
    <p:sldId id="272" r:id="rId17"/>
    <p:sldId id="261" r:id="rId1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6C934-37AB-41CA-85A5-7EC2093BDAEC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B3C0F-CED0-41E7-97E5-D27F9AB6A9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205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B3C0F-CED0-41E7-97E5-D27F9AB6A9C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76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B3C0F-CED0-41E7-97E5-D27F9AB6A9C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621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B837E4-242E-4C73-ABF1-8E4A96D77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0799BA-34EE-4A9D-A84C-CC6DCBBA8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116F8B-AF7E-4D57-A8A7-385DF3C77C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5ECD64A-0A1D-4749-9856-62CDFB8FE093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654D00-93FB-4A4C-845F-52849F0DE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01D06B-109A-48C1-A83E-92CADF88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7524CE4-44AE-447A-B9F5-3F7C5F4220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561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98A96-5087-49C2-940B-0869A654D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884"/>
            <a:ext cx="78867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DC5637-216D-4477-8944-70AF65666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85" y="1344447"/>
            <a:ext cx="8744505" cy="551355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66C98F-D505-414B-95E8-11A69CBF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5ECD64A-0A1D-4749-9856-62CDFB8FE093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F9AF91-8CF5-404C-873E-9EC0A809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C9B754-573D-4859-9E86-3C688B8B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7524CE4-44AE-447A-B9F5-3F7C5F4220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117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66061-DEE8-4575-99A7-4546BD68A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361323-EF4E-488D-A439-742D0A3D6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D3DEFF-15D6-461D-A490-E32043B536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5ECD64A-0A1D-4749-9856-62CDFB8FE093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7418FA-6FBB-43FA-87AE-5D5A0625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15C1B4-0AA4-478B-B159-305EBFF5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7524CE4-44AE-447A-B9F5-3F7C5F4220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099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D39B6-E428-4D7A-8CEE-16F64E403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9E93EC-A652-4BB5-A5C0-A16E6F59DC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9DBB30-53B3-4CF0-B1BB-2C599B5F8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426A55-7851-4245-AA0B-65CAB559C1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5ECD64A-0A1D-4749-9856-62CDFB8FE093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24DDFB-D3E0-418A-9CC2-6614D0725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8389B8-CB1C-40E2-9DDE-88DC359C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7524CE4-44AE-447A-B9F5-3F7C5F4220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009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E0F20C-D4EA-447E-BAB4-41C6EF757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4DEB66-1D98-4E9C-861D-2A2126855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35D30E-82DF-4C77-95B3-31E9ED4D6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9329B2-994F-49CA-99CB-11FF12264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95DA31-6438-4F38-9690-091C3B250D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5267086-EF75-4FFC-A1EB-4ACF67D6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5ECD64A-0A1D-4749-9856-62CDFB8FE093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869F0E-A063-42C4-B354-385711783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92DCF5-7A6A-490E-94EA-AFB87722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7524CE4-44AE-447A-B9F5-3F7C5F4220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250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3813A-1C7E-4C28-8491-E3ADDC77A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5C80AF-5AC7-4EC6-A169-C5637823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5ECD64A-0A1D-4749-9856-62CDFB8FE093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1FEC16-1EB5-4C0E-B632-846CABD24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880098-EAEB-454C-AACF-BD71B17B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7524CE4-44AE-447A-B9F5-3F7C5F4220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757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13D87F-929D-4F4A-BF3B-D2995100BD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5ECD64A-0A1D-4749-9856-62CDFB8FE093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930461-E55A-4985-AB88-F787D3947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6A8CBC-6F26-4440-96DB-7F6AACDEF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7524CE4-44AE-447A-B9F5-3F7C5F4220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023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362D8-DC67-4278-BB57-B36EB7E1F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118F9F-109F-4CE4-B715-81516782D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013447-A5E1-4EA0-A4CF-F89244627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800A6C-08F8-4FA1-9462-F0B5D987B9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5ECD64A-0A1D-4749-9856-62CDFB8FE093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70EE59-69F2-4791-92E4-DBCC463A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96E713-D7C4-4AD4-9D11-5F69198F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7524CE4-44AE-447A-B9F5-3F7C5F4220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357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33036-BB5F-418C-A418-C3E05F518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532ED9-812B-4CA6-9B72-5D9115D6F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493B3D-8834-4C2F-A780-FBBFACF0C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554264-A0D8-466B-9FA1-F5BC0BAA3D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5ECD64A-0A1D-4749-9856-62CDFB8FE093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49A841-5B39-4754-816C-41A6DAC39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687EAD-E76F-463A-9E8B-8A377C84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7524CE4-44AE-447A-B9F5-3F7C5F4220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66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138AC-01C3-4507-A57A-6E93A64AC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90A155-F9B1-47DB-A745-92929EF2A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F805D5-F848-4DA5-BD1C-C00DEE8AD5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5ECD64A-0A1D-4749-9856-62CDFB8FE093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0F7F52-77E5-4E01-82EC-B02DE617D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71FBDD-CB99-4E77-B39C-664E6AD24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7524CE4-44AE-447A-B9F5-3F7C5F4220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271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51D8561-F04F-4319-96F9-9C2B7E4DFE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D6518E-17BE-47D3-BBAA-81FCD9C6F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B0CCA8-A4C7-4A27-8872-383929DB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5ECD64A-0A1D-4749-9856-62CDFB8FE093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A30D24-D1E1-4EAA-A792-3DB49CA9E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70C573-A281-4B63-B527-3D0B180C7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7524CE4-44AE-447A-B9F5-3F7C5F4220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10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4E678A-783F-404E-96A8-2CCB71B6D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88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C0C0DF-9B9D-4FAD-A0B1-0C630A057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85" y="1344446"/>
            <a:ext cx="8744505" cy="5513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42815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ursera.org/learn/algorithms-part2" TargetMode="External"/><Relationship Id="rId3" Type="http://schemas.openxmlformats.org/officeDocument/2006/relationships/hyperlink" Target="https://www.icourses.cn/sCourse/course_2945.html" TargetMode="External"/><Relationship Id="rId7" Type="http://schemas.openxmlformats.org/officeDocument/2006/relationships/hyperlink" Target="https://www.coursera.org/learn/algorithms-part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ursera.org/specializations/data-structures-algorithms-tsinghua" TargetMode="External"/><Relationship Id="rId5" Type="http://schemas.openxmlformats.org/officeDocument/2006/relationships/hyperlink" Target="https://www.coursera.org/learn/gaoji-shuju-jiegou" TargetMode="External"/><Relationship Id="rId4" Type="http://schemas.openxmlformats.org/officeDocument/2006/relationships/hyperlink" Target="https://www.coursera.org/learn/shuju-jiegou-suanfa" TargetMode="External"/><Relationship Id="rId9" Type="http://schemas.openxmlformats.org/officeDocument/2006/relationships/hyperlink" Target="https://www.coursera.org/specializations/algorithm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ketangpai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4F974C-A5EA-4012-80B8-419C7C482B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zh-CN" altLang="en-US" dirty="0"/>
              <a:t>数据结构与算法 </a:t>
            </a:r>
            <a:r>
              <a:rPr lang="en-US" altLang="zh-CN" dirty="0"/>
              <a:t>I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5B4441-7B37-4C95-AC08-8591B469B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zh-CN" altLang="en-US" sz="3200" dirty="0"/>
              <a:t>王秋月</a:t>
            </a:r>
            <a:endParaRPr lang="en-US" altLang="zh-CN" sz="3200" dirty="0"/>
          </a:p>
          <a:p>
            <a:r>
              <a:rPr lang="en-US" altLang="zh-CN" sz="3200" dirty="0"/>
              <a:t>qiuyuew@ruc.edu.cn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79999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C56F7-01AB-41C7-B11C-0DAAD0CAD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柯尼斯堡（</a:t>
            </a:r>
            <a:r>
              <a:rPr lang="en-US" altLang="zh-CN" dirty="0" err="1"/>
              <a:t>Königsberg</a:t>
            </a:r>
            <a:r>
              <a:rPr lang="zh-CN" altLang="en-US" dirty="0"/>
              <a:t>）七桥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8A2AFE-6355-419A-8634-3815183E9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640" y="1102936"/>
            <a:ext cx="7011704" cy="552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316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A91539-FE43-4C39-AE80-23F1595E8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欧拉，</a:t>
            </a:r>
            <a:r>
              <a:rPr lang="en-US" altLang="zh-CN" dirty="0"/>
              <a:t>1735</a:t>
            </a:r>
            <a:endParaRPr lang="zh-CN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536E04-95F5-4F8B-85E7-77BFD7AB6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3" y="1162049"/>
            <a:ext cx="3634721" cy="2864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7C20BBC-2FDB-4DBE-AAB0-FD8B0D8AB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341" y="1088857"/>
            <a:ext cx="3802102" cy="30446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664E8B1-5777-4398-9371-AC091BBBA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0422" y="4026498"/>
            <a:ext cx="3363156" cy="2739133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5B5CD37E-CFDA-4B2D-BA16-A83C99F433F2}"/>
              </a:ext>
            </a:extLst>
          </p:cNvPr>
          <p:cNvSpPr/>
          <p:nvPr/>
        </p:nvSpPr>
        <p:spPr>
          <a:xfrm>
            <a:off x="4138367" y="2422689"/>
            <a:ext cx="650449" cy="4088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直角上 9">
            <a:extLst>
              <a:ext uri="{FF2B5EF4-FFF2-40B4-BE49-F238E27FC236}">
                <a16:creationId xmlns:a16="http://schemas.microsoft.com/office/drawing/2014/main" id="{D0275970-653C-47E7-9C82-ACBCB3512502}"/>
              </a:ext>
            </a:extLst>
          </p:cNvPr>
          <p:cNvSpPr/>
          <p:nvPr/>
        </p:nvSpPr>
        <p:spPr>
          <a:xfrm rot="16200000" flipH="1">
            <a:off x="6718150" y="4373637"/>
            <a:ext cx="710173" cy="73152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430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7645AA-96AB-4AD5-A880-2753130E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现在的加里宁格勒地图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CAC40C-04E6-4C90-B033-B01D83CC1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592" y="1322843"/>
            <a:ext cx="5678815" cy="551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615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8EF8A6-DBCD-440F-AD65-4E304F1C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数据结构（</a:t>
            </a:r>
            <a:r>
              <a:rPr lang="en-US" altLang="zh-CN" dirty="0"/>
              <a:t>Data Structure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F45EDB-9B64-4028-AB72-4489F0BC2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72" y="1344447"/>
            <a:ext cx="8389856" cy="4462464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computer science, a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organization and storage format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is usually chosen for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access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data.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precisely, a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data values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them, and the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 or operations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can be applied to the data, i.e., it is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algebraic structure about data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r">
              <a:lnSpc>
                <a:spcPct val="170000"/>
              </a:lnSpc>
              <a:buNone/>
            </a:pP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---Wikipedia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30E11F-E2CE-48A2-8522-D4E965169AC0}"/>
              </a:ext>
            </a:extLst>
          </p:cNvPr>
          <p:cNvSpPr txBox="1"/>
          <p:nvPr/>
        </p:nvSpPr>
        <p:spPr>
          <a:xfrm>
            <a:off x="791850" y="5910606"/>
            <a:ext cx="7532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method</a:t>
            </a:r>
            <a:r>
              <a:rPr lang="en-US" altLang="zh-CN" sz="2800" spc="6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for</a:t>
            </a:r>
            <a:r>
              <a:rPr lang="en-US" altLang="zh-CN" sz="2800" spc="6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organizing</a:t>
            </a:r>
            <a:r>
              <a:rPr lang="en-US" altLang="zh-CN" sz="2800" spc="6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data</a:t>
            </a:r>
            <a:r>
              <a:rPr lang="en-US" altLang="zh-CN" sz="2800" spc="6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in</a:t>
            </a:r>
            <a:r>
              <a:rPr lang="en-US" altLang="zh-CN" sz="2800" spc="6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a</a:t>
            </a:r>
            <a:r>
              <a:rPr lang="en-US" altLang="zh-CN" sz="2800" spc="6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lang="en-US" altLang="zh-CN" sz="28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computer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542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8EF8A6-DBCD-440F-AD65-4E304F1C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算法（</a:t>
            </a:r>
            <a:r>
              <a:rPr lang="en-US" altLang="zh-CN" dirty="0"/>
              <a:t>Algorithm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F45EDB-9B64-4028-AB72-4489F0BC2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6" y="1259605"/>
            <a:ext cx="8182469" cy="456615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mathematics and computer science, an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sequence of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mathematically rigorous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typically used to solve a class of specific problems or to perform a computation.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Formally, an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computational process defined by a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Turing machine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r">
              <a:lnSpc>
                <a:spcPct val="160000"/>
              </a:lnSpc>
              <a:buNone/>
            </a:pP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---Wikipedia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09B03E-597B-4351-BDC6-9A021EA5B729}"/>
              </a:ext>
            </a:extLst>
          </p:cNvPr>
          <p:cNvSpPr txBox="1"/>
          <p:nvPr/>
        </p:nvSpPr>
        <p:spPr>
          <a:xfrm>
            <a:off x="480766" y="5910606"/>
            <a:ext cx="81824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step-by-step procedure for solving a problem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218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1718F-6E57-4D15-AC8B-07A324790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为什么学习数据结构与算法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A88A18-51B1-4A84-962A-9357C2BB21AD}"/>
              </a:ext>
            </a:extLst>
          </p:cNvPr>
          <p:cNvSpPr txBox="1"/>
          <p:nvPr/>
        </p:nvSpPr>
        <p:spPr>
          <a:xfrm>
            <a:off x="578275" y="1253765"/>
            <a:ext cx="7987449" cy="122943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/>
              <a:t>“ Algorithms + Data Structures = Programs. ”</a:t>
            </a:r>
          </a:p>
          <a:p>
            <a:pPr algn="r">
              <a:lnSpc>
                <a:spcPct val="150000"/>
              </a:lnSpc>
            </a:pPr>
            <a:r>
              <a:rPr lang="en-US" altLang="zh-CN" sz="2400" i="1" dirty="0">
                <a:solidFill>
                  <a:srgbClr val="0070C0"/>
                </a:solidFill>
              </a:rPr>
              <a:t>— Niklaus Wirth</a:t>
            </a:r>
            <a:r>
              <a:rPr lang="zh-CN" altLang="en-US" sz="2400" i="1" dirty="0">
                <a:solidFill>
                  <a:srgbClr val="0070C0"/>
                </a:solidFill>
              </a:rPr>
              <a:t>，</a:t>
            </a:r>
            <a:r>
              <a:rPr lang="en-US" altLang="zh-CN" sz="2400" i="1" dirty="0">
                <a:solidFill>
                  <a:srgbClr val="0070C0"/>
                </a:solidFill>
              </a:rPr>
              <a:t>1976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7E4109-385A-4DDF-B5FE-D45C40DBC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156" y="2579328"/>
            <a:ext cx="3195687" cy="416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507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DC9B43-B065-4BFE-AADE-A4864BE57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为什么学习数据结构与算法</a:t>
            </a:r>
          </a:p>
        </p:txBody>
      </p:sp>
      <p:sp>
        <p:nvSpPr>
          <p:cNvPr id="4" name="object 48">
            <a:extLst>
              <a:ext uri="{FF2B5EF4-FFF2-40B4-BE49-F238E27FC236}">
                <a16:creationId xmlns:a16="http://schemas.microsoft.com/office/drawing/2014/main" id="{D520BF94-7F76-49EE-801A-ABD1957ABF4A}"/>
              </a:ext>
            </a:extLst>
          </p:cNvPr>
          <p:cNvSpPr txBox="1"/>
          <p:nvPr/>
        </p:nvSpPr>
        <p:spPr>
          <a:xfrm>
            <a:off x="353436" y="1481558"/>
            <a:ext cx="8437128" cy="3742371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0160" rIns="0" bIns="0" rtlCol="0">
            <a:spAutoFit/>
          </a:bodyPr>
          <a:lstStyle/>
          <a:p>
            <a:pPr marL="204470" marR="201930" indent="-106680">
              <a:lnSpc>
                <a:spcPct val="150000"/>
              </a:lnSpc>
              <a:spcBef>
                <a:spcPts val="80"/>
              </a:spcBef>
            </a:pPr>
            <a:r>
              <a:rPr sz="2800" i="1" dirty="0">
                <a:latin typeface="Times New Roman"/>
                <a:cs typeface="Times New Roman"/>
              </a:rPr>
              <a:t>“</a:t>
            </a:r>
            <a:r>
              <a:rPr sz="2800" i="1" spc="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I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will,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in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fact,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claim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that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the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difference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between</a:t>
            </a:r>
            <a:r>
              <a:rPr sz="2800" i="1" spc="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bad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programmer</a:t>
            </a:r>
            <a:r>
              <a:rPr sz="2800" i="1" spc="50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and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good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one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is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whether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he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considers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his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code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or</a:t>
            </a:r>
            <a:r>
              <a:rPr sz="2800" i="1" spc="2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his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data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structures </a:t>
            </a:r>
            <a:r>
              <a:rPr sz="2800" i="1" dirty="0">
                <a:latin typeface="Times New Roman"/>
                <a:cs typeface="Times New Roman"/>
              </a:rPr>
              <a:t>more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important.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Bad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programmers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worry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about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the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code.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spc="-20" dirty="0">
                <a:latin typeface="Times New Roman"/>
                <a:cs typeface="Times New Roman"/>
              </a:rPr>
              <a:t>Good </a:t>
            </a:r>
            <a:r>
              <a:rPr sz="2800" i="1" dirty="0">
                <a:latin typeface="Times New Roman"/>
                <a:cs typeface="Times New Roman"/>
              </a:rPr>
              <a:t>programmers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worry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about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800" i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structures</a:t>
            </a:r>
            <a:r>
              <a:rPr sz="2800" i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and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their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relationships.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spc="-50" dirty="0">
                <a:latin typeface="Times New Roman"/>
                <a:cs typeface="Times New Roman"/>
              </a:rPr>
              <a:t>”</a:t>
            </a:r>
            <a:endParaRPr lang="en-US" sz="2800" spc="-50" dirty="0">
              <a:latin typeface="Times New Roman"/>
              <a:cs typeface="Times New Roman"/>
            </a:endParaRPr>
          </a:p>
          <a:p>
            <a:pPr marL="204470" marR="201930" indent="-106680" algn="r">
              <a:lnSpc>
                <a:spcPct val="150000"/>
              </a:lnSpc>
              <a:spcBef>
                <a:spcPts val="80"/>
              </a:spcBef>
            </a:pPr>
            <a:r>
              <a:rPr sz="2400" i="1" dirty="0">
                <a:solidFill>
                  <a:srgbClr val="005493"/>
                </a:solidFill>
                <a:latin typeface="Times New Roman"/>
                <a:cs typeface="Times New Roman"/>
              </a:rPr>
              <a:t>— Linus</a:t>
            </a:r>
            <a:r>
              <a:rPr sz="2400" i="1" spc="10" dirty="0">
                <a:solidFill>
                  <a:srgbClr val="005493"/>
                </a:solidFill>
                <a:latin typeface="Times New Roman"/>
                <a:cs typeface="Times New Roman"/>
              </a:rPr>
              <a:t> </a:t>
            </a:r>
            <a:r>
              <a:rPr sz="2400" i="1" spc="-10" dirty="0">
                <a:solidFill>
                  <a:srgbClr val="005493"/>
                </a:solidFill>
                <a:latin typeface="Times New Roman"/>
                <a:cs typeface="Times New Roman"/>
              </a:rPr>
              <a:t>Torvalds</a:t>
            </a:r>
            <a:r>
              <a:rPr sz="2400" i="1" spc="10" dirty="0">
                <a:solidFill>
                  <a:srgbClr val="00549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5493"/>
                </a:solidFill>
                <a:latin typeface="Times New Roman"/>
                <a:cs typeface="Times New Roman"/>
              </a:rPr>
              <a:t>(creator</a:t>
            </a:r>
            <a:r>
              <a:rPr sz="2400" i="1" spc="10" dirty="0">
                <a:solidFill>
                  <a:srgbClr val="00549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5493"/>
                </a:solidFill>
                <a:latin typeface="Times New Roman"/>
                <a:cs typeface="Times New Roman"/>
              </a:rPr>
              <a:t>of</a:t>
            </a:r>
            <a:r>
              <a:rPr sz="2400" i="1" spc="5" dirty="0">
                <a:solidFill>
                  <a:srgbClr val="005493"/>
                </a:solidFill>
                <a:latin typeface="Times New Roman"/>
                <a:cs typeface="Times New Roman"/>
              </a:rPr>
              <a:t> </a:t>
            </a:r>
            <a:r>
              <a:rPr sz="2400" i="1" spc="-10" dirty="0">
                <a:solidFill>
                  <a:srgbClr val="005493"/>
                </a:solidFill>
                <a:latin typeface="Times New Roman"/>
                <a:cs typeface="Times New Roman"/>
              </a:rPr>
              <a:t>Linux)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0285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EC3ED-C991-4C75-A758-52791FF70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为什么学习数据结构与算法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50618A74-3C70-4F19-81B2-2120F1772C94}"/>
              </a:ext>
            </a:extLst>
          </p:cNvPr>
          <p:cNvSpPr txBox="1"/>
          <p:nvPr/>
        </p:nvSpPr>
        <p:spPr>
          <a:xfrm>
            <a:off x="370002" y="1476423"/>
            <a:ext cx="8403996" cy="3311291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9375" rIns="0" bIns="0" rtlCol="0">
            <a:spAutoFit/>
          </a:bodyPr>
          <a:lstStyle/>
          <a:p>
            <a:pPr marL="97790">
              <a:lnSpc>
                <a:spcPct val="150000"/>
              </a:lnSpc>
              <a:spcBef>
                <a:spcPts val="625"/>
              </a:spcBef>
            </a:pPr>
            <a:r>
              <a:rPr sz="2800" i="1" dirty="0">
                <a:latin typeface="Times New Roman"/>
                <a:cs typeface="Times New Roman"/>
              </a:rPr>
              <a:t>“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For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me,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great</a:t>
            </a:r>
            <a:r>
              <a:rPr sz="2800" i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algorithms</a:t>
            </a:r>
            <a:r>
              <a:rPr sz="2800" i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800" i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800" i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poetry</a:t>
            </a:r>
            <a:r>
              <a:rPr sz="2800" i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lang="en-US" sz="2800" i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computation</a:t>
            </a:r>
            <a:r>
              <a:rPr sz="2800" i="1" dirty="0">
                <a:latin typeface="Times New Roman"/>
                <a:cs typeface="Times New Roman"/>
              </a:rPr>
              <a:t>.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spc="-20" dirty="0">
                <a:latin typeface="Times New Roman"/>
                <a:cs typeface="Times New Roman"/>
              </a:rPr>
              <a:t>Just</a:t>
            </a:r>
            <a:r>
              <a:rPr lang="en-US" sz="2800" i="1" spc="-2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like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verse,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they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can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be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terse,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allusive,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dense,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and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even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mysterious.</a:t>
            </a:r>
            <a:r>
              <a:rPr lang="en-US" sz="2800" i="1" spc="-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But</a:t>
            </a:r>
            <a:r>
              <a:rPr sz="2800" i="1" spc="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once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unlocked,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they</a:t>
            </a:r>
            <a:r>
              <a:rPr sz="2800" i="1" spc="2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cast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brilliant</a:t>
            </a:r>
            <a:r>
              <a:rPr sz="2800" i="1" spc="2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new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light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on</a:t>
            </a:r>
            <a:r>
              <a:rPr sz="2800" i="1" spc="20" dirty="0">
                <a:latin typeface="Times New Roman"/>
                <a:cs typeface="Times New Roman"/>
              </a:rPr>
              <a:t> </a:t>
            </a:r>
            <a:r>
              <a:rPr sz="2800" i="1" spc="-20" dirty="0">
                <a:latin typeface="Times New Roman"/>
                <a:cs typeface="Times New Roman"/>
              </a:rPr>
              <a:t>some </a:t>
            </a:r>
            <a:r>
              <a:rPr sz="2800" i="1" dirty="0">
                <a:latin typeface="Times New Roman"/>
                <a:cs typeface="Times New Roman"/>
              </a:rPr>
              <a:t>aspect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of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computing.</a:t>
            </a:r>
            <a:r>
              <a:rPr sz="2800" i="1" spc="315" dirty="0">
                <a:latin typeface="Times New Roman"/>
                <a:cs typeface="Times New Roman"/>
              </a:rPr>
              <a:t> </a:t>
            </a:r>
            <a:r>
              <a:rPr sz="2800" i="1" spc="-50" dirty="0">
                <a:latin typeface="Times New Roman"/>
                <a:cs typeface="Times New Roman"/>
              </a:rPr>
              <a:t>”</a:t>
            </a:r>
            <a:endParaRPr lang="en-US" sz="2800" i="1" spc="-50" dirty="0">
              <a:latin typeface="Times New Roman"/>
              <a:cs typeface="Times New Roman"/>
            </a:endParaRPr>
          </a:p>
          <a:p>
            <a:pPr marL="97790" algn="r">
              <a:lnSpc>
                <a:spcPct val="150000"/>
              </a:lnSpc>
              <a:spcBef>
                <a:spcPts val="625"/>
              </a:spcBef>
            </a:pPr>
            <a:r>
              <a:rPr sz="2400" i="1" dirty="0">
                <a:solidFill>
                  <a:srgbClr val="005493"/>
                </a:solidFill>
                <a:latin typeface="Times New Roman"/>
                <a:cs typeface="Times New Roman"/>
              </a:rPr>
              <a:t>—</a:t>
            </a:r>
            <a:r>
              <a:rPr sz="2400" i="1" spc="15" dirty="0">
                <a:solidFill>
                  <a:srgbClr val="00549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5493"/>
                </a:solidFill>
                <a:latin typeface="Times New Roman"/>
                <a:cs typeface="Times New Roman"/>
              </a:rPr>
              <a:t>Francis</a:t>
            </a:r>
            <a:r>
              <a:rPr sz="2400" i="1" spc="20" dirty="0">
                <a:solidFill>
                  <a:srgbClr val="005493"/>
                </a:solidFill>
                <a:latin typeface="Times New Roman"/>
                <a:cs typeface="Times New Roman"/>
              </a:rPr>
              <a:t> </a:t>
            </a:r>
            <a:r>
              <a:rPr sz="2400" i="1" spc="-10" dirty="0">
                <a:solidFill>
                  <a:srgbClr val="005493"/>
                </a:solidFill>
                <a:latin typeface="Times New Roman"/>
                <a:cs typeface="Times New Roman"/>
              </a:rPr>
              <a:t>Sullivan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8365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F7DE5-0406-4F9B-83E7-1F39BE489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EF7E3F-91B3-4CDE-AB3D-E18E53DC0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06" y="1344447"/>
            <a:ext cx="8295588" cy="5197755"/>
          </a:xfrm>
        </p:spPr>
        <p:txBody>
          <a:bodyPr>
            <a:normAutofit lnSpcReduction="10000"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数据结构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的基本概念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什么是数据结构？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算法的性能分析与度量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常见的数据结构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线性表、栈和队列、串、数组和广义表、树、图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查找和排序算法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静态查找表、动态查找表、哈希表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各种内部排序算法</a:t>
            </a:r>
          </a:p>
        </p:txBody>
      </p:sp>
    </p:spTree>
    <p:extLst>
      <p:ext uri="{BB962C8B-B14F-4D97-AF65-F5344CB8AC3E}">
        <p14:creationId xmlns:p14="http://schemas.microsoft.com/office/powerpoint/2010/main" val="1949145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38029-7AAB-4056-8E91-4FBDF2CC3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884"/>
            <a:ext cx="7886700" cy="957887"/>
          </a:xfrm>
        </p:spPr>
        <p:txBody>
          <a:bodyPr/>
          <a:lstStyle/>
          <a:p>
            <a:r>
              <a:rPr lang="zh-CN" altLang="en-US" dirty="0"/>
              <a:t>参考书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133314-F166-4DC1-A331-3CFEF3D8E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664" y="976770"/>
            <a:ext cx="8606672" cy="5881229"/>
          </a:xfrm>
        </p:spPr>
        <p:txBody>
          <a:bodyPr>
            <a:no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俞勇，张铭，陈越，韩文弢，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数据结构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，高等教育出版社，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2024.7.</a:t>
            </a:r>
          </a:p>
          <a:p>
            <a:r>
              <a:rPr lang="zh-CN" altLang="en-US" sz="200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严蔚敏，吴伟民，</a:t>
            </a:r>
            <a:r>
              <a:rPr lang="zh-CN" altLang="en-US" sz="2000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数据结构（</a:t>
            </a:r>
            <a:r>
              <a:rPr lang="en-US" altLang="zh-CN" sz="2000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语言版）</a:t>
            </a:r>
            <a:r>
              <a:rPr lang="zh-CN" altLang="en-US" sz="200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，清华大学出版社，</a:t>
            </a:r>
            <a:r>
              <a:rPr lang="en-US" altLang="zh-CN" sz="200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1997.4.</a:t>
            </a: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殷人昆，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数据结构（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语言版）（第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版）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，清华大学出版社，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2023.7.</a:t>
            </a: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殷人昆，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数据结构（用面向对象方法与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语言描述）（第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版）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，清华大学出版社，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2021.9.</a:t>
            </a: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李春葆，尹为民等，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数据结构教程（第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版）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，清华大学出版社，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2022.5.</a:t>
            </a: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李春葆，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数据结构教程（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语言描述）（</a:t>
            </a:r>
            <a:r>
              <a:rPr lang="zh-CN" altLang="en-US" sz="2000" b="1" dirty="0">
                <a:latin typeface="宋体" panose="02010600030101010101" pitchFamily="2" charset="-122"/>
              </a:rPr>
              <a:t>第</a:t>
            </a:r>
            <a:r>
              <a:rPr lang="en-US" altLang="zh-CN" sz="2000" b="1" dirty="0">
                <a:latin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</a:rPr>
              <a:t>版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，清华大学出版社，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2025.6.</a:t>
            </a: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邓俊辉，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数据结构（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语言版 第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版）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，清华大学出版社，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2013.9.</a:t>
            </a: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Robert Sedgewick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Kevin Wayne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Algorithms, 4th Edition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Addison-Wesley Professional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2011.3.</a:t>
            </a: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4745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38029-7AAB-4056-8E91-4FBDF2CC3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884"/>
            <a:ext cx="7886700" cy="957887"/>
          </a:xfrm>
        </p:spPr>
        <p:txBody>
          <a:bodyPr/>
          <a:lstStyle/>
          <a:p>
            <a:r>
              <a:rPr lang="zh-CN" altLang="en-US" dirty="0"/>
              <a:t>网上课程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133314-F166-4DC1-A331-3CFEF3D8E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39062"/>
            <a:ext cx="9144000" cy="5918938"/>
          </a:xfrm>
        </p:spPr>
        <p:txBody>
          <a:bodyPr>
            <a:no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翁惠玉，俞勇：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hlinkClick r:id="rId3"/>
              </a:rPr>
              <a:t>https://www.icourses.cn/sCourse/course_2945.html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张铭：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数据结构基础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hlinkClick r:id="rId4"/>
              </a:rPr>
              <a:t>https://www.coursera.org/learn/shuju-jiegou-suanfa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高级数据结构与算法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hlinkClick r:id="rId5"/>
              </a:rPr>
              <a:t>https://www.coursera.org/learn/gaoji-shuju-jiegou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邓俊辉：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hlinkClick r:id="rId6"/>
              </a:rPr>
              <a:t>https://www.coursera.org/specializations/data-structures-algorithms-tsinghua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Princeton University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Algorithms, Part I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hlinkClick r:id="rId7"/>
              </a:rPr>
              <a:t>https://www.coursera.org/learn/algorithms-part1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Algorithms, Part II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hlinkClick r:id="rId8"/>
              </a:rPr>
              <a:t>https://www.coursera.org/learn/algorithms-part2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Stanford University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hlinkClick r:id="rId9"/>
              </a:rPr>
              <a:t>https://www.coursera.org/specializations/algorithms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0212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8AE0B-77C5-456E-A390-DA542743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885"/>
            <a:ext cx="7886700" cy="1049550"/>
          </a:xfrm>
        </p:spPr>
        <p:txBody>
          <a:bodyPr/>
          <a:lstStyle/>
          <a:p>
            <a:r>
              <a:rPr lang="zh-CN" altLang="en-US" dirty="0"/>
              <a:t>其他信息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FE544F-A1A2-49AD-B43E-8F7DB48BB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85" y="857840"/>
            <a:ext cx="8744505" cy="6000160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时间和地点：</a:t>
            </a:r>
            <a:endParaRPr lang="en-US" altLang="zh-CN" dirty="0"/>
          </a:p>
          <a:p>
            <a:pPr lvl="1"/>
            <a:r>
              <a:rPr lang="zh-CN" altLang="en-US" dirty="0"/>
              <a:t>上课：周一</a:t>
            </a:r>
            <a:r>
              <a:rPr lang="en-US" altLang="zh-CN" dirty="0"/>
              <a:t>14:00-15:30</a:t>
            </a:r>
            <a:r>
              <a:rPr lang="zh-CN" altLang="en-US" dirty="0"/>
              <a:t>、周五</a:t>
            </a:r>
            <a:r>
              <a:rPr lang="en-US" altLang="zh-CN" dirty="0"/>
              <a:t>18:00-19:30</a:t>
            </a:r>
            <a:r>
              <a:rPr lang="zh-CN" altLang="en-US" dirty="0"/>
              <a:t>，国学楼</a:t>
            </a:r>
            <a:r>
              <a:rPr lang="en-US" altLang="zh-CN" dirty="0"/>
              <a:t>B113</a:t>
            </a:r>
          </a:p>
          <a:p>
            <a:pPr lvl="1"/>
            <a:r>
              <a:rPr lang="zh-CN" altLang="en-US" dirty="0"/>
              <a:t>上机：周一</a:t>
            </a:r>
            <a:r>
              <a:rPr lang="en-US" altLang="zh-CN" dirty="0"/>
              <a:t>18:00-21:00</a:t>
            </a:r>
            <a:r>
              <a:rPr lang="zh-CN" altLang="en-US" dirty="0"/>
              <a:t>，明德地下</a:t>
            </a:r>
            <a:r>
              <a:rPr lang="en-US" altLang="zh-CN" dirty="0"/>
              <a:t>H</a:t>
            </a:r>
            <a:r>
              <a:rPr lang="zh-CN" altLang="en-US" dirty="0"/>
              <a:t>机房</a:t>
            </a:r>
            <a:endParaRPr lang="en-US" altLang="zh-CN" dirty="0"/>
          </a:p>
          <a:p>
            <a:r>
              <a:rPr lang="zh-CN" altLang="en-US" dirty="0"/>
              <a:t>课堂派：</a:t>
            </a:r>
            <a:r>
              <a:rPr lang="en-US" altLang="zh-CN" dirty="0">
                <a:hlinkClick r:id="rId2"/>
              </a:rPr>
              <a:t>www.ketangpai.com</a:t>
            </a:r>
            <a:r>
              <a:rPr lang="en-US" altLang="zh-CN" dirty="0"/>
              <a:t> </a:t>
            </a:r>
          </a:p>
          <a:p>
            <a:pPr lvl="1"/>
            <a:r>
              <a:rPr lang="zh-CN" altLang="en-US" dirty="0"/>
              <a:t>加课码</a:t>
            </a:r>
            <a:r>
              <a:rPr lang="en-US" altLang="zh-CN" dirty="0"/>
              <a:t>: </a:t>
            </a:r>
            <a:r>
              <a:rPr lang="en-US" altLang="zh-CN" b="1" dirty="0">
                <a:solidFill>
                  <a:srgbClr val="FF0000"/>
                </a:solidFill>
              </a:rPr>
              <a:t>QZ2HCV</a:t>
            </a:r>
          </a:p>
          <a:p>
            <a:pPr lvl="1"/>
            <a:r>
              <a:rPr lang="zh-CN" altLang="en-US" dirty="0"/>
              <a:t>课件、作业、小测、资料</a:t>
            </a:r>
            <a:endParaRPr lang="en-US" altLang="zh-CN" dirty="0"/>
          </a:p>
          <a:p>
            <a:r>
              <a:rPr lang="zh-CN" altLang="en-US" dirty="0"/>
              <a:t>微信群：（二维码在微人大中）</a:t>
            </a:r>
            <a:endParaRPr lang="en-US" altLang="zh-CN" dirty="0"/>
          </a:p>
          <a:p>
            <a:pPr lvl="1"/>
            <a:r>
              <a:rPr lang="zh-CN" altLang="en-US" dirty="0"/>
              <a:t>公告、讨论、答疑</a:t>
            </a:r>
            <a:endParaRPr lang="en-US" altLang="zh-CN" dirty="0"/>
          </a:p>
          <a:p>
            <a:r>
              <a:rPr lang="zh-CN" altLang="en-US" dirty="0"/>
              <a:t>助教：</a:t>
            </a:r>
            <a:endParaRPr lang="en-US" altLang="zh-CN" dirty="0"/>
          </a:p>
          <a:p>
            <a:pPr lvl="1"/>
            <a:r>
              <a:rPr lang="zh-CN" altLang="en-US" dirty="0"/>
              <a:t>吴国正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ChatGPT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Gemini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Claude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Grok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DeepSeek</a:t>
            </a:r>
            <a:r>
              <a:rPr lang="en-US" altLang="zh-CN" dirty="0">
                <a:solidFill>
                  <a:srgbClr val="FF0000"/>
                </a:solidFill>
              </a:rPr>
              <a:t>……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A1E5D3D-8DA4-4D1E-93E1-9635BF886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625" y="2582944"/>
            <a:ext cx="3332375" cy="33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254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011A8-3BD0-4190-8B39-F9C43A8B8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</a:t>
            </a:r>
            <a:r>
              <a:rPr lang="en-US" altLang="zh-CN" dirty="0"/>
              <a:t>AI+</a:t>
            </a:r>
            <a:r>
              <a:rPr lang="zh-CN" altLang="en-US" dirty="0"/>
              <a:t>”作业的要求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12E996-991F-4C7C-A7E9-6235F5522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一题多解：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自己的解法（算法思路描述、带注释的伪码）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使用</a:t>
            </a:r>
            <a:r>
              <a:rPr lang="en-US" altLang="zh-CN" dirty="0"/>
              <a:t>LLM</a:t>
            </a:r>
            <a:r>
              <a:rPr lang="zh-CN" altLang="en-US" dirty="0"/>
              <a:t>得到的解法（包括多次修改迭代的过程）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算法的对比分析</a:t>
            </a:r>
            <a:endParaRPr lang="en-US" altLang="zh-CN" dirty="0"/>
          </a:p>
          <a:p>
            <a:r>
              <a:rPr lang="zh-CN" altLang="en-US" dirty="0"/>
              <a:t>独立思考 </a:t>
            </a:r>
            <a:r>
              <a:rPr lang="en-US" altLang="zh-CN" dirty="0"/>
              <a:t>+ </a:t>
            </a:r>
            <a:r>
              <a:rPr lang="zh-CN" altLang="en-US" dirty="0"/>
              <a:t>批判思维</a:t>
            </a:r>
          </a:p>
        </p:txBody>
      </p:sp>
    </p:spTree>
    <p:extLst>
      <p:ext uri="{BB962C8B-B14F-4D97-AF65-F5344CB8AC3E}">
        <p14:creationId xmlns:p14="http://schemas.microsoft.com/office/powerpoint/2010/main" val="469781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011A8-3BD0-4190-8B39-F9C43A8B8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884"/>
            <a:ext cx="7886700" cy="1159467"/>
          </a:xfrm>
        </p:spPr>
        <p:txBody>
          <a:bodyPr/>
          <a:lstStyle/>
          <a:p>
            <a:r>
              <a:rPr lang="zh-CN" altLang="en-US" dirty="0"/>
              <a:t>上机实验的要求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12E996-991F-4C7C-A7E9-6235F5522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5802"/>
            <a:ext cx="9143999" cy="580219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口头讲解（</a:t>
            </a:r>
            <a:r>
              <a:rPr lang="en-US" altLang="zh-CN" dirty="0"/>
              <a:t>50%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zh-CN" altLang="en-US" dirty="0"/>
              <a:t>代码的概要设计和详细设计（不超过</a:t>
            </a:r>
            <a:r>
              <a:rPr lang="en-US" altLang="zh-CN" dirty="0"/>
              <a:t>5</a:t>
            </a:r>
            <a:r>
              <a:rPr lang="zh-CN" altLang="en-US" dirty="0"/>
              <a:t>分钟）</a:t>
            </a:r>
            <a:endParaRPr lang="en-US" altLang="zh-CN" dirty="0"/>
          </a:p>
          <a:p>
            <a:pPr lvl="2"/>
            <a:r>
              <a:rPr lang="zh-CN" altLang="en-US" dirty="0"/>
              <a:t>对代码的介绍要精炼并深入（超时算不通过）</a:t>
            </a:r>
            <a:endParaRPr lang="en-US" altLang="zh-CN" dirty="0"/>
          </a:p>
          <a:p>
            <a:pPr lvl="2"/>
            <a:r>
              <a:rPr lang="zh-CN" altLang="en-US" dirty="0"/>
              <a:t>回答助教或老师对代码中一些细节的提问</a:t>
            </a:r>
            <a:endParaRPr lang="en-US" altLang="zh-CN" dirty="0"/>
          </a:p>
          <a:p>
            <a:pPr lvl="2"/>
            <a:r>
              <a:rPr lang="zh-CN" altLang="en-US" b="1" dirty="0">
                <a:solidFill>
                  <a:srgbClr val="FF0000"/>
                </a:solidFill>
              </a:rPr>
              <a:t>此项不通过的话，打回重做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程序演示（不超过</a:t>
            </a:r>
            <a:r>
              <a:rPr lang="en-US" altLang="zh-CN" dirty="0"/>
              <a:t>3</a:t>
            </a:r>
            <a:r>
              <a:rPr lang="zh-CN" altLang="en-US" dirty="0"/>
              <a:t>分钟）</a:t>
            </a:r>
            <a:endParaRPr lang="en-US" altLang="zh-CN" dirty="0"/>
          </a:p>
          <a:p>
            <a:pPr lvl="2"/>
            <a:r>
              <a:rPr lang="zh-CN" altLang="en-US" dirty="0"/>
              <a:t>如何运行和使用你的程序，演示要求中的所有功能</a:t>
            </a:r>
            <a:endParaRPr lang="en-US" altLang="zh-CN" dirty="0"/>
          </a:p>
          <a:p>
            <a:pPr lvl="2"/>
            <a:r>
              <a:rPr lang="zh-CN" altLang="en-US" dirty="0"/>
              <a:t>助教或老师可以额外地提出一些新的测试用例</a:t>
            </a:r>
            <a:endParaRPr lang="en-US" altLang="zh-CN" dirty="0"/>
          </a:p>
          <a:p>
            <a:pPr lvl="2"/>
            <a:r>
              <a:rPr lang="zh-CN" altLang="en-US" dirty="0"/>
              <a:t>按照此项完成情况，会给出 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en-US" altLang="zh-CN" dirty="0"/>
              <a:t>(+/-)</a:t>
            </a:r>
            <a:r>
              <a:rPr lang="zh-CN" altLang="en-US" dirty="0"/>
              <a:t> </a:t>
            </a:r>
            <a:r>
              <a:rPr lang="en-US" altLang="zh-CN" dirty="0"/>
              <a:t>9</a:t>
            </a:r>
            <a:r>
              <a:rPr lang="zh-CN" altLang="en-US" dirty="0"/>
              <a:t>个级别的得分</a:t>
            </a:r>
            <a:endParaRPr lang="en-US" altLang="zh-CN" dirty="0"/>
          </a:p>
          <a:p>
            <a:r>
              <a:rPr lang="zh-CN" altLang="en-US" dirty="0"/>
              <a:t>实验报告（</a:t>
            </a:r>
            <a:r>
              <a:rPr lang="en-US" altLang="zh-CN" dirty="0"/>
              <a:t>50%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zh-CN" altLang="en-US" dirty="0"/>
              <a:t>“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数据结构实验报告规范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.docx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”见课堂派里的资料夹下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9965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C397F0-86A3-42E0-AC1C-AC364260E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97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每节课前分享（</a:t>
            </a:r>
            <a:r>
              <a:rPr lang="en-US" altLang="zh-CN" sz="4000" dirty="0"/>
              <a:t>5</a:t>
            </a:r>
            <a:r>
              <a:rPr lang="zh-CN" altLang="en-US" sz="4000" dirty="0"/>
              <a:t>分钟）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2B82E1-A08C-4015-A1E2-51FC30F2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58834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某个好用的工具或软件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某个学习资源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某道作业题的完成过程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某个让你困惑的问题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某个天马行空的想法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…….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7380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3D10B-25C4-48D8-ADD7-37E836D7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考核方式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CD6237-A5FD-42E2-92CF-5E4FBD0F7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33" y="1344448"/>
            <a:ext cx="8314441" cy="4669854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平时：</a:t>
            </a:r>
            <a:r>
              <a:rPr lang="en-US" altLang="zh-CN" sz="3200" dirty="0"/>
              <a:t>60%</a:t>
            </a:r>
          </a:p>
          <a:p>
            <a:pPr lvl="1"/>
            <a:r>
              <a:rPr lang="zh-CN" altLang="en-US" sz="2800" dirty="0"/>
              <a:t>作业和实验：</a:t>
            </a:r>
            <a:r>
              <a:rPr lang="en-US" altLang="zh-CN" sz="2800" dirty="0"/>
              <a:t>60%</a:t>
            </a:r>
          </a:p>
          <a:p>
            <a:pPr lvl="1"/>
            <a:r>
              <a:rPr lang="zh-CN" altLang="en-US" sz="2800"/>
              <a:t>每章小</a:t>
            </a:r>
            <a:r>
              <a:rPr lang="zh-CN" altLang="en-US" sz="2800" dirty="0"/>
              <a:t>测：</a:t>
            </a:r>
            <a:r>
              <a:rPr lang="zh-CN" altLang="en-US" sz="2800" b="1" dirty="0">
                <a:solidFill>
                  <a:srgbClr val="FF0000"/>
                </a:solidFill>
              </a:rPr>
              <a:t>闭卷</a:t>
            </a:r>
            <a:r>
              <a:rPr lang="zh-CN" altLang="en-US" sz="2800" dirty="0"/>
              <a:t>，</a:t>
            </a:r>
            <a:r>
              <a:rPr lang="en-US" altLang="zh-CN" sz="2800" dirty="0"/>
              <a:t>20%</a:t>
            </a:r>
          </a:p>
          <a:p>
            <a:pPr lvl="1"/>
            <a:r>
              <a:rPr lang="zh-CN" altLang="en-US" sz="2800" dirty="0"/>
              <a:t>期中考试：</a:t>
            </a:r>
            <a:r>
              <a:rPr lang="zh-CN" altLang="en-US" sz="2800" b="1" dirty="0">
                <a:solidFill>
                  <a:srgbClr val="FF0000"/>
                </a:solidFill>
              </a:rPr>
              <a:t>闭卷</a:t>
            </a:r>
            <a:r>
              <a:rPr lang="zh-CN" altLang="en-US" sz="2800" dirty="0"/>
              <a:t>，</a:t>
            </a:r>
            <a:r>
              <a:rPr lang="en-US" altLang="zh-CN" sz="2800" dirty="0"/>
              <a:t>20%</a:t>
            </a:r>
          </a:p>
          <a:p>
            <a:r>
              <a:rPr lang="zh-CN" altLang="en-US" sz="3200" dirty="0"/>
              <a:t>期末：</a:t>
            </a:r>
            <a:r>
              <a:rPr lang="en-US" altLang="zh-CN" sz="3200" dirty="0"/>
              <a:t>40%</a:t>
            </a:r>
          </a:p>
          <a:p>
            <a:pPr lvl="1"/>
            <a:r>
              <a:rPr lang="zh-CN" altLang="en-US" sz="2800" b="1" dirty="0">
                <a:solidFill>
                  <a:srgbClr val="FF0000"/>
                </a:solidFill>
              </a:rPr>
              <a:t>闭卷</a:t>
            </a:r>
            <a:r>
              <a:rPr lang="zh-CN" altLang="en-US" sz="2800" dirty="0"/>
              <a:t>考试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86F7B1-A79F-4F24-83CB-5E731F6A4D58}"/>
              </a:ext>
            </a:extLst>
          </p:cNvPr>
          <p:cNvSpPr txBox="1"/>
          <p:nvPr/>
        </p:nvSpPr>
        <p:spPr>
          <a:xfrm>
            <a:off x="2803803" y="6193411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（上面的比例分配可能会视情况做一些调整）</a:t>
            </a:r>
          </a:p>
        </p:txBody>
      </p:sp>
    </p:spTree>
    <p:extLst>
      <p:ext uri="{BB962C8B-B14F-4D97-AF65-F5344CB8AC3E}">
        <p14:creationId xmlns:p14="http://schemas.microsoft.com/office/powerpoint/2010/main" val="1348544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3247</TotalTime>
  <Words>956</Words>
  <Application>Microsoft Office PowerPoint</Application>
  <PresentationFormat>全屏显示(4:3)</PresentationFormat>
  <Paragraphs>100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等线</vt:lpstr>
      <vt:lpstr>宋体</vt:lpstr>
      <vt:lpstr>微软雅黑</vt:lpstr>
      <vt:lpstr>Arial</vt:lpstr>
      <vt:lpstr>Calibri</vt:lpstr>
      <vt:lpstr>Lucida Sans Unicode</vt:lpstr>
      <vt:lpstr>Roboto</vt:lpstr>
      <vt:lpstr>Times New Roman</vt:lpstr>
      <vt:lpstr>Office 主题​​</vt:lpstr>
      <vt:lpstr>数据结构与算法 I</vt:lpstr>
      <vt:lpstr>柯尼斯堡（Königsberg）七桥</vt:lpstr>
      <vt:lpstr>欧拉，1735</vt:lpstr>
      <vt:lpstr>现在的加里宁格勒地图</vt:lpstr>
      <vt:lpstr>数据结构（Data Structure）</vt:lpstr>
      <vt:lpstr>算法（Algorithm）</vt:lpstr>
      <vt:lpstr>为什么学习数据结构与算法</vt:lpstr>
      <vt:lpstr>为什么学习数据结构与算法</vt:lpstr>
      <vt:lpstr>为什么学习数据结构与算法</vt:lpstr>
      <vt:lpstr>课程内容</vt:lpstr>
      <vt:lpstr>参考书</vt:lpstr>
      <vt:lpstr>网上课程</vt:lpstr>
      <vt:lpstr>其他信息</vt:lpstr>
      <vt:lpstr>“AI+”作业的要求</vt:lpstr>
      <vt:lpstr>上机实验的要求</vt:lpstr>
      <vt:lpstr>每节课前分享（5分钟）</vt:lpstr>
      <vt:lpstr>考核方式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</dc:title>
  <dc:creator>Wang Qiuyue</dc:creator>
  <cp:lastModifiedBy>Wang Qiuyue</cp:lastModifiedBy>
  <cp:revision>93</cp:revision>
  <dcterms:created xsi:type="dcterms:W3CDTF">2023-07-12T11:31:44Z</dcterms:created>
  <dcterms:modified xsi:type="dcterms:W3CDTF">2025-09-22T03:21:46Z</dcterms:modified>
</cp:coreProperties>
</file>