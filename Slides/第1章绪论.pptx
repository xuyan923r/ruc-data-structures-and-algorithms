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86"/>
  </p:notesMasterIdLst>
  <p:handoutMasterIdLst>
    <p:handoutMasterId r:id="rId87"/>
  </p:handoutMasterIdLst>
  <p:sldIdLst>
    <p:sldId id="256" r:id="rId3"/>
    <p:sldId id="1172" r:id="rId4"/>
    <p:sldId id="440" r:id="rId5"/>
    <p:sldId id="509" r:id="rId6"/>
    <p:sldId id="510" r:id="rId7"/>
    <p:sldId id="1173" r:id="rId8"/>
    <p:sldId id="511" r:id="rId9"/>
    <p:sldId id="512" r:id="rId10"/>
    <p:sldId id="590" r:id="rId11"/>
    <p:sldId id="1165" r:id="rId12"/>
    <p:sldId id="1166" r:id="rId13"/>
    <p:sldId id="1174" r:id="rId14"/>
    <p:sldId id="580" r:id="rId15"/>
    <p:sldId id="541" r:id="rId16"/>
    <p:sldId id="1176" r:id="rId17"/>
    <p:sldId id="537" r:id="rId18"/>
    <p:sldId id="1177" r:id="rId19"/>
    <p:sldId id="447" r:id="rId20"/>
    <p:sldId id="1178" r:id="rId21"/>
    <p:sldId id="1180" r:id="rId22"/>
    <p:sldId id="1179" r:id="rId23"/>
    <p:sldId id="519" r:id="rId24"/>
    <p:sldId id="523" r:id="rId25"/>
    <p:sldId id="533" r:id="rId26"/>
    <p:sldId id="534" r:id="rId27"/>
    <p:sldId id="535" r:id="rId28"/>
    <p:sldId id="1183" r:id="rId29"/>
    <p:sldId id="458" r:id="rId30"/>
    <p:sldId id="539" r:id="rId31"/>
    <p:sldId id="1182" r:id="rId32"/>
    <p:sldId id="1161" r:id="rId33"/>
    <p:sldId id="1184" r:id="rId34"/>
    <p:sldId id="1168" r:id="rId35"/>
    <p:sldId id="1185" r:id="rId36"/>
    <p:sldId id="466" r:id="rId37"/>
    <p:sldId id="467" r:id="rId38"/>
    <p:sldId id="568" r:id="rId39"/>
    <p:sldId id="1186" r:id="rId40"/>
    <p:sldId id="1187" r:id="rId41"/>
    <p:sldId id="1188" r:id="rId42"/>
    <p:sldId id="1170" r:id="rId43"/>
    <p:sldId id="1216" r:id="rId44"/>
    <p:sldId id="476" r:id="rId45"/>
    <p:sldId id="477" r:id="rId46"/>
    <p:sldId id="581" r:id="rId47"/>
    <p:sldId id="573" r:id="rId48"/>
    <p:sldId id="1189" r:id="rId49"/>
    <p:sldId id="479" r:id="rId50"/>
    <p:sldId id="579" r:id="rId51"/>
    <p:sldId id="1217" r:id="rId52"/>
    <p:sldId id="483" r:id="rId53"/>
    <p:sldId id="1215" r:id="rId54"/>
    <p:sldId id="1190" r:id="rId55"/>
    <p:sldId id="1191" r:id="rId56"/>
    <p:sldId id="484" r:id="rId57"/>
    <p:sldId id="1192" r:id="rId58"/>
    <p:sldId id="1193" r:id="rId59"/>
    <p:sldId id="1194" r:id="rId60"/>
    <p:sldId id="1195" r:id="rId61"/>
    <p:sldId id="1196" r:id="rId62"/>
    <p:sldId id="1197" r:id="rId63"/>
    <p:sldId id="1198" r:id="rId64"/>
    <p:sldId id="1199" r:id="rId65"/>
    <p:sldId id="1200" r:id="rId66"/>
    <p:sldId id="1201" r:id="rId67"/>
    <p:sldId id="1202" r:id="rId68"/>
    <p:sldId id="1203" r:id="rId69"/>
    <p:sldId id="497" r:id="rId70"/>
    <p:sldId id="1204" r:id="rId71"/>
    <p:sldId id="556" r:id="rId72"/>
    <p:sldId id="1205" r:id="rId73"/>
    <p:sldId id="1206" r:id="rId74"/>
    <p:sldId id="1207" r:id="rId75"/>
    <p:sldId id="1208" r:id="rId76"/>
    <p:sldId id="1209" r:id="rId77"/>
    <p:sldId id="582" r:id="rId78"/>
    <p:sldId id="1210" r:id="rId79"/>
    <p:sldId id="1211" r:id="rId80"/>
    <p:sldId id="1212" r:id="rId81"/>
    <p:sldId id="586" r:id="rId82"/>
    <p:sldId id="1213" r:id="rId83"/>
    <p:sldId id="1214" r:id="rId84"/>
    <p:sldId id="357" r:id="rId85"/>
  </p:sldIdLst>
  <p:sldSz cx="9144000" cy="6858000" type="screen4x3"/>
  <p:notesSz cx="6858000" cy="9144000"/>
  <p:custDataLst>
    <p:tags r:id="rId8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6C4C8F"/>
    <a:srgbClr val="3333CC"/>
    <a:srgbClr val="4F81BD"/>
    <a:srgbClr val="C0504D"/>
    <a:srgbClr val="8064A2"/>
    <a:srgbClr val="99CCFF"/>
    <a:srgbClr val="9BBB59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93325" autoAdjust="0"/>
  </p:normalViewPr>
  <p:slideViewPr>
    <p:cSldViewPr snapToObjects="1" showGuides="1"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noProof="1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27DA4F-ED37-49BA-847A-561F24343EAC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7172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noProof="1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4A457-ED72-444F-8684-E24DAFBB89FA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4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0484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5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2531" name="Rectangle 1026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2532" name="Rectangle 1027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6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2531" name="Rectangle 1026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2532" name="Rectangle 1027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06900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7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5604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>
                <a:ea typeface="宋体" panose="02010600030101010101" pitchFamily="2" charset="-122"/>
              </a:rPr>
              <a:t>8</a:t>
            </a:fld>
            <a:endParaRPr lang="" altLang="zh-CN" sz="1200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/>
        </p:spPr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340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dirty="0">
                <a:solidFill>
                  <a:schemeClr val="tx2"/>
                </a:solidFill>
                <a:latin typeface="+mn-ea"/>
                <a:ea typeface="+mn-ea"/>
              </a:rPr>
              <a:t>《</a:t>
            </a:r>
            <a:r>
              <a:rPr lang="zh-CN" altLang="en-US" sz="1200" b="0" dirty="0">
                <a:solidFill>
                  <a:schemeClr val="tx2"/>
                </a:solidFill>
                <a:latin typeface="+mn-ea"/>
                <a:ea typeface="+mn-ea"/>
              </a:rPr>
              <a:t>数据结构</a:t>
            </a:r>
            <a:r>
              <a:rPr lang="en-US" altLang="zh-CN" sz="1200" b="0" dirty="0">
                <a:solidFill>
                  <a:schemeClr val="tx2"/>
                </a:solidFill>
                <a:latin typeface="+mn-ea"/>
                <a:ea typeface="+mn-ea"/>
              </a:rPr>
              <a:t>》</a:t>
            </a:r>
            <a:r>
              <a:rPr lang="zh-CN" altLang="en-US" sz="1200" b="0" dirty="0">
                <a:solidFill>
                  <a:schemeClr val="tx2"/>
                </a:solidFill>
                <a:latin typeface="+mn-ea"/>
                <a:ea typeface="+mn-ea"/>
              </a:rPr>
              <a:t>这门综合性的专业基础课不仅是一般程序设计的基础，而且是实现</a:t>
            </a:r>
            <a:r>
              <a:rPr lang="en-US" altLang="zh-CN" sz="1200" b="0" dirty="0">
                <a:solidFill>
                  <a:schemeClr val="tx2"/>
                </a:solidFill>
                <a:latin typeface="+mn-ea"/>
                <a:ea typeface="+mn-ea"/>
              </a:rPr>
              <a:t> OS, DBMS</a:t>
            </a:r>
            <a:r>
              <a:rPr lang="zh-CN" altLang="en-US" sz="1200" b="0" dirty="0">
                <a:solidFill>
                  <a:schemeClr val="tx2"/>
                </a:solidFill>
                <a:latin typeface="+mn-ea"/>
                <a:ea typeface="+mn-ea"/>
              </a:rPr>
              <a:t>及其他系统程序和大型程序的基础。</a:t>
            </a:r>
          </a:p>
        </p:txBody>
      </p:sp>
    </p:spTree>
    <p:extLst>
      <p:ext uri="{BB962C8B-B14F-4D97-AF65-F5344CB8AC3E}">
        <p14:creationId xmlns:p14="http://schemas.microsoft.com/office/powerpoint/2010/main" val="141132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18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22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29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在用高级程序语言编写的程序中，必须对程序中出现的每个变量、常量或表达式，明确说明它们所属的数据类型。</a:t>
            </a:r>
          </a:p>
        </p:txBody>
      </p:sp>
    </p:spTree>
    <p:extLst>
      <p:ext uri="{BB962C8B-B14F-4D97-AF65-F5344CB8AC3E}">
        <p14:creationId xmlns:p14="http://schemas.microsoft.com/office/powerpoint/2010/main" val="4285565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" altLang="zh-CN" sz="1200" dirty="0"/>
              <a:t>44</a:t>
            </a:fld>
            <a:endParaRPr lang="" altLang="zh-CN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4361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613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796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72745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18201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6087" y="1035475"/>
            <a:ext cx="8251825" cy="5472112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800"/>
            </a:lvl1pPr>
            <a:lvl2pPr>
              <a:lnSpc>
                <a:spcPct val="150000"/>
              </a:lnSpc>
              <a:defRPr sz="2400"/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15637" y="350412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6" y="377855"/>
            <a:ext cx="617410" cy="174607"/>
            <a:chOff x="384175" y="480608"/>
            <a:chExt cx="348872" cy="98663"/>
          </a:xfrm>
          <a:solidFill>
            <a:schemeClr val="accent3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809" y="1124744"/>
            <a:ext cx="7983537" cy="5565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idx="10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4430442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1930156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56899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53084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5304377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918715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165052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954701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537185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338455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477259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775064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0293397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378030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3303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" altLang="zh-CN" dirty="0"/>
              <a:t>单击以编辑</a:t>
            </a:r>
            <a:r>
              <a:rPr lang="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79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www-cs-faculty.stanford.edu/~knuth/taocp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morphett.info/turing/turing.html" TargetMode="Externa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D70D86-A9E0-4A58-892E-B8E771EC9B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08288" y="1773238"/>
            <a:ext cx="6019800" cy="2209800"/>
          </a:xfrm>
        </p:spPr>
        <p:txBody>
          <a:bodyPr/>
          <a:lstStyle/>
          <a:p>
            <a:pPr algn="ctr"/>
            <a:r>
              <a:rPr lang="zh-CN" altLang="en-US" sz="4800" dirty="0">
                <a:latin typeface="楷体_GB2312" pitchFamily="49" charset="-122"/>
                <a:ea typeface="楷体_GB2312" pitchFamily="49" charset="-122"/>
              </a:rPr>
              <a:t>第一章 绪论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03CFA724-2FB7-4C8F-815C-179C5D2A3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数据结构的基本概念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算法的性能分析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72816"/>
            <a:ext cx="8064896" cy="40945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数据结构的研究内容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数据结构的基本概念和术语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数据类型与抽象数据类型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算法和算法分析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5590459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标题 3"/>
          <p:cNvSpPr txBox="1"/>
          <p:nvPr/>
        </p:nvSpPr>
        <p:spPr>
          <a:xfrm>
            <a:off x="844550" y="2349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</a:pP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数据结构的研究内容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9750" y="1268760"/>
            <a:ext cx="8064500" cy="7872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&amp;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电子计算机的主要用途：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9750" y="2235101"/>
            <a:ext cx="8064500" cy="2168872"/>
          </a:xfrm>
          <a:prstGeom prst="roundRect">
            <a:avLst>
              <a:gd name="adj" fmla="val 409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早期：主要用于数值计算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后来：非数值计算，复杂的具有一定结构关系的数据</a:t>
            </a:r>
          </a:p>
        </p:txBody>
      </p:sp>
    </p:spTree>
  </p:cSld>
  <p:clrMapOvr>
    <a:masterClrMapping/>
  </p:clrMapOvr>
  <p:transition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ChangeArrowheads="1"/>
          </p:cNvSpPr>
          <p:nvPr/>
        </p:nvSpPr>
        <p:spPr bwMode="auto">
          <a:xfrm>
            <a:off x="850900" y="188640"/>
            <a:ext cx="399256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书目自动检索系统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1338263" y="2112963"/>
            <a:ext cx="5753100" cy="3754437"/>
            <a:chOff x="1668" y="900"/>
            <a:chExt cx="3624" cy="2736"/>
          </a:xfrm>
        </p:grpSpPr>
        <p:sp>
          <p:nvSpPr>
            <p:cNvPr id="17411" name="AutoShape 4"/>
            <p:cNvSpPr>
              <a:spLocks noChangeArrowheads="1"/>
            </p:cNvSpPr>
            <p:nvPr/>
          </p:nvSpPr>
          <p:spPr bwMode="auto">
            <a:xfrm>
              <a:off x="1668" y="900"/>
              <a:ext cx="3624" cy="2736"/>
            </a:xfrm>
            <a:prstGeom prst="roundRect">
              <a:avLst>
                <a:gd name="adj" fmla="val 5484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412" name="Text Box 5"/>
            <p:cNvSpPr txBox="1">
              <a:spLocks noChangeArrowheads="1"/>
            </p:cNvSpPr>
            <p:nvPr/>
          </p:nvSpPr>
          <p:spPr bwMode="auto">
            <a:xfrm>
              <a:off x="2198" y="1321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登录号：</a:t>
              </a:r>
            </a:p>
          </p:txBody>
        </p:sp>
        <p:sp>
          <p:nvSpPr>
            <p:cNvPr id="17413" name="Text Box 6"/>
            <p:cNvSpPr txBox="1">
              <a:spLocks noChangeArrowheads="1"/>
            </p:cNvSpPr>
            <p:nvPr/>
          </p:nvSpPr>
          <p:spPr bwMode="auto">
            <a:xfrm>
              <a:off x="2198" y="1647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书名：</a:t>
              </a:r>
            </a:p>
          </p:txBody>
        </p:sp>
        <p:sp>
          <p:nvSpPr>
            <p:cNvPr id="17414" name="Text Box 7"/>
            <p:cNvSpPr txBox="1">
              <a:spLocks noChangeArrowheads="1"/>
            </p:cNvSpPr>
            <p:nvPr/>
          </p:nvSpPr>
          <p:spPr bwMode="auto">
            <a:xfrm>
              <a:off x="2198" y="1972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作者名：</a:t>
              </a:r>
            </a:p>
          </p:txBody>
        </p:sp>
        <p:sp>
          <p:nvSpPr>
            <p:cNvPr id="17415" name="Text Box 8"/>
            <p:cNvSpPr txBox="1">
              <a:spLocks noChangeArrowheads="1"/>
            </p:cNvSpPr>
            <p:nvPr/>
          </p:nvSpPr>
          <p:spPr bwMode="auto">
            <a:xfrm>
              <a:off x="2198" y="2299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分类号：</a:t>
              </a:r>
            </a:p>
          </p:txBody>
        </p:sp>
        <p:sp>
          <p:nvSpPr>
            <p:cNvPr id="17416" name="Text Box 9"/>
            <p:cNvSpPr txBox="1">
              <a:spLocks noChangeArrowheads="1"/>
            </p:cNvSpPr>
            <p:nvPr/>
          </p:nvSpPr>
          <p:spPr bwMode="auto">
            <a:xfrm>
              <a:off x="2198" y="2625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出版单位：</a:t>
              </a:r>
            </a:p>
          </p:txBody>
        </p:sp>
        <p:sp>
          <p:nvSpPr>
            <p:cNvPr id="17417" name="Text Box 10"/>
            <p:cNvSpPr txBox="1">
              <a:spLocks noChangeArrowheads="1"/>
            </p:cNvSpPr>
            <p:nvPr/>
          </p:nvSpPr>
          <p:spPr bwMode="auto">
            <a:xfrm>
              <a:off x="2198" y="2951"/>
              <a:ext cx="1082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出版时间：</a:t>
              </a:r>
            </a:p>
          </p:txBody>
        </p:sp>
        <p:sp>
          <p:nvSpPr>
            <p:cNvPr id="17418" name="Text Box 11"/>
            <p:cNvSpPr txBox="1">
              <a:spLocks noChangeArrowheads="1"/>
            </p:cNvSpPr>
            <p:nvPr/>
          </p:nvSpPr>
          <p:spPr bwMode="auto">
            <a:xfrm>
              <a:off x="2202" y="3252"/>
              <a:ext cx="1070" cy="34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价格：</a:t>
              </a:r>
            </a:p>
          </p:txBody>
        </p:sp>
        <p:sp>
          <p:nvSpPr>
            <p:cNvPr id="17419" name="Text Box 12"/>
            <p:cNvSpPr txBox="1">
              <a:spLocks noChangeArrowheads="1"/>
            </p:cNvSpPr>
            <p:nvPr/>
          </p:nvSpPr>
          <p:spPr bwMode="auto">
            <a:xfrm>
              <a:off x="1680" y="907"/>
              <a:ext cx="3602" cy="448"/>
            </a:xfrm>
            <a:prstGeom prst="roundRect">
              <a:avLst>
                <a:gd name="adj" fmla="val 26334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书目卡片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1219200" y="1103313"/>
            <a:ext cx="7469188" cy="3468687"/>
            <a:chOff x="841" y="1176"/>
            <a:chExt cx="4705" cy="2185"/>
          </a:xfrm>
        </p:grpSpPr>
        <p:graphicFrame>
          <p:nvGraphicFramePr>
            <p:cNvPr id="19472" name="Object 63"/>
            <p:cNvGraphicFramePr/>
            <p:nvPr/>
          </p:nvGraphicFramePr>
          <p:xfrm>
            <a:off x="841" y="1812"/>
            <a:ext cx="4171" cy="1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2" r:id="rId4" imgW="7172325" imgH="2665730" progId="Word.Document.8">
                    <p:embed/>
                  </p:oleObj>
                </mc:Choice>
                <mc:Fallback>
                  <p:oleObj r:id="rId4" imgW="7172325" imgH="2665730" progId="Word.Document.8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41" y="1812"/>
                          <a:ext cx="4171" cy="15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2" name="AutoShape 15"/>
            <p:cNvSpPr>
              <a:spLocks noChangeArrowheads="1"/>
            </p:cNvSpPr>
            <p:nvPr/>
          </p:nvSpPr>
          <p:spPr bwMode="auto">
            <a:xfrm>
              <a:off x="4476" y="1176"/>
              <a:ext cx="1070" cy="356"/>
            </a:xfrm>
            <a:prstGeom prst="wedgeEllipseCallout">
              <a:avLst>
                <a:gd name="adj1" fmla="val -69157"/>
                <a:gd name="adj2" fmla="val 79380"/>
              </a:avLst>
            </a:prstGeom>
            <a:solidFill>
              <a:schemeClr val="tx1">
                <a:lumMod val="50000"/>
                <a:lumOff val="50000"/>
              </a:schemeClr>
            </a:solidFill>
            <a:ln w="38100">
              <a:noFill/>
              <a:miter lim="800000"/>
            </a:ln>
          </p:spPr>
          <p:txBody>
            <a:bodyPr wrap="none" lIns="90000" tIns="46800" rIns="90000" bIns="46800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书目文件</a:t>
              </a: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169863" y="3294063"/>
            <a:ext cx="8909050" cy="3306762"/>
            <a:chOff x="86" y="2285"/>
            <a:chExt cx="5612" cy="2083"/>
          </a:xfrm>
        </p:grpSpPr>
        <p:grpSp>
          <p:nvGrpSpPr>
            <p:cNvPr id="19463" name="Group 17"/>
            <p:cNvGrpSpPr/>
            <p:nvPr/>
          </p:nvGrpSpPr>
          <p:grpSpPr>
            <a:xfrm>
              <a:off x="86" y="2814"/>
              <a:ext cx="5612" cy="388"/>
              <a:chOff x="86" y="2814"/>
              <a:chExt cx="5612" cy="388"/>
            </a:xfrm>
          </p:grpSpPr>
          <p:sp>
            <p:nvSpPr>
              <p:cNvPr id="17425" name="AutoShape 18"/>
              <p:cNvSpPr>
                <a:spLocks noChangeArrowheads="1"/>
              </p:cNvSpPr>
              <p:nvPr/>
            </p:nvSpPr>
            <p:spPr bwMode="auto">
              <a:xfrm>
                <a:off x="86" y="2834"/>
                <a:ext cx="843" cy="356"/>
              </a:xfrm>
              <a:prstGeom prst="wedgeEllipseCallout">
                <a:avLst>
                  <a:gd name="adj1" fmla="val 27431"/>
                  <a:gd name="adj2" fmla="val 90208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按书名</a:t>
                </a:r>
              </a:p>
            </p:txBody>
          </p:sp>
          <p:sp>
            <p:nvSpPr>
              <p:cNvPr id="17426" name="AutoShape 19"/>
              <p:cNvSpPr>
                <a:spLocks noChangeArrowheads="1"/>
              </p:cNvSpPr>
              <p:nvPr/>
            </p:nvSpPr>
            <p:spPr bwMode="auto">
              <a:xfrm>
                <a:off x="2879" y="2846"/>
                <a:ext cx="1070" cy="356"/>
              </a:xfrm>
              <a:prstGeom prst="wedgeEllipseCallout">
                <a:avLst>
                  <a:gd name="adj1" fmla="val -60856"/>
                  <a:gd name="adj2" fmla="val 7950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按作者名</a:t>
                </a:r>
              </a:p>
            </p:txBody>
          </p:sp>
          <p:sp>
            <p:nvSpPr>
              <p:cNvPr id="17427" name="AutoShape 20"/>
              <p:cNvSpPr>
                <a:spLocks noChangeArrowheads="1"/>
              </p:cNvSpPr>
              <p:nvPr/>
            </p:nvSpPr>
            <p:spPr bwMode="auto">
              <a:xfrm>
                <a:off x="4628" y="2814"/>
                <a:ext cx="1070" cy="356"/>
              </a:xfrm>
              <a:prstGeom prst="wedgeEllipseCallout">
                <a:avLst>
                  <a:gd name="adj1" fmla="val -50347"/>
                  <a:gd name="adj2" fmla="val 8681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按分类号</a:t>
                </a:r>
              </a:p>
            </p:txBody>
          </p:sp>
        </p:grpSp>
        <p:grpSp>
          <p:nvGrpSpPr>
            <p:cNvPr id="19464" name="Group 21"/>
            <p:cNvGrpSpPr/>
            <p:nvPr/>
          </p:nvGrpSpPr>
          <p:grpSpPr>
            <a:xfrm>
              <a:off x="191" y="2285"/>
              <a:ext cx="5105" cy="2083"/>
              <a:chOff x="191" y="2285"/>
              <a:chExt cx="5105" cy="2083"/>
            </a:xfrm>
          </p:grpSpPr>
          <p:graphicFrame>
            <p:nvGraphicFramePr>
              <p:cNvPr id="19465" name="Object 60"/>
              <p:cNvGraphicFramePr/>
              <p:nvPr/>
            </p:nvGraphicFramePr>
            <p:xfrm>
              <a:off x="191" y="3269"/>
              <a:ext cx="3006" cy="10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83" r:id="rId6" imgW="4881880" imgH="1788795" progId="Word.Document.8">
                      <p:embed/>
                    </p:oleObj>
                  </mc:Choice>
                  <mc:Fallback>
                    <p:oleObj r:id="rId6" imgW="4881880" imgH="1788795" progId="Word.Document.8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91" y="3269"/>
                            <a:ext cx="3006" cy="10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6" name="Object 61"/>
              <p:cNvGraphicFramePr/>
              <p:nvPr/>
            </p:nvGraphicFramePr>
            <p:xfrm>
              <a:off x="2197" y="3269"/>
              <a:ext cx="1470" cy="10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84" r:id="rId8" imgW="2386330" imgH="1778635" progId="Word.Document.8">
                      <p:embed/>
                    </p:oleObj>
                  </mc:Choice>
                  <mc:Fallback>
                    <p:oleObj r:id="rId8" imgW="2386330" imgH="1778635" progId="Word.Document.8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197" y="3269"/>
                            <a:ext cx="1470" cy="10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67" name="Object 62"/>
              <p:cNvGraphicFramePr/>
              <p:nvPr/>
            </p:nvGraphicFramePr>
            <p:xfrm>
              <a:off x="3673" y="3256"/>
              <a:ext cx="1623" cy="8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85" r:id="rId10" imgW="2621280" imgH="1397000" progId="Word.Document.8">
                      <p:embed/>
                    </p:oleObj>
                  </mc:Choice>
                  <mc:Fallback>
                    <p:oleObj r:id="rId10" imgW="2621280" imgH="1397000" progId="Word.Document.8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673" y="3256"/>
                            <a:ext cx="1623" cy="8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32" name="AutoShape 25"/>
              <p:cNvSpPr>
                <a:spLocks noChangeArrowheads="1"/>
              </p:cNvSpPr>
              <p:nvPr/>
            </p:nvSpPr>
            <p:spPr bwMode="auto">
              <a:xfrm>
                <a:off x="4349" y="2285"/>
                <a:ext cx="843" cy="356"/>
              </a:xfrm>
              <a:prstGeom prst="wedgeEllipseCallout">
                <a:avLst>
                  <a:gd name="adj1" fmla="val -64546"/>
                  <a:gd name="adj2" fmla="val 235028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noFill/>
                <a:miter lim="800000"/>
              </a:ln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索引表</a:t>
                </a:r>
              </a:p>
            </p:txBody>
          </p:sp>
        </p:grpSp>
      </p:grpSp>
      <p:sp>
        <p:nvSpPr>
          <p:cNvPr id="17434" name="AutoShape 27"/>
          <p:cNvSpPr>
            <a:spLocks noChangeArrowheads="1"/>
          </p:cNvSpPr>
          <p:nvPr/>
        </p:nvSpPr>
        <p:spPr bwMode="auto">
          <a:xfrm>
            <a:off x="4405313" y="860425"/>
            <a:ext cx="2565400" cy="1038225"/>
          </a:xfrm>
          <a:prstGeom prst="irregularSeal2">
            <a:avLst/>
          </a:prstGeom>
          <a:solidFill>
            <a:srgbClr val="7030A0"/>
          </a:solidFill>
          <a:ln w="9525">
            <a:solidFill>
              <a:schemeClr val="accent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715963" y="203200"/>
            <a:ext cx="3929063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人机</a:t>
            </a:r>
            <a:r>
              <a:rPr lang="zh-CN" altLang="en-US" sz="2800" kern="1200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对弈</a:t>
            </a:r>
            <a:r>
              <a: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问题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19475" y="850900"/>
            <a:ext cx="1524000" cy="1371600"/>
            <a:chOff x="2171" y="994"/>
            <a:chExt cx="960" cy="864"/>
          </a:xfrm>
        </p:grpSpPr>
        <p:sp>
          <p:nvSpPr>
            <p:cNvPr id="19459" name="Rectangle 4"/>
            <p:cNvSpPr>
              <a:spLocks noChangeArrowheads="1"/>
            </p:cNvSpPr>
            <p:nvPr/>
          </p:nvSpPr>
          <p:spPr bwMode="auto">
            <a:xfrm>
              <a:off x="2171" y="99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0" name="Line 5"/>
            <p:cNvSpPr>
              <a:spLocks noChangeShapeType="1"/>
            </p:cNvSpPr>
            <p:nvPr/>
          </p:nvSpPr>
          <p:spPr bwMode="auto">
            <a:xfrm>
              <a:off x="2171" y="128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1" name="Line 6"/>
            <p:cNvSpPr>
              <a:spLocks noChangeShapeType="1"/>
            </p:cNvSpPr>
            <p:nvPr/>
          </p:nvSpPr>
          <p:spPr bwMode="auto">
            <a:xfrm>
              <a:off x="2171" y="157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2" name="Line 7"/>
            <p:cNvSpPr>
              <a:spLocks noChangeShapeType="1"/>
            </p:cNvSpPr>
            <p:nvPr/>
          </p:nvSpPr>
          <p:spPr bwMode="auto">
            <a:xfrm>
              <a:off x="2459" y="99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3" name="Line 8"/>
            <p:cNvSpPr>
              <a:spLocks noChangeShapeType="1"/>
            </p:cNvSpPr>
            <p:nvPr/>
          </p:nvSpPr>
          <p:spPr bwMode="auto">
            <a:xfrm>
              <a:off x="2795" y="99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4" name="Oval 9"/>
            <p:cNvSpPr>
              <a:spLocks noChangeArrowheads="1"/>
            </p:cNvSpPr>
            <p:nvPr/>
          </p:nvSpPr>
          <p:spPr bwMode="auto">
            <a:xfrm>
              <a:off x="2891" y="109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5" name="Oval 10"/>
            <p:cNvSpPr>
              <a:spLocks noChangeArrowheads="1"/>
            </p:cNvSpPr>
            <p:nvPr/>
          </p:nvSpPr>
          <p:spPr bwMode="auto">
            <a:xfrm>
              <a:off x="2540" y="136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6" name="Oval 11"/>
            <p:cNvSpPr>
              <a:spLocks noChangeArrowheads="1"/>
            </p:cNvSpPr>
            <p:nvPr/>
          </p:nvSpPr>
          <p:spPr bwMode="auto">
            <a:xfrm>
              <a:off x="2241" y="165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67" name="Oval 12"/>
            <p:cNvSpPr>
              <a:spLocks noChangeArrowheads="1"/>
            </p:cNvSpPr>
            <p:nvPr/>
          </p:nvSpPr>
          <p:spPr bwMode="auto">
            <a:xfrm>
              <a:off x="2573" y="1664"/>
              <a:ext cx="166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557" name="Oval 13"/>
          <p:cNvSpPr>
            <a:spLocks noChangeArrowheads="1"/>
          </p:cNvSpPr>
          <p:nvPr/>
        </p:nvSpPr>
        <p:spPr bwMode="auto">
          <a:xfrm>
            <a:off x="444500" y="3617913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58" name="Oval 14"/>
          <p:cNvSpPr>
            <a:spLocks noChangeArrowheads="1"/>
          </p:cNvSpPr>
          <p:nvPr/>
        </p:nvSpPr>
        <p:spPr bwMode="auto">
          <a:xfrm>
            <a:off x="2236788" y="3189288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59" name="Oval 15"/>
          <p:cNvSpPr>
            <a:spLocks noChangeArrowheads="1"/>
          </p:cNvSpPr>
          <p:nvPr/>
        </p:nvSpPr>
        <p:spPr bwMode="auto">
          <a:xfrm>
            <a:off x="4371975" y="3136900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60" name="Oval 16"/>
          <p:cNvSpPr>
            <a:spLocks noChangeArrowheads="1"/>
          </p:cNvSpPr>
          <p:nvPr/>
        </p:nvSpPr>
        <p:spPr bwMode="auto">
          <a:xfrm>
            <a:off x="6594475" y="3559175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4561" name="Oval 17"/>
          <p:cNvSpPr>
            <a:spLocks noChangeArrowheads="1"/>
          </p:cNvSpPr>
          <p:nvPr/>
        </p:nvSpPr>
        <p:spPr bwMode="auto">
          <a:xfrm>
            <a:off x="8224838" y="4005263"/>
            <a:ext cx="263525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354013" y="2244725"/>
            <a:ext cx="3195637" cy="2173288"/>
            <a:chOff x="232" y="1863"/>
            <a:chExt cx="2013" cy="1369"/>
          </a:xfrm>
        </p:grpSpPr>
        <p:sp>
          <p:nvSpPr>
            <p:cNvPr id="19474" name="Line 19"/>
            <p:cNvSpPr>
              <a:spLocks noChangeShapeType="1"/>
            </p:cNvSpPr>
            <p:nvPr/>
          </p:nvSpPr>
          <p:spPr bwMode="auto">
            <a:xfrm>
              <a:off x="232" y="265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5" name="Line 20"/>
            <p:cNvSpPr>
              <a:spLocks noChangeShapeType="1"/>
            </p:cNvSpPr>
            <p:nvPr/>
          </p:nvSpPr>
          <p:spPr bwMode="auto">
            <a:xfrm>
              <a:off x="232" y="29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6" name="Line 21"/>
            <p:cNvSpPr>
              <a:spLocks noChangeShapeType="1"/>
            </p:cNvSpPr>
            <p:nvPr/>
          </p:nvSpPr>
          <p:spPr bwMode="auto">
            <a:xfrm>
              <a:off x="520" y="23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7" name="Line 22"/>
            <p:cNvSpPr>
              <a:spLocks noChangeShapeType="1"/>
            </p:cNvSpPr>
            <p:nvPr/>
          </p:nvSpPr>
          <p:spPr bwMode="auto">
            <a:xfrm>
              <a:off x="856" y="23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8" name="Rectangle 23"/>
            <p:cNvSpPr>
              <a:spLocks noChangeArrowheads="1"/>
            </p:cNvSpPr>
            <p:nvPr/>
          </p:nvSpPr>
          <p:spPr bwMode="auto">
            <a:xfrm>
              <a:off x="232" y="2368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79" name="Oval 24"/>
            <p:cNvSpPr>
              <a:spLocks noChangeArrowheads="1"/>
            </p:cNvSpPr>
            <p:nvPr/>
          </p:nvSpPr>
          <p:spPr bwMode="auto">
            <a:xfrm>
              <a:off x="952" y="246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0" name="Oval 25"/>
            <p:cNvSpPr>
              <a:spLocks noChangeArrowheads="1"/>
            </p:cNvSpPr>
            <p:nvPr/>
          </p:nvSpPr>
          <p:spPr bwMode="auto">
            <a:xfrm>
              <a:off x="601" y="2741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1" name="Oval 26"/>
            <p:cNvSpPr>
              <a:spLocks noChangeArrowheads="1"/>
            </p:cNvSpPr>
            <p:nvPr/>
          </p:nvSpPr>
          <p:spPr bwMode="auto">
            <a:xfrm>
              <a:off x="302" y="3029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2" name="Oval 27"/>
            <p:cNvSpPr>
              <a:spLocks noChangeArrowheads="1"/>
            </p:cNvSpPr>
            <p:nvPr/>
          </p:nvSpPr>
          <p:spPr bwMode="auto">
            <a:xfrm>
              <a:off x="634" y="3038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3" name="Line 28"/>
            <p:cNvSpPr>
              <a:spLocks noChangeShapeType="1"/>
            </p:cNvSpPr>
            <p:nvPr/>
          </p:nvSpPr>
          <p:spPr bwMode="auto">
            <a:xfrm flipH="1">
              <a:off x="700" y="1863"/>
              <a:ext cx="1545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2095500" y="2249488"/>
            <a:ext cx="1738313" cy="2166937"/>
            <a:chOff x="1361" y="1863"/>
            <a:chExt cx="1095" cy="1365"/>
          </a:xfrm>
        </p:grpSpPr>
        <p:sp>
          <p:nvSpPr>
            <p:cNvPr id="19485" name="Line 30"/>
            <p:cNvSpPr>
              <a:spLocks noChangeShapeType="1"/>
            </p:cNvSpPr>
            <p:nvPr/>
          </p:nvSpPr>
          <p:spPr bwMode="auto">
            <a:xfrm>
              <a:off x="1361" y="26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6" name="Line 31"/>
            <p:cNvSpPr>
              <a:spLocks noChangeShapeType="1"/>
            </p:cNvSpPr>
            <p:nvPr/>
          </p:nvSpPr>
          <p:spPr bwMode="auto">
            <a:xfrm>
              <a:off x="1361" y="29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7" name="Line 32"/>
            <p:cNvSpPr>
              <a:spLocks noChangeShapeType="1"/>
            </p:cNvSpPr>
            <p:nvPr/>
          </p:nvSpPr>
          <p:spPr bwMode="auto">
            <a:xfrm>
              <a:off x="1649" y="23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8" name="Line 33"/>
            <p:cNvSpPr>
              <a:spLocks noChangeShapeType="1"/>
            </p:cNvSpPr>
            <p:nvPr/>
          </p:nvSpPr>
          <p:spPr bwMode="auto">
            <a:xfrm>
              <a:off x="1985" y="23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89" name="Rectangle 34"/>
            <p:cNvSpPr>
              <a:spLocks noChangeArrowheads="1"/>
            </p:cNvSpPr>
            <p:nvPr/>
          </p:nvSpPr>
          <p:spPr bwMode="auto">
            <a:xfrm>
              <a:off x="1361" y="23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0" name="Oval 35"/>
            <p:cNvSpPr>
              <a:spLocks noChangeArrowheads="1"/>
            </p:cNvSpPr>
            <p:nvPr/>
          </p:nvSpPr>
          <p:spPr bwMode="auto">
            <a:xfrm>
              <a:off x="2081" y="24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1" name="Oval 36"/>
            <p:cNvSpPr>
              <a:spLocks noChangeArrowheads="1"/>
            </p:cNvSpPr>
            <p:nvPr/>
          </p:nvSpPr>
          <p:spPr bwMode="auto">
            <a:xfrm>
              <a:off x="1730" y="27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2" name="Oval 37"/>
            <p:cNvSpPr>
              <a:spLocks noChangeArrowheads="1"/>
            </p:cNvSpPr>
            <p:nvPr/>
          </p:nvSpPr>
          <p:spPr bwMode="auto">
            <a:xfrm>
              <a:off x="1431" y="30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3" name="Oval 38"/>
            <p:cNvSpPr>
              <a:spLocks noChangeArrowheads="1"/>
            </p:cNvSpPr>
            <p:nvPr/>
          </p:nvSpPr>
          <p:spPr bwMode="auto">
            <a:xfrm>
              <a:off x="1763" y="30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4" name="Line 39"/>
            <p:cNvSpPr>
              <a:spLocks noChangeShapeType="1"/>
            </p:cNvSpPr>
            <p:nvPr/>
          </p:nvSpPr>
          <p:spPr bwMode="auto">
            <a:xfrm flipH="1">
              <a:off x="1778" y="1863"/>
              <a:ext cx="678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3792538" y="2230438"/>
            <a:ext cx="1524000" cy="2149475"/>
            <a:chOff x="2406" y="1863"/>
            <a:chExt cx="960" cy="1354"/>
          </a:xfrm>
        </p:grpSpPr>
        <p:sp>
          <p:nvSpPr>
            <p:cNvPr id="19496" name="Line 41"/>
            <p:cNvSpPr>
              <a:spLocks noChangeShapeType="1"/>
            </p:cNvSpPr>
            <p:nvPr/>
          </p:nvSpPr>
          <p:spPr bwMode="auto">
            <a:xfrm>
              <a:off x="2406" y="2641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7" name="Line 42"/>
            <p:cNvSpPr>
              <a:spLocks noChangeShapeType="1"/>
            </p:cNvSpPr>
            <p:nvPr/>
          </p:nvSpPr>
          <p:spPr bwMode="auto">
            <a:xfrm>
              <a:off x="2406" y="2929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8" name="Line 43"/>
            <p:cNvSpPr>
              <a:spLocks noChangeShapeType="1"/>
            </p:cNvSpPr>
            <p:nvPr/>
          </p:nvSpPr>
          <p:spPr bwMode="auto">
            <a:xfrm>
              <a:off x="2694" y="235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499" name="Line 44"/>
            <p:cNvSpPr>
              <a:spLocks noChangeShapeType="1"/>
            </p:cNvSpPr>
            <p:nvPr/>
          </p:nvSpPr>
          <p:spPr bwMode="auto">
            <a:xfrm>
              <a:off x="3030" y="2353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0" name="Rectangle 45"/>
            <p:cNvSpPr>
              <a:spLocks noChangeArrowheads="1"/>
            </p:cNvSpPr>
            <p:nvPr/>
          </p:nvSpPr>
          <p:spPr bwMode="auto">
            <a:xfrm>
              <a:off x="2406" y="2353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1" name="Oval 46"/>
            <p:cNvSpPr>
              <a:spLocks noChangeArrowheads="1"/>
            </p:cNvSpPr>
            <p:nvPr/>
          </p:nvSpPr>
          <p:spPr bwMode="auto">
            <a:xfrm>
              <a:off x="3126" y="2449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2" name="Oval 47"/>
            <p:cNvSpPr>
              <a:spLocks noChangeArrowheads="1"/>
            </p:cNvSpPr>
            <p:nvPr/>
          </p:nvSpPr>
          <p:spPr bwMode="auto">
            <a:xfrm>
              <a:off x="2775" y="2726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3" name="Oval 48"/>
            <p:cNvSpPr>
              <a:spLocks noChangeArrowheads="1"/>
            </p:cNvSpPr>
            <p:nvPr/>
          </p:nvSpPr>
          <p:spPr bwMode="auto">
            <a:xfrm>
              <a:off x="2476" y="3014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4" name="Oval 49"/>
            <p:cNvSpPr>
              <a:spLocks noChangeArrowheads="1"/>
            </p:cNvSpPr>
            <p:nvPr/>
          </p:nvSpPr>
          <p:spPr bwMode="auto">
            <a:xfrm>
              <a:off x="2808" y="3023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5" name="Line 50"/>
            <p:cNvSpPr>
              <a:spLocks noChangeShapeType="1"/>
            </p:cNvSpPr>
            <p:nvPr/>
          </p:nvSpPr>
          <p:spPr bwMode="auto">
            <a:xfrm>
              <a:off x="2634" y="1863"/>
              <a:ext cx="133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51"/>
          <p:cNvGrpSpPr/>
          <p:nvPr/>
        </p:nvGrpSpPr>
        <p:grpSpPr>
          <a:xfrm>
            <a:off x="4559300" y="2230438"/>
            <a:ext cx="2433638" cy="2114550"/>
            <a:chOff x="2889" y="1863"/>
            <a:chExt cx="1533" cy="1332"/>
          </a:xfrm>
        </p:grpSpPr>
        <p:sp>
          <p:nvSpPr>
            <p:cNvPr id="19507" name="Line 52"/>
            <p:cNvSpPr>
              <a:spLocks noChangeShapeType="1"/>
            </p:cNvSpPr>
            <p:nvPr/>
          </p:nvSpPr>
          <p:spPr bwMode="auto">
            <a:xfrm>
              <a:off x="3462" y="2619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8" name="Line 53"/>
            <p:cNvSpPr>
              <a:spLocks noChangeShapeType="1"/>
            </p:cNvSpPr>
            <p:nvPr/>
          </p:nvSpPr>
          <p:spPr bwMode="auto">
            <a:xfrm>
              <a:off x="3462" y="2907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09" name="Line 54"/>
            <p:cNvSpPr>
              <a:spLocks noChangeShapeType="1"/>
            </p:cNvSpPr>
            <p:nvPr/>
          </p:nvSpPr>
          <p:spPr bwMode="auto">
            <a:xfrm>
              <a:off x="3750" y="2331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0" name="Line 55"/>
            <p:cNvSpPr>
              <a:spLocks noChangeShapeType="1"/>
            </p:cNvSpPr>
            <p:nvPr/>
          </p:nvSpPr>
          <p:spPr bwMode="auto">
            <a:xfrm>
              <a:off x="4086" y="2331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1" name="Rectangle 56"/>
            <p:cNvSpPr>
              <a:spLocks noChangeArrowheads="1"/>
            </p:cNvSpPr>
            <p:nvPr/>
          </p:nvSpPr>
          <p:spPr bwMode="auto">
            <a:xfrm>
              <a:off x="3462" y="2331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2" name="Oval 57"/>
            <p:cNvSpPr>
              <a:spLocks noChangeArrowheads="1"/>
            </p:cNvSpPr>
            <p:nvPr/>
          </p:nvSpPr>
          <p:spPr bwMode="auto">
            <a:xfrm>
              <a:off x="4182" y="2427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3" name="Oval 58"/>
            <p:cNvSpPr>
              <a:spLocks noChangeArrowheads="1"/>
            </p:cNvSpPr>
            <p:nvPr/>
          </p:nvSpPr>
          <p:spPr bwMode="auto">
            <a:xfrm>
              <a:off x="3831" y="2704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4" name="Oval 59"/>
            <p:cNvSpPr>
              <a:spLocks noChangeArrowheads="1"/>
            </p:cNvSpPr>
            <p:nvPr/>
          </p:nvSpPr>
          <p:spPr bwMode="auto">
            <a:xfrm>
              <a:off x="3532" y="2992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5" name="Oval 60"/>
            <p:cNvSpPr>
              <a:spLocks noChangeArrowheads="1"/>
            </p:cNvSpPr>
            <p:nvPr/>
          </p:nvSpPr>
          <p:spPr bwMode="auto">
            <a:xfrm>
              <a:off x="3864" y="3001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6" name="Line 61"/>
            <p:cNvSpPr>
              <a:spLocks noChangeShapeType="1"/>
            </p:cNvSpPr>
            <p:nvPr/>
          </p:nvSpPr>
          <p:spPr bwMode="auto">
            <a:xfrm>
              <a:off x="2889" y="1863"/>
              <a:ext cx="989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62"/>
          <p:cNvGrpSpPr/>
          <p:nvPr/>
        </p:nvGrpSpPr>
        <p:grpSpPr>
          <a:xfrm>
            <a:off x="4930775" y="2230438"/>
            <a:ext cx="3727450" cy="2119312"/>
            <a:chOff x="3123" y="1863"/>
            <a:chExt cx="2348" cy="1335"/>
          </a:xfrm>
        </p:grpSpPr>
        <p:sp>
          <p:nvSpPr>
            <p:cNvPr id="19518" name="Line 63"/>
            <p:cNvSpPr>
              <a:spLocks noChangeShapeType="1"/>
            </p:cNvSpPr>
            <p:nvPr/>
          </p:nvSpPr>
          <p:spPr bwMode="auto">
            <a:xfrm>
              <a:off x="4511" y="262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19" name="Line 64"/>
            <p:cNvSpPr>
              <a:spLocks noChangeShapeType="1"/>
            </p:cNvSpPr>
            <p:nvPr/>
          </p:nvSpPr>
          <p:spPr bwMode="auto">
            <a:xfrm>
              <a:off x="4511" y="291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0" name="Line 65"/>
            <p:cNvSpPr>
              <a:spLocks noChangeShapeType="1"/>
            </p:cNvSpPr>
            <p:nvPr/>
          </p:nvSpPr>
          <p:spPr bwMode="auto">
            <a:xfrm>
              <a:off x="4799" y="233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1" name="Line 66"/>
            <p:cNvSpPr>
              <a:spLocks noChangeShapeType="1"/>
            </p:cNvSpPr>
            <p:nvPr/>
          </p:nvSpPr>
          <p:spPr bwMode="auto">
            <a:xfrm>
              <a:off x="5135" y="233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2" name="Rectangle 67"/>
            <p:cNvSpPr>
              <a:spLocks noChangeArrowheads="1"/>
            </p:cNvSpPr>
            <p:nvPr/>
          </p:nvSpPr>
          <p:spPr bwMode="auto">
            <a:xfrm>
              <a:off x="4511" y="233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3" name="Oval 68"/>
            <p:cNvSpPr>
              <a:spLocks noChangeArrowheads="1"/>
            </p:cNvSpPr>
            <p:nvPr/>
          </p:nvSpPr>
          <p:spPr bwMode="auto">
            <a:xfrm>
              <a:off x="5231" y="243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4" name="Oval 69"/>
            <p:cNvSpPr>
              <a:spLocks noChangeArrowheads="1"/>
            </p:cNvSpPr>
            <p:nvPr/>
          </p:nvSpPr>
          <p:spPr bwMode="auto">
            <a:xfrm>
              <a:off x="4880" y="270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5" name="Oval 70"/>
            <p:cNvSpPr>
              <a:spLocks noChangeArrowheads="1"/>
            </p:cNvSpPr>
            <p:nvPr/>
          </p:nvSpPr>
          <p:spPr bwMode="auto">
            <a:xfrm>
              <a:off x="4581" y="299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6" name="Oval 71"/>
            <p:cNvSpPr>
              <a:spLocks noChangeArrowheads="1"/>
            </p:cNvSpPr>
            <p:nvPr/>
          </p:nvSpPr>
          <p:spPr bwMode="auto">
            <a:xfrm>
              <a:off x="4913" y="300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27" name="Line 72"/>
            <p:cNvSpPr>
              <a:spLocks noChangeShapeType="1"/>
            </p:cNvSpPr>
            <p:nvPr/>
          </p:nvSpPr>
          <p:spPr bwMode="auto">
            <a:xfrm>
              <a:off x="3123" y="1863"/>
              <a:ext cx="1878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17" name="Oval 73"/>
          <p:cNvSpPr>
            <a:spLocks noChangeArrowheads="1"/>
          </p:cNvSpPr>
          <p:nvPr/>
        </p:nvSpPr>
        <p:spPr bwMode="auto">
          <a:xfrm>
            <a:off x="1549400" y="57277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74"/>
          <p:cNvGrpSpPr/>
          <p:nvPr/>
        </p:nvGrpSpPr>
        <p:grpSpPr>
          <a:xfrm>
            <a:off x="1438275" y="4356100"/>
            <a:ext cx="2514600" cy="2133600"/>
            <a:chOff x="960" y="2784"/>
            <a:chExt cx="1584" cy="1344"/>
          </a:xfrm>
        </p:grpSpPr>
        <p:sp>
          <p:nvSpPr>
            <p:cNvPr id="19530" name="Line 75"/>
            <p:cNvSpPr>
              <a:spLocks noChangeShapeType="1"/>
            </p:cNvSpPr>
            <p:nvPr/>
          </p:nvSpPr>
          <p:spPr bwMode="auto">
            <a:xfrm>
              <a:off x="960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1" name="Line 76"/>
            <p:cNvSpPr>
              <a:spLocks noChangeShapeType="1"/>
            </p:cNvSpPr>
            <p:nvPr/>
          </p:nvSpPr>
          <p:spPr bwMode="auto">
            <a:xfrm>
              <a:off x="960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2" name="Line 77"/>
            <p:cNvSpPr>
              <a:spLocks noChangeShapeType="1"/>
            </p:cNvSpPr>
            <p:nvPr/>
          </p:nvSpPr>
          <p:spPr bwMode="auto">
            <a:xfrm>
              <a:off x="1248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3" name="Line 78"/>
            <p:cNvSpPr>
              <a:spLocks noChangeShapeType="1"/>
            </p:cNvSpPr>
            <p:nvPr/>
          </p:nvSpPr>
          <p:spPr bwMode="auto">
            <a:xfrm>
              <a:off x="1584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4" name="Rectangle 79"/>
            <p:cNvSpPr>
              <a:spLocks noChangeArrowheads="1"/>
            </p:cNvSpPr>
            <p:nvPr/>
          </p:nvSpPr>
          <p:spPr bwMode="auto">
            <a:xfrm>
              <a:off x="960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5" name="Oval 80"/>
            <p:cNvSpPr>
              <a:spLocks noChangeArrowheads="1"/>
            </p:cNvSpPr>
            <p:nvPr/>
          </p:nvSpPr>
          <p:spPr bwMode="auto">
            <a:xfrm>
              <a:off x="1680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6" name="Oval 81"/>
            <p:cNvSpPr>
              <a:spLocks noChangeArrowheads="1"/>
            </p:cNvSpPr>
            <p:nvPr/>
          </p:nvSpPr>
          <p:spPr bwMode="auto">
            <a:xfrm>
              <a:off x="1344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7" name="Oval 82"/>
            <p:cNvSpPr>
              <a:spLocks noChangeArrowheads="1"/>
            </p:cNvSpPr>
            <p:nvPr/>
          </p:nvSpPr>
          <p:spPr bwMode="auto">
            <a:xfrm>
              <a:off x="1030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8" name="Oval 83"/>
            <p:cNvSpPr>
              <a:spLocks noChangeArrowheads="1"/>
            </p:cNvSpPr>
            <p:nvPr/>
          </p:nvSpPr>
          <p:spPr bwMode="auto">
            <a:xfrm>
              <a:off x="1366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39" name="Oval 84"/>
            <p:cNvSpPr>
              <a:spLocks noChangeArrowheads="1"/>
            </p:cNvSpPr>
            <p:nvPr/>
          </p:nvSpPr>
          <p:spPr bwMode="auto">
            <a:xfrm>
              <a:off x="1344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0" name="Line 85"/>
            <p:cNvSpPr>
              <a:spLocks noChangeShapeType="1"/>
            </p:cNvSpPr>
            <p:nvPr/>
          </p:nvSpPr>
          <p:spPr bwMode="auto">
            <a:xfrm flipH="1">
              <a:off x="1440" y="2784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30" name="Oval 86"/>
          <p:cNvSpPr>
            <a:spLocks noChangeArrowheads="1"/>
          </p:cNvSpPr>
          <p:nvPr/>
        </p:nvSpPr>
        <p:spPr bwMode="auto">
          <a:xfrm>
            <a:off x="3225800" y="5254625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9" name="Group 87"/>
          <p:cNvGrpSpPr/>
          <p:nvPr/>
        </p:nvGrpSpPr>
        <p:grpSpPr>
          <a:xfrm>
            <a:off x="3114675" y="4356100"/>
            <a:ext cx="1524000" cy="2133600"/>
            <a:chOff x="2016" y="2784"/>
            <a:chExt cx="960" cy="1344"/>
          </a:xfrm>
        </p:grpSpPr>
        <p:sp>
          <p:nvSpPr>
            <p:cNvPr id="19543" name="Line 88"/>
            <p:cNvSpPr>
              <a:spLocks noChangeShapeType="1"/>
            </p:cNvSpPr>
            <p:nvPr/>
          </p:nvSpPr>
          <p:spPr bwMode="auto">
            <a:xfrm>
              <a:off x="2016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4" name="Line 89"/>
            <p:cNvSpPr>
              <a:spLocks noChangeShapeType="1"/>
            </p:cNvSpPr>
            <p:nvPr/>
          </p:nvSpPr>
          <p:spPr bwMode="auto">
            <a:xfrm>
              <a:off x="2016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5" name="Line 90"/>
            <p:cNvSpPr>
              <a:spLocks noChangeShapeType="1"/>
            </p:cNvSpPr>
            <p:nvPr/>
          </p:nvSpPr>
          <p:spPr bwMode="auto">
            <a:xfrm>
              <a:off x="2304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6" name="Line 91"/>
            <p:cNvSpPr>
              <a:spLocks noChangeShapeType="1"/>
            </p:cNvSpPr>
            <p:nvPr/>
          </p:nvSpPr>
          <p:spPr bwMode="auto">
            <a:xfrm>
              <a:off x="2640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7" name="Rectangle 92"/>
            <p:cNvSpPr>
              <a:spLocks noChangeArrowheads="1"/>
            </p:cNvSpPr>
            <p:nvPr/>
          </p:nvSpPr>
          <p:spPr bwMode="auto">
            <a:xfrm>
              <a:off x="2016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8" name="Oval 93"/>
            <p:cNvSpPr>
              <a:spLocks noChangeArrowheads="1"/>
            </p:cNvSpPr>
            <p:nvPr/>
          </p:nvSpPr>
          <p:spPr bwMode="auto">
            <a:xfrm>
              <a:off x="2736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49" name="Oval 94"/>
            <p:cNvSpPr>
              <a:spLocks noChangeArrowheads="1"/>
            </p:cNvSpPr>
            <p:nvPr/>
          </p:nvSpPr>
          <p:spPr bwMode="auto">
            <a:xfrm>
              <a:off x="2400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0" name="Oval 95"/>
            <p:cNvSpPr>
              <a:spLocks noChangeArrowheads="1"/>
            </p:cNvSpPr>
            <p:nvPr/>
          </p:nvSpPr>
          <p:spPr bwMode="auto">
            <a:xfrm>
              <a:off x="2086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1" name="Oval 96"/>
            <p:cNvSpPr>
              <a:spLocks noChangeArrowheads="1"/>
            </p:cNvSpPr>
            <p:nvPr/>
          </p:nvSpPr>
          <p:spPr bwMode="auto">
            <a:xfrm>
              <a:off x="2422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2" name="Oval 97"/>
            <p:cNvSpPr>
              <a:spLocks noChangeArrowheads="1"/>
            </p:cNvSpPr>
            <p:nvPr/>
          </p:nvSpPr>
          <p:spPr bwMode="auto">
            <a:xfrm>
              <a:off x="2400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3" name="Line 98"/>
            <p:cNvSpPr>
              <a:spLocks noChangeShapeType="1"/>
            </p:cNvSpPr>
            <p:nvPr/>
          </p:nvSpPr>
          <p:spPr bwMode="auto">
            <a:xfrm flipH="1">
              <a:off x="2448" y="278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43" name="Oval 99"/>
          <p:cNvSpPr>
            <a:spLocks noChangeArrowheads="1"/>
          </p:cNvSpPr>
          <p:nvPr/>
        </p:nvSpPr>
        <p:spPr bwMode="auto">
          <a:xfrm>
            <a:off x="5934075" y="57277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" name="Group 100"/>
          <p:cNvGrpSpPr/>
          <p:nvPr/>
        </p:nvGrpSpPr>
        <p:grpSpPr>
          <a:xfrm>
            <a:off x="4562475" y="4356100"/>
            <a:ext cx="1752600" cy="2133600"/>
            <a:chOff x="2928" y="2784"/>
            <a:chExt cx="1104" cy="1344"/>
          </a:xfrm>
        </p:grpSpPr>
        <p:sp>
          <p:nvSpPr>
            <p:cNvPr id="19556" name="Line 101"/>
            <p:cNvSpPr>
              <a:spLocks noChangeShapeType="1"/>
            </p:cNvSpPr>
            <p:nvPr/>
          </p:nvSpPr>
          <p:spPr bwMode="auto">
            <a:xfrm>
              <a:off x="3072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7" name="Line 102"/>
            <p:cNvSpPr>
              <a:spLocks noChangeShapeType="1"/>
            </p:cNvSpPr>
            <p:nvPr/>
          </p:nvSpPr>
          <p:spPr bwMode="auto">
            <a:xfrm>
              <a:off x="3072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8" name="Line 103"/>
            <p:cNvSpPr>
              <a:spLocks noChangeShapeType="1"/>
            </p:cNvSpPr>
            <p:nvPr/>
          </p:nvSpPr>
          <p:spPr bwMode="auto">
            <a:xfrm>
              <a:off x="3360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59" name="Line 104"/>
            <p:cNvSpPr>
              <a:spLocks noChangeShapeType="1"/>
            </p:cNvSpPr>
            <p:nvPr/>
          </p:nvSpPr>
          <p:spPr bwMode="auto">
            <a:xfrm>
              <a:off x="3696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0" name="Rectangle 105"/>
            <p:cNvSpPr>
              <a:spLocks noChangeArrowheads="1"/>
            </p:cNvSpPr>
            <p:nvPr/>
          </p:nvSpPr>
          <p:spPr bwMode="auto">
            <a:xfrm>
              <a:off x="3072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1" name="Oval 106"/>
            <p:cNvSpPr>
              <a:spLocks noChangeArrowheads="1"/>
            </p:cNvSpPr>
            <p:nvPr/>
          </p:nvSpPr>
          <p:spPr bwMode="auto">
            <a:xfrm>
              <a:off x="3792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2" name="Oval 107"/>
            <p:cNvSpPr>
              <a:spLocks noChangeArrowheads="1"/>
            </p:cNvSpPr>
            <p:nvPr/>
          </p:nvSpPr>
          <p:spPr bwMode="auto">
            <a:xfrm>
              <a:off x="3456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3" name="Oval 108"/>
            <p:cNvSpPr>
              <a:spLocks noChangeArrowheads="1"/>
            </p:cNvSpPr>
            <p:nvPr/>
          </p:nvSpPr>
          <p:spPr bwMode="auto">
            <a:xfrm>
              <a:off x="3142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4" name="Oval 109"/>
            <p:cNvSpPr>
              <a:spLocks noChangeArrowheads="1"/>
            </p:cNvSpPr>
            <p:nvPr/>
          </p:nvSpPr>
          <p:spPr bwMode="auto">
            <a:xfrm>
              <a:off x="3478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5" name="Oval 110"/>
            <p:cNvSpPr>
              <a:spLocks noChangeArrowheads="1"/>
            </p:cNvSpPr>
            <p:nvPr/>
          </p:nvSpPr>
          <p:spPr bwMode="auto">
            <a:xfrm>
              <a:off x="3456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66" name="Line 111"/>
            <p:cNvSpPr>
              <a:spLocks noChangeShapeType="1"/>
            </p:cNvSpPr>
            <p:nvPr/>
          </p:nvSpPr>
          <p:spPr bwMode="auto">
            <a:xfrm>
              <a:off x="2928" y="2784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4656" name="Oval 112"/>
          <p:cNvSpPr>
            <a:spLocks noChangeArrowheads="1"/>
          </p:cNvSpPr>
          <p:nvPr/>
        </p:nvSpPr>
        <p:spPr bwMode="auto">
          <a:xfrm>
            <a:off x="7610475" y="6184900"/>
            <a:ext cx="228600" cy="228600"/>
          </a:xfrm>
          <a:prstGeom prst="ellipse">
            <a:avLst/>
          </a:prstGeom>
          <a:solidFill>
            <a:srgbClr val="00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Group 113"/>
          <p:cNvGrpSpPr/>
          <p:nvPr/>
        </p:nvGrpSpPr>
        <p:grpSpPr>
          <a:xfrm>
            <a:off x="5095875" y="4356100"/>
            <a:ext cx="2895600" cy="2133600"/>
            <a:chOff x="3264" y="2784"/>
            <a:chExt cx="1824" cy="1344"/>
          </a:xfrm>
        </p:grpSpPr>
        <p:sp>
          <p:nvSpPr>
            <p:cNvPr id="19569" name="Line 114"/>
            <p:cNvSpPr>
              <a:spLocks noChangeShapeType="1"/>
            </p:cNvSpPr>
            <p:nvPr/>
          </p:nvSpPr>
          <p:spPr bwMode="auto">
            <a:xfrm>
              <a:off x="4128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0" name="Line 115"/>
            <p:cNvSpPr>
              <a:spLocks noChangeShapeType="1"/>
            </p:cNvSpPr>
            <p:nvPr/>
          </p:nvSpPr>
          <p:spPr bwMode="auto">
            <a:xfrm>
              <a:off x="4128" y="384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1" name="Line 116"/>
            <p:cNvSpPr>
              <a:spLocks noChangeShapeType="1"/>
            </p:cNvSpPr>
            <p:nvPr/>
          </p:nvSpPr>
          <p:spPr bwMode="auto">
            <a:xfrm>
              <a:off x="4416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2" name="Line 117"/>
            <p:cNvSpPr>
              <a:spLocks noChangeShapeType="1"/>
            </p:cNvSpPr>
            <p:nvPr/>
          </p:nvSpPr>
          <p:spPr bwMode="auto">
            <a:xfrm>
              <a:off x="4752" y="326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3" name="Rectangle 118"/>
            <p:cNvSpPr>
              <a:spLocks noChangeArrowheads="1"/>
            </p:cNvSpPr>
            <p:nvPr/>
          </p:nvSpPr>
          <p:spPr bwMode="auto">
            <a:xfrm>
              <a:off x="4128" y="3264"/>
              <a:ext cx="960" cy="8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4" name="Oval 119"/>
            <p:cNvSpPr>
              <a:spLocks noChangeArrowheads="1"/>
            </p:cNvSpPr>
            <p:nvPr/>
          </p:nvSpPr>
          <p:spPr bwMode="auto">
            <a:xfrm>
              <a:off x="4848" y="3360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5" name="Oval 120"/>
            <p:cNvSpPr>
              <a:spLocks noChangeArrowheads="1"/>
            </p:cNvSpPr>
            <p:nvPr/>
          </p:nvSpPr>
          <p:spPr bwMode="auto">
            <a:xfrm>
              <a:off x="4512" y="3637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6" name="Oval 121"/>
            <p:cNvSpPr>
              <a:spLocks noChangeArrowheads="1"/>
            </p:cNvSpPr>
            <p:nvPr/>
          </p:nvSpPr>
          <p:spPr bwMode="auto">
            <a:xfrm>
              <a:off x="4198" y="3925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7" name="Oval 122"/>
            <p:cNvSpPr>
              <a:spLocks noChangeArrowheads="1"/>
            </p:cNvSpPr>
            <p:nvPr/>
          </p:nvSpPr>
          <p:spPr bwMode="auto">
            <a:xfrm>
              <a:off x="4534" y="3934"/>
              <a:ext cx="144" cy="144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8" name="Oval 123"/>
            <p:cNvSpPr>
              <a:spLocks noChangeArrowheads="1"/>
            </p:cNvSpPr>
            <p:nvPr/>
          </p:nvSpPr>
          <p:spPr bwMode="auto">
            <a:xfrm>
              <a:off x="4512" y="3350"/>
              <a:ext cx="166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579" name="Line 124"/>
            <p:cNvSpPr>
              <a:spLocks noChangeShapeType="1"/>
            </p:cNvSpPr>
            <p:nvPr/>
          </p:nvSpPr>
          <p:spPr bwMode="auto">
            <a:xfrm>
              <a:off x="3264" y="2784"/>
              <a:ext cx="13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9581" name="AutoShape 126"/>
          <p:cNvSpPr>
            <a:spLocks noChangeArrowheads="1"/>
          </p:cNvSpPr>
          <p:nvPr/>
        </p:nvSpPr>
        <p:spPr bwMode="auto">
          <a:xfrm>
            <a:off x="6638925" y="1117600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</a:t>
            </a:r>
          </a:p>
        </p:txBody>
      </p:sp>
      <p:grpSp>
        <p:nvGrpSpPr>
          <p:cNvPr id="13" name="Group 128"/>
          <p:cNvGrpSpPr/>
          <p:nvPr/>
        </p:nvGrpSpPr>
        <p:grpSpPr>
          <a:xfrm>
            <a:off x="314325" y="4394200"/>
            <a:ext cx="8515350" cy="2400300"/>
            <a:chOff x="252" y="2808"/>
            <a:chExt cx="5364" cy="1512"/>
          </a:xfrm>
        </p:grpSpPr>
        <p:grpSp>
          <p:nvGrpSpPr>
            <p:cNvPr id="21528" name="Group 129"/>
            <p:cNvGrpSpPr/>
            <p:nvPr/>
          </p:nvGrpSpPr>
          <p:grpSpPr>
            <a:xfrm>
              <a:off x="4512" y="2808"/>
              <a:ext cx="1104" cy="403"/>
              <a:chOff x="168" y="2820"/>
              <a:chExt cx="1104" cy="403"/>
            </a:xfrm>
          </p:grpSpPr>
          <p:sp>
            <p:nvSpPr>
              <p:cNvPr id="19585" name="Line 130"/>
              <p:cNvSpPr>
                <a:spLocks noChangeShapeType="1"/>
              </p:cNvSpPr>
              <p:nvPr/>
            </p:nvSpPr>
            <p:spPr bwMode="auto">
              <a:xfrm flipH="1">
                <a:off x="168" y="2832"/>
                <a:ext cx="30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86" name="Line 131"/>
              <p:cNvSpPr>
                <a:spLocks noChangeShapeType="1"/>
              </p:cNvSpPr>
              <p:nvPr/>
            </p:nvSpPr>
            <p:spPr bwMode="auto">
              <a:xfrm>
                <a:off x="924" y="2820"/>
                <a:ext cx="348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87" name="Text Box 132"/>
              <p:cNvSpPr txBox="1">
                <a:spLocks noChangeArrowheads="1"/>
              </p:cNvSpPr>
              <p:nvPr/>
            </p:nvSpPr>
            <p:spPr bwMode="auto">
              <a:xfrm>
                <a:off x="506" y="2973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……..</a:t>
                </a:r>
              </a:p>
            </p:txBody>
          </p:sp>
        </p:grpSp>
        <p:grpSp>
          <p:nvGrpSpPr>
            <p:cNvPr id="21529" name="Group 133"/>
            <p:cNvGrpSpPr/>
            <p:nvPr/>
          </p:nvGrpSpPr>
          <p:grpSpPr>
            <a:xfrm>
              <a:off x="252" y="2820"/>
              <a:ext cx="1104" cy="403"/>
              <a:chOff x="168" y="2820"/>
              <a:chExt cx="1104" cy="403"/>
            </a:xfrm>
          </p:grpSpPr>
          <p:sp>
            <p:nvSpPr>
              <p:cNvPr id="19589" name="Line 134"/>
              <p:cNvSpPr>
                <a:spLocks noChangeShapeType="1"/>
              </p:cNvSpPr>
              <p:nvPr/>
            </p:nvSpPr>
            <p:spPr bwMode="auto">
              <a:xfrm flipH="1">
                <a:off x="168" y="2832"/>
                <a:ext cx="30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0" name="Line 135"/>
              <p:cNvSpPr>
                <a:spLocks noChangeShapeType="1"/>
              </p:cNvSpPr>
              <p:nvPr/>
            </p:nvSpPr>
            <p:spPr bwMode="auto">
              <a:xfrm>
                <a:off x="924" y="2820"/>
                <a:ext cx="348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1" name="Text Box 136"/>
              <p:cNvSpPr txBox="1">
                <a:spLocks noChangeArrowheads="1"/>
              </p:cNvSpPr>
              <p:nvPr/>
            </p:nvSpPr>
            <p:spPr bwMode="auto">
              <a:xfrm>
                <a:off x="506" y="2973"/>
                <a:ext cx="5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……..</a:t>
                </a:r>
              </a:p>
            </p:txBody>
          </p:sp>
        </p:grpSp>
        <p:grpSp>
          <p:nvGrpSpPr>
            <p:cNvPr id="21530" name="Group 137"/>
            <p:cNvGrpSpPr/>
            <p:nvPr/>
          </p:nvGrpSpPr>
          <p:grpSpPr>
            <a:xfrm>
              <a:off x="1080" y="4070"/>
              <a:ext cx="672" cy="250"/>
              <a:chOff x="1080" y="4070"/>
              <a:chExt cx="672" cy="250"/>
            </a:xfrm>
          </p:grpSpPr>
          <p:sp>
            <p:nvSpPr>
              <p:cNvPr id="19593" name="Line 138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4" name="Line 139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5" name="Text Box 140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1" name="Group 141"/>
            <p:cNvGrpSpPr/>
            <p:nvPr/>
          </p:nvGrpSpPr>
          <p:grpSpPr>
            <a:xfrm>
              <a:off x="2148" y="4070"/>
              <a:ext cx="672" cy="250"/>
              <a:chOff x="1080" y="4070"/>
              <a:chExt cx="672" cy="250"/>
            </a:xfrm>
          </p:grpSpPr>
          <p:sp>
            <p:nvSpPr>
              <p:cNvPr id="19597" name="Line 142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8" name="Line 143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599" name="Text Box 144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2" name="Group 145"/>
            <p:cNvGrpSpPr/>
            <p:nvPr/>
          </p:nvGrpSpPr>
          <p:grpSpPr>
            <a:xfrm>
              <a:off x="3204" y="4070"/>
              <a:ext cx="672" cy="250"/>
              <a:chOff x="1080" y="4070"/>
              <a:chExt cx="672" cy="250"/>
            </a:xfrm>
          </p:grpSpPr>
          <p:sp>
            <p:nvSpPr>
              <p:cNvPr id="19601" name="Line 146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2" name="Line 147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3" name="Text Box 148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  <p:grpSp>
          <p:nvGrpSpPr>
            <p:cNvPr id="21533" name="Group 149"/>
            <p:cNvGrpSpPr/>
            <p:nvPr/>
          </p:nvGrpSpPr>
          <p:grpSpPr>
            <a:xfrm>
              <a:off x="4284" y="4070"/>
              <a:ext cx="672" cy="250"/>
              <a:chOff x="1080" y="4070"/>
              <a:chExt cx="672" cy="250"/>
            </a:xfrm>
          </p:grpSpPr>
          <p:sp>
            <p:nvSpPr>
              <p:cNvPr id="19605" name="Line 150"/>
              <p:cNvSpPr>
                <a:spLocks noChangeShapeType="1"/>
              </p:cNvSpPr>
              <p:nvPr/>
            </p:nvSpPr>
            <p:spPr bwMode="auto">
              <a:xfrm flipH="1">
                <a:off x="1080" y="4140"/>
                <a:ext cx="108" cy="1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6" name="Line 151"/>
              <p:cNvSpPr>
                <a:spLocks noChangeShapeType="1"/>
              </p:cNvSpPr>
              <p:nvPr/>
            </p:nvSpPr>
            <p:spPr bwMode="auto">
              <a:xfrm>
                <a:off x="1608" y="41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607" name="Text Box 152"/>
              <p:cNvSpPr txBox="1">
                <a:spLocks noChangeArrowheads="1"/>
              </p:cNvSpPr>
              <p:nvPr/>
            </p:nvSpPr>
            <p:spPr bwMode="auto">
              <a:xfrm>
                <a:off x="1202" y="4070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2pPr>
                <a:lvl3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3pPr>
                <a:lvl4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4pPr>
                <a:lvl5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…...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4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4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64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64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7" grpId="0" animBg="1"/>
      <p:bldP spid="364558" grpId="0" animBg="1"/>
      <p:bldP spid="364559" grpId="0" animBg="1"/>
      <p:bldP spid="364560" grpId="0" animBg="1"/>
      <p:bldP spid="364561" grpId="0" animBg="1"/>
      <p:bldP spid="364617" grpId="0" animBg="1"/>
      <p:bldP spid="364630" grpId="0" animBg="1"/>
      <p:bldP spid="364643" grpId="0" animBg="1"/>
      <p:bldP spid="364656" grpId="0" animBg="1"/>
      <p:bldP spid="195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715963" y="203200"/>
            <a:ext cx="3929063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文件系统的系统结构图</a:t>
            </a:r>
          </a:p>
        </p:txBody>
      </p:sp>
      <p:sp>
        <p:nvSpPr>
          <p:cNvPr id="19581" name="AutoShape 126"/>
          <p:cNvSpPr>
            <a:spLocks noChangeArrowheads="1"/>
          </p:cNvSpPr>
          <p:nvPr/>
        </p:nvSpPr>
        <p:spPr bwMode="auto">
          <a:xfrm>
            <a:off x="6638925" y="1117600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</a:t>
            </a: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B55692BF-E728-42CA-883A-317EDBE21D42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1657350"/>
            <a:ext cx="7991475" cy="4292600"/>
            <a:chOff x="254" y="930"/>
            <a:chExt cx="5034" cy="2704"/>
          </a:xfrm>
        </p:grpSpPr>
        <p:sp>
          <p:nvSpPr>
            <p:cNvPr id="152" name="Line 2">
              <a:extLst>
                <a:ext uri="{FF2B5EF4-FFF2-40B4-BE49-F238E27FC236}">
                  <a16:creationId xmlns:a16="http://schemas.microsoft.com/office/drawing/2014/main" id="{278698C6-EB04-4182-A409-C8B2DB716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2840"/>
              <a:ext cx="984" cy="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3">
              <a:extLst>
                <a:ext uri="{FF2B5EF4-FFF2-40B4-BE49-F238E27FC236}">
                  <a16:creationId xmlns:a16="http://schemas.microsoft.com/office/drawing/2014/main" id="{B91D5590-2596-467D-B2D1-175878349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2824"/>
              <a:ext cx="616" cy="5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">
              <a:extLst>
                <a:ext uri="{FF2B5EF4-FFF2-40B4-BE49-F238E27FC236}">
                  <a16:creationId xmlns:a16="http://schemas.microsoft.com/office/drawing/2014/main" id="{DE44C5F0-CAD7-4580-BCA4-35E1CC38EE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6" y="2808"/>
              <a:ext cx="536" cy="5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5">
              <a:extLst>
                <a:ext uri="{FF2B5EF4-FFF2-40B4-BE49-F238E27FC236}">
                  <a16:creationId xmlns:a16="http://schemas.microsoft.com/office/drawing/2014/main" id="{ED7023B6-AD2E-4971-844C-E6715FC13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2816"/>
              <a:ext cx="56" cy="5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Line 6">
              <a:extLst>
                <a:ext uri="{FF2B5EF4-FFF2-40B4-BE49-F238E27FC236}">
                  <a16:creationId xmlns:a16="http://schemas.microsoft.com/office/drawing/2014/main" id="{13077AA8-7FB8-4110-BBE5-064BE0060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0" y="1976"/>
              <a:ext cx="288" cy="4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7">
              <a:extLst>
                <a:ext uri="{FF2B5EF4-FFF2-40B4-BE49-F238E27FC236}">
                  <a16:creationId xmlns:a16="http://schemas.microsoft.com/office/drawing/2014/main" id="{104D54B7-F1DB-492B-B383-E55DFB19A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984"/>
              <a:ext cx="168" cy="4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8">
              <a:extLst>
                <a:ext uri="{FF2B5EF4-FFF2-40B4-BE49-F238E27FC236}">
                  <a16:creationId xmlns:a16="http://schemas.microsoft.com/office/drawing/2014/main" id="{BD5F13F5-E711-404D-8C1E-9DC39E52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4" y="1992"/>
              <a:ext cx="80" cy="5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9">
              <a:extLst>
                <a:ext uri="{FF2B5EF4-FFF2-40B4-BE49-F238E27FC236}">
                  <a16:creationId xmlns:a16="http://schemas.microsoft.com/office/drawing/2014/main" id="{76166B83-18A3-40FB-A18A-BFDF62FF2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0" y="1968"/>
              <a:ext cx="136" cy="5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10">
              <a:extLst>
                <a:ext uri="{FF2B5EF4-FFF2-40B4-BE49-F238E27FC236}">
                  <a16:creationId xmlns:a16="http://schemas.microsoft.com/office/drawing/2014/main" id="{5BA95BA0-5169-4F98-B6AF-A954495E68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0" y="1968"/>
              <a:ext cx="72" cy="5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11">
              <a:extLst>
                <a:ext uri="{FF2B5EF4-FFF2-40B4-BE49-F238E27FC236}">
                  <a16:creationId xmlns:a16="http://schemas.microsoft.com/office/drawing/2014/main" id="{4C42504C-E74B-42FA-8146-7DE631F42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1968"/>
              <a:ext cx="288" cy="5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12">
              <a:extLst>
                <a:ext uri="{FF2B5EF4-FFF2-40B4-BE49-F238E27FC236}">
                  <a16:creationId xmlns:a16="http://schemas.microsoft.com/office/drawing/2014/main" id="{E16192E7-AE0C-46BA-879C-3BEE2A634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" y="1952"/>
              <a:ext cx="376" cy="5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13">
              <a:extLst>
                <a:ext uri="{FF2B5EF4-FFF2-40B4-BE49-F238E27FC236}">
                  <a16:creationId xmlns:a16="http://schemas.microsoft.com/office/drawing/2014/main" id="{2F49983A-0A9A-4ED4-BB2D-D2FA13CAA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4" y="1968"/>
              <a:ext cx="16" cy="5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14">
              <a:extLst>
                <a:ext uri="{FF2B5EF4-FFF2-40B4-BE49-F238E27FC236}">
                  <a16:creationId xmlns:a16="http://schemas.microsoft.com/office/drawing/2014/main" id="{6AC9C97D-6EDD-4059-AB5D-44E551540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1976"/>
              <a:ext cx="136" cy="5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15">
              <a:extLst>
                <a:ext uri="{FF2B5EF4-FFF2-40B4-BE49-F238E27FC236}">
                  <a16:creationId xmlns:a16="http://schemas.microsoft.com/office/drawing/2014/main" id="{557F90A5-ABE2-43A3-848D-739352CEA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" y="1976"/>
              <a:ext cx="64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Line 16">
              <a:extLst>
                <a:ext uri="{FF2B5EF4-FFF2-40B4-BE49-F238E27FC236}">
                  <a16:creationId xmlns:a16="http://schemas.microsoft.com/office/drawing/2014/main" id="{6832BD42-258D-4FF6-82F3-FDB90DF8EB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4" y="1960"/>
              <a:ext cx="48" cy="5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Line 17">
              <a:extLst>
                <a:ext uri="{FF2B5EF4-FFF2-40B4-BE49-F238E27FC236}">
                  <a16:creationId xmlns:a16="http://schemas.microsoft.com/office/drawing/2014/main" id="{57645E63-FFB9-4B9B-BCD3-0DD5EE96F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968"/>
              <a:ext cx="136" cy="5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Line 18">
              <a:extLst>
                <a:ext uri="{FF2B5EF4-FFF2-40B4-BE49-F238E27FC236}">
                  <a16:creationId xmlns:a16="http://schemas.microsoft.com/office/drawing/2014/main" id="{6CDFAC1B-3EAE-4517-A458-B5AF15265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1968"/>
              <a:ext cx="504" cy="5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Line 19">
              <a:extLst>
                <a:ext uri="{FF2B5EF4-FFF2-40B4-BE49-F238E27FC236}">
                  <a16:creationId xmlns:a16="http://schemas.microsoft.com/office/drawing/2014/main" id="{D9E34A2D-5F7F-47C4-96BE-82A35D342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68"/>
              <a:ext cx="360" cy="5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20">
              <a:extLst>
                <a:ext uri="{FF2B5EF4-FFF2-40B4-BE49-F238E27FC236}">
                  <a16:creationId xmlns:a16="http://schemas.microsoft.com/office/drawing/2014/main" id="{5AFEB749-2E36-44C5-A229-5EA956A3F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1968"/>
              <a:ext cx="0" cy="5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Line 21">
              <a:extLst>
                <a:ext uri="{FF2B5EF4-FFF2-40B4-BE49-F238E27FC236}">
                  <a16:creationId xmlns:a16="http://schemas.microsoft.com/office/drawing/2014/main" id="{E7BF185E-F47C-4503-AC3B-3E123BB24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0" y="1968"/>
              <a:ext cx="352" cy="5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" name="Line 22">
              <a:extLst>
                <a:ext uri="{FF2B5EF4-FFF2-40B4-BE49-F238E27FC236}">
                  <a16:creationId xmlns:a16="http://schemas.microsoft.com/office/drawing/2014/main" id="{B7F71CD6-B727-4D0C-A244-A4399CA86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240"/>
              <a:ext cx="1416" cy="4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23">
              <a:extLst>
                <a:ext uri="{FF2B5EF4-FFF2-40B4-BE49-F238E27FC236}">
                  <a16:creationId xmlns:a16="http://schemas.microsoft.com/office/drawing/2014/main" id="{BB7B23B1-5A47-4438-9C58-A78D1B9EE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6" y="1240"/>
              <a:ext cx="688" cy="4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Line 24">
              <a:extLst>
                <a:ext uri="{FF2B5EF4-FFF2-40B4-BE49-F238E27FC236}">
                  <a16:creationId xmlns:a16="http://schemas.microsoft.com/office/drawing/2014/main" id="{F2562933-1A0F-40F3-AE68-8DF243C8C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4" y="1232"/>
              <a:ext cx="456" cy="4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25">
              <a:extLst>
                <a:ext uri="{FF2B5EF4-FFF2-40B4-BE49-F238E27FC236}">
                  <a16:creationId xmlns:a16="http://schemas.microsoft.com/office/drawing/2014/main" id="{92EC9782-6F7C-4B5F-AB57-76DAEE96A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6" y="1232"/>
              <a:ext cx="1232" cy="4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Rectangle 27">
              <a:extLst>
                <a:ext uri="{FF2B5EF4-FFF2-40B4-BE49-F238E27FC236}">
                  <a16:creationId xmlns:a16="http://schemas.microsoft.com/office/drawing/2014/main" id="{3B09719A-4965-4AC7-99E5-756061CC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960"/>
              <a:ext cx="808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Text Box 28">
              <a:extLst>
                <a:ext uri="{FF2B5EF4-FFF2-40B4-BE49-F238E27FC236}">
                  <a16:creationId xmlns:a16="http://schemas.microsoft.com/office/drawing/2014/main" id="{88B24912-9337-4FA7-A9CA-4FA3FB5EE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2" y="930"/>
              <a:ext cx="6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 (root)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78" name="Rectangle 29">
              <a:extLst>
                <a:ext uri="{FF2B5EF4-FFF2-40B4-BE49-F238E27FC236}">
                  <a16:creationId xmlns:a16="http://schemas.microsoft.com/office/drawing/2014/main" id="{E38EEA7B-53CC-4097-9971-7242F9BED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" y="1696"/>
              <a:ext cx="568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Rectangle 30">
              <a:extLst>
                <a:ext uri="{FF2B5EF4-FFF2-40B4-BE49-F238E27FC236}">
                  <a16:creationId xmlns:a16="http://schemas.microsoft.com/office/drawing/2014/main" id="{C48BE9F3-D45E-49E7-986E-7D539E2F3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" y="1696"/>
              <a:ext cx="568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Rectangle 31">
              <a:extLst>
                <a:ext uri="{FF2B5EF4-FFF2-40B4-BE49-F238E27FC236}">
                  <a16:creationId xmlns:a16="http://schemas.microsoft.com/office/drawing/2014/main" id="{8B6B33EC-38E6-44AD-8884-FE347510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1696"/>
              <a:ext cx="568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Rectangle 32">
              <a:extLst>
                <a:ext uri="{FF2B5EF4-FFF2-40B4-BE49-F238E27FC236}">
                  <a16:creationId xmlns:a16="http://schemas.microsoft.com/office/drawing/2014/main" id="{4250E633-A61F-4033-AEAD-6E947EB11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1696"/>
              <a:ext cx="568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Text Box 33">
              <a:extLst>
                <a:ext uri="{FF2B5EF4-FFF2-40B4-BE49-F238E27FC236}">
                  <a16:creationId xmlns:a16="http://schemas.microsoft.com/office/drawing/2014/main" id="{7C69E412-EDA6-4F33-BF49-72679ED94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" y="1658"/>
              <a:ext cx="4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bin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3" name="Text Box 34">
              <a:extLst>
                <a:ext uri="{FF2B5EF4-FFF2-40B4-BE49-F238E27FC236}">
                  <a16:creationId xmlns:a16="http://schemas.microsoft.com/office/drawing/2014/main" id="{09D40EA6-718B-40F0-B9C3-BCA371AC7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" y="1666"/>
              <a:ext cx="3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lib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4" name="Text Box 35">
              <a:extLst>
                <a:ext uri="{FF2B5EF4-FFF2-40B4-BE49-F238E27FC236}">
                  <a16:creationId xmlns:a16="http://schemas.microsoft.com/office/drawing/2014/main" id="{F76AE1C4-1A1D-45E6-B803-9452A0FA7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" y="1650"/>
              <a:ext cx="5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user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5" name="Text Box 36">
              <a:extLst>
                <a:ext uri="{FF2B5EF4-FFF2-40B4-BE49-F238E27FC236}">
                  <a16:creationId xmlns:a16="http://schemas.microsoft.com/office/drawing/2014/main" id="{AE42F15E-C36C-41E1-98AD-7C107769A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658"/>
              <a:ext cx="3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etc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86" name="Rectangle 37">
              <a:extLst>
                <a:ext uri="{FF2B5EF4-FFF2-40B4-BE49-F238E27FC236}">
                  <a16:creationId xmlns:a16="http://schemas.microsoft.com/office/drawing/2014/main" id="{0223F221-AD2F-40ED-91B1-53550A376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" y="2552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Rectangle 38">
              <a:extLst>
                <a:ext uri="{FF2B5EF4-FFF2-40B4-BE49-F238E27FC236}">
                  <a16:creationId xmlns:a16="http://schemas.microsoft.com/office/drawing/2014/main" id="{3449E48A-F9A1-413F-9CCA-79B1021CE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52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Rectangle 39">
              <a:extLst>
                <a:ext uri="{FF2B5EF4-FFF2-40B4-BE49-F238E27FC236}">
                  <a16:creationId xmlns:a16="http://schemas.microsoft.com/office/drawing/2014/main" id="{28ECBAEE-20B1-47AD-86DD-6788125BA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552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Rectangle 40">
              <a:extLst>
                <a:ext uri="{FF2B5EF4-FFF2-40B4-BE49-F238E27FC236}">
                  <a16:creationId xmlns:a16="http://schemas.microsoft.com/office/drawing/2014/main" id="{F6EE6548-7414-4766-B04C-24E40DC24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2544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Rectangle 41">
              <a:extLst>
                <a:ext uri="{FF2B5EF4-FFF2-40B4-BE49-F238E27FC236}">
                  <a16:creationId xmlns:a16="http://schemas.microsoft.com/office/drawing/2014/main" id="{444A78C5-1CF7-4C5B-AEE5-6FA0688C1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544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Rectangle 42">
              <a:extLst>
                <a:ext uri="{FF2B5EF4-FFF2-40B4-BE49-F238E27FC236}">
                  <a16:creationId xmlns:a16="http://schemas.microsoft.com/office/drawing/2014/main" id="{F6BBEE41-C107-4200-B606-451385A7B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2536"/>
              <a:ext cx="456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Text Box 43">
              <a:extLst>
                <a:ext uri="{FF2B5EF4-FFF2-40B4-BE49-F238E27FC236}">
                  <a16:creationId xmlns:a16="http://schemas.microsoft.com/office/drawing/2014/main" id="{6E6D5628-5F84-433A-9F40-A3FF1AFE8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" y="2530"/>
              <a:ext cx="5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math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93" name="Text Box 44">
              <a:extLst>
                <a:ext uri="{FF2B5EF4-FFF2-40B4-BE49-F238E27FC236}">
                  <a16:creationId xmlns:a16="http://schemas.microsoft.com/office/drawing/2014/main" id="{17583EC3-B7B2-4D28-B989-9FAABC0C6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" y="2538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ds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94" name="Text Box 45">
              <a:extLst>
                <a:ext uri="{FF2B5EF4-FFF2-40B4-BE49-F238E27FC236}">
                  <a16:creationId xmlns:a16="http://schemas.microsoft.com/office/drawing/2014/main" id="{E71421A2-4263-49D0-B95D-645EDD0AD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" y="2522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sw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95" name="Text Box 46">
              <a:extLst>
                <a:ext uri="{FF2B5EF4-FFF2-40B4-BE49-F238E27FC236}">
                  <a16:creationId xmlns:a16="http://schemas.microsoft.com/office/drawing/2014/main" id="{3E926B63-22C7-444F-A779-7F03A4BCF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2522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yin</a:t>
              </a:r>
              <a:endParaRPr kumimoji="1" lang="en-US" altLang="zh-CN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196" name="Text Box 47">
              <a:extLst>
                <a:ext uri="{FF2B5EF4-FFF2-40B4-BE49-F238E27FC236}">
                  <a16:creationId xmlns:a16="http://schemas.microsoft.com/office/drawing/2014/main" id="{FBAFB8A3-0C1F-421D-ACBA-82A88D8E5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2522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tao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97" name="Text Box 48">
              <a:extLst>
                <a:ext uri="{FF2B5EF4-FFF2-40B4-BE49-F238E27FC236}">
                  <a16:creationId xmlns:a16="http://schemas.microsoft.com/office/drawing/2014/main" id="{9CA28403-E390-4F8F-9BCA-EF6E4EC7C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522"/>
              <a:ext cx="3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xie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198" name="Rectangle 49">
              <a:extLst>
                <a:ext uri="{FF2B5EF4-FFF2-40B4-BE49-F238E27FC236}">
                  <a16:creationId xmlns:a16="http://schemas.microsoft.com/office/drawing/2014/main" id="{64EA4F47-ED90-4816-80B5-92BF7AD16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3360"/>
              <a:ext cx="904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Text Box 50">
              <a:extLst>
                <a:ext uri="{FF2B5EF4-FFF2-40B4-BE49-F238E27FC236}">
                  <a16:creationId xmlns:a16="http://schemas.microsoft.com/office/drawing/2014/main" id="{5ABFCC97-3ECA-482F-A89D-568D10C24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2" y="3338"/>
              <a:ext cx="9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Stack.cpp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00" name="Rectangle 51">
              <a:extLst>
                <a:ext uri="{FF2B5EF4-FFF2-40B4-BE49-F238E27FC236}">
                  <a16:creationId xmlns:a16="http://schemas.microsoft.com/office/drawing/2014/main" id="{B235A454-D712-4C4E-8A26-C44BA8B19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3360"/>
              <a:ext cx="840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Rectangle 52">
              <a:extLst>
                <a:ext uri="{FF2B5EF4-FFF2-40B4-BE49-F238E27FC236}">
                  <a16:creationId xmlns:a16="http://schemas.microsoft.com/office/drawing/2014/main" id="{6F512B24-681F-40D1-B0DC-1D834D467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3352"/>
              <a:ext cx="944" cy="27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Text Box 53">
              <a:extLst>
                <a:ext uri="{FF2B5EF4-FFF2-40B4-BE49-F238E27FC236}">
                  <a16:creationId xmlns:a16="http://schemas.microsoft.com/office/drawing/2014/main" id="{54FEB10C-8863-43E3-B247-99893E04E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0" y="3338"/>
              <a:ext cx="9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Queue.cpp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03" name="Text Box 54">
              <a:extLst>
                <a:ext uri="{FF2B5EF4-FFF2-40B4-BE49-F238E27FC236}">
                  <a16:creationId xmlns:a16="http://schemas.microsoft.com/office/drawing/2014/main" id="{346F68FF-D111-4F0E-80C8-E9DE88748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346"/>
              <a:ext cx="8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Tree.cpp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04" name="Line 55">
              <a:extLst>
                <a:ext uri="{FF2B5EF4-FFF2-40B4-BE49-F238E27FC236}">
                  <a16:creationId xmlns:a16="http://schemas.microsoft.com/office/drawing/2014/main" id="{83846D19-0686-46C2-9CB4-FB4E949DA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2816"/>
              <a:ext cx="856" cy="4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987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idx="1" hasCustomPrompt="1"/>
          </p:nvPr>
        </p:nvSpPr>
        <p:spPr>
          <a:xfrm>
            <a:off x="601663" y="211138"/>
            <a:ext cx="5027613" cy="5048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多叉路口交通灯管理问题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5046663" y="1176338"/>
            <a:ext cx="3467100" cy="2647950"/>
            <a:chOff x="1107" y="888"/>
            <a:chExt cx="2184" cy="1668"/>
          </a:xfrm>
        </p:grpSpPr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1878" y="955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>
              <a:off x="2196" y="963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1874" y="1929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2192" y="1937"/>
              <a:ext cx="0" cy="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 flipH="1" flipV="1">
              <a:off x="1256" y="1255"/>
              <a:ext cx="622" cy="2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 flipH="1" flipV="1">
              <a:off x="1107" y="1596"/>
              <a:ext cx="745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 flipV="1">
              <a:off x="2523" y="1233"/>
              <a:ext cx="555" cy="5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2545" y="1778"/>
              <a:ext cx="744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>
              <a:off x="2189" y="1933"/>
              <a:ext cx="923" cy="4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V="1">
              <a:off x="2200" y="1000"/>
              <a:ext cx="578" cy="5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2" name="AutoShape 14"/>
            <p:cNvSpPr>
              <a:spLocks noChangeArrowheads="1"/>
            </p:cNvSpPr>
            <p:nvPr/>
          </p:nvSpPr>
          <p:spPr bwMode="auto">
            <a:xfrm>
              <a:off x="1987" y="1122"/>
              <a:ext cx="92" cy="422"/>
            </a:xfrm>
            <a:prstGeom prst="upArrow">
              <a:avLst>
                <a:gd name="adj1" fmla="val 50000"/>
                <a:gd name="adj2" fmla="val 114631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3" name="AutoShape 15"/>
            <p:cNvSpPr>
              <a:spLocks noChangeArrowheads="1"/>
            </p:cNvSpPr>
            <p:nvPr/>
          </p:nvSpPr>
          <p:spPr bwMode="auto">
            <a:xfrm rot="-3877650">
              <a:off x="2805" y="1885"/>
              <a:ext cx="92" cy="422"/>
            </a:xfrm>
            <a:prstGeom prst="upArrow">
              <a:avLst>
                <a:gd name="adj1" fmla="val 50000"/>
                <a:gd name="adj2" fmla="val 114631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1934" y="888"/>
              <a:ext cx="1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C</a:t>
              </a:r>
            </a:p>
          </p:txBody>
        </p:sp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3077" y="2139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22546" name="Text Box 18"/>
            <p:cNvSpPr txBox="1">
              <a:spLocks noChangeArrowheads="1"/>
            </p:cNvSpPr>
            <p:nvPr/>
          </p:nvSpPr>
          <p:spPr bwMode="auto">
            <a:xfrm>
              <a:off x="2743" y="105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</a:t>
              </a:r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1910" y="230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22548" name="Text Box 20"/>
            <p:cNvSpPr txBox="1">
              <a:spLocks noChangeArrowheads="1"/>
            </p:cNvSpPr>
            <p:nvPr/>
          </p:nvSpPr>
          <p:spPr bwMode="auto">
            <a:xfrm>
              <a:off x="1120" y="1284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</a:p>
          </p:txBody>
        </p:sp>
      </p:grpSp>
      <p:sp>
        <p:nvSpPr>
          <p:cNvPr id="366613" name="Oval 21"/>
          <p:cNvSpPr>
            <a:spLocks noChangeArrowheads="1"/>
          </p:cNvSpPr>
          <p:nvPr/>
        </p:nvSpPr>
        <p:spPr bwMode="auto">
          <a:xfrm>
            <a:off x="1587500" y="2898775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4" name="Oval 22"/>
          <p:cNvSpPr>
            <a:spLocks noChangeArrowheads="1"/>
          </p:cNvSpPr>
          <p:nvPr/>
        </p:nvSpPr>
        <p:spPr bwMode="auto">
          <a:xfrm>
            <a:off x="2320925" y="28813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5" name="Oval 23"/>
          <p:cNvSpPr>
            <a:spLocks noChangeArrowheads="1"/>
          </p:cNvSpPr>
          <p:nvPr/>
        </p:nvSpPr>
        <p:spPr bwMode="auto">
          <a:xfrm>
            <a:off x="3141663" y="28813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6" name="Oval 24"/>
          <p:cNvSpPr>
            <a:spLocks noChangeArrowheads="1"/>
          </p:cNvSpPr>
          <p:nvPr/>
        </p:nvSpPr>
        <p:spPr bwMode="auto">
          <a:xfrm>
            <a:off x="801688" y="3790950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7" name="Oval 25"/>
          <p:cNvSpPr>
            <a:spLocks noChangeArrowheads="1"/>
          </p:cNvSpPr>
          <p:nvPr/>
        </p:nvSpPr>
        <p:spPr bwMode="auto">
          <a:xfrm>
            <a:off x="1538288" y="3790950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8" name="Oval 26"/>
          <p:cNvSpPr>
            <a:spLocks noChangeArrowheads="1"/>
          </p:cNvSpPr>
          <p:nvPr/>
        </p:nvSpPr>
        <p:spPr bwMode="auto">
          <a:xfrm>
            <a:off x="2376488" y="3790950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19" name="Oval 27"/>
          <p:cNvSpPr>
            <a:spLocks noChangeArrowheads="1"/>
          </p:cNvSpPr>
          <p:nvPr/>
        </p:nvSpPr>
        <p:spPr bwMode="auto">
          <a:xfrm>
            <a:off x="1624013" y="4754563"/>
            <a:ext cx="369888" cy="3698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0" name="Oval 28"/>
          <p:cNvSpPr>
            <a:spLocks noChangeArrowheads="1"/>
          </p:cNvSpPr>
          <p:nvPr/>
        </p:nvSpPr>
        <p:spPr bwMode="auto">
          <a:xfrm>
            <a:off x="2359025" y="4754563"/>
            <a:ext cx="369888" cy="36988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1" name="Oval 29"/>
          <p:cNvSpPr>
            <a:spLocks noChangeArrowheads="1"/>
          </p:cNvSpPr>
          <p:nvPr/>
        </p:nvSpPr>
        <p:spPr bwMode="auto">
          <a:xfrm>
            <a:off x="3198813" y="475456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2" name="Oval 30"/>
          <p:cNvSpPr>
            <a:spLocks noChangeArrowheads="1"/>
          </p:cNvSpPr>
          <p:nvPr/>
        </p:nvSpPr>
        <p:spPr bwMode="auto">
          <a:xfrm>
            <a:off x="841375" y="5578475"/>
            <a:ext cx="369888" cy="3698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3" name="Oval 31"/>
          <p:cNvSpPr>
            <a:spLocks noChangeArrowheads="1"/>
          </p:cNvSpPr>
          <p:nvPr/>
        </p:nvSpPr>
        <p:spPr bwMode="auto">
          <a:xfrm>
            <a:off x="1577975" y="5578475"/>
            <a:ext cx="369888" cy="369888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4" name="Oval 32"/>
          <p:cNvSpPr>
            <a:spLocks noChangeArrowheads="1"/>
          </p:cNvSpPr>
          <p:nvPr/>
        </p:nvSpPr>
        <p:spPr bwMode="auto">
          <a:xfrm>
            <a:off x="2416175" y="5576888"/>
            <a:ext cx="369888" cy="369888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6625" name="Oval 33"/>
          <p:cNvSpPr>
            <a:spLocks noChangeArrowheads="1"/>
          </p:cNvSpPr>
          <p:nvPr/>
        </p:nvSpPr>
        <p:spPr bwMode="auto">
          <a:xfrm>
            <a:off x="3275013" y="5624513"/>
            <a:ext cx="369888" cy="369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34"/>
          <p:cNvGrpSpPr/>
          <p:nvPr/>
        </p:nvGrpSpPr>
        <p:grpSpPr>
          <a:xfrm>
            <a:off x="973138" y="3117850"/>
            <a:ext cx="1446212" cy="2470150"/>
            <a:chOff x="1367" y="1578"/>
            <a:chExt cx="911" cy="1556"/>
          </a:xfrm>
        </p:grpSpPr>
        <p:sp>
          <p:nvSpPr>
            <p:cNvPr id="22563" name="Line 35"/>
            <p:cNvSpPr>
              <a:spLocks noChangeShapeType="1"/>
            </p:cNvSpPr>
            <p:nvPr/>
          </p:nvSpPr>
          <p:spPr bwMode="auto">
            <a:xfrm flipH="1">
              <a:off x="1367" y="1611"/>
              <a:ext cx="389" cy="15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4" name="Line 36"/>
            <p:cNvSpPr>
              <a:spLocks noChangeShapeType="1"/>
            </p:cNvSpPr>
            <p:nvPr/>
          </p:nvSpPr>
          <p:spPr bwMode="auto">
            <a:xfrm>
              <a:off x="1856" y="1656"/>
              <a:ext cx="0" cy="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5" name="Freeform 37"/>
            <p:cNvSpPr>
              <a:spLocks noChangeArrowheads="1"/>
            </p:cNvSpPr>
            <p:nvPr/>
          </p:nvSpPr>
          <p:spPr bwMode="auto">
            <a:xfrm>
              <a:off x="1945" y="1634"/>
              <a:ext cx="112" cy="1022"/>
            </a:xfrm>
            <a:custGeom>
              <a:avLst/>
              <a:gdLst>
                <a:gd name="T0" fmla="*/ 0 w 116"/>
                <a:gd name="T1" fmla="*/ 0 h 1022"/>
                <a:gd name="T2" fmla="*/ 111 w 116"/>
                <a:gd name="T3" fmla="*/ 244 h 1022"/>
                <a:gd name="T4" fmla="*/ 33 w 116"/>
                <a:gd name="T5" fmla="*/ 1022 h 1022"/>
                <a:gd name="connsiteX0" fmla="*/ 0 w 9651"/>
                <a:gd name="connsiteY0" fmla="*/ 0 h 10000"/>
                <a:gd name="connsiteX1" fmla="*/ 9569 w 9651"/>
                <a:gd name="connsiteY1" fmla="*/ 2387 h 10000"/>
                <a:gd name="connsiteX2" fmla="*/ 2845 w 9651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1" h="10000">
                  <a:moveTo>
                    <a:pt x="0" y="0"/>
                  </a:moveTo>
                  <a:cubicBezTo>
                    <a:pt x="4569" y="362"/>
                    <a:pt x="9138" y="724"/>
                    <a:pt x="9569" y="2387"/>
                  </a:cubicBezTo>
                  <a:cubicBezTo>
                    <a:pt x="10000" y="4051"/>
                    <a:pt x="8879" y="8824"/>
                    <a:pt x="2845" y="1000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6" name="Line 38"/>
            <p:cNvSpPr>
              <a:spLocks noChangeShapeType="1"/>
            </p:cNvSpPr>
            <p:nvPr/>
          </p:nvSpPr>
          <p:spPr bwMode="auto">
            <a:xfrm>
              <a:off x="1978" y="1578"/>
              <a:ext cx="300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39"/>
          <p:cNvGrpSpPr/>
          <p:nvPr/>
        </p:nvGrpSpPr>
        <p:grpSpPr>
          <a:xfrm>
            <a:off x="579438" y="2244725"/>
            <a:ext cx="2446337" cy="3413125"/>
            <a:chOff x="1119" y="1028"/>
            <a:chExt cx="1541" cy="2150"/>
          </a:xfrm>
        </p:grpSpPr>
        <p:sp>
          <p:nvSpPr>
            <p:cNvPr id="22568" name="Freeform 40"/>
            <p:cNvSpPr>
              <a:spLocks noChangeArrowheads="1"/>
            </p:cNvSpPr>
            <p:nvPr/>
          </p:nvSpPr>
          <p:spPr bwMode="auto">
            <a:xfrm>
              <a:off x="1119" y="1028"/>
              <a:ext cx="1182" cy="2139"/>
            </a:xfrm>
            <a:custGeom>
              <a:avLst/>
              <a:gdLst>
                <a:gd name="T0" fmla="*/ 1182 w 1182"/>
                <a:gd name="T1" fmla="*/ 428 h 2139"/>
                <a:gd name="T2" fmla="*/ 1015 w 1182"/>
                <a:gd name="T3" fmla="*/ 161 h 2139"/>
                <a:gd name="T4" fmla="*/ 348 w 1182"/>
                <a:gd name="T5" fmla="*/ 106 h 2139"/>
                <a:gd name="T6" fmla="*/ 26 w 1182"/>
                <a:gd name="T7" fmla="*/ 795 h 2139"/>
                <a:gd name="T8" fmla="*/ 193 w 1182"/>
                <a:gd name="T9" fmla="*/ 2139 h 2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2" h="2139">
                  <a:moveTo>
                    <a:pt x="1182" y="428"/>
                  </a:moveTo>
                  <a:cubicBezTo>
                    <a:pt x="1168" y="321"/>
                    <a:pt x="1154" y="215"/>
                    <a:pt x="1015" y="161"/>
                  </a:cubicBezTo>
                  <a:cubicBezTo>
                    <a:pt x="876" y="107"/>
                    <a:pt x="513" y="0"/>
                    <a:pt x="348" y="106"/>
                  </a:cubicBezTo>
                  <a:cubicBezTo>
                    <a:pt x="183" y="212"/>
                    <a:pt x="52" y="456"/>
                    <a:pt x="26" y="795"/>
                  </a:cubicBezTo>
                  <a:cubicBezTo>
                    <a:pt x="0" y="1134"/>
                    <a:pt x="96" y="1636"/>
                    <a:pt x="193" y="2139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69" name="Line 41"/>
            <p:cNvSpPr>
              <a:spLocks noChangeShapeType="1"/>
            </p:cNvSpPr>
            <p:nvPr/>
          </p:nvSpPr>
          <p:spPr bwMode="auto">
            <a:xfrm>
              <a:off x="2334" y="1667"/>
              <a:ext cx="11" cy="33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0" name="Freeform 42"/>
            <p:cNvSpPr>
              <a:spLocks noChangeArrowheads="1"/>
            </p:cNvSpPr>
            <p:nvPr/>
          </p:nvSpPr>
          <p:spPr bwMode="auto">
            <a:xfrm>
              <a:off x="2445" y="1578"/>
              <a:ext cx="215" cy="1122"/>
            </a:xfrm>
            <a:custGeom>
              <a:avLst/>
              <a:gdLst>
                <a:gd name="T0" fmla="*/ 0 w 215"/>
                <a:gd name="T1" fmla="*/ 0 h 1122"/>
                <a:gd name="T2" fmla="*/ 211 w 215"/>
                <a:gd name="T3" fmla="*/ 433 h 1122"/>
                <a:gd name="T4" fmla="*/ 22 w 215"/>
                <a:gd name="T5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" h="1122">
                  <a:moveTo>
                    <a:pt x="0" y="0"/>
                  </a:moveTo>
                  <a:cubicBezTo>
                    <a:pt x="103" y="123"/>
                    <a:pt x="207" y="246"/>
                    <a:pt x="211" y="433"/>
                  </a:cubicBezTo>
                  <a:cubicBezTo>
                    <a:pt x="215" y="620"/>
                    <a:pt x="24" y="1011"/>
                    <a:pt x="22" y="1122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1" name="Line 43"/>
            <p:cNvSpPr>
              <a:spLocks noChangeShapeType="1"/>
            </p:cNvSpPr>
            <p:nvPr/>
          </p:nvSpPr>
          <p:spPr bwMode="auto">
            <a:xfrm flipH="1">
              <a:off x="1989" y="1634"/>
              <a:ext cx="256" cy="105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2" name="Line 44"/>
            <p:cNvSpPr>
              <a:spLocks noChangeShapeType="1"/>
            </p:cNvSpPr>
            <p:nvPr/>
          </p:nvSpPr>
          <p:spPr bwMode="auto">
            <a:xfrm flipH="1">
              <a:off x="1945" y="1656"/>
              <a:ext cx="322" cy="152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420688" y="1993900"/>
            <a:ext cx="4210050" cy="4551363"/>
            <a:chOff x="1019" y="870"/>
            <a:chExt cx="2652" cy="2867"/>
          </a:xfrm>
        </p:grpSpPr>
        <p:sp>
          <p:nvSpPr>
            <p:cNvPr id="22574" name="Freeform 46"/>
            <p:cNvSpPr>
              <a:spLocks noChangeArrowheads="1"/>
            </p:cNvSpPr>
            <p:nvPr/>
          </p:nvSpPr>
          <p:spPr bwMode="auto">
            <a:xfrm>
              <a:off x="1019" y="870"/>
              <a:ext cx="1748" cy="2498"/>
            </a:xfrm>
            <a:custGeom>
              <a:avLst/>
              <a:gdLst>
                <a:gd name="T0" fmla="*/ 1748 w 1748"/>
                <a:gd name="T1" fmla="*/ 586 h 2498"/>
                <a:gd name="T2" fmla="*/ 1526 w 1748"/>
                <a:gd name="T3" fmla="*/ 264 h 2498"/>
                <a:gd name="T4" fmla="*/ 904 w 1748"/>
                <a:gd name="T5" fmla="*/ 30 h 2498"/>
                <a:gd name="T6" fmla="*/ 215 w 1748"/>
                <a:gd name="T7" fmla="*/ 141 h 2498"/>
                <a:gd name="T8" fmla="*/ 4 w 1748"/>
                <a:gd name="T9" fmla="*/ 875 h 2498"/>
                <a:gd name="T10" fmla="*/ 193 w 1748"/>
                <a:gd name="T11" fmla="*/ 2252 h 2498"/>
                <a:gd name="T12" fmla="*/ 281 w 1748"/>
                <a:gd name="T13" fmla="*/ 2352 h 2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8" h="2498">
                  <a:moveTo>
                    <a:pt x="1748" y="586"/>
                  </a:moveTo>
                  <a:cubicBezTo>
                    <a:pt x="1707" y="471"/>
                    <a:pt x="1667" y="357"/>
                    <a:pt x="1526" y="264"/>
                  </a:cubicBezTo>
                  <a:cubicBezTo>
                    <a:pt x="1385" y="171"/>
                    <a:pt x="1122" y="50"/>
                    <a:pt x="904" y="30"/>
                  </a:cubicBezTo>
                  <a:cubicBezTo>
                    <a:pt x="686" y="10"/>
                    <a:pt x="365" y="0"/>
                    <a:pt x="215" y="141"/>
                  </a:cubicBezTo>
                  <a:cubicBezTo>
                    <a:pt x="65" y="282"/>
                    <a:pt x="8" y="523"/>
                    <a:pt x="4" y="875"/>
                  </a:cubicBezTo>
                  <a:cubicBezTo>
                    <a:pt x="0" y="1227"/>
                    <a:pt x="147" y="2006"/>
                    <a:pt x="193" y="2252"/>
                  </a:cubicBezTo>
                  <a:cubicBezTo>
                    <a:pt x="239" y="2498"/>
                    <a:pt x="260" y="2425"/>
                    <a:pt x="281" y="2352"/>
                  </a:cubicBezTo>
                </a:path>
              </a:pathLst>
            </a:cu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5" name="Line 47"/>
            <p:cNvSpPr>
              <a:spLocks noChangeShapeType="1"/>
            </p:cNvSpPr>
            <p:nvPr/>
          </p:nvSpPr>
          <p:spPr bwMode="auto">
            <a:xfrm flipH="1">
              <a:off x="2489" y="1667"/>
              <a:ext cx="345" cy="155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6" name="Freeform 48"/>
            <p:cNvSpPr>
              <a:spLocks noChangeArrowheads="1"/>
            </p:cNvSpPr>
            <p:nvPr/>
          </p:nvSpPr>
          <p:spPr bwMode="auto">
            <a:xfrm>
              <a:off x="1900" y="1556"/>
              <a:ext cx="1771" cy="2181"/>
            </a:xfrm>
            <a:custGeom>
              <a:avLst/>
              <a:gdLst>
                <a:gd name="T0" fmla="*/ 1056 w 1771"/>
                <a:gd name="T1" fmla="*/ 0 h 2181"/>
                <a:gd name="T2" fmla="*/ 1545 w 1771"/>
                <a:gd name="T3" fmla="*/ 355 h 2181"/>
                <a:gd name="T4" fmla="*/ 1567 w 1771"/>
                <a:gd name="T5" fmla="*/ 1877 h 2181"/>
                <a:gd name="T6" fmla="*/ 323 w 1771"/>
                <a:gd name="T7" fmla="*/ 2166 h 2181"/>
                <a:gd name="T8" fmla="*/ 0 w 1771"/>
                <a:gd name="T9" fmla="*/ 1789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2181">
                  <a:moveTo>
                    <a:pt x="1056" y="0"/>
                  </a:moveTo>
                  <a:cubicBezTo>
                    <a:pt x="1258" y="21"/>
                    <a:pt x="1460" y="42"/>
                    <a:pt x="1545" y="355"/>
                  </a:cubicBezTo>
                  <a:cubicBezTo>
                    <a:pt x="1630" y="668"/>
                    <a:pt x="1771" y="1575"/>
                    <a:pt x="1567" y="1877"/>
                  </a:cubicBezTo>
                  <a:cubicBezTo>
                    <a:pt x="1363" y="2179"/>
                    <a:pt x="584" y="2181"/>
                    <a:pt x="323" y="2166"/>
                  </a:cubicBezTo>
                  <a:cubicBezTo>
                    <a:pt x="62" y="2151"/>
                    <a:pt x="35" y="1894"/>
                    <a:pt x="0" y="1789"/>
                  </a:cubicBezTo>
                </a:path>
              </a:pathLst>
            </a:cu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49"/>
          <p:cNvGrpSpPr/>
          <p:nvPr/>
        </p:nvGrpSpPr>
        <p:grpSpPr>
          <a:xfrm>
            <a:off x="1408113" y="4117975"/>
            <a:ext cx="1135062" cy="1574800"/>
            <a:chOff x="1641" y="2208"/>
            <a:chExt cx="715" cy="992"/>
          </a:xfrm>
        </p:grpSpPr>
        <p:sp>
          <p:nvSpPr>
            <p:cNvPr id="22578" name="Line 50"/>
            <p:cNvSpPr>
              <a:spLocks noChangeShapeType="1"/>
            </p:cNvSpPr>
            <p:nvPr/>
          </p:nvSpPr>
          <p:spPr bwMode="auto">
            <a:xfrm>
              <a:off x="1920" y="2208"/>
              <a:ext cx="436" cy="40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79" name="Freeform 51"/>
            <p:cNvSpPr>
              <a:spLocks noChangeArrowheads="1"/>
            </p:cNvSpPr>
            <p:nvPr/>
          </p:nvSpPr>
          <p:spPr bwMode="auto">
            <a:xfrm>
              <a:off x="1641" y="2211"/>
              <a:ext cx="148" cy="989"/>
            </a:xfrm>
            <a:custGeom>
              <a:avLst/>
              <a:gdLst>
                <a:gd name="T0" fmla="*/ 148 w 148"/>
                <a:gd name="T1" fmla="*/ 0 h 989"/>
                <a:gd name="T2" fmla="*/ 4 w 148"/>
                <a:gd name="T3" fmla="*/ 223 h 989"/>
                <a:gd name="T4" fmla="*/ 126 w 148"/>
                <a:gd name="T5" fmla="*/ 989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" h="989">
                  <a:moveTo>
                    <a:pt x="148" y="0"/>
                  </a:moveTo>
                  <a:cubicBezTo>
                    <a:pt x="78" y="29"/>
                    <a:pt x="8" y="58"/>
                    <a:pt x="4" y="223"/>
                  </a:cubicBezTo>
                  <a:cubicBezTo>
                    <a:pt x="0" y="388"/>
                    <a:pt x="109" y="865"/>
                    <a:pt x="126" y="989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52"/>
          <p:cNvGrpSpPr/>
          <p:nvPr/>
        </p:nvGrpSpPr>
        <p:grpSpPr>
          <a:xfrm>
            <a:off x="1731963" y="5057775"/>
            <a:ext cx="776287" cy="600075"/>
            <a:chOff x="1845" y="2800"/>
            <a:chExt cx="489" cy="378"/>
          </a:xfrm>
        </p:grpSpPr>
        <p:sp>
          <p:nvSpPr>
            <p:cNvPr id="22581" name="Line 53"/>
            <p:cNvSpPr>
              <a:spLocks noChangeShapeType="1"/>
            </p:cNvSpPr>
            <p:nvPr/>
          </p:nvSpPr>
          <p:spPr bwMode="auto">
            <a:xfrm>
              <a:off x="1845" y="2834"/>
              <a:ext cx="0" cy="31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2" name="Line 54"/>
            <p:cNvSpPr>
              <a:spLocks noChangeShapeType="1"/>
            </p:cNvSpPr>
            <p:nvPr/>
          </p:nvSpPr>
          <p:spPr bwMode="auto">
            <a:xfrm>
              <a:off x="1956" y="2800"/>
              <a:ext cx="378" cy="37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6647" name="Line 55"/>
          <p:cNvSpPr>
            <a:spLocks noChangeShapeType="1"/>
          </p:cNvSpPr>
          <p:nvPr/>
        </p:nvSpPr>
        <p:spPr bwMode="auto">
          <a:xfrm>
            <a:off x="2578100" y="5111750"/>
            <a:ext cx="0" cy="511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56"/>
          <p:cNvGrpSpPr/>
          <p:nvPr/>
        </p:nvGrpSpPr>
        <p:grpSpPr>
          <a:xfrm>
            <a:off x="1766888" y="4052888"/>
            <a:ext cx="1192212" cy="1781175"/>
            <a:chOff x="1867" y="2167"/>
            <a:chExt cx="751" cy="1122"/>
          </a:xfrm>
        </p:grpSpPr>
        <p:sp>
          <p:nvSpPr>
            <p:cNvPr id="22585" name="Line 57"/>
            <p:cNvSpPr>
              <a:spLocks noChangeShapeType="1"/>
            </p:cNvSpPr>
            <p:nvPr/>
          </p:nvSpPr>
          <p:spPr bwMode="auto">
            <a:xfrm flipV="1">
              <a:off x="1867" y="2222"/>
              <a:ext cx="511" cy="378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6" name="Freeform 58"/>
            <p:cNvSpPr>
              <a:spLocks noChangeArrowheads="1"/>
            </p:cNvSpPr>
            <p:nvPr/>
          </p:nvSpPr>
          <p:spPr bwMode="auto">
            <a:xfrm>
              <a:off x="2434" y="2167"/>
              <a:ext cx="184" cy="1089"/>
            </a:xfrm>
            <a:custGeom>
              <a:avLst/>
              <a:gdLst>
                <a:gd name="T0" fmla="*/ 0 w 184"/>
                <a:gd name="T1" fmla="*/ 0 h 1089"/>
                <a:gd name="T2" fmla="*/ 133 w 184"/>
                <a:gd name="T3" fmla="*/ 222 h 1089"/>
                <a:gd name="T4" fmla="*/ 167 w 184"/>
                <a:gd name="T5" fmla="*/ 933 h 1089"/>
                <a:gd name="T6" fmla="*/ 33 w 184"/>
                <a:gd name="T7" fmla="*/ 1089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1089">
                  <a:moveTo>
                    <a:pt x="0" y="0"/>
                  </a:moveTo>
                  <a:cubicBezTo>
                    <a:pt x="52" y="33"/>
                    <a:pt x="105" y="67"/>
                    <a:pt x="133" y="222"/>
                  </a:cubicBezTo>
                  <a:cubicBezTo>
                    <a:pt x="161" y="377"/>
                    <a:pt x="184" y="789"/>
                    <a:pt x="167" y="933"/>
                  </a:cubicBezTo>
                  <a:cubicBezTo>
                    <a:pt x="150" y="1077"/>
                    <a:pt x="64" y="1067"/>
                    <a:pt x="33" y="1089"/>
                  </a:cubicBezTo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87" name="Line 59"/>
            <p:cNvSpPr>
              <a:spLocks noChangeShapeType="1"/>
            </p:cNvSpPr>
            <p:nvPr/>
          </p:nvSpPr>
          <p:spPr bwMode="auto">
            <a:xfrm flipH="1">
              <a:off x="1934" y="2189"/>
              <a:ext cx="378" cy="1100"/>
            </a:xfrm>
            <a:prstGeom prst="line">
              <a:avLst/>
            </a:prstGeom>
            <a:noFill/>
            <a:ln w="38100">
              <a:solidFill>
                <a:srgbClr val="0033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Group 60"/>
          <p:cNvGrpSpPr/>
          <p:nvPr/>
        </p:nvGrpSpPr>
        <p:grpSpPr>
          <a:xfrm>
            <a:off x="739775" y="2544763"/>
            <a:ext cx="2941638" cy="3444875"/>
            <a:chOff x="553" y="1061"/>
            <a:chExt cx="1853" cy="2170"/>
          </a:xfrm>
        </p:grpSpPr>
        <p:sp>
          <p:nvSpPr>
            <p:cNvPr id="22589" name="Text Box 61"/>
            <p:cNvSpPr txBox="1">
              <a:spLocks noChangeArrowheads="1"/>
            </p:cNvSpPr>
            <p:nvPr/>
          </p:nvSpPr>
          <p:spPr bwMode="auto">
            <a:xfrm>
              <a:off x="1042" y="1061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AB</a:t>
              </a:r>
            </a:p>
          </p:txBody>
        </p:sp>
        <p:sp>
          <p:nvSpPr>
            <p:cNvPr id="22590" name="Text Box 62"/>
            <p:cNvSpPr txBox="1">
              <a:spLocks noChangeArrowheads="1"/>
            </p:cNvSpPr>
            <p:nvPr/>
          </p:nvSpPr>
          <p:spPr bwMode="auto">
            <a:xfrm>
              <a:off x="1531" y="1072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AC</a:t>
              </a:r>
            </a:p>
          </p:txBody>
        </p:sp>
        <p:sp>
          <p:nvSpPr>
            <p:cNvPr id="22591" name="Text Box 63"/>
            <p:cNvSpPr txBox="1">
              <a:spLocks noChangeArrowheads="1"/>
            </p:cNvSpPr>
            <p:nvPr/>
          </p:nvSpPr>
          <p:spPr bwMode="auto">
            <a:xfrm>
              <a:off x="2009" y="1072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AD</a:t>
              </a:r>
            </a:p>
          </p:txBody>
        </p:sp>
        <p:sp>
          <p:nvSpPr>
            <p:cNvPr id="22592" name="Text Box 64"/>
            <p:cNvSpPr txBox="1">
              <a:spLocks noChangeArrowheads="1"/>
            </p:cNvSpPr>
            <p:nvPr/>
          </p:nvSpPr>
          <p:spPr bwMode="auto">
            <a:xfrm>
              <a:off x="553" y="1628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</a:t>
              </a:r>
            </a:p>
          </p:txBody>
        </p:sp>
        <p:sp>
          <p:nvSpPr>
            <p:cNvPr id="22593" name="Text Box 65"/>
            <p:cNvSpPr txBox="1">
              <a:spLocks noChangeArrowheads="1"/>
            </p:cNvSpPr>
            <p:nvPr/>
          </p:nvSpPr>
          <p:spPr bwMode="auto">
            <a:xfrm>
              <a:off x="1009" y="1628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BC</a:t>
              </a:r>
            </a:p>
          </p:txBody>
        </p:sp>
        <p:sp>
          <p:nvSpPr>
            <p:cNvPr id="22594" name="Text Box 66"/>
            <p:cNvSpPr txBox="1">
              <a:spLocks noChangeArrowheads="1"/>
            </p:cNvSpPr>
            <p:nvPr/>
          </p:nvSpPr>
          <p:spPr bwMode="auto">
            <a:xfrm>
              <a:off x="1542" y="1628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BD</a:t>
              </a:r>
            </a:p>
          </p:txBody>
        </p:sp>
        <p:sp>
          <p:nvSpPr>
            <p:cNvPr id="22595" name="Text Box 67"/>
            <p:cNvSpPr txBox="1">
              <a:spLocks noChangeArrowheads="1"/>
            </p:cNvSpPr>
            <p:nvPr/>
          </p:nvSpPr>
          <p:spPr bwMode="auto">
            <a:xfrm>
              <a:off x="1064" y="2250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DA</a:t>
              </a:r>
            </a:p>
          </p:txBody>
        </p:sp>
        <p:sp>
          <p:nvSpPr>
            <p:cNvPr id="22596" name="Text Box 68"/>
            <p:cNvSpPr txBox="1">
              <a:spLocks noChangeArrowheads="1"/>
            </p:cNvSpPr>
            <p:nvPr/>
          </p:nvSpPr>
          <p:spPr bwMode="auto">
            <a:xfrm>
              <a:off x="1509" y="225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DB</a:t>
              </a:r>
            </a:p>
          </p:txBody>
        </p:sp>
        <p:sp>
          <p:nvSpPr>
            <p:cNvPr id="22597" name="Text Box 69"/>
            <p:cNvSpPr txBox="1">
              <a:spLocks noChangeArrowheads="1"/>
            </p:cNvSpPr>
            <p:nvPr/>
          </p:nvSpPr>
          <p:spPr bwMode="auto">
            <a:xfrm>
              <a:off x="2053" y="2250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DC</a:t>
              </a:r>
            </a:p>
          </p:txBody>
        </p:sp>
        <p:sp>
          <p:nvSpPr>
            <p:cNvPr id="22598" name="Text Box 70"/>
            <p:cNvSpPr txBox="1">
              <a:spLocks noChangeArrowheads="1"/>
            </p:cNvSpPr>
            <p:nvPr/>
          </p:nvSpPr>
          <p:spPr bwMode="auto">
            <a:xfrm>
              <a:off x="564" y="2761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EA</a:t>
              </a:r>
            </a:p>
          </p:txBody>
        </p:sp>
        <p:sp>
          <p:nvSpPr>
            <p:cNvPr id="22599" name="Text Box 71"/>
            <p:cNvSpPr txBox="1">
              <a:spLocks noChangeArrowheads="1"/>
            </p:cNvSpPr>
            <p:nvPr/>
          </p:nvSpPr>
          <p:spPr bwMode="auto">
            <a:xfrm>
              <a:off x="1042" y="2761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EB</a:t>
              </a:r>
            </a:p>
          </p:txBody>
        </p:sp>
        <p:sp>
          <p:nvSpPr>
            <p:cNvPr id="22600" name="Text Box 72"/>
            <p:cNvSpPr txBox="1">
              <a:spLocks noChangeArrowheads="1"/>
            </p:cNvSpPr>
            <p:nvPr/>
          </p:nvSpPr>
          <p:spPr bwMode="auto">
            <a:xfrm>
              <a:off x="1542" y="2772"/>
              <a:ext cx="3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EC</a:t>
              </a:r>
            </a:p>
          </p:txBody>
        </p:sp>
        <p:sp>
          <p:nvSpPr>
            <p:cNvPr id="22601" name="Text Box 73"/>
            <p:cNvSpPr txBox="1">
              <a:spLocks noChangeArrowheads="1"/>
            </p:cNvSpPr>
            <p:nvPr/>
          </p:nvSpPr>
          <p:spPr bwMode="auto">
            <a:xfrm>
              <a:off x="2076" y="2772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ED</a:t>
              </a:r>
            </a:p>
          </p:txBody>
        </p:sp>
        <p:sp>
          <p:nvSpPr>
            <p:cNvPr id="22602" name="Oval 74"/>
            <p:cNvSpPr>
              <a:spLocks noChangeArrowheads="1"/>
            </p:cNvSpPr>
            <p:nvPr/>
          </p:nvSpPr>
          <p:spPr bwMode="auto">
            <a:xfrm>
              <a:off x="1085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3" name="Oval 75"/>
            <p:cNvSpPr>
              <a:spLocks noChangeArrowheads="1"/>
            </p:cNvSpPr>
            <p:nvPr/>
          </p:nvSpPr>
          <p:spPr bwMode="auto">
            <a:xfrm>
              <a:off x="1548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4" name="Oval 76"/>
            <p:cNvSpPr>
              <a:spLocks noChangeArrowheads="1"/>
            </p:cNvSpPr>
            <p:nvPr/>
          </p:nvSpPr>
          <p:spPr bwMode="auto">
            <a:xfrm>
              <a:off x="2077" y="1281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5" name="Oval 77"/>
            <p:cNvSpPr>
              <a:spLocks noChangeArrowheads="1"/>
            </p:cNvSpPr>
            <p:nvPr/>
          </p:nvSpPr>
          <p:spPr bwMode="auto">
            <a:xfrm>
              <a:off x="592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6" name="Oval 78"/>
            <p:cNvSpPr>
              <a:spLocks noChangeArrowheads="1"/>
            </p:cNvSpPr>
            <p:nvPr/>
          </p:nvSpPr>
          <p:spPr bwMode="auto">
            <a:xfrm>
              <a:off x="1055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7" name="Oval 79"/>
            <p:cNvSpPr>
              <a:spLocks noChangeArrowheads="1"/>
            </p:cNvSpPr>
            <p:nvPr/>
          </p:nvSpPr>
          <p:spPr bwMode="auto">
            <a:xfrm>
              <a:off x="1584" y="1843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8" name="Oval 80"/>
            <p:cNvSpPr>
              <a:spLocks noChangeArrowheads="1"/>
            </p:cNvSpPr>
            <p:nvPr/>
          </p:nvSpPr>
          <p:spPr bwMode="auto">
            <a:xfrm>
              <a:off x="1110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09" name="Oval 81"/>
            <p:cNvSpPr>
              <a:spLocks noChangeArrowheads="1"/>
            </p:cNvSpPr>
            <p:nvPr/>
          </p:nvSpPr>
          <p:spPr bwMode="auto">
            <a:xfrm>
              <a:off x="1573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0" name="Oval 82"/>
            <p:cNvSpPr>
              <a:spLocks noChangeArrowheads="1"/>
            </p:cNvSpPr>
            <p:nvPr/>
          </p:nvSpPr>
          <p:spPr bwMode="auto">
            <a:xfrm>
              <a:off x="2102" y="245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1" name="Oval 83"/>
            <p:cNvSpPr>
              <a:spLocks noChangeArrowheads="1"/>
            </p:cNvSpPr>
            <p:nvPr/>
          </p:nvSpPr>
          <p:spPr bwMode="auto">
            <a:xfrm>
              <a:off x="617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2" name="Oval 84"/>
            <p:cNvSpPr>
              <a:spLocks noChangeArrowheads="1"/>
            </p:cNvSpPr>
            <p:nvPr/>
          </p:nvSpPr>
          <p:spPr bwMode="auto">
            <a:xfrm>
              <a:off x="1080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3" name="Oval 85"/>
            <p:cNvSpPr>
              <a:spLocks noChangeArrowheads="1"/>
            </p:cNvSpPr>
            <p:nvPr/>
          </p:nvSpPr>
          <p:spPr bwMode="auto">
            <a:xfrm>
              <a:off x="1609" y="2980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14" name="Oval 86"/>
            <p:cNvSpPr>
              <a:spLocks noChangeArrowheads="1"/>
            </p:cNvSpPr>
            <p:nvPr/>
          </p:nvSpPr>
          <p:spPr bwMode="auto">
            <a:xfrm>
              <a:off x="2149" y="2998"/>
              <a:ext cx="233" cy="2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2616" name="AutoShape 88"/>
          <p:cNvSpPr>
            <a:spLocks noChangeArrowheads="1"/>
          </p:cNvSpPr>
          <p:nvPr/>
        </p:nvSpPr>
        <p:spPr bwMode="auto">
          <a:xfrm>
            <a:off x="3173413" y="1114425"/>
            <a:ext cx="914400" cy="914400"/>
          </a:xfrm>
          <a:prstGeom prst="irregularSeal1">
            <a:avLst/>
          </a:prstGeom>
          <a:solidFill>
            <a:srgbClr val="6C4C8F"/>
          </a:solidFill>
          <a:ln w="9525">
            <a:noFill/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</a:t>
            </a:r>
          </a:p>
        </p:txBody>
      </p:sp>
      <p:grpSp>
        <p:nvGrpSpPr>
          <p:cNvPr id="11" name="Group 90"/>
          <p:cNvGrpSpPr/>
          <p:nvPr/>
        </p:nvGrpSpPr>
        <p:grpSpPr>
          <a:xfrm>
            <a:off x="5389563" y="1938338"/>
            <a:ext cx="1219200" cy="1676400"/>
            <a:chOff x="3792" y="1488"/>
            <a:chExt cx="768" cy="1056"/>
          </a:xfrm>
        </p:grpSpPr>
        <p:sp>
          <p:nvSpPr>
            <p:cNvPr id="22619" name="Line 91"/>
            <p:cNvSpPr>
              <a:spLocks noChangeShapeType="1"/>
            </p:cNvSpPr>
            <p:nvPr/>
          </p:nvSpPr>
          <p:spPr bwMode="auto">
            <a:xfrm flipV="1">
              <a:off x="4560" y="187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20" name="Line 92"/>
            <p:cNvSpPr>
              <a:spLocks noChangeShapeType="1"/>
            </p:cNvSpPr>
            <p:nvPr/>
          </p:nvSpPr>
          <p:spPr bwMode="auto">
            <a:xfrm flipH="1" flipV="1">
              <a:off x="3792" y="1488"/>
              <a:ext cx="76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66685" name="Rectangle 93"/>
          <p:cNvSpPr>
            <a:spLocks noChangeArrowheads="1"/>
          </p:cNvSpPr>
          <p:nvPr/>
        </p:nvSpPr>
        <p:spPr bwMode="auto">
          <a:xfrm>
            <a:off x="4835525" y="4327525"/>
            <a:ext cx="4021138" cy="2019300"/>
          </a:xfrm>
          <a:prstGeom prst="rect">
            <a:avLst/>
          </a:prstGeom>
          <a:solidFill>
            <a:srgbClr val="E6E6E6"/>
          </a:solidFill>
          <a:ln w="9525">
            <a:noFill/>
            <a:miter lim="800000"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顶点：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一条通路</a:t>
            </a:r>
          </a:p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连线：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不能同时通行</a:t>
            </a:r>
          </a:p>
          <a:p>
            <a:pPr marL="342265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染色：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有连线的两个顶点不能具有相同颜色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36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36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36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6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36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3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36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36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500"/>
                                        <p:tgtEl>
                                          <p:spTgt spid="36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36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36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8" dur="500"/>
                                        <p:tgtEl>
                                          <p:spTgt spid="36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3" dur="500"/>
                                        <p:tgtEl>
                                          <p:spTgt spid="36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13" grpId="0" animBg="1"/>
      <p:bldP spid="366614" grpId="0" animBg="1"/>
      <p:bldP spid="366615" grpId="0" animBg="1"/>
      <p:bldP spid="366616" grpId="0" animBg="1"/>
      <p:bldP spid="366617" grpId="0" animBg="1"/>
      <p:bldP spid="366618" grpId="0" animBg="1"/>
      <p:bldP spid="366619" grpId="0" animBg="1"/>
      <p:bldP spid="366620" grpId="0" animBg="1"/>
      <p:bldP spid="366621" grpId="0" animBg="1"/>
      <p:bldP spid="366622" grpId="0" animBg="1"/>
      <p:bldP spid="366623" grpId="0" animBg="1"/>
      <p:bldP spid="366624" grpId="0" animBg="1"/>
      <p:bldP spid="366625" grpId="0" animBg="1"/>
      <p:bldP spid="22616" grpId="0" animBg="1"/>
      <p:bldP spid="36668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1026"/>
          <p:cNvSpPr>
            <a:spLocks noGrp="1" noChangeArrowheads="1"/>
          </p:cNvSpPr>
          <p:nvPr>
            <p:ph idx="1" hasCustomPrompt="1"/>
          </p:nvPr>
        </p:nvSpPr>
        <p:spPr>
          <a:xfrm>
            <a:off x="234950" y="1312862"/>
            <a:ext cx="8674100" cy="1972122"/>
          </a:xfr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53848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&amp;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设计出合适的数据结构及相应的算法</a:t>
            </a:r>
          </a:p>
          <a:p>
            <a:pPr lvl="0" indent="0" eaLnBrk="1" hangingPunct="1">
              <a:lnSpc>
                <a:spcPct val="150000"/>
              </a:lnSpc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即：首先要考虑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对各种</a:t>
            </a:r>
            <a:r>
              <a:rPr lang="zh-CN" altLang="en-US" sz="2800" u="sng" dirty="0">
                <a:cs typeface="+mn-ea"/>
                <a:sym typeface="+mn-lt"/>
              </a:rPr>
              <a:t>相关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信息如何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表示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组织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</a:t>
            </a:r>
            <a:r>
              <a:rPr kumimoji="0" lang="zh-CN" altLang="en-US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？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47663" y="214064"/>
            <a:ext cx="5027613" cy="532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求解非数值计算的问题</a:t>
            </a:r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 bwMode="auto">
          <a:xfrm>
            <a:off x="237327" y="3717032"/>
            <a:ext cx="8674100" cy="666750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 anchor="ctr"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数据结构的研究内容为：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026"/>
          <p:cNvSpPr txBox="1">
            <a:spLocks noChangeArrowheads="1"/>
          </p:cNvSpPr>
          <p:nvPr/>
        </p:nvSpPr>
        <p:spPr bwMode="auto">
          <a:xfrm>
            <a:off x="243111" y="4383782"/>
            <a:ext cx="8674100" cy="1250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miter lim="800000"/>
          </a:ln>
        </p:spPr>
        <p:txBody>
          <a:bodyPr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研究非数值计算的程序设计问题中计算机的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操作对象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以及它们之间的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b="0" i="0" u="sng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8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8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2" grpId="0" uiExpand="1" build="p" animBg="1"/>
      <p:bldP spid="5" grpId="0" uiExpand="1" build="p" animBg="1"/>
      <p:bldP spid="8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052736"/>
            <a:ext cx="8869363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形成阶段：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年代初期，“数据结构”有关的内容散见于操作系统、编译原理和表处理语言等课程。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1968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年，“数据结构”被列入美国一些大学计算机科学系的教学计划。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84175" y="201613"/>
            <a:ext cx="562768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数据结构课程的形成和发展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4286" y="3644900"/>
            <a:ext cx="8869363" cy="295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发展阶段：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数据结构的概念不断扩充，包括了网络、集合代数论、格、关系等“离散结构”的内容，以及相应的存储结构。后来还增加了文件组织的内容。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年代后期，我国高校陆续开设该课程。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 "/>
              <a:defRPr/>
            </a:pPr>
            <a:endParaRPr kumimoji="0" lang="en-US" altLang="zh-CN" sz="2400" b="0" i="0" u="sng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Group 28"/>
          <p:cNvGrpSpPr/>
          <p:nvPr/>
        </p:nvGrpSpPr>
        <p:grpSpPr>
          <a:xfrm>
            <a:off x="478590" y="1052736"/>
            <a:ext cx="515938" cy="515937"/>
            <a:chOff x="1253782" y="1885071"/>
            <a:chExt cx="914400" cy="914400"/>
          </a:xfrm>
        </p:grpSpPr>
        <p:sp>
          <p:nvSpPr>
            <p:cNvPr id="8" name="Rounded Rectangle 4"/>
            <p:cNvSpPr/>
            <p:nvPr/>
          </p:nvSpPr>
          <p:spPr>
            <a:xfrm>
              <a:off x="1253782" y="1885071"/>
              <a:ext cx="914400" cy="9144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9" name="Group 80"/>
            <p:cNvGrpSpPr/>
            <p:nvPr/>
          </p:nvGrpSpPr>
          <p:grpSpPr>
            <a:xfrm>
              <a:off x="1551438" y="2110099"/>
              <a:ext cx="319088" cy="465138"/>
              <a:chOff x="3582988" y="3510757"/>
              <a:chExt cx="319088" cy="465138"/>
            </a:xfrm>
            <a:solidFill>
              <a:schemeClr val="bg2"/>
            </a:solidFill>
          </p:grpSpPr>
          <p:sp>
            <p:nvSpPr>
              <p:cNvPr id="10" name="AutoShape 113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Gill Sans" charset="0"/>
                </a:endParaRPr>
              </a:p>
            </p:txBody>
          </p:sp>
          <p:sp>
            <p:nvSpPr>
              <p:cNvPr id="11" name="AutoShape 114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12" name="Group 31"/>
          <p:cNvGrpSpPr/>
          <p:nvPr/>
        </p:nvGrpSpPr>
        <p:grpSpPr>
          <a:xfrm>
            <a:off x="482619" y="3681413"/>
            <a:ext cx="515938" cy="514350"/>
            <a:chOff x="6528170" y="1885071"/>
            <a:chExt cx="914400" cy="914400"/>
          </a:xfrm>
        </p:grpSpPr>
        <p:sp>
          <p:nvSpPr>
            <p:cNvPr id="13" name="Rounded Rectangle 7"/>
            <p:cNvSpPr/>
            <p:nvPr/>
          </p:nvSpPr>
          <p:spPr>
            <a:xfrm>
              <a:off x="6528170" y="1885071"/>
              <a:ext cx="914400" cy="9144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83"/>
            <p:cNvGrpSpPr/>
            <p:nvPr/>
          </p:nvGrpSpPr>
          <p:grpSpPr>
            <a:xfrm>
              <a:off x="6758963" y="2110099"/>
              <a:ext cx="465138" cy="464344"/>
              <a:chOff x="2581275" y="2582069"/>
              <a:chExt cx="465138" cy="464344"/>
            </a:xfrm>
            <a:solidFill>
              <a:schemeClr val="bg2"/>
            </a:solidFill>
          </p:grpSpPr>
          <p:sp>
            <p:nvSpPr>
              <p:cNvPr id="15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仿宋_GB2312" pitchFamily="49" charset="-122"/>
                  <a:cs typeface="+mn-cs"/>
                  <a:sym typeface="Gill Sans" charset="0"/>
                </a:endParaRPr>
              </a:p>
            </p:txBody>
          </p:sp>
          <p:sp>
            <p:nvSpPr>
              <p:cNvPr id="16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仿宋_GB2312" pitchFamily="49" charset="-122"/>
                  <a:cs typeface="+mn-cs"/>
                  <a:sym typeface="Gill Sans" charset="0"/>
                </a:endParaRPr>
              </a:p>
            </p:txBody>
          </p:sp>
        </p:grpSp>
      </p:grpSp>
      <p:cxnSp>
        <p:nvCxnSpPr>
          <p:cNvPr id="17" name="直接连接符 16"/>
          <p:cNvCxnSpPr/>
          <p:nvPr/>
        </p:nvCxnSpPr>
        <p:spPr bwMode="auto">
          <a:xfrm>
            <a:off x="1282700" y="1598836"/>
            <a:ext cx="7416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/>
          <p:cNvCxnSpPr/>
          <p:nvPr/>
        </p:nvCxnSpPr>
        <p:spPr bwMode="auto">
          <a:xfrm>
            <a:off x="1282700" y="4195763"/>
            <a:ext cx="7416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5E9575F-9174-D65A-3F4F-D8A923BC7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008" y="903708"/>
            <a:ext cx="2136142" cy="292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9098F24-673B-37D6-9D7D-DF3F02FDC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F59AE9-547C-4D81-B856-F115CB236C15}"/>
              </a:ext>
            </a:extLst>
          </p:cNvPr>
          <p:cNvSpPr txBox="1"/>
          <p:nvPr/>
        </p:nvSpPr>
        <p:spPr>
          <a:xfrm>
            <a:off x="5541371" y="4205355"/>
            <a:ext cx="3394073" cy="1308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程序设计是一门</a:t>
            </a:r>
            <a:r>
              <a:rPr lang="zh-CN" altLang="en-US" dirty="0">
                <a:solidFill>
                  <a:srgbClr val="FF0000"/>
                </a:solidFill>
              </a:rPr>
              <a:t>艺术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如写诗或作曲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28E44F7-BFB2-C7AC-19B4-6241B96F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7191"/>
            <a:ext cx="9155113" cy="961289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书中讨论了数据的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逻辑结构、存储结构</a:t>
            </a:r>
            <a:r>
              <a:rPr lang="zh-CN" altLang="en-US" sz="2000" dirty="0">
                <a:latin typeface="+mn-ea"/>
              </a:rPr>
              <a:t>及相关的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操作</a:t>
            </a:r>
            <a:r>
              <a:rPr lang="zh-CN" altLang="en-US" sz="2000" dirty="0">
                <a:latin typeface="+mn-ea"/>
              </a:rPr>
              <a:t>，奠定了</a:t>
            </a:r>
            <a:r>
              <a:rPr lang="en-US" altLang="zh-CN" sz="2000" dirty="0">
                <a:latin typeface="+mn-ea"/>
              </a:rPr>
              <a:t>《</a:t>
            </a:r>
            <a:r>
              <a:rPr lang="zh-CN" altLang="en-US" sz="2000" dirty="0">
                <a:latin typeface="+mn-ea"/>
              </a:rPr>
              <a:t>数据结构</a:t>
            </a:r>
            <a:r>
              <a:rPr lang="en-US" altLang="zh-CN" sz="2000" dirty="0">
                <a:latin typeface="+mn-ea"/>
              </a:rPr>
              <a:t>》</a:t>
            </a:r>
            <a:r>
              <a:rPr lang="zh-CN" altLang="en-US" sz="2000" dirty="0">
                <a:latin typeface="+mn-ea"/>
              </a:rPr>
              <a:t>的最初体系。</a:t>
            </a:r>
            <a:r>
              <a:rPr lang="de-DE" altLang="zh-CN" sz="2000" dirty="0">
                <a:latin typeface="+mn-ea"/>
                <a:hlinkClick r:id="rId4"/>
              </a:rPr>
              <a:t>https://www-cs-faculty.stanford.edu/~knuth/taocp.html</a:t>
            </a:r>
            <a:r>
              <a:rPr lang="de-DE" altLang="zh-CN" sz="2000" dirty="0">
                <a:latin typeface="+mn-ea"/>
              </a:rPr>
              <a:t> 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7178" name="Picture 10">
            <a:extLst>
              <a:ext uri="{FF2B5EF4-FFF2-40B4-BE49-F238E27FC236}">
                <a16:creationId xmlns:a16="http://schemas.microsoft.com/office/drawing/2014/main" id="{67DC4A4B-982B-4CF3-82C1-08DFB4419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2" t="16093" r="36613" b="10442"/>
          <a:stretch/>
        </p:blipFill>
        <p:spPr bwMode="auto">
          <a:xfrm>
            <a:off x="368254" y="790499"/>
            <a:ext cx="4660467" cy="478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6F497202-0A5C-E3E0-65FB-8FB1BD88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03" y="1844824"/>
            <a:ext cx="4317589" cy="390485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1968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年，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卷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1《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基本算法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1969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年，卷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2《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半数字化算法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1973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年，卷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3《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排序与搜索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2011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年，卷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4A《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组合算法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》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2022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年，卷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lt"/>
              </a:rPr>
              <a:t>4B《</a:t>
            </a:r>
            <a:r>
              <a:rPr lang="zh-CN" altLang="en-US" sz="2400" dirty="0">
                <a:cs typeface="+mn-ea"/>
                <a:sym typeface="+mn-lt"/>
              </a:rPr>
              <a:t>组合算法</a:t>
            </a:r>
            <a:r>
              <a:rPr lang="en-US" altLang="zh-CN" sz="2400" dirty="0">
                <a:cs typeface="+mn-ea"/>
                <a:sym typeface="+mn-lt"/>
              </a:rPr>
              <a:t>》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rgbClr val="FF33CC"/>
                </a:solidFill>
                <a:latin typeface="+mn-lt"/>
                <a:ea typeface="+mn-ea"/>
                <a:cs typeface="+mn-ea"/>
                <a:sym typeface="+mn-lt"/>
              </a:rPr>
              <a:t>……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计划七卷</a:t>
            </a:r>
            <a:endParaRPr lang="en-US" altLang="zh-CN" sz="2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94221-F353-0AEC-57F6-6068839F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1844824"/>
            <a:ext cx="3813534" cy="279685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双向链表</a:t>
            </a:r>
            <a:endParaRPr lang="en-US" altLang="zh-CN" sz="2400" dirty="0">
              <a:latin typeface="+mn-ea"/>
              <a:ea typeface="+mn-ea"/>
              <a:cs typeface="+mn-ea"/>
              <a:sym typeface="+mn-lt"/>
            </a:endParaRPr>
          </a:p>
          <a:p>
            <a:pPr marL="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字符串模式匹配算法 </a:t>
            </a:r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KMP</a:t>
            </a:r>
          </a:p>
          <a:p>
            <a:pPr marL="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编译器 </a:t>
            </a:r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LR(k) 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文法</a:t>
            </a:r>
            <a:endParaRPr lang="en-US" altLang="zh-CN" sz="2400" dirty="0">
              <a:latin typeface="+mn-ea"/>
              <a:ea typeface="+mn-ea"/>
              <a:cs typeface="+mn-ea"/>
              <a:sym typeface="+mn-lt"/>
            </a:endParaRPr>
          </a:p>
          <a:p>
            <a:pPr marL="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……</a:t>
            </a:r>
          </a:p>
          <a:p>
            <a:pPr marL="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lang="en-US" altLang="zh-CN" sz="2400" dirty="0" err="1">
                <a:latin typeface="+mn-ea"/>
                <a:ea typeface="+mn-ea"/>
                <a:cs typeface="+mn-ea"/>
                <a:sym typeface="+mn-lt"/>
              </a:rPr>
              <a:t>TeX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，</a:t>
            </a:r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LaTeX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940CB529-2F2A-2C35-1A20-5E1B22B47D2B}"/>
              </a:ext>
            </a:extLst>
          </p:cNvPr>
          <p:cNvSpPr/>
          <p:nvPr/>
        </p:nvSpPr>
        <p:spPr bwMode="auto">
          <a:xfrm>
            <a:off x="4572000" y="3497451"/>
            <a:ext cx="504056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3E1D706-2A81-20B1-13AC-ED550592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AE2AC07-C7BA-05AA-1B54-DDD54ABEF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4986"/>
            <a:ext cx="9155113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1938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年出生，斯坦福大学计算机系教授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---36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岁获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图灵奖</a:t>
            </a:r>
          </a:p>
        </p:txBody>
      </p:sp>
    </p:spTree>
    <p:extLst>
      <p:ext uri="{BB962C8B-B14F-4D97-AF65-F5344CB8AC3E}">
        <p14:creationId xmlns:p14="http://schemas.microsoft.com/office/powerpoint/2010/main" val="53025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6F497202-0A5C-E3E0-65FB-8FB1BD88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628800"/>
            <a:ext cx="8208912" cy="389286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“We have seen that computer programming is an art, because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it applies accumulated knowledge to the world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because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it requires skill and ingenuity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and especially because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it produces objects of beauty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. A programmer who subconsciously views himself as an artist will enjoy what he does and will do it better.”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3E1D706-2A81-20B1-13AC-ED550592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4" y="201613"/>
            <a:ext cx="771621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indent="53848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数据结构创始人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高德纳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(Donald Ervin Knuth)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083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470CEFB-C6B3-C89F-D436-0393AF9F8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510216"/>
            <a:ext cx="8964488" cy="6347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数据结构在计算机学科中的地位 </a:t>
            </a:r>
          </a:p>
        </p:txBody>
      </p:sp>
      <p:graphicFrame>
        <p:nvGraphicFramePr>
          <p:cNvPr id="29700" name="Object 6"/>
          <p:cNvGraphicFramePr/>
          <p:nvPr>
            <p:extLst>
              <p:ext uri="{D42A27DB-BD31-4B8C-83A1-F6EECF244321}">
                <p14:modId xmlns:p14="http://schemas.microsoft.com/office/powerpoint/2010/main" val="877413301"/>
              </p:ext>
            </p:extLst>
          </p:nvPr>
        </p:nvGraphicFramePr>
        <p:xfrm>
          <a:off x="0" y="1341562"/>
          <a:ext cx="9144000" cy="5039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3" r:id="rId5" imgW="7239000" imgH="3454400" progId="Visio.Drawing.11">
                  <p:embed/>
                </p:oleObj>
              </mc:Choice>
              <mc:Fallback>
                <p:oleObj r:id="rId5" imgW="7239000" imgH="34544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341562"/>
                        <a:ext cx="9144000" cy="503976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7"/>
          <p:cNvSpPr txBox="1">
            <a:spLocks noChangeArrowheads="1"/>
          </p:cNvSpPr>
          <p:nvPr/>
        </p:nvSpPr>
        <p:spPr bwMode="auto">
          <a:xfrm>
            <a:off x="790574" y="1146175"/>
            <a:ext cx="18524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0389" name="Rectangle 1029"/>
          <p:cNvSpPr>
            <a:spLocks noChangeArrowheads="1"/>
          </p:cNvSpPr>
          <p:nvPr/>
        </p:nvSpPr>
        <p:spPr bwMode="auto">
          <a:xfrm>
            <a:off x="1300164" y="1090173"/>
            <a:ext cx="75133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能够分析计算机</a:t>
            </a:r>
            <a:r>
              <a:rPr lang="zh-CN" altLang="en-US" sz="2400" dirty="0">
                <a:solidFill>
                  <a:srgbClr val="003300"/>
                </a:solidFill>
                <a:latin typeface="+mn-lt"/>
                <a:ea typeface="+mn-ea"/>
                <a:cs typeface="+mn-ea"/>
                <a:sym typeface="+mn-lt"/>
              </a:rPr>
              <a:t>所处理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对象的特性，获得其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，根据需求，选择合适的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及其相应的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0725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课程目的</a:t>
            </a:r>
          </a:p>
        </p:txBody>
      </p:sp>
      <p:grpSp>
        <p:nvGrpSpPr>
          <p:cNvPr id="11" name="组合 16"/>
          <p:cNvGrpSpPr/>
          <p:nvPr/>
        </p:nvGrpSpPr>
        <p:grpSpPr>
          <a:xfrm>
            <a:off x="430213" y="1300163"/>
            <a:ext cx="661125" cy="663575"/>
            <a:chOff x="4929188" y="1303338"/>
            <a:chExt cx="501650" cy="506412"/>
          </a:xfrm>
        </p:grpSpPr>
        <p:sp>
          <p:nvSpPr>
            <p:cNvPr id="12" name="Freeform 6"/>
            <p:cNvSpPr/>
            <p:nvPr/>
          </p:nvSpPr>
          <p:spPr bwMode="auto">
            <a:xfrm>
              <a:off x="4929188" y="1303338"/>
              <a:ext cx="501650" cy="506412"/>
            </a:xfrm>
            <a:custGeom>
              <a:avLst/>
              <a:gdLst>
                <a:gd name="T0" fmla="*/ 134 w 134"/>
                <a:gd name="T1" fmla="*/ 36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6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6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6"/>
                  </a:lnTo>
                  <a:close/>
                </a:path>
              </a:pathLst>
            </a:custGeom>
            <a:solidFill>
              <a:srgbClr val="65A5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4995832" y="1359068"/>
              <a:ext cx="371997" cy="205957"/>
            </a:xfrm>
            <a:custGeom>
              <a:avLst/>
              <a:gdLst>
                <a:gd name="T0" fmla="*/ 97 w 99"/>
                <a:gd name="T1" fmla="*/ 44 h 55"/>
                <a:gd name="T2" fmla="*/ 50 w 99"/>
                <a:gd name="T3" fmla="*/ 0 h 55"/>
                <a:gd name="T4" fmla="*/ 3 w 99"/>
                <a:gd name="T5" fmla="*/ 44 h 55"/>
                <a:gd name="T6" fmla="*/ 3 w 99"/>
                <a:gd name="T7" fmla="*/ 53 h 55"/>
                <a:gd name="T8" fmla="*/ 8 w 99"/>
                <a:gd name="T9" fmla="*/ 55 h 55"/>
                <a:gd name="T10" fmla="*/ 12 w 99"/>
                <a:gd name="T11" fmla="*/ 53 h 55"/>
                <a:gd name="T12" fmla="*/ 50 w 99"/>
                <a:gd name="T13" fmla="*/ 18 h 55"/>
                <a:gd name="T14" fmla="*/ 87 w 99"/>
                <a:gd name="T15" fmla="*/ 53 h 55"/>
                <a:gd name="T16" fmla="*/ 92 w 99"/>
                <a:gd name="T17" fmla="*/ 55 h 55"/>
                <a:gd name="T18" fmla="*/ 97 w 99"/>
                <a:gd name="T19" fmla="*/ 53 h 55"/>
                <a:gd name="T20" fmla="*/ 97 w 99"/>
                <a:gd name="T2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55">
                  <a:moveTo>
                    <a:pt x="97" y="44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1" y="46"/>
                    <a:pt x="0" y="50"/>
                    <a:pt x="3" y="53"/>
                  </a:cubicBezTo>
                  <a:cubicBezTo>
                    <a:pt x="4" y="54"/>
                    <a:pt x="6" y="55"/>
                    <a:pt x="8" y="55"/>
                  </a:cubicBezTo>
                  <a:cubicBezTo>
                    <a:pt x="9" y="55"/>
                    <a:pt x="11" y="54"/>
                    <a:pt x="12" y="53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87" y="53"/>
                    <a:pt x="87" y="53"/>
                    <a:pt x="87" y="53"/>
                  </a:cubicBezTo>
                  <a:cubicBezTo>
                    <a:pt x="89" y="54"/>
                    <a:pt x="90" y="55"/>
                    <a:pt x="92" y="55"/>
                  </a:cubicBezTo>
                  <a:cubicBezTo>
                    <a:pt x="94" y="55"/>
                    <a:pt x="96" y="54"/>
                    <a:pt x="97" y="53"/>
                  </a:cubicBezTo>
                  <a:cubicBezTo>
                    <a:pt x="99" y="50"/>
                    <a:pt x="99" y="46"/>
                    <a:pt x="97" y="44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5056418" y="1446296"/>
              <a:ext cx="255672" cy="265321"/>
            </a:xfrm>
            <a:custGeom>
              <a:avLst/>
              <a:gdLst>
                <a:gd name="T0" fmla="*/ 0 w 68"/>
                <a:gd name="T1" fmla="*/ 32 h 71"/>
                <a:gd name="T2" fmla="*/ 0 w 68"/>
                <a:gd name="T3" fmla="*/ 68 h 71"/>
                <a:gd name="T4" fmla="*/ 5 w 68"/>
                <a:gd name="T5" fmla="*/ 71 h 71"/>
                <a:gd name="T6" fmla="*/ 22 w 68"/>
                <a:gd name="T7" fmla="*/ 71 h 71"/>
                <a:gd name="T8" fmla="*/ 22 w 68"/>
                <a:gd name="T9" fmla="*/ 44 h 71"/>
                <a:gd name="T10" fmla="*/ 46 w 68"/>
                <a:gd name="T11" fmla="*/ 44 h 71"/>
                <a:gd name="T12" fmla="*/ 46 w 68"/>
                <a:gd name="T13" fmla="*/ 71 h 71"/>
                <a:gd name="T14" fmla="*/ 63 w 68"/>
                <a:gd name="T15" fmla="*/ 71 h 71"/>
                <a:gd name="T16" fmla="*/ 68 w 68"/>
                <a:gd name="T17" fmla="*/ 68 h 71"/>
                <a:gd name="T18" fmla="*/ 68 w 68"/>
                <a:gd name="T19" fmla="*/ 32 h 71"/>
                <a:gd name="T20" fmla="*/ 34 w 68"/>
                <a:gd name="T21" fmla="*/ 0 h 71"/>
                <a:gd name="T22" fmla="*/ 0 w 68"/>
                <a:gd name="T2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71">
                  <a:moveTo>
                    <a:pt x="0" y="32"/>
                  </a:moveTo>
                  <a:cubicBezTo>
                    <a:pt x="0" y="68"/>
                    <a:pt x="0" y="68"/>
                    <a:pt x="0" y="68"/>
                  </a:cubicBezTo>
                  <a:cubicBezTo>
                    <a:pt x="0" y="70"/>
                    <a:pt x="2" y="71"/>
                    <a:pt x="5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6" y="71"/>
                    <a:pt x="68" y="70"/>
                    <a:pt x="68" y="68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组合 20"/>
          <p:cNvGrpSpPr/>
          <p:nvPr/>
        </p:nvGrpSpPr>
        <p:grpSpPr>
          <a:xfrm>
            <a:off x="432608" y="2641054"/>
            <a:ext cx="667513" cy="661988"/>
            <a:chOff x="1339850" y="2163763"/>
            <a:chExt cx="506413" cy="506412"/>
          </a:xfrm>
        </p:grpSpPr>
        <p:sp>
          <p:nvSpPr>
            <p:cNvPr id="16" name="Freeform 13"/>
            <p:cNvSpPr/>
            <p:nvPr/>
          </p:nvSpPr>
          <p:spPr bwMode="auto">
            <a:xfrm>
              <a:off x="1339850" y="2163763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7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7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1499770" y="2276704"/>
              <a:ext cx="176881" cy="104440"/>
            </a:xfrm>
            <a:custGeom>
              <a:avLst/>
              <a:gdLst>
                <a:gd name="T0" fmla="*/ 111 w 111"/>
                <a:gd name="T1" fmla="*/ 0 h 66"/>
                <a:gd name="T2" fmla="*/ 55 w 111"/>
                <a:gd name="T3" fmla="*/ 0 h 66"/>
                <a:gd name="T4" fmla="*/ 55 w 111"/>
                <a:gd name="T5" fmla="*/ 54 h 66"/>
                <a:gd name="T6" fmla="*/ 14 w 111"/>
                <a:gd name="T7" fmla="*/ 54 h 66"/>
                <a:gd name="T8" fmla="*/ 14 w 111"/>
                <a:gd name="T9" fmla="*/ 0 h 66"/>
                <a:gd name="T10" fmla="*/ 0 w 111"/>
                <a:gd name="T11" fmla="*/ 0 h 66"/>
                <a:gd name="T12" fmla="*/ 0 w 111"/>
                <a:gd name="T13" fmla="*/ 66 h 66"/>
                <a:gd name="T14" fmla="*/ 111 w 111"/>
                <a:gd name="T15" fmla="*/ 66 h 66"/>
                <a:gd name="T16" fmla="*/ 111 w 111"/>
                <a:gd name="T1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66">
                  <a:moveTo>
                    <a:pt x="111" y="0"/>
                  </a:moveTo>
                  <a:lnTo>
                    <a:pt x="55" y="0"/>
                  </a:lnTo>
                  <a:lnTo>
                    <a:pt x="55" y="54"/>
                  </a:lnTo>
                  <a:lnTo>
                    <a:pt x="14" y="54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66"/>
                  </a:lnTo>
                  <a:lnTo>
                    <a:pt x="111" y="6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5"/>
            <p:cNvSpPr>
              <a:spLocks noEditPoints="1"/>
            </p:cNvSpPr>
            <p:nvPr/>
          </p:nvSpPr>
          <p:spPr bwMode="auto">
            <a:xfrm>
              <a:off x="1447674" y="2276704"/>
              <a:ext cx="289552" cy="278101"/>
            </a:xfrm>
            <a:custGeom>
              <a:avLst/>
              <a:gdLst>
                <a:gd name="T0" fmla="*/ 72 w 77"/>
                <a:gd name="T1" fmla="*/ 0 h 74"/>
                <a:gd name="T2" fmla="*/ 64 w 77"/>
                <a:gd name="T3" fmla="*/ 0 h 74"/>
                <a:gd name="T4" fmla="*/ 64 w 77"/>
                <a:gd name="T5" fmla="*/ 31 h 74"/>
                <a:gd name="T6" fmla="*/ 10 w 77"/>
                <a:gd name="T7" fmla="*/ 31 h 74"/>
                <a:gd name="T8" fmla="*/ 10 w 77"/>
                <a:gd name="T9" fmla="*/ 0 h 74"/>
                <a:gd name="T10" fmla="*/ 5 w 77"/>
                <a:gd name="T11" fmla="*/ 0 h 74"/>
                <a:gd name="T12" fmla="*/ 0 w 77"/>
                <a:gd name="T13" fmla="*/ 6 h 74"/>
                <a:gd name="T14" fmla="*/ 0 w 77"/>
                <a:gd name="T15" fmla="*/ 68 h 74"/>
                <a:gd name="T16" fmla="*/ 5 w 77"/>
                <a:gd name="T17" fmla="*/ 74 h 74"/>
                <a:gd name="T18" fmla="*/ 72 w 77"/>
                <a:gd name="T19" fmla="*/ 74 h 74"/>
                <a:gd name="T20" fmla="*/ 77 w 77"/>
                <a:gd name="T21" fmla="*/ 68 h 74"/>
                <a:gd name="T22" fmla="*/ 77 w 77"/>
                <a:gd name="T23" fmla="*/ 6 h 74"/>
                <a:gd name="T24" fmla="*/ 72 w 77"/>
                <a:gd name="T25" fmla="*/ 0 h 74"/>
                <a:gd name="T26" fmla="*/ 38 w 77"/>
                <a:gd name="T27" fmla="*/ 65 h 74"/>
                <a:gd name="T28" fmla="*/ 22 w 77"/>
                <a:gd name="T29" fmla="*/ 49 h 74"/>
                <a:gd name="T30" fmla="*/ 38 w 77"/>
                <a:gd name="T31" fmla="*/ 33 h 74"/>
                <a:gd name="T32" fmla="*/ 54 w 77"/>
                <a:gd name="T33" fmla="*/ 49 h 74"/>
                <a:gd name="T34" fmla="*/ 38 w 77"/>
                <a:gd name="T35" fmla="*/ 6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7" h="74">
                  <a:moveTo>
                    <a:pt x="72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2" y="74"/>
                    <a:pt x="5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75" y="74"/>
                    <a:pt x="77" y="72"/>
                    <a:pt x="77" y="68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5" y="0"/>
                    <a:pt x="72" y="0"/>
                  </a:cubicBezTo>
                  <a:close/>
                  <a:moveTo>
                    <a:pt x="38" y="65"/>
                  </a:moveTo>
                  <a:cubicBezTo>
                    <a:pt x="29" y="65"/>
                    <a:pt x="22" y="58"/>
                    <a:pt x="22" y="49"/>
                  </a:cubicBezTo>
                  <a:cubicBezTo>
                    <a:pt x="22" y="40"/>
                    <a:pt x="29" y="33"/>
                    <a:pt x="38" y="33"/>
                  </a:cubicBezTo>
                  <a:cubicBezTo>
                    <a:pt x="46" y="33"/>
                    <a:pt x="54" y="40"/>
                    <a:pt x="54" y="49"/>
                  </a:cubicBezTo>
                  <a:cubicBezTo>
                    <a:pt x="54" y="58"/>
                    <a:pt x="46" y="65"/>
                    <a:pt x="38" y="65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1549442" y="2418790"/>
              <a:ext cx="82383" cy="82580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组合 25"/>
          <p:cNvGrpSpPr/>
          <p:nvPr/>
        </p:nvGrpSpPr>
        <p:grpSpPr>
          <a:xfrm>
            <a:off x="438996" y="3968261"/>
            <a:ext cx="661125" cy="663575"/>
            <a:chOff x="5093055" y="2766720"/>
            <a:chExt cx="501650" cy="506413"/>
          </a:xfrm>
        </p:grpSpPr>
        <p:sp>
          <p:nvSpPr>
            <p:cNvPr id="21" name="Freeform 21"/>
            <p:cNvSpPr/>
            <p:nvPr/>
          </p:nvSpPr>
          <p:spPr bwMode="auto">
            <a:xfrm>
              <a:off x="5093055" y="2766720"/>
              <a:ext cx="501650" cy="506413"/>
            </a:xfrm>
            <a:custGeom>
              <a:avLst/>
              <a:gdLst>
                <a:gd name="T0" fmla="*/ 134 w 134"/>
                <a:gd name="T1" fmla="*/ 37 h 135"/>
                <a:gd name="T2" fmla="*/ 134 w 134"/>
                <a:gd name="T3" fmla="*/ 98 h 135"/>
                <a:gd name="T4" fmla="*/ 98 w 134"/>
                <a:gd name="T5" fmla="*/ 135 h 135"/>
                <a:gd name="T6" fmla="*/ 36 w 134"/>
                <a:gd name="T7" fmla="*/ 135 h 135"/>
                <a:gd name="T8" fmla="*/ 0 w 134"/>
                <a:gd name="T9" fmla="*/ 98 h 135"/>
                <a:gd name="T10" fmla="*/ 0 w 134"/>
                <a:gd name="T11" fmla="*/ 37 h 135"/>
                <a:gd name="T12" fmla="*/ 36 w 134"/>
                <a:gd name="T13" fmla="*/ 0 h 135"/>
                <a:gd name="T14" fmla="*/ 134 w 134"/>
                <a:gd name="T15" fmla="*/ 0 h 135"/>
                <a:gd name="T16" fmla="*/ 134 w 134"/>
                <a:gd name="T17" fmla="*/ 3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135">
                  <a:moveTo>
                    <a:pt x="134" y="37"/>
                  </a:moveTo>
                  <a:cubicBezTo>
                    <a:pt x="134" y="98"/>
                    <a:pt x="134" y="98"/>
                    <a:pt x="134" y="98"/>
                  </a:cubicBezTo>
                  <a:cubicBezTo>
                    <a:pt x="134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134" y="37"/>
                  </a:lnTo>
                  <a:close/>
                </a:path>
              </a:pathLst>
            </a:custGeom>
            <a:solidFill>
              <a:srgbClr val="947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5200897" y="3069599"/>
              <a:ext cx="98149" cy="99344"/>
            </a:xfrm>
            <a:prstGeom prst="ellipse">
              <a:avLst/>
            </a:pr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5211803" y="2970254"/>
              <a:ext cx="181757" cy="179304"/>
            </a:xfrm>
            <a:custGeom>
              <a:avLst/>
              <a:gdLst>
                <a:gd name="T0" fmla="*/ 6 w 48"/>
                <a:gd name="T1" fmla="*/ 0 h 48"/>
                <a:gd name="T2" fmla="*/ 0 w 48"/>
                <a:gd name="T3" fmla="*/ 7 h 48"/>
                <a:gd name="T4" fmla="*/ 6 w 48"/>
                <a:gd name="T5" fmla="*/ 13 h 48"/>
                <a:gd name="T6" fmla="*/ 35 w 48"/>
                <a:gd name="T7" fmla="*/ 42 h 48"/>
                <a:gd name="T8" fmla="*/ 42 w 48"/>
                <a:gd name="T9" fmla="*/ 48 h 48"/>
                <a:gd name="T10" fmla="*/ 48 w 48"/>
                <a:gd name="T11" fmla="*/ 42 h 48"/>
                <a:gd name="T12" fmla="*/ 6 w 4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22" y="13"/>
                    <a:pt x="35" y="26"/>
                    <a:pt x="35" y="42"/>
                  </a:cubicBezTo>
                  <a:cubicBezTo>
                    <a:pt x="35" y="45"/>
                    <a:pt x="38" y="48"/>
                    <a:pt x="42" y="48"/>
                  </a:cubicBezTo>
                  <a:cubicBezTo>
                    <a:pt x="45" y="48"/>
                    <a:pt x="48" y="45"/>
                    <a:pt x="48" y="42"/>
                  </a:cubicBezTo>
                  <a:cubicBezTo>
                    <a:pt x="48" y="19"/>
                    <a:pt x="29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5211803" y="2870910"/>
              <a:ext cx="278694" cy="278648"/>
            </a:xfrm>
            <a:custGeom>
              <a:avLst/>
              <a:gdLst>
                <a:gd name="T0" fmla="*/ 6 w 74"/>
                <a:gd name="T1" fmla="*/ 0 h 74"/>
                <a:gd name="T2" fmla="*/ 0 w 74"/>
                <a:gd name="T3" fmla="*/ 7 h 74"/>
                <a:gd name="T4" fmla="*/ 6 w 74"/>
                <a:gd name="T5" fmla="*/ 13 h 74"/>
                <a:gd name="T6" fmla="*/ 61 w 74"/>
                <a:gd name="T7" fmla="*/ 68 h 74"/>
                <a:gd name="T8" fmla="*/ 68 w 74"/>
                <a:gd name="T9" fmla="*/ 74 h 74"/>
                <a:gd name="T10" fmla="*/ 74 w 74"/>
                <a:gd name="T11" fmla="*/ 68 h 74"/>
                <a:gd name="T12" fmla="*/ 6 w 74"/>
                <a:gd name="T1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74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37" y="13"/>
                    <a:pt x="61" y="38"/>
                    <a:pt x="61" y="68"/>
                  </a:cubicBezTo>
                  <a:cubicBezTo>
                    <a:pt x="61" y="71"/>
                    <a:pt x="64" y="74"/>
                    <a:pt x="68" y="74"/>
                  </a:cubicBezTo>
                  <a:cubicBezTo>
                    <a:pt x="71" y="74"/>
                    <a:pt x="74" y="71"/>
                    <a:pt x="74" y="68"/>
                  </a:cubicBezTo>
                  <a:cubicBezTo>
                    <a:pt x="74" y="30"/>
                    <a:pt x="44" y="0"/>
                    <a:pt x="6" y="0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组合 30"/>
          <p:cNvGrpSpPr/>
          <p:nvPr/>
        </p:nvGrpSpPr>
        <p:grpSpPr>
          <a:xfrm>
            <a:off x="423825" y="5370513"/>
            <a:ext cx="667513" cy="661988"/>
            <a:chOff x="6137274" y="1900165"/>
            <a:chExt cx="506413" cy="506412"/>
          </a:xfrm>
        </p:grpSpPr>
        <p:sp>
          <p:nvSpPr>
            <p:cNvPr id="26" name="Freeform 29"/>
            <p:cNvSpPr/>
            <p:nvPr/>
          </p:nvSpPr>
          <p:spPr bwMode="auto">
            <a:xfrm>
              <a:off x="6137274" y="1900165"/>
              <a:ext cx="506413" cy="506412"/>
            </a:xfrm>
            <a:custGeom>
              <a:avLst/>
              <a:gdLst>
                <a:gd name="T0" fmla="*/ 135 w 135"/>
                <a:gd name="T1" fmla="*/ 36 h 135"/>
                <a:gd name="T2" fmla="*/ 135 w 135"/>
                <a:gd name="T3" fmla="*/ 98 h 135"/>
                <a:gd name="T4" fmla="*/ 98 w 135"/>
                <a:gd name="T5" fmla="*/ 135 h 135"/>
                <a:gd name="T6" fmla="*/ 36 w 135"/>
                <a:gd name="T7" fmla="*/ 135 h 135"/>
                <a:gd name="T8" fmla="*/ 0 w 135"/>
                <a:gd name="T9" fmla="*/ 98 h 135"/>
                <a:gd name="T10" fmla="*/ 0 w 135"/>
                <a:gd name="T11" fmla="*/ 36 h 135"/>
                <a:gd name="T12" fmla="*/ 36 w 135"/>
                <a:gd name="T13" fmla="*/ 0 h 135"/>
                <a:gd name="T14" fmla="*/ 135 w 135"/>
                <a:gd name="T15" fmla="*/ 0 h 135"/>
                <a:gd name="T16" fmla="*/ 135 w 135"/>
                <a:gd name="T17" fmla="*/ 3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135">
                  <a:moveTo>
                    <a:pt x="135" y="36"/>
                  </a:moveTo>
                  <a:cubicBezTo>
                    <a:pt x="135" y="98"/>
                    <a:pt x="135" y="98"/>
                    <a:pt x="135" y="98"/>
                  </a:cubicBezTo>
                  <a:cubicBezTo>
                    <a:pt x="135" y="118"/>
                    <a:pt x="118" y="135"/>
                    <a:pt x="98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16" y="135"/>
                    <a:pt x="0" y="118"/>
                    <a:pt x="0" y="9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135" y="0"/>
                    <a:pt x="135" y="0"/>
                    <a:pt x="135" y="0"/>
                  </a:cubicBezTo>
                  <a:lnTo>
                    <a:pt x="135" y="36"/>
                  </a:lnTo>
                  <a:close/>
                </a:path>
              </a:pathLst>
            </a:custGeom>
            <a:solidFill>
              <a:srgbClr val="6C4C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30"/>
            <p:cNvSpPr>
              <a:spLocks noEditPoints="1"/>
            </p:cNvSpPr>
            <p:nvPr/>
          </p:nvSpPr>
          <p:spPr bwMode="auto">
            <a:xfrm>
              <a:off x="6208753" y="1979102"/>
              <a:ext cx="327109" cy="325464"/>
            </a:xfrm>
            <a:custGeom>
              <a:avLst/>
              <a:gdLst>
                <a:gd name="T0" fmla="*/ 64 w 87"/>
                <a:gd name="T1" fmla="*/ 14 h 87"/>
                <a:gd name="T2" fmla="*/ 14 w 87"/>
                <a:gd name="T3" fmla="*/ 14 h 87"/>
                <a:gd name="T4" fmla="*/ 14 w 87"/>
                <a:gd name="T5" fmla="*/ 64 h 87"/>
                <a:gd name="T6" fmla="*/ 59 w 87"/>
                <a:gd name="T7" fmla="*/ 69 h 87"/>
                <a:gd name="T8" fmla="*/ 74 w 87"/>
                <a:gd name="T9" fmla="*/ 84 h 87"/>
                <a:gd name="T10" fmla="*/ 83 w 87"/>
                <a:gd name="T11" fmla="*/ 84 h 87"/>
                <a:gd name="T12" fmla="*/ 84 w 87"/>
                <a:gd name="T13" fmla="*/ 83 h 87"/>
                <a:gd name="T14" fmla="*/ 84 w 87"/>
                <a:gd name="T15" fmla="*/ 74 h 87"/>
                <a:gd name="T16" fmla="*/ 69 w 87"/>
                <a:gd name="T17" fmla="*/ 59 h 87"/>
                <a:gd name="T18" fmla="*/ 64 w 87"/>
                <a:gd name="T19" fmla="*/ 14 h 87"/>
                <a:gd name="T20" fmla="*/ 58 w 87"/>
                <a:gd name="T21" fmla="*/ 58 h 87"/>
                <a:gd name="T22" fmla="*/ 20 w 87"/>
                <a:gd name="T23" fmla="*/ 58 h 87"/>
                <a:gd name="T24" fmla="*/ 20 w 87"/>
                <a:gd name="T25" fmla="*/ 21 h 87"/>
                <a:gd name="T26" fmla="*/ 58 w 87"/>
                <a:gd name="T27" fmla="*/ 21 h 87"/>
                <a:gd name="T28" fmla="*/ 58 w 87"/>
                <a:gd name="T29" fmla="*/ 5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87">
                  <a:moveTo>
                    <a:pt x="64" y="14"/>
                  </a:moveTo>
                  <a:cubicBezTo>
                    <a:pt x="50" y="0"/>
                    <a:pt x="28" y="0"/>
                    <a:pt x="14" y="14"/>
                  </a:cubicBezTo>
                  <a:cubicBezTo>
                    <a:pt x="0" y="28"/>
                    <a:pt x="0" y="51"/>
                    <a:pt x="14" y="64"/>
                  </a:cubicBezTo>
                  <a:cubicBezTo>
                    <a:pt x="26" y="77"/>
                    <a:pt x="45" y="78"/>
                    <a:pt x="59" y="69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6" y="87"/>
                    <a:pt x="80" y="87"/>
                    <a:pt x="83" y="84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7" y="81"/>
                    <a:pt x="87" y="77"/>
                    <a:pt x="84" y="74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78" y="45"/>
                    <a:pt x="76" y="26"/>
                    <a:pt x="64" y="14"/>
                  </a:cubicBezTo>
                  <a:close/>
                  <a:moveTo>
                    <a:pt x="58" y="58"/>
                  </a:moveTo>
                  <a:cubicBezTo>
                    <a:pt x="47" y="68"/>
                    <a:pt x="31" y="68"/>
                    <a:pt x="20" y="58"/>
                  </a:cubicBezTo>
                  <a:cubicBezTo>
                    <a:pt x="10" y="48"/>
                    <a:pt x="10" y="31"/>
                    <a:pt x="20" y="21"/>
                  </a:cubicBezTo>
                  <a:cubicBezTo>
                    <a:pt x="31" y="10"/>
                    <a:pt x="47" y="10"/>
                    <a:pt x="58" y="21"/>
                  </a:cubicBezTo>
                  <a:cubicBezTo>
                    <a:pt x="68" y="31"/>
                    <a:pt x="68" y="48"/>
                    <a:pt x="58" y="58"/>
                  </a:cubicBezTo>
                  <a:close/>
                </a:path>
              </a:pathLst>
            </a:custGeom>
            <a:solidFill>
              <a:srgbClr val="ECEC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Rectangle 1029"/>
          <p:cNvSpPr>
            <a:spLocks noChangeArrowheads="1"/>
          </p:cNvSpPr>
          <p:nvPr/>
        </p:nvSpPr>
        <p:spPr bwMode="auto">
          <a:xfrm>
            <a:off x="1300163" y="2525960"/>
            <a:ext cx="343497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学习一些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常用的算法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3" name="Rectangle 1029"/>
          <p:cNvSpPr>
            <a:spLocks noChangeArrowheads="1"/>
          </p:cNvSpPr>
          <p:nvPr/>
        </p:nvSpPr>
        <p:spPr bwMode="auto">
          <a:xfrm>
            <a:off x="1298341" y="3729484"/>
            <a:ext cx="7513389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复杂程序设计的训练过程，要求编写的程序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结构清楚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正确易读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</a:p>
        </p:txBody>
      </p:sp>
      <p:sp>
        <p:nvSpPr>
          <p:cNvPr id="34" name="Rectangle 1029"/>
          <p:cNvSpPr>
            <a:spLocks noChangeArrowheads="1"/>
          </p:cNvSpPr>
          <p:nvPr/>
        </p:nvSpPr>
        <p:spPr bwMode="auto">
          <a:xfrm>
            <a:off x="1300163" y="5304483"/>
            <a:ext cx="7513388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初步掌握算法的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时间复杂度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空间复杂度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的分析技术</a:t>
            </a:r>
            <a:r>
              <a:rPr lang="zh-CN" altLang="en-US" sz="2400" dirty="0">
                <a:solidFill>
                  <a:srgbClr val="003300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9" grpId="0"/>
      <p:bldP spid="32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84784"/>
            <a:ext cx="8064896" cy="49780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数据结构的研究内容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数据结构的基本概念和术语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数据、数据元素、数据项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数据结构的形式定义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逻辑结构与物理结构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数据类型与抽象数据类型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算法和算法分析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096060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453900"/>
            <a:ext cx="9144000" cy="1422954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5268" name="Rectangle 1028"/>
          <p:cNvSpPr>
            <a:spLocks noChangeArrowheads="1"/>
          </p:cNvSpPr>
          <p:nvPr/>
        </p:nvSpPr>
        <p:spPr bwMode="auto">
          <a:xfrm>
            <a:off x="1042191" y="5693697"/>
            <a:ext cx="6465912" cy="4238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三者之间的关系：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数据项</a:t>
            </a:r>
          </a:p>
        </p:txBody>
      </p:sp>
      <p:sp>
        <p:nvSpPr>
          <p:cNvPr id="395269" name="Text Box 1029"/>
          <p:cNvSpPr txBox="1">
            <a:spLocks noChangeArrowheads="1"/>
          </p:cNvSpPr>
          <p:nvPr/>
        </p:nvSpPr>
        <p:spPr bwMode="auto">
          <a:xfrm>
            <a:off x="1092200" y="6244628"/>
            <a:ext cx="7056438" cy="42473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例：书目表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一本书的书目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书名、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作者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3072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数据、数据元素、数据项</a:t>
            </a:r>
          </a:p>
        </p:txBody>
      </p:sp>
      <p:sp>
        <p:nvSpPr>
          <p:cNvPr id="25" name="文本框 17"/>
          <p:cNvSpPr txBox="1"/>
          <p:nvPr/>
        </p:nvSpPr>
        <p:spPr>
          <a:xfrm>
            <a:off x="370121" y="1448201"/>
            <a:ext cx="5039221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对客观事物的符号表示，是所有能输入到计算机中并被计算机程序处理的符号的总称。</a:t>
            </a:r>
            <a:endParaRPr kumimoji="0" lang="en-US" altLang="zh-CN" sz="200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50000"/>
              </a:lnSpc>
              <a:buClr>
                <a:srgbClr val="6C4C8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数值性数据</a:t>
            </a:r>
          </a:p>
          <a:p>
            <a:pPr marL="285750" marR="0" indent="-285750" defTabSz="914400">
              <a:lnSpc>
                <a:spcPct val="150000"/>
              </a:lnSpc>
              <a:buClr>
                <a:srgbClr val="6C4C8F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非数值性数据（多媒体信息处理）</a:t>
            </a:r>
          </a:p>
        </p:txBody>
      </p:sp>
      <p:sp>
        <p:nvSpPr>
          <p:cNvPr id="26" name="文本框 18"/>
          <p:cNvSpPr txBox="1"/>
          <p:nvPr/>
        </p:nvSpPr>
        <p:spPr>
          <a:xfrm>
            <a:off x="1242143" y="4392066"/>
            <a:ext cx="4553993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</a:rPr>
              <a:t>一个数据元素可由若干个数据项组成。是数据的不可分割的最小单位。</a:t>
            </a:r>
          </a:p>
        </p:txBody>
      </p:sp>
      <p:sp>
        <p:nvSpPr>
          <p:cNvPr id="27" name="文本框 19"/>
          <p:cNvSpPr txBox="1"/>
          <p:nvPr/>
        </p:nvSpPr>
        <p:spPr>
          <a:xfrm>
            <a:off x="6254750" y="3013075"/>
            <a:ext cx="2760429" cy="14229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</a:rPr>
              <a:t>数据的基本单位，常作为一个整体进行考虑和处理。</a:t>
            </a:r>
          </a:p>
        </p:txBody>
      </p:sp>
      <p:sp>
        <p:nvSpPr>
          <p:cNvPr id="28" name="文本框 34"/>
          <p:cNvSpPr txBox="1"/>
          <p:nvPr/>
        </p:nvSpPr>
        <p:spPr>
          <a:xfrm>
            <a:off x="396875" y="944563"/>
            <a:ext cx="25971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、数据（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data)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35"/>
          <p:cNvSpPr txBox="1"/>
          <p:nvPr/>
        </p:nvSpPr>
        <p:spPr>
          <a:xfrm>
            <a:off x="1242143" y="3861048"/>
            <a:ext cx="359831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、数据项（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data item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）</a:t>
            </a:r>
          </a:p>
        </p:txBody>
      </p:sp>
      <p:sp>
        <p:nvSpPr>
          <p:cNvPr id="30" name="文本框 36"/>
          <p:cNvSpPr txBox="1"/>
          <p:nvPr/>
        </p:nvSpPr>
        <p:spPr>
          <a:xfrm>
            <a:off x="6256523" y="2084388"/>
            <a:ext cx="2851981" cy="831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、数据元素</a:t>
            </a:r>
            <a:b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</a:b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</a:rPr>
              <a:t>data element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）</a:t>
            </a:r>
          </a:p>
        </p:txBody>
      </p:sp>
      <p:grpSp>
        <p:nvGrpSpPr>
          <p:cNvPr id="32780" name="组合 3"/>
          <p:cNvGrpSpPr/>
          <p:nvPr/>
        </p:nvGrpSpPr>
        <p:grpSpPr>
          <a:xfrm>
            <a:off x="4760913" y="2911475"/>
            <a:ext cx="1182687" cy="1212850"/>
            <a:chOff x="2453474" y="753981"/>
            <a:chExt cx="4340338" cy="4452581"/>
          </a:xfrm>
        </p:grpSpPr>
        <p:sp>
          <p:nvSpPr>
            <p:cNvPr id="15" name="任意多边形 73"/>
            <p:cNvSpPr/>
            <p:nvPr/>
          </p:nvSpPr>
          <p:spPr>
            <a:xfrm>
              <a:off x="2482602" y="2723840"/>
              <a:ext cx="3478100" cy="2482722"/>
            </a:xfrm>
            <a:custGeom>
              <a:avLst/>
              <a:gdLst>
                <a:gd name="connsiteX0" fmla="*/ 2235020 w 3495090"/>
                <a:gd name="connsiteY0" fmla="*/ 0 h 2480677"/>
                <a:gd name="connsiteX1" fmla="*/ 2725817 w 3495090"/>
                <a:gd name="connsiteY1" fmla="*/ 0 h 2480677"/>
                <a:gd name="connsiteX2" fmla="*/ 2977970 w 3495090"/>
                <a:gd name="connsiteY2" fmla="*/ 1351284 h 2480677"/>
                <a:gd name="connsiteX3" fmla="*/ 3495090 w 3495090"/>
                <a:gd name="connsiteY3" fmla="*/ 2132465 h 2480677"/>
                <a:gd name="connsiteX4" fmla="*/ 3380398 w 3495090"/>
                <a:gd name="connsiteY4" fmla="*/ 2202142 h 2480677"/>
                <a:gd name="connsiteX5" fmla="*/ 2280377 w 3495090"/>
                <a:gd name="connsiteY5" fmla="*/ 2480677 h 2480677"/>
                <a:gd name="connsiteX6" fmla="*/ 19492 w 3495090"/>
                <a:gd name="connsiteY6" fmla="*/ 638002 h 2480677"/>
                <a:gd name="connsiteX7" fmla="*/ 0 w 3495090"/>
                <a:gd name="connsiteY7" fmla="*/ 510287 h 2480677"/>
                <a:gd name="connsiteX8" fmla="*/ 2235020 w 3495090"/>
                <a:gd name="connsiteY8" fmla="*/ 189234 h 2480677"/>
                <a:gd name="connsiteX9" fmla="*/ 2235020 w 3495090"/>
                <a:gd name="connsiteY9" fmla="*/ 0 h 2480677"/>
                <a:gd name="connsiteX0-1" fmla="*/ 2235020 w 3476040"/>
                <a:gd name="connsiteY0-2" fmla="*/ 0 h 2480677"/>
                <a:gd name="connsiteX1-3" fmla="*/ 2725817 w 3476040"/>
                <a:gd name="connsiteY1-4" fmla="*/ 0 h 2480677"/>
                <a:gd name="connsiteX2-5" fmla="*/ 2977970 w 3476040"/>
                <a:gd name="connsiteY2-6" fmla="*/ 1351284 h 2480677"/>
                <a:gd name="connsiteX3-7" fmla="*/ 3476040 w 3476040"/>
                <a:gd name="connsiteY3-8" fmla="*/ 2088015 h 2480677"/>
                <a:gd name="connsiteX4-9" fmla="*/ 3380398 w 3476040"/>
                <a:gd name="connsiteY4-10" fmla="*/ 2202142 h 2480677"/>
                <a:gd name="connsiteX5-11" fmla="*/ 2280377 w 3476040"/>
                <a:gd name="connsiteY5-12" fmla="*/ 2480677 h 2480677"/>
                <a:gd name="connsiteX6-13" fmla="*/ 19492 w 3476040"/>
                <a:gd name="connsiteY6-14" fmla="*/ 638002 h 2480677"/>
                <a:gd name="connsiteX7-15" fmla="*/ 0 w 3476040"/>
                <a:gd name="connsiteY7-16" fmla="*/ 510287 h 2480677"/>
                <a:gd name="connsiteX8-17" fmla="*/ 2235020 w 3476040"/>
                <a:gd name="connsiteY8-18" fmla="*/ 189234 h 2480677"/>
                <a:gd name="connsiteX9-19" fmla="*/ 2235020 w 3476040"/>
                <a:gd name="connsiteY9-20" fmla="*/ 0 h 2480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3476040" h="2480677">
                  <a:moveTo>
                    <a:pt x="2235020" y="0"/>
                  </a:moveTo>
                  <a:lnTo>
                    <a:pt x="2725817" y="0"/>
                  </a:lnTo>
                  <a:lnTo>
                    <a:pt x="2977970" y="1351284"/>
                  </a:lnTo>
                  <a:lnTo>
                    <a:pt x="3476040" y="2088015"/>
                  </a:lnTo>
                  <a:cubicBezTo>
                    <a:pt x="3437809" y="2111241"/>
                    <a:pt x="3418629" y="2178916"/>
                    <a:pt x="3380398" y="2202142"/>
                  </a:cubicBezTo>
                  <a:cubicBezTo>
                    <a:pt x="3053402" y="2379776"/>
                    <a:pt x="2678673" y="2480677"/>
                    <a:pt x="2280377" y="2480677"/>
                  </a:cubicBezTo>
                  <a:cubicBezTo>
                    <a:pt x="1165149" y="2480677"/>
                    <a:pt x="234683" y="1689615"/>
                    <a:pt x="19492" y="638002"/>
                  </a:cubicBezTo>
                  <a:lnTo>
                    <a:pt x="0" y="510287"/>
                  </a:lnTo>
                  <a:lnTo>
                    <a:pt x="2235020" y="189234"/>
                  </a:lnTo>
                  <a:lnTo>
                    <a:pt x="2235020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6" name="任意多边形 74"/>
            <p:cNvSpPr/>
            <p:nvPr/>
          </p:nvSpPr>
          <p:spPr>
            <a:xfrm>
              <a:off x="4428472" y="753981"/>
              <a:ext cx="2365340" cy="4254429"/>
            </a:xfrm>
            <a:custGeom>
              <a:avLst/>
              <a:gdLst>
                <a:gd name="connsiteX0" fmla="*/ 45357 w 2353128"/>
                <a:gd name="connsiteY0" fmla="*/ 0 h 4267330"/>
                <a:gd name="connsiteX1" fmla="*/ 92873 w 2353128"/>
                <a:gd name="connsiteY1" fmla="*/ 2399 h 4267330"/>
                <a:gd name="connsiteX2" fmla="*/ 281313 w 2353128"/>
                <a:gd name="connsiteY2" fmla="*/ 11915 h 4267330"/>
                <a:gd name="connsiteX3" fmla="*/ 2353128 w 2353128"/>
                <a:gd name="connsiteY3" fmla="*/ 2307771 h 4267330"/>
                <a:gd name="connsiteX4" fmla="*/ 1335654 w 2353128"/>
                <a:gd name="connsiteY4" fmla="*/ 4221411 h 4267330"/>
                <a:gd name="connsiteX5" fmla="*/ 1260070 w 2353128"/>
                <a:gd name="connsiteY5" fmla="*/ 4267330 h 4267330"/>
                <a:gd name="connsiteX6" fmla="*/ 742950 w 2353128"/>
                <a:gd name="connsiteY6" fmla="*/ 3486149 h 4267330"/>
                <a:gd name="connsiteX7" fmla="*/ 490797 w 2353128"/>
                <a:gd name="connsiteY7" fmla="*/ 2134865 h 4267330"/>
                <a:gd name="connsiteX8" fmla="*/ 0 w 2353128"/>
                <a:gd name="connsiteY8" fmla="*/ 2134865 h 4267330"/>
                <a:gd name="connsiteX9" fmla="*/ 0 w 2353128"/>
                <a:gd name="connsiteY9" fmla="*/ 2290 h 4267330"/>
                <a:gd name="connsiteX0-1" fmla="*/ 58057 w 2365828"/>
                <a:gd name="connsiteY0-2" fmla="*/ 0 h 4267330"/>
                <a:gd name="connsiteX1-3" fmla="*/ 105573 w 2365828"/>
                <a:gd name="connsiteY1-4" fmla="*/ 2399 h 4267330"/>
                <a:gd name="connsiteX2-5" fmla="*/ 294013 w 2365828"/>
                <a:gd name="connsiteY2-6" fmla="*/ 11915 h 4267330"/>
                <a:gd name="connsiteX3-7" fmla="*/ 2365828 w 2365828"/>
                <a:gd name="connsiteY3-8" fmla="*/ 2307771 h 4267330"/>
                <a:gd name="connsiteX4-9" fmla="*/ 1348354 w 2365828"/>
                <a:gd name="connsiteY4-10" fmla="*/ 4221411 h 4267330"/>
                <a:gd name="connsiteX5-11" fmla="*/ 1272770 w 2365828"/>
                <a:gd name="connsiteY5-12" fmla="*/ 4267330 h 4267330"/>
                <a:gd name="connsiteX6-13" fmla="*/ 755650 w 2365828"/>
                <a:gd name="connsiteY6-14" fmla="*/ 3486149 h 4267330"/>
                <a:gd name="connsiteX7-15" fmla="*/ 503497 w 2365828"/>
                <a:gd name="connsiteY7-16" fmla="*/ 2134865 h 4267330"/>
                <a:gd name="connsiteX8-17" fmla="*/ 12700 w 2365828"/>
                <a:gd name="connsiteY8-18" fmla="*/ 2134865 h 4267330"/>
                <a:gd name="connsiteX9-19" fmla="*/ 0 w 2365828"/>
                <a:gd name="connsiteY9-20" fmla="*/ 103890 h 4267330"/>
                <a:gd name="connsiteX10" fmla="*/ 58057 w 2365828"/>
                <a:gd name="connsiteY10" fmla="*/ 0 h 4267330"/>
                <a:gd name="connsiteX0-21" fmla="*/ 58057 w 2365828"/>
                <a:gd name="connsiteY0-22" fmla="*/ 99201 h 4264931"/>
                <a:gd name="connsiteX1-23" fmla="*/ 105573 w 2365828"/>
                <a:gd name="connsiteY1-24" fmla="*/ 0 h 4264931"/>
                <a:gd name="connsiteX2-25" fmla="*/ 294013 w 2365828"/>
                <a:gd name="connsiteY2-26" fmla="*/ 9516 h 4264931"/>
                <a:gd name="connsiteX3-27" fmla="*/ 2365828 w 2365828"/>
                <a:gd name="connsiteY3-28" fmla="*/ 2305372 h 4264931"/>
                <a:gd name="connsiteX4-29" fmla="*/ 1348354 w 2365828"/>
                <a:gd name="connsiteY4-30" fmla="*/ 4219012 h 4264931"/>
                <a:gd name="connsiteX5-31" fmla="*/ 1272770 w 2365828"/>
                <a:gd name="connsiteY5-32" fmla="*/ 4264931 h 4264931"/>
                <a:gd name="connsiteX6-33" fmla="*/ 755650 w 2365828"/>
                <a:gd name="connsiteY6-34" fmla="*/ 3483750 h 4264931"/>
                <a:gd name="connsiteX7-35" fmla="*/ 503497 w 2365828"/>
                <a:gd name="connsiteY7-36" fmla="*/ 2132466 h 4264931"/>
                <a:gd name="connsiteX8-37" fmla="*/ 12700 w 2365828"/>
                <a:gd name="connsiteY8-38" fmla="*/ 2132466 h 4264931"/>
                <a:gd name="connsiteX9-39" fmla="*/ 0 w 2365828"/>
                <a:gd name="connsiteY9-40" fmla="*/ 101491 h 4264931"/>
                <a:gd name="connsiteX10-41" fmla="*/ 58057 w 2365828"/>
                <a:gd name="connsiteY10-42" fmla="*/ 99201 h 4264931"/>
                <a:gd name="connsiteX0-43" fmla="*/ 58057 w 2365828"/>
                <a:gd name="connsiteY0-44" fmla="*/ 89685 h 4255415"/>
                <a:gd name="connsiteX1-45" fmla="*/ 105573 w 2365828"/>
                <a:gd name="connsiteY1-46" fmla="*/ 92084 h 4255415"/>
                <a:gd name="connsiteX2-47" fmla="*/ 294013 w 2365828"/>
                <a:gd name="connsiteY2-48" fmla="*/ 0 h 4255415"/>
                <a:gd name="connsiteX3-49" fmla="*/ 2365828 w 2365828"/>
                <a:gd name="connsiteY3-50" fmla="*/ 2295856 h 4255415"/>
                <a:gd name="connsiteX4-51" fmla="*/ 1348354 w 2365828"/>
                <a:gd name="connsiteY4-52" fmla="*/ 4209496 h 4255415"/>
                <a:gd name="connsiteX5-53" fmla="*/ 1272770 w 2365828"/>
                <a:gd name="connsiteY5-54" fmla="*/ 4255415 h 4255415"/>
                <a:gd name="connsiteX6-55" fmla="*/ 755650 w 2365828"/>
                <a:gd name="connsiteY6-56" fmla="*/ 3474234 h 4255415"/>
                <a:gd name="connsiteX7-57" fmla="*/ 503497 w 2365828"/>
                <a:gd name="connsiteY7-58" fmla="*/ 2122950 h 4255415"/>
                <a:gd name="connsiteX8-59" fmla="*/ 12700 w 2365828"/>
                <a:gd name="connsiteY8-60" fmla="*/ 2122950 h 4255415"/>
                <a:gd name="connsiteX9-61" fmla="*/ 0 w 2365828"/>
                <a:gd name="connsiteY9-62" fmla="*/ 91975 h 4255415"/>
                <a:gd name="connsiteX10-63" fmla="*/ 58057 w 2365828"/>
                <a:gd name="connsiteY10-64" fmla="*/ 89685 h 42554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41" y="connsiteY10-42"/>
                </a:cxn>
              </a:cxnLst>
              <a:rect l="l" t="t" r="r" b="b"/>
              <a:pathLst>
                <a:path w="2365828" h="4255415">
                  <a:moveTo>
                    <a:pt x="58057" y="89685"/>
                  </a:moveTo>
                  <a:lnTo>
                    <a:pt x="105573" y="92084"/>
                  </a:lnTo>
                  <a:lnTo>
                    <a:pt x="294013" y="0"/>
                  </a:lnTo>
                  <a:cubicBezTo>
                    <a:pt x="1457721" y="118181"/>
                    <a:pt x="2365828" y="1100968"/>
                    <a:pt x="2365828" y="2295856"/>
                  </a:cubicBezTo>
                  <a:cubicBezTo>
                    <a:pt x="2365828" y="3092448"/>
                    <a:pt x="1962225" y="3794773"/>
                    <a:pt x="1348354" y="4209496"/>
                  </a:cubicBezTo>
                  <a:lnTo>
                    <a:pt x="1272770" y="4255415"/>
                  </a:lnTo>
                  <a:lnTo>
                    <a:pt x="755650" y="3474234"/>
                  </a:lnTo>
                  <a:lnTo>
                    <a:pt x="503497" y="2122950"/>
                  </a:lnTo>
                  <a:lnTo>
                    <a:pt x="12700" y="2122950"/>
                  </a:lnTo>
                  <a:cubicBezTo>
                    <a:pt x="8467" y="1445958"/>
                    <a:pt x="4233" y="768967"/>
                    <a:pt x="0" y="91975"/>
                  </a:cubicBezTo>
                  <a:cubicBezTo>
                    <a:pt x="15119" y="91212"/>
                    <a:pt x="42938" y="90448"/>
                    <a:pt x="58057" y="8968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7" name="任意多边形 75"/>
            <p:cNvSpPr/>
            <p:nvPr/>
          </p:nvSpPr>
          <p:spPr>
            <a:xfrm>
              <a:off x="2453474" y="771467"/>
              <a:ext cx="2260472" cy="2645905"/>
            </a:xfrm>
            <a:custGeom>
              <a:avLst/>
              <a:gdLst>
                <a:gd name="connsiteX0" fmla="*/ 2262414 w 2262414"/>
                <a:gd name="connsiteY0" fmla="*/ 0 h 2642862"/>
                <a:gd name="connsiteX1" fmla="*/ 2262414 w 2262414"/>
                <a:gd name="connsiteY1" fmla="*/ 2321809 h 2642862"/>
                <a:gd name="connsiteX2" fmla="*/ 27394 w 2262414"/>
                <a:gd name="connsiteY2" fmla="*/ 2642862 h 2642862"/>
                <a:gd name="connsiteX3" fmla="*/ 11915 w 2262414"/>
                <a:gd name="connsiteY3" fmla="*/ 2541437 h 2642862"/>
                <a:gd name="connsiteX4" fmla="*/ 0 w 2262414"/>
                <a:gd name="connsiteY4" fmla="*/ 2305481 h 2642862"/>
                <a:gd name="connsiteX5" fmla="*/ 2071815 w 2262414"/>
                <a:gd name="connsiteY5" fmla="*/ 9625 h 2642862"/>
                <a:gd name="connsiteX6" fmla="*/ 2262414 w 2262414"/>
                <a:gd name="connsiteY6" fmla="*/ 0 h 264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2414" h="2642862">
                  <a:moveTo>
                    <a:pt x="2262414" y="0"/>
                  </a:moveTo>
                  <a:lnTo>
                    <a:pt x="2262414" y="2321809"/>
                  </a:lnTo>
                  <a:lnTo>
                    <a:pt x="27394" y="2642862"/>
                  </a:lnTo>
                  <a:lnTo>
                    <a:pt x="11915" y="2541437"/>
                  </a:lnTo>
                  <a:cubicBezTo>
                    <a:pt x="4036" y="2463857"/>
                    <a:pt x="0" y="2385140"/>
                    <a:pt x="0" y="2305481"/>
                  </a:cubicBezTo>
                  <a:cubicBezTo>
                    <a:pt x="0" y="1110593"/>
                    <a:pt x="908107" y="127806"/>
                    <a:pt x="2071815" y="9625"/>
                  </a:cubicBezTo>
                  <a:lnTo>
                    <a:pt x="226241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292412" y="1587385"/>
              <a:ext cx="3198450" cy="31937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33809" name="Freeform 342"/>
            <p:cNvSpPr/>
            <p:nvPr/>
          </p:nvSpPr>
          <p:spPr>
            <a:xfrm>
              <a:off x="3925296" y="2169468"/>
              <a:ext cx="1691952" cy="2021986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3526" h="16157">
                  <a:moveTo>
                    <a:pt x="13526" y="9859"/>
                  </a:moveTo>
                  <a:lnTo>
                    <a:pt x="13525" y="9923"/>
                  </a:lnTo>
                  <a:lnTo>
                    <a:pt x="13521" y="9987"/>
                  </a:lnTo>
                  <a:lnTo>
                    <a:pt x="13515" y="10048"/>
                  </a:lnTo>
                  <a:lnTo>
                    <a:pt x="13507" y="10110"/>
                  </a:lnTo>
                  <a:lnTo>
                    <a:pt x="13495" y="10172"/>
                  </a:lnTo>
                  <a:lnTo>
                    <a:pt x="13482" y="10233"/>
                  </a:lnTo>
                  <a:lnTo>
                    <a:pt x="13467" y="10292"/>
                  </a:lnTo>
                  <a:lnTo>
                    <a:pt x="13449" y="10352"/>
                  </a:lnTo>
                  <a:lnTo>
                    <a:pt x="13429" y="10411"/>
                  </a:lnTo>
                  <a:lnTo>
                    <a:pt x="13405" y="10470"/>
                  </a:lnTo>
                  <a:lnTo>
                    <a:pt x="13380" y="10527"/>
                  </a:lnTo>
                  <a:lnTo>
                    <a:pt x="13353" y="10584"/>
                  </a:lnTo>
                  <a:lnTo>
                    <a:pt x="13323" y="10641"/>
                  </a:lnTo>
                  <a:lnTo>
                    <a:pt x="13291" y="10696"/>
                  </a:lnTo>
                  <a:lnTo>
                    <a:pt x="13255" y="10751"/>
                  </a:lnTo>
                  <a:lnTo>
                    <a:pt x="13219" y="10806"/>
                  </a:lnTo>
                  <a:lnTo>
                    <a:pt x="13179" y="10859"/>
                  </a:lnTo>
                  <a:lnTo>
                    <a:pt x="13137" y="10913"/>
                  </a:lnTo>
                  <a:lnTo>
                    <a:pt x="13093" y="10966"/>
                  </a:lnTo>
                  <a:lnTo>
                    <a:pt x="13047" y="11017"/>
                  </a:lnTo>
                  <a:lnTo>
                    <a:pt x="12997" y="11069"/>
                  </a:lnTo>
                  <a:lnTo>
                    <a:pt x="12945" y="11120"/>
                  </a:lnTo>
                  <a:lnTo>
                    <a:pt x="12891" y="11170"/>
                  </a:lnTo>
                  <a:lnTo>
                    <a:pt x="12836" y="11220"/>
                  </a:lnTo>
                  <a:lnTo>
                    <a:pt x="12777" y="11268"/>
                  </a:lnTo>
                  <a:lnTo>
                    <a:pt x="12716" y="11317"/>
                  </a:lnTo>
                  <a:lnTo>
                    <a:pt x="12652" y="11365"/>
                  </a:lnTo>
                  <a:lnTo>
                    <a:pt x="12587" y="11412"/>
                  </a:lnTo>
                  <a:lnTo>
                    <a:pt x="12519" y="11459"/>
                  </a:lnTo>
                  <a:lnTo>
                    <a:pt x="12449" y="11504"/>
                  </a:lnTo>
                  <a:lnTo>
                    <a:pt x="12376" y="11549"/>
                  </a:lnTo>
                  <a:lnTo>
                    <a:pt x="12301" y="11593"/>
                  </a:lnTo>
                  <a:lnTo>
                    <a:pt x="12234" y="11631"/>
                  </a:lnTo>
                  <a:lnTo>
                    <a:pt x="12166" y="11667"/>
                  </a:lnTo>
                  <a:lnTo>
                    <a:pt x="12099" y="11702"/>
                  </a:lnTo>
                  <a:lnTo>
                    <a:pt x="12032" y="11735"/>
                  </a:lnTo>
                  <a:lnTo>
                    <a:pt x="11964" y="11769"/>
                  </a:lnTo>
                  <a:lnTo>
                    <a:pt x="11898" y="11800"/>
                  </a:lnTo>
                  <a:lnTo>
                    <a:pt x="11830" y="11829"/>
                  </a:lnTo>
                  <a:lnTo>
                    <a:pt x="11763" y="11859"/>
                  </a:lnTo>
                  <a:lnTo>
                    <a:pt x="11695" y="11886"/>
                  </a:lnTo>
                  <a:lnTo>
                    <a:pt x="11627" y="11913"/>
                  </a:lnTo>
                  <a:lnTo>
                    <a:pt x="11559" y="11939"/>
                  </a:lnTo>
                  <a:lnTo>
                    <a:pt x="11492" y="11963"/>
                  </a:lnTo>
                  <a:lnTo>
                    <a:pt x="11423" y="11986"/>
                  </a:lnTo>
                  <a:lnTo>
                    <a:pt x="11355" y="12008"/>
                  </a:lnTo>
                  <a:lnTo>
                    <a:pt x="11288" y="12029"/>
                  </a:lnTo>
                  <a:lnTo>
                    <a:pt x="11220" y="12048"/>
                  </a:lnTo>
                  <a:lnTo>
                    <a:pt x="11151" y="12066"/>
                  </a:lnTo>
                  <a:lnTo>
                    <a:pt x="11083" y="12084"/>
                  </a:lnTo>
                  <a:lnTo>
                    <a:pt x="11014" y="12100"/>
                  </a:lnTo>
                  <a:lnTo>
                    <a:pt x="10946" y="12115"/>
                  </a:lnTo>
                  <a:lnTo>
                    <a:pt x="10877" y="12128"/>
                  </a:lnTo>
                  <a:lnTo>
                    <a:pt x="10808" y="12141"/>
                  </a:lnTo>
                  <a:lnTo>
                    <a:pt x="10739" y="12152"/>
                  </a:lnTo>
                  <a:lnTo>
                    <a:pt x="10671" y="12162"/>
                  </a:lnTo>
                  <a:lnTo>
                    <a:pt x="10602" y="12172"/>
                  </a:lnTo>
                  <a:lnTo>
                    <a:pt x="10533" y="12179"/>
                  </a:lnTo>
                  <a:lnTo>
                    <a:pt x="10464" y="12186"/>
                  </a:lnTo>
                  <a:lnTo>
                    <a:pt x="10394" y="12191"/>
                  </a:lnTo>
                  <a:lnTo>
                    <a:pt x="10325" y="12195"/>
                  </a:lnTo>
                  <a:lnTo>
                    <a:pt x="10255" y="12198"/>
                  </a:lnTo>
                  <a:lnTo>
                    <a:pt x="10185" y="12200"/>
                  </a:lnTo>
                  <a:lnTo>
                    <a:pt x="10115" y="12200"/>
                  </a:lnTo>
                  <a:lnTo>
                    <a:pt x="10061" y="12200"/>
                  </a:lnTo>
                  <a:lnTo>
                    <a:pt x="10006" y="12199"/>
                  </a:lnTo>
                  <a:lnTo>
                    <a:pt x="9951" y="12197"/>
                  </a:lnTo>
                  <a:lnTo>
                    <a:pt x="9897" y="12195"/>
                  </a:lnTo>
                  <a:lnTo>
                    <a:pt x="9844" y="12193"/>
                  </a:lnTo>
                  <a:lnTo>
                    <a:pt x="9790" y="12189"/>
                  </a:lnTo>
                  <a:lnTo>
                    <a:pt x="9737" y="12185"/>
                  </a:lnTo>
                  <a:lnTo>
                    <a:pt x="9685" y="12180"/>
                  </a:lnTo>
                  <a:lnTo>
                    <a:pt x="9633" y="12175"/>
                  </a:lnTo>
                  <a:lnTo>
                    <a:pt x="9581" y="12169"/>
                  </a:lnTo>
                  <a:lnTo>
                    <a:pt x="9531" y="12162"/>
                  </a:lnTo>
                  <a:lnTo>
                    <a:pt x="9480" y="12155"/>
                  </a:lnTo>
                  <a:lnTo>
                    <a:pt x="9429" y="12147"/>
                  </a:lnTo>
                  <a:lnTo>
                    <a:pt x="9380" y="12139"/>
                  </a:lnTo>
                  <a:lnTo>
                    <a:pt x="9330" y="12130"/>
                  </a:lnTo>
                  <a:lnTo>
                    <a:pt x="9280" y="12121"/>
                  </a:lnTo>
                  <a:lnTo>
                    <a:pt x="9232" y="12111"/>
                  </a:lnTo>
                  <a:lnTo>
                    <a:pt x="9184" y="12100"/>
                  </a:lnTo>
                  <a:lnTo>
                    <a:pt x="9135" y="12089"/>
                  </a:lnTo>
                  <a:lnTo>
                    <a:pt x="9089" y="12076"/>
                  </a:lnTo>
                  <a:lnTo>
                    <a:pt x="9041" y="12063"/>
                  </a:lnTo>
                  <a:lnTo>
                    <a:pt x="8995" y="12050"/>
                  </a:lnTo>
                  <a:lnTo>
                    <a:pt x="8949" y="12037"/>
                  </a:lnTo>
                  <a:lnTo>
                    <a:pt x="8903" y="12022"/>
                  </a:lnTo>
                  <a:lnTo>
                    <a:pt x="8858" y="12008"/>
                  </a:lnTo>
                  <a:lnTo>
                    <a:pt x="8813" y="11991"/>
                  </a:lnTo>
                  <a:lnTo>
                    <a:pt x="8769" y="11975"/>
                  </a:lnTo>
                  <a:lnTo>
                    <a:pt x="8724" y="11959"/>
                  </a:lnTo>
                  <a:lnTo>
                    <a:pt x="8681" y="11941"/>
                  </a:lnTo>
                  <a:lnTo>
                    <a:pt x="8638" y="11924"/>
                  </a:lnTo>
                  <a:lnTo>
                    <a:pt x="8594" y="11904"/>
                  </a:lnTo>
                  <a:lnTo>
                    <a:pt x="8553" y="11885"/>
                  </a:lnTo>
                  <a:lnTo>
                    <a:pt x="8498" y="11860"/>
                  </a:lnTo>
                  <a:lnTo>
                    <a:pt x="8446" y="11833"/>
                  </a:lnTo>
                  <a:lnTo>
                    <a:pt x="8396" y="11806"/>
                  </a:lnTo>
                  <a:lnTo>
                    <a:pt x="8347" y="11778"/>
                  </a:lnTo>
                  <a:lnTo>
                    <a:pt x="8300" y="11749"/>
                  </a:lnTo>
                  <a:lnTo>
                    <a:pt x="8255" y="11720"/>
                  </a:lnTo>
                  <a:lnTo>
                    <a:pt x="8210" y="11690"/>
                  </a:lnTo>
                  <a:lnTo>
                    <a:pt x="8169" y="11658"/>
                  </a:lnTo>
                  <a:lnTo>
                    <a:pt x="8128" y="11627"/>
                  </a:lnTo>
                  <a:lnTo>
                    <a:pt x="8090" y="11595"/>
                  </a:lnTo>
                  <a:lnTo>
                    <a:pt x="8053" y="11562"/>
                  </a:lnTo>
                  <a:lnTo>
                    <a:pt x="8018" y="11529"/>
                  </a:lnTo>
                  <a:lnTo>
                    <a:pt x="7984" y="11494"/>
                  </a:lnTo>
                  <a:lnTo>
                    <a:pt x="7952" y="11459"/>
                  </a:lnTo>
                  <a:lnTo>
                    <a:pt x="7923" y="11423"/>
                  </a:lnTo>
                  <a:lnTo>
                    <a:pt x="7894" y="11387"/>
                  </a:lnTo>
                  <a:lnTo>
                    <a:pt x="7867" y="11349"/>
                  </a:lnTo>
                  <a:lnTo>
                    <a:pt x="7843" y="11312"/>
                  </a:lnTo>
                  <a:lnTo>
                    <a:pt x="7819" y="11272"/>
                  </a:lnTo>
                  <a:lnTo>
                    <a:pt x="7797" y="11233"/>
                  </a:lnTo>
                  <a:lnTo>
                    <a:pt x="7778" y="11194"/>
                  </a:lnTo>
                  <a:lnTo>
                    <a:pt x="7760" y="11152"/>
                  </a:lnTo>
                  <a:lnTo>
                    <a:pt x="7743" y="11110"/>
                  </a:lnTo>
                  <a:lnTo>
                    <a:pt x="7728" y="11068"/>
                  </a:lnTo>
                  <a:lnTo>
                    <a:pt x="7716" y="11025"/>
                  </a:lnTo>
                  <a:lnTo>
                    <a:pt x="7704" y="10982"/>
                  </a:lnTo>
                  <a:lnTo>
                    <a:pt x="7695" y="10937"/>
                  </a:lnTo>
                  <a:lnTo>
                    <a:pt x="7687" y="10892"/>
                  </a:lnTo>
                  <a:lnTo>
                    <a:pt x="7680" y="10846"/>
                  </a:lnTo>
                  <a:lnTo>
                    <a:pt x="7676" y="10800"/>
                  </a:lnTo>
                  <a:lnTo>
                    <a:pt x="7674" y="10752"/>
                  </a:lnTo>
                  <a:lnTo>
                    <a:pt x="7673" y="10703"/>
                  </a:lnTo>
                  <a:lnTo>
                    <a:pt x="7674" y="10644"/>
                  </a:lnTo>
                  <a:lnTo>
                    <a:pt x="7678" y="10584"/>
                  </a:lnTo>
                  <a:lnTo>
                    <a:pt x="7685" y="10525"/>
                  </a:lnTo>
                  <a:lnTo>
                    <a:pt x="7694" y="10468"/>
                  </a:lnTo>
                  <a:lnTo>
                    <a:pt x="7706" y="10410"/>
                  </a:lnTo>
                  <a:lnTo>
                    <a:pt x="7720" y="10353"/>
                  </a:lnTo>
                  <a:lnTo>
                    <a:pt x="7736" y="10297"/>
                  </a:lnTo>
                  <a:lnTo>
                    <a:pt x="7755" y="10243"/>
                  </a:lnTo>
                  <a:lnTo>
                    <a:pt x="7778" y="10188"/>
                  </a:lnTo>
                  <a:lnTo>
                    <a:pt x="7802" y="10134"/>
                  </a:lnTo>
                  <a:lnTo>
                    <a:pt x="7829" y="10081"/>
                  </a:lnTo>
                  <a:lnTo>
                    <a:pt x="7859" y="10029"/>
                  </a:lnTo>
                  <a:lnTo>
                    <a:pt x="7891" y="9978"/>
                  </a:lnTo>
                  <a:lnTo>
                    <a:pt x="7926" y="9926"/>
                  </a:lnTo>
                  <a:lnTo>
                    <a:pt x="7963" y="9876"/>
                  </a:lnTo>
                  <a:lnTo>
                    <a:pt x="8004" y="9827"/>
                  </a:lnTo>
                  <a:lnTo>
                    <a:pt x="8046" y="9777"/>
                  </a:lnTo>
                  <a:lnTo>
                    <a:pt x="8091" y="9729"/>
                  </a:lnTo>
                  <a:lnTo>
                    <a:pt x="8138" y="9682"/>
                  </a:lnTo>
                  <a:lnTo>
                    <a:pt x="8189" y="9635"/>
                  </a:lnTo>
                  <a:lnTo>
                    <a:pt x="8242" y="9589"/>
                  </a:lnTo>
                  <a:lnTo>
                    <a:pt x="8297" y="9544"/>
                  </a:lnTo>
                  <a:lnTo>
                    <a:pt x="8354" y="9500"/>
                  </a:lnTo>
                  <a:lnTo>
                    <a:pt x="8415" y="9455"/>
                  </a:lnTo>
                  <a:lnTo>
                    <a:pt x="8478" y="9413"/>
                  </a:lnTo>
                  <a:lnTo>
                    <a:pt x="8544" y="9370"/>
                  </a:lnTo>
                  <a:lnTo>
                    <a:pt x="8612" y="9328"/>
                  </a:lnTo>
                  <a:lnTo>
                    <a:pt x="8683" y="9287"/>
                  </a:lnTo>
                  <a:lnTo>
                    <a:pt x="8756" y="9246"/>
                  </a:lnTo>
                  <a:lnTo>
                    <a:pt x="8832" y="9207"/>
                  </a:lnTo>
                  <a:lnTo>
                    <a:pt x="8910" y="9169"/>
                  </a:lnTo>
                  <a:lnTo>
                    <a:pt x="8991" y="9130"/>
                  </a:lnTo>
                  <a:lnTo>
                    <a:pt x="9056" y="9100"/>
                  </a:lnTo>
                  <a:lnTo>
                    <a:pt x="9123" y="9070"/>
                  </a:lnTo>
                  <a:lnTo>
                    <a:pt x="9189" y="9042"/>
                  </a:lnTo>
                  <a:lnTo>
                    <a:pt x="9256" y="9014"/>
                  </a:lnTo>
                  <a:lnTo>
                    <a:pt x="9322" y="8987"/>
                  </a:lnTo>
                  <a:lnTo>
                    <a:pt x="9389" y="8962"/>
                  </a:lnTo>
                  <a:lnTo>
                    <a:pt x="9456" y="8938"/>
                  </a:lnTo>
                  <a:lnTo>
                    <a:pt x="9522" y="8913"/>
                  </a:lnTo>
                  <a:lnTo>
                    <a:pt x="9588" y="8891"/>
                  </a:lnTo>
                  <a:lnTo>
                    <a:pt x="9655" y="8869"/>
                  </a:lnTo>
                  <a:lnTo>
                    <a:pt x="9722" y="8849"/>
                  </a:lnTo>
                  <a:lnTo>
                    <a:pt x="9789" y="8828"/>
                  </a:lnTo>
                  <a:lnTo>
                    <a:pt x="9856" y="8810"/>
                  </a:lnTo>
                  <a:lnTo>
                    <a:pt x="9923" y="8792"/>
                  </a:lnTo>
                  <a:lnTo>
                    <a:pt x="9990" y="8775"/>
                  </a:lnTo>
                  <a:lnTo>
                    <a:pt x="10056" y="8758"/>
                  </a:lnTo>
                  <a:lnTo>
                    <a:pt x="10124" y="8744"/>
                  </a:lnTo>
                  <a:lnTo>
                    <a:pt x="10191" y="8730"/>
                  </a:lnTo>
                  <a:lnTo>
                    <a:pt x="10258" y="8717"/>
                  </a:lnTo>
                  <a:lnTo>
                    <a:pt x="10326" y="8705"/>
                  </a:lnTo>
                  <a:lnTo>
                    <a:pt x="10394" y="8694"/>
                  </a:lnTo>
                  <a:lnTo>
                    <a:pt x="10461" y="8684"/>
                  </a:lnTo>
                  <a:lnTo>
                    <a:pt x="10529" y="8674"/>
                  </a:lnTo>
                  <a:lnTo>
                    <a:pt x="10597" y="8666"/>
                  </a:lnTo>
                  <a:lnTo>
                    <a:pt x="10664" y="8659"/>
                  </a:lnTo>
                  <a:lnTo>
                    <a:pt x="10732" y="8652"/>
                  </a:lnTo>
                  <a:lnTo>
                    <a:pt x="10800" y="8647"/>
                  </a:lnTo>
                  <a:lnTo>
                    <a:pt x="10868" y="8643"/>
                  </a:lnTo>
                  <a:lnTo>
                    <a:pt x="10936" y="8639"/>
                  </a:lnTo>
                  <a:lnTo>
                    <a:pt x="11004" y="8637"/>
                  </a:lnTo>
                  <a:lnTo>
                    <a:pt x="11073" y="8636"/>
                  </a:lnTo>
                  <a:lnTo>
                    <a:pt x="11141" y="8635"/>
                  </a:lnTo>
                  <a:lnTo>
                    <a:pt x="11237" y="8636"/>
                  </a:lnTo>
                  <a:lnTo>
                    <a:pt x="11332" y="8639"/>
                  </a:lnTo>
                  <a:lnTo>
                    <a:pt x="11426" y="8644"/>
                  </a:lnTo>
                  <a:lnTo>
                    <a:pt x="11519" y="8650"/>
                  </a:lnTo>
                  <a:lnTo>
                    <a:pt x="11564" y="8654"/>
                  </a:lnTo>
                  <a:lnTo>
                    <a:pt x="11609" y="8658"/>
                  </a:lnTo>
                  <a:lnTo>
                    <a:pt x="11653" y="8663"/>
                  </a:lnTo>
                  <a:lnTo>
                    <a:pt x="11698" y="8669"/>
                  </a:lnTo>
                  <a:lnTo>
                    <a:pt x="11786" y="8682"/>
                  </a:lnTo>
                  <a:lnTo>
                    <a:pt x="11872" y="8695"/>
                  </a:lnTo>
                  <a:lnTo>
                    <a:pt x="11915" y="8703"/>
                  </a:lnTo>
                  <a:lnTo>
                    <a:pt x="11957" y="8711"/>
                  </a:lnTo>
                  <a:lnTo>
                    <a:pt x="11999" y="8720"/>
                  </a:lnTo>
                  <a:lnTo>
                    <a:pt x="12041" y="8729"/>
                  </a:lnTo>
                  <a:lnTo>
                    <a:pt x="12082" y="8738"/>
                  </a:lnTo>
                  <a:lnTo>
                    <a:pt x="12122" y="8748"/>
                  </a:lnTo>
                  <a:lnTo>
                    <a:pt x="12163" y="8758"/>
                  </a:lnTo>
                  <a:lnTo>
                    <a:pt x="12204" y="8770"/>
                  </a:lnTo>
                  <a:lnTo>
                    <a:pt x="12243" y="8781"/>
                  </a:lnTo>
                  <a:lnTo>
                    <a:pt x="12283" y="8793"/>
                  </a:lnTo>
                  <a:lnTo>
                    <a:pt x="12322" y="8805"/>
                  </a:lnTo>
                  <a:lnTo>
                    <a:pt x="12361" y="8817"/>
                  </a:lnTo>
                  <a:lnTo>
                    <a:pt x="12399" y="8830"/>
                  </a:lnTo>
                  <a:lnTo>
                    <a:pt x="12437" y="8845"/>
                  </a:lnTo>
                  <a:lnTo>
                    <a:pt x="12474" y="8859"/>
                  </a:lnTo>
                  <a:lnTo>
                    <a:pt x="12512" y="8873"/>
                  </a:lnTo>
                  <a:lnTo>
                    <a:pt x="12512" y="3835"/>
                  </a:lnTo>
                  <a:lnTo>
                    <a:pt x="5784" y="6812"/>
                  </a:lnTo>
                  <a:lnTo>
                    <a:pt x="5784" y="13773"/>
                  </a:lnTo>
                  <a:lnTo>
                    <a:pt x="5783" y="13837"/>
                  </a:lnTo>
                  <a:lnTo>
                    <a:pt x="5779" y="13899"/>
                  </a:lnTo>
                  <a:lnTo>
                    <a:pt x="5774" y="13961"/>
                  </a:lnTo>
                  <a:lnTo>
                    <a:pt x="5764" y="14022"/>
                  </a:lnTo>
                  <a:lnTo>
                    <a:pt x="5754" y="14083"/>
                  </a:lnTo>
                  <a:lnTo>
                    <a:pt x="5741" y="14144"/>
                  </a:lnTo>
                  <a:lnTo>
                    <a:pt x="5726" y="14204"/>
                  </a:lnTo>
                  <a:lnTo>
                    <a:pt x="5709" y="14262"/>
                  </a:lnTo>
                  <a:lnTo>
                    <a:pt x="5688" y="14321"/>
                  </a:lnTo>
                  <a:lnTo>
                    <a:pt x="5666" y="14379"/>
                  </a:lnTo>
                  <a:lnTo>
                    <a:pt x="5642" y="14437"/>
                  </a:lnTo>
                  <a:lnTo>
                    <a:pt x="5615" y="14493"/>
                  </a:lnTo>
                  <a:lnTo>
                    <a:pt x="5586" y="14550"/>
                  </a:lnTo>
                  <a:lnTo>
                    <a:pt x="5554" y="14606"/>
                  </a:lnTo>
                  <a:lnTo>
                    <a:pt x="5520" y="14660"/>
                  </a:lnTo>
                  <a:lnTo>
                    <a:pt x="5484" y="14715"/>
                  </a:lnTo>
                  <a:lnTo>
                    <a:pt x="5445" y="14770"/>
                  </a:lnTo>
                  <a:lnTo>
                    <a:pt x="5404" y="14823"/>
                  </a:lnTo>
                  <a:lnTo>
                    <a:pt x="5360" y="14876"/>
                  </a:lnTo>
                  <a:lnTo>
                    <a:pt x="5315" y="14929"/>
                  </a:lnTo>
                  <a:lnTo>
                    <a:pt x="5267" y="14980"/>
                  </a:lnTo>
                  <a:lnTo>
                    <a:pt x="5216" y="15032"/>
                  </a:lnTo>
                  <a:lnTo>
                    <a:pt x="5164" y="15083"/>
                  </a:lnTo>
                  <a:lnTo>
                    <a:pt x="5108" y="15133"/>
                  </a:lnTo>
                  <a:lnTo>
                    <a:pt x="5050" y="15183"/>
                  </a:lnTo>
                  <a:lnTo>
                    <a:pt x="4990" y="15232"/>
                  </a:lnTo>
                  <a:lnTo>
                    <a:pt x="4929" y="15281"/>
                  </a:lnTo>
                  <a:lnTo>
                    <a:pt x="4864" y="15329"/>
                  </a:lnTo>
                  <a:lnTo>
                    <a:pt x="4797" y="15376"/>
                  </a:lnTo>
                  <a:lnTo>
                    <a:pt x="4728" y="15424"/>
                  </a:lnTo>
                  <a:lnTo>
                    <a:pt x="4656" y="15470"/>
                  </a:lnTo>
                  <a:lnTo>
                    <a:pt x="4582" y="15516"/>
                  </a:lnTo>
                  <a:lnTo>
                    <a:pt x="4515" y="15555"/>
                  </a:lnTo>
                  <a:lnTo>
                    <a:pt x="4449" y="15593"/>
                  </a:lnTo>
                  <a:lnTo>
                    <a:pt x="4382" y="15630"/>
                  </a:lnTo>
                  <a:lnTo>
                    <a:pt x="4317" y="15666"/>
                  </a:lnTo>
                  <a:lnTo>
                    <a:pt x="4250" y="15700"/>
                  </a:lnTo>
                  <a:lnTo>
                    <a:pt x="4184" y="15734"/>
                  </a:lnTo>
                  <a:lnTo>
                    <a:pt x="4117" y="15765"/>
                  </a:lnTo>
                  <a:lnTo>
                    <a:pt x="4050" y="15795"/>
                  </a:lnTo>
                  <a:lnTo>
                    <a:pt x="3983" y="15826"/>
                  </a:lnTo>
                  <a:lnTo>
                    <a:pt x="3916" y="15853"/>
                  </a:lnTo>
                  <a:lnTo>
                    <a:pt x="3849" y="15880"/>
                  </a:lnTo>
                  <a:lnTo>
                    <a:pt x="3783" y="15906"/>
                  </a:lnTo>
                  <a:lnTo>
                    <a:pt x="3716" y="15930"/>
                  </a:lnTo>
                  <a:lnTo>
                    <a:pt x="3649" y="15953"/>
                  </a:lnTo>
                  <a:lnTo>
                    <a:pt x="3582" y="15976"/>
                  </a:lnTo>
                  <a:lnTo>
                    <a:pt x="3515" y="15996"/>
                  </a:lnTo>
                  <a:lnTo>
                    <a:pt x="3448" y="16015"/>
                  </a:lnTo>
                  <a:lnTo>
                    <a:pt x="3380" y="16033"/>
                  </a:lnTo>
                  <a:lnTo>
                    <a:pt x="3313" y="16050"/>
                  </a:lnTo>
                  <a:lnTo>
                    <a:pt x="3246" y="16067"/>
                  </a:lnTo>
                  <a:lnTo>
                    <a:pt x="3179" y="16081"/>
                  </a:lnTo>
                  <a:lnTo>
                    <a:pt x="3111" y="16094"/>
                  </a:lnTo>
                  <a:lnTo>
                    <a:pt x="3043" y="16106"/>
                  </a:lnTo>
                  <a:lnTo>
                    <a:pt x="2976" y="16116"/>
                  </a:lnTo>
                  <a:lnTo>
                    <a:pt x="2908" y="16126"/>
                  </a:lnTo>
                  <a:lnTo>
                    <a:pt x="2840" y="16135"/>
                  </a:lnTo>
                  <a:lnTo>
                    <a:pt x="2772" y="16141"/>
                  </a:lnTo>
                  <a:lnTo>
                    <a:pt x="2704" y="16147"/>
                  </a:lnTo>
                  <a:lnTo>
                    <a:pt x="2636" y="16151"/>
                  </a:lnTo>
                  <a:lnTo>
                    <a:pt x="2568" y="16154"/>
                  </a:lnTo>
                  <a:lnTo>
                    <a:pt x="2500" y="16156"/>
                  </a:lnTo>
                  <a:lnTo>
                    <a:pt x="2431" y="16157"/>
                  </a:lnTo>
                  <a:lnTo>
                    <a:pt x="2376" y="16157"/>
                  </a:lnTo>
                  <a:lnTo>
                    <a:pt x="2323" y="16156"/>
                  </a:lnTo>
                  <a:lnTo>
                    <a:pt x="2269" y="16154"/>
                  </a:lnTo>
                  <a:lnTo>
                    <a:pt x="2215" y="16152"/>
                  </a:lnTo>
                  <a:lnTo>
                    <a:pt x="2162" y="16150"/>
                  </a:lnTo>
                  <a:lnTo>
                    <a:pt x="2110" y="16146"/>
                  </a:lnTo>
                  <a:lnTo>
                    <a:pt x="2057" y="16142"/>
                  </a:lnTo>
                  <a:lnTo>
                    <a:pt x="2005" y="16138"/>
                  </a:lnTo>
                  <a:lnTo>
                    <a:pt x="1954" y="16132"/>
                  </a:lnTo>
                  <a:lnTo>
                    <a:pt x="1903" y="16126"/>
                  </a:lnTo>
                  <a:lnTo>
                    <a:pt x="1852" y="16120"/>
                  </a:lnTo>
                  <a:lnTo>
                    <a:pt x="1802" y="16113"/>
                  </a:lnTo>
                  <a:lnTo>
                    <a:pt x="1752" y="16105"/>
                  </a:lnTo>
                  <a:lnTo>
                    <a:pt x="1702" y="16097"/>
                  </a:lnTo>
                  <a:lnTo>
                    <a:pt x="1654" y="16088"/>
                  </a:lnTo>
                  <a:lnTo>
                    <a:pt x="1605" y="16079"/>
                  </a:lnTo>
                  <a:lnTo>
                    <a:pt x="1557" y="16069"/>
                  </a:lnTo>
                  <a:lnTo>
                    <a:pt x="1509" y="16058"/>
                  </a:lnTo>
                  <a:lnTo>
                    <a:pt x="1461" y="16046"/>
                  </a:lnTo>
                  <a:lnTo>
                    <a:pt x="1414" y="16034"/>
                  </a:lnTo>
                  <a:lnTo>
                    <a:pt x="1367" y="16022"/>
                  </a:lnTo>
                  <a:lnTo>
                    <a:pt x="1321" y="16009"/>
                  </a:lnTo>
                  <a:lnTo>
                    <a:pt x="1275" y="15995"/>
                  </a:lnTo>
                  <a:lnTo>
                    <a:pt x="1229" y="15981"/>
                  </a:lnTo>
                  <a:lnTo>
                    <a:pt x="1185" y="15965"/>
                  </a:lnTo>
                  <a:lnTo>
                    <a:pt x="1140" y="15949"/>
                  </a:lnTo>
                  <a:lnTo>
                    <a:pt x="1096" y="15933"/>
                  </a:lnTo>
                  <a:lnTo>
                    <a:pt x="1051" y="15916"/>
                  </a:lnTo>
                  <a:lnTo>
                    <a:pt x="1007" y="15899"/>
                  </a:lnTo>
                  <a:lnTo>
                    <a:pt x="965" y="15880"/>
                  </a:lnTo>
                  <a:lnTo>
                    <a:pt x="922" y="15861"/>
                  </a:lnTo>
                  <a:lnTo>
                    <a:pt x="880" y="15842"/>
                  </a:lnTo>
                  <a:lnTo>
                    <a:pt x="826" y="15818"/>
                  </a:lnTo>
                  <a:lnTo>
                    <a:pt x="773" y="15791"/>
                  </a:lnTo>
                  <a:lnTo>
                    <a:pt x="723" y="15765"/>
                  </a:lnTo>
                  <a:lnTo>
                    <a:pt x="674" y="15738"/>
                  </a:lnTo>
                  <a:lnTo>
                    <a:pt x="627" y="15710"/>
                  </a:lnTo>
                  <a:lnTo>
                    <a:pt x="582" y="15681"/>
                  </a:lnTo>
                  <a:lnTo>
                    <a:pt x="538" y="15652"/>
                  </a:lnTo>
                  <a:lnTo>
                    <a:pt x="496" y="15621"/>
                  </a:lnTo>
                  <a:lnTo>
                    <a:pt x="455" y="15590"/>
                  </a:lnTo>
                  <a:lnTo>
                    <a:pt x="417" y="15558"/>
                  </a:lnTo>
                  <a:lnTo>
                    <a:pt x="380" y="15526"/>
                  </a:lnTo>
                  <a:lnTo>
                    <a:pt x="345" y="15493"/>
                  </a:lnTo>
                  <a:lnTo>
                    <a:pt x="311" y="15458"/>
                  </a:lnTo>
                  <a:lnTo>
                    <a:pt x="280" y="15423"/>
                  </a:lnTo>
                  <a:lnTo>
                    <a:pt x="249" y="15387"/>
                  </a:lnTo>
                  <a:lnTo>
                    <a:pt x="221" y="15351"/>
                  </a:lnTo>
                  <a:lnTo>
                    <a:pt x="195" y="15313"/>
                  </a:lnTo>
                  <a:lnTo>
                    <a:pt x="169" y="15275"/>
                  </a:lnTo>
                  <a:lnTo>
                    <a:pt x="146" y="15236"/>
                  </a:lnTo>
                  <a:lnTo>
                    <a:pt x="125" y="15196"/>
                  </a:lnTo>
                  <a:lnTo>
                    <a:pt x="105" y="15156"/>
                  </a:lnTo>
                  <a:lnTo>
                    <a:pt x="86" y="15115"/>
                  </a:lnTo>
                  <a:lnTo>
                    <a:pt x="70" y="15072"/>
                  </a:lnTo>
                  <a:lnTo>
                    <a:pt x="56" y="15030"/>
                  </a:lnTo>
                  <a:lnTo>
                    <a:pt x="43" y="14986"/>
                  </a:lnTo>
                  <a:lnTo>
                    <a:pt x="32" y="14942"/>
                  </a:lnTo>
                  <a:lnTo>
                    <a:pt x="22" y="14897"/>
                  </a:lnTo>
                  <a:lnTo>
                    <a:pt x="14" y="14851"/>
                  </a:lnTo>
                  <a:lnTo>
                    <a:pt x="8" y="14804"/>
                  </a:lnTo>
                  <a:lnTo>
                    <a:pt x="3" y="14758"/>
                  </a:lnTo>
                  <a:lnTo>
                    <a:pt x="1" y="14709"/>
                  </a:lnTo>
                  <a:lnTo>
                    <a:pt x="0" y="14660"/>
                  </a:lnTo>
                  <a:lnTo>
                    <a:pt x="1" y="14601"/>
                  </a:lnTo>
                  <a:lnTo>
                    <a:pt x="5" y="14542"/>
                  </a:lnTo>
                  <a:lnTo>
                    <a:pt x="11" y="14484"/>
                  </a:lnTo>
                  <a:lnTo>
                    <a:pt x="20" y="14426"/>
                  </a:lnTo>
                  <a:lnTo>
                    <a:pt x="33" y="14370"/>
                  </a:lnTo>
                  <a:lnTo>
                    <a:pt x="46" y="14314"/>
                  </a:lnTo>
                  <a:lnTo>
                    <a:pt x="63" y="14258"/>
                  </a:lnTo>
                  <a:lnTo>
                    <a:pt x="82" y="14204"/>
                  </a:lnTo>
                  <a:lnTo>
                    <a:pt x="104" y="14150"/>
                  </a:lnTo>
                  <a:lnTo>
                    <a:pt x="128" y="14096"/>
                  </a:lnTo>
                  <a:lnTo>
                    <a:pt x="155" y="14044"/>
                  </a:lnTo>
                  <a:lnTo>
                    <a:pt x="185" y="13992"/>
                  </a:lnTo>
                  <a:lnTo>
                    <a:pt x="216" y="13940"/>
                  </a:lnTo>
                  <a:lnTo>
                    <a:pt x="250" y="13890"/>
                  </a:lnTo>
                  <a:lnTo>
                    <a:pt x="288" y="13839"/>
                  </a:lnTo>
                  <a:lnTo>
                    <a:pt x="327" y="13790"/>
                  </a:lnTo>
                  <a:lnTo>
                    <a:pt x="370" y="13741"/>
                  </a:lnTo>
                  <a:lnTo>
                    <a:pt x="415" y="13693"/>
                  </a:lnTo>
                  <a:lnTo>
                    <a:pt x="461" y="13646"/>
                  </a:lnTo>
                  <a:lnTo>
                    <a:pt x="511" y="13599"/>
                  </a:lnTo>
                  <a:lnTo>
                    <a:pt x="564" y="13553"/>
                  </a:lnTo>
                  <a:lnTo>
                    <a:pt x="618" y="13507"/>
                  </a:lnTo>
                  <a:lnTo>
                    <a:pt x="676" y="13463"/>
                  </a:lnTo>
                  <a:lnTo>
                    <a:pt x="736" y="13418"/>
                  </a:lnTo>
                  <a:lnTo>
                    <a:pt x="799" y="13374"/>
                  </a:lnTo>
                  <a:lnTo>
                    <a:pt x="863" y="13331"/>
                  </a:lnTo>
                  <a:lnTo>
                    <a:pt x="930" y="13289"/>
                  </a:lnTo>
                  <a:lnTo>
                    <a:pt x="1000" y="13247"/>
                  </a:lnTo>
                  <a:lnTo>
                    <a:pt x="1073" y="13206"/>
                  </a:lnTo>
                  <a:lnTo>
                    <a:pt x="1148" y="13166"/>
                  </a:lnTo>
                  <a:lnTo>
                    <a:pt x="1226" y="13126"/>
                  </a:lnTo>
                  <a:lnTo>
                    <a:pt x="1306" y="13087"/>
                  </a:lnTo>
                  <a:lnTo>
                    <a:pt x="1372" y="13057"/>
                  </a:lnTo>
                  <a:lnTo>
                    <a:pt x="1438" y="13027"/>
                  </a:lnTo>
                  <a:lnTo>
                    <a:pt x="1505" y="12998"/>
                  </a:lnTo>
                  <a:lnTo>
                    <a:pt x="1572" y="12970"/>
                  </a:lnTo>
                  <a:lnTo>
                    <a:pt x="1638" y="12944"/>
                  </a:lnTo>
                  <a:lnTo>
                    <a:pt x="1704" y="12919"/>
                  </a:lnTo>
                  <a:lnTo>
                    <a:pt x="1770" y="12894"/>
                  </a:lnTo>
                  <a:lnTo>
                    <a:pt x="1837" y="12870"/>
                  </a:lnTo>
                  <a:lnTo>
                    <a:pt x="1904" y="12848"/>
                  </a:lnTo>
                  <a:lnTo>
                    <a:pt x="1971" y="12826"/>
                  </a:lnTo>
                  <a:lnTo>
                    <a:pt x="2038" y="12805"/>
                  </a:lnTo>
                  <a:lnTo>
                    <a:pt x="2105" y="12785"/>
                  </a:lnTo>
                  <a:lnTo>
                    <a:pt x="2172" y="12766"/>
                  </a:lnTo>
                  <a:lnTo>
                    <a:pt x="2238" y="12749"/>
                  </a:lnTo>
                  <a:lnTo>
                    <a:pt x="2305" y="12732"/>
                  </a:lnTo>
                  <a:lnTo>
                    <a:pt x="2372" y="12715"/>
                  </a:lnTo>
                  <a:lnTo>
                    <a:pt x="2440" y="12700"/>
                  </a:lnTo>
                  <a:lnTo>
                    <a:pt x="2507" y="12687"/>
                  </a:lnTo>
                  <a:lnTo>
                    <a:pt x="2574" y="12674"/>
                  </a:lnTo>
                  <a:lnTo>
                    <a:pt x="2642" y="12662"/>
                  </a:lnTo>
                  <a:lnTo>
                    <a:pt x="2709" y="12651"/>
                  </a:lnTo>
                  <a:lnTo>
                    <a:pt x="2776" y="12640"/>
                  </a:lnTo>
                  <a:lnTo>
                    <a:pt x="2844" y="12631"/>
                  </a:lnTo>
                  <a:lnTo>
                    <a:pt x="2912" y="12622"/>
                  </a:lnTo>
                  <a:lnTo>
                    <a:pt x="2980" y="12615"/>
                  </a:lnTo>
                  <a:lnTo>
                    <a:pt x="3048" y="12609"/>
                  </a:lnTo>
                  <a:lnTo>
                    <a:pt x="3116" y="12604"/>
                  </a:lnTo>
                  <a:lnTo>
                    <a:pt x="3184" y="12599"/>
                  </a:lnTo>
                  <a:lnTo>
                    <a:pt x="3252" y="12596"/>
                  </a:lnTo>
                  <a:lnTo>
                    <a:pt x="3320" y="12594"/>
                  </a:lnTo>
                  <a:lnTo>
                    <a:pt x="3388" y="12592"/>
                  </a:lnTo>
                  <a:lnTo>
                    <a:pt x="3456" y="12592"/>
                  </a:lnTo>
                  <a:lnTo>
                    <a:pt x="3549" y="12593"/>
                  </a:lnTo>
                  <a:lnTo>
                    <a:pt x="3640" y="12595"/>
                  </a:lnTo>
                  <a:lnTo>
                    <a:pt x="3730" y="12600"/>
                  </a:lnTo>
                  <a:lnTo>
                    <a:pt x="3818" y="12606"/>
                  </a:lnTo>
                  <a:lnTo>
                    <a:pt x="3905" y="12614"/>
                  </a:lnTo>
                  <a:lnTo>
                    <a:pt x="3991" y="12624"/>
                  </a:lnTo>
                  <a:lnTo>
                    <a:pt x="4076" y="12635"/>
                  </a:lnTo>
                  <a:lnTo>
                    <a:pt x="4160" y="12648"/>
                  </a:lnTo>
                  <a:lnTo>
                    <a:pt x="4242" y="12664"/>
                  </a:lnTo>
                  <a:lnTo>
                    <a:pt x="4324" y="12681"/>
                  </a:lnTo>
                  <a:lnTo>
                    <a:pt x="4403" y="12699"/>
                  </a:lnTo>
                  <a:lnTo>
                    <a:pt x="4482" y="12719"/>
                  </a:lnTo>
                  <a:lnTo>
                    <a:pt x="4560" y="12742"/>
                  </a:lnTo>
                  <a:lnTo>
                    <a:pt x="4636" y="12765"/>
                  </a:lnTo>
                  <a:lnTo>
                    <a:pt x="4711" y="12791"/>
                  </a:lnTo>
                  <a:lnTo>
                    <a:pt x="4786" y="12818"/>
                  </a:lnTo>
                  <a:lnTo>
                    <a:pt x="4786" y="3846"/>
                  </a:lnTo>
                  <a:lnTo>
                    <a:pt x="13526" y="0"/>
                  </a:lnTo>
                  <a:lnTo>
                    <a:pt x="13526" y="9859"/>
                  </a:lnTo>
                </a:path>
              </a:pathLst>
            </a:custGeom>
            <a:solidFill>
              <a:srgbClr val="584F59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95268" grpId="0"/>
      <p:bldP spid="395269" grpId="0" animBg="1"/>
      <p:bldP spid="25" grpId="0" build="p" bldLvl="5"/>
      <p:bldP spid="25" grpId="1"/>
      <p:bldP spid="26" grpId="0" build="p" bldLvl="5"/>
      <p:bldP spid="27" grpId="0" build="p" bldLvl="5"/>
      <p:bldP spid="28" grpId="0" build="p" bldLvl="5"/>
      <p:bldP spid="29" grpId="0" build="p" bldLvl="5"/>
      <p:bldP spid="30" grpId="0" build="p" bldLvl="5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示例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984D4D3-422D-4F4F-A504-A95D1F590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6761"/>
              </p:ext>
            </p:extLst>
          </p:nvPr>
        </p:nvGraphicFramePr>
        <p:xfrm>
          <a:off x="2014507" y="2276713"/>
          <a:ext cx="4830237" cy="3871976"/>
        </p:xfrm>
        <a:graphic>
          <a:graphicData uri="http://schemas.openxmlformats.org/drawingml/2006/table">
            <a:tbl>
              <a:tblPr/>
              <a:tblGrid>
                <a:gridCol w="202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学号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姓名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分数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王华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刘丽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2018006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陈明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2018009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张强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95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许兵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李萍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2018005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李英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52525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DC8DB75E-0FB2-4786-8A0A-9CAD6A29B014}"/>
              </a:ext>
            </a:extLst>
          </p:cNvPr>
          <p:cNvGrpSpPr/>
          <p:nvPr/>
        </p:nvGrpSpPr>
        <p:grpSpPr>
          <a:xfrm>
            <a:off x="593403" y="2276871"/>
            <a:ext cx="1162875" cy="3871817"/>
            <a:chOff x="285720" y="928670"/>
            <a:chExt cx="928694" cy="3214710"/>
          </a:xfrm>
        </p:grpSpPr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C532F8CC-ECAA-48AD-B0CD-0938D91E5910}"/>
                </a:ext>
              </a:extLst>
            </p:cNvPr>
            <p:cNvSpPr txBox="1"/>
            <p:nvPr/>
          </p:nvSpPr>
          <p:spPr>
            <a:xfrm>
              <a:off x="285720" y="2345455"/>
              <a:ext cx="857256" cy="383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6636AA60-840C-4611-93A0-7747823CA2E8}"/>
                </a:ext>
              </a:extLst>
            </p:cNvPr>
            <p:cNvSpPr/>
            <p:nvPr/>
          </p:nvSpPr>
          <p:spPr>
            <a:xfrm>
              <a:off x="1000100" y="928670"/>
              <a:ext cx="214314" cy="3214710"/>
            </a:xfrm>
            <a:prstGeom prst="leftBrace">
              <a:avLst/>
            </a:prstGeom>
            <a:ln w="25400">
              <a:solidFill>
                <a:srgbClr val="9677AE"/>
              </a:solidFill>
              <a:tailEnd type="non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52525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B38C234-120D-47EA-8028-DAC88912C129}"/>
              </a:ext>
            </a:extLst>
          </p:cNvPr>
          <p:cNvGrpSpPr/>
          <p:nvPr/>
        </p:nvGrpSpPr>
        <p:grpSpPr>
          <a:xfrm>
            <a:off x="3059832" y="1283335"/>
            <a:ext cx="3024336" cy="993537"/>
            <a:chOff x="2428860" y="1078141"/>
            <a:chExt cx="2143140" cy="993537"/>
          </a:xfrm>
        </p:grpSpPr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05B71392-A822-41A0-B7A7-D38C83904887}"/>
                </a:ext>
              </a:extLst>
            </p:cNvPr>
            <p:cNvSpPr txBox="1"/>
            <p:nvPr/>
          </p:nvSpPr>
          <p:spPr>
            <a:xfrm>
              <a:off x="3006482" y="1078141"/>
              <a:ext cx="11430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数据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项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BE89ECC-39A7-47D1-BCC1-1D6D2CBECED8}"/>
                </a:ext>
              </a:extLst>
            </p:cNvPr>
            <p:cNvCxnSpPr/>
            <p:nvPr/>
          </p:nvCxnSpPr>
          <p:spPr>
            <a:xfrm rot="10800000" flipV="1">
              <a:off x="2428860" y="1571612"/>
              <a:ext cx="642942" cy="500066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4D6BE9B-BAE7-4E6E-87A8-99FEDA8CAD28}"/>
                </a:ext>
              </a:extLst>
            </p:cNvPr>
            <p:cNvCxnSpPr/>
            <p:nvPr/>
          </p:nvCxnSpPr>
          <p:spPr>
            <a:xfrm>
              <a:off x="3500290" y="1567519"/>
              <a:ext cx="0" cy="504000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19FCA5F-473E-4149-BCD0-BFE0D569631A}"/>
                </a:ext>
              </a:extLst>
            </p:cNvPr>
            <p:cNvCxnSpPr/>
            <p:nvPr/>
          </p:nvCxnSpPr>
          <p:spPr>
            <a:xfrm>
              <a:off x="3807012" y="1571612"/>
              <a:ext cx="764988" cy="500066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4E043C4-6E10-4572-9AD2-E9DDF7EC4E9A}"/>
              </a:ext>
            </a:extLst>
          </p:cNvPr>
          <p:cNvGrpSpPr/>
          <p:nvPr/>
        </p:nvGrpSpPr>
        <p:grpSpPr>
          <a:xfrm>
            <a:off x="6851260" y="3080330"/>
            <a:ext cx="1991508" cy="2796942"/>
            <a:chOff x="5150914" y="2566535"/>
            <a:chExt cx="2278606" cy="2796942"/>
          </a:xfrm>
        </p:grpSpPr>
        <p:sp>
          <p:nvSpPr>
            <p:cNvPr id="35" name="TextBox 7">
              <a:extLst>
                <a:ext uri="{FF2B5EF4-FFF2-40B4-BE49-F238E27FC236}">
                  <a16:creationId xmlns:a16="http://schemas.microsoft.com/office/drawing/2014/main" id="{C399DB5E-1002-4058-BBCE-1BE6AB7CFBFB}"/>
                </a:ext>
              </a:extLst>
            </p:cNvPr>
            <p:cNvSpPr txBox="1"/>
            <p:nvPr/>
          </p:nvSpPr>
          <p:spPr>
            <a:xfrm>
              <a:off x="5786446" y="3657577"/>
              <a:ext cx="16430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 panose="020B0609020204030204" pitchFamily="49" charset="0"/>
                </a:rPr>
                <a:t>数据元素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F7ED376-CFD2-4A9D-AA59-FD595305C4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0957" y="2566535"/>
              <a:ext cx="564051" cy="1283473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0820A0F8-11F7-4648-A1AB-0A5B0A0FEC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9201" y="3935598"/>
              <a:ext cx="535807" cy="1427879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2573E82-8826-41D6-89F1-1B56521C4A57}"/>
                </a:ext>
              </a:extLst>
            </p:cNvPr>
            <p:cNvCxnSpPr/>
            <p:nvPr/>
          </p:nvCxnSpPr>
          <p:spPr>
            <a:xfrm rot="21540000" flipH="1">
              <a:off x="5150914" y="3892803"/>
              <a:ext cx="576001" cy="0"/>
            </a:xfrm>
            <a:prstGeom prst="straightConnector1">
              <a:avLst/>
            </a:prstGeom>
            <a:ln w="25400">
              <a:solidFill>
                <a:srgbClr val="5E2E82">
                  <a:alpha val="80000"/>
                </a:srgbClr>
              </a:solidFill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4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0" y="5014913"/>
            <a:ext cx="9144000" cy="1843088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5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838200" y="1972318"/>
            <a:ext cx="6156325" cy="487799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整数数据对象：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 = { 0,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±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1,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lt"/>
              </a:rPr>
              <a:t>±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2, … }</a:t>
            </a:r>
          </a:p>
        </p:txBody>
      </p:sp>
      <p:sp>
        <p:nvSpPr>
          <p:cNvPr id="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数据对象、数据结构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838200" y="2460117"/>
            <a:ext cx="5881758" cy="56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学生数据对象：学生记录的集合</a:t>
            </a:r>
          </a:p>
        </p:txBody>
      </p:sp>
      <p:sp>
        <p:nvSpPr>
          <p:cNvPr id="34822" name="Rectangle 5"/>
          <p:cNvSpPr/>
          <p:nvPr/>
        </p:nvSpPr>
        <p:spPr>
          <a:xfrm>
            <a:off x="838200" y="894556"/>
            <a:ext cx="47418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+mn-lt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sym typeface="+mn-lt"/>
              </a:rPr>
              <a:t>、数据对象（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+mn-lt"/>
              </a:rPr>
              <a:t>data object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sym typeface="+mn-lt"/>
              </a:rPr>
              <a:t>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sym typeface="+mn-lt"/>
            </a:endParaRPr>
          </a:p>
        </p:txBody>
      </p:sp>
      <p:sp>
        <p:nvSpPr>
          <p:cNvPr id="34823" name="Rectangle 5"/>
          <p:cNvSpPr/>
          <p:nvPr/>
        </p:nvSpPr>
        <p:spPr>
          <a:xfrm>
            <a:off x="838200" y="1403350"/>
            <a:ext cx="6902152" cy="5118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25000"/>
              </a:lnSpc>
            </a:pPr>
            <a:r>
              <a:rPr lang="zh-CN" altLang="en-US" dirty="0">
                <a:latin typeface="微软雅黑" panose="020B0503020204020204" pitchFamily="34" charset="-122"/>
                <a:sym typeface="+mn-lt"/>
              </a:rPr>
              <a:t>性质相同的数据元素的集合，是数据的一个子集</a:t>
            </a: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395536" y="5282143"/>
            <a:ext cx="8397999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数据结构是带“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结构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”的数据元素的集合，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“结构”就是指数据元素之间存在的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838200" y="3064002"/>
            <a:ext cx="8001000" cy="1156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112903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、数据结构（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Data Structure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112903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是相互之间存在一种或多种特定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的集合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0B93-5E3C-4CB4-AE33-64C7A82B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数据结构的形式化定义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D82AA-64EC-41BC-BEF2-636C8FB3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88" y="980728"/>
            <a:ext cx="8251825" cy="5472112"/>
          </a:xfrm>
        </p:spPr>
        <p:txBody>
          <a:bodyPr/>
          <a:lstStyle/>
          <a:p>
            <a:pPr indent="0" algn="ctr">
              <a:lnSpc>
                <a:spcPct val="150000"/>
              </a:lnSpc>
              <a:buNone/>
            </a:pPr>
            <a:r>
              <a:rPr lang="en-US" altLang="zh-CN" sz="3200" b="1" dirty="0" err="1">
                <a:solidFill>
                  <a:srgbClr val="FF0000"/>
                </a:solidFill>
              </a:rPr>
              <a:t>Data_Structure</a:t>
            </a:r>
            <a:r>
              <a:rPr lang="en-US" altLang="zh-CN" sz="3200" b="1" dirty="0">
                <a:solidFill>
                  <a:srgbClr val="FF0000"/>
                </a:solidFill>
              </a:rPr>
              <a:t> = { D, R }</a:t>
            </a:r>
          </a:p>
          <a:p>
            <a:pPr indent="0">
              <a:lnSpc>
                <a:spcPct val="150000"/>
              </a:lnSpc>
              <a:buNone/>
            </a:pPr>
            <a:r>
              <a:rPr lang="zh-CN" altLang="en-US" sz="3200" dirty="0"/>
              <a:t>其中，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D </a:t>
            </a:r>
            <a:r>
              <a:rPr lang="zh-CN" altLang="en-US" sz="2800" dirty="0"/>
              <a:t>是某一</a:t>
            </a:r>
            <a:r>
              <a:rPr lang="zh-CN" altLang="en-US" sz="2800" dirty="0">
                <a:solidFill>
                  <a:srgbClr val="0000FF"/>
                </a:solidFill>
              </a:rPr>
              <a:t>数据元素</a:t>
            </a:r>
            <a:r>
              <a:rPr lang="zh-CN" altLang="en-US" sz="2800" dirty="0"/>
              <a:t>的集合；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R </a:t>
            </a:r>
            <a:r>
              <a:rPr lang="zh-CN" altLang="en-US" sz="2800" dirty="0"/>
              <a:t>是 </a:t>
            </a:r>
            <a:r>
              <a:rPr lang="en-US" altLang="zh-CN" sz="2800" dirty="0"/>
              <a:t>D </a:t>
            </a:r>
            <a:r>
              <a:rPr lang="zh-CN" altLang="en-US" sz="2800" dirty="0"/>
              <a:t>上的</a:t>
            </a:r>
            <a:r>
              <a:rPr lang="zh-CN" altLang="en-US" sz="2800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的集合；</a:t>
            </a:r>
          </a:p>
        </p:txBody>
      </p:sp>
    </p:spTree>
    <p:extLst>
      <p:ext uri="{BB962C8B-B14F-4D97-AF65-F5344CB8AC3E}">
        <p14:creationId xmlns:p14="http://schemas.microsoft.com/office/powerpoint/2010/main" val="3595298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0B93-5E3C-4CB4-AE33-64C7A82B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数据结构的形式化定义示例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0A1C60F-249B-4042-BADA-8FFF4C9C7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406543"/>
              </p:ext>
            </p:extLst>
          </p:nvPr>
        </p:nvGraphicFramePr>
        <p:xfrm>
          <a:off x="5068712" y="1028703"/>
          <a:ext cx="4000528" cy="39014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{16D9F66E-5EB9-4882-86FB-DCBF35E3C3E4}</a:tableStyleId>
              </a:tblPr>
              <a:tblGrid>
                <a:gridCol w="1045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学号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F398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F398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性别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F398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班号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F398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张斌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男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刘丽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女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李英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女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陈华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王奇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董强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男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王萍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女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9901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T="60960" marB="60960" horzOverflow="overflow">
                    <a:solidFill>
                      <a:srgbClr val="DFE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Box 2">
            <a:extLst>
              <a:ext uri="{FF2B5EF4-FFF2-40B4-BE49-F238E27FC236}">
                <a16:creationId xmlns:a16="http://schemas.microsoft.com/office/drawing/2014/main" id="{1E633A2B-41BE-4ED4-AD26-845FB5671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7" y="1028703"/>
            <a:ext cx="5008640" cy="4515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例如，一张学生信息表：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Consolas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如果每个学生记录用其学号唯一标识，则其对应的二元组表示为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B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D</a:t>
            </a:r>
            <a:r>
              <a:rPr kumimoji="1" lang="zh-CN" altLang="en-US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，其中：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Consolas" pitchFamily="49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en-US" altLang="zh-CN" i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={1, 8, 34, 20, 12, 26, 5}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en-US" altLang="zh-CN" i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 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={&lt;1,8&gt;</a:t>
            </a:r>
            <a:r>
              <a:rPr kumimoji="1"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&lt;8,34&gt;</a:t>
            </a:r>
            <a:r>
              <a:rPr kumimoji="1"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&lt;34,20&gt;</a:t>
            </a:r>
            <a:r>
              <a:rPr kumimoji="1"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&lt;20,12&gt;</a:t>
            </a:r>
            <a:r>
              <a:rPr kumimoji="1"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&lt;12,26&gt;</a:t>
            </a:r>
            <a:r>
              <a:rPr kumimoji="1"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&lt;26,5&gt;}</a:t>
            </a:r>
          </a:p>
        </p:txBody>
      </p:sp>
    </p:spTree>
    <p:extLst>
      <p:ext uri="{BB962C8B-B14F-4D97-AF65-F5344CB8AC3E}">
        <p14:creationId xmlns:p14="http://schemas.microsoft.com/office/powerpoint/2010/main" val="3624243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D0B93-5E3C-4CB4-AE33-64C7A82B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数据结构的形式化定义示例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D8534FB-7EC1-4471-BD66-F1505895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00221"/>
            <a:ext cx="46779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例如，数据为一个矩阵：     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185E913-7A78-4B24-B40E-50B44C71E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67743"/>
            <a:ext cx="9143999" cy="3869329"/>
          </a:xfrm>
          <a:prstGeom prst="rect">
            <a:avLst/>
          </a:prstGeom>
          <a:noFill/>
          <a:ln w="25400">
            <a:noFill/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D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={2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6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3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8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12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7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4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5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10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9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11}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={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} 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其中，</a:t>
            </a:r>
            <a:r>
              <a:rPr kumimoji="1" lang="en-US" altLang="zh-CN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表示行关系，</a:t>
            </a:r>
            <a:r>
              <a:rPr kumimoji="1" lang="en-US" altLang="zh-CN" i="1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2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表示列关系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1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={&lt;2,6&gt;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&lt;6,3&gt;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&lt;3,1&gt;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&lt;8,12&gt;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&lt;12,7&gt;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&lt;7,4&gt;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    &lt;5,10&gt;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&lt;10,9&gt;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&lt;9,11&gt;}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={&lt;2,8&gt;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&lt;8,5&gt;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&lt;6,12&gt;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&lt;12,10&gt;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&lt;3,7&gt;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&lt;7,9&gt;,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      &lt;1,4&gt;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&lt;4,11&gt;}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302C19-B5AA-480C-A1E6-B67ECF346079}"/>
              </a:ext>
            </a:extLst>
          </p:cNvPr>
          <p:cNvGrpSpPr/>
          <p:nvPr/>
        </p:nvGrpSpPr>
        <p:grpSpPr>
          <a:xfrm>
            <a:off x="5467322" y="908720"/>
            <a:ext cx="2633070" cy="1176214"/>
            <a:chOff x="1212826" y="1000108"/>
            <a:chExt cx="2001852" cy="1176214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75D29E4-74F6-412E-9F53-B3FE69BE34FF}"/>
                </a:ext>
              </a:extLst>
            </p:cNvPr>
            <p:cNvCxnSpPr/>
            <p:nvPr/>
          </p:nvCxnSpPr>
          <p:spPr>
            <a:xfrm rot="5400000">
              <a:off x="642116" y="1571612"/>
              <a:ext cx="1143008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D56311F-544A-4F3B-841C-B1AA46E0EF80}"/>
                </a:ext>
              </a:extLst>
            </p:cNvPr>
            <p:cNvCxnSpPr/>
            <p:nvPr/>
          </p:nvCxnSpPr>
          <p:spPr>
            <a:xfrm>
              <a:off x="1213620" y="2143116"/>
              <a:ext cx="142876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CE64550-3A5E-4472-8005-1E527470D77A}"/>
                </a:ext>
              </a:extLst>
            </p:cNvPr>
            <p:cNvCxnSpPr/>
            <p:nvPr/>
          </p:nvCxnSpPr>
          <p:spPr>
            <a:xfrm>
              <a:off x="1213620" y="1000108"/>
              <a:ext cx="142876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0EC3897-9978-487E-BA43-61F9FFDC69A1}"/>
                </a:ext>
              </a:extLst>
            </p:cNvPr>
            <p:cNvSpPr txBox="1"/>
            <p:nvPr/>
          </p:nvSpPr>
          <p:spPr>
            <a:xfrm>
              <a:off x="1427934" y="111107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2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0536407-F980-494A-A66E-E80216B281DF}"/>
                </a:ext>
              </a:extLst>
            </p:cNvPr>
            <p:cNvSpPr txBox="1"/>
            <p:nvPr/>
          </p:nvSpPr>
          <p:spPr>
            <a:xfrm>
              <a:off x="1856562" y="111107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6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84162ED-8C32-4B5C-B576-B96BFBCD664C}"/>
                </a:ext>
              </a:extLst>
            </p:cNvPr>
            <p:cNvSpPr txBox="1"/>
            <p:nvPr/>
          </p:nvSpPr>
          <p:spPr>
            <a:xfrm>
              <a:off x="2285984" y="111107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3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B9D2D2B-7E68-434B-8ECA-C3382AB46B4C}"/>
                </a:ext>
              </a:extLst>
            </p:cNvPr>
            <p:cNvSpPr txBox="1"/>
            <p:nvPr/>
          </p:nvSpPr>
          <p:spPr>
            <a:xfrm>
              <a:off x="2713818" y="111107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1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4068EB7-2A91-45E4-88E9-E1C99AFC2BA6}"/>
                </a:ext>
              </a:extLst>
            </p:cNvPr>
            <p:cNvSpPr txBox="1"/>
            <p:nvPr/>
          </p:nvSpPr>
          <p:spPr>
            <a:xfrm>
              <a:off x="1427934" y="1452486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8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8A68C85-C5AC-4B65-99BA-54C0E383B494}"/>
                </a:ext>
              </a:extLst>
            </p:cNvPr>
            <p:cNvSpPr txBox="1"/>
            <p:nvPr/>
          </p:nvSpPr>
          <p:spPr>
            <a:xfrm>
              <a:off x="1856562" y="1452486"/>
              <a:ext cx="357190" cy="3447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12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200D0FC-CC11-4BEA-962B-78CB3A469BE6}"/>
                </a:ext>
              </a:extLst>
            </p:cNvPr>
            <p:cNvSpPr txBox="1"/>
            <p:nvPr/>
          </p:nvSpPr>
          <p:spPr>
            <a:xfrm>
              <a:off x="2285984" y="1452486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7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31AFE80-0D5A-4C87-9568-F88E2B467020}"/>
                </a:ext>
              </a:extLst>
            </p:cNvPr>
            <p:cNvSpPr txBox="1"/>
            <p:nvPr/>
          </p:nvSpPr>
          <p:spPr>
            <a:xfrm>
              <a:off x="2713818" y="1452486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4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1B16768-30C6-496F-B5FE-FA9FD45382BE}"/>
                </a:ext>
              </a:extLst>
            </p:cNvPr>
            <p:cNvSpPr txBox="1"/>
            <p:nvPr/>
          </p:nvSpPr>
          <p:spPr>
            <a:xfrm>
              <a:off x="1427934" y="182545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5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D49A3E4-50CB-4D96-B3FB-D51AA72BC3EF}"/>
                </a:ext>
              </a:extLst>
            </p:cNvPr>
            <p:cNvSpPr txBox="1"/>
            <p:nvPr/>
          </p:nvSpPr>
          <p:spPr>
            <a:xfrm>
              <a:off x="1856562" y="1825457"/>
              <a:ext cx="357190" cy="3447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10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6F52E60-74C3-4135-B72C-105E5F9DD136}"/>
                </a:ext>
              </a:extLst>
            </p:cNvPr>
            <p:cNvSpPr txBox="1"/>
            <p:nvPr/>
          </p:nvSpPr>
          <p:spPr>
            <a:xfrm>
              <a:off x="2285984" y="1825457"/>
              <a:ext cx="357190" cy="3508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9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FA64BD4-31A6-497D-9E61-2A4FFED8C629}"/>
                </a:ext>
              </a:extLst>
            </p:cNvPr>
            <p:cNvSpPr txBox="1"/>
            <p:nvPr/>
          </p:nvSpPr>
          <p:spPr>
            <a:xfrm>
              <a:off x="2713818" y="1825457"/>
              <a:ext cx="357190" cy="3447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Consolas" pitchFamily="49" charset="0"/>
                </a:rPr>
                <a:t>11</a:t>
              </a:r>
              <a:endPara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BDCA3CA-01E3-4CB9-8DA3-602295A6BAC0}"/>
                </a:ext>
              </a:extLst>
            </p:cNvPr>
            <p:cNvCxnSpPr/>
            <p:nvPr/>
          </p:nvCxnSpPr>
          <p:spPr>
            <a:xfrm rot="5400000">
              <a:off x="2642380" y="1571612"/>
              <a:ext cx="1143008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48517DC-D9CE-4043-A2EA-B3EC454B13DA}"/>
                </a:ext>
              </a:extLst>
            </p:cNvPr>
            <p:cNvCxnSpPr/>
            <p:nvPr/>
          </p:nvCxnSpPr>
          <p:spPr>
            <a:xfrm>
              <a:off x="3071008" y="2143116"/>
              <a:ext cx="142876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C3FC54A-0E2F-4EE8-8A32-B81AA3AFC8BC}"/>
                </a:ext>
              </a:extLst>
            </p:cNvPr>
            <p:cNvCxnSpPr/>
            <p:nvPr/>
          </p:nvCxnSpPr>
          <p:spPr>
            <a:xfrm>
              <a:off x="3071008" y="1000108"/>
              <a:ext cx="142876" cy="1588"/>
            </a:xfrm>
            <a:prstGeom prst="line">
              <a:avLst/>
            </a:prstGeom>
            <a:ln w="2857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6">
            <a:extLst>
              <a:ext uri="{FF2B5EF4-FFF2-40B4-BE49-F238E27FC236}">
                <a16:creationId xmlns:a16="http://schemas.microsoft.com/office/drawing/2014/main" id="{E3ED7FB8-D1DC-4354-93BF-6B377A47F76A}"/>
              </a:ext>
            </a:extLst>
          </p:cNvPr>
          <p:cNvSpPr txBox="1"/>
          <p:nvPr/>
        </p:nvSpPr>
        <p:spPr>
          <a:xfrm>
            <a:off x="395535" y="2387728"/>
            <a:ext cx="7046067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则其对应的二元组表示为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B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=(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D</a:t>
            </a:r>
            <a:r>
              <a:rPr kumimoji="1" lang="zh-CN" altLang="en-US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R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</a:rPr>
              <a:t>，其中：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54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1"/>
          <p:cNvSpPr>
            <a:spLocks noChangeArrowheads="1"/>
          </p:cNvSpPr>
          <p:nvPr/>
        </p:nvSpPr>
        <p:spPr bwMode="auto">
          <a:xfrm>
            <a:off x="838200" y="153988"/>
            <a:ext cx="6156325" cy="61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数据结构的两个层次</a:t>
            </a:r>
          </a:p>
        </p:txBody>
      </p:sp>
      <p:sp>
        <p:nvSpPr>
          <p:cNvPr id="24" name="i$liḋe-Oval 8"/>
          <p:cNvSpPr/>
          <p:nvPr/>
        </p:nvSpPr>
        <p:spPr>
          <a:xfrm>
            <a:off x="6093024" y="2119213"/>
            <a:ext cx="1123950" cy="11239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6869" name="i$liḋe-Freeform: Shape 9"/>
          <p:cNvSpPr/>
          <p:nvPr/>
        </p:nvSpPr>
        <p:spPr>
          <a:xfrm>
            <a:off x="6305997" y="2441476"/>
            <a:ext cx="558800" cy="4794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28" h="196">
                <a:moveTo>
                  <a:pt x="223" y="0"/>
                </a:moveTo>
                <a:cubicBezTo>
                  <a:pt x="210" y="0"/>
                  <a:pt x="210" y="0"/>
                  <a:pt x="210" y="0"/>
                </a:cubicBezTo>
                <a:cubicBezTo>
                  <a:pt x="207" y="0"/>
                  <a:pt x="205" y="2"/>
                  <a:pt x="205" y="5"/>
                </a:cubicBezTo>
                <a:cubicBezTo>
                  <a:pt x="205" y="10"/>
                  <a:pt x="205" y="10"/>
                  <a:pt x="205" y="1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37"/>
                  <a:pt x="18" y="35"/>
                  <a:pt x="15" y="35"/>
                </a:cubicBezTo>
                <a:cubicBezTo>
                  <a:pt x="5" y="35"/>
                  <a:pt x="5" y="35"/>
                  <a:pt x="5" y="35"/>
                </a:cubicBezTo>
                <a:cubicBezTo>
                  <a:pt x="2" y="35"/>
                  <a:pt x="0" y="37"/>
                  <a:pt x="0" y="40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3"/>
                  <a:pt x="2" y="145"/>
                  <a:pt x="5" y="145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8" y="145"/>
                  <a:pt x="20" y="143"/>
                  <a:pt x="20" y="140"/>
                </a:cubicBezTo>
                <a:cubicBezTo>
                  <a:pt x="20" y="138"/>
                  <a:pt x="20" y="138"/>
                  <a:pt x="20" y="138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47"/>
                  <a:pt x="70" y="148"/>
                  <a:pt x="70" y="148"/>
                </a:cubicBezTo>
                <a:cubicBezTo>
                  <a:pt x="70" y="175"/>
                  <a:pt x="91" y="196"/>
                  <a:pt x="117" y="196"/>
                </a:cubicBezTo>
                <a:cubicBezTo>
                  <a:pt x="138" y="196"/>
                  <a:pt x="156" y="182"/>
                  <a:pt x="162" y="162"/>
                </a:cubicBezTo>
                <a:cubicBezTo>
                  <a:pt x="205" y="170"/>
                  <a:pt x="205" y="170"/>
                  <a:pt x="205" y="170"/>
                </a:cubicBezTo>
                <a:cubicBezTo>
                  <a:pt x="205" y="175"/>
                  <a:pt x="205" y="175"/>
                  <a:pt x="205" y="175"/>
                </a:cubicBezTo>
                <a:cubicBezTo>
                  <a:pt x="205" y="178"/>
                  <a:pt x="207" y="180"/>
                  <a:pt x="210" y="180"/>
                </a:cubicBezTo>
                <a:cubicBezTo>
                  <a:pt x="223" y="180"/>
                  <a:pt x="223" y="180"/>
                  <a:pt x="223" y="180"/>
                </a:cubicBezTo>
                <a:cubicBezTo>
                  <a:pt x="226" y="180"/>
                  <a:pt x="228" y="178"/>
                  <a:pt x="228" y="175"/>
                </a:cubicBezTo>
                <a:cubicBezTo>
                  <a:pt x="228" y="5"/>
                  <a:pt x="228" y="5"/>
                  <a:pt x="228" y="5"/>
                </a:cubicBezTo>
                <a:cubicBezTo>
                  <a:pt x="228" y="2"/>
                  <a:pt x="226" y="0"/>
                  <a:pt x="223" y="0"/>
                </a:cubicBezTo>
                <a:moveTo>
                  <a:pt x="117" y="177"/>
                </a:moveTo>
                <a:cubicBezTo>
                  <a:pt x="102" y="177"/>
                  <a:pt x="90" y="165"/>
                  <a:pt x="89" y="150"/>
                </a:cubicBezTo>
                <a:cubicBezTo>
                  <a:pt x="143" y="159"/>
                  <a:pt x="143" y="159"/>
                  <a:pt x="143" y="159"/>
                </a:cubicBezTo>
                <a:cubicBezTo>
                  <a:pt x="139" y="170"/>
                  <a:pt x="129" y="177"/>
                  <a:pt x="117" y="177"/>
                </a:cubicBezTo>
                <a:moveTo>
                  <a:pt x="199" y="53"/>
                </a:moveTo>
                <a:cubicBezTo>
                  <a:pt x="31" y="76"/>
                  <a:pt x="31" y="76"/>
                  <a:pt x="31" y="76"/>
                </a:cubicBezTo>
                <a:cubicBezTo>
                  <a:pt x="30" y="76"/>
                  <a:pt x="30" y="76"/>
                  <a:pt x="30" y="76"/>
                </a:cubicBezTo>
                <a:cubicBezTo>
                  <a:pt x="26" y="76"/>
                  <a:pt x="23" y="73"/>
                  <a:pt x="23" y="70"/>
                </a:cubicBezTo>
                <a:cubicBezTo>
                  <a:pt x="22" y="66"/>
                  <a:pt x="25" y="62"/>
                  <a:pt x="29" y="62"/>
                </a:cubicBezTo>
                <a:cubicBezTo>
                  <a:pt x="197" y="39"/>
                  <a:pt x="197" y="39"/>
                  <a:pt x="197" y="39"/>
                </a:cubicBezTo>
                <a:cubicBezTo>
                  <a:pt x="201" y="38"/>
                  <a:pt x="204" y="41"/>
                  <a:pt x="205" y="45"/>
                </a:cubicBezTo>
                <a:cubicBezTo>
                  <a:pt x="205" y="49"/>
                  <a:pt x="203" y="52"/>
                  <a:pt x="199" y="53"/>
                </a:cubicBezTo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i$liḋe-Oval 10"/>
          <p:cNvSpPr/>
          <p:nvPr/>
        </p:nvSpPr>
        <p:spPr>
          <a:xfrm>
            <a:off x="1757660" y="2119213"/>
            <a:ext cx="1123950" cy="1123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6871" name="i$liḋe-Freeform: Shape 11"/>
          <p:cNvSpPr/>
          <p:nvPr/>
        </p:nvSpPr>
        <p:spPr>
          <a:xfrm>
            <a:off x="2025948" y="2347813"/>
            <a:ext cx="587375" cy="6651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40" h="272">
                <a:moveTo>
                  <a:pt x="62" y="62"/>
                </a:moveTo>
                <a:cubicBezTo>
                  <a:pt x="66" y="58"/>
                  <a:pt x="66" y="52"/>
                  <a:pt x="62" y="49"/>
                </a:cubicBezTo>
                <a:cubicBezTo>
                  <a:pt x="49" y="35"/>
                  <a:pt x="49" y="35"/>
                  <a:pt x="49" y="35"/>
                </a:cubicBezTo>
                <a:cubicBezTo>
                  <a:pt x="45" y="32"/>
                  <a:pt x="39" y="32"/>
                  <a:pt x="35" y="35"/>
                </a:cubicBezTo>
                <a:cubicBezTo>
                  <a:pt x="32" y="39"/>
                  <a:pt x="32" y="45"/>
                  <a:pt x="35" y="49"/>
                </a:cubicBezTo>
                <a:cubicBezTo>
                  <a:pt x="49" y="62"/>
                  <a:pt x="49" y="62"/>
                  <a:pt x="49" y="62"/>
                </a:cubicBezTo>
                <a:cubicBezTo>
                  <a:pt x="50" y="64"/>
                  <a:pt x="53" y="65"/>
                  <a:pt x="55" y="65"/>
                </a:cubicBezTo>
                <a:cubicBezTo>
                  <a:pt x="58" y="65"/>
                  <a:pt x="60" y="64"/>
                  <a:pt x="62" y="62"/>
                </a:cubicBezTo>
                <a:moveTo>
                  <a:pt x="28" y="111"/>
                </a:moveTo>
                <a:cubicBezTo>
                  <a:pt x="9" y="111"/>
                  <a:pt x="9" y="111"/>
                  <a:pt x="9" y="111"/>
                </a:cubicBezTo>
                <a:cubicBezTo>
                  <a:pt x="4" y="111"/>
                  <a:pt x="0" y="115"/>
                  <a:pt x="0" y="120"/>
                </a:cubicBezTo>
                <a:cubicBezTo>
                  <a:pt x="0" y="125"/>
                  <a:pt x="4" y="130"/>
                  <a:pt x="9" y="130"/>
                </a:cubicBezTo>
                <a:cubicBezTo>
                  <a:pt x="28" y="130"/>
                  <a:pt x="28" y="130"/>
                  <a:pt x="28" y="130"/>
                </a:cubicBezTo>
                <a:cubicBezTo>
                  <a:pt x="34" y="130"/>
                  <a:pt x="38" y="125"/>
                  <a:pt x="38" y="120"/>
                </a:cubicBezTo>
                <a:cubicBezTo>
                  <a:pt x="38" y="115"/>
                  <a:pt x="34" y="111"/>
                  <a:pt x="28" y="111"/>
                </a:cubicBezTo>
                <a:moveTo>
                  <a:pt x="120" y="38"/>
                </a:moveTo>
                <a:cubicBezTo>
                  <a:pt x="125" y="38"/>
                  <a:pt x="129" y="34"/>
                  <a:pt x="129" y="29"/>
                </a:cubicBezTo>
                <a:cubicBezTo>
                  <a:pt x="129" y="10"/>
                  <a:pt x="129" y="10"/>
                  <a:pt x="129" y="10"/>
                </a:cubicBezTo>
                <a:cubicBezTo>
                  <a:pt x="129" y="4"/>
                  <a:pt x="125" y="0"/>
                  <a:pt x="120" y="0"/>
                </a:cubicBezTo>
                <a:cubicBezTo>
                  <a:pt x="115" y="0"/>
                  <a:pt x="111" y="4"/>
                  <a:pt x="111" y="10"/>
                </a:cubicBezTo>
                <a:cubicBezTo>
                  <a:pt x="111" y="29"/>
                  <a:pt x="111" y="29"/>
                  <a:pt x="111" y="29"/>
                </a:cubicBezTo>
                <a:cubicBezTo>
                  <a:pt x="111" y="34"/>
                  <a:pt x="115" y="38"/>
                  <a:pt x="120" y="38"/>
                </a:cubicBezTo>
                <a:moveTo>
                  <a:pt x="87" y="253"/>
                </a:moveTo>
                <a:cubicBezTo>
                  <a:pt x="87" y="264"/>
                  <a:pt x="96" y="272"/>
                  <a:pt x="107" y="272"/>
                </a:cubicBezTo>
                <a:cubicBezTo>
                  <a:pt x="133" y="272"/>
                  <a:pt x="133" y="272"/>
                  <a:pt x="133" y="272"/>
                </a:cubicBezTo>
                <a:cubicBezTo>
                  <a:pt x="144" y="272"/>
                  <a:pt x="153" y="264"/>
                  <a:pt x="153" y="253"/>
                </a:cubicBezTo>
                <a:cubicBezTo>
                  <a:pt x="153" y="244"/>
                  <a:pt x="153" y="244"/>
                  <a:pt x="153" y="244"/>
                </a:cubicBezTo>
                <a:cubicBezTo>
                  <a:pt x="87" y="244"/>
                  <a:pt x="87" y="244"/>
                  <a:pt x="87" y="244"/>
                </a:cubicBezTo>
                <a:cubicBezTo>
                  <a:pt x="87" y="253"/>
                  <a:pt x="87" y="253"/>
                  <a:pt x="87" y="253"/>
                </a:cubicBezTo>
                <a:close/>
                <a:moveTo>
                  <a:pt x="205" y="35"/>
                </a:moveTo>
                <a:cubicBezTo>
                  <a:pt x="201" y="32"/>
                  <a:pt x="195" y="32"/>
                  <a:pt x="192" y="35"/>
                </a:cubicBezTo>
                <a:cubicBezTo>
                  <a:pt x="178" y="49"/>
                  <a:pt x="178" y="49"/>
                  <a:pt x="178" y="49"/>
                </a:cubicBezTo>
                <a:cubicBezTo>
                  <a:pt x="174" y="52"/>
                  <a:pt x="174" y="58"/>
                  <a:pt x="178" y="62"/>
                </a:cubicBezTo>
                <a:cubicBezTo>
                  <a:pt x="180" y="64"/>
                  <a:pt x="182" y="65"/>
                  <a:pt x="185" y="65"/>
                </a:cubicBezTo>
                <a:cubicBezTo>
                  <a:pt x="187" y="65"/>
                  <a:pt x="190" y="64"/>
                  <a:pt x="192" y="62"/>
                </a:cubicBezTo>
                <a:cubicBezTo>
                  <a:pt x="205" y="49"/>
                  <a:pt x="205" y="49"/>
                  <a:pt x="205" y="49"/>
                </a:cubicBezTo>
                <a:cubicBezTo>
                  <a:pt x="209" y="45"/>
                  <a:pt x="209" y="39"/>
                  <a:pt x="205" y="35"/>
                </a:cubicBezTo>
                <a:moveTo>
                  <a:pt x="120" y="49"/>
                </a:moveTo>
                <a:cubicBezTo>
                  <a:pt x="81" y="49"/>
                  <a:pt x="50" y="80"/>
                  <a:pt x="50" y="118"/>
                </a:cubicBezTo>
                <a:cubicBezTo>
                  <a:pt x="50" y="132"/>
                  <a:pt x="54" y="145"/>
                  <a:pt x="61" y="156"/>
                </a:cubicBezTo>
                <a:cubicBezTo>
                  <a:pt x="62" y="157"/>
                  <a:pt x="62" y="158"/>
                  <a:pt x="62" y="158"/>
                </a:cubicBezTo>
                <a:cubicBezTo>
                  <a:pt x="75" y="176"/>
                  <a:pt x="78" y="182"/>
                  <a:pt x="78" y="186"/>
                </a:cubicBezTo>
                <a:cubicBezTo>
                  <a:pt x="78" y="199"/>
                  <a:pt x="78" y="199"/>
                  <a:pt x="78" y="199"/>
                </a:cubicBezTo>
                <a:cubicBezTo>
                  <a:pt x="75" y="199"/>
                  <a:pt x="75" y="199"/>
                  <a:pt x="75" y="199"/>
                </a:cubicBezTo>
                <a:cubicBezTo>
                  <a:pt x="71" y="199"/>
                  <a:pt x="69" y="200"/>
                  <a:pt x="69" y="204"/>
                </a:cubicBezTo>
                <a:cubicBezTo>
                  <a:pt x="69" y="229"/>
                  <a:pt x="69" y="229"/>
                  <a:pt x="69" y="229"/>
                </a:cubicBezTo>
                <a:cubicBezTo>
                  <a:pt x="69" y="233"/>
                  <a:pt x="71" y="235"/>
                  <a:pt x="75" y="235"/>
                </a:cubicBezTo>
                <a:cubicBezTo>
                  <a:pt x="166" y="235"/>
                  <a:pt x="166" y="235"/>
                  <a:pt x="166" y="235"/>
                </a:cubicBezTo>
                <a:cubicBezTo>
                  <a:pt x="169" y="235"/>
                  <a:pt x="171" y="233"/>
                  <a:pt x="171" y="229"/>
                </a:cubicBezTo>
                <a:cubicBezTo>
                  <a:pt x="171" y="204"/>
                  <a:pt x="171" y="204"/>
                  <a:pt x="171" y="204"/>
                </a:cubicBezTo>
                <a:cubicBezTo>
                  <a:pt x="171" y="200"/>
                  <a:pt x="169" y="199"/>
                  <a:pt x="166" y="199"/>
                </a:cubicBezTo>
                <a:cubicBezTo>
                  <a:pt x="162" y="199"/>
                  <a:pt x="162" y="199"/>
                  <a:pt x="162" y="199"/>
                </a:cubicBezTo>
                <a:cubicBezTo>
                  <a:pt x="162" y="186"/>
                  <a:pt x="162" y="186"/>
                  <a:pt x="162" y="186"/>
                </a:cubicBezTo>
                <a:cubicBezTo>
                  <a:pt x="162" y="183"/>
                  <a:pt x="163" y="178"/>
                  <a:pt x="178" y="158"/>
                </a:cubicBezTo>
                <a:cubicBezTo>
                  <a:pt x="186" y="146"/>
                  <a:pt x="190" y="133"/>
                  <a:pt x="190" y="118"/>
                </a:cubicBezTo>
                <a:cubicBezTo>
                  <a:pt x="190" y="80"/>
                  <a:pt x="159" y="49"/>
                  <a:pt x="120" y="49"/>
                </a:cubicBezTo>
                <a:moveTo>
                  <a:pt x="120" y="170"/>
                </a:moveTo>
                <a:cubicBezTo>
                  <a:pt x="117" y="136"/>
                  <a:pt x="117" y="136"/>
                  <a:pt x="117" y="136"/>
                </a:cubicBezTo>
                <a:cubicBezTo>
                  <a:pt x="124" y="136"/>
                  <a:pt x="124" y="136"/>
                  <a:pt x="124" y="136"/>
                </a:cubicBezTo>
                <a:lnTo>
                  <a:pt x="120" y="170"/>
                </a:lnTo>
                <a:close/>
                <a:moveTo>
                  <a:pt x="162" y="147"/>
                </a:moveTo>
                <a:cubicBezTo>
                  <a:pt x="147" y="168"/>
                  <a:pt x="143" y="176"/>
                  <a:pt x="143" y="186"/>
                </a:cubicBezTo>
                <a:cubicBezTo>
                  <a:pt x="143" y="199"/>
                  <a:pt x="143" y="199"/>
                  <a:pt x="143" y="199"/>
                </a:cubicBezTo>
                <a:cubicBezTo>
                  <a:pt x="127" y="199"/>
                  <a:pt x="127" y="199"/>
                  <a:pt x="127" y="199"/>
                </a:cubicBezTo>
                <a:cubicBezTo>
                  <a:pt x="134" y="136"/>
                  <a:pt x="134" y="136"/>
                  <a:pt x="134" y="136"/>
                </a:cubicBezTo>
                <a:cubicBezTo>
                  <a:pt x="141" y="136"/>
                  <a:pt x="141" y="136"/>
                  <a:pt x="141" y="136"/>
                </a:cubicBezTo>
                <a:cubicBezTo>
                  <a:pt x="149" y="136"/>
                  <a:pt x="156" y="130"/>
                  <a:pt x="156" y="122"/>
                </a:cubicBezTo>
                <a:cubicBezTo>
                  <a:pt x="156" y="113"/>
                  <a:pt x="149" y="107"/>
                  <a:pt x="141" y="107"/>
                </a:cubicBezTo>
                <a:cubicBezTo>
                  <a:pt x="137" y="107"/>
                  <a:pt x="134" y="108"/>
                  <a:pt x="131" y="111"/>
                </a:cubicBezTo>
                <a:cubicBezTo>
                  <a:pt x="127" y="115"/>
                  <a:pt x="125" y="122"/>
                  <a:pt x="125" y="127"/>
                </a:cubicBezTo>
                <a:cubicBezTo>
                  <a:pt x="116" y="127"/>
                  <a:pt x="116" y="127"/>
                  <a:pt x="116" y="127"/>
                </a:cubicBezTo>
                <a:cubicBezTo>
                  <a:pt x="116" y="122"/>
                  <a:pt x="115" y="116"/>
                  <a:pt x="111" y="111"/>
                </a:cubicBezTo>
                <a:cubicBezTo>
                  <a:pt x="108" y="108"/>
                  <a:pt x="104" y="107"/>
                  <a:pt x="100" y="107"/>
                </a:cubicBezTo>
                <a:cubicBezTo>
                  <a:pt x="92" y="107"/>
                  <a:pt x="85" y="113"/>
                  <a:pt x="85" y="122"/>
                </a:cubicBezTo>
                <a:cubicBezTo>
                  <a:pt x="85" y="130"/>
                  <a:pt x="92" y="136"/>
                  <a:pt x="100" y="136"/>
                </a:cubicBezTo>
                <a:cubicBezTo>
                  <a:pt x="107" y="136"/>
                  <a:pt x="107" y="136"/>
                  <a:pt x="107" y="136"/>
                </a:cubicBezTo>
                <a:cubicBezTo>
                  <a:pt x="114" y="199"/>
                  <a:pt x="114" y="199"/>
                  <a:pt x="114" y="199"/>
                </a:cubicBezTo>
                <a:cubicBezTo>
                  <a:pt x="97" y="199"/>
                  <a:pt x="97" y="199"/>
                  <a:pt x="97" y="199"/>
                </a:cubicBezTo>
                <a:cubicBezTo>
                  <a:pt x="97" y="186"/>
                  <a:pt x="97" y="186"/>
                  <a:pt x="97" y="186"/>
                </a:cubicBezTo>
                <a:cubicBezTo>
                  <a:pt x="97" y="177"/>
                  <a:pt x="93" y="168"/>
                  <a:pt x="78" y="147"/>
                </a:cubicBezTo>
                <a:cubicBezTo>
                  <a:pt x="78" y="147"/>
                  <a:pt x="78" y="147"/>
                  <a:pt x="78" y="147"/>
                </a:cubicBezTo>
                <a:cubicBezTo>
                  <a:pt x="77" y="146"/>
                  <a:pt x="77" y="146"/>
                  <a:pt x="77" y="146"/>
                </a:cubicBezTo>
                <a:cubicBezTo>
                  <a:pt x="71" y="138"/>
                  <a:pt x="68" y="128"/>
                  <a:pt x="68" y="118"/>
                </a:cubicBezTo>
                <a:cubicBezTo>
                  <a:pt x="68" y="91"/>
                  <a:pt x="92" y="68"/>
                  <a:pt x="120" y="68"/>
                </a:cubicBezTo>
                <a:cubicBezTo>
                  <a:pt x="148" y="68"/>
                  <a:pt x="172" y="91"/>
                  <a:pt x="172" y="118"/>
                </a:cubicBezTo>
                <a:cubicBezTo>
                  <a:pt x="172" y="129"/>
                  <a:pt x="168" y="139"/>
                  <a:pt x="162" y="147"/>
                </a:cubicBezTo>
                <a:moveTo>
                  <a:pt x="135" y="127"/>
                </a:moveTo>
                <a:cubicBezTo>
                  <a:pt x="135" y="124"/>
                  <a:pt x="136" y="119"/>
                  <a:pt x="138" y="117"/>
                </a:cubicBezTo>
                <a:cubicBezTo>
                  <a:pt x="139" y="116"/>
                  <a:pt x="140" y="116"/>
                  <a:pt x="141" y="116"/>
                </a:cubicBezTo>
                <a:cubicBezTo>
                  <a:pt x="144" y="116"/>
                  <a:pt x="147" y="119"/>
                  <a:pt x="147" y="122"/>
                </a:cubicBezTo>
                <a:cubicBezTo>
                  <a:pt x="147" y="125"/>
                  <a:pt x="144" y="127"/>
                  <a:pt x="141" y="127"/>
                </a:cubicBezTo>
                <a:cubicBezTo>
                  <a:pt x="135" y="127"/>
                  <a:pt x="135" y="127"/>
                  <a:pt x="135" y="127"/>
                </a:cubicBezTo>
                <a:close/>
                <a:moveTo>
                  <a:pt x="107" y="127"/>
                </a:moveTo>
                <a:cubicBezTo>
                  <a:pt x="100" y="127"/>
                  <a:pt x="100" y="127"/>
                  <a:pt x="100" y="127"/>
                </a:cubicBezTo>
                <a:cubicBezTo>
                  <a:pt x="97" y="127"/>
                  <a:pt x="94" y="125"/>
                  <a:pt x="94" y="122"/>
                </a:cubicBezTo>
                <a:cubicBezTo>
                  <a:pt x="94" y="119"/>
                  <a:pt x="97" y="116"/>
                  <a:pt x="100" y="116"/>
                </a:cubicBezTo>
                <a:cubicBezTo>
                  <a:pt x="102" y="116"/>
                  <a:pt x="103" y="117"/>
                  <a:pt x="104" y="118"/>
                </a:cubicBezTo>
                <a:cubicBezTo>
                  <a:pt x="106" y="120"/>
                  <a:pt x="107" y="124"/>
                  <a:pt x="107" y="127"/>
                </a:cubicBezTo>
                <a:moveTo>
                  <a:pt x="231" y="111"/>
                </a:moveTo>
                <a:cubicBezTo>
                  <a:pt x="212" y="111"/>
                  <a:pt x="212" y="111"/>
                  <a:pt x="212" y="111"/>
                </a:cubicBezTo>
                <a:cubicBezTo>
                  <a:pt x="206" y="111"/>
                  <a:pt x="202" y="115"/>
                  <a:pt x="202" y="120"/>
                </a:cubicBezTo>
                <a:cubicBezTo>
                  <a:pt x="202" y="125"/>
                  <a:pt x="206" y="130"/>
                  <a:pt x="212" y="130"/>
                </a:cubicBezTo>
                <a:cubicBezTo>
                  <a:pt x="231" y="130"/>
                  <a:pt x="231" y="130"/>
                  <a:pt x="231" y="130"/>
                </a:cubicBezTo>
                <a:cubicBezTo>
                  <a:pt x="236" y="130"/>
                  <a:pt x="240" y="125"/>
                  <a:pt x="240" y="120"/>
                </a:cubicBezTo>
                <a:cubicBezTo>
                  <a:pt x="240" y="115"/>
                  <a:pt x="236" y="111"/>
                  <a:pt x="231" y="111"/>
                </a:cubicBezTo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i$liḋe-Rectangle 12"/>
          <p:cNvSpPr/>
          <p:nvPr/>
        </p:nvSpPr>
        <p:spPr>
          <a:xfrm>
            <a:off x="1403648" y="1376263"/>
            <a:ext cx="1711325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逻辑结构</a:t>
            </a:r>
            <a:endParaRPr lang="en-US" altLang="zh-CN" sz="2800" dirty="0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i$liḋe-Rectangle 13"/>
          <p:cNvSpPr/>
          <p:nvPr/>
        </p:nvSpPr>
        <p:spPr>
          <a:xfrm>
            <a:off x="4981578" y="1375017"/>
            <a:ext cx="3550862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 algn="ctr">
              <a:lnSpc>
                <a:spcPct val="10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物理结构（存储结构）</a:t>
            </a:r>
            <a:endParaRPr lang="en-US" altLang="zh-CN" sz="2800" dirty="0">
              <a:solidFill>
                <a:schemeClr val="accent2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i$liḋe-TextBox 36"/>
          <p:cNvSpPr txBox="1"/>
          <p:nvPr/>
        </p:nvSpPr>
        <p:spPr bwMode="auto">
          <a:xfrm>
            <a:off x="467544" y="3399312"/>
            <a:ext cx="4104456" cy="24779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1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从逻辑关系上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描述数据，与数据的存储无关，独立于计算机，是从具体问题抽象出来的数学模型。</a:t>
            </a:r>
          </a:p>
        </p:txBody>
      </p:sp>
      <p:sp>
        <p:nvSpPr>
          <p:cNvPr id="17" name="iS1ide-TextBox 34"/>
          <p:cNvSpPr txBox="1"/>
          <p:nvPr/>
        </p:nvSpPr>
        <p:spPr bwMode="auto">
          <a:xfrm>
            <a:off x="4894864" y="3399312"/>
            <a:ext cx="3781592" cy="24779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 anchorCtr="1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逻辑结构在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计算机中的具体实现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。数据结构在计算机中的表示（又称映像）。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 animBg="1"/>
      <p:bldP spid="26" grpId="0" uiExpand="1" build="p" animBg="1"/>
      <p:bldP spid="28" grpId="0" build="p"/>
      <p:bldP spid="29" grpId="0" build="p"/>
      <p:bldP spid="19" grpId="0" build="p"/>
      <p:bldP spid="1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4" name="Rectangle 45"/>
          <p:cNvSpPr>
            <a:spLocks noChangeArrowheads="1"/>
          </p:cNvSpPr>
          <p:nvPr/>
        </p:nvSpPr>
        <p:spPr bwMode="auto">
          <a:xfrm>
            <a:off x="827088" y="204788"/>
            <a:ext cx="2952824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逻辑结构的分类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9D3506-4D08-4C66-9B62-B3BFF3DE034A}"/>
              </a:ext>
            </a:extLst>
          </p:cNvPr>
          <p:cNvSpPr txBox="1"/>
          <p:nvPr/>
        </p:nvSpPr>
        <p:spPr>
          <a:xfrm>
            <a:off x="161633" y="793444"/>
            <a:ext cx="6304993" cy="592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集合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数据元素间除“同属于一个集合”外，无其它关系</a:t>
            </a:r>
            <a:endParaRPr lang="en-US" altLang="zh-CN" sz="240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线性结构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一对一关系，如线性表、栈、队列</a:t>
            </a:r>
            <a:endParaRPr lang="en-US" altLang="zh-CN" sz="240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树形结构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一对多关系，如树</a:t>
            </a:r>
            <a:endParaRPr lang="en-US" altLang="zh-CN" sz="2400" dirty="0">
              <a:latin typeface="+mn-ea"/>
              <a:ea typeface="+mn-ea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2"/>
                </a:solidFill>
                <a:latin typeface="+mn-ea"/>
                <a:ea typeface="+mn-ea"/>
              </a:rPr>
              <a:t>图形结构</a:t>
            </a:r>
            <a:endParaRPr lang="en-US" altLang="zh-CN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  <a:ea typeface="+mn-ea"/>
              </a:rPr>
              <a:t>多对多关系，如图</a:t>
            </a:r>
          </a:p>
        </p:txBody>
      </p:sp>
      <p:grpSp>
        <p:nvGrpSpPr>
          <p:cNvPr id="126" name="组合 10">
            <a:extLst>
              <a:ext uri="{FF2B5EF4-FFF2-40B4-BE49-F238E27FC236}">
                <a16:creationId xmlns:a16="http://schemas.microsoft.com/office/drawing/2014/main" id="{91DBF381-5800-43CE-9852-3E7E86063E99}"/>
              </a:ext>
            </a:extLst>
          </p:cNvPr>
          <p:cNvGrpSpPr/>
          <p:nvPr/>
        </p:nvGrpSpPr>
        <p:grpSpPr>
          <a:xfrm>
            <a:off x="6808896" y="1135360"/>
            <a:ext cx="1449684" cy="1144269"/>
            <a:chOff x="2608262" y="3929066"/>
            <a:chExt cx="1820862" cy="1389061"/>
          </a:xfrm>
        </p:grpSpPr>
        <p:sp>
          <p:nvSpPr>
            <p:cNvPr id="127" name="Oval 6">
              <a:extLst>
                <a:ext uri="{FF2B5EF4-FFF2-40B4-BE49-F238E27FC236}">
                  <a16:creationId xmlns:a16="http://schemas.microsoft.com/office/drawing/2014/main" id="{76BFE6D8-B591-4D1B-8D19-AF9E7E866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2" y="4505327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Oval 8">
              <a:extLst>
                <a:ext uri="{FF2B5EF4-FFF2-40B4-BE49-F238E27FC236}">
                  <a16:creationId xmlns:a16="http://schemas.microsoft.com/office/drawing/2014/main" id="{BDB7C773-03C7-4924-AF28-7AF3274CF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162" y="3929066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" name="Oval 10">
              <a:extLst>
                <a:ext uri="{FF2B5EF4-FFF2-40B4-BE49-F238E27FC236}">
                  <a16:creationId xmlns:a16="http://schemas.microsoft.com/office/drawing/2014/main" id="{F80509C2-FF04-41AB-8949-B7872CCB0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399" y="4362452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0" name="Oval 12">
              <a:extLst>
                <a:ext uri="{FF2B5EF4-FFF2-40B4-BE49-F238E27FC236}">
                  <a16:creationId xmlns:a16="http://schemas.microsoft.com/office/drawing/2014/main" id="{FC3479FF-529A-43DD-BB34-345ED71E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0062" y="4937127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Oval 3">
              <a:extLst>
                <a:ext uri="{FF2B5EF4-FFF2-40B4-BE49-F238E27FC236}">
                  <a16:creationId xmlns:a16="http://schemas.microsoft.com/office/drawing/2014/main" id="{B21F7D66-E1AB-4FA1-AB0E-6E0BED298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124" y="4002090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Oval 4">
              <a:extLst>
                <a:ext uri="{FF2B5EF4-FFF2-40B4-BE49-F238E27FC236}">
                  <a16:creationId xmlns:a16="http://schemas.microsoft.com/office/drawing/2014/main" id="{FF0EE10F-D042-4050-BB38-59266A565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687" y="4794252"/>
              <a:ext cx="381000" cy="381000"/>
            </a:xfrm>
            <a:prstGeom prst="ellipse">
              <a:avLst/>
            </a:prstGeom>
            <a:gradFill>
              <a:gsLst>
                <a:gs pos="58000">
                  <a:srgbClr val="F39801"/>
                </a:gs>
                <a:gs pos="0">
                  <a:srgbClr val="CE3B37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3" name="组合 12">
            <a:extLst>
              <a:ext uri="{FF2B5EF4-FFF2-40B4-BE49-F238E27FC236}">
                <a16:creationId xmlns:a16="http://schemas.microsoft.com/office/drawing/2014/main" id="{302123E2-0DC8-42E4-937B-5043875DF911}"/>
              </a:ext>
            </a:extLst>
          </p:cNvPr>
          <p:cNvGrpSpPr/>
          <p:nvPr/>
        </p:nvGrpSpPr>
        <p:grpSpPr>
          <a:xfrm>
            <a:off x="5755783" y="2933399"/>
            <a:ext cx="3165404" cy="411471"/>
            <a:chOff x="1485880" y="3048656"/>
            <a:chExt cx="4572000" cy="527050"/>
          </a:xfrm>
        </p:grpSpPr>
        <p:sp>
          <p:nvSpPr>
            <p:cNvPr id="134" name="Oval 5">
              <a:extLst>
                <a:ext uri="{FF2B5EF4-FFF2-40B4-BE49-F238E27FC236}">
                  <a16:creationId xmlns:a16="http://schemas.microsoft.com/office/drawing/2014/main" id="{83AD2E2D-C5BC-4164-8A2B-2799B4980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880" y="3194706"/>
              <a:ext cx="381000" cy="3810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4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5" name="Line 6">
              <a:extLst>
                <a:ext uri="{FF2B5EF4-FFF2-40B4-BE49-F238E27FC236}">
                  <a16:creationId xmlns:a16="http://schemas.microsoft.com/office/drawing/2014/main" id="{5E20DAC9-630D-4F83-84E8-7C8EA8789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880" y="3372507"/>
              <a:ext cx="5334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36" name="Oval 7">
              <a:extLst>
                <a:ext uri="{FF2B5EF4-FFF2-40B4-BE49-F238E27FC236}">
                  <a16:creationId xmlns:a16="http://schemas.microsoft.com/office/drawing/2014/main" id="{484C787B-D26D-4AB0-B46A-BB0C5263B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280" y="3194706"/>
              <a:ext cx="381000" cy="3810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4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 8">
              <a:extLst>
                <a:ext uri="{FF2B5EF4-FFF2-40B4-BE49-F238E27FC236}">
                  <a16:creationId xmlns:a16="http://schemas.microsoft.com/office/drawing/2014/main" id="{7D29018C-BD85-490D-A6BC-CAFFD2154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280" y="3372507"/>
              <a:ext cx="5334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38" name="Oval 9">
              <a:extLst>
                <a:ext uri="{FF2B5EF4-FFF2-40B4-BE49-F238E27FC236}">
                  <a16:creationId xmlns:a16="http://schemas.microsoft.com/office/drawing/2014/main" id="{76822AB6-2F73-4E2F-90CB-1BC5E711C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680" y="3194706"/>
              <a:ext cx="381000" cy="3810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4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 10">
              <a:extLst>
                <a:ext uri="{FF2B5EF4-FFF2-40B4-BE49-F238E27FC236}">
                  <a16:creationId xmlns:a16="http://schemas.microsoft.com/office/drawing/2014/main" id="{A892F3E1-E3B4-427C-8928-91DD98E2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5680" y="3372507"/>
              <a:ext cx="5334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0" name="Oval 11">
              <a:extLst>
                <a:ext uri="{FF2B5EF4-FFF2-40B4-BE49-F238E27FC236}">
                  <a16:creationId xmlns:a16="http://schemas.microsoft.com/office/drawing/2014/main" id="{02B29FBA-C0D1-4B1D-9B34-BBCCF22CB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880" y="3194706"/>
              <a:ext cx="381000" cy="3810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4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 12">
              <a:extLst>
                <a:ext uri="{FF2B5EF4-FFF2-40B4-BE49-F238E27FC236}">
                  <a16:creationId xmlns:a16="http://schemas.microsoft.com/office/drawing/2014/main" id="{8334C628-4FBB-49DF-B233-78D1943B2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3480" y="3372507"/>
              <a:ext cx="5334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42" name="Text Box 13">
              <a:extLst>
                <a:ext uri="{FF2B5EF4-FFF2-40B4-BE49-F238E27FC236}">
                  <a16:creationId xmlns:a16="http://schemas.microsoft.com/office/drawing/2014/main" id="{08211DDA-6FE9-47C9-8331-325D51752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480" y="3048656"/>
              <a:ext cx="60486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charset="-122"/>
                  <a:cs typeface="Consolas" pitchFamily="49" charset="0"/>
                </a:rPr>
                <a:t>…</a:t>
              </a:r>
            </a:p>
          </p:txBody>
        </p:sp>
      </p:grpSp>
      <p:grpSp>
        <p:nvGrpSpPr>
          <p:cNvPr id="159" name="组合 18">
            <a:extLst>
              <a:ext uri="{FF2B5EF4-FFF2-40B4-BE49-F238E27FC236}">
                <a16:creationId xmlns:a16="http://schemas.microsoft.com/office/drawing/2014/main" id="{5964B96C-41A0-4C8A-BCEA-9FF6F45B4A75}"/>
              </a:ext>
            </a:extLst>
          </p:cNvPr>
          <p:cNvGrpSpPr/>
          <p:nvPr/>
        </p:nvGrpSpPr>
        <p:grpSpPr>
          <a:xfrm>
            <a:off x="6851713" y="4112706"/>
            <a:ext cx="1571624" cy="1371599"/>
            <a:chOff x="2266948" y="2786058"/>
            <a:chExt cx="2019300" cy="1752600"/>
          </a:xfrm>
        </p:grpSpPr>
        <p:sp>
          <p:nvSpPr>
            <p:cNvPr id="160" name="Oval 6">
              <a:extLst>
                <a:ext uri="{FF2B5EF4-FFF2-40B4-BE49-F238E27FC236}">
                  <a16:creationId xmlns:a16="http://schemas.microsoft.com/office/drawing/2014/main" id="{BC6EB3D9-07DD-4ECE-80A9-E1C256371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348" y="27860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61" name="Oval 7">
              <a:extLst>
                <a:ext uri="{FF2B5EF4-FFF2-40B4-BE49-F238E27FC236}">
                  <a16:creationId xmlns:a16="http://schemas.microsoft.com/office/drawing/2014/main" id="{64C5921E-A37D-4F5F-A833-ADF27644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948" y="34718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2" name="Oval 8">
              <a:extLst>
                <a:ext uri="{FF2B5EF4-FFF2-40B4-BE49-F238E27FC236}">
                  <a16:creationId xmlns:a16="http://schemas.microsoft.com/office/drawing/2014/main" id="{1F521BFC-AF64-492C-BC23-4AEF6B582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548" y="34718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" name="Oval 9">
              <a:extLst>
                <a:ext uri="{FF2B5EF4-FFF2-40B4-BE49-F238E27FC236}">
                  <a16:creationId xmlns:a16="http://schemas.microsoft.com/office/drawing/2014/main" id="{12EB77A1-CB64-482A-82AE-C9E20D432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148" y="34718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" name="Oval 11">
              <a:extLst>
                <a:ext uri="{FF2B5EF4-FFF2-40B4-BE49-F238E27FC236}">
                  <a16:creationId xmlns:a16="http://schemas.microsoft.com/office/drawing/2014/main" id="{6A590B54-5C5C-4DA6-A699-F4BCD9C64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748" y="41576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5" name="Oval 12">
              <a:extLst>
                <a:ext uri="{FF2B5EF4-FFF2-40B4-BE49-F238E27FC236}">
                  <a16:creationId xmlns:a16="http://schemas.microsoft.com/office/drawing/2014/main" id="{D3AED6EE-70BC-45CB-B1A5-4FE3711E4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948" y="41576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6" name="Oval 13">
              <a:extLst>
                <a:ext uri="{FF2B5EF4-FFF2-40B4-BE49-F238E27FC236}">
                  <a16:creationId xmlns:a16="http://schemas.microsoft.com/office/drawing/2014/main" id="{E43FFD80-5746-491E-BBC6-57C616970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248" y="41576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7" name="Freeform 14">
              <a:extLst>
                <a:ext uri="{FF2B5EF4-FFF2-40B4-BE49-F238E27FC236}">
                  <a16:creationId xmlns:a16="http://schemas.microsoft.com/office/drawing/2014/main" id="{425C45AC-D182-499A-AE4A-299629F8F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411" y="3060695"/>
              <a:ext cx="274638" cy="420688"/>
            </a:xfrm>
            <a:custGeom>
              <a:avLst/>
              <a:gdLst/>
              <a:ahLst/>
              <a:cxnLst>
                <a:cxn ang="0">
                  <a:pos x="173" y="0"/>
                </a:cxn>
                <a:cxn ang="0">
                  <a:pos x="0" y="265"/>
                </a:cxn>
              </a:cxnLst>
              <a:rect l="0" t="0" r="r" b="b"/>
              <a:pathLst>
                <a:path w="173" h="265">
                  <a:moveTo>
                    <a:pt x="173" y="0"/>
                  </a:moveTo>
                  <a:lnTo>
                    <a:pt x="0" y="265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68" name="Freeform 15">
              <a:extLst>
                <a:ext uri="{FF2B5EF4-FFF2-40B4-BE49-F238E27FC236}">
                  <a16:creationId xmlns:a16="http://schemas.microsoft.com/office/drawing/2014/main" id="{3D84BBE8-3540-4F47-BCA8-96269542A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948" y="3167058"/>
              <a:ext cx="33338" cy="2952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" y="186"/>
                </a:cxn>
              </a:cxnLst>
              <a:rect l="0" t="0" r="r" b="b"/>
              <a:pathLst>
                <a:path w="21" h="186">
                  <a:moveTo>
                    <a:pt x="0" y="0"/>
                  </a:moveTo>
                  <a:lnTo>
                    <a:pt x="21" y="186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63ACB92C-C098-4A0A-9740-5E6576B8D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062" y="3019421"/>
              <a:ext cx="409575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8" y="288"/>
                </a:cxn>
              </a:cxnLst>
              <a:rect l="0" t="0" r="r" b="b"/>
              <a:pathLst>
                <a:path w="258" h="288">
                  <a:moveTo>
                    <a:pt x="0" y="0"/>
                  </a:moveTo>
                  <a:lnTo>
                    <a:pt x="258" y="288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70" name="Freeform 17">
              <a:extLst>
                <a:ext uri="{FF2B5EF4-FFF2-40B4-BE49-F238E27FC236}">
                  <a16:creationId xmlns:a16="http://schemas.microsoft.com/office/drawing/2014/main" id="{BF969047-98FB-45AC-BEEF-E595D0F2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748" y="3819521"/>
              <a:ext cx="147638" cy="342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3" y="216"/>
                </a:cxn>
              </a:cxnLst>
              <a:rect l="0" t="0" r="r" b="b"/>
              <a:pathLst>
                <a:path w="93" h="216">
                  <a:moveTo>
                    <a:pt x="0" y="0"/>
                  </a:moveTo>
                  <a:lnTo>
                    <a:pt x="93" y="216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71" name="Freeform 18">
              <a:extLst>
                <a:ext uri="{FF2B5EF4-FFF2-40B4-BE49-F238E27FC236}">
                  <a16:creationId xmlns:a16="http://schemas.microsoft.com/office/drawing/2014/main" id="{1DF701D1-7EF7-4488-8FAA-A742851C7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148" y="3852858"/>
              <a:ext cx="95250" cy="3095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0" y="195"/>
                </a:cxn>
              </a:cxnLst>
              <a:rect l="0" t="0" r="r" b="b"/>
              <a:pathLst>
                <a:path w="60" h="195">
                  <a:moveTo>
                    <a:pt x="0" y="0"/>
                  </a:moveTo>
                  <a:lnTo>
                    <a:pt x="60" y="195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72" name="Line 19">
              <a:extLst>
                <a:ext uri="{FF2B5EF4-FFF2-40B4-BE49-F238E27FC236}">
                  <a16:creationId xmlns:a16="http://schemas.microsoft.com/office/drawing/2014/main" id="{D544673E-53C8-4631-AC40-A8F0EDE3B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5748" y="3852858"/>
              <a:ext cx="0" cy="304800"/>
            </a:xfrm>
            <a:prstGeom prst="line">
              <a:avLst/>
            </a:prstGeom>
            <a:noFill/>
            <a:ln w="28575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73" name="Oval 21">
              <a:extLst>
                <a:ext uri="{FF2B5EF4-FFF2-40B4-BE49-F238E27FC236}">
                  <a16:creationId xmlns:a16="http://schemas.microsoft.com/office/drawing/2014/main" id="{5E87B6AD-D469-4C2C-9238-37A2C4BDB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948" y="4157658"/>
              <a:ext cx="381000" cy="381000"/>
            </a:xfrm>
            <a:prstGeom prst="ellipse">
              <a:avLst/>
            </a:prstGeom>
            <a:gradFill rotWithShape="1">
              <a:gsLst>
                <a:gs pos="0">
                  <a:srgbClr val="CE3B37"/>
                </a:gs>
                <a:gs pos="55000">
                  <a:srgbClr val="F79646">
                    <a:shade val="93000"/>
                    <a:satMod val="130000"/>
                  </a:srgbClr>
                </a:gs>
                <a:gs pos="99000">
                  <a:srgbClr val="FFE985"/>
                </a:gs>
              </a:gsLst>
              <a:lin ang="16200000" scaled="0"/>
            </a:gradFill>
            <a:ln>
              <a:noFill/>
              <a:headEnd/>
              <a:tailE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Freeform 22">
              <a:extLst>
                <a:ext uri="{FF2B5EF4-FFF2-40B4-BE49-F238E27FC236}">
                  <a16:creationId xmlns:a16="http://schemas.microsoft.com/office/drawing/2014/main" id="{DBA8F3F3-9367-409B-9C89-E28131B2F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549" y="3800471"/>
              <a:ext cx="219075" cy="357188"/>
            </a:xfrm>
            <a:custGeom>
              <a:avLst/>
              <a:gdLst/>
              <a:ahLst/>
              <a:cxnLst>
                <a:cxn ang="0">
                  <a:pos x="138" y="0"/>
                </a:cxn>
                <a:cxn ang="0">
                  <a:pos x="0" y="225"/>
                </a:cxn>
              </a:cxnLst>
              <a:rect l="0" t="0" r="r" b="b"/>
              <a:pathLst>
                <a:path w="138" h="225">
                  <a:moveTo>
                    <a:pt x="138" y="0"/>
                  </a:moveTo>
                  <a:lnTo>
                    <a:pt x="0" y="225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</p:grpSp>
      <p:grpSp>
        <p:nvGrpSpPr>
          <p:cNvPr id="175" name="组合 20">
            <a:extLst>
              <a:ext uri="{FF2B5EF4-FFF2-40B4-BE49-F238E27FC236}">
                <a16:creationId xmlns:a16="http://schemas.microsoft.com/office/drawing/2014/main" id="{38E45D2C-0264-4463-9BE9-D691A131B4D2}"/>
              </a:ext>
            </a:extLst>
          </p:cNvPr>
          <p:cNvGrpSpPr/>
          <p:nvPr/>
        </p:nvGrpSpPr>
        <p:grpSpPr>
          <a:xfrm>
            <a:off x="4874800" y="5505862"/>
            <a:ext cx="1871948" cy="1258774"/>
            <a:chOff x="1908175" y="3214686"/>
            <a:chExt cx="2592388" cy="1738325"/>
          </a:xfrm>
        </p:grpSpPr>
        <p:sp>
          <p:nvSpPr>
            <p:cNvPr id="176" name="Oval 6">
              <a:extLst>
                <a:ext uri="{FF2B5EF4-FFF2-40B4-BE49-F238E27FC236}">
                  <a16:creationId xmlns:a16="http://schemas.microsoft.com/office/drawing/2014/main" id="{97413746-01C8-42D5-88D5-FFE9A7706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3214686"/>
              <a:ext cx="360363" cy="360363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77" name="Oval 7">
              <a:extLst>
                <a:ext uri="{FF2B5EF4-FFF2-40B4-BE49-F238E27FC236}">
                  <a16:creationId xmlns:a16="http://schemas.microsoft.com/office/drawing/2014/main" id="{2CF01A88-187E-4EB0-9B9C-BE7FC9AE2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575" y="3214686"/>
              <a:ext cx="360363" cy="360363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8" name="Oval 8">
              <a:extLst>
                <a:ext uri="{FF2B5EF4-FFF2-40B4-BE49-F238E27FC236}">
                  <a16:creationId xmlns:a16="http://schemas.microsoft.com/office/drawing/2014/main" id="{42690AA3-FDD4-4538-A686-09820627B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3919548"/>
              <a:ext cx="360363" cy="360363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9" name="Oval 9">
              <a:extLst>
                <a:ext uri="{FF2B5EF4-FFF2-40B4-BE49-F238E27FC236}">
                  <a16:creationId xmlns:a16="http://schemas.microsoft.com/office/drawing/2014/main" id="{707B433C-D85A-4C6D-B8CD-2660182BB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375" y="3919549"/>
              <a:ext cx="385763" cy="3937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0" name="Oval 10">
              <a:extLst>
                <a:ext uri="{FF2B5EF4-FFF2-40B4-BE49-F238E27FC236}">
                  <a16:creationId xmlns:a16="http://schemas.microsoft.com/office/drawing/2014/main" id="{FD1F05DF-0E25-46BC-8109-D793E5D34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975" y="4452948"/>
              <a:ext cx="360363" cy="360363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1" name="Oval 11">
              <a:extLst>
                <a:ext uri="{FF2B5EF4-FFF2-40B4-BE49-F238E27FC236}">
                  <a16:creationId xmlns:a16="http://schemas.microsoft.com/office/drawing/2014/main" id="{9A40B428-5ED2-402B-9D53-A18537381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92648"/>
              <a:ext cx="360363" cy="360363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2" name="Freeform 13">
              <a:extLst>
                <a:ext uri="{FF2B5EF4-FFF2-40B4-BE49-F238E27FC236}">
                  <a16:creationId xmlns:a16="http://schemas.microsoft.com/office/drawing/2014/main" id="{344E4DFE-E786-4119-9B7D-029F3CBFE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675" y="3525848"/>
              <a:ext cx="563563" cy="4603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5" y="290"/>
                </a:cxn>
              </a:cxnLst>
              <a:rect l="0" t="0" r="r" b="b"/>
              <a:pathLst>
                <a:path w="355" h="290">
                  <a:moveTo>
                    <a:pt x="0" y="0"/>
                  </a:moveTo>
                  <a:lnTo>
                    <a:pt x="355" y="290"/>
                  </a:lnTo>
                </a:path>
              </a:pathLst>
            </a:custGeom>
            <a:noFill/>
            <a:ln w="28575">
              <a:solidFill>
                <a:srgbClr val="CE3B37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A3DC7D58-9F82-4208-8D6A-35E9BCFC9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124" y="4667260"/>
              <a:ext cx="1085850" cy="90488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684" y="0"/>
                </a:cxn>
              </a:cxnLst>
              <a:rect l="0" t="0" r="r" b="b"/>
              <a:pathLst>
                <a:path w="684" h="57">
                  <a:moveTo>
                    <a:pt x="0" y="57"/>
                  </a:moveTo>
                  <a:lnTo>
                    <a:pt x="684" y="0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84" name="Freeform 17">
              <a:extLst>
                <a:ext uri="{FF2B5EF4-FFF2-40B4-BE49-F238E27FC236}">
                  <a16:creationId xmlns:a16="http://schemas.microsoft.com/office/drawing/2014/main" id="{42AECF16-CF11-4992-8861-E2BE4DBC6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474" y="3582999"/>
              <a:ext cx="88900" cy="8699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548"/>
                </a:cxn>
              </a:cxnLst>
              <a:rect l="0" t="0" r="r" b="b"/>
              <a:pathLst>
                <a:path w="56" h="548">
                  <a:moveTo>
                    <a:pt x="0" y="0"/>
                  </a:moveTo>
                  <a:lnTo>
                    <a:pt x="56" y="548"/>
                  </a:lnTo>
                </a:path>
              </a:pathLst>
            </a:custGeom>
            <a:noFill/>
            <a:ln w="28575" cap="flat" cmpd="sng">
              <a:solidFill>
                <a:srgbClr val="CE3B3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nsolas" pitchFamily="49" charset="0"/>
                <a:ea typeface="楷体_GB2312" pitchFamily="49" charset="-122"/>
                <a:cs typeface="Consolas" pitchFamily="49" charset="0"/>
              </a:endParaRPr>
            </a:p>
          </p:txBody>
        </p:sp>
        <p:sp>
          <p:nvSpPr>
            <p:cNvPr id="185" name="Oval 0">
              <a:extLst>
                <a:ext uri="{FF2B5EF4-FFF2-40B4-BE49-F238E27FC236}">
                  <a16:creationId xmlns:a16="http://schemas.microsoft.com/office/drawing/2014/main" id="{B1E3D3D7-4A63-488A-A087-A1C0E0E8F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810011"/>
              <a:ext cx="385763" cy="393700"/>
            </a:xfrm>
            <a:prstGeom prst="ellipse">
              <a:avLst/>
            </a:prstGeom>
            <a:gradFill>
              <a:gsLst>
                <a:gs pos="0">
                  <a:srgbClr val="CE3B37"/>
                </a:gs>
                <a:gs pos="65000">
                  <a:srgbClr val="F39801"/>
                </a:gs>
                <a:gs pos="100000">
                  <a:srgbClr val="FFE985"/>
                </a:gs>
              </a:gsLst>
            </a:gradFill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0C645970-3CAC-4CEA-9E00-6DA19B2B12D2}"/>
                </a:ext>
              </a:extLst>
            </p:cNvPr>
            <p:cNvCxnSpPr>
              <a:stCxn id="176" idx="4"/>
              <a:endCxn id="178" idx="0"/>
            </p:cNvCxnSpPr>
            <p:nvPr/>
          </p:nvCxnSpPr>
          <p:spPr>
            <a:xfrm rot="5400000">
              <a:off x="1916108" y="3747298"/>
              <a:ext cx="344499" cy="1588"/>
            </a:xfrm>
            <a:prstGeom prst="line">
              <a:avLst/>
            </a:prstGeom>
            <a:ln w="28575">
              <a:solidFill>
                <a:srgbClr val="CE3B37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32EFA386-116F-44BD-9A34-96AAEB8A269C}"/>
                </a:ext>
              </a:extLst>
            </p:cNvPr>
            <p:cNvCxnSpPr>
              <a:stCxn id="178" idx="4"/>
              <a:endCxn id="181" idx="0"/>
            </p:cNvCxnSpPr>
            <p:nvPr/>
          </p:nvCxnSpPr>
          <p:spPr>
            <a:xfrm rot="5400000">
              <a:off x="1931988" y="4436543"/>
              <a:ext cx="312737" cy="1588"/>
            </a:xfrm>
            <a:prstGeom prst="line">
              <a:avLst/>
            </a:prstGeom>
            <a:ln w="28575">
              <a:solidFill>
                <a:srgbClr val="CE3B37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D9BF6B49-107C-4330-873F-161E0E249E1D}"/>
                </a:ext>
              </a:extLst>
            </p:cNvPr>
            <p:cNvCxnSpPr>
              <a:stCxn id="177" idx="6"/>
              <a:endCxn id="185" idx="1"/>
            </p:cNvCxnSpPr>
            <p:nvPr/>
          </p:nvCxnSpPr>
          <p:spPr>
            <a:xfrm>
              <a:off x="3563938" y="3394868"/>
              <a:ext cx="607356" cy="472799"/>
            </a:xfrm>
            <a:prstGeom prst="line">
              <a:avLst/>
            </a:prstGeom>
            <a:ln w="28575">
              <a:solidFill>
                <a:srgbClr val="CE3B37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5B3E958D-1E24-4422-A440-F0FCBA579883}"/>
                </a:ext>
              </a:extLst>
            </p:cNvPr>
            <p:cNvCxnSpPr>
              <a:stCxn id="176" idx="6"/>
              <a:endCxn id="177" idx="2"/>
            </p:cNvCxnSpPr>
            <p:nvPr/>
          </p:nvCxnSpPr>
          <p:spPr>
            <a:xfrm>
              <a:off x="2268538" y="3394868"/>
              <a:ext cx="935037" cy="1588"/>
            </a:xfrm>
            <a:prstGeom prst="line">
              <a:avLst/>
            </a:prstGeom>
            <a:ln w="28575">
              <a:solidFill>
                <a:srgbClr val="CE3B37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ChangeArrowheads="1"/>
          </p:cNvSpPr>
          <p:nvPr/>
        </p:nvSpPr>
        <p:spPr bwMode="auto">
          <a:xfrm>
            <a:off x="871538" y="188913"/>
            <a:ext cx="2476326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存储结构类型</a:t>
            </a:r>
          </a:p>
        </p:txBody>
      </p:sp>
      <p:grpSp>
        <p:nvGrpSpPr>
          <p:cNvPr id="24" name="组合 12">
            <a:extLst>
              <a:ext uri="{FF2B5EF4-FFF2-40B4-BE49-F238E27FC236}">
                <a16:creationId xmlns:a16="http://schemas.microsoft.com/office/drawing/2014/main" id="{8000A4E3-32E1-401E-A442-18B3F351F57E}"/>
              </a:ext>
            </a:extLst>
          </p:cNvPr>
          <p:cNvGrpSpPr/>
          <p:nvPr/>
        </p:nvGrpSpPr>
        <p:grpSpPr>
          <a:xfrm>
            <a:off x="3684576" y="861808"/>
            <a:ext cx="4951428" cy="1041049"/>
            <a:chOff x="1835150" y="1778000"/>
            <a:chExt cx="5257800" cy="720726"/>
          </a:xfrm>
        </p:grpSpPr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A6CE4B09-24D6-44F9-8A8D-D0254606AC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5150" y="1778000"/>
              <a:ext cx="1657350" cy="720725"/>
            </a:xfrm>
            <a:prstGeom prst="rect">
              <a:avLst/>
            </a:prstGeom>
            <a:solidFill>
              <a:srgbClr val="7030A0">
                <a:alpha val="60000"/>
              </a:srgb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逻辑结构</a:t>
              </a:r>
            </a:p>
          </p:txBody>
        </p:sp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34106042-5DCD-464E-B8D3-3145DD31EC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08625" y="1778001"/>
              <a:ext cx="1584325" cy="720725"/>
            </a:xfrm>
            <a:prstGeom prst="rect">
              <a:avLst/>
            </a:prstGeom>
            <a:solidFill>
              <a:srgbClr val="7030A0">
                <a:alpha val="60000"/>
              </a:srgbClr>
            </a:solidFill>
            <a:ln>
              <a:noFill/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存储结构</a:t>
              </a:r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721D0A1A-4786-4372-836D-B44A07E8E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2211388"/>
              <a:ext cx="1944687" cy="0"/>
            </a:xfrm>
            <a:prstGeom prst="line">
              <a:avLst/>
            </a:prstGeom>
            <a:noFill/>
            <a:ln w="38100">
              <a:solidFill>
                <a:srgbClr val="5E2E82"/>
              </a:solidFill>
              <a:round/>
              <a:tailEnd type="stealth" w="med" len="lg"/>
            </a:ln>
            <a:effectLst/>
            <a:scene3d>
              <a:camera prst="orthographicFront"/>
              <a:lightRig rig="threePt" dir="t"/>
            </a:scene3d>
            <a:sp3d>
              <a:bevelT w="139700" prst="cross"/>
            </a:sp3d>
          </p:spPr>
          <p:txBody>
            <a:bodyPr wrap="none" anchor="ctr"/>
            <a:lstStyle/>
            <a:p>
              <a:endParaRPr lang="zh-CN" altLang="en-US" sz="2400">
                <a:solidFill>
                  <a:srgbClr val="0000FF"/>
                </a:solidFill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A1A9930C-E735-4B94-B829-46E8468BC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763" y="1866122"/>
              <a:ext cx="863600" cy="31961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0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映射</a:t>
              </a:r>
            </a:p>
          </p:txBody>
        </p:sp>
      </p:grpSp>
      <p:sp>
        <p:nvSpPr>
          <p:cNvPr id="31" name="Text Box 6">
            <a:extLst>
              <a:ext uri="{FF2B5EF4-FFF2-40B4-BE49-F238E27FC236}">
                <a16:creationId xmlns:a16="http://schemas.microsoft.com/office/drawing/2014/main" id="{B5FD6FE5-F480-432B-8EBD-9BAB542B1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96752"/>
            <a:ext cx="8784976" cy="5682476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144000" tIns="180000" bIns="144000">
            <a:spAutoFit/>
          </a:bodyPr>
          <a:lstStyle/>
          <a:p>
            <a:pPr marL="457200" marR="0" lvl="0" indent="-457200" algn="l" defTabSz="91440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顺序存储结构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0"/>
              </a:spcBef>
              <a:buClr>
                <a:srgbClr val="F39801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借助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元素存储的相对位置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来表示数据元素间的逻辑关系。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457200" marR="0" lvl="0" indent="-457200" algn="l" defTabSz="91440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链式存储结构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0"/>
              </a:spcBef>
              <a:buClr>
                <a:srgbClr val="F39801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借助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指示元素存储地址的指针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表示数据元素间的逻辑关系。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457200" marR="0" lvl="0" indent="-457200" algn="l" defTabSz="91440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索引存储结构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0"/>
              </a:spcBef>
              <a:buClr>
                <a:srgbClr val="F39801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在存储元素信息的同时还建立附加的</a:t>
            </a:r>
            <a:r>
              <a:rPr kumimoji="1" lang="zh-CN" altLang="en-US" sz="2400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索引表</a:t>
            </a:r>
            <a:r>
              <a:rPr kumimoji="1" lang="zh-CN" altLang="en-US" sz="2400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。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457200" marR="0" lvl="0" indent="-457200" algn="l" defTabSz="91440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哈希（散列）存储结构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itchFamily="18" charset="0"/>
            </a:endParaRPr>
          </a:p>
          <a:p>
            <a:pPr marL="914400" lvl="1" indent="-457200" eaLnBrk="1" fontAlgn="t" hangingPunct="1">
              <a:lnSpc>
                <a:spcPct val="150000"/>
              </a:lnSpc>
              <a:spcBef>
                <a:spcPts val="0"/>
              </a:spcBef>
              <a:buClr>
                <a:srgbClr val="F39801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将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元素的关键码通过一个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函数计算</a:t>
            </a: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itchFamily="18" charset="0"/>
              </a:rPr>
              <a:t>直接得到该元素的存储地址。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Group 2"/>
          <p:cNvGrpSpPr/>
          <p:nvPr/>
        </p:nvGrpSpPr>
        <p:grpSpPr>
          <a:xfrm>
            <a:off x="1692275" y="1222375"/>
            <a:ext cx="5180013" cy="5443538"/>
            <a:chOff x="1137" y="312"/>
            <a:chExt cx="2753" cy="3429"/>
          </a:xfrm>
        </p:grpSpPr>
        <p:sp>
          <p:nvSpPr>
            <p:cNvPr id="37890" name="Rectangle 3"/>
            <p:cNvSpPr>
              <a:spLocks noChangeArrowheads="1"/>
            </p:cNvSpPr>
            <p:nvPr/>
          </p:nvSpPr>
          <p:spPr bwMode="auto">
            <a:xfrm>
              <a:off x="2952" y="2757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</a:t>
              </a:r>
            </a:p>
          </p:txBody>
        </p:sp>
        <p:sp>
          <p:nvSpPr>
            <p:cNvPr id="37891" name="Rectangle 4"/>
            <p:cNvSpPr>
              <a:spLocks noChangeArrowheads="1"/>
            </p:cNvSpPr>
            <p:nvPr/>
          </p:nvSpPr>
          <p:spPr bwMode="auto">
            <a:xfrm>
              <a:off x="2952" y="2331"/>
              <a:ext cx="816" cy="42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……..</a:t>
              </a:r>
            </a:p>
          </p:txBody>
        </p:sp>
        <p:sp>
          <p:nvSpPr>
            <p:cNvPr id="37892" name="Rectangle 5"/>
            <p:cNvSpPr>
              <a:spLocks noChangeArrowheads="1"/>
            </p:cNvSpPr>
            <p:nvPr/>
          </p:nvSpPr>
          <p:spPr bwMode="auto">
            <a:xfrm>
              <a:off x="2952" y="1904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</a:p>
          </p:txBody>
        </p:sp>
        <p:sp>
          <p:nvSpPr>
            <p:cNvPr id="37893" name="Rectangle 6"/>
            <p:cNvSpPr>
              <a:spLocks noChangeArrowheads="1"/>
            </p:cNvSpPr>
            <p:nvPr/>
          </p:nvSpPr>
          <p:spPr bwMode="auto">
            <a:xfrm>
              <a:off x="2952" y="1477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……..</a:t>
              </a:r>
            </a:p>
          </p:txBody>
        </p:sp>
        <p:sp>
          <p:nvSpPr>
            <p:cNvPr id="37894" name="Rectangle 7"/>
            <p:cNvSpPr>
              <a:spLocks noChangeArrowheads="1"/>
            </p:cNvSpPr>
            <p:nvPr/>
          </p:nvSpPr>
          <p:spPr bwMode="auto">
            <a:xfrm>
              <a:off x="2952" y="1051"/>
              <a:ext cx="816" cy="42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37895" name="Rectangle 8"/>
            <p:cNvSpPr>
              <a:spLocks noChangeArrowheads="1"/>
            </p:cNvSpPr>
            <p:nvPr/>
          </p:nvSpPr>
          <p:spPr bwMode="auto">
            <a:xfrm>
              <a:off x="2952" y="624"/>
              <a:ext cx="816" cy="42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37896" name="Line 9"/>
            <p:cNvSpPr>
              <a:spLocks noChangeShapeType="1"/>
            </p:cNvSpPr>
            <p:nvPr/>
          </p:nvSpPr>
          <p:spPr bwMode="auto">
            <a:xfrm>
              <a:off x="2952" y="62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7" name="Line 10"/>
            <p:cNvSpPr>
              <a:spLocks noChangeShapeType="1"/>
            </p:cNvSpPr>
            <p:nvPr/>
          </p:nvSpPr>
          <p:spPr bwMode="auto">
            <a:xfrm>
              <a:off x="2952" y="105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8" name="Line 11"/>
            <p:cNvSpPr>
              <a:spLocks noChangeShapeType="1"/>
            </p:cNvSpPr>
            <p:nvPr/>
          </p:nvSpPr>
          <p:spPr bwMode="auto">
            <a:xfrm>
              <a:off x="2952" y="147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899" name="Line 12"/>
            <p:cNvSpPr>
              <a:spLocks noChangeShapeType="1"/>
            </p:cNvSpPr>
            <p:nvPr/>
          </p:nvSpPr>
          <p:spPr bwMode="auto">
            <a:xfrm>
              <a:off x="2952" y="19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0" name="Line 13"/>
            <p:cNvSpPr>
              <a:spLocks noChangeShapeType="1"/>
            </p:cNvSpPr>
            <p:nvPr/>
          </p:nvSpPr>
          <p:spPr bwMode="auto">
            <a:xfrm>
              <a:off x="2952" y="233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1" name="Line 14"/>
            <p:cNvSpPr>
              <a:spLocks noChangeShapeType="1"/>
            </p:cNvSpPr>
            <p:nvPr/>
          </p:nvSpPr>
          <p:spPr bwMode="auto">
            <a:xfrm>
              <a:off x="2952" y="275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2" name="Line 15"/>
            <p:cNvSpPr>
              <a:spLocks noChangeShapeType="1"/>
            </p:cNvSpPr>
            <p:nvPr/>
          </p:nvSpPr>
          <p:spPr bwMode="auto">
            <a:xfrm>
              <a:off x="2952" y="318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3" name="Line 16"/>
            <p:cNvSpPr>
              <a:spLocks noChangeShapeType="1"/>
            </p:cNvSpPr>
            <p:nvPr/>
          </p:nvSpPr>
          <p:spPr bwMode="auto">
            <a:xfrm>
              <a:off x="2952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4" name="Line 17"/>
            <p:cNvSpPr>
              <a:spLocks noChangeShapeType="1"/>
            </p:cNvSpPr>
            <p:nvPr/>
          </p:nvSpPr>
          <p:spPr bwMode="auto">
            <a:xfrm>
              <a:off x="3768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5" name="Text Box 18"/>
            <p:cNvSpPr txBox="1">
              <a:spLocks noChangeArrowheads="1"/>
            </p:cNvSpPr>
            <p:nvPr/>
          </p:nvSpPr>
          <p:spPr bwMode="auto">
            <a:xfrm>
              <a:off x="2528" y="72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lang="en-US" altLang="zh-CN" sz="2400" baseline="-25000" dirty="0">
                  <a:latin typeface="+mn-lt"/>
                  <a:ea typeface="+mn-ea"/>
                  <a:cs typeface="+mn-ea"/>
                  <a:sym typeface="+mn-lt"/>
                </a:rPr>
                <a:t>0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06" name="Text Box 19"/>
            <p:cNvSpPr txBox="1">
              <a:spLocks noChangeArrowheads="1"/>
            </p:cNvSpPr>
            <p:nvPr/>
          </p:nvSpPr>
          <p:spPr bwMode="auto">
            <a:xfrm>
              <a:off x="2336" y="115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37907" name="Text Box 20"/>
            <p:cNvSpPr txBox="1">
              <a:spLocks noChangeArrowheads="1"/>
            </p:cNvSpPr>
            <p:nvPr/>
          </p:nvSpPr>
          <p:spPr bwMode="auto">
            <a:xfrm>
              <a:off x="1976" y="2016"/>
              <a:ext cx="10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 (i-1)*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37908" name="Text Box 21"/>
            <p:cNvSpPr txBox="1">
              <a:spLocks noChangeArrowheads="1"/>
            </p:cNvSpPr>
            <p:nvPr/>
          </p:nvSpPr>
          <p:spPr bwMode="auto">
            <a:xfrm>
              <a:off x="1896" y="2880"/>
              <a:ext cx="1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 (n-1)*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  <p:sp>
          <p:nvSpPr>
            <p:cNvPr id="37909" name="Text Box 22"/>
            <p:cNvSpPr txBox="1">
              <a:spLocks noChangeArrowheads="1"/>
            </p:cNvSpPr>
            <p:nvPr/>
          </p:nvSpPr>
          <p:spPr bwMode="auto">
            <a:xfrm>
              <a:off x="2036" y="312"/>
              <a:ext cx="9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存储地址</a:t>
              </a:r>
            </a:p>
          </p:txBody>
        </p:sp>
        <p:sp>
          <p:nvSpPr>
            <p:cNvPr id="37910" name="Text Box 23"/>
            <p:cNvSpPr txBox="1">
              <a:spLocks noChangeArrowheads="1"/>
            </p:cNvSpPr>
            <p:nvPr/>
          </p:nvSpPr>
          <p:spPr bwMode="auto">
            <a:xfrm>
              <a:off x="2978" y="312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存储内容</a:t>
              </a:r>
            </a:p>
          </p:txBody>
        </p:sp>
        <p:sp>
          <p:nvSpPr>
            <p:cNvPr id="37911" name="Line 24"/>
            <p:cNvSpPr>
              <a:spLocks noChangeShapeType="1"/>
            </p:cNvSpPr>
            <p:nvPr/>
          </p:nvSpPr>
          <p:spPr bwMode="auto">
            <a:xfrm flipH="1">
              <a:off x="1896" y="1048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2" name="Line 25"/>
            <p:cNvSpPr>
              <a:spLocks noChangeShapeType="1"/>
            </p:cNvSpPr>
            <p:nvPr/>
          </p:nvSpPr>
          <p:spPr bwMode="auto">
            <a:xfrm flipH="1">
              <a:off x="1896" y="1480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3" name="Line 26"/>
            <p:cNvSpPr>
              <a:spLocks noChangeShapeType="1"/>
            </p:cNvSpPr>
            <p:nvPr/>
          </p:nvSpPr>
          <p:spPr bwMode="auto">
            <a:xfrm flipH="1">
              <a:off x="1896" y="2328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4" name="Line 27"/>
            <p:cNvSpPr>
              <a:spLocks noChangeShapeType="1"/>
            </p:cNvSpPr>
            <p:nvPr/>
          </p:nvSpPr>
          <p:spPr bwMode="auto">
            <a:xfrm flipH="1">
              <a:off x="1896" y="3184"/>
              <a:ext cx="1055" cy="0"/>
            </a:xfrm>
            <a:prstGeom prst="line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915" name="Text Box 28"/>
            <p:cNvSpPr txBox="1">
              <a:spLocks noChangeArrowheads="1"/>
            </p:cNvSpPr>
            <p:nvPr/>
          </p:nvSpPr>
          <p:spPr bwMode="auto">
            <a:xfrm>
              <a:off x="1137" y="3453"/>
              <a:ext cx="2640" cy="28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Loc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(</a:t>
              </a:r>
              <a:r>
                <a:rPr kumimoji="0" lang="zh-CN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元素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) = L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+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（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i-1)*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m</a:t>
              </a:r>
            </a:p>
          </p:txBody>
        </p:sp>
      </p:grpSp>
      <p:sp>
        <p:nvSpPr>
          <p:cNvPr id="41988" name="Text Box 29" descr="蓝色砂纸"/>
          <p:cNvSpPr txBox="1"/>
          <p:nvPr/>
        </p:nvSpPr>
        <p:spPr>
          <a:xfrm>
            <a:off x="885825" y="227013"/>
            <a:ext cx="2497998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顺序存储结构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ChangeArrowheads="1"/>
          </p:cNvSpPr>
          <p:nvPr/>
        </p:nvSpPr>
        <p:spPr bwMode="auto">
          <a:xfrm>
            <a:off x="3657600" y="2144812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1536</a:t>
            </a:r>
          </a:p>
        </p:txBody>
      </p:sp>
      <p:sp>
        <p:nvSpPr>
          <p:cNvPr id="38914" name="Rectangle 3"/>
          <p:cNvSpPr>
            <a:spLocks noChangeArrowheads="1"/>
          </p:cNvSpPr>
          <p:nvPr/>
        </p:nvSpPr>
        <p:spPr bwMode="auto">
          <a:xfrm>
            <a:off x="2667000" y="2144812"/>
            <a:ext cx="9906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</a:p>
        </p:txBody>
      </p:sp>
      <p:sp>
        <p:nvSpPr>
          <p:cNvPr id="38915" name="Line 4"/>
          <p:cNvSpPr>
            <a:spLocks noChangeShapeType="1"/>
          </p:cNvSpPr>
          <p:nvPr/>
        </p:nvSpPr>
        <p:spPr bwMode="auto">
          <a:xfrm>
            <a:off x="2667000" y="2144812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6" name="Line 5"/>
          <p:cNvSpPr>
            <a:spLocks noChangeShapeType="1"/>
          </p:cNvSpPr>
          <p:nvPr/>
        </p:nvSpPr>
        <p:spPr bwMode="auto">
          <a:xfrm>
            <a:off x="2667000" y="2600425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7" name="Line 6"/>
          <p:cNvSpPr>
            <a:spLocks noChangeShapeType="1"/>
          </p:cNvSpPr>
          <p:nvPr/>
        </p:nvSpPr>
        <p:spPr bwMode="auto">
          <a:xfrm>
            <a:off x="2667000" y="2144812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9" name="Line 8"/>
          <p:cNvSpPr>
            <a:spLocks noChangeShapeType="1"/>
          </p:cNvSpPr>
          <p:nvPr/>
        </p:nvSpPr>
        <p:spPr bwMode="auto">
          <a:xfrm>
            <a:off x="4495800" y="2144812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1371600" y="2146400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1400</a:t>
            </a:r>
          </a:p>
        </p:txBody>
      </p:sp>
      <p:sp>
        <p:nvSpPr>
          <p:cNvPr id="38921" name="Rectangle 10"/>
          <p:cNvSpPr>
            <a:spLocks noChangeArrowheads="1"/>
          </p:cNvSpPr>
          <p:nvPr/>
        </p:nvSpPr>
        <p:spPr bwMode="auto">
          <a:xfrm>
            <a:off x="381000" y="2146400"/>
            <a:ext cx="9906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</a:p>
        </p:txBody>
      </p:sp>
      <p:sp>
        <p:nvSpPr>
          <p:cNvPr id="38922" name="Line 11"/>
          <p:cNvSpPr>
            <a:spLocks noChangeShapeType="1"/>
          </p:cNvSpPr>
          <p:nvPr/>
        </p:nvSpPr>
        <p:spPr bwMode="auto">
          <a:xfrm>
            <a:off x="381000" y="2146400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381000" y="2602012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>
            <a:off x="381000" y="2146400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6" name="Line 15"/>
          <p:cNvSpPr>
            <a:spLocks noChangeShapeType="1"/>
          </p:cNvSpPr>
          <p:nvPr/>
        </p:nvSpPr>
        <p:spPr bwMode="auto">
          <a:xfrm>
            <a:off x="2209800" y="2146400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27" name="Rectangle 16"/>
          <p:cNvSpPr>
            <a:spLocks noChangeArrowheads="1"/>
          </p:cNvSpPr>
          <p:nvPr/>
        </p:nvSpPr>
        <p:spPr bwMode="auto">
          <a:xfrm>
            <a:off x="5867400" y="2144812"/>
            <a:ext cx="838200" cy="45720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1346</a:t>
            </a:r>
          </a:p>
        </p:txBody>
      </p:sp>
      <p:sp>
        <p:nvSpPr>
          <p:cNvPr id="38928" name="Rectangle 17"/>
          <p:cNvSpPr>
            <a:spLocks noChangeArrowheads="1"/>
          </p:cNvSpPr>
          <p:nvPr/>
        </p:nvSpPr>
        <p:spPr bwMode="auto">
          <a:xfrm>
            <a:off x="4876800" y="2144812"/>
            <a:ext cx="990600" cy="45720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</a:p>
        </p:txBody>
      </p:sp>
      <p:sp>
        <p:nvSpPr>
          <p:cNvPr id="38929" name="Line 18"/>
          <p:cNvSpPr>
            <a:spLocks noChangeShapeType="1"/>
          </p:cNvSpPr>
          <p:nvPr/>
        </p:nvSpPr>
        <p:spPr bwMode="auto">
          <a:xfrm>
            <a:off x="4876800" y="2144812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0" name="Line 19"/>
          <p:cNvSpPr>
            <a:spLocks noChangeShapeType="1"/>
          </p:cNvSpPr>
          <p:nvPr/>
        </p:nvSpPr>
        <p:spPr bwMode="auto">
          <a:xfrm>
            <a:off x="4876800" y="2602012"/>
            <a:ext cx="1828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1" name="Line 20"/>
          <p:cNvSpPr>
            <a:spLocks noChangeShapeType="1"/>
          </p:cNvSpPr>
          <p:nvPr/>
        </p:nvSpPr>
        <p:spPr bwMode="auto">
          <a:xfrm>
            <a:off x="4876800" y="2144812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3" name="Line 22"/>
          <p:cNvSpPr>
            <a:spLocks noChangeShapeType="1"/>
          </p:cNvSpPr>
          <p:nvPr/>
        </p:nvSpPr>
        <p:spPr bwMode="auto">
          <a:xfrm>
            <a:off x="6705600" y="2144812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4" name="Rectangle 23"/>
          <p:cNvSpPr>
            <a:spLocks noChangeArrowheads="1"/>
          </p:cNvSpPr>
          <p:nvPr/>
        </p:nvSpPr>
        <p:spPr bwMode="auto">
          <a:xfrm>
            <a:off x="7885113" y="2144812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∧</a:t>
            </a:r>
          </a:p>
        </p:txBody>
      </p:sp>
      <p:sp>
        <p:nvSpPr>
          <p:cNvPr id="38935" name="Rectangle 24"/>
          <p:cNvSpPr>
            <a:spLocks noChangeArrowheads="1"/>
          </p:cNvSpPr>
          <p:nvPr/>
        </p:nvSpPr>
        <p:spPr bwMode="auto">
          <a:xfrm>
            <a:off x="7086600" y="2144812"/>
            <a:ext cx="838200" cy="455613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元素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</a:p>
        </p:txBody>
      </p:sp>
      <p:sp>
        <p:nvSpPr>
          <p:cNvPr id="38936" name="Line 25"/>
          <p:cNvSpPr>
            <a:spLocks noChangeShapeType="1"/>
          </p:cNvSpPr>
          <p:nvPr/>
        </p:nvSpPr>
        <p:spPr bwMode="auto">
          <a:xfrm>
            <a:off x="7086600" y="2144812"/>
            <a:ext cx="1662113" cy="15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7" name="Line 26"/>
          <p:cNvSpPr>
            <a:spLocks noChangeShapeType="1"/>
          </p:cNvSpPr>
          <p:nvPr/>
        </p:nvSpPr>
        <p:spPr bwMode="auto">
          <a:xfrm>
            <a:off x="7086600" y="2600425"/>
            <a:ext cx="16621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38" name="Line 27"/>
          <p:cNvSpPr>
            <a:spLocks noChangeShapeType="1"/>
          </p:cNvSpPr>
          <p:nvPr/>
        </p:nvSpPr>
        <p:spPr bwMode="auto">
          <a:xfrm>
            <a:off x="7086600" y="2144812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40" name="Line 29"/>
          <p:cNvSpPr>
            <a:spLocks noChangeShapeType="1"/>
          </p:cNvSpPr>
          <p:nvPr/>
        </p:nvSpPr>
        <p:spPr bwMode="auto">
          <a:xfrm>
            <a:off x="8748713" y="2144812"/>
            <a:ext cx="0" cy="455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41" name="Rectangle 30"/>
          <p:cNvSpPr>
            <a:spLocks noChangeArrowheads="1"/>
          </p:cNvSpPr>
          <p:nvPr/>
        </p:nvSpPr>
        <p:spPr bwMode="auto">
          <a:xfrm>
            <a:off x="2771800" y="900419"/>
            <a:ext cx="990600" cy="400050"/>
          </a:xfrm>
          <a:prstGeom prst="rect">
            <a:avLst/>
          </a:prstGeom>
          <a:solidFill>
            <a:srgbClr val="EBE9EE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1345</a:t>
            </a:r>
          </a:p>
        </p:txBody>
      </p:sp>
      <p:sp>
        <p:nvSpPr>
          <p:cNvPr id="38942" name="Text Box 31" descr="蓝色砂纸"/>
          <p:cNvSpPr txBox="1">
            <a:spLocks noChangeArrowheads="1"/>
          </p:cNvSpPr>
          <p:nvPr/>
        </p:nvSpPr>
        <p:spPr bwMode="auto">
          <a:xfrm>
            <a:off x="728246" y="1361804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</a:p>
        </p:txBody>
      </p:sp>
      <p:cxnSp>
        <p:nvCxnSpPr>
          <p:cNvPr id="43036" name="AutoShape 32"/>
          <p:cNvCxnSpPr>
            <a:stCxn id="38920" idx="3"/>
            <a:endCxn id="38914" idx="1"/>
          </p:cNvCxnSpPr>
          <p:nvPr/>
        </p:nvCxnSpPr>
        <p:spPr>
          <a:xfrm flipV="1">
            <a:off x="2209800" y="2373412"/>
            <a:ext cx="457200" cy="1588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3037" name="AutoShape 33"/>
          <p:cNvCxnSpPr>
            <a:stCxn id="38913" idx="3"/>
            <a:endCxn id="38928" idx="1"/>
          </p:cNvCxnSpPr>
          <p:nvPr/>
        </p:nvCxnSpPr>
        <p:spPr>
          <a:xfrm>
            <a:off x="4495800" y="2373412"/>
            <a:ext cx="381000" cy="0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3038" name="AutoShape 34"/>
          <p:cNvCxnSpPr>
            <a:stCxn id="38927" idx="3"/>
            <a:endCxn id="38935" idx="1"/>
          </p:cNvCxnSpPr>
          <p:nvPr/>
        </p:nvCxnSpPr>
        <p:spPr>
          <a:xfrm flipV="1">
            <a:off x="6705600" y="2373412"/>
            <a:ext cx="381000" cy="0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3039" name="Text Box 69"/>
          <p:cNvSpPr txBox="1"/>
          <p:nvPr/>
        </p:nvSpPr>
        <p:spPr>
          <a:xfrm>
            <a:off x="736600" y="212725"/>
            <a:ext cx="2467246" cy="523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lvl="0" indent="0">
              <a:lnSpc>
                <a:spcPct val="100000"/>
              </a:lnSpc>
            </a:pPr>
            <a:r>
              <a:rPr lang="en-US" altLang="zh-CN" sz="2800" dirty="0">
                <a:solidFill>
                  <a:schemeClr val="bg1"/>
                </a:solidFill>
                <a:sym typeface="+mn-lt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sym typeface="+mn-lt"/>
              </a:rPr>
              <a:t>链式存储结构 </a:t>
            </a:r>
          </a:p>
        </p:txBody>
      </p:sp>
      <p:sp>
        <p:nvSpPr>
          <p:cNvPr id="38981" name="Line 71"/>
          <p:cNvSpPr>
            <a:spLocks noChangeShapeType="1"/>
          </p:cNvSpPr>
          <p:nvPr/>
        </p:nvSpPr>
        <p:spPr bwMode="auto">
          <a:xfrm>
            <a:off x="899592" y="1813025"/>
            <a:ext cx="0" cy="3317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82" name="Text Box 72" descr="蓝色砂纸"/>
          <p:cNvSpPr txBox="1">
            <a:spLocks noChangeArrowheads="1"/>
          </p:cNvSpPr>
          <p:nvPr/>
        </p:nvSpPr>
        <p:spPr bwMode="auto">
          <a:xfrm>
            <a:off x="2298700" y="836712"/>
            <a:ext cx="38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</a:t>
            </a:r>
          </a:p>
        </p:txBody>
      </p:sp>
      <p:graphicFrame>
        <p:nvGraphicFramePr>
          <p:cNvPr id="41" name="表格 40"/>
          <p:cNvGraphicFramePr/>
          <p:nvPr>
            <p:extLst>
              <p:ext uri="{D42A27DB-BD31-4B8C-83A1-F6EECF244321}">
                <p14:modId xmlns:p14="http://schemas.microsoft.com/office/powerpoint/2010/main" val="1494146576"/>
              </p:ext>
            </p:extLst>
          </p:nvPr>
        </p:nvGraphicFramePr>
        <p:xfrm>
          <a:off x="352425" y="2924944"/>
          <a:ext cx="8370888" cy="371400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8184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存储地址</a:t>
                      </a:r>
                    </a:p>
                  </a:txBody>
                  <a:tcPr marL="90024" marR="90024" marT="46841" marB="4684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存储内容</a:t>
                      </a:r>
                    </a:p>
                  </a:txBody>
                  <a:tcPr marL="90024" marR="90024" marT="46841" marB="46841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sym typeface="+mn-lt"/>
                        </a:rPr>
                        <a:t>指针</a:t>
                      </a:r>
                    </a:p>
                  </a:txBody>
                  <a:tcPr marL="90024" marR="90024" marT="46841" marB="4684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lt"/>
                        </a:rPr>
                        <a:t>  1345</a:t>
                      </a:r>
                    </a:p>
                  </a:txBody>
                  <a:tcPr marL="90024" marR="90024" marT="46841" marB="4684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1400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1346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4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∧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  ……..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</a:t>
                      </a:r>
                      <a:r>
                        <a:rPr lang="en-US" altLang="zh-CN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1400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2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</a:t>
                      </a:r>
                      <a:r>
                        <a:rPr lang="en-US" altLang="zh-CN" sz="2400" b="0" i="0" u="non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1536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  ……..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…….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1536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 </a:t>
                      </a:r>
                      <a:r>
                        <a:rPr lang="zh-CN" altLang="en-US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元素</a:t>
                      </a: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3</a:t>
                      </a:r>
                    </a:p>
                  </a:txBody>
                  <a:tcPr marL="91448" marR="91448" marT="45734" marB="4573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0" i="0" u="non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  <a:cs typeface="+mn-cs"/>
                          <a:sym typeface="+mn-lt"/>
                        </a:rPr>
                        <a:t>  1346</a:t>
                      </a:r>
                    </a:p>
                  </a:txBody>
                  <a:tcPr marL="91448" marR="91448" marT="45734" marB="45734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D1B9F-7A42-4D05-84B0-5235023A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存储结构与逻辑结构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24BE1-86FF-4E45-86E8-DFB3894CC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204" y="908720"/>
            <a:ext cx="8395592" cy="573107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存储结构的描述，依赖于所使用的高级程序语言，可称为“虚拟存储结构”。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四种基本存储结构既可单独使用，也可组合使用。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</a:rPr>
              <a:t>同一种逻辑结构可以映射为不同的存储结构。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选择何种存储结构视具体要求而定，主要考虑的是</a:t>
            </a:r>
            <a:r>
              <a:rPr lang="zh-CN" altLang="en-US" sz="2800" dirty="0">
                <a:solidFill>
                  <a:schemeClr val="accent2"/>
                </a:solidFill>
              </a:rPr>
              <a:t>运算方便及算法的时空要求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算法的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取决于选定的数据（逻辑）结构，而算法的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依赖于采用的存储结构。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57198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8613" y="1064048"/>
            <a:ext cx="8540750" cy="1077913"/>
          </a:xfrm>
          <a:solidFill>
            <a:srgbClr val="EBE9EE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逻辑结构和存储结构都相同，但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运算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不同，则数据结构不同。例如，栈与队列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9938" name="Rectangle 4"/>
          <p:cNvSpPr>
            <a:spLocks noChangeArrowheads="1"/>
          </p:cNvSpPr>
          <p:nvPr/>
        </p:nvSpPr>
        <p:spPr bwMode="auto">
          <a:xfrm>
            <a:off x="827088" y="188913"/>
            <a:ext cx="23463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数据的运算</a:t>
            </a:r>
          </a:p>
        </p:txBody>
      </p:sp>
      <p:grpSp>
        <p:nvGrpSpPr>
          <p:cNvPr id="44036" name="组合 2"/>
          <p:cNvGrpSpPr/>
          <p:nvPr/>
        </p:nvGrpSpPr>
        <p:grpSpPr>
          <a:xfrm>
            <a:off x="539750" y="3760788"/>
            <a:ext cx="7981950" cy="1911350"/>
            <a:chOff x="538973" y="3933056"/>
            <a:chExt cx="7982771" cy="1910743"/>
          </a:xfrm>
        </p:grpSpPr>
        <p:sp>
          <p:nvSpPr>
            <p:cNvPr id="44038" name="Freeform 5"/>
            <p:cNvSpPr>
              <a:spLocks noEditPoints="1"/>
            </p:cNvSpPr>
            <p:nvPr/>
          </p:nvSpPr>
          <p:spPr>
            <a:xfrm>
              <a:off x="5856673" y="3950173"/>
              <a:ext cx="653469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8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8" y="99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29" y="97"/>
                    <a:pt x="9" y="77"/>
                    <a:pt x="9" y="53"/>
                  </a:cubicBezTo>
                  <a:cubicBezTo>
                    <a:pt x="9" y="28"/>
                    <a:pt x="29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4C6062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0"/>
            <p:cNvSpPr>
              <a:spLocks noEditPoints="1"/>
            </p:cNvSpPr>
            <p:nvPr/>
          </p:nvSpPr>
          <p:spPr bwMode="auto">
            <a:xfrm>
              <a:off x="4190599" y="3933056"/>
              <a:ext cx="658881" cy="887130"/>
            </a:xfrm>
            <a:custGeom>
              <a:avLst/>
              <a:gdLst>
                <a:gd name="T0" fmla="*/ 55 w 109"/>
                <a:gd name="T1" fmla="*/ 0 h 145"/>
                <a:gd name="T2" fmla="*/ 0 w 109"/>
                <a:gd name="T3" fmla="*/ 54 h 145"/>
                <a:gd name="T4" fmla="*/ 55 w 109"/>
                <a:gd name="T5" fmla="*/ 145 h 145"/>
                <a:gd name="T6" fmla="*/ 109 w 109"/>
                <a:gd name="T7" fmla="*/ 54 h 145"/>
                <a:gd name="T8" fmla="*/ 55 w 109"/>
                <a:gd name="T9" fmla="*/ 0 h 145"/>
                <a:gd name="T10" fmla="*/ 55 w 109"/>
                <a:gd name="T11" fmla="*/ 97 h 145"/>
                <a:gd name="T12" fmla="*/ 10 w 109"/>
                <a:gd name="T13" fmla="*/ 53 h 145"/>
                <a:gd name="T14" fmla="*/ 55 w 109"/>
                <a:gd name="T15" fmla="*/ 8 h 145"/>
                <a:gd name="T16" fmla="*/ 99 w 109"/>
                <a:gd name="T17" fmla="*/ 53 h 145"/>
                <a:gd name="T18" fmla="*/ 55 w 109"/>
                <a:gd name="T19" fmla="*/ 9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45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99"/>
                    <a:pt x="55" y="145"/>
                    <a:pt x="55" y="145"/>
                  </a:cubicBezTo>
                  <a:cubicBezTo>
                    <a:pt x="55" y="145"/>
                    <a:pt x="109" y="99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55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5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5" y="97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4040" name="Freeform 14"/>
            <p:cNvSpPr>
              <a:spLocks noEditPoints="1"/>
            </p:cNvSpPr>
            <p:nvPr/>
          </p:nvSpPr>
          <p:spPr>
            <a:xfrm>
              <a:off x="2514552" y="3951414"/>
              <a:ext cx="658888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9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9" y="99"/>
                    <a:pt x="109" y="54"/>
                  </a:cubicBezTo>
                  <a:cubicBezTo>
                    <a:pt x="109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EBAC0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Freeform 18"/>
            <p:cNvSpPr>
              <a:spLocks noEditPoints="1"/>
            </p:cNvSpPr>
            <p:nvPr/>
          </p:nvSpPr>
          <p:spPr>
            <a:xfrm>
              <a:off x="979531" y="3975075"/>
              <a:ext cx="653469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8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8" y="99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29" y="97"/>
                    <a:pt x="9" y="77"/>
                    <a:pt x="9" y="53"/>
                  </a:cubicBezTo>
                  <a:cubicBezTo>
                    <a:pt x="9" y="28"/>
                    <a:pt x="29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6C4C8F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Rectangle 22"/>
            <p:cNvSpPr/>
            <p:nvPr/>
          </p:nvSpPr>
          <p:spPr>
            <a:xfrm>
              <a:off x="5342763" y="4958232"/>
              <a:ext cx="1671297" cy="59137"/>
            </a:xfrm>
            <a:prstGeom prst="rect">
              <a:avLst/>
            </a:prstGeom>
            <a:solidFill>
              <a:srgbClr val="4C6062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11" name="Rectangle 23"/>
            <p:cNvSpPr>
              <a:spLocks noChangeArrowheads="1"/>
            </p:cNvSpPr>
            <p:nvPr/>
          </p:nvSpPr>
          <p:spPr bwMode="auto">
            <a:xfrm>
              <a:off x="3685722" y="4958255"/>
              <a:ext cx="1576550" cy="5871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4044" name="Rectangle 24"/>
            <p:cNvSpPr/>
            <p:nvPr/>
          </p:nvSpPr>
          <p:spPr>
            <a:xfrm>
              <a:off x="2185108" y="4958232"/>
              <a:ext cx="1419018" cy="59137"/>
            </a:xfrm>
            <a:prstGeom prst="rect">
              <a:avLst/>
            </a:prstGeom>
            <a:solidFill>
              <a:srgbClr val="EBAC07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45" name="Rectangle 25"/>
            <p:cNvSpPr/>
            <p:nvPr/>
          </p:nvSpPr>
          <p:spPr>
            <a:xfrm>
              <a:off x="538973" y="4958232"/>
              <a:ext cx="1559507" cy="59137"/>
            </a:xfrm>
            <a:prstGeom prst="rect">
              <a:avLst/>
            </a:prstGeom>
            <a:solidFill>
              <a:srgbClr val="6C4C8F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46" name="文本框 25"/>
            <p:cNvSpPr txBox="1"/>
            <p:nvPr/>
          </p:nvSpPr>
          <p:spPr>
            <a:xfrm>
              <a:off x="1147045" y="4091894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F83003"/>
                  </a:solidFill>
                  <a:latin typeface="微软雅黑" panose="020B0503020204020204" pitchFamily="34" charset="-122"/>
                </a:rPr>
                <a:t>1</a:t>
              </a:r>
              <a:endParaRPr lang="zh-CN" altLang="en-US" sz="2000" dirty="0">
                <a:solidFill>
                  <a:srgbClr val="F83003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7" name="文本框 26"/>
            <p:cNvSpPr txBox="1"/>
            <p:nvPr/>
          </p:nvSpPr>
          <p:spPr>
            <a:xfrm>
              <a:off x="2672315" y="4068232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EBAC07"/>
                  </a:solidFill>
                  <a:latin typeface="微软雅黑" panose="020B0503020204020204" pitchFamily="34" charset="-122"/>
                </a:rPr>
                <a:t>2</a:t>
              </a:r>
              <a:endParaRPr lang="zh-CN" altLang="en-US" sz="2000" dirty="0">
                <a:solidFill>
                  <a:srgbClr val="EBAC07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8" name="文本框 27"/>
            <p:cNvSpPr txBox="1"/>
            <p:nvPr/>
          </p:nvSpPr>
          <p:spPr>
            <a:xfrm>
              <a:off x="4348400" y="4049874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A2B932"/>
                  </a:solidFill>
                  <a:latin typeface="微软雅黑" panose="020B0503020204020204" pitchFamily="34" charset="-122"/>
                </a:rPr>
                <a:t>3</a:t>
              </a:r>
              <a:endParaRPr lang="zh-CN" altLang="en-US" sz="2000" dirty="0">
                <a:solidFill>
                  <a:srgbClr val="A2B932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49" name="文本框 28"/>
            <p:cNvSpPr txBox="1"/>
            <p:nvPr/>
          </p:nvSpPr>
          <p:spPr>
            <a:xfrm>
              <a:off x="6011724" y="4109010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4C6062"/>
                  </a:solidFill>
                  <a:latin typeface="微软雅黑" panose="020B0503020204020204" pitchFamily="34" charset="-122"/>
                </a:rPr>
                <a:t>4</a:t>
              </a:r>
              <a:endParaRPr lang="zh-CN" altLang="en-US" sz="2000" dirty="0">
                <a:solidFill>
                  <a:srgbClr val="4C6062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050" name="文本框 29"/>
            <p:cNvSpPr txBox="1"/>
            <p:nvPr/>
          </p:nvSpPr>
          <p:spPr>
            <a:xfrm>
              <a:off x="709282" y="5197468"/>
              <a:ext cx="1264039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插入</a:t>
              </a:r>
            </a:p>
          </p:txBody>
        </p:sp>
        <p:sp>
          <p:nvSpPr>
            <p:cNvPr id="44051" name="文本框 30"/>
            <p:cNvSpPr txBox="1"/>
            <p:nvPr/>
          </p:nvSpPr>
          <p:spPr>
            <a:xfrm>
              <a:off x="5358740" y="5197468"/>
              <a:ext cx="1671297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查找</a:t>
              </a:r>
            </a:p>
          </p:txBody>
        </p:sp>
        <p:sp>
          <p:nvSpPr>
            <p:cNvPr id="44052" name="文本框 31"/>
            <p:cNvSpPr txBox="1"/>
            <p:nvPr/>
          </p:nvSpPr>
          <p:spPr>
            <a:xfrm>
              <a:off x="2307468" y="5197468"/>
              <a:ext cx="1251206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删除</a:t>
              </a:r>
            </a:p>
          </p:txBody>
        </p:sp>
        <p:sp>
          <p:nvSpPr>
            <p:cNvPr id="44053" name="文本框 32"/>
            <p:cNvSpPr txBox="1"/>
            <p:nvPr/>
          </p:nvSpPr>
          <p:spPr>
            <a:xfrm>
              <a:off x="3918580" y="5197468"/>
              <a:ext cx="1227215" cy="581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修改</a:t>
              </a:r>
            </a:p>
          </p:txBody>
        </p:sp>
        <p:sp>
          <p:nvSpPr>
            <p:cNvPr id="44054" name="Freeform 14"/>
            <p:cNvSpPr>
              <a:spLocks noEditPoints="1"/>
            </p:cNvSpPr>
            <p:nvPr/>
          </p:nvSpPr>
          <p:spPr>
            <a:xfrm>
              <a:off x="7432170" y="3951414"/>
              <a:ext cx="658888" cy="88754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109" h="145">
                  <a:moveTo>
                    <a:pt x="54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99"/>
                    <a:pt x="54" y="145"/>
                    <a:pt x="54" y="145"/>
                  </a:cubicBezTo>
                  <a:cubicBezTo>
                    <a:pt x="54" y="145"/>
                    <a:pt x="109" y="99"/>
                    <a:pt x="109" y="54"/>
                  </a:cubicBezTo>
                  <a:cubicBezTo>
                    <a:pt x="109" y="24"/>
                    <a:pt x="84" y="0"/>
                    <a:pt x="54" y="0"/>
                  </a:cubicBezTo>
                  <a:close/>
                  <a:moveTo>
                    <a:pt x="54" y="97"/>
                  </a:moveTo>
                  <a:cubicBezTo>
                    <a:pt x="30" y="97"/>
                    <a:pt x="10" y="77"/>
                    <a:pt x="10" y="53"/>
                  </a:cubicBezTo>
                  <a:cubicBezTo>
                    <a:pt x="10" y="28"/>
                    <a:pt x="30" y="8"/>
                    <a:pt x="54" y="8"/>
                  </a:cubicBezTo>
                  <a:cubicBezTo>
                    <a:pt x="79" y="8"/>
                    <a:pt x="99" y="28"/>
                    <a:pt x="99" y="53"/>
                  </a:cubicBezTo>
                  <a:cubicBezTo>
                    <a:pt x="99" y="77"/>
                    <a:pt x="79" y="97"/>
                    <a:pt x="54" y="97"/>
                  </a:cubicBezTo>
                  <a:close/>
                </a:path>
              </a:pathLst>
            </a:custGeom>
            <a:solidFill>
              <a:srgbClr val="EBAC07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Rectangle 24"/>
            <p:cNvSpPr/>
            <p:nvPr/>
          </p:nvSpPr>
          <p:spPr>
            <a:xfrm>
              <a:off x="7102726" y="4958232"/>
              <a:ext cx="1419018" cy="59137"/>
            </a:xfrm>
            <a:prstGeom prst="rect">
              <a:avLst/>
            </a:prstGeom>
            <a:solidFill>
              <a:srgbClr val="EBAC07"/>
            </a:solidFill>
            <a:ln w="9525">
              <a:noFill/>
            </a:ln>
          </p:spPr>
          <p:txBody>
            <a:bodyPr/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>
                <a:lnSpc>
                  <a:spcPct val="100000"/>
                </a:lnSpc>
              </a:pPr>
              <a:endParaRPr lang="zh-CN" altLang="en-US" sz="2800" dirty="0">
                <a:ea typeface="仿宋_GB2312" pitchFamily="49" charset="-122"/>
              </a:endParaRPr>
            </a:p>
          </p:txBody>
        </p:sp>
        <p:sp>
          <p:nvSpPr>
            <p:cNvPr id="44056" name="文本框 31"/>
            <p:cNvSpPr txBox="1"/>
            <p:nvPr/>
          </p:nvSpPr>
          <p:spPr>
            <a:xfrm>
              <a:off x="7203878" y="5197468"/>
              <a:ext cx="1251206" cy="6463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</a:rPr>
                <a:t>排序</a:t>
              </a:r>
            </a:p>
          </p:txBody>
        </p:sp>
        <p:sp>
          <p:nvSpPr>
            <p:cNvPr id="44057" name="文本框 26"/>
            <p:cNvSpPr txBox="1"/>
            <p:nvPr/>
          </p:nvSpPr>
          <p:spPr>
            <a:xfrm>
              <a:off x="7589932" y="4081247"/>
              <a:ext cx="343364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indent="53848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</a:defRPr>
              </a:lvl5pPr>
            </a:lstStyle>
            <a:p>
              <a:pPr lvl="0" indent="0" algn="ctr">
                <a:lnSpc>
                  <a:spcPct val="100000"/>
                </a:lnSpc>
              </a:pPr>
              <a:r>
                <a:rPr lang="en-US" altLang="zh-CN" sz="2000" b="1" dirty="0">
                  <a:solidFill>
                    <a:srgbClr val="EBAC07"/>
                  </a:solidFill>
                  <a:latin typeface="微软雅黑" panose="020B0503020204020204" pitchFamily="34" charset="-122"/>
                </a:rPr>
                <a:t>5</a:t>
              </a:r>
              <a:endParaRPr lang="zh-CN" altLang="en-US" sz="2000" dirty="0">
                <a:solidFill>
                  <a:srgbClr val="EBAC07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249238" y="2708275"/>
            <a:ext cx="85407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538480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对于一种数据结构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常见的运算：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uiExpand="1" build="p" animBg="1"/>
      <p:bldP spid="27" grpId="0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25"/>
          <p:cNvSpPr/>
          <p:nvPr/>
        </p:nvSpPr>
        <p:spPr>
          <a:xfrm>
            <a:off x="2352675" y="3321050"/>
            <a:ext cx="2419350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5059" name="矩形 2"/>
          <p:cNvSpPr/>
          <p:nvPr/>
        </p:nvSpPr>
        <p:spPr>
          <a:xfrm>
            <a:off x="2371725" y="1516063"/>
            <a:ext cx="2417763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0963" name="Text Box 5" descr="花岗岩"/>
          <p:cNvSpPr txBox="1">
            <a:spLocks noChangeArrowheads="1"/>
          </p:cNvSpPr>
          <p:nvPr/>
        </p:nvSpPr>
        <p:spPr bwMode="auto">
          <a:xfrm>
            <a:off x="2297113" y="1516063"/>
            <a:ext cx="249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数据的逻辑结构 </a:t>
            </a:r>
          </a:p>
        </p:txBody>
      </p:sp>
      <p:sp>
        <p:nvSpPr>
          <p:cNvPr id="40964" name="Text Box 6" descr="花岗岩"/>
          <p:cNvSpPr txBox="1">
            <a:spLocks noChangeArrowheads="1"/>
          </p:cNvSpPr>
          <p:nvPr/>
        </p:nvSpPr>
        <p:spPr bwMode="auto">
          <a:xfrm>
            <a:off x="2346325" y="3316288"/>
            <a:ext cx="24939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数据的存储结构 </a:t>
            </a:r>
          </a:p>
        </p:txBody>
      </p:sp>
      <p:sp>
        <p:nvSpPr>
          <p:cNvPr id="45062" name="矩形 26"/>
          <p:cNvSpPr/>
          <p:nvPr/>
        </p:nvSpPr>
        <p:spPr>
          <a:xfrm>
            <a:off x="2365375" y="4956175"/>
            <a:ext cx="1846263" cy="4619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0962" name="AutoShape 4"/>
          <p:cNvSpPr/>
          <p:nvPr/>
        </p:nvSpPr>
        <p:spPr bwMode="auto">
          <a:xfrm>
            <a:off x="1973263" y="1824038"/>
            <a:ext cx="309563" cy="3443288"/>
          </a:xfrm>
          <a:prstGeom prst="leftBrace">
            <a:avLst>
              <a:gd name="adj1" fmla="val 53735"/>
              <a:gd name="adj2" fmla="val 50000"/>
            </a:avLst>
          </a:prstGeom>
          <a:noFill/>
          <a:ln w="38100">
            <a:solidFill>
              <a:srgbClr val="6C4C8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5" name="Text Box 7" descr="花岗岩"/>
          <p:cNvSpPr txBox="1">
            <a:spLocks noChangeArrowheads="1"/>
          </p:cNvSpPr>
          <p:nvPr/>
        </p:nvSpPr>
        <p:spPr bwMode="auto">
          <a:xfrm>
            <a:off x="2346326" y="4959350"/>
            <a:ext cx="6402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数据的运算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插入、删除、修改、查找、排序 </a:t>
            </a:r>
          </a:p>
        </p:txBody>
      </p:sp>
      <p:sp>
        <p:nvSpPr>
          <p:cNvPr id="40966" name="AutoShape 8"/>
          <p:cNvSpPr/>
          <p:nvPr/>
        </p:nvSpPr>
        <p:spPr bwMode="auto">
          <a:xfrm>
            <a:off x="4979988" y="3103563"/>
            <a:ext cx="114300" cy="944563"/>
          </a:xfrm>
          <a:prstGeom prst="leftBrace">
            <a:avLst>
              <a:gd name="adj1" fmla="val 68789"/>
              <a:gd name="adj2" fmla="val 50000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7" name="AutoShape 9"/>
          <p:cNvSpPr/>
          <p:nvPr/>
        </p:nvSpPr>
        <p:spPr bwMode="auto">
          <a:xfrm>
            <a:off x="4911725" y="1055688"/>
            <a:ext cx="249238" cy="1343025"/>
          </a:xfrm>
          <a:prstGeom prst="leftBrace">
            <a:avLst>
              <a:gd name="adj1" fmla="val 20290"/>
              <a:gd name="adj2" fmla="val 49282"/>
            </a:avLst>
          </a:prstGeom>
          <a:noFill/>
          <a:ln w="38100">
            <a:solidFill>
              <a:schemeClr val="bg2">
                <a:lumMod val="5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8" name="AutoShape 10"/>
          <p:cNvSpPr/>
          <p:nvPr/>
        </p:nvSpPr>
        <p:spPr bwMode="auto">
          <a:xfrm>
            <a:off x="6932613" y="336550"/>
            <a:ext cx="152400" cy="1360488"/>
          </a:xfrm>
          <a:prstGeom prst="leftBrace">
            <a:avLst>
              <a:gd name="adj1" fmla="val 74310"/>
              <a:gd name="adj2" fmla="val 50000"/>
            </a:avLst>
          </a:prstGeom>
          <a:noFill/>
          <a:ln w="38100">
            <a:solidFill>
              <a:schemeClr val="bg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9" name="AutoShape 11"/>
          <p:cNvSpPr/>
          <p:nvPr/>
        </p:nvSpPr>
        <p:spPr bwMode="auto">
          <a:xfrm>
            <a:off x="6970713" y="1936750"/>
            <a:ext cx="114300" cy="944563"/>
          </a:xfrm>
          <a:prstGeom prst="leftBrace">
            <a:avLst>
              <a:gd name="adj1" fmla="val 68789"/>
              <a:gd name="adj2" fmla="val 50000"/>
            </a:avLst>
          </a:prstGeom>
          <a:noFill/>
          <a:ln w="38100">
            <a:solidFill>
              <a:schemeClr val="bg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0" name="Text Box 12" descr="花岗岩"/>
          <p:cNvSpPr txBox="1">
            <a:spLocks noChangeArrowheads="1"/>
          </p:cNvSpPr>
          <p:nvPr/>
        </p:nvSpPr>
        <p:spPr bwMode="auto">
          <a:xfrm>
            <a:off x="5084763" y="809625"/>
            <a:ext cx="1570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 </a:t>
            </a:r>
          </a:p>
        </p:txBody>
      </p:sp>
      <p:sp>
        <p:nvSpPr>
          <p:cNvPr id="40971" name="Text Box 13" descr="花岗岩"/>
          <p:cNvSpPr txBox="1">
            <a:spLocks noChangeArrowheads="1"/>
          </p:cNvSpPr>
          <p:nvPr/>
        </p:nvSpPr>
        <p:spPr bwMode="auto">
          <a:xfrm>
            <a:off x="5106988" y="2159000"/>
            <a:ext cx="180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非线性结构</a:t>
            </a:r>
          </a:p>
        </p:txBody>
      </p:sp>
      <p:sp>
        <p:nvSpPr>
          <p:cNvPr id="40972" name="Text Box 14" descr="花岗岩"/>
          <p:cNvSpPr txBox="1">
            <a:spLocks noChangeArrowheads="1"/>
          </p:cNvSpPr>
          <p:nvPr/>
        </p:nvSpPr>
        <p:spPr bwMode="auto">
          <a:xfrm>
            <a:off x="5124450" y="2881313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顺序存储</a:t>
            </a:r>
          </a:p>
        </p:txBody>
      </p:sp>
      <p:sp>
        <p:nvSpPr>
          <p:cNvPr id="40973" name="Text Box 15" descr="花岗岩"/>
          <p:cNvSpPr txBox="1">
            <a:spLocks noChangeArrowheads="1"/>
          </p:cNvSpPr>
          <p:nvPr/>
        </p:nvSpPr>
        <p:spPr bwMode="auto">
          <a:xfrm>
            <a:off x="5076825" y="3817938"/>
            <a:ext cx="1646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链式存储 </a:t>
            </a:r>
          </a:p>
        </p:txBody>
      </p:sp>
      <p:sp>
        <p:nvSpPr>
          <p:cNvPr id="40974" name="Text Box 16" descr="花岗岩"/>
          <p:cNvSpPr txBox="1">
            <a:spLocks noChangeArrowheads="1"/>
          </p:cNvSpPr>
          <p:nvPr/>
        </p:nvSpPr>
        <p:spPr bwMode="auto">
          <a:xfrm>
            <a:off x="7218363" y="169863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线性表</a:t>
            </a:r>
          </a:p>
        </p:txBody>
      </p:sp>
      <p:sp>
        <p:nvSpPr>
          <p:cNvPr id="40977" name="Text Box 19" descr="花岗岩"/>
          <p:cNvSpPr txBox="1">
            <a:spLocks noChangeArrowheads="1"/>
          </p:cNvSpPr>
          <p:nvPr/>
        </p:nvSpPr>
        <p:spPr bwMode="auto">
          <a:xfrm>
            <a:off x="7215188" y="19367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树形结构</a:t>
            </a:r>
          </a:p>
        </p:txBody>
      </p:sp>
      <p:sp>
        <p:nvSpPr>
          <p:cNvPr id="40978" name="Text Box 20" descr="花岗岩"/>
          <p:cNvSpPr txBox="1">
            <a:spLocks noChangeArrowheads="1"/>
          </p:cNvSpPr>
          <p:nvPr/>
        </p:nvSpPr>
        <p:spPr bwMode="auto">
          <a:xfrm>
            <a:off x="7215188" y="2470150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图形结构</a:t>
            </a:r>
          </a:p>
        </p:txBody>
      </p:sp>
      <p:sp>
        <p:nvSpPr>
          <p:cNvPr id="397336" name="Text Box 24"/>
          <p:cNvSpPr txBox="1">
            <a:spLocks noChangeArrowheads="1"/>
          </p:cNvSpPr>
          <p:nvPr/>
        </p:nvSpPr>
        <p:spPr bwMode="auto">
          <a:xfrm>
            <a:off x="273050" y="1240632"/>
            <a:ext cx="2028825" cy="4458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逻辑结构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唯一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存储结构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不唯一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运算的实现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依赖存储结构</a:t>
            </a:r>
          </a:p>
        </p:txBody>
      </p:sp>
      <p:sp>
        <p:nvSpPr>
          <p:cNvPr id="23" name="Text Box 16" descr="花岗岩"/>
          <p:cNvSpPr txBox="1">
            <a:spLocks noChangeArrowheads="1"/>
          </p:cNvSpPr>
          <p:nvPr/>
        </p:nvSpPr>
        <p:spPr bwMode="auto">
          <a:xfrm>
            <a:off x="7116763" y="785813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栈、队列</a:t>
            </a:r>
          </a:p>
        </p:txBody>
      </p:sp>
      <p:sp>
        <p:nvSpPr>
          <p:cNvPr id="24" name="Text Box 16" descr="花岗岩"/>
          <p:cNvSpPr txBox="1">
            <a:spLocks noChangeArrowheads="1"/>
          </p:cNvSpPr>
          <p:nvPr/>
        </p:nvSpPr>
        <p:spPr bwMode="auto">
          <a:xfrm>
            <a:off x="7126288" y="1397000"/>
            <a:ext cx="1492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串、数组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72816"/>
            <a:ext cx="8064896" cy="48245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数据结构的研究内容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数据结构的基本概念和术语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数据类型与抽象数据类型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什么是数据类型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抽象数据类型的定义与实现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算法和算法分析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8030929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数据类型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081569" y="965779"/>
            <a:ext cx="3223554" cy="4695470"/>
            <a:chOff x="8962847" y="1808820"/>
            <a:chExt cx="3267851" cy="4220722"/>
          </a:xfrm>
        </p:grpSpPr>
        <p:sp>
          <p:nvSpPr>
            <p:cNvPr id="21" name="íślíḋè-圆角矩形 46"/>
            <p:cNvSpPr/>
            <p:nvPr/>
          </p:nvSpPr>
          <p:spPr>
            <a:xfrm>
              <a:off x="8988322" y="1808820"/>
              <a:ext cx="3242376" cy="4220722"/>
            </a:xfrm>
            <a:prstGeom prst="roundRect">
              <a:avLst>
                <a:gd name="adj" fmla="val 3485"/>
              </a:avLst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íślíḋè-任意多边形 47"/>
            <p:cNvSpPr/>
            <p:nvPr/>
          </p:nvSpPr>
          <p:spPr>
            <a:xfrm>
              <a:off x="8962847" y="2457838"/>
              <a:ext cx="3242376" cy="3165082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íślíḋè-文本框 48"/>
            <p:cNvSpPr txBox="1"/>
            <p:nvPr/>
          </p:nvSpPr>
          <p:spPr>
            <a:xfrm>
              <a:off x="10229186" y="2453932"/>
              <a:ext cx="755149" cy="707424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kern="0" cap="none" spc="0" normalizeH="0" baseline="0" noProof="0" dirty="0">
                <a:solidFill>
                  <a:srgbClr val="EEECE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íślíḋè-任意多边形 50"/>
            <p:cNvSpPr/>
            <p:nvPr/>
          </p:nvSpPr>
          <p:spPr>
            <a:xfrm>
              <a:off x="10401478" y="5287296"/>
              <a:ext cx="460054" cy="445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4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4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005029" y="965777"/>
            <a:ext cx="3095363" cy="4695471"/>
            <a:chOff x="8988319" y="1808819"/>
            <a:chExt cx="3283944" cy="4288299"/>
          </a:xfrm>
        </p:grpSpPr>
        <p:sp>
          <p:nvSpPr>
            <p:cNvPr id="27" name="íślíḋè-圆角矩形 41"/>
            <p:cNvSpPr/>
            <p:nvPr/>
          </p:nvSpPr>
          <p:spPr>
            <a:xfrm>
              <a:off x="8988319" y="1808819"/>
              <a:ext cx="3283944" cy="4288299"/>
            </a:xfrm>
            <a:prstGeom prst="roundRect">
              <a:avLst>
                <a:gd name="adj" fmla="val 3485"/>
              </a:avLst>
            </a:prstGeom>
            <a:solidFill>
              <a:srgbClr val="4BACC6">
                <a:lumMod val="10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íślíḋè-任意多边形 42"/>
            <p:cNvSpPr/>
            <p:nvPr/>
          </p:nvSpPr>
          <p:spPr>
            <a:xfrm>
              <a:off x="8988319" y="2590659"/>
              <a:ext cx="3283944" cy="3165084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íślíḋè-文本框 43"/>
            <p:cNvSpPr txBox="1"/>
            <p:nvPr/>
          </p:nvSpPr>
          <p:spPr>
            <a:xfrm>
              <a:off x="10296542" y="2100221"/>
              <a:ext cx="777005" cy="707425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kern="0" cap="none" spc="0" normalizeH="0" baseline="0" noProof="0" dirty="0">
                <a:solidFill>
                  <a:srgbClr val="EEECE1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íślíḋè-任意多边形 45"/>
            <p:cNvSpPr/>
            <p:nvPr/>
          </p:nvSpPr>
          <p:spPr>
            <a:xfrm>
              <a:off x="10472691" y="5331281"/>
              <a:ext cx="459971" cy="456343"/>
            </a:xfrm>
            <a:custGeom>
              <a:avLst/>
              <a:gdLst>
                <a:gd name="connsiteX0" fmla="*/ 173038 w 331788"/>
                <a:gd name="connsiteY0" fmla="*/ 204788 h 330200"/>
                <a:gd name="connsiteX1" fmla="*/ 185738 w 331788"/>
                <a:gd name="connsiteY1" fmla="*/ 215901 h 330200"/>
                <a:gd name="connsiteX2" fmla="*/ 173038 w 331788"/>
                <a:gd name="connsiteY2" fmla="*/ 227014 h 330200"/>
                <a:gd name="connsiteX3" fmla="*/ 160338 w 331788"/>
                <a:gd name="connsiteY3" fmla="*/ 215901 h 330200"/>
                <a:gd name="connsiteX4" fmla="*/ 173038 w 331788"/>
                <a:gd name="connsiteY4" fmla="*/ 204788 h 330200"/>
                <a:gd name="connsiteX5" fmla="*/ 169690 w 331788"/>
                <a:gd name="connsiteY5" fmla="*/ 184150 h 330200"/>
                <a:gd name="connsiteX6" fmla="*/ 165860 w 331788"/>
                <a:gd name="connsiteY6" fmla="*/ 188084 h 330200"/>
                <a:gd name="connsiteX7" fmla="*/ 165860 w 331788"/>
                <a:gd name="connsiteY7" fmla="*/ 192019 h 330200"/>
                <a:gd name="connsiteX8" fmla="*/ 160752 w 331788"/>
                <a:gd name="connsiteY8" fmla="*/ 194642 h 330200"/>
                <a:gd name="connsiteX9" fmla="*/ 158198 w 331788"/>
                <a:gd name="connsiteY9" fmla="*/ 192019 h 330200"/>
                <a:gd name="connsiteX10" fmla="*/ 154367 w 331788"/>
                <a:gd name="connsiteY10" fmla="*/ 192019 h 330200"/>
                <a:gd name="connsiteX11" fmla="*/ 149260 w 331788"/>
                <a:gd name="connsiteY11" fmla="*/ 197264 h 330200"/>
                <a:gd name="connsiteX12" fmla="*/ 149260 w 331788"/>
                <a:gd name="connsiteY12" fmla="*/ 201199 h 330200"/>
                <a:gd name="connsiteX13" fmla="*/ 153091 w 331788"/>
                <a:gd name="connsiteY13" fmla="*/ 203821 h 330200"/>
                <a:gd name="connsiteX14" fmla="*/ 150537 w 331788"/>
                <a:gd name="connsiteY14" fmla="*/ 211690 h 330200"/>
                <a:gd name="connsiteX15" fmla="*/ 145429 w 331788"/>
                <a:gd name="connsiteY15" fmla="*/ 211690 h 330200"/>
                <a:gd name="connsiteX16" fmla="*/ 142875 w 331788"/>
                <a:gd name="connsiteY16" fmla="*/ 211690 h 330200"/>
                <a:gd name="connsiteX17" fmla="*/ 142875 w 331788"/>
                <a:gd name="connsiteY17" fmla="*/ 219558 h 330200"/>
                <a:gd name="connsiteX18" fmla="*/ 145429 w 331788"/>
                <a:gd name="connsiteY18" fmla="*/ 222181 h 330200"/>
                <a:gd name="connsiteX19" fmla="*/ 150537 w 331788"/>
                <a:gd name="connsiteY19" fmla="*/ 222181 h 330200"/>
                <a:gd name="connsiteX20" fmla="*/ 153091 w 331788"/>
                <a:gd name="connsiteY20" fmla="*/ 227427 h 330200"/>
                <a:gd name="connsiteX21" fmla="*/ 149260 w 331788"/>
                <a:gd name="connsiteY21" fmla="*/ 231361 h 330200"/>
                <a:gd name="connsiteX22" fmla="*/ 149260 w 331788"/>
                <a:gd name="connsiteY22" fmla="*/ 235295 h 330200"/>
                <a:gd name="connsiteX23" fmla="*/ 154367 w 331788"/>
                <a:gd name="connsiteY23" fmla="*/ 239230 h 330200"/>
                <a:gd name="connsiteX24" fmla="*/ 158198 w 331788"/>
                <a:gd name="connsiteY24" fmla="*/ 239230 h 330200"/>
                <a:gd name="connsiteX25" fmla="*/ 160752 w 331788"/>
                <a:gd name="connsiteY25" fmla="*/ 236607 h 330200"/>
                <a:gd name="connsiteX26" fmla="*/ 165860 w 331788"/>
                <a:gd name="connsiteY26" fmla="*/ 239230 h 330200"/>
                <a:gd name="connsiteX27" fmla="*/ 165860 w 331788"/>
                <a:gd name="connsiteY27" fmla="*/ 243164 h 330200"/>
                <a:gd name="connsiteX28" fmla="*/ 169690 w 331788"/>
                <a:gd name="connsiteY28" fmla="*/ 244475 h 330200"/>
                <a:gd name="connsiteX29" fmla="*/ 176075 w 331788"/>
                <a:gd name="connsiteY29" fmla="*/ 244475 h 330200"/>
                <a:gd name="connsiteX30" fmla="*/ 178629 w 331788"/>
                <a:gd name="connsiteY30" fmla="*/ 243164 h 330200"/>
                <a:gd name="connsiteX31" fmla="*/ 178629 w 331788"/>
                <a:gd name="connsiteY31" fmla="*/ 239230 h 330200"/>
                <a:gd name="connsiteX32" fmla="*/ 185013 w 331788"/>
                <a:gd name="connsiteY32" fmla="*/ 236607 h 330200"/>
                <a:gd name="connsiteX33" fmla="*/ 187567 w 331788"/>
                <a:gd name="connsiteY33" fmla="*/ 239230 h 330200"/>
                <a:gd name="connsiteX34" fmla="*/ 191398 w 331788"/>
                <a:gd name="connsiteY34" fmla="*/ 239230 h 330200"/>
                <a:gd name="connsiteX35" fmla="*/ 196506 w 331788"/>
                <a:gd name="connsiteY35" fmla="*/ 233984 h 330200"/>
                <a:gd name="connsiteX36" fmla="*/ 196506 w 331788"/>
                <a:gd name="connsiteY36" fmla="*/ 231361 h 330200"/>
                <a:gd name="connsiteX37" fmla="*/ 192675 w 331788"/>
                <a:gd name="connsiteY37" fmla="*/ 227427 h 330200"/>
                <a:gd name="connsiteX38" fmla="*/ 195229 w 331788"/>
                <a:gd name="connsiteY38" fmla="*/ 222181 h 330200"/>
                <a:gd name="connsiteX39" fmla="*/ 200336 w 331788"/>
                <a:gd name="connsiteY39" fmla="*/ 222181 h 330200"/>
                <a:gd name="connsiteX40" fmla="*/ 201613 w 331788"/>
                <a:gd name="connsiteY40" fmla="*/ 219558 h 330200"/>
                <a:gd name="connsiteX41" fmla="*/ 201613 w 331788"/>
                <a:gd name="connsiteY41" fmla="*/ 211690 h 330200"/>
                <a:gd name="connsiteX42" fmla="*/ 200336 w 331788"/>
                <a:gd name="connsiteY42" fmla="*/ 211690 h 330200"/>
                <a:gd name="connsiteX43" fmla="*/ 195229 w 331788"/>
                <a:gd name="connsiteY43" fmla="*/ 211690 h 330200"/>
                <a:gd name="connsiteX44" fmla="*/ 192675 w 331788"/>
                <a:gd name="connsiteY44" fmla="*/ 203821 h 330200"/>
                <a:gd name="connsiteX45" fmla="*/ 196506 w 331788"/>
                <a:gd name="connsiteY45" fmla="*/ 199887 h 330200"/>
                <a:gd name="connsiteX46" fmla="*/ 196506 w 331788"/>
                <a:gd name="connsiteY46" fmla="*/ 197264 h 330200"/>
                <a:gd name="connsiteX47" fmla="*/ 191398 w 331788"/>
                <a:gd name="connsiteY47" fmla="*/ 192019 h 330200"/>
                <a:gd name="connsiteX48" fmla="*/ 187567 w 331788"/>
                <a:gd name="connsiteY48" fmla="*/ 192019 h 330200"/>
                <a:gd name="connsiteX49" fmla="*/ 185013 w 331788"/>
                <a:gd name="connsiteY49" fmla="*/ 194642 h 330200"/>
                <a:gd name="connsiteX50" fmla="*/ 178629 w 331788"/>
                <a:gd name="connsiteY50" fmla="*/ 192019 h 330200"/>
                <a:gd name="connsiteX51" fmla="*/ 178629 w 331788"/>
                <a:gd name="connsiteY51" fmla="*/ 188084 h 330200"/>
                <a:gd name="connsiteX52" fmla="*/ 176075 w 331788"/>
                <a:gd name="connsiteY52" fmla="*/ 184150 h 330200"/>
                <a:gd name="connsiteX53" fmla="*/ 169690 w 331788"/>
                <a:gd name="connsiteY53" fmla="*/ 184150 h 330200"/>
                <a:gd name="connsiteX54" fmla="*/ 123825 w 331788"/>
                <a:gd name="connsiteY54" fmla="*/ 165100 h 330200"/>
                <a:gd name="connsiteX55" fmla="*/ 123825 w 331788"/>
                <a:gd name="connsiteY55" fmla="*/ 176213 h 330200"/>
                <a:gd name="connsiteX56" fmla="*/ 223838 w 331788"/>
                <a:gd name="connsiteY56" fmla="*/ 176213 h 330200"/>
                <a:gd name="connsiteX57" fmla="*/ 223838 w 331788"/>
                <a:gd name="connsiteY57" fmla="*/ 165100 h 330200"/>
                <a:gd name="connsiteX58" fmla="*/ 123825 w 331788"/>
                <a:gd name="connsiteY58" fmla="*/ 146050 h 330200"/>
                <a:gd name="connsiteX59" fmla="*/ 123825 w 331788"/>
                <a:gd name="connsiteY59" fmla="*/ 155575 h 330200"/>
                <a:gd name="connsiteX60" fmla="*/ 223838 w 331788"/>
                <a:gd name="connsiteY60" fmla="*/ 155575 h 330200"/>
                <a:gd name="connsiteX61" fmla="*/ 223838 w 331788"/>
                <a:gd name="connsiteY61" fmla="*/ 146050 h 330200"/>
                <a:gd name="connsiteX62" fmla="*/ 123825 w 331788"/>
                <a:gd name="connsiteY62" fmla="*/ 131763 h 330200"/>
                <a:gd name="connsiteX63" fmla="*/ 123825 w 331788"/>
                <a:gd name="connsiteY63" fmla="*/ 139701 h 330200"/>
                <a:gd name="connsiteX64" fmla="*/ 166688 w 331788"/>
                <a:gd name="connsiteY64" fmla="*/ 139701 h 330200"/>
                <a:gd name="connsiteX65" fmla="*/ 166688 w 331788"/>
                <a:gd name="connsiteY65" fmla="*/ 131763 h 330200"/>
                <a:gd name="connsiteX66" fmla="*/ 123825 w 331788"/>
                <a:gd name="connsiteY66" fmla="*/ 115888 h 330200"/>
                <a:gd name="connsiteX67" fmla="*/ 123825 w 331788"/>
                <a:gd name="connsiteY67" fmla="*/ 122238 h 330200"/>
                <a:gd name="connsiteX68" fmla="*/ 166688 w 331788"/>
                <a:gd name="connsiteY68" fmla="*/ 122238 h 330200"/>
                <a:gd name="connsiteX69" fmla="*/ 166688 w 331788"/>
                <a:gd name="connsiteY69" fmla="*/ 115888 h 330200"/>
                <a:gd name="connsiteX70" fmla="*/ 179388 w 331788"/>
                <a:gd name="connsiteY70" fmla="*/ 100013 h 330200"/>
                <a:gd name="connsiteX71" fmla="*/ 179388 w 331788"/>
                <a:gd name="connsiteY71" fmla="*/ 139701 h 330200"/>
                <a:gd name="connsiteX72" fmla="*/ 223838 w 331788"/>
                <a:gd name="connsiteY72" fmla="*/ 139701 h 330200"/>
                <a:gd name="connsiteX73" fmla="*/ 223838 w 331788"/>
                <a:gd name="connsiteY73" fmla="*/ 100013 h 330200"/>
                <a:gd name="connsiteX74" fmla="*/ 123825 w 331788"/>
                <a:gd name="connsiteY74" fmla="*/ 100013 h 330200"/>
                <a:gd name="connsiteX75" fmla="*/ 123825 w 331788"/>
                <a:gd name="connsiteY75" fmla="*/ 106363 h 330200"/>
                <a:gd name="connsiteX76" fmla="*/ 166688 w 331788"/>
                <a:gd name="connsiteY76" fmla="*/ 106363 h 330200"/>
                <a:gd name="connsiteX77" fmla="*/ 166688 w 331788"/>
                <a:gd name="connsiteY77" fmla="*/ 100013 h 330200"/>
                <a:gd name="connsiteX78" fmla="*/ 106363 w 331788"/>
                <a:gd name="connsiteY78" fmla="*/ 76200 h 330200"/>
                <a:gd name="connsiteX79" fmla="*/ 238126 w 331788"/>
                <a:gd name="connsiteY79" fmla="*/ 76200 h 330200"/>
                <a:gd name="connsiteX80" fmla="*/ 238126 w 331788"/>
                <a:gd name="connsiteY80" fmla="*/ 254000 h 330200"/>
                <a:gd name="connsiteX81" fmla="*/ 106363 w 331788"/>
                <a:gd name="connsiteY81" fmla="*/ 254000 h 330200"/>
                <a:gd name="connsiteX82" fmla="*/ 103296 w 331788"/>
                <a:gd name="connsiteY82" fmla="*/ 65088 h 330200"/>
                <a:gd name="connsiteX83" fmla="*/ 96838 w 331788"/>
                <a:gd name="connsiteY83" fmla="*/ 71583 h 330200"/>
                <a:gd name="connsiteX84" fmla="*/ 96838 w 331788"/>
                <a:gd name="connsiteY84" fmla="*/ 258619 h 330200"/>
                <a:gd name="connsiteX85" fmla="*/ 103296 w 331788"/>
                <a:gd name="connsiteY85" fmla="*/ 265113 h 330200"/>
                <a:gd name="connsiteX86" fmla="*/ 242781 w 331788"/>
                <a:gd name="connsiteY86" fmla="*/ 265113 h 330200"/>
                <a:gd name="connsiteX87" fmla="*/ 246655 w 331788"/>
                <a:gd name="connsiteY87" fmla="*/ 263814 h 330200"/>
                <a:gd name="connsiteX88" fmla="*/ 247947 w 331788"/>
                <a:gd name="connsiteY88" fmla="*/ 263814 h 330200"/>
                <a:gd name="connsiteX89" fmla="*/ 247947 w 331788"/>
                <a:gd name="connsiteY89" fmla="*/ 262516 h 330200"/>
                <a:gd name="connsiteX90" fmla="*/ 249238 w 331788"/>
                <a:gd name="connsiteY90" fmla="*/ 258619 h 330200"/>
                <a:gd name="connsiteX91" fmla="*/ 249238 w 331788"/>
                <a:gd name="connsiteY91" fmla="*/ 71583 h 330200"/>
                <a:gd name="connsiteX92" fmla="*/ 242781 w 331788"/>
                <a:gd name="connsiteY92" fmla="*/ 65088 h 330200"/>
                <a:gd name="connsiteX93" fmla="*/ 103296 w 331788"/>
                <a:gd name="connsiteY93" fmla="*/ 65088 h 330200"/>
                <a:gd name="connsiteX94" fmla="*/ 165894 w 331788"/>
                <a:gd name="connsiteY94" fmla="*/ 0 h 330200"/>
                <a:gd name="connsiteX95" fmla="*/ 331788 w 331788"/>
                <a:gd name="connsiteY95" fmla="*/ 165100 h 330200"/>
                <a:gd name="connsiteX96" fmla="*/ 165894 w 331788"/>
                <a:gd name="connsiteY96" fmla="*/ 330200 h 330200"/>
                <a:gd name="connsiteX97" fmla="*/ 0 w 331788"/>
                <a:gd name="connsiteY97" fmla="*/ 165100 h 330200"/>
                <a:gd name="connsiteX98" fmla="*/ 165894 w 331788"/>
                <a:gd name="connsiteY98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31788" h="330200">
                  <a:moveTo>
                    <a:pt x="173038" y="204788"/>
                  </a:moveTo>
                  <a:cubicBezTo>
                    <a:pt x="180052" y="204788"/>
                    <a:pt x="185738" y="209763"/>
                    <a:pt x="185738" y="215901"/>
                  </a:cubicBezTo>
                  <a:cubicBezTo>
                    <a:pt x="185738" y="222039"/>
                    <a:pt x="180052" y="227014"/>
                    <a:pt x="173038" y="227014"/>
                  </a:cubicBezTo>
                  <a:cubicBezTo>
                    <a:pt x="166024" y="227014"/>
                    <a:pt x="160338" y="222039"/>
                    <a:pt x="160338" y="215901"/>
                  </a:cubicBezTo>
                  <a:cubicBezTo>
                    <a:pt x="160338" y="209763"/>
                    <a:pt x="166024" y="204788"/>
                    <a:pt x="173038" y="204788"/>
                  </a:cubicBezTo>
                  <a:close/>
                  <a:moveTo>
                    <a:pt x="169690" y="184150"/>
                  </a:moveTo>
                  <a:cubicBezTo>
                    <a:pt x="168414" y="184150"/>
                    <a:pt x="165860" y="186773"/>
                    <a:pt x="165860" y="188084"/>
                  </a:cubicBezTo>
                  <a:cubicBezTo>
                    <a:pt x="165860" y="188084"/>
                    <a:pt x="165860" y="188084"/>
                    <a:pt x="165860" y="192019"/>
                  </a:cubicBezTo>
                  <a:cubicBezTo>
                    <a:pt x="165860" y="193330"/>
                    <a:pt x="162029" y="193330"/>
                    <a:pt x="160752" y="194642"/>
                  </a:cubicBezTo>
                  <a:cubicBezTo>
                    <a:pt x="160752" y="194642"/>
                    <a:pt x="160752" y="194642"/>
                    <a:pt x="158198" y="192019"/>
                  </a:cubicBezTo>
                  <a:cubicBezTo>
                    <a:pt x="156921" y="190707"/>
                    <a:pt x="155644" y="190707"/>
                    <a:pt x="154367" y="192019"/>
                  </a:cubicBezTo>
                  <a:cubicBezTo>
                    <a:pt x="154367" y="192019"/>
                    <a:pt x="154367" y="192019"/>
                    <a:pt x="149260" y="197264"/>
                  </a:cubicBezTo>
                  <a:cubicBezTo>
                    <a:pt x="149260" y="198576"/>
                    <a:pt x="149260" y="199887"/>
                    <a:pt x="149260" y="201199"/>
                  </a:cubicBezTo>
                  <a:cubicBezTo>
                    <a:pt x="149260" y="201199"/>
                    <a:pt x="149260" y="201199"/>
                    <a:pt x="153091" y="203821"/>
                  </a:cubicBezTo>
                  <a:cubicBezTo>
                    <a:pt x="151814" y="206444"/>
                    <a:pt x="150537" y="207756"/>
                    <a:pt x="150537" y="211690"/>
                  </a:cubicBezTo>
                  <a:cubicBezTo>
                    <a:pt x="150537" y="211690"/>
                    <a:pt x="150537" y="211690"/>
                    <a:pt x="145429" y="211690"/>
                  </a:cubicBezTo>
                  <a:cubicBezTo>
                    <a:pt x="144152" y="211690"/>
                    <a:pt x="142875" y="210379"/>
                    <a:pt x="142875" y="211690"/>
                  </a:cubicBezTo>
                  <a:cubicBezTo>
                    <a:pt x="142875" y="211690"/>
                    <a:pt x="142875" y="211690"/>
                    <a:pt x="142875" y="219558"/>
                  </a:cubicBezTo>
                  <a:cubicBezTo>
                    <a:pt x="142875" y="220870"/>
                    <a:pt x="144152" y="222181"/>
                    <a:pt x="145429" y="222181"/>
                  </a:cubicBezTo>
                  <a:cubicBezTo>
                    <a:pt x="145429" y="222181"/>
                    <a:pt x="145429" y="222181"/>
                    <a:pt x="150537" y="222181"/>
                  </a:cubicBezTo>
                  <a:cubicBezTo>
                    <a:pt x="150537" y="224804"/>
                    <a:pt x="151814" y="226115"/>
                    <a:pt x="153091" y="227427"/>
                  </a:cubicBezTo>
                  <a:cubicBezTo>
                    <a:pt x="153091" y="227427"/>
                    <a:pt x="153091" y="227427"/>
                    <a:pt x="149260" y="231361"/>
                  </a:cubicBezTo>
                  <a:cubicBezTo>
                    <a:pt x="147983" y="232673"/>
                    <a:pt x="147983" y="233984"/>
                    <a:pt x="149260" y="235295"/>
                  </a:cubicBezTo>
                  <a:cubicBezTo>
                    <a:pt x="149260" y="235295"/>
                    <a:pt x="149260" y="235295"/>
                    <a:pt x="154367" y="239230"/>
                  </a:cubicBezTo>
                  <a:cubicBezTo>
                    <a:pt x="155644" y="240541"/>
                    <a:pt x="156921" y="240541"/>
                    <a:pt x="158198" y="239230"/>
                  </a:cubicBezTo>
                  <a:cubicBezTo>
                    <a:pt x="158198" y="239230"/>
                    <a:pt x="158198" y="239230"/>
                    <a:pt x="160752" y="236607"/>
                  </a:cubicBezTo>
                  <a:cubicBezTo>
                    <a:pt x="162029" y="237918"/>
                    <a:pt x="165860" y="239230"/>
                    <a:pt x="165860" y="239230"/>
                  </a:cubicBezTo>
                  <a:cubicBezTo>
                    <a:pt x="165860" y="239230"/>
                    <a:pt x="165860" y="239230"/>
                    <a:pt x="165860" y="243164"/>
                  </a:cubicBezTo>
                  <a:cubicBezTo>
                    <a:pt x="165860" y="244475"/>
                    <a:pt x="168414" y="244475"/>
                    <a:pt x="169690" y="244475"/>
                  </a:cubicBezTo>
                  <a:cubicBezTo>
                    <a:pt x="169690" y="244475"/>
                    <a:pt x="169690" y="244475"/>
                    <a:pt x="176075" y="244475"/>
                  </a:cubicBezTo>
                  <a:cubicBezTo>
                    <a:pt x="177352" y="244475"/>
                    <a:pt x="178629" y="244475"/>
                    <a:pt x="178629" y="243164"/>
                  </a:cubicBezTo>
                  <a:cubicBezTo>
                    <a:pt x="178629" y="243164"/>
                    <a:pt x="178629" y="243164"/>
                    <a:pt x="178629" y="239230"/>
                  </a:cubicBezTo>
                  <a:cubicBezTo>
                    <a:pt x="182460" y="239230"/>
                    <a:pt x="182460" y="237918"/>
                    <a:pt x="185013" y="236607"/>
                  </a:cubicBezTo>
                  <a:cubicBezTo>
                    <a:pt x="185013" y="236607"/>
                    <a:pt x="185013" y="236607"/>
                    <a:pt x="187567" y="239230"/>
                  </a:cubicBezTo>
                  <a:cubicBezTo>
                    <a:pt x="188844" y="240541"/>
                    <a:pt x="190121" y="240541"/>
                    <a:pt x="191398" y="239230"/>
                  </a:cubicBezTo>
                  <a:cubicBezTo>
                    <a:pt x="191398" y="239230"/>
                    <a:pt x="191398" y="239230"/>
                    <a:pt x="196506" y="233984"/>
                  </a:cubicBezTo>
                  <a:cubicBezTo>
                    <a:pt x="196506" y="233984"/>
                    <a:pt x="196506" y="232673"/>
                    <a:pt x="196506" y="231361"/>
                  </a:cubicBezTo>
                  <a:cubicBezTo>
                    <a:pt x="196506" y="231361"/>
                    <a:pt x="196506" y="231361"/>
                    <a:pt x="192675" y="227427"/>
                  </a:cubicBezTo>
                  <a:cubicBezTo>
                    <a:pt x="193952" y="226115"/>
                    <a:pt x="195229" y="224804"/>
                    <a:pt x="195229" y="222181"/>
                  </a:cubicBezTo>
                  <a:cubicBezTo>
                    <a:pt x="195229" y="222181"/>
                    <a:pt x="195229" y="222181"/>
                    <a:pt x="200336" y="222181"/>
                  </a:cubicBezTo>
                  <a:cubicBezTo>
                    <a:pt x="201613" y="222181"/>
                    <a:pt x="201613" y="220870"/>
                    <a:pt x="201613" y="219558"/>
                  </a:cubicBezTo>
                  <a:lnTo>
                    <a:pt x="201613" y="211690"/>
                  </a:lnTo>
                  <a:cubicBezTo>
                    <a:pt x="201613" y="210379"/>
                    <a:pt x="201613" y="211690"/>
                    <a:pt x="200336" y="211690"/>
                  </a:cubicBezTo>
                  <a:cubicBezTo>
                    <a:pt x="200336" y="211690"/>
                    <a:pt x="200336" y="211690"/>
                    <a:pt x="195229" y="211690"/>
                  </a:cubicBezTo>
                  <a:cubicBezTo>
                    <a:pt x="195229" y="207756"/>
                    <a:pt x="193952" y="206444"/>
                    <a:pt x="192675" y="203821"/>
                  </a:cubicBezTo>
                  <a:cubicBezTo>
                    <a:pt x="192675" y="203821"/>
                    <a:pt x="192675" y="203821"/>
                    <a:pt x="196506" y="199887"/>
                  </a:cubicBezTo>
                  <a:cubicBezTo>
                    <a:pt x="196506" y="199887"/>
                    <a:pt x="196506" y="198576"/>
                    <a:pt x="196506" y="197264"/>
                  </a:cubicBezTo>
                  <a:cubicBezTo>
                    <a:pt x="196506" y="197264"/>
                    <a:pt x="196506" y="197264"/>
                    <a:pt x="191398" y="192019"/>
                  </a:cubicBezTo>
                  <a:cubicBezTo>
                    <a:pt x="190121" y="190707"/>
                    <a:pt x="188844" y="190707"/>
                    <a:pt x="187567" y="192019"/>
                  </a:cubicBezTo>
                  <a:cubicBezTo>
                    <a:pt x="187567" y="192019"/>
                    <a:pt x="187567" y="192019"/>
                    <a:pt x="185013" y="194642"/>
                  </a:cubicBezTo>
                  <a:cubicBezTo>
                    <a:pt x="182460" y="193330"/>
                    <a:pt x="182460" y="193330"/>
                    <a:pt x="178629" y="192019"/>
                  </a:cubicBezTo>
                  <a:cubicBezTo>
                    <a:pt x="178629" y="192019"/>
                    <a:pt x="178629" y="192019"/>
                    <a:pt x="178629" y="188084"/>
                  </a:cubicBezTo>
                  <a:cubicBezTo>
                    <a:pt x="178629" y="186773"/>
                    <a:pt x="177352" y="184150"/>
                    <a:pt x="176075" y="184150"/>
                  </a:cubicBezTo>
                  <a:cubicBezTo>
                    <a:pt x="176075" y="184150"/>
                    <a:pt x="176075" y="184150"/>
                    <a:pt x="169690" y="184150"/>
                  </a:cubicBezTo>
                  <a:close/>
                  <a:moveTo>
                    <a:pt x="123825" y="165100"/>
                  </a:moveTo>
                  <a:lnTo>
                    <a:pt x="123825" y="176213"/>
                  </a:lnTo>
                  <a:lnTo>
                    <a:pt x="223838" y="176213"/>
                  </a:lnTo>
                  <a:lnTo>
                    <a:pt x="223838" y="165100"/>
                  </a:lnTo>
                  <a:close/>
                  <a:moveTo>
                    <a:pt x="123825" y="146050"/>
                  </a:moveTo>
                  <a:lnTo>
                    <a:pt x="123825" y="155575"/>
                  </a:lnTo>
                  <a:lnTo>
                    <a:pt x="223838" y="155575"/>
                  </a:lnTo>
                  <a:lnTo>
                    <a:pt x="223838" y="146050"/>
                  </a:lnTo>
                  <a:close/>
                  <a:moveTo>
                    <a:pt x="123825" y="131763"/>
                  </a:moveTo>
                  <a:lnTo>
                    <a:pt x="123825" y="139701"/>
                  </a:lnTo>
                  <a:lnTo>
                    <a:pt x="166688" y="139701"/>
                  </a:lnTo>
                  <a:lnTo>
                    <a:pt x="166688" y="131763"/>
                  </a:lnTo>
                  <a:close/>
                  <a:moveTo>
                    <a:pt x="123825" y="115888"/>
                  </a:moveTo>
                  <a:lnTo>
                    <a:pt x="123825" y="122238"/>
                  </a:lnTo>
                  <a:lnTo>
                    <a:pt x="166688" y="122238"/>
                  </a:lnTo>
                  <a:lnTo>
                    <a:pt x="166688" y="115888"/>
                  </a:lnTo>
                  <a:close/>
                  <a:moveTo>
                    <a:pt x="179388" y="100013"/>
                  </a:moveTo>
                  <a:lnTo>
                    <a:pt x="179388" y="139701"/>
                  </a:lnTo>
                  <a:lnTo>
                    <a:pt x="223838" y="139701"/>
                  </a:lnTo>
                  <a:lnTo>
                    <a:pt x="223838" y="100013"/>
                  </a:lnTo>
                  <a:close/>
                  <a:moveTo>
                    <a:pt x="123825" y="100013"/>
                  </a:moveTo>
                  <a:lnTo>
                    <a:pt x="123825" y="106363"/>
                  </a:lnTo>
                  <a:lnTo>
                    <a:pt x="166688" y="106363"/>
                  </a:lnTo>
                  <a:lnTo>
                    <a:pt x="166688" y="100013"/>
                  </a:lnTo>
                  <a:close/>
                  <a:moveTo>
                    <a:pt x="106363" y="76200"/>
                  </a:moveTo>
                  <a:lnTo>
                    <a:pt x="238126" y="76200"/>
                  </a:lnTo>
                  <a:lnTo>
                    <a:pt x="238126" y="254000"/>
                  </a:lnTo>
                  <a:lnTo>
                    <a:pt x="106363" y="254000"/>
                  </a:lnTo>
                  <a:close/>
                  <a:moveTo>
                    <a:pt x="103296" y="65088"/>
                  </a:moveTo>
                  <a:cubicBezTo>
                    <a:pt x="99421" y="65088"/>
                    <a:pt x="96838" y="67686"/>
                    <a:pt x="96838" y="71583"/>
                  </a:cubicBezTo>
                  <a:cubicBezTo>
                    <a:pt x="96838" y="71583"/>
                    <a:pt x="96838" y="71583"/>
                    <a:pt x="96838" y="258619"/>
                  </a:cubicBezTo>
                  <a:cubicBezTo>
                    <a:pt x="96838" y="262516"/>
                    <a:pt x="99421" y="265113"/>
                    <a:pt x="103296" y="265113"/>
                  </a:cubicBezTo>
                  <a:cubicBezTo>
                    <a:pt x="103296" y="265113"/>
                    <a:pt x="103296" y="265113"/>
                    <a:pt x="242781" y="265113"/>
                  </a:cubicBezTo>
                  <a:cubicBezTo>
                    <a:pt x="245364" y="265113"/>
                    <a:pt x="246655" y="263814"/>
                    <a:pt x="246655" y="263814"/>
                  </a:cubicBezTo>
                  <a:cubicBezTo>
                    <a:pt x="246655" y="263814"/>
                    <a:pt x="247947" y="263814"/>
                    <a:pt x="247947" y="263814"/>
                  </a:cubicBezTo>
                  <a:cubicBezTo>
                    <a:pt x="247947" y="262516"/>
                    <a:pt x="247947" y="262516"/>
                    <a:pt x="247947" y="262516"/>
                  </a:cubicBezTo>
                  <a:cubicBezTo>
                    <a:pt x="247947" y="262516"/>
                    <a:pt x="249238" y="261217"/>
                    <a:pt x="249238" y="258619"/>
                  </a:cubicBezTo>
                  <a:lnTo>
                    <a:pt x="249238" y="71583"/>
                  </a:lnTo>
                  <a:cubicBezTo>
                    <a:pt x="249238" y="67686"/>
                    <a:pt x="246655" y="65088"/>
                    <a:pt x="242781" y="65088"/>
                  </a:cubicBezTo>
                  <a:cubicBezTo>
                    <a:pt x="242781" y="65088"/>
                    <a:pt x="242781" y="65088"/>
                    <a:pt x="103296" y="65088"/>
                  </a:cubicBezTo>
                  <a:close/>
                  <a:moveTo>
                    <a:pt x="165894" y="0"/>
                  </a:moveTo>
                  <a:cubicBezTo>
                    <a:pt x="257515" y="0"/>
                    <a:pt x="331788" y="73918"/>
                    <a:pt x="331788" y="165100"/>
                  </a:cubicBezTo>
                  <a:cubicBezTo>
                    <a:pt x="331788" y="256282"/>
                    <a:pt x="257515" y="330200"/>
                    <a:pt x="165894" y="330200"/>
                  </a:cubicBezTo>
                  <a:cubicBezTo>
                    <a:pt x="74273" y="330200"/>
                    <a:pt x="0" y="256282"/>
                    <a:pt x="0" y="165100"/>
                  </a:cubicBezTo>
                  <a:cubicBezTo>
                    <a:pt x="0" y="73918"/>
                    <a:pt x="74273" y="0"/>
                    <a:pt x="165894" y="0"/>
                  </a:cubicBezTo>
                  <a:close/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Rectangle 1027"/>
          <p:cNvSpPr txBox="1">
            <a:spLocks noChangeArrowheads="1"/>
          </p:cNvSpPr>
          <p:nvPr/>
        </p:nvSpPr>
        <p:spPr bwMode="auto">
          <a:xfrm>
            <a:off x="1365996" y="2312410"/>
            <a:ext cx="2904185" cy="223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indent="0" eaLnBrk="1" hangingPunct="1">
              <a:lnSpc>
                <a:spcPct val="150000"/>
              </a:lnSpc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char int float double</a:t>
            </a:r>
          </a:p>
          <a:p>
            <a:pPr lvl="0" indent="0" eaLnBrk="1" hangingPunct="1">
              <a:lnSpc>
                <a:spcPct val="150000"/>
              </a:lnSpc>
              <a:buClr>
                <a:schemeClr val="tx1"/>
              </a:buClr>
              <a:buSzPct val="50000"/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数组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indent="0" eaLnBrk="1" hangingPunct="1">
              <a:lnSpc>
                <a:spcPct val="150000"/>
              </a:lnSpc>
              <a:buClr>
                <a:schemeClr val="tx1"/>
              </a:buClr>
              <a:buSzPct val="50000"/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结构体（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struct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indent="0" eaLnBrk="1" hangingPunct="1">
              <a:lnSpc>
                <a:spcPct val="150000"/>
              </a:lnSpc>
              <a:buClr>
                <a:schemeClr val="tx1"/>
              </a:buClr>
              <a:buSzPct val="50000"/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共用体（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union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）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1779" name="Rectangle 1027"/>
          <p:cNvSpPr>
            <a:spLocks noGrp="1" noChangeArrowheads="1"/>
          </p:cNvSpPr>
          <p:nvPr>
            <p:ph idx="1" hasCustomPrompt="1"/>
          </p:nvPr>
        </p:nvSpPr>
        <p:spPr>
          <a:xfrm>
            <a:off x="2122687" y="1179953"/>
            <a:ext cx="1858963" cy="558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en-US" altLang="zh-CN" sz="2600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C</a:t>
            </a:r>
            <a:r>
              <a:rPr kumimoji="1" lang="zh-CN" altLang="en-US" sz="2600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语言</a:t>
            </a:r>
            <a:endParaRPr kumimoji="1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Rectangle 1027"/>
          <p:cNvSpPr txBox="1">
            <a:spLocks noChangeArrowheads="1"/>
          </p:cNvSpPr>
          <p:nvPr/>
        </p:nvSpPr>
        <p:spPr bwMode="auto">
          <a:xfrm>
            <a:off x="5726954" y="1213219"/>
            <a:ext cx="20510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Python</a:t>
            </a:r>
            <a:r>
              <a:rPr kumimoji="1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语言</a:t>
            </a: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91C60695-965E-A98F-5687-6FD9DA17B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189" y="2140090"/>
            <a:ext cx="2415815" cy="2702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Number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（数字）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String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（字符串）</a:t>
            </a:r>
            <a:endParaRPr kumimoji="1" lang="en-US" altLang="zh-CN" sz="2000" kern="0" dirty="0">
              <a:ea typeface="+mn-ea"/>
              <a:cs typeface="+mn-ea"/>
              <a:sym typeface="+mn-lt"/>
            </a:endParaRP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Bool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（布尔）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List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（列表）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Tuple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（元组）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Set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（集合）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sz="2000" kern="0" dirty="0">
                <a:ea typeface="+mn-ea"/>
                <a:cs typeface="+mn-ea"/>
                <a:sym typeface="+mn-lt"/>
              </a:rPr>
              <a:t>Dictionary</a:t>
            </a:r>
            <a:r>
              <a:rPr kumimoji="1" lang="zh-CN" altLang="en-US" sz="2000" kern="0" dirty="0">
                <a:ea typeface="+mn-ea"/>
                <a:cs typeface="+mn-ea"/>
                <a:sym typeface="+mn-lt"/>
              </a:rPr>
              <a:t>（字典）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CEE3BE-063D-6D0E-C63A-615929F0A2D8}"/>
              </a:ext>
            </a:extLst>
          </p:cNvPr>
          <p:cNvSpPr/>
          <p:nvPr/>
        </p:nvSpPr>
        <p:spPr>
          <a:xfrm>
            <a:off x="8348" y="5741979"/>
            <a:ext cx="9144000" cy="110895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0582839-CDF7-A5A4-26CB-C8DDDC812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85" y="5817523"/>
            <a:ext cx="7731125" cy="100559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是一组性质相同的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值的集合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，以及定义于这个集合上的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一组运算的总称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11914260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1779" grpId="0" build="p" bldLvl="2"/>
      <p:bldP spid="33" grpId="0" build="p" bldLvl="2"/>
      <p:bldP spid="2" grpId="0"/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数据类型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CEE3BE-063D-6D0E-C63A-615929F0A2D8}"/>
              </a:ext>
            </a:extLst>
          </p:cNvPr>
          <p:cNvSpPr/>
          <p:nvPr/>
        </p:nvSpPr>
        <p:spPr>
          <a:xfrm>
            <a:off x="28444" y="5731931"/>
            <a:ext cx="9144000" cy="110895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8DBBD621-99B0-42F9-A465-039F255A2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77029"/>
            <a:ext cx="8286808" cy="663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例如，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C/C++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中的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short int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就是</a:t>
            </a:r>
            <a:r>
              <a:rPr kumimoji="1" lang="zh-CN" altLang="en-US" b="1" dirty="0">
                <a:solidFill>
                  <a:prstClr val="black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短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整型数据类型。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4DA6981-AA97-4C30-873C-A12D8E07241C}"/>
              </a:ext>
            </a:extLst>
          </p:cNvPr>
          <p:cNvSpPr/>
          <p:nvPr/>
        </p:nvSpPr>
        <p:spPr>
          <a:xfrm>
            <a:off x="1691680" y="3699569"/>
            <a:ext cx="3335330" cy="1143008"/>
          </a:xfrm>
          <a:prstGeom prst="ellipse">
            <a:avLst/>
          </a:prstGeom>
          <a:gradFill>
            <a:gsLst>
              <a:gs pos="48300">
                <a:srgbClr val="E68F5D"/>
              </a:gs>
              <a:gs pos="0">
                <a:srgbClr val="CE3B37"/>
              </a:gs>
              <a:gs pos="100000">
                <a:srgbClr val="FFE985"/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rPr>
              <a:t>-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32768~32767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8B9CE9C3-CB8E-45B0-8781-5AEAE8C86652}"/>
              </a:ext>
            </a:extLst>
          </p:cNvPr>
          <p:cNvSpPr txBox="1"/>
          <p:nvPr/>
        </p:nvSpPr>
        <p:spPr>
          <a:xfrm>
            <a:off x="1582814" y="2581389"/>
            <a:ext cx="3662821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＋、－、*、／、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%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Consolas" pitchFamily="49" charset="0"/>
                <a:sym typeface="Symbol"/>
              </a:rPr>
              <a:t>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Consolas" pitchFamily="49" charset="0"/>
            </a:endParaRPr>
          </a:p>
        </p:txBody>
      </p:sp>
      <p:sp>
        <p:nvSpPr>
          <p:cNvPr id="14" name="下箭头 16">
            <a:extLst>
              <a:ext uri="{FF2B5EF4-FFF2-40B4-BE49-F238E27FC236}">
                <a16:creationId xmlns:a16="http://schemas.microsoft.com/office/drawing/2014/main" id="{19DAA47D-B39B-448E-B31C-A71CB724216B}"/>
              </a:ext>
            </a:extLst>
          </p:cNvPr>
          <p:cNvSpPr/>
          <p:nvPr/>
        </p:nvSpPr>
        <p:spPr>
          <a:xfrm>
            <a:off x="3201204" y="3112271"/>
            <a:ext cx="480000" cy="465274"/>
          </a:xfrm>
          <a:prstGeom prst="downArrow">
            <a:avLst/>
          </a:prstGeom>
          <a:gradFill>
            <a:gsLst>
              <a:gs pos="0">
                <a:srgbClr val="CE3B37"/>
              </a:gs>
              <a:gs pos="100000">
                <a:srgbClr val="FFE985"/>
              </a:gs>
            </a:gsLst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itchFamily="49" charset="0"/>
              <a:ea typeface="宋体" panose="02010600030101010101" pitchFamily="2" charset="-122"/>
              <a:cs typeface="Consolas" pitchFamily="49" charset="0"/>
            </a:endParaRPr>
          </a:p>
        </p:txBody>
      </p:sp>
      <p:grpSp>
        <p:nvGrpSpPr>
          <p:cNvPr id="15" name="组合 23">
            <a:extLst>
              <a:ext uri="{FF2B5EF4-FFF2-40B4-BE49-F238E27FC236}">
                <a16:creationId xmlns:a16="http://schemas.microsoft.com/office/drawing/2014/main" id="{D73D38D5-B435-43A2-8433-0A88054317F2}"/>
              </a:ext>
            </a:extLst>
          </p:cNvPr>
          <p:cNvGrpSpPr/>
          <p:nvPr/>
        </p:nvGrpSpPr>
        <p:grpSpPr>
          <a:xfrm>
            <a:off x="5409395" y="2536725"/>
            <a:ext cx="3344957" cy="1977492"/>
            <a:chOff x="4656138" y="1863077"/>
            <a:chExt cx="2658976" cy="1977492"/>
          </a:xfrm>
        </p:grpSpPr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1F48712E-9891-471A-929F-3D14E543F3A0}"/>
                </a:ext>
              </a:extLst>
            </p:cNvPr>
            <p:cNvSpPr txBox="1"/>
            <p:nvPr/>
          </p:nvSpPr>
          <p:spPr>
            <a:xfrm>
              <a:off x="5299421" y="3403526"/>
              <a:ext cx="1428760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值的集合</a:t>
              </a:r>
            </a:p>
          </p:txBody>
        </p:sp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0C7B4548-50FC-4626-A03A-D04A2711B8C2}"/>
                </a:ext>
              </a:extLst>
            </p:cNvPr>
            <p:cNvSpPr txBox="1"/>
            <p:nvPr/>
          </p:nvSpPr>
          <p:spPr>
            <a:xfrm>
              <a:off x="5286380" y="1863077"/>
              <a:ext cx="2028734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一组操作</a:t>
              </a:r>
              <a:r>
                <a:rPr kumimoji="1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/</a:t>
              </a:r>
              <a:r>
                <a:rPr kumimoji="1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运算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AA8391A-A192-4F16-9D16-E74C8FDF4E40}"/>
                </a:ext>
              </a:extLst>
            </p:cNvPr>
            <p:cNvCxnSpPr/>
            <p:nvPr/>
          </p:nvCxnSpPr>
          <p:spPr>
            <a:xfrm>
              <a:off x="4656138" y="2084378"/>
              <a:ext cx="500066" cy="1588"/>
            </a:xfrm>
            <a:prstGeom prst="line">
              <a:avLst/>
            </a:prstGeom>
            <a:ln w="38100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04D5283-FD93-472D-A3FD-4406C57DC779}"/>
                </a:ext>
              </a:extLst>
            </p:cNvPr>
            <p:cNvCxnSpPr/>
            <p:nvPr/>
          </p:nvCxnSpPr>
          <p:spPr>
            <a:xfrm>
              <a:off x="4682568" y="3597425"/>
              <a:ext cx="500066" cy="1588"/>
            </a:xfrm>
            <a:prstGeom prst="line">
              <a:avLst/>
            </a:prstGeom>
            <a:ln w="38100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8">
            <a:extLst>
              <a:ext uri="{FF2B5EF4-FFF2-40B4-BE49-F238E27FC236}">
                <a16:creationId xmlns:a16="http://schemas.microsoft.com/office/drawing/2014/main" id="{A7F53EBE-ECEC-4B3A-BAA3-E26E27BFB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85" y="5817523"/>
            <a:ext cx="7731125" cy="100559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是一组性质相同的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值的集合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，以及定义于这个集合上的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一组运算的总称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59810286"/>
      </p:ext>
    </p:extLst>
  </p:cSld>
  <p:clrMapOvr>
    <a:masterClrMapping/>
  </p:clrMapOvr>
  <p:transition>
    <p:spli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68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数据类型</a:t>
            </a:r>
          </a:p>
        </p:txBody>
      </p:sp>
      <p:sp>
        <p:nvSpPr>
          <p:cNvPr id="331779" name="Rectangle 1027"/>
          <p:cNvSpPr>
            <a:spLocks noGrp="1" noChangeArrowheads="1"/>
          </p:cNvSpPr>
          <p:nvPr>
            <p:ph idx="1" hasCustomPrompt="1"/>
          </p:nvPr>
        </p:nvSpPr>
        <p:spPr>
          <a:xfrm>
            <a:off x="1718102" y="1179953"/>
            <a:ext cx="1858963" cy="558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en-US" altLang="zh-CN" sz="2600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C</a:t>
            </a:r>
            <a:r>
              <a:rPr kumimoji="1" lang="zh-CN" altLang="en-US" sz="2600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语言</a:t>
            </a:r>
            <a:endParaRPr kumimoji="1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91C60695-965E-A98F-5687-6FD9DA17B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786098"/>
            <a:ext cx="5820443" cy="4445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#include&lt;iostream&gt;	 	 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using namespace std; 			  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int main( ) {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    int  x, y, m;	 </a:t>
            </a:r>
            <a:r>
              <a:rPr kumimoji="1" lang="en-US" altLang="zh-CN" u="sng" kern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// float x, y, m; </a:t>
            </a: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  	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kern="0" dirty="0" err="1">
                <a:latin typeface="+mn-ea"/>
                <a:ea typeface="+mn-ea"/>
                <a:cs typeface="+mn-ea"/>
                <a:sym typeface="+mn-lt"/>
              </a:rPr>
              <a:t>cin</a:t>
            </a: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&gt;&gt;x&gt;&gt;y;			 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    m = </a:t>
            </a:r>
            <a:r>
              <a:rPr kumimoji="1" lang="en-US" altLang="zh-CN" kern="0" dirty="0" err="1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x%y</a:t>
            </a:r>
            <a:r>
              <a:rPr kumimoji="1" lang="en-US" altLang="zh-CN" kern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;</a:t>
            </a: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	      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kern="0" dirty="0" err="1">
                <a:latin typeface="+mn-ea"/>
                <a:ea typeface="+mn-ea"/>
                <a:cs typeface="+mn-ea"/>
                <a:sym typeface="+mn-lt"/>
              </a:rPr>
              <a:t>cout</a:t>
            </a: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&lt;&lt;m&lt;&lt;</a:t>
            </a:r>
            <a:r>
              <a:rPr kumimoji="1" lang="en-US" altLang="zh-CN" kern="0" dirty="0" err="1">
                <a:latin typeface="+mn-ea"/>
                <a:ea typeface="+mn-ea"/>
                <a:cs typeface="+mn-ea"/>
                <a:sym typeface="+mn-lt"/>
              </a:rPr>
              <a:t>endl</a:t>
            </a: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;	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    return 0;	 </a:t>
            </a:r>
          </a:p>
          <a:p>
            <a:pPr lvl="0" indent="0" eaLnBrk="1" hangingPunct="1">
              <a:buClr>
                <a:schemeClr val="tx1"/>
              </a:buClr>
              <a:buSzPct val="50000"/>
              <a:defRPr/>
            </a:pPr>
            <a:r>
              <a:rPr kumimoji="1" lang="en-US" altLang="zh-CN" kern="0" dirty="0">
                <a:latin typeface="+mn-ea"/>
                <a:ea typeface="+mn-ea"/>
                <a:cs typeface="+mn-ea"/>
                <a:sym typeface="+mn-lt"/>
              </a:rPr>
              <a:t>}</a:t>
            </a:r>
            <a:endParaRPr kumimoji="1" lang="zh-CN" altLang="en-US" kern="0" dirty="0">
              <a:solidFill>
                <a:srgbClr val="FF000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CEE3BE-063D-6D0E-C63A-615929F0A2D8}"/>
              </a:ext>
            </a:extLst>
          </p:cNvPr>
          <p:cNvSpPr/>
          <p:nvPr/>
        </p:nvSpPr>
        <p:spPr>
          <a:xfrm>
            <a:off x="28444" y="5731931"/>
            <a:ext cx="9144000" cy="1108953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lvl="0" indent="-342900">
              <a:lnSpc>
                <a:spcPct val="100000"/>
              </a:lnSpc>
              <a:spcBef>
                <a:spcPct val="20000"/>
              </a:spcBef>
            </a:pPr>
            <a:endParaRPr lang="zh-CN" altLang="en-US" sz="2800" dirty="0">
              <a:ea typeface="仿宋_GB2312" pitchFamily="49" charset="-122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A6535C7-133B-3339-B9AD-C741C0863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01787"/>
            <a:ext cx="9144001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lvl="0" algn="ctr">
              <a:spcBef>
                <a:spcPct val="50000"/>
              </a:spcBef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Error: invalid operands of types 'float' and 'float' to binary operator 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'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%'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0C393C-CFAC-52BF-FF7E-01DF8AE91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787" y="1351607"/>
            <a:ext cx="2561761" cy="2362342"/>
          </a:xfrm>
          <a:prstGeom prst="rect">
            <a:avLst/>
          </a:prstGeom>
        </p:spPr>
      </p:pic>
      <p:sp>
        <p:nvSpPr>
          <p:cNvPr id="11" name="Rectangle 8">
            <a:extLst>
              <a:ext uri="{FF2B5EF4-FFF2-40B4-BE49-F238E27FC236}">
                <a16:creationId xmlns:a16="http://schemas.microsoft.com/office/drawing/2014/main" id="{257A7B03-EFD6-4F9E-AC50-334218E5F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85" y="5817523"/>
            <a:ext cx="7731125" cy="100559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-4572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45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是一组性质相同的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值的集合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，以及定义于这个集合上的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一组运算的总称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36279359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7D18-727D-4785-A9B0-0916D699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基本数据类型与构造数据类型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C5E72-08F5-409E-B3CF-62E53984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472112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基本数据类型（原子类型）</a:t>
            </a:r>
            <a:r>
              <a:rPr lang="zh-CN" altLang="en-US" dirty="0"/>
              <a:t>可以看作是计算机中已实现的数据结构。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构造数据类型（结构类型）</a:t>
            </a:r>
            <a:r>
              <a:rPr lang="zh-CN" altLang="en-US" dirty="0"/>
              <a:t>由若干个成分按某种结构组成，成分可以是基本数据类型或者构造数据类型。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数据类型就是数据结构，不过它是从编程者的角度来使用的。</a:t>
            </a:r>
          </a:p>
        </p:txBody>
      </p:sp>
    </p:spTree>
    <p:extLst>
      <p:ext uri="{BB962C8B-B14F-4D97-AF65-F5344CB8AC3E}">
        <p14:creationId xmlns:p14="http://schemas.microsoft.com/office/powerpoint/2010/main" val="3255158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875204"/>
            <a:ext cx="6862763" cy="10080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(ADTs: Abstract  Data Types)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2683642" y="1985855"/>
            <a:ext cx="6091238" cy="4683232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由用户定义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用以表示应用问题的数据模型。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从求解问题的数学模型中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抽象出来的数据逻辑结构和运算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（抽象运算），而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不考虑计算机的具体实现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特点是：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信息隐蔽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数据封装，使用与实现相分离</a:t>
            </a:r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827088" y="188913"/>
            <a:ext cx="32226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</a:p>
        </p:txBody>
      </p:sp>
      <p:grpSp>
        <p:nvGrpSpPr>
          <p:cNvPr id="48133" name="组合 43007"/>
          <p:cNvGrpSpPr/>
          <p:nvPr/>
        </p:nvGrpSpPr>
        <p:grpSpPr>
          <a:xfrm>
            <a:off x="572721" y="2347188"/>
            <a:ext cx="2177000" cy="3456378"/>
            <a:chOff x="777636" y="2400105"/>
            <a:chExt cx="1971795" cy="3283482"/>
          </a:xfrm>
        </p:grpSpPr>
        <p:sp>
          <p:nvSpPr>
            <p:cNvPr id="57" name="流程图: 决策 56"/>
            <p:cNvSpPr/>
            <p:nvPr/>
          </p:nvSpPr>
          <p:spPr>
            <a:xfrm>
              <a:off x="777636" y="2400105"/>
              <a:ext cx="1355907" cy="1268619"/>
            </a:xfrm>
            <a:prstGeom prst="flowChartDecision">
              <a:avLst/>
            </a:prstGeom>
            <a:solidFill>
              <a:srgbClr val="FF89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58" name="流程图: 决策 57"/>
            <p:cNvSpPr/>
            <p:nvPr/>
          </p:nvSpPr>
          <p:spPr>
            <a:xfrm>
              <a:off x="777636" y="4317079"/>
              <a:ext cx="1404808" cy="1366508"/>
            </a:xfrm>
            <a:prstGeom prst="flowChartDecision">
              <a:avLst/>
            </a:prstGeom>
            <a:solidFill>
              <a:srgbClr val="D331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60" name="流程图: 决策 59"/>
            <p:cNvSpPr/>
            <p:nvPr/>
          </p:nvSpPr>
          <p:spPr>
            <a:xfrm>
              <a:off x="1642795" y="3427957"/>
              <a:ext cx="1106636" cy="1035218"/>
            </a:xfrm>
            <a:prstGeom prst="flowChartDecision">
              <a:avLst/>
            </a:prstGeom>
            <a:solidFill>
              <a:srgbClr val="ED45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Pirulen" pitchFamily="2" charset="0"/>
                <a:ea typeface="+mn-ea"/>
                <a:cs typeface="+mn-cs"/>
              </a:endParaRPr>
            </a:p>
          </p:txBody>
        </p:sp>
        <p:sp>
          <p:nvSpPr>
            <p:cNvPr id="48140" name="Freeform 25"/>
            <p:cNvSpPr>
              <a:spLocks noEditPoints="1"/>
            </p:cNvSpPr>
            <p:nvPr/>
          </p:nvSpPr>
          <p:spPr>
            <a:xfrm>
              <a:off x="1273315" y="2831538"/>
              <a:ext cx="390306" cy="372704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16" h="206">
                  <a:moveTo>
                    <a:pt x="74" y="3"/>
                  </a:moveTo>
                  <a:cubicBezTo>
                    <a:pt x="60" y="5"/>
                    <a:pt x="49" y="30"/>
                    <a:pt x="37" y="49"/>
                  </a:cubicBezTo>
                  <a:cubicBezTo>
                    <a:pt x="37" y="49"/>
                    <a:pt x="78" y="74"/>
                    <a:pt x="78" y="74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94" y="0"/>
                    <a:pt x="74" y="3"/>
                  </a:cubicBezTo>
                  <a:close/>
                  <a:moveTo>
                    <a:pt x="171" y="34"/>
                  </a:moveTo>
                  <a:cubicBezTo>
                    <a:pt x="167" y="28"/>
                    <a:pt x="158" y="11"/>
                    <a:pt x="152" y="7"/>
                  </a:cubicBezTo>
                  <a:cubicBezTo>
                    <a:pt x="145" y="3"/>
                    <a:pt x="91" y="3"/>
                    <a:pt x="91" y="3"/>
                  </a:cubicBezTo>
                  <a:cubicBezTo>
                    <a:pt x="91" y="3"/>
                    <a:pt x="93" y="4"/>
                    <a:pt x="103" y="13"/>
                  </a:cubicBezTo>
                  <a:cubicBezTo>
                    <a:pt x="111" y="21"/>
                    <a:pt x="124" y="50"/>
                    <a:pt x="128" y="58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61" y="69"/>
                    <a:pt x="161" y="69"/>
                    <a:pt x="161" y="69"/>
                  </a:cubicBezTo>
                  <a:cubicBezTo>
                    <a:pt x="188" y="25"/>
                    <a:pt x="188" y="25"/>
                    <a:pt x="188" y="25"/>
                  </a:cubicBezTo>
                  <a:lnTo>
                    <a:pt x="171" y="34"/>
                  </a:lnTo>
                  <a:close/>
                  <a:moveTo>
                    <a:pt x="40" y="177"/>
                  </a:moveTo>
                  <a:cubicBezTo>
                    <a:pt x="49" y="188"/>
                    <a:pt x="76" y="185"/>
                    <a:pt x="98" y="185"/>
                  </a:cubicBezTo>
                  <a:cubicBezTo>
                    <a:pt x="99" y="185"/>
                    <a:pt x="99" y="137"/>
                    <a:pt x="99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7"/>
                    <a:pt x="27" y="161"/>
                    <a:pt x="40" y="177"/>
                  </a:cubicBezTo>
                  <a:close/>
                  <a:moveTo>
                    <a:pt x="16" y="78"/>
                  </a:moveTo>
                  <a:cubicBezTo>
                    <a:pt x="13" y="84"/>
                    <a:pt x="3" y="101"/>
                    <a:pt x="3" y="108"/>
                  </a:cubicBezTo>
                  <a:cubicBezTo>
                    <a:pt x="3" y="116"/>
                    <a:pt x="31" y="162"/>
                    <a:pt x="31" y="162"/>
                  </a:cubicBezTo>
                  <a:cubicBezTo>
                    <a:pt x="31" y="162"/>
                    <a:pt x="31" y="160"/>
                    <a:pt x="34" y="147"/>
                  </a:cubicBezTo>
                  <a:cubicBezTo>
                    <a:pt x="36" y="135"/>
                    <a:pt x="54" y="109"/>
                    <a:pt x="59" y="102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16" y="78"/>
                  </a:lnTo>
                  <a:close/>
                  <a:moveTo>
                    <a:pt x="211" y="116"/>
                  </a:moveTo>
                  <a:cubicBezTo>
                    <a:pt x="216" y="104"/>
                    <a:pt x="199" y="81"/>
                    <a:pt x="188" y="62"/>
                  </a:cubicBezTo>
                  <a:cubicBezTo>
                    <a:pt x="188" y="62"/>
                    <a:pt x="146" y="86"/>
                    <a:pt x="146" y="86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5"/>
                    <a:pt x="203" y="136"/>
                    <a:pt x="211" y="116"/>
                  </a:cubicBezTo>
                  <a:close/>
                  <a:moveTo>
                    <a:pt x="137" y="187"/>
                  </a:moveTo>
                  <a:cubicBezTo>
                    <a:pt x="143" y="187"/>
                    <a:pt x="163" y="186"/>
                    <a:pt x="169" y="183"/>
                  </a:cubicBezTo>
                  <a:cubicBezTo>
                    <a:pt x="176" y="179"/>
                    <a:pt x="202" y="132"/>
                    <a:pt x="202" y="132"/>
                  </a:cubicBezTo>
                  <a:cubicBezTo>
                    <a:pt x="202" y="132"/>
                    <a:pt x="201" y="133"/>
                    <a:pt x="187" y="137"/>
                  </a:cubicBezTo>
                  <a:cubicBezTo>
                    <a:pt x="176" y="141"/>
                    <a:pt x="145" y="138"/>
                    <a:pt x="136" y="137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37" y="206"/>
                    <a:pt x="137" y="206"/>
                    <a:pt x="137" y="206"/>
                  </a:cubicBezTo>
                  <a:lnTo>
                    <a:pt x="137" y="187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Freeform 24"/>
            <p:cNvSpPr>
              <a:spLocks noEditPoints="1"/>
            </p:cNvSpPr>
            <p:nvPr/>
          </p:nvSpPr>
          <p:spPr>
            <a:xfrm>
              <a:off x="1254591" y="4636755"/>
              <a:ext cx="502510" cy="514366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33" h="239">
                  <a:moveTo>
                    <a:pt x="75" y="42"/>
                  </a:moveTo>
                  <a:cubicBezTo>
                    <a:pt x="85" y="46"/>
                    <a:pt x="97" y="40"/>
                    <a:pt x="101" y="30"/>
                  </a:cubicBezTo>
                  <a:cubicBezTo>
                    <a:pt x="104" y="19"/>
                    <a:pt x="99" y="8"/>
                    <a:pt x="89" y="4"/>
                  </a:cubicBezTo>
                  <a:cubicBezTo>
                    <a:pt x="78" y="0"/>
                    <a:pt x="66" y="5"/>
                    <a:pt x="63" y="16"/>
                  </a:cubicBezTo>
                  <a:cubicBezTo>
                    <a:pt x="59" y="26"/>
                    <a:pt x="64" y="38"/>
                    <a:pt x="75" y="42"/>
                  </a:cubicBezTo>
                  <a:close/>
                  <a:moveTo>
                    <a:pt x="162" y="129"/>
                  </a:moveTo>
                  <a:cubicBezTo>
                    <a:pt x="177" y="155"/>
                    <a:pt x="177" y="155"/>
                    <a:pt x="177" y="155"/>
                  </a:cubicBezTo>
                  <a:cubicBezTo>
                    <a:pt x="178" y="158"/>
                    <a:pt x="181" y="159"/>
                    <a:pt x="184" y="157"/>
                  </a:cubicBezTo>
                  <a:cubicBezTo>
                    <a:pt x="188" y="155"/>
                    <a:pt x="188" y="155"/>
                    <a:pt x="188" y="155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1" y="123"/>
                    <a:pt x="160" y="126"/>
                    <a:pt x="162" y="129"/>
                  </a:cubicBezTo>
                  <a:close/>
                  <a:moveTo>
                    <a:pt x="214" y="174"/>
                  </a:moveTo>
                  <a:cubicBezTo>
                    <a:pt x="213" y="169"/>
                    <a:pt x="209" y="166"/>
                    <a:pt x="205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148" y="159"/>
                    <a:pt x="148" y="159"/>
                    <a:pt x="148" y="159"/>
                  </a:cubicBezTo>
                  <a:cubicBezTo>
                    <a:pt x="141" y="136"/>
                    <a:pt x="141" y="136"/>
                    <a:pt x="141" y="136"/>
                  </a:cubicBezTo>
                  <a:cubicBezTo>
                    <a:pt x="144" y="131"/>
                    <a:pt x="144" y="125"/>
                    <a:pt x="142" y="119"/>
                  </a:cubicBezTo>
                  <a:cubicBezTo>
                    <a:pt x="122" y="68"/>
                    <a:pt x="122" y="68"/>
                    <a:pt x="122" y="68"/>
                  </a:cubicBezTo>
                  <a:cubicBezTo>
                    <a:pt x="156" y="66"/>
                    <a:pt x="156" y="66"/>
                    <a:pt x="156" y="66"/>
                  </a:cubicBezTo>
                  <a:cubicBezTo>
                    <a:pt x="168" y="99"/>
                    <a:pt x="168" y="99"/>
                    <a:pt x="168" y="99"/>
                  </a:cubicBezTo>
                  <a:cubicBezTo>
                    <a:pt x="167" y="101"/>
                    <a:pt x="166" y="105"/>
                    <a:pt x="168" y="107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75" y="112"/>
                    <a:pt x="175" y="112"/>
                    <a:pt x="175" y="112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4"/>
                    <a:pt x="171" y="104"/>
                  </a:cubicBezTo>
                  <a:cubicBezTo>
                    <a:pt x="174" y="107"/>
                    <a:pt x="179" y="108"/>
                    <a:pt x="183" y="106"/>
                  </a:cubicBezTo>
                  <a:cubicBezTo>
                    <a:pt x="188" y="104"/>
                    <a:pt x="191" y="98"/>
                    <a:pt x="190" y="92"/>
                  </a:cubicBezTo>
                  <a:cubicBezTo>
                    <a:pt x="191" y="93"/>
                    <a:pt x="191" y="93"/>
                    <a:pt x="191" y="94"/>
                  </a:cubicBezTo>
                  <a:cubicBezTo>
                    <a:pt x="195" y="100"/>
                    <a:pt x="195" y="100"/>
                    <a:pt x="195" y="100"/>
                  </a:cubicBezTo>
                  <a:cubicBezTo>
                    <a:pt x="199" y="98"/>
                    <a:pt x="199" y="98"/>
                    <a:pt x="199" y="98"/>
                  </a:cubicBezTo>
                  <a:cubicBezTo>
                    <a:pt x="195" y="92"/>
                    <a:pt x="195" y="92"/>
                    <a:pt x="195" y="92"/>
                  </a:cubicBezTo>
                  <a:cubicBezTo>
                    <a:pt x="194" y="89"/>
                    <a:pt x="191" y="88"/>
                    <a:pt x="188" y="88"/>
                  </a:cubicBezTo>
                  <a:cubicBezTo>
                    <a:pt x="174" y="50"/>
                    <a:pt x="174" y="50"/>
                    <a:pt x="174" y="50"/>
                  </a:cubicBezTo>
                  <a:cubicBezTo>
                    <a:pt x="172" y="45"/>
                    <a:pt x="167" y="43"/>
                    <a:pt x="162" y="43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98" y="46"/>
                    <a:pt x="96" y="46"/>
                    <a:pt x="94" y="47"/>
                  </a:cubicBezTo>
                  <a:cubicBezTo>
                    <a:pt x="93" y="46"/>
                    <a:pt x="93" y="46"/>
                    <a:pt x="93" y="46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0" y="48"/>
                    <a:pt x="88" y="50"/>
                    <a:pt x="86" y="51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15" y="48"/>
                    <a:pt x="8" y="49"/>
                    <a:pt x="4" y="54"/>
                  </a:cubicBezTo>
                  <a:cubicBezTo>
                    <a:pt x="0" y="59"/>
                    <a:pt x="0" y="66"/>
                    <a:pt x="5" y="70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43" y="101"/>
                    <a:pt x="48" y="102"/>
                    <a:pt x="53" y="99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100" y="124"/>
                    <a:pt x="100" y="124"/>
                    <a:pt x="100" y="124"/>
                  </a:cubicBezTo>
                  <a:cubicBezTo>
                    <a:pt x="77" y="139"/>
                    <a:pt x="77" y="139"/>
                    <a:pt x="77" y="139"/>
                  </a:cubicBezTo>
                  <a:cubicBezTo>
                    <a:pt x="72" y="141"/>
                    <a:pt x="68" y="146"/>
                    <a:pt x="68" y="151"/>
                  </a:cubicBezTo>
                  <a:cubicBezTo>
                    <a:pt x="68" y="151"/>
                    <a:pt x="68" y="151"/>
                    <a:pt x="68" y="151"/>
                  </a:cubicBezTo>
                  <a:cubicBezTo>
                    <a:pt x="68" y="151"/>
                    <a:pt x="68" y="151"/>
                    <a:pt x="68" y="152"/>
                  </a:cubicBezTo>
                  <a:cubicBezTo>
                    <a:pt x="66" y="208"/>
                    <a:pt x="66" y="208"/>
                    <a:pt x="66" y="208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1" y="214"/>
                    <a:pt x="47" y="222"/>
                    <a:pt x="50" y="229"/>
                  </a:cubicBezTo>
                  <a:cubicBezTo>
                    <a:pt x="53" y="235"/>
                    <a:pt x="60" y="239"/>
                    <a:pt x="67" y="236"/>
                  </a:cubicBezTo>
                  <a:cubicBezTo>
                    <a:pt x="84" y="229"/>
                    <a:pt x="84" y="229"/>
                    <a:pt x="84" y="229"/>
                  </a:cubicBezTo>
                  <a:cubicBezTo>
                    <a:pt x="89" y="228"/>
                    <a:pt x="92" y="224"/>
                    <a:pt x="92" y="219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161"/>
                    <a:pt x="94" y="161"/>
                    <a:pt x="94" y="16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26" y="175"/>
                    <a:pt x="126" y="175"/>
                    <a:pt x="126" y="175"/>
                  </a:cubicBezTo>
                  <a:cubicBezTo>
                    <a:pt x="128" y="181"/>
                    <a:pt x="133" y="184"/>
                    <a:pt x="138" y="184"/>
                  </a:cubicBezTo>
                  <a:cubicBezTo>
                    <a:pt x="192" y="190"/>
                    <a:pt x="192" y="190"/>
                    <a:pt x="192" y="190"/>
                  </a:cubicBezTo>
                  <a:cubicBezTo>
                    <a:pt x="196" y="201"/>
                    <a:pt x="196" y="201"/>
                    <a:pt x="196" y="201"/>
                  </a:cubicBezTo>
                  <a:cubicBezTo>
                    <a:pt x="198" y="208"/>
                    <a:pt x="205" y="211"/>
                    <a:pt x="212" y="209"/>
                  </a:cubicBezTo>
                  <a:cubicBezTo>
                    <a:pt x="219" y="207"/>
                    <a:pt x="222" y="200"/>
                    <a:pt x="220" y="193"/>
                  </a:cubicBezTo>
                  <a:lnTo>
                    <a:pt x="214" y="174"/>
                  </a:lnTo>
                  <a:close/>
                  <a:moveTo>
                    <a:pt x="170" y="118"/>
                  </a:moveTo>
                  <a:cubicBezTo>
                    <a:pt x="190" y="154"/>
                    <a:pt x="190" y="154"/>
                    <a:pt x="190" y="154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05" y="98"/>
                    <a:pt x="205" y="98"/>
                    <a:pt x="205" y="98"/>
                  </a:cubicBezTo>
                  <a:lnTo>
                    <a:pt x="170" y="118"/>
                  </a:lnTo>
                  <a:close/>
                  <a:moveTo>
                    <a:pt x="232" y="124"/>
                  </a:moveTo>
                  <a:cubicBezTo>
                    <a:pt x="217" y="98"/>
                    <a:pt x="217" y="98"/>
                    <a:pt x="217" y="98"/>
                  </a:cubicBezTo>
                  <a:cubicBezTo>
                    <a:pt x="215" y="95"/>
                    <a:pt x="212" y="94"/>
                    <a:pt x="209" y="96"/>
                  </a:cubicBezTo>
                  <a:cubicBezTo>
                    <a:pt x="208" y="96"/>
                    <a:pt x="208" y="96"/>
                    <a:pt x="208" y="96"/>
                  </a:cubicBezTo>
                  <a:cubicBezTo>
                    <a:pt x="228" y="132"/>
                    <a:pt x="228" y="132"/>
                    <a:pt x="228" y="132"/>
                  </a:cubicBezTo>
                  <a:cubicBezTo>
                    <a:pt x="230" y="131"/>
                    <a:pt x="230" y="131"/>
                    <a:pt x="230" y="131"/>
                  </a:cubicBezTo>
                  <a:cubicBezTo>
                    <a:pt x="232" y="130"/>
                    <a:pt x="233" y="127"/>
                    <a:pt x="232" y="124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Freeform 27"/>
            <p:cNvSpPr>
              <a:spLocks noEditPoints="1"/>
            </p:cNvSpPr>
            <p:nvPr/>
          </p:nvSpPr>
          <p:spPr>
            <a:xfrm>
              <a:off x="2038408" y="3813999"/>
              <a:ext cx="315409" cy="226238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62" h="188">
                  <a:moveTo>
                    <a:pt x="232" y="98"/>
                  </a:moveTo>
                  <a:cubicBezTo>
                    <a:pt x="232" y="110"/>
                    <a:pt x="223" y="119"/>
                    <a:pt x="212" y="119"/>
                  </a:cubicBezTo>
                  <a:cubicBezTo>
                    <a:pt x="44" y="119"/>
                    <a:pt x="44" y="119"/>
                    <a:pt x="44" y="119"/>
                  </a:cubicBezTo>
                  <a:cubicBezTo>
                    <a:pt x="33" y="119"/>
                    <a:pt x="24" y="110"/>
                    <a:pt x="24" y="98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22"/>
                    <a:pt x="33" y="13"/>
                    <a:pt x="44" y="13"/>
                  </a:cubicBezTo>
                  <a:cubicBezTo>
                    <a:pt x="212" y="13"/>
                    <a:pt x="212" y="13"/>
                    <a:pt x="212" y="13"/>
                  </a:cubicBezTo>
                  <a:cubicBezTo>
                    <a:pt x="223" y="13"/>
                    <a:pt x="232" y="22"/>
                    <a:pt x="232" y="33"/>
                  </a:cubicBezTo>
                  <a:lnTo>
                    <a:pt x="232" y="98"/>
                  </a:lnTo>
                  <a:close/>
                  <a:moveTo>
                    <a:pt x="260" y="172"/>
                  </a:moveTo>
                  <a:cubicBezTo>
                    <a:pt x="259" y="175"/>
                    <a:pt x="252" y="178"/>
                    <a:pt x="242" y="178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10" y="178"/>
                    <a:pt x="3" y="175"/>
                    <a:pt x="2" y="172"/>
                  </a:cubicBezTo>
                  <a:cubicBezTo>
                    <a:pt x="2" y="180"/>
                    <a:pt x="2" y="180"/>
                    <a:pt x="2" y="180"/>
                  </a:cubicBezTo>
                  <a:cubicBezTo>
                    <a:pt x="0" y="185"/>
                    <a:pt x="9" y="188"/>
                    <a:pt x="20" y="188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54" y="188"/>
                    <a:pt x="262" y="185"/>
                    <a:pt x="260" y="180"/>
                  </a:cubicBezTo>
                  <a:lnTo>
                    <a:pt x="260" y="172"/>
                  </a:lnTo>
                  <a:close/>
                  <a:moveTo>
                    <a:pt x="242" y="172"/>
                  </a:moveTo>
                  <a:cubicBezTo>
                    <a:pt x="20" y="172"/>
                    <a:pt x="20" y="172"/>
                    <a:pt x="20" y="172"/>
                  </a:cubicBezTo>
                  <a:cubicBezTo>
                    <a:pt x="9" y="172"/>
                    <a:pt x="0" y="169"/>
                    <a:pt x="2" y="164"/>
                  </a:cubicBezTo>
                  <a:cubicBezTo>
                    <a:pt x="13" y="134"/>
                    <a:pt x="13" y="134"/>
                    <a:pt x="13" y="134"/>
                  </a:cubicBezTo>
                  <a:cubicBezTo>
                    <a:pt x="14" y="131"/>
                    <a:pt x="21" y="128"/>
                    <a:pt x="29" y="127"/>
                  </a:cubicBezTo>
                  <a:cubicBezTo>
                    <a:pt x="19" y="122"/>
                    <a:pt x="12" y="111"/>
                    <a:pt x="12" y="98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24"/>
                    <a:pt x="16" y="16"/>
                    <a:pt x="22" y="10"/>
                  </a:cubicBezTo>
                  <a:cubicBezTo>
                    <a:pt x="27" y="4"/>
                    <a:pt x="35" y="0"/>
                    <a:pt x="44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30" y="0"/>
                    <a:pt x="244" y="15"/>
                    <a:pt x="244" y="33"/>
                  </a:cubicBezTo>
                  <a:cubicBezTo>
                    <a:pt x="244" y="98"/>
                    <a:pt x="244" y="98"/>
                    <a:pt x="244" y="98"/>
                  </a:cubicBezTo>
                  <a:cubicBezTo>
                    <a:pt x="244" y="110"/>
                    <a:pt x="237" y="121"/>
                    <a:pt x="228" y="127"/>
                  </a:cubicBezTo>
                  <a:cubicBezTo>
                    <a:pt x="228" y="127"/>
                    <a:pt x="228" y="127"/>
                    <a:pt x="228" y="127"/>
                  </a:cubicBezTo>
                  <a:cubicBezTo>
                    <a:pt x="238" y="127"/>
                    <a:pt x="248" y="130"/>
                    <a:pt x="249" y="134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2" y="169"/>
                    <a:pt x="254" y="172"/>
                    <a:pt x="242" y="172"/>
                  </a:cubicBezTo>
                  <a:close/>
                  <a:moveTo>
                    <a:pt x="83" y="153"/>
                  </a:moveTo>
                  <a:cubicBezTo>
                    <a:pt x="89" y="153"/>
                    <a:pt x="94" y="151"/>
                    <a:pt x="95" y="149"/>
                  </a:cubicBezTo>
                  <a:cubicBezTo>
                    <a:pt x="95" y="146"/>
                    <a:pt x="90" y="144"/>
                    <a:pt x="84" y="144"/>
                  </a:cubicBezTo>
                  <a:cubicBezTo>
                    <a:pt x="78" y="144"/>
                    <a:pt x="72" y="146"/>
                    <a:pt x="72" y="149"/>
                  </a:cubicBezTo>
                  <a:cubicBezTo>
                    <a:pt x="71" y="151"/>
                    <a:pt x="76" y="153"/>
                    <a:pt x="83" y="153"/>
                  </a:cubicBezTo>
                  <a:close/>
                  <a:moveTo>
                    <a:pt x="81" y="137"/>
                  </a:moveTo>
                  <a:cubicBezTo>
                    <a:pt x="81" y="134"/>
                    <a:pt x="77" y="132"/>
                    <a:pt x="71" y="132"/>
                  </a:cubicBezTo>
                  <a:cubicBezTo>
                    <a:pt x="65" y="132"/>
                    <a:pt x="60" y="134"/>
                    <a:pt x="59" y="137"/>
                  </a:cubicBezTo>
                  <a:cubicBezTo>
                    <a:pt x="59" y="139"/>
                    <a:pt x="63" y="141"/>
                    <a:pt x="69" y="141"/>
                  </a:cubicBezTo>
                  <a:cubicBezTo>
                    <a:pt x="75" y="141"/>
                    <a:pt x="81" y="139"/>
                    <a:pt x="81" y="137"/>
                  </a:cubicBezTo>
                  <a:close/>
                  <a:moveTo>
                    <a:pt x="100" y="141"/>
                  </a:moveTo>
                  <a:cubicBezTo>
                    <a:pt x="106" y="141"/>
                    <a:pt x="111" y="139"/>
                    <a:pt x="112" y="137"/>
                  </a:cubicBezTo>
                  <a:cubicBezTo>
                    <a:pt x="112" y="134"/>
                    <a:pt x="107" y="132"/>
                    <a:pt x="101" y="132"/>
                  </a:cubicBezTo>
                  <a:cubicBezTo>
                    <a:pt x="95" y="132"/>
                    <a:pt x="90" y="134"/>
                    <a:pt x="90" y="137"/>
                  </a:cubicBezTo>
                  <a:cubicBezTo>
                    <a:pt x="89" y="139"/>
                    <a:pt x="94" y="141"/>
                    <a:pt x="100" y="141"/>
                  </a:cubicBezTo>
                  <a:close/>
                  <a:moveTo>
                    <a:pt x="103" y="149"/>
                  </a:moveTo>
                  <a:cubicBezTo>
                    <a:pt x="103" y="151"/>
                    <a:pt x="108" y="153"/>
                    <a:pt x="115" y="153"/>
                  </a:cubicBezTo>
                  <a:cubicBezTo>
                    <a:pt x="121" y="153"/>
                    <a:pt x="126" y="151"/>
                    <a:pt x="126" y="149"/>
                  </a:cubicBezTo>
                  <a:cubicBezTo>
                    <a:pt x="126" y="146"/>
                    <a:pt x="121" y="144"/>
                    <a:pt x="115" y="144"/>
                  </a:cubicBezTo>
                  <a:cubicBezTo>
                    <a:pt x="109" y="144"/>
                    <a:pt x="104" y="146"/>
                    <a:pt x="103" y="149"/>
                  </a:cubicBezTo>
                  <a:close/>
                  <a:moveTo>
                    <a:pt x="131" y="141"/>
                  </a:moveTo>
                  <a:cubicBezTo>
                    <a:pt x="137" y="141"/>
                    <a:pt x="142" y="139"/>
                    <a:pt x="142" y="137"/>
                  </a:cubicBezTo>
                  <a:cubicBezTo>
                    <a:pt x="142" y="134"/>
                    <a:pt x="137" y="132"/>
                    <a:pt x="131" y="132"/>
                  </a:cubicBezTo>
                  <a:cubicBezTo>
                    <a:pt x="125" y="132"/>
                    <a:pt x="120" y="134"/>
                    <a:pt x="120" y="137"/>
                  </a:cubicBezTo>
                  <a:cubicBezTo>
                    <a:pt x="120" y="139"/>
                    <a:pt x="125" y="141"/>
                    <a:pt x="131" y="141"/>
                  </a:cubicBezTo>
                  <a:close/>
                  <a:moveTo>
                    <a:pt x="135" y="149"/>
                  </a:moveTo>
                  <a:cubicBezTo>
                    <a:pt x="135" y="151"/>
                    <a:pt x="140" y="153"/>
                    <a:pt x="147" y="153"/>
                  </a:cubicBezTo>
                  <a:cubicBezTo>
                    <a:pt x="153" y="153"/>
                    <a:pt x="158" y="151"/>
                    <a:pt x="158" y="149"/>
                  </a:cubicBezTo>
                  <a:cubicBezTo>
                    <a:pt x="158" y="146"/>
                    <a:pt x="152" y="144"/>
                    <a:pt x="146" y="144"/>
                  </a:cubicBezTo>
                  <a:cubicBezTo>
                    <a:pt x="140" y="144"/>
                    <a:pt x="135" y="146"/>
                    <a:pt x="135" y="149"/>
                  </a:cubicBezTo>
                  <a:close/>
                  <a:moveTo>
                    <a:pt x="162" y="141"/>
                  </a:moveTo>
                  <a:cubicBezTo>
                    <a:pt x="168" y="141"/>
                    <a:pt x="173" y="139"/>
                    <a:pt x="173" y="137"/>
                  </a:cubicBezTo>
                  <a:cubicBezTo>
                    <a:pt x="172" y="134"/>
                    <a:pt x="167" y="132"/>
                    <a:pt x="161" y="132"/>
                  </a:cubicBezTo>
                  <a:cubicBezTo>
                    <a:pt x="155" y="132"/>
                    <a:pt x="150" y="134"/>
                    <a:pt x="151" y="137"/>
                  </a:cubicBezTo>
                  <a:cubicBezTo>
                    <a:pt x="151" y="139"/>
                    <a:pt x="156" y="141"/>
                    <a:pt x="162" y="141"/>
                  </a:cubicBezTo>
                  <a:close/>
                  <a:moveTo>
                    <a:pt x="167" y="149"/>
                  </a:moveTo>
                  <a:cubicBezTo>
                    <a:pt x="167" y="151"/>
                    <a:pt x="172" y="153"/>
                    <a:pt x="179" y="153"/>
                  </a:cubicBezTo>
                  <a:cubicBezTo>
                    <a:pt x="185" y="153"/>
                    <a:pt x="190" y="151"/>
                    <a:pt x="189" y="149"/>
                  </a:cubicBezTo>
                  <a:cubicBezTo>
                    <a:pt x="189" y="146"/>
                    <a:pt x="184" y="144"/>
                    <a:pt x="177" y="144"/>
                  </a:cubicBezTo>
                  <a:cubicBezTo>
                    <a:pt x="171" y="144"/>
                    <a:pt x="166" y="146"/>
                    <a:pt x="167" y="149"/>
                  </a:cubicBezTo>
                  <a:close/>
                  <a:moveTo>
                    <a:pt x="193" y="141"/>
                  </a:moveTo>
                  <a:cubicBezTo>
                    <a:pt x="199" y="141"/>
                    <a:pt x="204" y="139"/>
                    <a:pt x="203" y="137"/>
                  </a:cubicBezTo>
                  <a:cubicBezTo>
                    <a:pt x="203" y="134"/>
                    <a:pt x="197" y="132"/>
                    <a:pt x="191" y="132"/>
                  </a:cubicBezTo>
                  <a:cubicBezTo>
                    <a:pt x="185" y="132"/>
                    <a:pt x="181" y="134"/>
                    <a:pt x="181" y="137"/>
                  </a:cubicBezTo>
                  <a:cubicBezTo>
                    <a:pt x="181" y="139"/>
                    <a:pt x="187" y="141"/>
                    <a:pt x="193" y="141"/>
                  </a:cubicBezTo>
                  <a:close/>
                  <a:moveTo>
                    <a:pt x="44" y="127"/>
                  </a:moveTo>
                  <a:cubicBezTo>
                    <a:pt x="212" y="127"/>
                    <a:pt x="212" y="127"/>
                    <a:pt x="212" y="127"/>
                  </a:cubicBezTo>
                  <a:cubicBezTo>
                    <a:pt x="227" y="127"/>
                    <a:pt x="239" y="114"/>
                    <a:pt x="239" y="98"/>
                  </a:cubicBezTo>
                  <a:cubicBezTo>
                    <a:pt x="239" y="33"/>
                    <a:pt x="239" y="33"/>
                    <a:pt x="239" y="33"/>
                  </a:cubicBezTo>
                  <a:cubicBezTo>
                    <a:pt x="239" y="17"/>
                    <a:pt x="227" y="5"/>
                    <a:pt x="212" y="5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6" y="5"/>
                    <a:pt x="30" y="7"/>
                    <a:pt x="24" y="13"/>
                  </a:cubicBezTo>
                  <a:cubicBezTo>
                    <a:pt x="19" y="18"/>
                    <a:pt x="17" y="25"/>
                    <a:pt x="17" y="33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4"/>
                    <a:pt x="29" y="127"/>
                    <a:pt x="44" y="127"/>
                  </a:cubicBezTo>
                  <a:close/>
                  <a:moveTo>
                    <a:pt x="38" y="141"/>
                  </a:moveTo>
                  <a:cubicBezTo>
                    <a:pt x="44" y="141"/>
                    <a:pt x="50" y="139"/>
                    <a:pt x="51" y="137"/>
                  </a:cubicBezTo>
                  <a:cubicBezTo>
                    <a:pt x="51" y="134"/>
                    <a:pt x="47" y="132"/>
                    <a:pt x="41" y="132"/>
                  </a:cubicBezTo>
                  <a:cubicBezTo>
                    <a:pt x="35" y="132"/>
                    <a:pt x="29" y="134"/>
                    <a:pt x="29" y="137"/>
                  </a:cubicBezTo>
                  <a:cubicBezTo>
                    <a:pt x="28" y="139"/>
                    <a:pt x="32" y="141"/>
                    <a:pt x="38" y="141"/>
                  </a:cubicBezTo>
                  <a:close/>
                  <a:moveTo>
                    <a:pt x="51" y="153"/>
                  </a:moveTo>
                  <a:cubicBezTo>
                    <a:pt x="57" y="153"/>
                    <a:pt x="62" y="151"/>
                    <a:pt x="63" y="149"/>
                  </a:cubicBezTo>
                  <a:cubicBezTo>
                    <a:pt x="63" y="146"/>
                    <a:pt x="59" y="144"/>
                    <a:pt x="53" y="144"/>
                  </a:cubicBezTo>
                  <a:cubicBezTo>
                    <a:pt x="46" y="144"/>
                    <a:pt x="41" y="146"/>
                    <a:pt x="40" y="149"/>
                  </a:cubicBezTo>
                  <a:cubicBezTo>
                    <a:pt x="40" y="151"/>
                    <a:pt x="44" y="153"/>
                    <a:pt x="51" y="153"/>
                  </a:cubicBezTo>
                  <a:close/>
                  <a:moveTo>
                    <a:pt x="207" y="163"/>
                  </a:moveTo>
                  <a:cubicBezTo>
                    <a:pt x="207" y="161"/>
                    <a:pt x="202" y="159"/>
                    <a:pt x="196" y="159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61" y="159"/>
                    <a:pt x="55" y="161"/>
                    <a:pt x="55" y="163"/>
                  </a:cubicBezTo>
                  <a:cubicBezTo>
                    <a:pt x="54" y="165"/>
                    <a:pt x="59" y="167"/>
                    <a:pt x="65" y="167"/>
                  </a:cubicBezTo>
                  <a:cubicBezTo>
                    <a:pt x="197" y="167"/>
                    <a:pt x="197" y="167"/>
                    <a:pt x="197" y="167"/>
                  </a:cubicBezTo>
                  <a:cubicBezTo>
                    <a:pt x="203" y="167"/>
                    <a:pt x="208" y="165"/>
                    <a:pt x="207" y="163"/>
                  </a:cubicBezTo>
                  <a:close/>
                  <a:moveTo>
                    <a:pt x="221" y="149"/>
                  </a:moveTo>
                  <a:cubicBezTo>
                    <a:pt x="220" y="146"/>
                    <a:pt x="215" y="144"/>
                    <a:pt x="209" y="144"/>
                  </a:cubicBezTo>
                  <a:cubicBezTo>
                    <a:pt x="202" y="144"/>
                    <a:pt x="198" y="146"/>
                    <a:pt x="198" y="149"/>
                  </a:cubicBezTo>
                  <a:cubicBezTo>
                    <a:pt x="199" y="151"/>
                    <a:pt x="204" y="153"/>
                    <a:pt x="211" y="153"/>
                  </a:cubicBezTo>
                  <a:cubicBezTo>
                    <a:pt x="217" y="153"/>
                    <a:pt x="222" y="151"/>
                    <a:pt x="221" y="149"/>
                  </a:cubicBezTo>
                  <a:close/>
                  <a:moveTo>
                    <a:pt x="234" y="137"/>
                  </a:moveTo>
                  <a:cubicBezTo>
                    <a:pt x="233" y="134"/>
                    <a:pt x="227" y="132"/>
                    <a:pt x="221" y="132"/>
                  </a:cubicBezTo>
                  <a:cubicBezTo>
                    <a:pt x="215" y="132"/>
                    <a:pt x="211" y="134"/>
                    <a:pt x="212" y="137"/>
                  </a:cubicBezTo>
                  <a:cubicBezTo>
                    <a:pt x="212" y="139"/>
                    <a:pt x="218" y="141"/>
                    <a:pt x="224" y="141"/>
                  </a:cubicBezTo>
                  <a:cubicBezTo>
                    <a:pt x="230" y="141"/>
                    <a:pt x="234" y="139"/>
                    <a:pt x="234" y="137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8134" name="直接连接符 2"/>
          <p:cNvCxnSpPr>
            <a:cxnSpLocks/>
          </p:cNvCxnSpPr>
          <p:nvPr/>
        </p:nvCxnSpPr>
        <p:spPr>
          <a:xfrm>
            <a:off x="3131840" y="3140968"/>
            <a:ext cx="5472608" cy="0"/>
          </a:xfrm>
          <a:prstGeom prst="line">
            <a:avLst/>
          </a:prstGeom>
          <a:ln w="19050" cap="flat" cmpd="sng">
            <a:solidFill>
              <a:srgbClr val="FF897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35" name="直接连接符 76"/>
          <p:cNvCxnSpPr>
            <a:cxnSpLocks/>
          </p:cNvCxnSpPr>
          <p:nvPr/>
        </p:nvCxnSpPr>
        <p:spPr>
          <a:xfrm>
            <a:off x="3131840" y="4836382"/>
            <a:ext cx="5472608" cy="0"/>
          </a:xfrm>
          <a:prstGeom prst="line">
            <a:avLst/>
          </a:prstGeom>
          <a:ln w="19050" cap="flat" cmpd="sng">
            <a:solidFill>
              <a:srgbClr val="ED4545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136" name="直接连接符 77"/>
          <p:cNvCxnSpPr>
            <a:cxnSpLocks/>
          </p:cNvCxnSpPr>
          <p:nvPr/>
        </p:nvCxnSpPr>
        <p:spPr>
          <a:xfrm flipV="1">
            <a:off x="3131840" y="5982797"/>
            <a:ext cx="5472608" cy="1"/>
          </a:xfrm>
          <a:prstGeom prst="line">
            <a:avLst/>
          </a:prstGeom>
          <a:ln w="19050" cap="flat" cmpd="sng">
            <a:solidFill>
              <a:srgbClr val="D33131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>
    <p:spli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827088" y="188913"/>
            <a:ext cx="709771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信息隐蔽和数据封装，使用与实现相分离</a:t>
            </a:r>
          </a:p>
        </p:txBody>
      </p:sp>
      <p:grpSp>
        <p:nvGrpSpPr>
          <p:cNvPr id="70" name="Group 38">
            <a:extLst>
              <a:ext uri="{FF2B5EF4-FFF2-40B4-BE49-F238E27FC236}">
                <a16:creationId xmlns:a16="http://schemas.microsoft.com/office/drawing/2014/main" id="{96EE5067-D4E9-41E5-A440-26A76C68643D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901868"/>
            <a:ext cx="7488832" cy="5755977"/>
            <a:chOff x="771" y="399"/>
            <a:chExt cx="4560" cy="3469"/>
          </a:xfrm>
        </p:grpSpPr>
        <p:sp>
          <p:nvSpPr>
            <p:cNvPr id="71" name="Text Box 2">
              <a:extLst>
                <a:ext uri="{FF2B5EF4-FFF2-40B4-BE49-F238E27FC236}">
                  <a16:creationId xmlns:a16="http://schemas.microsoft.com/office/drawing/2014/main" id="{4E0BC460-6732-4D16-9336-BF8612315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5" y="2087"/>
              <a:ext cx="394" cy="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</a:rPr>
                <a:t>抽象数据类型</a:t>
              </a: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Oval 3">
              <a:extLst>
                <a:ext uri="{FF2B5EF4-FFF2-40B4-BE49-F238E27FC236}">
                  <a16:creationId xmlns:a16="http://schemas.microsoft.com/office/drawing/2014/main" id="{70DA3593-2CE2-4D64-A9CB-5ED9948DB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927"/>
              <a:ext cx="480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3" name="Oval 4">
              <a:extLst>
                <a:ext uri="{FF2B5EF4-FFF2-40B4-BE49-F238E27FC236}">
                  <a16:creationId xmlns:a16="http://schemas.microsoft.com/office/drawing/2014/main" id="{42CCAFFE-A440-4F2E-9897-2BBDBF228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687"/>
              <a:ext cx="528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4" name="Oval 5">
              <a:extLst>
                <a:ext uri="{FF2B5EF4-FFF2-40B4-BE49-F238E27FC236}">
                  <a16:creationId xmlns:a16="http://schemas.microsoft.com/office/drawing/2014/main" id="{D25926D3-C326-4A20-A946-2E2D4B2A6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1455"/>
              <a:ext cx="480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5" name="Oval 6">
              <a:extLst>
                <a:ext uri="{FF2B5EF4-FFF2-40B4-BE49-F238E27FC236}">
                  <a16:creationId xmlns:a16="http://schemas.microsoft.com/office/drawing/2014/main" id="{742B662C-D034-450B-A1E7-86485B8E3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591"/>
              <a:ext cx="480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6" name="Oval 7">
              <a:extLst>
                <a:ext uri="{FF2B5EF4-FFF2-40B4-BE49-F238E27FC236}">
                  <a16:creationId xmlns:a16="http://schemas.microsoft.com/office/drawing/2014/main" id="{A3BFA51D-8236-453B-A7E7-EBABAFEBF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599"/>
              <a:ext cx="528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7" name="Oval 8">
              <a:extLst>
                <a:ext uri="{FF2B5EF4-FFF2-40B4-BE49-F238E27FC236}">
                  <a16:creationId xmlns:a16="http://schemas.microsoft.com/office/drawing/2014/main" id="{CD8D77E6-C3B2-41D1-8D63-BAE10548A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399"/>
              <a:ext cx="480" cy="24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8" name="Oval 9">
              <a:extLst>
                <a:ext uri="{FF2B5EF4-FFF2-40B4-BE49-F238E27FC236}">
                  <a16:creationId xmlns:a16="http://schemas.microsoft.com/office/drawing/2014/main" id="{CA42D257-F377-440F-86BA-2E8035407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" y="975"/>
              <a:ext cx="480" cy="192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>
              <a:outerShdw dist="107763" dir="2700000" algn="ctr" rotWithShape="0">
                <a:srgbClr val="0033CC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79" name="Rectangle 10">
              <a:extLst>
                <a:ext uri="{FF2B5EF4-FFF2-40B4-BE49-F238E27FC236}">
                  <a16:creationId xmlns:a16="http://schemas.microsoft.com/office/drawing/2014/main" id="{B72F00DA-15EB-420F-96B5-501C07B37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092"/>
              <a:ext cx="3552" cy="1776"/>
            </a:xfrm>
            <a:prstGeom prst="rect">
              <a:avLst/>
            </a:prstGeom>
            <a:solidFill>
              <a:srgbClr val="FFFF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  <a:contourClr>
                <a:srgbClr val="FFFFFF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Rectangle 11">
              <a:extLst>
                <a:ext uri="{FF2B5EF4-FFF2-40B4-BE49-F238E27FC236}">
                  <a16:creationId xmlns:a16="http://schemas.microsoft.com/office/drawing/2014/main" id="{E99E1290-80A8-415C-8AFD-8940EF416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2127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FFFF66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12">
              <a:extLst>
                <a:ext uri="{FF2B5EF4-FFF2-40B4-BE49-F238E27FC236}">
                  <a16:creationId xmlns:a16="http://schemas.microsoft.com/office/drawing/2014/main" id="{D37E54D1-4FEA-4639-9F55-695AC109D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2127"/>
              <a:ext cx="528" cy="288"/>
            </a:xfrm>
            <a:prstGeom prst="rect">
              <a:avLst/>
            </a:prstGeom>
            <a:solidFill>
              <a:srgbClr val="FFFF66"/>
            </a:solidFill>
            <a:ln w="38100">
              <a:noFill/>
              <a:miter lim="800000"/>
              <a:headEnd/>
              <a:tailEnd/>
            </a:ln>
            <a:effectLst>
              <a:prstShdw prst="shdw17" dist="17961" dir="2700000">
                <a:srgbClr val="FFFF66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</a:rPr>
                <a:t>    </a:t>
              </a:r>
            </a:p>
          </p:txBody>
        </p:sp>
        <p:sp>
          <p:nvSpPr>
            <p:cNvPr id="82" name="Rectangle 13">
              <a:extLst>
                <a:ext uri="{FF2B5EF4-FFF2-40B4-BE49-F238E27FC236}">
                  <a16:creationId xmlns:a16="http://schemas.microsoft.com/office/drawing/2014/main" id="{EE68BE1E-8687-43C2-B86F-046601AA7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7" y="2127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FFFF66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83" name="Rectangle 14">
              <a:extLst>
                <a:ext uri="{FF2B5EF4-FFF2-40B4-BE49-F238E27FC236}">
                  <a16:creationId xmlns:a16="http://schemas.microsoft.com/office/drawing/2014/main" id="{A0E691B2-372C-496D-B31C-6F6D02FD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127"/>
              <a:ext cx="528" cy="288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FFFF66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</a:endParaRPr>
            </a:p>
          </p:txBody>
        </p:sp>
        <p:sp>
          <p:nvSpPr>
            <p:cNvPr id="84" name="Text Box 15">
              <a:extLst>
                <a:ext uri="{FF2B5EF4-FFF2-40B4-BE49-F238E27FC236}">
                  <a16:creationId xmlns:a16="http://schemas.microsoft.com/office/drawing/2014/main" id="{7F03165B-70EB-4B33-A21D-E77CF57E3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" y="2045"/>
              <a:ext cx="3191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  <a:ea typeface="仿宋_GB2312" pitchFamily="49" charset="-122"/>
                </a:rPr>
                <a:t> 查找       登录       删除       修改</a:t>
              </a:r>
              <a:r>
                <a:rPr kumimoji="1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cxnSp>
          <p:nvCxnSpPr>
            <p:cNvPr id="85" name="AutoShape 16">
              <a:extLst>
                <a:ext uri="{FF2B5EF4-FFF2-40B4-BE49-F238E27FC236}">
                  <a16:creationId xmlns:a16="http://schemas.microsoft.com/office/drawing/2014/main" id="{2E3F6A29-230B-48E0-99D6-82AA42F7E69B}"/>
                </a:ext>
              </a:extLst>
            </p:cNvPr>
            <p:cNvCxnSpPr>
              <a:cxnSpLocks noChangeShapeType="1"/>
              <a:stCxn id="78" idx="4"/>
            </p:cNvCxnSpPr>
            <p:nvPr/>
          </p:nvCxnSpPr>
          <p:spPr bwMode="auto">
            <a:xfrm rot="5400000">
              <a:off x="4227" y="1215"/>
              <a:ext cx="912" cy="816"/>
            </a:xfrm>
            <a:prstGeom prst="curvedConnector3">
              <a:avLst>
                <a:gd name="adj1" fmla="val 84537"/>
              </a:avLst>
            </a:prstGeom>
            <a:noFill/>
            <a:ln w="31750">
              <a:solidFill>
                <a:srgbClr val="0000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75C98F65-C0D9-4301-922A-6C7A5FC8E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" y="1167"/>
              <a:ext cx="240" cy="912"/>
            </a:xfrm>
            <a:prstGeom prst="line">
              <a:avLst/>
            </a:prstGeom>
            <a:noFill/>
            <a:ln w="31750">
              <a:solidFill>
                <a:srgbClr val="333399"/>
              </a:solidFill>
              <a:round/>
              <a:headEnd type="triangl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CCDC80A0-F88B-4416-8677-5F6B6818C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7" y="927"/>
              <a:ext cx="528" cy="1152"/>
            </a:xfrm>
            <a:prstGeom prst="line">
              <a:avLst/>
            </a:prstGeom>
            <a:noFill/>
            <a:ln w="3175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19">
              <a:extLst>
                <a:ext uri="{FF2B5EF4-FFF2-40B4-BE49-F238E27FC236}">
                  <a16:creationId xmlns:a16="http://schemas.microsoft.com/office/drawing/2014/main" id="{5B8A3A77-14F9-49CF-921F-0824720B8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5" y="831"/>
              <a:ext cx="1872" cy="1248"/>
            </a:xfrm>
            <a:prstGeom prst="line">
              <a:avLst/>
            </a:prstGeom>
            <a:noFill/>
            <a:ln w="31750">
              <a:solidFill>
                <a:srgbClr val="0033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20">
              <a:extLst>
                <a:ext uri="{FF2B5EF4-FFF2-40B4-BE49-F238E27FC236}">
                  <a16:creationId xmlns:a16="http://schemas.microsoft.com/office/drawing/2014/main" id="{F7221A7C-5EB9-4FF6-8D54-B0A082135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7" y="1599"/>
              <a:ext cx="816" cy="48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21">
              <a:extLst>
                <a:ext uri="{FF2B5EF4-FFF2-40B4-BE49-F238E27FC236}">
                  <a16:creationId xmlns:a16="http://schemas.microsoft.com/office/drawing/2014/main" id="{3FE5ACD6-932A-4F64-8A79-EFB4E7075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1" y="1119"/>
              <a:ext cx="3120" cy="960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DC2BA188-FCA6-48AB-8126-0BAB16B37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927"/>
              <a:ext cx="144" cy="1152"/>
            </a:xfrm>
            <a:prstGeom prst="line">
              <a:avLst/>
            </a:prstGeom>
            <a:noFill/>
            <a:ln w="31750">
              <a:solidFill>
                <a:srgbClr val="333399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2663C0C-2FD7-4F2B-B09F-D3378C567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9" y="1167"/>
              <a:ext cx="2736" cy="864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24">
              <a:extLst>
                <a:ext uri="{FF2B5EF4-FFF2-40B4-BE49-F238E27FC236}">
                  <a16:creationId xmlns:a16="http://schemas.microsoft.com/office/drawing/2014/main" id="{80144109-A701-408E-BF2E-B6105465E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695"/>
              <a:ext cx="288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25">
              <a:extLst>
                <a:ext uri="{FF2B5EF4-FFF2-40B4-BE49-F238E27FC236}">
                  <a16:creationId xmlns:a16="http://schemas.microsoft.com/office/drawing/2014/main" id="{492694A7-3843-41A3-9797-1A2BAC0F2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7" y="831"/>
              <a:ext cx="240" cy="1248"/>
            </a:xfrm>
            <a:prstGeom prst="line">
              <a:avLst/>
            </a:prstGeom>
            <a:noFill/>
            <a:ln w="31750">
              <a:solidFill>
                <a:srgbClr val="0033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26">
              <a:extLst>
                <a:ext uri="{FF2B5EF4-FFF2-40B4-BE49-F238E27FC236}">
                  <a16:creationId xmlns:a16="http://schemas.microsoft.com/office/drawing/2014/main" id="{113272BB-49AB-40EE-9A6E-AF73B53F6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639"/>
              <a:ext cx="480" cy="1440"/>
            </a:xfrm>
            <a:prstGeom prst="line">
              <a:avLst/>
            </a:prstGeom>
            <a:noFill/>
            <a:ln w="31750">
              <a:solidFill>
                <a:srgbClr val="80008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5EBBD2F2-0466-41BD-A663-D16494ADE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3" y="1839"/>
              <a:ext cx="240" cy="240"/>
            </a:xfrm>
            <a:prstGeom prst="line">
              <a:avLst/>
            </a:prstGeom>
            <a:noFill/>
            <a:ln w="31750">
              <a:solidFill>
                <a:srgbClr val="8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28">
              <a:extLst>
                <a:ext uri="{FF2B5EF4-FFF2-40B4-BE49-F238E27FC236}">
                  <a16:creationId xmlns:a16="http://schemas.microsoft.com/office/drawing/2014/main" id="{2B4B206B-D0FD-406A-9AC6-F69F24A8B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183"/>
              <a:ext cx="2592" cy="336"/>
            </a:xfrm>
            <a:prstGeom prst="rect">
              <a:avLst/>
            </a:prstGeom>
            <a:solidFill>
              <a:srgbClr val="FFFFFF"/>
            </a:solidFill>
            <a:ln w="28575" cap="rnd">
              <a:solidFill>
                <a:srgbClr val="003366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Rectangle 29">
              <a:extLst>
                <a:ext uri="{FF2B5EF4-FFF2-40B4-BE49-F238E27FC236}">
                  <a16:creationId xmlns:a16="http://schemas.microsoft.com/office/drawing/2014/main" id="{1D18926D-BAC5-4736-B1C6-99E2966A5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" y="3087"/>
              <a:ext cx="2592" cy="336"/>
            </a:xfrm>
            <a:prstGeom prst="rect">
              <a:avLst/>
            </a:prstGeom>
            <a:solidFill>
              <a:srgbClr val="FFFFFF"/>
            </a:solidFill>
            <a:ln w="28575" cap="rnd">
              <a:solidFill>
                <a:srgbClr val="003366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Rectangle 30">
              <a:extLst>
                <a:ext uri="{FF2B5EF4-FFF2-40B4-BE49-F238E27FC236}">
                  <a16:creationId xmlns:a16="http://schemas.microsoft.com/office/drawing/2014/main" id="{681BEE62-AD4E-4098-B373-738146B4B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2991"/>
              <a:ext cx="2592" cy="336"/>
            </a:xfrm>
            <a:prstGeom prst="rect">
              <a:avLst/>
            </a:prstGeom>
            <a:solidFill>
              <a:srgbClr val="FFFFFF"/>
            </a:solidFill>
            <a:ln w="28575" cap="rnd">
              <a:solidFill>
                <a:srgbClr val="003366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Rectangle 31">
              <a:extLst>
                <a:ext uri="{FF2B5EF4-FFF2-40B4-BE49-F238E27FC236}">
                  <a16:creationId xmlns:a16="http://schemas.microsoft.com/office/drawing/2014/main" id="{0C251B90-5551-4176-83A8-79C06AA10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2895"/>
              <a:ext cx="2592" cy="336"/>
            </a:xfrm>
            <a:prstGeom prst="rect">
              <a:avLst/>
            </a:prstGeom>
            <a:solidFill>
              <a:srgbClr val="FFFFFF"/>
            </a:solidFill>
            <a:ln w="28575" cap="rnd">
              <a:solidFill>
                <a:srgbClr val="003366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6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仿宋_GB2312" pitchFamily="49" charset="-122"/>
                  <a:ea typeface="仿宋_GB2312" pitchFamily="49" charset="-122"/>
                </a:rPr>
                <a:t>符   号   表</a:t>
              </a:r>
              <a:endParaRPr kumimoji="1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</a:endParaRPr>
            </a:p>
          </p:txBody>
        </p:sp>
        <p:sp>
          <p:nvSpPr>
            <p:cNvPr id="101" name="Line 32">
              <a:extLst>
                <a:ext uri="{FF2B5EF4-FFF2-40B4-BE49-F238E27FC236}">
                  <a16:creationId xmlns:a16="http://schemas.microsoft.com/office/drawing/2014/main" id="{90687DE3-91D6-4EF6-9092-E083FFB19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3" y="2415"/>
              <a:ext cx="192" cy="48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33">
              <a:extLst>
                <a:ext uri="{FF2B5EF4-FFF2-40B4-BE49-F238E27FC236}">
                  <a16:creationId xmlns:a16="http://schemas.microsoft.com/office/drawing/2014/main" id="{E72FC13E-1E54-4B98-9349-B3A812EE3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9" y="2415"/>
              <a:ext cx="192" cy="48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34">
              <a:extLst>
                <a:ext uri="{FF2B5EF4-FFF2-40B4-BE49-F238E27FC236}">
                  <a16:creationId xmlns:a16="http://schemas.microsoft.com/office/drawing/2014/main" id="{601EECCD-9F0C-4F1D-B945-3B31F5760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1" y="2415"/>
              <a:ext cx="192" cy="48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35">
              <a:extLst>
                <a:ext uri="{FF2B5EF4-FFF2-40B4-BE49-F238E27FC236}">
                  <a16:creationId xmlns:a16="http://schemas.microsoft.com/office/drawing/2014/main" id="{39AB2C1B-6BC5-43F4-BD95-A2451FECA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7" y="2415"/>
              <a:ext cx="384" cy="48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spli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541338" y="908720"/>
            <a:ext cx="8382000" cy="26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可以用以下的三元组来表示：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 =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数据对象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上的关系集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上的操作集 </a:t>
            </a:r>
          </a:p>
        </p:txBody>
      </p:sp>
      <p:sp>
        <p:nvSpPr>
          <p:cNvPr id="430086" name="Rectangle 6"/>
          <p:cNvSpPr>
            <a:spLocks noChangeArrowheads="1"/>
          </p:cNvSpPr>
          <p:nvPr/>
        </p:nvSpPr>
        <p:spPr bwMode="auto">
          <a:xfrm>
            <a:off x="685800" y="4143375"/>
            <a:ext cx="7986713" cy="267765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数据对象的定义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关系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数据关系的定义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操作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基本操作的定义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ADT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87" name="Rectangle 7"/>
          <p:cNvSpPr>
            <a:spLocks noChangeArrowheads="1"/>
          </p:cNvSpPr>
          <p:nvPr/>
        </p:nvSpPr>
        <p:spPr bwMode="auto">
          <a:xfrm>
            <a:off x="682625" y="3678238"/>
            <a:ext cx="7988300" cy="461963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常用定义格式</a:t>
            </a:r>
          </a:p>
        </p:txBody>
      </p:sp>
      <p:sp>
        <p:nvSpPr>
          <p:cNvPr id="430088" name="Line 8"/>
          <p:cNvSpPr>
            <a:spLocks noChangeShapeType="1"/>
          </p:cNvSpPr>
          <p:nvPr/>
        </p:nvSpPr>
        <p:spPr bwMode="auto">
          <a:xfrm flipH="1">
            <a:off x="2956963" y="2171129"/>
            <a:ext cx="1399011" cy="753815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89" name="Line 9"/>
          <p:cNvSpPr>
            <a:spLocks noChangeShapeType="1"/>
          </p:cNvSpPr>
          <p:nvPr/>
        </p:nvSpPr>
        <p:spPr bwMode="auto">
          <a:xfrm>
            <a:off x="5004048" y="2171129"/>
            <a:ext cx="0" cy="753815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090" name="Line 10"/>
          <p:cNvSpPr>
            <a:spLocks noChangeShapeType="1"/>
          </p:cNvSpPr>
          <p:nvPr/>
        </p:nvSpPr>
        <p:spPr bwMode="auto">
          <a:xfrm>
            <a:off x="5652119" y="2171129"/>
            <a:ext cx="1440155" cy="753815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7088" y="188913"/>
            <a:ext cx="3222625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抽象数据类型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30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430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430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30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300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430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uiExpand="1" build="p" advAuto="1000"/>
      <p:bldP spid="430086" grpId="0" uiExpand="1" build="p" animBg="1" advAuto="1000"/>
      <p:bldP spid="43008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6DE03-7198-45DB-8C6D-675043DA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6C1AE-E6FC-4C17-A2FA-451BB0DFA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3429000"/>
            <a:ext cx="8784976" cy="3384376"/>
          </a:xfrm>
        </p:spPr>
        <p:txBody>
          <a:bodyPr/>
          <a:lstStyle/>
          <a:p>
            <a:r>
              <a:rPr lang="zh-CN" altLang="en-US" sz="2400" dirty="0"/>
              <a:t>基本操作有两种参数：</a:t>
            </a:r>
            <a:r>
              <a:rPr lang="zh-CN" altLang="en-US" sz="2400" dirty="0">
                <a:solidFill>
                  <a:srgbClr val="0000FF"/>
                </a:solidFill>
              </a:rPr>
              <a:t>赋值参数</a:t>
            </a:r>
            <a:r>
              <a:rPr lang="zh-CN" altLang="en-US" sz="2400" dirty="0"/>
              <a:t>只为操作提供输入值；</a:t>
            </a:r>
            <a:r>
              <a:rPr lang="zh-CN" altLang="en-US" sz="2400" dirty="0">
                <a:solidFill>
                  <a:srgbClr val="0000FF"/>
                </a:solidFill>
              </a:rPr>
              <a:t>引用参数</a:t>
            </a:r>
            <a:r>
              <a:rPr lang="zh-CN" altLang="en-US" sz="2400" dirty="0"/>
              <a:t>以 </a:t>
            </a:r>
            <a:r>
              <a:rPr lang="en-US" altLang="zh-CN" sz="2400" b="1" dirty="0">
                <a:solidFill>
                  <a:srgbClr val="FF0000"/>
                </a:solidFill>
              </a:rPr>
              <a:t>&amp; </a:t>
            </a:r>
            <a:r>
              <a:rPr lang="zh-CN" altLang="en-US" sz="2400" dirty="0"/>
              <a:t>打头，除可提供输入值外，还将返回操作结果。</a:t>
            </a:r>
          </a:p>
          <a:p>
            <a:r>
              <a:rPr lang="zh-CN" altLang="en-US" sz="2400" dirty="0"/>
              <a:t>“初始条件”描述了</a:t>
            </a:r>
            <a:r>
              <a:rPr lang="zh-CN" altLang="en-US" sz="2400" dirty="0">
                <a:solidFill>
                  <a:srgbClr val="0000FF"/>
                </a:solidFill>
              </a:rPr>
              <a:t>操作执行之前数据结构和参数应满足的先决条件</a:t>
            </a:r>
            <a:r>
              <a:rPr lang="zh-CN" altLang="en-US" sz="2400" dirty="0"/>
              <a:t>，若不满足，则操作失败，并返回相应出错信息。</a:t>
            </a:r>
          </a:p>
          <a:p>
            <a:r>
              <a:rPr lang="zh-CN" altLang="en-US" sz="2400" dirty="0"/>
              <a:t>“操作结果”说明了</a:t>
            </a:r>
            <a:r>
              <a:rPr lang="zh-CN" altLang="en-US" sz="2400" dirty="0">
                <a:solidFill>
                  <a:srgbClr val="0000FF"/>
                </a:solidFill>
              </a:rPr>
              <a:t>操作正常完成之后，数据结构的变化状况和应返回的结果</a:t>
            </a:r>
            <a:r>
              <a:rPr lang="zh-CN" altLang="en-US" sz="2400" dirty="0"/>
              <a:t>。若前置条件为空，则省略之。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AA5DCB-A987-49ED-A3BE-5BD45985DF65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764704"/>
            <a:ext cx="8352928" cy="111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buClr>
                <a:srgbClr val="800080"/>
              </a:buClr>
              <a:buSzPct val="50000"/>
              <a:buNone/>
            </a:pPr>
            <a:r>
              <a:rPr lang="zh-CN" altLang="en-US" sz="2400" kern="0" dirty="0">
                <a:latin typeface="+mn-ea"/>
                <a:ea typeface="+mn-ea"/>
              </a:rPr>
              <a:t>其中数据对象、数据之间的关系用伪码描述；基本操作定义格式为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ECA4F5-8A14-49EB-9F4B-90C81223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401" y="1548489"/>
            <a:ext cx="5616575" cy="168905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基本操作名</a:t>
            </a:r>
            <a:r>
              <a:rPr lang="zh-CN" altLang="en-US" sz="2400" dirty="0">
                <a:latin typeface="+mn-ea"/>
                <a:ea typeface="+mn-ea"/>
              </a:rPr>
              <a:t>（参数表）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初始条件：</a:t>
            </a:r>
            <a:r>
              <a:rPr lang="en-US" altLang="zh-CN" sz="2400" dirty="0">
                <a:latin typeface="+mn-ea"/>
                <a:ea typeface="+mn-ea"/>
              </a:rPr>
              <a:t>〈</a:t>
            </a:r>
            <a:r>
              <a:rPr lang="zh-CN" altLang="en-US" sz="2400" dirty="0">
                <a:latin typeface="+mn-ea"/>
                <a:ea typeface="+mn-ea"/>
              </a:rPr>
              <a:t>先决条件描述</a:t>
            </a:r>
            <a:r>
              <a:rPr lang="en-US" altLang="zh-CN" sz="2400" dirty="0">
                <a:latin typeface="+mn-ea"/>
                <a:ea typeface="+mn-ea"/>
              </a:rPr>
              <a:t>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ea typeface="+mn-ea"/>
              </a:rPr>
              <a:t>操作结果：</a:t>
            </a:r>
            <a:r>
              <a:rPr lang="en-US" altLang="zh-CN" sz="2400" dirty="0">
                <a:latin typeface="+mn-ea"/>
                <a:ea typeface="+mn-ea"/>
              </a:rPr>
              <a:t>〈</a:t>
            </a:r>
            <a:r>
              <a:rPr lang="zh-CN" altLang="en-US" sz="2400" dirty="0">
                <a:latin typeface="+mn-ea"/>
                <a:ea typeface="+mn-ea"/>
              </a:rPr>
              <a:t>操作结果描述</a:t>
            </a:r>
            <a:r>
              <a:rPr lang="en-US" altLang="zh-CN" sz="2400" dirty="0">
                <a:latin typeface="+mn-ea"/>
                <a:ea typeface="+mn-ea"/>
              </a:rPr>
              <a:t>〉</a:t>
            </a:r>
          </a:p>
        </p:txBody>
      </p:sp>
    </p:spTree>
    <p:extLst>
      <p:ext uri="{BB962C8B-B14F-4D97-AF65-F5344CB8AC3E}">
        <p14:creationId xmlns:p14="http://schemas.microsoft.com/office/powerpoint/2010/main" val="4015854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F9E3E-3333-4361-9E8E-4102ACBB0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64" y="620688"/>
            <a:ext cx="7848872" cy="623731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ADT Complex {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0000FF"/>
                </a:solidFill>
              </a:rPr>
              <a:t>数据对象</a:t>
            </a:r>
            <a:r>
              <a:rPr lang="zh-CN" altLang="en-US" sz="1800" dirty="0"/>
              <a:t>：</a:t>
            </a:r>
            <a:r>
              <a:rPr lang="en-US" altLang="zh-CN" sz="1800" dirty="0"/>
              <a:t>D={e1, e2 | e1, e2∈R}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0000FF"/>
                </a:solidFill>
              </a:rPr>
              <a:t>数据关系</a:t>
            </a:r>
            <a:r>
              <a:rPr lang="zh-CN" altLang="en-US" sz="1800" dirty="0"/>
              <a:t>：</a:t>
            </a:r>
            <a:r>
              <a:rPr lang="en-US" altLang="zh-CN" sz="1800" dirty="0"/>
              <a:t>R1={&lt;e1, e2&gt; | e1</a:t>
            </a:r>
            <a:r>
              <a:rPr lang="zh-CN" altLang="en-US" sz="1800" dirty="0"/>
              <a:t>是复数的实部，</a:t>
            </a:r>
            <a:r>
              <a:rPr lang="en-US" altLang="zh-CN" sz="1800" dirty="0"/>
              <a:t>e2</a:t>
            </a:r>
            <a:r>
              <a:rPr lang="zh-CN" altLang="en-US" sz="1800" dirty="0"/>
              <a:t>是复数的虚部</a:t>
            </a:r>
            <a:r>
              <a:rPr lang="en-US" altLang="zh-CN" sz="1800" dirty="0"/>
              <a:t>}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0000FF"/>
                </a:solidFill>
              </a:rPr>
              <a:t>基本操作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InitComplex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Z, v1, v2)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操作结果：构造复数 </a:t>
            </a:r>
            <a:r>
              <a:rPr lang="en-US" altLang="zh-CN" sz="1800" dirty="0"/>
              <a:t>Z, </a:t>
            </a:r>
            <a:r>
              <a:rPr lang="zh-CN" altLang="en-US" sz="1800" dirty="0"/>
              <a:t>其实部和虚部分别被赋役参数 </a:t>
            </a:r>
            <a:r>
              <a:rPr lang="en-US" altLang="zh-CN" sz="1800" dirty="0"/>
              <a:t>v1 </a:t>
            </a:r>
            <a:r>
              <a:rPr lang="zh-CN" altLang="en-US" sz="1800" dirty="0"/>
              <a:t>和 </a:t>
            </a:r>
            <a:r>
              <a:rPr lang="en-US" altLang="zh-CN" sz="1800" dirty="0"/>
              <a:t>v2 </a:t>
            </a:r>
            <a:r>
              <a:rPr lang="zh-CN" altLang="en-US" sz="1800" dirty="0"/>
              <a:t>的值。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Destroy(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Z) 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初始条件：复数已存在。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操作结果：复数 </a:t>
            </a:r>
            <a:r>
              <a:rPr lang="en-US" altLang="zh-CN" sz="1800" dirty="0"/>
              <a:t>Z </a:t>
            </a:r>
            <a:r>
              <a:rPr lang="zh-CN" altLang="en-US" sz="1800" dirty="0"/>
              <a:t>被销毁。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GetReal</a:t>
            </a:r>
            <a:r>
              <a:rPr lang="en-US" altLang="zh-CN" sz="1800" dirty="0"/>
              <a:t>(Z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 err="1"/>
              <a:t>realPart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初始条件：复数已存在。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realPart</a:t>
            </a:r>
            <a:r>
              <a:rPr lang="en-US" altLang="zh-CN" sz="1800" dirty="0"/>
              <a:t> </a:t>
            </a:r>
            <a:r>
              <a:rPr lang="zh-CN" altLang="en-US" sz="1800" dirty="0"/>
              <a:t>返回复数 </a:t>
            </a:r>
            <a:r>
              <a:rPr lang="en-US" altLang="zh-CN" sz="1800" dirty="0"/>
              <a:t>Z </a:t>
            </a:r>
            <a:r>
              <a:rPr lang="zh-CN" altLang="en-US" sz="1800" dirty="0"/>
              <a:t>的实部值。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 err="1"/>
              <a:t>GetImag</a:t>
            </a:r>
            <a:r>
              <a:rPr lang="en-US" altLang="zh-CN" sz="1800" dirty="0"/>
              <a:t>(Z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 err="1"/>
              <a:t>imagPart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初始条件：复数已存在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imagPart</a:t>
            </a:r>
            <a:r>
              <a:rPr lang="en-US" altLang="zh-CN" sz="1800" dirty="0"/>
              <a:t> </a:t>
            </a:r>
            <a:r>
              <a:rPr lang="zh-CN" altLang="en-US" sz="1800" dirty="0"/>
              <a:t>返回复数 </a:t>
            </a:r>
            <a:r>
              <a:rPr lang="en-US" altLang="zh-CN" sz="1800" dirty="0"/>
              <a:t>Z </a:t>
            </a:r>
            <a:r>
              <a:rPr lang="zh-CN" altLang="en-US" sz="1800" dirty="0"/>
              <a:t>的虚部值。</a:t>
            </a:r>
            <a:endParaRPr lang="en-US" altLang="zh-CN" sz="18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D22AC5-5785-486B-8EDB-80362077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抽象数据类型的定义示例</a:t>
            </a:r>
            <a:r>
              <a:rPr lang="en-US" altLang="zh-CN" dirty="0"/>
              <a:t>---Complex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37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22AC5-5785-486B-8EDB-80362077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抽象数据类型的定义示例</a:t>
            </a:r>
            <a:r>
              <a:rPr lang="en-US" altLang="zh-CN" dirty="0"/>
              <a:t>---Complex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F9E3E-3333-4361-9E8E-4102ACBB0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730742"/>
            <a:ext cx="7776864" cy="567087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ADD(z1,  z2,  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z_sum)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</a:t>
            </a:r>
            <a:r>
              <a:rPr lang="en-US" altLang="zh-CN" sz="1800" dirty="0"/>
              <a:t>z1, z2 </a:t>
            </a:r>
            <a:r>
              <a:rPr lang="zh-CN" altLang="en-US" sz="1800" dirty="0"/>
              <a:t>是复数。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z_sum</a:t>
            </a:r>
            <a:r>
              <a:rPr lang="en-US" altLang="zh-CN" sz="1800" dirty="0"/>
              <a:t> </a:t>
            </a:r>
            <a:r>
              <a:rPr lang="zh-CN" altLang="en-US" sz="1800" dirty="0"/>
              <a:t>返回两个复数 </a:t>
            </a:r>
            <a:r>
              <a:rPr lang="en-US" altLang="zh-CN" sz="1800" dirty="0"/>
              <a:t>z1, z2 </a:t>
            </a:r>
            <a:r>
              <a:rPr lang="zh-CN" altLang="en-US" sz="1800" dirty="0"/>
              <a:t>的和值。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SUB(z1, z2, 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z_sub)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</a:t>
            </a:r>
            <a:r>
              <a:rPr lang="en-US" altLang="zh-CN" sz="1800" dirty="0"/>
              <a:t>z1, z2 </a:t>
            </a:r>
            <a:r>
              <a:rPr lang="zh-CN" altLang="en-US" sz="1800" dirty="0"/>
              <a:t>是复数。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z_sub</a:t>
            </a:r>
            <a:r>
              <a:rPr lang="en-US" altLang="zh-CN" sz="1800" dirty="0"/>
              <a:t> </a:t>
            </a:r>
            <a:r>
              <a:rPr lang="zh-CN" altLang="en-US" sz="1800" dirty="0"/>
              <a:t>返回两个复数 </a:t>
            </a:r>
            <a:r>
              <a:rPr lang="en-US" altLang="zh-CN" sz="1800" dirty="0"/>
              <a:t>z1, z2 </a:t>
            </a:r>
            <a:r>
              <a:rPr lang="zh-CN" altLang="en-US" sz="1800" dirty="0"/>
              <a:t>的差值。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MUL(z1, z2, 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z_mul)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</a:t>
            </a:r>
            <a:r>
              <a:rPr lang="en-US" altLang="zh-CN" sz="1800" dirty="0"/>
              <a:t>z1, z2 </a:t>
            </a:r>
            <a:r>
              <a:rPr lang="zh-CN" altLang="en-US" sz="1800" dirty="0"/>
              <a:t>是复数。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z_mul</a:t>
            </a:r>
            <a:r>
              <a:rPr lang="en-US" altLang="zh-CN" sz="1800" dirty="0"/>
              <a:t> </a:t>
            </a:r>
            <a:r>
              <a:rPr lang="zh-CN" altLang="en-US" sz="1800" dirty="0"/>
              <a:t>返回两个复数 </a:t>
            </a:r>
            <a:r>
              <a:rPr lang="en-US" altLang="zh-CN" sz="1800" dirty="0"/>
              <a:t>z1, z2 </a:t>
            </a:r>
            <a:r>
              <a:rPr lang="zh-CN" altLang="en-US" sz="1800" dirty="0"/>
              <a:t>的积值。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</a:t>
            </a:r>
            <a:r>
              <a:rPr lang="en-US" altLang="zh-CN" sz="1800" dirty="0"/>
              <a:t>DIV(z1, z2, </a:t>
            </a:r>
            <a:r>
              <a:rPr lang="en-US" altLang="zh-CN" sz="1800" dirty="0">
                <a:solidFill>
                  <a:srgbClr val="FF0000"/>
                </a:solidFill>
              </a:rPr>
              <a:t>&amp;</a:t>
            </a:r>
            <a:r>
              <a:rPr lang="en-US" altLang="zh-CN" sz="1800" dirty="0"/>
              <a:t>z_div)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初始条件：</a:t>
            </a:r>
            <a:r>
              <a:rPr lang="en-US" altLang="zh-CN" sz="1800" dirty="0"/>
              <a:t>z1, z2 </a:t>
            </a:r>
            <a:r>
              <a:rPr lang="zh-CN" altLang="en-US" sz="1800" dirty="0"/>
              <a:t>是复数。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        操作结果：用 </a:t>
            </a:r>
            <a:r>
              <a:rPr lang="en-US" altLang="zh-CN" sz="1800" dirty="0" err="1"/>
              <a:t>z_div</a:t>
            </a:r>
            <a:r>
              <a:rPr lang="en-US" altLang="zh-CN" sz="1800" dirty="0"/>
              <a:t> </a:t>
            </a:r>
            <a:r>
              <a:rPr lang="zh-CN" altLang="en-US" sz="1800" dirty="0"/>
              <a:t>返回两个复数 </a:t>
            </a:r>
            <a:r>
              <a:rPr lang="en-US" altLang="zh-CN" sz="1800" dirty="0"/>
              <a:t>z1, z2 </a:t>
            </a:r>
            <a:r>
              <a:rPr lang="zh-CN" altLang="en-US" sz="1800" dirty="0"/>
              <a:t>的商值。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2000" b="1" dirty="0"/>
              <a:t>} ADT Complex</a:t>
            </a:r>
          </a:p>
        </p:txBody>
      </p:sp>
    </p:spTree>
    <p:extLst>
      <p:ext uri="{BB962C8B-B14F-4D97-AF65-F5344CB8AC3E}">
        <p14:creationId xmlns:p14="http://schemas.microsoft.com/office/powerpoint/2010/main" val="3027824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DEF2BFF-4CFA-7179-03C4-750A92B6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抽象数据类型的实现示例</a:t>
            </a:r>
            <a:r>
              <a:rPr lang="en-US" altLang="zh-CN" dirty="0"/>
              <a:t>---Complex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69142F0-4F4B-4B77-8122-FD2F2E96A0F6}"/>
              </a:ext>
            </a:extLst>
          </p:cNvPr>
          <p:cNvSpPr txBox="1">
            <a:spLocks/>
          </p:cNvSpPr>
          <p:nvPr/>
        </p:nvSpPr>
        <p:spPr>
          <a:xfrm>
            <a:off x="683568" y="730742"/>
            <a:ext cx="7776864" cy="61272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/>
            <a:r>
              <a:rPr lang="en-US" altLang="zh-CN" sz="1800" kern="0" dirty="0">
                <a:solidFill>
                  <a:srgbClr val="00B050"/>
                </a:solidFill>
              </a:rPr>
              <a:t>// </a:t>
            </a:r>
            <a:r>
              <a:rPr lang="zh-CN" altLang="en-US" sz="1800" kern="0" dirty="0">
                <a:solidFill>
                  <a:srgbClr val="00B050"/>
                </a:solidFill>
              </a:rPr>
              <a:t>存储结构的定义</a:t>
            </a:r>
            <a:endParaRPr lang="en-US" altLang="zh-CN" sz="1800" kern="0" dirty="0">
              <a:solidFill>
                <a:srgbClr val="00B050"/>
              </a:solidFill>
            </a:endParaRPr>
          </a:p>
          <a:p>
            <a:pPr indent="0"/>
            <a:r>
              <a:rPr lang="en-US" altLang="zh-CN" sz="1800" b="1" kern="0" dirty="0">
                <a:solidFill>
                  <a:srgbClr val="0000FF"/>
                </a:solidFill>
              </a:rPr>
              <a:t>typedef  struct </a:t>
            </a:r>
            <a:r>
              <a:rPr lang="en-US" altLang="zh-CN" sz="1800" kern="0" dirty="0">
                <a:solidFill>
                  <a:srgbClr val="0000FF"/>
                </a:solidFill>
              </a:rPr>
              <a:t>{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double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realpart</a:t>
            </a:r>
            <a:r>
              <a:rPr lang="en-US" altLang="zh-CN" sz="1800" kern="0" dirty="0">
                <a:solidFill>
                  <a:srgbClr val="0000FF"/>
                </a:solidFill>
              </a:rPr>
              <a:t>;</a:t>
            </a:r>
            <a:endParaRPr lang="zh-CN" altLang="en-US" sz="1800" kern="0" dirty="0">
              <a:solidFill>
                <a:srgbClr val="0000FF"/>
              </a:solidFill>
            </a:endParaRPr>
          </a:p>
          <a:p>
            <a:pPr indent="0"/>
            <a:r>
              <a:rPr lang="zh-CN" altLang="en-US" sz="1800" kern="0" dirty="0">
                <a:solidFill>
                  <a:srgbClr val="0000FF"/>
                </a:solidFill>
              </a:rPr>
              <a:t>    </a:t>
            </a:r>
            <a:r>
              <a:rPr lang="en-US" altLang="zh-CN" sz="1800" kern="0" dirty="0">
                <a:solidFill>
                  <a:srgbClr val="0000FF"/>
                </a:solidFill>
              </a:rPr>
              <a:t>double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imagpart</a:t>
            </a:r>
            <a:r>
              <a:rPr lang="en-US" altLang="zh-CN" sz="1800" kern="0" dirty="0">
                <a:solidFill>
                  <a:srgbClr val="0000FF"/>
                </a:solidFill>
              </a:rPr>
              <a:t>;</a:t>
            </a:r>
            <a:endParaRPr lang="zh-CN" altLang="en-US" sz="1800" kern="0" dirty="0">
              <a:solidFill>
                <a:srgbClr val="0000FF"/>
              </a:solidFill>
            </a:endParaRP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} </a:t>
            </a:r>
            <a:r>
              <a:rPr lang="en-US" altLang="zh-CN" sz="1800" b="1" kern="0" dirty="0">
                <a:solidFill>
                  <a:srgbClr val="0000FF"/>
                </a:solidFill>
              </a:rPr>
              <a:t>Complex</a:t>
            </a:r>
            <a:r>
              <a:rPr lang="en-US" altLang="zh-CN" sz="1800" kern="0" dirty="0">
                <a:solidFill>
                  <a:srgbClr val="0000FF"/>
                </a:solidFill>
              </a:rPr>
              <a:t>;</a:t>
            </a:r>
          </a:p>
          <a:p>
            <a:pPr indent="0"/>
            <a:r>
              <a:rPr lang="en-US" altLang="zh-CN" sz="1800" kern="0" dirty="0">
                <a:solidFill>
                  <a:srgbClr val="00B050"/>
                </a:solidFill>
              </a:rPr>
              <a:t>// </a:t>
            </a:r>
            <a:r>
              <a:rPr lang="zh-CN" altLang="en-US" sz="1800" kern="0" dirty="0">
                <a:solidFill>
                  <a:srgbClr val="00B050"/>
                </a:solidFill>
              </a:rPr>
              <a:t>基本操作的函数实现</a:t>
            </a:r>
            <a:endParaRPr lang="en-US" altLang="zh-CN" sz="1800" kern="0" dirty="0">
              <a:solidFill>
                <a:srgbClr val="00B050"/>
              </a:solidFill>
            </a:endParaRPr>
          </a:p>
          <a:p>
            <a:pPr indent="0"/>
            <a:r>
              <a:rPr lang="en-US" altLang="zh-CN" sz="1800" kern="0" dirty="0"/>
              <a:t>void </a:t>
            </a:r>
            <a:r>
              <a:rPr lang="en-US" altLang="zh-CN" sz="1800" kern="0" dirty="0" err="1"/>
              <a:t>InitComplex</a:t>
            </a:r>
            <a:r>
              <a:rPr lang="en-US" altLang="zh-CN" sz="1800" kern="0" dirty="0"/>
              <a:t>(Complex* z0, double v1, double v2) {</a:t>
            </a:r>
            <a:endParaRPr lang="zh-CN" altLang="en-US" sz="1800" kern="0" dirty="0"/>
          </a:p>
          <a:p>
            <a:pPr indent="0"/>
            <a:r>
              <a:rPr lang="en-US" altLang="zh-CN" sz="1800" kern="0" dirty="0"/>
              <a:t>	z0-&gt; </a:t>
            </a:r>
            <a:r>
              <a:rPr lang="en-US" altLang="zh-CN" sz="1800" kern="0" dirty="0" err="1"/>
              <a:t>realpart</a:t>
            </a:r>
            <a:r>
              <a:rPr lang="en-US" altLang="zh-CN" sz="1800" kern="0" dirty="0"/>
              <a:t> = v1;</a:t>
            </a:r>
          </a:p>
          <a:p>
            <a:pPr indent="0"/>
            <a:r>
              <a:rPr lang="en-US" altLang="zh-CN" sz="1800" kern="0" dirty="0"/>
              <a:t>	z0-&gt; </a:t>
            </a:r>
            <a:r>
              <a:rPr lang="en-US" altLang="zh-CN" sz="1800" kern="0" dirty="0" err="1"/>
              <a:t>imagpart</a:t>
            </a:r>
            <a:r>
              <a:rPr lang="en-US" altLang="zh-CN" sz="1800" kern="0" dirty="0"/>
              <a:t> = v2;</a:t>
            </a:r>
          </a:p>
          <a:p>
            <a:pPr indent="0"/>
            <a:r>
              <a:rPr lang="en-US" altLang="zh-CN" sz="1800" kern="0" dirty="0"/>
              <a:t>}</a:t>
            </a:r>
          </a:p>
          <a:p>
            <a:pPr indent="0"/>
            <a:r>
              <a:rPr lang="en-US" altLang="zh-CN" sz="1800" kern="0" dirty="0"/>
              <a:t>double </a:t>
            </a:r>
            <a:r>
              <a:rPr lang="en-US" altLang="zh-CN" sz="1800" kern="0" dirty="0" err="1"/>
              <a:t>GetReal</a:t>
            </a:r>
            <a:r>
              <a:rPr lang="en-US" altLang="zh-CN" sz="1800" kern="0" dirty="0"/>
              <a:t>(Complex z2) {</a:t>
            </a:r>
            <a:endParaRPr lang="zh-CN" altLang="en-US" sz="1800" kern="0" dirty="0"/>
          </a:p>
          <a:p>
            <a:pPr indent="0"/>
            <a:r>
              <a:rPr lang="zh-CN" altLang="en-US" sz="1800" kern="0" dirty="0"/>
              <a:t>	</a:t>
            </a:r>
            <a:r>
              <a:rPr lang="en-US" altLang="zh-CN" sz="1800" kern="0" dirty="0"/>
              <a:t>return z2. </a:t>
            </a:r>
            <a:r>
              <a:rPr lang="en-US" altLang="zh-CN" sz="1800" kern="0" dirty="0" err="1"/>
              <a:t>realpart</a:t>
            </a:r>
            <a:r>
              <a:rPr lang="en-US" altLang="zh-CN" sz="1800" kern="0" dirty="0"/>
              <a:t>;</a:t>
            </a:r>
          </a:p>
          <a:p>
            <a:pPr indent="0"/>
            <a:r>
              <a:rPr lang="en-US" altLang="zh-CN" sz="1800" kern="0" dirty="0"/>
              <a:t>}</a:t>
            </a:r>
          </a:p>
          <a:p>
            <a:pPr indent="0"/>
            <a:r>
              <a:rPr lang="en-US" altLang="zh-CN" sz="1800" kern="0" dirty="0"/>
              <a:t>void ADD(Complex z1, Complex z2, Complex* z) {</a:t>
            </a:r>
          </a:p>
          <a:p>
            <a:pPr indent="0"/>
            <a:r>
              <a:rPr lang="en-US" altLang="zh-CN" sz="1800" kern="0" dirty="0"/>
              <a:t>	z-&gt; </a:t>
            </a:r>
            <a:r>
              <a:rPr lang="en-US" altLang="zh-CN" sz="1800" kern="0" dirty="0" err="1"/>
              <a:t>realpart</a:t>
            </a:r>
            <a:r>
              <a:rPr lang="en-US" altLang="zh-CN" sz="1800" kern="0" dirty="0"/>
              <a:t> = z1. </a:t>
            </a:r>
            <a:r>
              <a:rPr lang="en-US" altLang="zh-CN" sz="1800" kern="0" dirty="0" err="1"/>
              <a:t>realpart</a:t>
            </a:r>
            <a:r>
              <a:rPr lang="en-US" altLang="zh-CN" sz="1800" kern="0" dirty="0"/>
              <a:t> + z2. </a:t>
            </a:r>
            <a:r>
              <a:rPr lang="en-US" altLang="zh-CN" sz="1800" kern="0" dirty="0" err="1"/>
              <a:t>realpart</a:t>
            </a:r>
            <a:r>
              <a:rPr lang="en-US" altLang="zh-CN" sz="1800" kern="0" dirty="0"/>
              <a:t>;</a:t>
            </a:r>
          </a:p>
          <a:p>
            <a:pPr indent="0"/>
            <a:r>
              <a:rPr lang="en-US" altLang="zh-CN" sz="1800" kern="0" dirty="0"/>
              <a:t>	z-&gt; </a:t>
            </a:r>
            <a:r>
              <a:rPr lang="en-US" altLang="zh-CN" sz="1800" kern="0" dirty="0" err="1"/>
              <a:t>imagpart</a:t>
            </a:r>
            <a:r>
              <a:rPr lang="en-US" altLang="zh-CN" sz="1800" kern="0" dirty="0"/>
              <a:t> = z1. </a:t>
            </a:r>
            <a:r>
              <a:rPr lang="en-US" altLang="zh-CN" sz="1800" kern="0" dirty="0" err="1"/>
              <a:t>imagpart</a:t>
            </a:r>
            <a:r>
              <a:rPr lang="en-US" altLang="zh-CN" sz="1800" kern="0" dirty="0"/>
              <a:t> + z2. </a:t>
            </a:r>
            <a:r>
              <a:rPr lang="en-US" altLang="zh-CN" sz="1800" kern="0" dirty="0" err="1"/>
              <a:t>imagpart</a:t>
            </a:r>
            <a:r>
              <a:rPr lang="en-US" altLang="zh-CN" sz="1800" kern="0" dirty="0"/>
              <a:t>;</a:t>
            </a:r>
          </a:p>
          <a:p>
            <a:pPr indent="0"/>
            <a:r>
              <a:rPr lang="en-US" altLang="zh-CN" sz="1800" kern="0" dirty="0"/>
              <a:t>}</a:t>
            </a:r>
          </a:p>
          <a:p>
            <a:pPr indent="0"/>
            <a:endParaRPr lang="zh-CN" altLang="en-US" sz="1800" kern="0" dirty="0"/>
          </a:p>
        </p:txBody>
      </p:sp>
      <p:sp>
        <p:nvSpPr>
          <p:cNvPr id="2" name="爆炸形: 14 pt  1">
            <a:extLst>
              <a:ext uri="{FF2B5EF4-FFF2-40B4-BE49-F238E27FC236}">
                <a16:creationId xmlns:a16="http://schemas.microsoft.com/office/drawing/2014/main" id="{72076BCF-A6C7-49C9-97BC-ABD971E6C98A}"/>
              </a:ext>
            </a:extLst>
          </p:cNvPr>
          <p:cNvSpPr/>
          <p:nvPr/>
        </p:nvSpPr>
        <p:spPr bwMode="auto">
          <a:xfrm>
            <a:off x="6156176" y="745159"/>
            <a:ext cx="2736304" cy="1562472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kumimoji="1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rPr>
              <a:t>语言</a:t>
            </a:r>
          </a:p>
        </p:txBody>
      </p:sp>
    </p:spTree>
    <p:extLst>
      <p:ext uri="{BB962C8B-B14F-4D97-AF65-F5344CB8AC3E}">
        <p14:creationId xmlns:p14="http://schemas.microsoft.com/office/powerpoint/2010/main" val="3125806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DEF2BFF-4CFA-7179-03C4-750A92B6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抽象数据类型的实现示例</a:t>
            </a:r>
            <a:r>
              <a:rPr lang="en-US" altLang="zh-CN" dirty="0"/>
              <a:t>---Complex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69142F0-4F4B-4B77-8122-FD2F2E96A0F6}"/>
              </a:ext>
            </a:extLst>
          </p:cNvPr>
          <p:cNvSpPr txBox="1">
            <a:spLocks/>
          </p:cNvSpPr>
          <p:nvPr/>
        </p:nvSpPr>
        <p:spPr>
          <a:xfrm>
            <a:off x="683568" y="730742"/>
            <a:ext cx="7776864" cy="61272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/>
            <a:r>
              <a:rPr lang="en-US" altLang="zh-CN" sz="1800" b="1" kern="0" dirty="0">
                <a:solidFill>
                  <a:srgbClr val="0000FF"/>
                </a:solidFill>
              </a:rPr>
              <a:t>class Complex </a:t>
            </a:r>
            <a:r>
              <a:rPr lang="en-US" altLang="zh-CN" sz="1800" kern="0" dirty="0">
                <a:solidFill>
                  <a:srgbClr val="0000FF"/>
                </a:solidFill>
              </a:rPr>
              <a:t>{</a:t>
            </a:r>
          </a:p>
          <a:p>
            <a:pPr indent="0"/>
            <a:r>
              <a:rPr lang="en-US" altLang="zh-CN" sz="1800" kern="0" dirty="0">
                <a:solidFill>
                  <a:srgbClr val="00B050"/>
                </a:solidFill>
              </a:rPr>
              <a:t>// </a:t>
            </a:r>
            <a:r>
              <a:rPr lang="zh-CN" altLang="en-US" sz="1800" kern="0" dirty="0">
                <a:solidFill>
                  <a:srgbClr val="00B050"/>
                </a:solidFill>
              </a:rPr>
              <a:t>存储结构的定义</a:t>
            </a:r>
            <a:endParaRPr lang="en-US" altLang="zh-CN" sz="1800" kern="0" dirty="0">
              <a:solidFill>
                <a:srgbClr val="00B050"/>
              </a:solidFill>
            </a:endParaRP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double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realpart</a:t>
            </a:r>
            <a:r>
              <a:rPr lang="en-US" altLang="zh-CN" sz="1800" kern="0" dirty="0">
                <a:solidFill>
                  <a:srgbClr val="0000FF"/>
                </a:solidFill>
              </a:rPr>
              <a:t>;</a:t>
            </a:r>
            <a:endParaRPr lang="zh-CN" altLang="en-US" sz="1800" kern="0" dirty="0">
              <a:solidFill>
                <a:srgbClr val="0000FF"/>
              </a:solidFill>
            </a:endParaRPr>
          </a:p>
          <a:p>
            <a:pPr indent="0"/>
            <a:r>
              <a:rPr lang="zh-CN" altLang="en-US" sz="1800" kern="0" dirty="0">
                <a:solidFill>
                  <a:srgbClr val="0000FF"/>
                </a:solidFill>
              </a:rPr>
              <a:t>    </a:t>
            </a:r>
            <a:r>
              <a:rPr lang="en-US" altLang="zh-CN" sz="1800" kern="0" dirty="0">
                <a:solidFill>
                  <a:srgbClr val="0000FF"/>
                </a:solidFill>
              </a:rPr>
              <a:t>double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imagpart</a:t>
            </a:r>
            <a:r>
              <a:rPr lang="en-US" altLang="zh-CN" sz="1800" kern="0" dirty="0">
                <a:solidFill>
                  <a:srgbClr val="0000FF"/>
                </a:solidFill>
              </a:rPr>
              <a:t>;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public:</a:t>
            </a:r>
            <a:endParaRPr lang="zh-CN" altLang="en-US" sz="1800" kern="0" dirty="0">
              <a:solidFill>
                <a:srgbClr val="0000FF"/>
              </a:solidFill>
            </a:endParaRPr>
          </a:p>
          <a:p>
            <a:pPr indent="0"/>
            <a:r>
              <a:rPr lang="en-US" altLang="zh-CN" sz="1800" kern="0" dirty="0">
                <a:solidFill>
                  <a:srgbClr val="00B050"/>
                </a:solidFill>
              </a:rPr>
              <a:t>// </a:t>
            </a:r>
            <a:r>
              <a:rPr lang="zh-CN" altLang="en-US" sz="1800" kern="0" dirty="0">
                <a:solidFill>
                  <a:srgbClr val="00B050"/>
                </a:solidFill>
              </a:rPr>
              <a:t>基本操作的函数实现</a:t>
            </a:r>
            <a:endParaRPr lang="en-US" altLang="zh-CN" sz="1800" kern="0" dirty="0">
              <a:solidFill>
                <a:srgbClr val="00B050"/>
              </a:solidFill>
            </a:endParaRP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Complex(double v1=0, double v2=0) {</a:t>
            </a:r>
            <a:endParaRPr lang="zh-CN" altLang="en-US" sz="1800" kern="0" dirty="0">
              <a:solidFill>
                <a:srgbClr val="0000FF"/>
              </a:solidFill>
            </a:endParaRP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	</a:t>
            </a:r>
            <a:r>
              <a:rPr lang="en-US" altLang="zh-CN" sz="1800" kern="0" dirty="0" err="1">
                <a:solidFill>
                  <a:srgbClr val="0000FF"/>
                </a:solidFill>
              </a:rPr>
              <a:t>realpart</a:t>
            </a:r>
            <a:r>
              <a:rPr lang="en-US" altLang="zh-CN" sz="1800" kern="0" dirty="0">
                <a:solidFill>
                  <a:srgbClr val="0000FF"/>
                </a:solidFill>
              </a:rPr>
              <a:t> = v1;   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imagpart</a:t>
            </a:r>
            <a:r>
              <a:rPr lang="en-US" altLang="zh-CN" sz="1800" kern="0" dirty="0">
                <a:solidFill>
                  <a:srgbClr val="0000FF"/>
                </a:solidFill>
              </a:rPr>
              <a:t> = v2;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}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double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GetReal</a:t>
            </a:r>
            <a:r>
              <a:rPr lang="en-US" altLang="zh-CN" sz="1800" kern="0" dirty="0">
                <a:solidFill>
                  <a:srgbClr val="0000FF"/>
                </a:solidFill>
              </a:rPr>
              <a:t>() {  return </a:t>
            </a:r>
            <a:r>
              <a:rPr lang="en-US" altLang="zh-CN" sz="1800" kern="0" dirty="0" err="1">
                <a:solidFill>
                  <a:srgbClr val="0000FF"/>
                </a:solidFill>
              </a:rPr>
              <a:t>realpart</a:t>
            </a:r>
            <a:r>
              <a:rPr lang="en-US" altLang="zh-CN" sz="1800" kern="0" dirty="0">
                <a:solidFill>
                  <a:srgbClr val="0000FF"/>
                </a:solidFill>
              </a:rPr>
              <a:t>;  }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    friend Complex ADD(Complex z1, Complex z2);</a:t>
            </a:r>
          </a:p>
          <a:p>
            <a:pPr indent="0"/>
            <a:r>
              <a:rPr lang="en-US" altLang="zh-CN" sz="1800" kern="0" dirty="0">
                <a:solidFill>
                  <a:srgbClr val="0000FF"/>
                </a:solidFill>
              </a:rPr>
              <a:t>};</a:t>
            </a:r>
          </a:p>
          <a:p>
            <a:pPr indent="0"/>
            <a:r>
              <a:rPr lang="en-US" altLang="zh-CN" sz="1800" kern="0" dirty="0"/>
              <a:t>Complex ADD(Complex z1, Complex z2) {</a:t>
            </a:r>
          </a:p>
          <a:p>
            <a:pPr indent="0"/>
            <a:r>
              <a:rPr lang="en-US" altLang="zh-CN" sz="1800" kern="0" dirty="0"/>
              <a:t>    double r = z1.realpart + z2.realpart;</a:t>
            </a:r>
          </a:p>
          <a:p>
            <a:pPr indent="0"/>
            <a:r>
              <a:rPr lang="en-US" altLang="zh-CN" sz="1800" kern="0" dirty="0"/>
              <a:t>    double </a:t>
            </a:r>
            <a:r>
              <a:rPr lang="en-US" altLang="zh-CN" sz="1800" kern="0" dirty="0" err="1"/>
              <a:t>i</a:t>
            </a:r>
            <a:r>
              <a:rPr lang="en-US" altLang="zh-CN" sz="1800" kern="0" dirty="0"/>
              <a:t> = z1.imagpart + z2.imagpart;</a:t>
            </a:r>
          </a:p>
          <a:p>
            <a:pPr indent="0"/>
            <a:r>
              <a:rPr lang="en-US" altLang="zh-CN" sz="1800" kern="0" dirty="0"/>
              <a:t>    return Complex(r, </a:t>
            </a:r>
            <a:r>
              <a:rPr lang="en-US" altLang="zh-CN" sz="1800" kern="0" dirty="0" err="1"/>
              <a:t>i</a:t>
            </a:r>
            <a:r>
              <a:rPr lang="en-US" altLang="zh-CN" sz="1800" kern="0" dirty="0"/>
              <a:t>);</a:t>
            </a:r>
          </a:p>
          <a:p>
            <a:pPr indent="0"/>
            <a:r>
              <a:rPr lang="en-US" altLang="zh-CN" sz="1800" kern="0" dirty="0"/>
              <a:t>}</a:t>
            </a:r>
          </a:p>
        </p:txBody>
      </p:sp>
      <p:sp>
        <p:nvSpPr>
          <p:cNvPr id="6" name="爆炸形: 14 pt  5">
            <a:extLst>
              <a:ext uri="{FF2B5EF4-FFF2-40B4-BE49-F238E27FC236}">
                <a16:creationId xmlns:a16="http://schemas.microsoft.com/office/drawing/2014/main" id="{B44B19ED-6DA5-45A7-9B54-A360D1FB13DF}"/>
              </a:ext>
            </a:extLst>
          </p:cNvPr>
          <p:cNvSpPr/>
          <p:nvPr/>
        </p:nvSpPr>
        <p:spPr bwMode="auto">
          <a:xfrm>
            <a:off x="6156176" y="745159"/>
            <a:ext cx="2736304" cy="1562472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rPr>
              <a:t>C++</a:t>
            </a: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3682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idx="1" hasCustomPrompt="1"/>
          </p:nvPr>
        </p:nvSpPr>
        <p:spPr>
          <a:xfrm>
            <a:off x="161764" y="908720"/>
            <a:ext cx="8820472" cy="4713727"/>
          </a:xfr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 type="none" w="lg" len="med"/>
          </a:ln>
        </p:spPr>
        <p:txBody>
          <a:bodyPr wrap="square" lIns="90000" tIns="46800" rIns="90000" bIns="46800">
            <a:sp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kumimoji="1" lang="en-US" altLang="zh-CN" kern="1200" dirty="0">
                <a:latin typeface="+mn-ea"/>
                <a:ea typeface="+mn-ea"/>
                <a:cs typeface="+mn-ea"/>
                <a:sym typeface="+mn-lt"/>
              </a:rPr>
              <a:t>(1) </a:t>
            </a:r>
            <a:r>
              <a:rPr kumimoji="1" lang="zh-CN" altLang="en-US" kern="120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预定义常量和类型</a:t>
            </a:r>
          </a:p>
          <a:p>
            <a:pPr marL="0" indent="0">
              <a:spcBef>
                <a:spcPct val="20000"/>
              </a:spcBef>
              <a:buNone/>
            </a:pPr>
            <a:r>
              <a:rPr kumimoji="1" lang="en-US" altLang="zh-CN" kern="1200" dirty="0">
                <a:solidFill>
                  <a:srgbClr val="00B050"/>
                </a:solidFill>
                <a:latin typeface="+mn-ea"/>
                <a:ea typeface="+mn-ea"/>
                <a:cs typeface="+mn-ea"/>
                <a:sym typeface="+mn-lt"/>
              </a:rPr>
              <a:t>// </a:t>
            </a:r>
            <a:r>
              <a:rPr kumimoji="1" lang="zh-CN" altLang="en-US" kern="1200" dirty="0">
                <a:solidFill>
                  <a:srgbClr val="00B050"/>
                </a:solidFill>
                <a:latin typeface="+mn-ea"/>
                <a:ea typeface="+mn-ea"/>
                <a:cs typeface="+mn-ea"/>
                <a:sym typeface="+mn-lt"/>
              </a:rPr>
              <a:t>函数结果状态代码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CN" sz="2800" kern="1200" dirty="0">
                <a:latin typeface="Times New Roman" panose="02020603050405020304" pitchFamily="18" charset="0"/>
                <a:ea typeface="仿宋_GB2312" pitchFamily="49" charset="-122"/>
                <a:cs typeface="+mn-cs"/>
                <a:sym typeface="+mn-lt"/>
              </a:rPr>
              <a:t> #define OK 1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CN" sz="2800" kern="1200" dirty="0">
                <a:latin typeface="Times New Roman" panose="02020603050405020304" pitchFamily="18" charset="0"/>
                <a:ea typeface="仿宋_GB2312" pitchFamily="49" charset="-122"/>
                <a:cs typeface="+mn-cs"/>
                <a:sym typeface="+mn-lt"/>
              </a:rPr>
              <a:t> #define ERROR 0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CN" sz="2800" kern="1200" dirty="0">
                <a:latin typeface="Times New Roman" panose="02020603050405020304" pitchFamily="18" charset="0"/>
                <a:ea typeface="仿宋_GB2312" pitchFamily="49" charset="-122"/>
                <a:cs typeface="+mn-cs"/>
                <a:sym typeface="+mn-lt"/>
              </a:rPr>
              <a:t> #define OVERFLOW -2</a:t>
            </a:r>
          </a:p>
          <a:p>
            <a:pPr marL="0" indent="0">
              <a:spcBef>
                <a:spcPct val="20000"/>
              </a:spcBef>
              <a:buNone/>
            </a:pPr>
            <a:r>
              <a:rPr kumimoji="1" lang="en-US" altLang="zh-CN" kern="1200" dirty="0">
                <a:solidFill>
                  <a:srgbClr val="00B050"/>
                </a:solidFill>
                <a:latin typeface="+mn-ea"/>
                <a:ea typeface="+mn-ea"/>
                <a:cs typeface="+mn-ea"/>
                <a:sym typeface="+mn-lt"/>
              </a:rPr>
              <a:t>// Status</a:t>
            </a:r>
            <a:r>
              <a:rPr kumimoji="1" lang="zh-CN" altLang="en-US" kern="1200" dirty="0">
                <a:solidFill>
                  <a:srgbClr val="00B050"/>
                </a:solidFill>
                <a:latin typeface="+mn-ea"/>
                <a:ea typeface="+mn-ea"/>
                <a:cs typeface="+mn-ea"/>
                <a:sym typeface="+mn-lt"/>
              </a:rPr>
              <a:t>是函数返回值类型，其值是函数结果状态代码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lang="en-US" altLang="zh-CN" sz="2800" kern="1200" dirty="0">
                <a:latin typeface="Times New Roman" panose="02020603050405020304" pitchFamily="18" charset="0"/>
                <a:ea typeface="仿宋_GB2312" pitchFamily="49" charset="-122"/>
                <a:cs typeface="+mn-cs"/>
                <a:sym typeface="+mn-lt"/>
              </a:rPr>
              <a:t>  typedef  int  Status; </a:t>
            </a:r>
          </a:p>
        </p:txBody>
      </p:sp>
      <p:sp>
        <p:nvSpPr>
          <p:cNvPr id="53253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抽象数据类型的表示与实现</a:t>
            </a:r>
          </a:p>
        </p:txBody>
      </p:sp>
    </p:spTree>
  </p:cSld>
  <p:clrMapOvr>
    <a:masterClrMapping/>
  </p:clrMapOvr>
  <p:transition>
    <p:spli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抽象数据类型的表示与实现</a:t>
            </a: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248506" y="1053213"/>
            <a:ext cx="8646988" cy="131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 type="none" w="lg" len="med"/>
          </a:ln>
        </p:spPr>
        <p:txBody>
          <a:bodyPr wrap="square" lIns="90000" tIns="46800" rIns="90000" bIns="46800">
            <a:spAutoFit/>
          </a:bodyPr>
          <a:lstStyle/>
          <a:p>
            <a:pPr marR="0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latin typeface="+mn-ea"/>
                <a:ea typeface="+mn-ea"/>
                <a:cs typeface="+mn-ea"/>
                <a:sym typeface="+mn-lt"/>
              </a:rPr>
              <a:t>(2) </a:t>
            </a:r>
            <a:r>
              <a:rPr kumimoji="1" lang="zh-CN" altLang="en-US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数据元素被约定为 </a:t>
            </a:r>
            <a:r>
              <a:rPr kumimoji="1" lang="en-US" altLang="zh-CN" kern="1200" cap="none" spc="0" normalizeH="0" baseline="0" noProof="0" dirty="0" err="1">
                <a:solidFill>
                  <a:srgbClr val="0000FF"/>
                </a:solidFill>
                <a:latin typeface="+mn-ea"/>
                <a:ea typeface="+mn-ea"/>
                <a:cs typeface="+mn-ea"/>
                <a:sym typeface="+mn-lt"/>
              </a:rPr>
              <a:t>ElemType</a:t>
            </a:r>
            <a:r>
              <a:rPr kumimoji="1" lang="en-US" altLang="zh-CN" kern="1200" cap="none" spc="0" normalizeH="0" baseline="0" noProof="0" dirty="0">
                <a:solidFill>
                  <a:schemeClr val="accent2"/>
                </a:solidFill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类型</a:t>
            </a:r>
            <a:r>
              <a:rPr kumimoji="1" lang="zh-CN" altLang="en-US" kern="1200" cap="none" spc="0" normalizeH="0" baseline="0" noProof="0" dirty="0">
                <a:latin typeface="+mn-ea"/>
                <a:ea typeface="+mn-ea"/>
                <a:cs typeface="+mn-ea"/>
                <a:sym typeface="+mn-lt"/>
              </a:rPr>
              <a:t>，用户需要根据具体情况，自行定义该数据类型。</a:t>
            </a:r>
          </a:p>
        </p:txBody>
      </p:sp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248506" y="2808060"/>
            <a:ext cx="8646988" cy="32487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noFill/>
            <a:miter lim="800000"/>
            <a:headEnd type="none" w="lg" len="med"/>
          </a:ln>
        </p:spPr>
        <p:txBody>
          <a:bodyPr wrap="square" lIns="90000" tIns="46800" rIns="90000" bIns="46800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(3)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算法描述为以下的函数形式：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函数类型 函数名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(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函数参数表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          </a:t>
            </a:r>
            <a:r>
              <a:rPr lang="en-US" altLang="zh-CN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算法说明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语句序列；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 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}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//</a:t>
            </a:r>
            <a:r>
              <a:rPr lang="zh-CN" altLang="en-US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函数名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spli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4"/>
          <p:cNvSpPr>
            <a:spLocks noChangeArrowheads="1"/>
          </p:cNvSpPr>
          <p:nvPr/>
        </p:nvSpPr>
        <p:spPr bwMode="auto">
          <a:xfrm>
            <a:off x="539552" y="717550"/>
            <a:ext cx="8064896" cy="22428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）内存的动态分配与释放</a:t>
            </a:r>
          </a:p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使用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new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动态分配和释放内存空间</a:t>
            </a:r>
          </a:p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分配空间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指针变量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 new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数据类型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释放空间：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  <p:sp>
        <p:nvSpPr>
          <p:cNvPr id="443397" name="Rectangle 5"/>
          <p:cNvSpPr>
            <a:spLocks noChangeArrowheads="1"/>
          </p:cNvSpPr>
          <p:nvPr/>
        </p:nvSpPr>
        <p:spPr bwMode="auto">
          <a:xfrm>
            <a:off x="539552" y="2919285"/>
            <a:ext cx="8064896" cy="1688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）赋值语句</a:t>
            </a:r>
          </a:p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）选择语句</a:t>
            </a:r>
          </a:p>
          <a:p>
            <a:pPr marL="0" marR="0" lvl="0" indent="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）循环语句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844550" y="260350"/>
            <a:ext cx="6400800" cy="4572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抽象数据类型的表示与实现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39552" y="4608144"/>
            <a:ext cx="8064896" cy="2249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）使用的结束语句形式有：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函数结束语句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表达式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或者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return;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循环或分支跳出语句：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break;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异常结束语句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exit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异常代码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);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3" grpId="0" animBg="1"/>
      <p:bldP spid="443397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5"/>
          <p:cNvSpPr>
            <a:spLocks noChangeArrowheads="1"/>
          </p:cNvSpPr>
          <p:nvPr/>
        </p:nvSpPr>
        <p:spPr bwMode="auto">
          <a:xfrm>
            <a:off x="647564" y="1268760"/>
            <a:ext cx="7848871" cy="48393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）输入输出语句形式有：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输入语句：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cin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输出语句：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cout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）扩展函数有：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求最大值：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max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求最小值：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min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。。。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44550" y="188640"/>
            <a:ext cx="6400800" cy="5289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抽象数据类型的表示与实现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72816"/>
            <a:ext cx="8064896" cy="47525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数据结构的研究内容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数据结构的基本概念和术语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数据类型与抽象数据类型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算法和算法分析</a:t>
            </a:r>
            <a:endParaRPr lang="en-US" altLang="zh-CN" sz="28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算法、算法设计的要求</a:t>
            </a:r>
            <a:endParaRPr lang="en-US" altLang="zh-CN" sz="2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算法的时间复杂度分析</a:t>
            </a:r>
            <a:endParaRPr lang="en-US" altLang="zh-CN" sz="2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算法的空间复杂度分析</a:t>
            </a:r>
            <a:endParaRPr lang="en-US" altLang="zh-CN" sz="2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306817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4767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算法的定义和描述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622300" y="1525711"/>
            <a:ext cx="3517652" cy="4423569"/>
            <a:chOff x="8988322" y="1808820"/>
            <a:chExt cx="3242376" cy="4220722"/>
          </a:xfrm>
        </p:grpSpPr>
        <p:sp>
          <p:nvSpPr>
            <p:cNvPr id="21" name="íślíḋè-圆角矩形 46"/>
            <p:cNvSpPr/>
            <p:nvPr/>
          </p:nvSpPr>
          <p:spPr>
            <a:xfrm>
              <a:off x="8988322" y="1808820"/>
              <a:ext cx="3242376" cy="4220722"/>
            </a:xfrm>
            <a:prstGeom prst="roundRect">
              <a:avLst>
                <a:gd name="adj" fmla="val 3485"/>
              </a:avLst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íślíḋè-任意多边形 47"/>
            <p:cNvSpPr/>
            <p:nvPr/>
          </p:nvSpPr>
          <p:spPr>
            <a:xfrm>
              <a:off x="8988322" y="2734337"/>
              <a:ext cx="3242376" cy="3165082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íślíḋè-文本框 48"/>
            <p:cNvSpPr txBox="1"/>
            <p:nvPr/>
          </p:nvSpPr>
          <p:spPr>
            <a:xfrm>
              <a:off x="10229186" y="2453932"/>
              <a:ext cx="755149" cy="707424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kern="0" cap="none" spc="0" normalizeH="0" baseline="0" noProof="0" dirty="0">
                  <a:solidFill>
                    <a:srgbClr val="EEECE1"/>
                  </a:solidFill>
                  <a:latin typeface="Calibri" panose="020F0502020204030204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5" name="íślíḋè-任意多边形 50"/>
            <p:cNvSpPr/>
            <p:nvPr/>
          </p:nvSpPr>
          <p:spPr>
            <a:xfrm>
              <a:off x="10401478" y="5287296"/>
              <a:ext cx="460054" cy="445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4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4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972050" y="1525711"/>
            <a:ext cx="3517652" cy="4423569"/>
            <a:chOff x="8988319" y="1808820"/>
            <a:chExt cx="3283944" cy="4220722"/>
          </a:xfrm>
        </p:grpSpPr>
        <p:sp>
          <p:nvSpPr>
            <p:cNvPr id="27" name="íślíḋè-圆角矩形 41"/>
            <p:cNvSpPr/>
            <p:nvPr/>
          </p:nvSpPr>
          <p:spPr>
            <a:xfrm>
              <a:off x="8988319" y="1808820"/>
              <a:ext cx="3283944" cy="4220722"/>
            </a:xfrm>
            <a:prstGeom prst="roundRect">
              <a:avLst>
                <a:gd name="adj" fmla="val 3485"/>
              </a:avLst>
            </a:prstGeom>
            <a:solidFill>
              <a:srgbClr val="4BACC6">
                <a:lumMod val="10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none" tIns="216000" bIns="216000" anchorCtr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íślíḋè-任意多边形 42"/>
            <p:cNvSpPr/>
            <p:nvPr/>
          </p:nvSpPr>
          <p:spPr>
            <a:xfrm>
              <a:off x="8988319" y="2734336"/>
              <a:ext cx="3283944" cy="3165084"/>
            </a:xfrm>
            <a:custGeom>
              <a:avLst/>
              <a:gdLst>
                <a:gd name="connsiteX0" fmla="*/ 0 w 3657600"/>
                <a:gd name="connsiteY0" fmla="*/ 0 h 5486400"/>
                <a:gd name="connsiteX1" fmla="*/ 127467 w 3657600"/>
                <a:gd name="connsiteY1" fmla="*/ 0 h 5486400"/>
                <a:gd name="connsiteX2" fmla="*/ 1072342 w 3657600"/>
                <a:gd name="connsiteY2" fmla="*/ 0 h 5486400"/>
                <a:gd name="connsiteX3" fmla="*/ 1828800 w 3657600"/>
                <a:gd name="connsiteY3" fmla="*/ 756458 h 5486400"/>
                <a:gd name="connsiteX4" fmla="*/ 2585258 w 3657600"/>
                <a:gd name="connsiteY4" fmla="*/ 0 h 5486400"/>
                <a:gd name="connsiteX5" fmla="*/ 3530133 w 3657600"/>
                <a:gd name="connsiteY5" fmla="*/ 0 h 5486400"/>
                <a:gd name="connsiteX6" fmla="*/ 3657600 w 3657600"/>
                <a:gd name="connsiteY6" fmla="*/ 0 h 5486400"/>
                <a:gd name="connsiteX7" fmla="*/ 3657600 w 3657600"/>
                <a:gd name="connsiteY7" fmla="*/ 127467 h 5486400"/>
                <a:gd name="connsiteX8" fmla="*/ 3657600 w 3657600"/>
                <a:gd name="connsiteY8" fmla="*/ 914400 h 5486400"/>
                <a:gd name="connsiteX9" fmla="*/ 3657600 w 3657600"/>
                <a:gd name="connsiteY9" fmla="*/ 5358933 h 5486400"/>
                <a:gd name="connsiteX10" fmla="*/ 3530133 w 3657600"/>
                <a:gd name="connsiteY10" fmla="*/ 5486400 h 5486400"/>
                <a:gd name="connsiteX11" fmla="*/ 127467 w 3657600"/>
                <a:gd name="connsiteY11" fmla="*/ 5486400 h 5486400"/>
                <a:gd name="connsiteX12" fmla="*/ 0 w 3657600"/>
                <a:gd name="connsiteY12" fmla="*/ 5358933 h 5486400"/>
                <a:gd name="connsiteX13" fmla="*/ 0 w 3657600"/>
                <a:gd name="connsiteY13" fmla="*/ 914400 h 5486400"/>
                <a:gd name="connsiteX14" fmla="*/ 0 w 3657600"/>
                <a:gd name="connsiteY14" fmla="*/ 127467 h 5486400"/>
                <a:gd name="connsiteX15" fmla="*/ 0 w 3657600"/>
                <a:gd name="connsiteY15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57600" h="5486400">
                  <a:moveTo>
                    <a:pt x="0" y="0"/>
                  </a:moveTo>
                  <a:lnTo>
                    <a:pt x="127467" y="0"/>
                  </a:lnTo>
                  <a:lnTo>
                    <a:pt x="1072342" y="0"/>
                  </a:lnTo>
                  <a:cubicBezTo>
                    <a:pt x="1072342" y="417780"/>
                    <a:pt x="1411020" y="756458"/>
                    <a:pt x="1828800" y="756458"/>
                  </a:cubicBezTo>
                  <a:cubicBezTo>
                    <a:pt x="2246580" y="756458"/>
                    <a:pt x="2585258" y="417780"/>
                    <a:pt x="2585258" y="0"/>
                  </a:cubicBezTo>
                  <a:lnTo>
                    <a:pt x="3530133" y="0"/>
                  </a:lnTo>
                  <a:lnTo>
                    <a:pt x="3657600" y="0"/>
                  </a:lnTo>
                  <a:lnTo>
                    <a:pt x="3657600" y="127467"/>
                  </a:lnTo>
                  <a:lnTo>
                    <a:pt x="3657600" y="914400"/>
                  </a:lnTo>
                  <a:lnTo>
                    <a:pt x="3657600" y="5358933"/>
                  </a:lnTo>
                  <a:cubicBezTo>
                    <a:pt x="3657600" y="5429331"/>
                    <a:pt x="3600531" y="5486400"/>
                    <a:pt x="3530133" y="5486400"/>
                  </a:cubicBezTo>
                  <a:lnTo>
                    <a:pt x="127467" y="5486400"/>
                  </a:lnTo>
                  <a:cubicBezTo>
                    <a:pt x="57069" y="5486400"/>
                    <a:pt x="0" y="5429331"/>
                    <a:pt x="0" y="5358933"/>
                  </a:cubicBezTo>
                  <a:lnTo>
                    <a:pt x="0" y="914400"/>
                  </a:lnTo>
                  <a:lnTo>
                    <a:pt x="0" y="127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outerShdw dist="25400" dir="16200000" sx="101000" sy="101000" rotWithShape="0">
                <a:prstClr val="black">
                  <a:alpha val="14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íślíḋè-文本框 43"/>
            <p:cNvSpPr txBox="1"/>
            <p:nvPr/>
          </p:nvSpPr>
          <p:spPr>
            <a:xfrm>
              <a:off x="10247286" y="2453933"/>
              <a:ext cx="777005" cy="707425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R="0"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kern="0" cap="none" spc="0" normalizeH="0" baseline="0" noProof="0" dirty="0">
                  <a:solidFill>
                    <a:srgbClr val="EEECE1"/>
                  </a:solidFill>
                  <a:latin typeface="Calibri" panose="020F0502020204030204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1" name="íślíḋè-任意多边形 45"/>
            <p:cNvSpPr/>
            <p:nvPr/>
          </p:nvSpPr>
          <p:spPr>
            <a:xfrm>
              <a:off x="10472691" y="5331281"/>
              <a:ext cx="459971" cy="456343"/>
            </a:xfrm>
            <a:custGeom>
              <a:avLst/>
              <a:gdLst>
                <a:gd name="connsiteX0" fmla="*/ 173038 w 331788"/>
                <a:gd name="connsiteY0" fmla="*/ 204788 h 330200"/>
                <a:gd name="connsiteX1" fmla="*/ 185738 w 331788"/>
                <a:gd name="connsiteY1" fmla="*/ 215901 h 330200"/>
                <a:gd name="connsiteX2" fmla="*/ 173038 w 331788"/>
                <a:gd name="connsiteY2" fmla="*/ 227014 h 330200"/>
                <a:gd name="connsiteX3" fmla="*/ 160338 w 331788"/>
                <a:gd name="connsiteY3" fmla="*/ 215901 h 330200"/>
                <a:gd name="connsiteX4" fmla="*/ 173038 w 331788"/>
                <a:gd name="connsiteY4" fmla="*/ 204788 h 330200"/>
                <a:gd name="connsiteX5" fmla="*/ 169690 w 331788"/>
                <a:gd name="connsiteY5" fmla="*/ 184150 h 330200"/>
                <a:gd name="connsiteX6" fmla="*/ 165860 w 331788"/>
                <a:gd name="connsiteY6" fmla="*/ 188084 h 330200"/>
                <a:gd name="connsiteX7" fmla="*/ 165860 w 331788"/>
                <a:gd name="connsiteY7" fmla="*/ 192019 h 330200"/>
                <a:gd name="connsiteX8" fmla="*/ 160752 w 331788"/>
                <a:gd name="connsiteY8" fmla="*/ 194642 h 330200"/>
                <a:gd name="connsiteX9" fmla="*/ 158198 w 331788"/>
                <a:gd name="connsiteY9" fmla="*/ 192019 h 330200"/>
                <a:gd name="connsiteX10" fmla="*/ 154367 w 331788"/>
                <a:gd name="connsiteY10" fmla="*/ 192019 h 330200"/>
                <a:gd name="connsiteX11" fmla="*/ 149260 w 331788"/>
                <a:gd name="connsiteY11" fmla="*/ 197264 h 330200"/>
                <a:gd name="connsiteX12" fmla="*/ 149260 w 331788"/>
                <a:gd name="connsiteY12" fmla="*/ 201199 h 330200"/>
                <a:gd name="connsiteX13" fmla="*/ 153091 w 331788"/>
                <a:gd name="connsiteY13" fmla="*/ 203821 h 330200"/>
                <a:gd name="connsiteX14" fmla="*/ 150537 w 331788"/>
                <a:gd name="connsiteY14" fmla="*/ 211690 h 330200"/>
                <a:gd name="connsiteX15" fmla="*/ 145429 w 331788"/>
                <a:gd name="connsiteY15" fmla="*/ 211690 h 330200"/>
                <a:gd name="connsiteX16" fmla="*/ 142875 w 331788"/>
                <a:gd name="connsiteY16" fmla="*/ 211690 h 330200"/>
                <a:gd name="connsiteX17" fmla="*/ 142875 w 331788"/>
                <a:gd name="connsiteY17" fmla="*/ 219558 h 330200"/>
                <a:gd name="connsiteX18" fmla="*/ 145429 w 331788"/>
                <a:gd name="connsiteY18" fmla="*/ 222181 h 330200"/>
                <a:gd name="connsiteX19" fmla="*/ 150537 w 331788"/>
                <a:gd name="connsiteY19" fmla="*/ 222181 h 330200"/>
                <a:gd name="connsiteX20" fmla="*/ 153091 w 331788"/>
                <a:gd name="connsiteY20" fmla="*/ 227427 h 330200"/>
                <a:gd name="connsiteX21" fmla="*/ 149260 w 331788"/>
                <a:gd name="connsiteY21" fmla="*/ 231361 h 330200"/>
                <a:gd name="connsiteX22" fmla="*/ 149260 w 331788"/>
                <a:gd name="connsiteY22" fmla="*/ 235295 h 330200"/>
                <a:gd name="connsiteX23" fmla="*/ 154367 w 331788"/>
                <a:gd name="connsiteY23" fmla="*/ 239230 h 330200"/>
                <a:gd name="connsiteX24" fmla="*/ 158198 w 331788"/>
                <a:gd name="connsiteY24" fmla="*/ 239230 h 330200"/>
                <a:gd name="connsiteX25" fmla="*/ 160752 w 331788"/>
                <a:gd name="connsiteY25" fmla="*/ 236607 h 330200"/>
                <a:gd name="connsiteX26" fmla="*/ 165860 w 331788"/>
                <a:gd name="connsiteY26" fmla="*/ 239230 h 330200"/>
                <a:gd name="connsiteX27" fmla="*/ 165860 w 331788"/>
                <a:gd name="connsiteY27" fmla="*/ 243164 h 330200"/>
                <a:gd name="connsiteX28" fmla="*/ 169690 w 331788"/>
                <a:gd name="connsiteY28" fmla="*/ 244475 h 330200"/>
                <a:gd name="connsiteX29" fmla="*/ 176075 w 331788"/>
                <a:gd name="connsiteY29" fmla="*/ 244475 h 330200"/>
                <a:gd name="connsiteX30" fmla="*/ 178629 w 331788"/>
                <a:gd name="connsiteY30" fmla="*/ 243164 h 330200"/>
                <a:gd name="connsiteX31" fmla="*/ 178629 w 331788"/>
                <a:gd name="connsiteY31" fmla="*/ 239230 h 330200"/>
                <a:gd name="connsiteX32" fmla="*/ 185013 w 331788"/>
                <a:gd name="connsiteY32" fmla="*/ 236607 h 330200"/>
                <a:gd name="connsiteX33" fmla="*/ 187567 w 331788"/>
                <a:gd name="connsiteY33" fmla="*/ 239230 h 330200"/>
                <a:gd name="connsiteX34" fmla="*/ 191398 w 331788"/>
                <a:gd name="connsiteY34" fmla="*/ 239230 h 330200"/>
                <a:gd name="connsiteX35" fmla="*/ 196506 w 331788"/>
                <a:gd name="connsiteY35" fmla="*/ 233984 h 330200"/>
                <a:gd name="connsiteX36" fmla="*/ 196506 w 331788"/>
                <a:gd name="connsiteY36" fmla="*/ 231361 h 330200"/>
                <a:gd name="connsiteX37" fmla="*/ 192675 w 331788"/>
                <a:gd name="connsiteY37" fmla="*/ 227427 h 330200"/>
                <a:gd name="connsiteX38" fmla="*/ 195229 w 331788"/>
                <a:gd name="connsiteY38" fmla="*/ 222181 h 330200"/>
                <a:gd name="connsiteX39" fmla="*/ 200336 w 331788"/>
                <a:gd name="connsiteY39" fmla="*/ 222181 h 330200"/>
                <a:gd name="connsiteX40" fmla="*/ 201613 w 331788"/>
                <a:gd name="connsiteY40" fmla="*/ 219558 h 330200"/>
                <a:gd name="connsiteX41" fmla="*/ 201613 w 331788"/>
                <a:gd name="connsiteY41" fmla="*/ 211690 h 330200"/>
                <a:gd name="connsiteX42" fmla="*/ 200336 w 331788"/>
                <a:gd name="connsiteY42" fmla="*/ 211690 h 330200"/>
                <a:gd name="connsiteX43" fmla="*/ 195229 w 331788"/>
                <a:gd name="connsiteY43" fmla="*/ 211690 h 330200"/>
                <a:gd name="connsiteX44" fmla="*/ 192675 w 331788"/>
                <a:gd name="connsiteY44" fmla="*/ 203821 h 330200"/>
                <a:gd name="connsiteX45" fmla="*/ 196506 w 331788"/>
                <a:gd name="connsiteY45" fmla="*/ 199887 h 330200"/>
                <a:gd name="connsiteX46" fmla="*/ 196506 w 331788"/>
                <a:gd name="connsiteY46" fmla="*/ 197264 h 330200"/>
                <a:gd name="connsiteX47" fmla="*/ 191398 w 331788"/>
                <a:gd name="connsiteY47" fmla="*/ 192019 h 330200"/>
                <a:gd name="connsiteX48" fmla="*/ 187567 w 331788"/>
                <a:gd name="connsiteY48" fmla="*/ 192019 h 330200"/>
                <a:gd name="connsiteX49" fmla="*/ 185013 w 331788"/>
                <a:gd name="connsiteY49" fmla="*/ 194642 h 330200"/>
                <a:gd name="connsiteX50" fmla="*/ 178629 w 331788"/>
                <a:gd name="connsiteY50" fmla="*/ 192019 h 330200"/>
                <a:gd name="connsiteX51" fmla="*/ 178629 w 331788"/>
                <a:gd name="connsiteY51" fmla="*/ 188084 h 330200"/>
                <a:gd name="connsiteX52" fmla="*/ 176075 w 331788"/>
                <a:gd name="connsiteY52" fmla="*/ 184150 h 330200"/>
                <a:gd name="connsiteX53" fmla="*/ 169690 w 331788"/>
                <a:gd name="connsiteY53" fmla="*/ 184150 h 330200"/>
                <a:gd name="connsiteX54" fmla="*/ 123825 w 331788"/>
                <a:gd name="connsiteY54" fmla="*/ 165100 h 330200"/>
                <a:gd name="connsiteX55" fmla="*/ 123825 w 331788"/>
                <a:gd name="connsiteY55" fmla="*/ 176213 h 330200"/>
                <a:gd name="connsiteX56" fmla="*/ 223838 w 331788"/>
                <a:gd name="connsiteY56" fmla="*/ 176213 h 330200"/>
                <a:gd name="connsiteX57" fmla="*/ 223838 w 331788"/>
                <a:gd name="connsiteY57" fmla="*/ 165100 h 330200"/>
                <a:gd name="connsiteX58" fmla="*/ 123825 w 331788"/>
                <a:gd name="connsiteY58" fmla="*/ 146050 h 330200"/>
                <a:gd name="connsiteX59" fmla="*/ 123825 w 331788"/>
                <a:gd name="connsiteY59" fmla="*/ 155575 h 330200"/>
                <a:gd name="connsiteX60" fmla="*/ 223838 w 331788"/>
                <a:gd name="connsiteY60" fmla="*/ 155575 h 330200"/>
                <a:gd name="connsiteX61" fmla="*/ 223838 w 331788"/>
                <a:gd name="connsiteY61" fmla="*/ 146050 h 330200"/>
                <a:gd name="connsiteX62" fmla="*/ 123825 w 331788"/>
                <a:gd name="connsiteY62" fmla="*/ 131763 h 330200"/>
                <a:gd name="connsiteX63" fmla="*/ 123825 w 331788"/>
                <a:gd name="connsiteY63" fmla="*/ 139701 h 330200"/>
                <a:gd name="connsiteX64" fmla="*/ 166688 w 331788"/>
                <a:gd name="connsiteY64" fmla="*/ 139701 h 330200"/>
                <a:gd name="connsiteX65" fmla="*/ 166688 w 331788"/>
                <a:gd name="connsiteY65" fmla="*/ 131763 h 330200"/>
                <a:gd name="connsiteX66" fmla="*/ 123825 w 331788"/>
                <a:gd name="connsiteY66" fmla="*/ 115888 h 330200"/>
                <a:gd name="connsiteX67" fmla="*/ 123825 w 331788"/>
                <a:gd name="connsiteY67" fmla="*/ 122238 h 330200"/>
                <a:gd name="connsiteX68" fmla="*/ 166688 w 331788"/>
                <a:gd name="connsiteY68" fmla="*/ 122238 h 330200"/>
                <a:gd name="connsiteX69" fmla="*/ 166688 w 331788"/>
                <a:gd name="connsiteY69" fmla="*/ 115888 h 330200"/>
                <a:gd name="connsiteX70" fmla="*/ 179388 w 331788"/>
                <a:gd name="connsiteY70" fmla="*/ 100013 h 330200"/>
                <a:gd name="connsiteX71" fmla="*/ 179388 w 331788"/>
                <a:gd name="connsiteY71" fmla="*/ 139701 h 330200"/>
                <a:gd name="connsiteX72" fmla="*/ 223838 w 331788"/>
                <a:gd name="connsiteY72" fmla="*/ 139701 h 330200"/>
                <a:gd name="connsiteX73" fmla="*/ 223838 w 331788"/>
                <a:gd name="connsiteY73" fmla="*/ 100013 h 330200"/>
                <a:gd name="connsiteX74" fmla="*/ 123825 w 331788"/>
                <a:gd name="connsiteY74" fmla="*/ 100013 h 330200"/>
                <a:gd name="connsiteX75" fmla="*/ 123825 w 331788"/>
                <a:gd name="connsiteY75" fmla="*/ 106363 h 330200"/>
                <a:gd name="connsiteX76" fmla="*/ 166688 w 331788"/>
                <a:gd name="connsiteY76" fmla="*/ 106363 h 330200"/>
                <a:gd name="connsiteX77" fmla="*/ 166688 w 331788"/>
                <a:gd name="connsiteY77" fmla="*/ 100013 h 330200"/>
                <a:gd name="connsiteX78" fmla="*/ 106363 w 331788"/>
                <a:gd name="connsiteY78" fmla="*/ 76200 h 330200"/>
                <a:gd name="connsiteX79" fmla="*/ 238126 w 331788"/>
                <a:gd name="connsiteY79" fmla="*/ 76200 h 330200"/>
                <a:gd name="connsiteX80" fmla="*/ 238126 w 331788"/>
                <a:gd name="connsiteY80" fmla="*/ 254000 h 330200"/>
                <a:gd name="connsiteX81" fmla="*/ 106363 w 331788"/>
                <a:gd name="connsiteY81" fmla="*/ 254000 h 330200"/>
                <a:gd name="connsiteX82" fmla="*/ 103296 w 331788"/>
                <a:gd name="connsiteY82" fmla="*/ 65088 h 330200"/>
                <a:gd name="connsiteX83" fmla="*/ 96838 w 331788"/>
                <a:gd name="connsiteY83" fmla="*/ 71583 h 330200"/>
                <a:gd name="connsiteX84" fmla="*/ 96838 w 331788"/>
                <a:gd name="connsiteY84" fmla="*/ 258619 h 330200"/>
                <a:gd name="connsiteX85" fmla="*/ 103296 w 331788"/>
                <a:gd name="connsiteY85" fmla="*/ 265113 h 330200"/>
                <a:gd name="connsiteX86" fmla="*/ 242781 w 331788"/>
                <a:gd name="connsiteY86" fmla="*/ 265113 h 330200"/>
                <a:gd name="connsiteX87" fmla="*/ 246655 w 331788"/>
                <a:gd name="connsiteY87" fmla="*/ 263814 h 330200"/>
                <a:gd name="connsiteX88" fmla="*/ 247947 w 331788"/>
                <a:gd name="connsiteY88" fmla="*/ 263814 h 330200"/>
                <a:gd name="connsiteX89" fmla="*/ 247947 w 331788"/>
                <a:gd name="connsiteY89" fmla="*/ 262516 h 330200"/>
                <a:gd name="connsiteX90" fmla="*/ 249238 w 331788"/>
                <a:gd name="connsiteY90" fmla="*/ 258619 h 330200"/>
                <a:gd name="connsiteX91" fmla="*/ 249238 w 331788"/>
                <a:gd name="connsiteY91" fmla="*/ 71583 h 330200"/>
                <a:gd name="connsiteX92" fmla="*/ 242781 w 331788"/>
                <a:gd name="connsiteY92" fmla="*/ 65088 h 330200"/>
                <a:gd name="connsiteX93" fmla="*/ 103296 w 331788"/>
                <a:gd name="connsiteY93" fmla="*/ 65088 h 330200"/>
                <a:gd name="connsiteX94" fmla="*/ 165894 w 331788"/>
                <a:gd name="connsiteY94" fmla="*/ 0 h 330200"/>
                <a:gd name="connsiteX95" fmla="*/ 331788 w 331788"/>
                <a:gd name="connsiteY95" fmla="*/ 165100 h 330200"/>
                <a:gd name="connsiteX96" fmla="*/ 165894 w 331788"/>
                <a:gd name="connsiteY96" fmla="*/ 330200 h 330200"/>
                <a:gd name="connsiteX97" fmla="*/ 0 w 331788"/>
                <a:gd name="connsiteY97" fmla="*/ 165100 h 330200"/>
                <a:gd name="connsiteX98" fmla="*/ 165894 w 331788"/>
                <a:gd name="connsiteY98" fmla="*/ 0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31788" h="330200">
                  <a:moveTo>
                    <a:pt x="173038" y="204788"/>
                  </a:moveTo>
                  <a:cubicBezTo>
                    <a:pt x="180052" y="204788"/>
                    <a:pt x="185738" y="209763"/>
                    <a:pt x="185738" y="215901"/>
                  </a:cubicBezTo>
                  <a:cubicBezTo>
                    <a:pt x="185738" y="222039"/>
                    <a:pt x="180052" y="227014"/>
                    <a:pt x="173038" y="227014"/>
                  </a:cubicBezTo>
                  <a:cubicBezTo>
                    <a:pt x="166024" y="227014"/>
                    <a:pt x="160338" y="222039"/>
                    <a:pt x="160338" y="215901"/>
                  </a:cubicBezTo>
                  <a:cubicBezTo>
                    <a:pt x="160338" y="209763"/>
                    <a:pt x="166024" y="204788"/>
                    <a:pt x="173038" y="204788"/>
                  </a:cubicBezTo>
                  <a:close/>
                  <a:moveTo>
                    <a:pt x="169690" y="184150"/>
                  </a:moveTo>
                  <a:cubicBezTo>
                    <a:pt x="168414" y="184150"/>
                    <a:pt x="165860" y="186773"/>
                    <a:pt x="165860" y="188084"/>
                  </a:cubicBezTo>
                  <a:cubicBezTo>
                    <a:pt x="165860" y="188084"/>
                    <a:pt x="165860" y="188084"/>
                    <a:pt x="165860" y="192019"/>
                  </a:cubicBezTo>
                  <a:cubicBezTo>
                    <a:pt x="165860" y="193330"/>
                    <a:pt x="162029" y="193330"/>
                    <a:pt x="160752" y="194642"/>
                  </a:cubicBezTo>
                  <a:cubicBezTo>
                    <a:pt x="160752" y="194642"/>
                    <a:pt x="160752" y="194642"/>
                    <a:pt x="158198" y="192019"/>
                  </a:cubicBezTo>
                  <a:cubicBezTo>
                    <a:pt x="156921" y="190707"/>
                    <a:pt x="155644" y="190707"/>
                    <a:pt x="154367" y="192019"/>
                  </a:cubicBezTo>
                  <a:cubicBezTo>
                    <a:pt x="154367" y="192019"/>
                    <a:pt x="154367" y="192019"/>
                    <a:pt x="149260" y="197264"/>
                  </a:cubicBezTo>
                  <a:cubicBezTo>
                    <a:pt x="149260" y="198576"/>
                    <a:pt x="149260" y="199887"/>
                    <a:pt x="149260" y="201199"/>
                  </a:cubicBezTo>
                  <a:cubicBezTo>
                    <a:pt x="149260" y="201199"/>
                    <a:pt x="149260" y="201199"/>
                    <a:pt x="153091" y="203821"/>
                  </a:cubicBezTo>
                  <a:cubicBezTo>
                    <a:pt x="151814" y="206444"/>
                    <a:pt x="150537" y="207756"/>
                    <a:pt x="150537" y="211690"/>
                  </a:cubicBezTo>
                  <a:cubicBezTo>
                    <a:pt x="150537" y="211690"/>
                    <a:pt x="150537" y="211690"/>
                    <a:pt x="145429" y="211690"/>
                  </a:cubicBezTo>
                  <a:cubicBezTo>
                    <a:pt x="144152" y="211690"/>
                    <a:pt x="142875" y="210379"/>
                    <a:pt x="142875" y="211690"/>
                  </a:cubicBezTo>
                  <a:cubicBezTo>
                    <a:pt x="142875" y="211690"/>
                    <a:pt x="142875" y="211690"/>
                    <a:pt x="142875" y="219558"/>
                  </a:cubicBezTo>
                  <a:cubicBezTo>
                    <a:pt x="142875" y="220870"/>
                    <a:pt x="144152" y="222181"/>
                    <a:pt x="145429" y="222181"/>
                  </a:cubicBezTo>
                  <a:cubicBezTo>
                    <a:pt x="145429" y="222181"/>
                    <a:pt x="145429" y="222181"/>
                    <a:pt x="150537" y="222181"/>
                  </a:cubicBezTo>
                  <a:cubicBezTo>
                    <a:pt x="150537" y="224804"/>
                    <a:pt x="151814" y="226115"/>
                    <a:pt x="153091" y="227427"/>
                  </a:cubicBezTo>
                  <a:cubicBezTo>
                    <a:pt x="153091" y="227427"/>
                    <a:pt x="153091" y="227427"/>
                    <a:pt x="149260" y="231361"/>
                  </a:cubicBezTo>
                  <a:cubicBezTo>
                    <a:pt x="147983" y="232673"/>
                    <a:pt x="147983" y="233984"/>
                    <a:pt x="149260" y="235295"/>
                  </a:cubicBezTo>
                  <a:cubicBezTo>
                    <a:pt x="149260" y="235295"/>
                    <a:pt x="149260" y="235295"/>
                    <a:pt x="154367" y="239230"/>
                  </a:cubicBezTo>
                  <a:cubicBezTo>
                    <a:pt x="155644" y="240541"/>
                    <a:pt x="156921" y="240541"/>
                    <a:pt x="158198" y="239230"/>
                  </a:cubicBezTo>
                  <a:cubicBezTo>
                    <a:pt x="158198" y="239230"/>
                    <a:pt x="158198" y="239230"/>
                    <a:pt x="160752" y="236607"/>
                  </a:cubicBezTo>
                  <a:cubicBezTo>
                    <a:pt x="162029" y="237918"/>
                    <a:pt x="165860" y="239230"/>
                    <a:pt x="165860" y="239230"/>
                  </a:cubicBezTo>
                  <a:cubicBezTo>
                    <a:pt x="165860" y="239230"/>
                    <a:pt x="165860" y="239230"/>
                    <a:pt x="165860" y="243164"/>
                  </a:cubicBezTo>
                  <a:cubicBezTo>
                    <a:pt x="165860" y="244475"/>
                    <a:pt x="168414" y="244475"/>
                    <a:pt x="169690" y="244475"/>
                  </a:cubicBezTo>
                  <a:cubicBezTo>
                    <a:pt x="169690" y="244475"/>
                    <a:pt x="169690" y="244475"/>
                    <a:pt x="176075" y="244475"/>
                  </a:cubicBezTo>
                  <a:cubicBezTo>
                    <a:pt x="177352" y="244475"/>
                    <a:pt x="178629" y="244475"/>
                    <a:pt x="178629" y="243164"/>
                  </a:cubicBezTo>
                  <a:cubicBezTo>
                    <a:pt x="178629" y="243164"/>
                    <a:pt x="178629" y="243164"/>
                    <a:pt x="178629" y="239230"/>
                  </a:cubicBezTo>
                  <a:cubicBezTo>
                    <a:pt x="182460" y="239230"/>
                    <a:pt x="182460" y="237918"/>
                    <a:pt x="185013" y="236607"/>
                  </a:cubicBezTo>
                  <a:cubicBezTo>
                    <a:pt x="185013" y="236607"/>
                    <a:pt x="185013" y="236607"/>
                    <a:pt x="187567" y="239230"/>
                  </a:cubicBezTo>
                  <a:cubicBezTo>
                    <a:pt x="188844" y="240541"/>
                    <a:pt x="190121" y="240541"/>
                    <a:pt x="191398" y="239230"/>
                  </a:cubicBezTo>
                  <a:cubicBezTo>
                    <a:pt x="191398" y="239230"/>
                    <a:pt x="191398" y="239230"/>
                    <a:pt x="196506" y="233984"/>
                  </a:cubicBezTo>
                  <a:cubicBezTo>
                    <a:pt x="196506" y="233984"/>
                    <a:pt x="196506" y="232673"/>
                    <a:pt x="196506" y="231361"/>
                  </a:cubicBezTo>
                  <a:cubicBezTo>
                    <a:pt x="196506" y="231361"/>
                    <a:pt x="196506" y="231361"/>
                    <a:pt x="192675" y="227427"/>
                  </a:cubicBezTo>
                  <a:cubicBezTo>
                    <a:pt x="193952" y="226115"/>
                    <a:pt x="195229" y="224804"/>
                    <a:pt x="195229" y="222181"/>
                  </a:cubicBezTo>
                  <a:cubicBezTo>
                    <a:pt x="195229" y="222181"/>
                    <a:pt x="195229" y="222181"/>
                    <a:pt x="200336" y="222181"/>
                  </a:cubicBezTo>
                  <a:cubicBezTo>
                    <a:pt x="201613" y="222181"/>
                    <a:pt x="201613" y="220870"/>
                    <a:pt x="201613" y="219558"/>
                  </a:cubicBezTo>
                  <a:lnTo>
                    <a:pt x="201613" y="211690"/>
                  </a:lnTo>
                  <a:cubicBezTo>
                    <a:pt x="201613" y="210379"/>
                    <a:pt x="201613" y="211690"/>
                    <a:pt x="200336" y="211690"/>
                  </a:cubicBezTo>
                  <a:cubicBezTo>
                    <a:pt x="200336" y="211690"/>
                    <a:pt x="200336" y="211690"/>
                    <a:pt x="195229" y="211690"/>
                  </a:cubicBezTo>
                  <a:cubicBezTo>
                    <a:pt x="195229" y="207756"/>
                    <a:pt x="193952" y="206444"/>
                    <a:pt x="192675" y="203821"/>
                  </a:cubicBezTo>
                  <a:cubicBezTo>
                    <a:pt x="192675" y="203821"/>
                    <a:pt x="192675" y="203821"/>
                    <a:pt x="196506" y="199887"/>
                  </a:cubicBezTo>
                  <a:cubicBezTo>
                    <a:pt x="196506" y="199887"/>
                    <a:pt x="196506" y="198576"/>
                    <a:pt x="196506" y="197264"/>
                  </a:cubicBezTo>
                  <a:cubicBezTo>
                    <a:pt x="196506" y="197264"/>
                    <a:pt x="196506" y="197264"/>
                    <a:pt x="191398" y="192019"/>
                  </a:cubicBezTo>
                  <a:cubicBezTo>
                    <a:pt x="190121" y="190707"/>
                    <a:pt x="188844" y="190707"/>
                    <a:pt x="187567" y="192019"/>
                  </a:cubicBezTo>
                  <a:cubicBezTo>
                    <a:pt x="187567" y="192019"/>
                    <a:pt x="187567" y="192019"/>
                    <a:pt x="185013" y="194642"/>
                  </a:cubicBezTo>
                  <a:cubicBezTo>
                    <a:pt x="182460" y="193330"/>
                    <a:pt x="182460" y="193330"/>
                    <a:pt x="178629" y="192019"/>
                  </a:cubicBezTo>
                  <a:cubicBezTo>
                    <a:pt x="178629" y="192019"/>
                    <a:pt x="178629" y="192019"/>
                    <a:pt x="178629" y="188084"/>
                  </a:cubicBezTo>
                  <a:cubicBezTo>
                    <a:pt x="178629" y="186773"/>
                    <a:pt x="177352" y="184150"/>
                    <a:pt x="176075" y="184150"/>
                  </a:cubicBezTo>
                  <a:cubicBezTo>
                    <a:pt x="176075" y="184150"/>
                    <a:pt x="176075" y="184150"/>
                    <a:pt x="169690" y="184150"/>
                  </a:cubicBezTo>
                  <a:close/>
                  <a:moveTo>
                    <a:pt x="123825" y="165100"/>
                  </a:moveTo>
                  <a:lnTo>
                    <a:pt x="123825" y="176213"/>
                  </a:lnTo>
                  <a:lnTo>
                    <a:pt x="223838" y="176213"/>
                  </a:lnTo>
                  <a:lnTo>
                    <a:pt x="223838" y="165100"/>
                  </a:lnTo>
                  <a:close/>
                  <a:moveTo>
                    <a:pt x="123825" y="146050"/>
                  </a:moveTo>
                  <a:lnTo>
                    <a:pt x="123825" y="155575"/>
                  </a:lnTo>
                  <a:lnTo>
                    <a:pt x="223838" y="155575"/>
                  </a:lnTo>
                  <a:lnTo>
                    <a:pt x="223838" y="146050"/>
                  </a:lnTo>
                  <a:close/>
                  <a:moveTo>
                    <a:pt x="123825" y="131763"/>
                  </a:moveTo>
                  <a:lnTo>
                    <a:pt x="123825" y="139701"/>
                  </a:lnTo>
                  <a:lnTo>
                    <a:pt x="166688" y="139701"/>
                  </a:lnTo>
                  <a:lnTo>
                    <a:pt x="166688" y="131763"/>
                  </a:lnTo>
                  <a:close/>
                  <a:moveTo>
                    <a:pt x="123825" y="115888"/>
                  </a:moveTo>
                  <a:lnTo>
                    <a:pt x="123825" y="122238"/>
                  </a:lnTo>
                  <a:lnTo>
                    <a:pt x="166688" y="122238"/>
                  </a:lnTo>
                  <a:lnTo>
                    <a:pt x="166688" y="115888"/>
                  </a:lnTo>
                  <a:close/>
                  <a:moveTo>
                    <a:pt x="179388" y="100013"/>
                  </a:moveTo>
                  <a:lnTo>
                    <a:pt x="179388" y="139701"/>
                  </a:lnTo>
                  <a:lnTo>
                    <a:pt x="223838" y="139701"/>
                  </a:lnTo>
                  <a:lnTo>
                    <a:pt x="223838" y="100013"/>
                  </a:lnTo>
                  <a:close/>
                  <a:moveTo>
                    <a:pt x="123825" y="100013"/>
                  </a:moveTo>
                  <a:lnTo>
                    <a:pt x="123825" y="106363"/>
                  </a:lnTo>
                  <a:lnTo>
                    <a:pt x="166688" y="106363"/>
                  </a:lnTo>
                  <a:lnTo>
                    <a:pt x="166688" y="100013"/>
                  </a:lnTo>
                  <a:close/>
                  <a:moveTo>
                    <a:pt x="106363" y="76200"/>
                  </a:moveTo>
                  <a:lnTo>
                    <a:pt x="238126" y="76200"/>
                  </a:lnTo>
                  <a:lnTo>
                    <a:pt x="238126" y="254000"/>
                  </a:lnTo>
                  <a:lnTo>
                    <a:pt x="106363" y="254000"/>
                  </a:lnTo>
                  <a:close/>
                  <a:moveTo>
                    <a:pt x="103296" y="65088"/>
                  </a:moveTo>
                  <a:cubicBezTo>
                    <a:pt x="99421" y="65088"/>
                    <a:pt x="96838" y="67686"/>
                    <a:pt x="96838" y="71583"/>
                  </a:cubicBezTo>
                  <a:cubicBezTo>
                    <a:pt x="96838" y="71583"/>
                    <a:pt x="96838" y="71583"/>
                    <a:pt x="96838" y="258619"/>
                  </a:cubicBezTo>
                  <a:cubicBezTo>
                    <a:pt x="96838" y="262516"/>
                    <a:pt x="99421" y="265113"/>
                    <a:pt x="103296" y="265113"/>
                  </a:cubicBezTo>
                  <a:cubicBezTo>
                    <a:pt x="103296" y="265113"/>
                    <a:pt x="103296" y="265113"/>
                    <a:pt x="242781" y="265113"/>
                  </a:cubicBezTo>
                  <a:cubicBezTo>
                    <a:pt x="245364" y="265113"/>
                    <a:pt x="246655" y="263814"/>
                    <a:pt x="246655" y="263814"/>
                  </a:cubicBezTo>
                  <a:cubicBezTo>
                    <a:pt x="246655" y="263814"/>
                    <a:pt x="247947" y="263814"/>
                    <a:pt x="247947" y="263814"/>
                  </a:cubicBezTo>
                  <a:cubicBezTo>
                    <a:pt x="247947" y="262516"/>
                    <a:pt x="247947" y="262516"/>
                    <a:pt x="247947" y="262516"/>
                  </a:cubicBezTo>
                  <a:cubicBezTo>
                    <a:pt x="247947" y="262516"/>
                    <a:pt x="249238" y="261217"/>
                    <a:pt x="249238" y="258619"/>
                  </a:cubicBezTo>
                  <a:lnTo>
                    <a:pt x="249238" y="71583"/>
                  </a:lnTo>
                  <a:cubicBezTo>
                    <a:pt x="249238" y="67686"/>
                    <a:pt x="246655" y="65088"/>
                    <a:pt x="242781" y="65088"/>
                  </a:cubicBezTo>
                  <a:cubicBezTo>
                    <a:pt x="242781" y="65088"/>
                    <a:pt x="242781" y="65088"/>
                    <a:pt x="103296" y="65088"/>
                  </a:cubicBezTo>
                  <a:close/>
                  <a:moveTo>
                    <a:pt x="165894" y="0"/>
                  </a:moveTo>
                  <a:cubicBezTo>
                    <a:pt x="257515" y="0"/>
                    <a:pt x="331788" y="73918"/>
                    <a:pt x="331788" y="165100"/>
                  </a:cubicBezTo>
                  <a:cubicBezTo>
                    <a:pt x="331788" y="256282"/>
                    <a:pt x="257515" y="330200"/>
                    <a:pt x="165894" y="330200"/>
                  </a:cubicBezTo>
                  <a:cubicBezTo>
                    <a:pt x="74273" y="330200"/>
                    <a:pt x="0" y="256282"/>
                    <a:pt x="0" y="165100"/>
                  </a:cubicBezTo>
                  <a:cubicBezTo>
                    <a:pt x="0" y="73918"/>
                    <a:pt x="74273" y="0"/>
                    <a:pt x="165894" y="0"/>
                  </a:cubicBezTo>
                  <a:close/>
                </a:path>
              </a:pathLst>
            </a:custGeom>
            <a:solidFill>
              <a:srgbClr val="4BACC6"/>
            </a:solidFill>
            <a:ln w="12700">
              <a:miter lim="4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Rectangle 1027"/>
          <p:cNvSpPr txBox="1">
            <a:spLocks noChangeArrowheads="1"/>
          </p:cNvSpPr>
          <p:nvPr/>
        </p:nvSpPr>
        <p:spPr bwMode="auto">
          <a:xfrm>
            <a:off x="727281" y="2994941"/>
            <a:ext cx="3311070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一个有穷的指令序列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，用以解决某一特定</a:t>
            </a:r>
            <a:r>
              <a:rPr kumimoji="1" lang="zh-CN" altLang="en-US" sz="2800" kern="0" dirty="0">
                <a:ea typeface="+mn-ea"/>
                <a:cs typeface="+mn-ea"/>
                <a:sym typeface="+mn-lt"/>
              </a:rPr>
              <a:t>问题或任务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1779" name="Rectangle 1027"/>
          <p:cNvSpPr>
            <a:spLocks noGrp="1" noChangeArrowheads="1"/>
          </p:cNvSpPr>
          <p:nvPr>
            <p:ph idx="1" hasCustomPrompt="1"/>
          </p:nvPr>
        </p:nvSpPr>
        <p:spPr>
          <a:xfrm>
            <a:off x="1232587" y="1637171"/>
            <a:ext cx="2344174" cy="769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</a:t>
            </a:r>
            <a:r>
              <a:rPr kumimoji="1" lang="zh-CN" altLang="en-US" dirty="0">
                <a:solidFill>
                  <a:schemeClr val="bg1"/>
                </a:solidFill>
                <a:ea typeface="+mn-ea"/>
                <a:cs typeface="+mn-ea"/>
                <a:sym typeface="+mn-lt"/>
              </a:rPr>
              <a:t>的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定义</a:t>
            </a:r>
          </a:p>
        </p:txBody>
      </p:sp>
      <p:sp>
        <p:nvSpPr>
          <p:cNvPr id="33" name="Rectangle 1027"/>
          <p:cNvSpPr txBox="1">
            <a:spLocks noChangeArrowheads="1"/>
          </p:cNvSpPr>
          <p:nvPr/>
        </p:nvSpPr>
        <p:spPr bwMode="auto">
          <a:xfrm>
            <a:off x="5782888" y="1637171"/>
            <a:ext cx="20510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算法的描述</a:t>
            </a:r>
          </a:p>
        </p:txBody>
      </p:sp>
      <p:sp>
        <p:nvSpPr>
          <p:cNvPr id="34" name="Rectangle 1027"/>
          <p:cNvSpPr txBox="1">
            <a:spLocks noChangeArrowheads="1"/>
          </p:cNvSpPr>
          <p:nvPr/>
        </p:nvSpPr>
        <p:spPr bwMode="auto">
          <a:xfrm>
            <a:off x="5466501" y="3055738"/>
            <a:ext cx="2561883" cy="238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自然语言</a:t>
            </a:r>
            <a:endParaRPr kumimoji="1" lang="en-US" altLang="zh-CN" sz="2800" kern="0" dirty="0"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流程图</a:t>
            </a:r>
            <a:endParaRPr kumimoji="1" lang="en-US" altLang="zh-CN" sz="2800" kern="0" dirty="0"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程序设计语言</a:t>
            </a:r>
            <a:endParaRPr kumimoji="1" lang="en-US" altLang="zh-CN" sz="2800" kern="0" dirty="0">
              <a:solidFill>
                <a:srgbClr val="0000FF"/>
              </a:solidFill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+mn-ea"/>
                <a:sym typeface="+mn-lt"/>
              </a:rPr>
              <a:t>伪码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bldLvl="2"/>
      <p:bldP spid="331779" grpId="0" build="p" bldLvl="2"/>
      <p:bldP spid="33" grpId="0" build="p" bldLvl="2"/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5413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算法的特性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11559" y="1341135"/>
            <a:ext cx="487363" cy="584200"/>
            <a:chOff x="685009" y="1514252"/>
            <a:chExt cx="365522" cy="438150"/>
          </a:xfrm>
        </p:grpSpPr>
        <p:sp>
          <p:nvSpPr>
            <p:cNvPr id="17" name="Flowchart: Off-page Connector 108"/>
            <p:cNvSpPr/>
            <p:nvPr/>
          </p:nvSpPr>
          <p:spPr bwMode="auto">
            <a:xfrm>
              <a:off x="704059" y="1529731"/>
              <a:ext cx="317897" cy="422672"/>
            </a:xfrm>
            <a:prstGeom prst="flowChartOffpageConnector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Oval 111"/>
            <p:cNvSpPr/>
            <p:nvPr/>
          </p:nvSpPr>
          <p:spPr bwMode="auto">
            <a:xfrm>
              <a:off x="685009" y="1514252"/>
              <a:ext cx="365522" cy="419100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02771" y="2282544"/>
            <a:ext cx="487363" cy="601663"/>
            <a:chOff x="685009" y="2261965"/>
            <a:chExt cx="365522" cy="451246"/>
          </a:xfrm>
        </p:grpSpPr>
        <p:sp>
          <p:nvSpPr>
            <p:cNvPr id="20" name="Flowchart: Off-page Connector 109"/>
            <p:cNvSpPr/>
            <p:nvPr/>
          </p:nvSpPr>
          <p:spPr bwMode="auto">
            <a:xfrm>
              <a:off x="704059" y="2290540"/>
              <a:ext cx="317897" cy="422671"/>
            </a:xfrm>
            <a:prstGeom prst="flowChartOffpageConnector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Oval 112"/>
            <p:cNvSpPr/>
            <p:nvPr/>
          </p:nvSpPr>
          <p:spPr bwMode="auto">
            <a:xfrm>
              <a:off x="685009" y="2261965"/>
              <a:ext cx="365522" cy="419099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02770" y="3262661"/>
            <a:ext cx="487363" cy="601662"/>
            <a:chOff x="680246" y="3021584"/>
            <a:chExt cx="365522" cy="451246"/>
          </a:xfrm>
        </p:grpSpPr>
        <p:sp>
          <p:nvSpPr>
            <p:cNvPr id="23" name="Flowchart: Off-page Connector 110"/>
            <p:cNvSpPr/>
            <p:nvPr/>
          </p:nvSpPr>
          <p:spPr bwMode="auto">
            <a:xfrm>
              <a:off x="704058" y="3050159"/>
              <a:ext cx="317897" cy="422671"/>
            </a:xfrm>
            <a:prstGeom prst="flowChartOffpageConnector">
              <a:avLst/>
            </a:prstGeom>
            <a:solidFill>
              <a:srgbClr val="9BBB59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Oval 113"/>
            <p:cNvSpPr/>
            <p:nvPr/>
          </p:nvSpPr>
          <p:spPr bwMode="auto">
            <a:xfrm>
              <a:off x="680246" y="3021584"/>
              <a:ext cx="365522" cy="419100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01977" y="4199916"/>
            <a:ext cx="488950" cy="576262"/>
            <a:chOff x="704059" y="3810967"/>
            <a:chExt cx="366713" cy="432198"/>
          </a:xfrm>
        </p:grpSpPr>
        <p:sp>
          <p:nvSpPr>
            <p:cNvPr id="26" name="Flowchart: Off-page Connector 104"/>
            <p:cNvSpPr/>
            <p:nvPr/>
          </p:nvSpPr>
          <p:spPr bwMode="auto">
            <a:xfrm>
              <a:off x="727872" y="3862164"/>
              <a:ext cx="317898" cy="381001"/>
            </a:xfrm>
            <a:prstGeom prst="flowChartOffpageConnector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Oval 107"/>
            <p:cNvSpPr/>
            <p:nvPr/>
          </p:nvSpPr>
          <p:spPr bwMode="auto">
            <a:xfrm>
              <a:off x="704059" y="3810967"/>
              <a:ext cx="366713" cy="419101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21470" y="5137169"/>
            <a:ext cx="487363" cy="601663"/>
            <a:chOff x="685009" y="2261965"/>
            <a:chExt cx="365522" cy="451246"/>
          </a:xfrm>
        </p:grpSpPr>
        <p:sp>
          <p:nvSpPr>
            <p:cNvPr id="33" name="Flowchart: Off-page Connector 109"/>
            <p:cNvSpPr/>
            <p:nvPr/>
          </p:nvSpPr>
          <p:spPr bwMode="auto">
            <a:xfrm>
              <a:off x="704059" y="2290540"/>
              <a:ext cx="317897" cy="422671"/>
            </a:xfrm>
            <a:prstGeom prst="flowChartOffpageConnector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4" name="Oval 112"/>
            <p:cNvSpPr/>
            <p:nvPr/>
          </p:nvSpPr>
          <p:spPr bwMode="auto">
            <a:xfrm>
              <a:off x="685009" y="2261965"/>
              <a:ext cx="365522" cy="419099"/>
            </a:xfrm>
            <a:prstGeom prst="ellipse">
              <a:avLst/>
            </a:prstGeom>
            <a:noFill/>
            <a:ln w="63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500560" y="1340768"/>
            <a:ext cx="6838950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有</a:t>
            </a:r>
            <a:r>
              <a:rPr kumimoji="1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个或多个输入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1500560" y="2203403"/>
            <a:ext cx="6838950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输出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有一个或多个输出</a:t>
            </a:r>
            <a:r>
              <a:rPr kumimoji="1" lang="zh-CN" altLang="en-US" noProof="0" dirty="0"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处理结果</a:t>
            </a:r>
            <a:r>
              <a:rPr kumimoji="1" lang="zh-CN" altLang="en-US" dirty="0"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1500560" y="3173194"/>
            <a:ext cx="6838950" cy="541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确定性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每步的含义都是确切、无歧义的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1500560" y="4117094"/>
            <a:ext cx="6838950" cy="608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有穷性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算法应在执行有穷步后结束</a:t>
            </a:r>
            <a:endParaRPr kumimoji="1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500560" y="5011756"/>
            <a:ext cx="7176716" cy="684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>
              <a:lnSpc>
                <a:spcPct val="150000"/>
              </a:lnSpc>
              <a:buClr>
                <a:schemeClr val="tx1"/>
              </a:buClr>
              <a:buSzPct val="50000"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可行性</a:t>
            </a: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每一条运算应足够</a:t>
            </a:r>
            <a:r>
              <a:rPr kumimoji="1" lang="zh-CN" altLang="en-US" dirty="0">
                <a:latin typeface="+mn-lt"/>
                <a:ea typeface="+mn-ea"/>
                <a:cs typeface="+mn-ea"/>
                <a:sym typeface="+mn-lt"/>
              </a:rPr>
              <a:t>基本，可用计算机指令实现</a:t>
            </a:r>
            <a:endParaRPr kumimoji="1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bldLvl="2"/>
      <p:bldP spid="36" grpId="0" build="p" bldLvl="2"/>
      <p:bldP spid="37" grpId="0" build="p" bldLvl="2"/>
      <p:bldP spid="38" grpId="0" build="p" bldLvl="2"/>
      <p:bldP spid="39" grpId="0" build="p" bldLvl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EE6DE-E896-408C-905C-EC7A1C12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图灵机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1B21EE-D613-40DD-A486-F70B62588AA0}"/>
              </a:ext>
            </a:extLst>
          </p:cNvPr>
          <p:cNvSpPr txBox="1"/>
          <p:nvPr/>
        </p:nvSpPr>
        <p:spPr>
          <a:xfrm>
            <a:off x="482579" y="6093296"/>
            <a:ext cx="8268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图灵机模拟器：</a:t>
            </a:r>
            <a:r>
              <a:rPr lang="en-US" altLang="zh-CN" dirty="0">
                <a:hlinkClick r:id="rId2"/>
              </a:rPr>
              <a:t>http://morphett.info/turing/turing.html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AB2FBCC-0C18-44EC-9E60-6E2BE9D32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695" y="764704"/>
            <a:ext cx="4876378" cy="514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15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1027"/>
          <p:cNvSpPr>
            <a:spLocks noGrp="1" noChangeArrowheads="1"/>
          </p:cNvSpPr>
          <p:nvPr>
            <p:ph idx="1" hasCustomPrompt="1"/>
          </p:nvPr>
        </p:nvSpPr>
        <p:spPr>
          <a:xfrm>
            <a:off x="251520" y="3028851"/>
            <a:ext cx="1800200" cy="2550864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正确性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满足具体问题的需求</a:t>
            </a:r>
          </a:p>
        </p:txBody>
      </p:sp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827088" y="184369"/>
            <a:ext cx="7850188" cy="5083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算法的评价</a:t>
            </a:r>
          </a:p>
        </p:txBody>
      </p:sp>
      <p:grpSp>
        <p:nvGrpSpPr>
          <p:cNvPr id="61445" name="组合 53"/>
          <p:cNvGrpSpPr/>
          <p:nvPr/>
        </p:nvGrpSpPr>
        <p:grpSpPr>
          <a:xfrm>
            <a:off x="538387" y="1412776"/>
            <a:ext cx="1276350" cy="1436688"/>
            <a:chOff x="1168053" y="2217316"/>
            <a:chExt cx="1901372" cy="2140857"/>
          </a:xfrm>
        </p:grpSpPr>
        <p:sp>
          <p:nvSpPr>
            <p:cNvPr id="55" name="íṡľíḍè-Rectangle 22"/>
            <p:cNvSpPr/>
            <p:nvPr/>
          </p:nvSpPr>
          <p:spPr>
            <a:xfrm>
              <a:off x="1168053" y="2217316"/>
              <a:ext cx="1901372" cy="1901932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6" name="íṡľíḍè-Freeform: Shape 23"/>
            <p:cNvSpPr/>
            <p:nvPr/>
          </p:nvSpPr>
          <p:spPr>
            <a:xfrm rot="10800000">
              <a:off x="1168053" y="3989141"/>
              <a:ext cx="1901372" cy="369032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4F81B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9" name="îŝḷîḓé-Freeform: Shape 42"/>
            <p:cNvSpPr/>
            <p:nvPr/>
          </p:nvSpPr>
          <p:spPr bwMode="auto">
            <a:xfrm>
              <a:off x="1690695" y="2470435"/>
              <a:ext cx="943591" cy="943868"/>
            </a:xfrm>
            <a:custGeom>
              <a:avLst/>
              <a:gdLst>
                <a:gd name="T0" fmla="*/ 184 w 260"/>
                <a:gd name="T1" fmla="*/ 106 h 260"/>
                <a:gd name="T2" fmla="*/ 193 w 260"/>
                <a:gd name="T3" fmla="*/ 143 h 260"/>
                <a:gd name="T4" fmla="*/ 117 w 260"/>
                <a:gd name="T5" fmla="*/ 219 h 260"/>
                <a:gd name="T6" fmla="*/ 42 w 260"/>
                <a:gd name="T7" fmla="*/ 143 h 260"/>
                <a:gd name="T8" fmla="*/ 117 w 260"/>
                <a:gd name="T9" fmla="*/ 66 h 260"/>
                <a:gd name="T10" fmla="*/ 154 w 260"/>
                <a:gd name="T11" fmla="*/ 76 h 260"/>
                <a:gd name="T12" fmla="*/ 183 w 260"/>
                <a:gd name="T13" fmla="*/ 46 h 260"/>
                <a:gd name="T14" fmla="*/ 117 w 260"/>
                <a:gd name="T15" fmla="*/ 25 h 260"/>
                <a:gd name="T16" fmla="*/ 0 w 260"/>
                <a:gd name="T17" fmla="*/ 143 h 260"/>
                <a:gd name="T18" fmla="*/ 117 w 260"/>
                <a:gd name="T19" fmla="*/ 260 h 260"/>
                <a:gd name="T20" fmla="*/ 233 w 260"/>
                <a:gd name="T21" fmla="*/ 143 h 260"/>
                <a:gd name="T22" fmla="*/ 213 w 260"/>
                <a:gd name="T23" fmla="*/ 77 h 260"/>
                <a:gd name="T24" fmla="*/ 184 w 260"/>
                <a:gd name="T25" fmla="*/ 106 h 260"/>
                <a:gd name="T26" fmla="*/ 225 w 260"/>
                <a:gd name="T27" fmla="*/ 35 h 260"/>
                <a:gd name="T28" fmla="*/ 225 w 260"/>
                <a:gd name="T29" fmla="*/ 35 h 260"/>
                <a:gd name="T30" fmla="*/ 225 w 260"/>
                <a:gd name="T31" fmla="*/ 0 h 260"/>
                <a:gd name="T32" fmla="*/ 203 w 260"/>
                <a:gd name="T33" fmla="*/ 23 h 260"/>
                <a:gd name="T34" fmla="*/ 203 w 260"/>
                <a:gd name="T35" fmla="*/ 46 h 260"/>
                <a:gd name="T36" fmla="*/ 139 w 260"/>
                <a:gd name="T37" fmla="*/ 111 h 260"/>
                <a:gd name="T38" fmla="*/ 117 w 260"/>
                <a:gd name="T39" fmla="*/ 104 h 260"/>
                <a:gd name="T40" fmla="*/ 79 w 260"/>
                <a:gd name="T41" fmla="*/ 143 h 260"/>
                <a:gd name="T42" fmla="*/ 117 w 260"/>
                <a:gd name="T43" fmla="*/ 181 h 260"/>
                <a:gd name="T44" fmla="*/ 155 w 260"/>
                <a:gd name="T45" fmla="*/ 143 h 260"/>
                <a:gd name="T46" fmla="*/ 150 w 260"/>
                <a:gd name="T47" fmla="*/ 123 h 260"/>
                <a:gd name="T48" fmla="*/ 215 w 260"/>
                <a:gd name="T49" fmla="*/ 58 h 260"/>
                <a:gd name="T50" fmla="*/ 237 w 260"/>
                <a:gd name="T51" fmla="*/ 58 h 260"/>
                <a:gd name="T52" fmla="*/ 260 w 260"/>
                <a:gd name="T53" fmla="*/ 35 h 260"/>
                <a:gd name="T54" fmla="*/ 225 w 260"/>
                <a:gd name="T55" fmla="*/ 35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" h="260">
                  <a:moveTo>
                    <a:pt x="184" y="106"/>
                  </a:moveTo>
                  <a:cubicBezTo>
                    <a:pt x="190" y="117"/>
                    <a:pt x="193" y="129"/>
                    <a:pt x="193" y="143"/>
                  </a:cubicBezTo>
                  <a:cubicBezTo>
                    <a:pt x="193" y="185"/>
                    <a:pt x="159" y="219"/>
                    <a:pt x="117" y="219"/>
                  </a:cubicBezTo>
                  <a:cubicBezTo>
                    <a:pt x="76" y="219"/>
                    <a:pt x="42" y="185"/>
                    <a:pt x="42" y="143"/>
                  </a:cubicBezTo>
                  <a:cubicBezTo>
                    <a:pt x="42" y="100"/>
                    <a:pt x="76" y="66"/>
                    <a:pt x="117" y="66"/>
                  </a:cubicBezTo>
                  <a:cubicBezTo>
                    <a:pt x="131" y="66"/>
                    <a:pt x="143" y="70"/>
                    <a:pt x="154" y="76"/>
                  </a:cubicBezTo>
                  <a:cubicBezTo>
                    <a:pt x="183" y="46"/>
                    <a:pt x="183" y="46"/>
                    <a:pt x="183" y="46"/>
                  </a:cubicBezTo>
                  <a:cubicBezTo>
                    <a:pt x="165" y="33"/>
                    <a:pt x="141" y="25"/>
                    <a:pt x="117" y="25"/>
                  </a:cubicBezTo>
                  <a:cubicBezTo>
                    <a:pt x="52" y="25"/>
                    <a:pt x="0" y="78"/>
                    <a:pt x="0" y="143"/>
                  </a:cubicBezTo>
                  <a:cubicBezTo>
                    <a:pt x="0" y="207"/>
                    <a:pt x="52" y="260"/>
                    <a:pt x="117" y="260"/>
                  </a:cubicBezTo>
                  <a:cubicBezTo>
                    <a:pt x="181" y="260"/>
                    <a:pt x="233" y="207"/>
                    <a:pt x="233" y="143"/>
                  </a:cubicBezTo>
                  <a:cubicBezTo>
                    <a:pt x="233" y="118"/>
                    <a:pt x="226" y="96"/>
                    <a:pt x="213" y="77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225" y="35"/>
                  </a:moveTo>
                  <a:cubicBezTo>
                    <a:pt x="225" y="35"/>
                    <a:pt x="225" y="35"/>
                    <a:pt x="225" y="35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3" y="46"/>
                    <a:pt x="203" y="46"/>
                    <a:pt x="203" y="46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3" y="106"/>
                    <a:pt x="125" y="104"/>
                    <a:pt x="117" y="104"/>
                  </a:cubicBezTo>
                  <a:cubicBezTo>
                    <a:pt x="96" y="104"/>
                    <a:pt x="79" y="121"/>
                    <a:pt x="79" y="143"/>
                  </a:cubicBezTo>
                  <a:cubicBezTo>
                    <a:pt x="79" y="164"/>
                    <a:pt x="96" y="181"/>
                    <a:pt x="117" y="181"/>
                  </a:cubicBezTo>
                  <a:cubicBezTo>
                    <a:pt x="138" y="181"/>
                    <a:pt x="155" y="164"/>
                    <a:pt x="155" y="143"/>
                  </a:cubicBezTo>
                  <a:cubicBezTo>
                    <a:pt x="155" y="136"/>
                    <a:pt x="154" y="129"/>
                    <a:pt x="150" y="123"/>
                  </a:cubicBezTo>
                  <a:cubicBezTo>
                    <a:pt x="215" y="58"/>
                    <a:pt x="215" y="58"/>
                    <a:pt x="215" y="58"/>
                  </a:cubicBezTo>
                  <a:cubicBezTo>
                    <a:pt x="237" y="58"/>
                    <a:pt x="237" y="58"/>
                    <a:pt x="237" y="58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25" y="35"/>
                    <a:pt x="225" y="35"/>
                    <a:pt x="225" y="3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6" name="组合 59"/>
          <p:cNvGrpSpPr/>
          <p:nvPr/>
        </p:nvGrpSpPr>
        <p:grpSpPr>
          <a:xfrm>
            <a:off x="7380312" y="1412776"/>
            <a:ext cx="1277938" cy="1463675"/>
            <a:chOff x="9271092" y="2217316"/>
            <a:chExt cx="1901375" cy="2180771"/>
          </a:xfrm>
        </p:grpSpPr>
        <p:sp>
          <p:nvSpPr>
            <p:cNvPr id="61" name="íṡľíḍè-Rectangle 30"/>
            <p:cNvSpPr/>
            <p:nvPr/>
          </p:nvSpPr>
          <p:spPr>
            <a:xfrm>
              <a:off x="9271092" y="2217316"/>
              <a:ext cx="1901375" cy="1901670"/>
            </a:xfrm>
            <a:prstGeom prst="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2" name="íṡľíḍè-Freeform: Shape 31"/>
            <p:cNvSpPr/>
            <p:nvPr/>
          </p:nvSpPr>
          <p:spPr>
            <a:xfrm rot="10800000">
              <a:off x="9271092" y="4029106"/>
              <a:ext cx="1901375" cy="368981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8064A2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5" name="îŝḷîḓé-Freeform: Shape 43"/>
            <p:cNvSpPr/>
            <p:nvPr/>
          </p:nvSpPr>
          <p:spPr bwMode="auto">
            <a:xfrm>
              <a:off x="9762379" y="2560280"/>
              <a:ext cx="838495" cy="83966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7" name="组合 65"/>
          <p:cNvGrpSpPr/>
          <p:nvPr/>
        </p:nvGrpSpPr>
        <p:grpSpPr>
          <a:xfrm>
            <a:off x="2845939" y="1412776"/>
            <a:ext cx="1276350" cy="1439863"/>
            <a:chOff x="3869067" y="2217316"/>
            <a:chExt cx="1901372" cy="2144485"/>
          </a:xfrm>
        </p:grpSpPr>
        <p:sp>
          <p:nvSpPr>
            <p:cNvPr id="67" name="íṡľíḍè-Rectangle 18"/>
            <p:cNvSpPr/>
            <p:nvPr/>
          </p:nvSpPr>
          <p:spPr>
            <a:xfrm>
              <a:off x="3869067" y="2217316"/>
              <a:ext cx="1901372" cy="1900954"/>
            </a:xfrm>
            <a:prstGeom prst="rect">
              <a:avLst/>
            </a:prstGeom>
            <a:solidFill>
              <a:srgbClr val="C0504D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68" name="íṡľíḍè-Freeform: Shape 19"/>
            <p:cNvSpPr/>
            <p:nvPr/>
          </p:nvSpPr>
          <p:spPr>
            <a:xfrm rot="10800000">
              <a:off x="3869067" y="3990594"/>
              <a:ext cx="1901372" cy="371207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C0504D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1" name="îŝḷîḓé-Freeform: Shape 44"/>
            <p:cNvSpPr/>
            <p:nvPr/>
          </p:nvSpPr>
          <p:spPr bwMode="auto">
            <a:xfrm>
              <a:off x="4389343" y="2567243"/>
              <a:ext cx="851361" cy="851173"/>
            </a:xfrm>
            <a:custGeom>
              <a:avLst/>
              <a:gdLst>
                <a:gd name="T0" fmla="*/ 187 w 228"/>
                <a:gd name="T1" fmla="*/ 114 h 240"/>
                <a:gd name="T2" fmla="*/ 114 w 228"/>
                <a:gd name="T3" fmla="*/ 40 h 240"/>
                <a:gd name="T4" fmla="*/ 40 w 228"/>
                <a:gd name="T5" fmla="*/ 114 h 240"/>
                <a:gd name="T6" fmla="*/ 68 w 228"/>
                <a:gd name="T7" fmla="*/ 171 h 240"/>
                <a:gd name="T8" fmla="*/ 74 w 228"/>
                <a:gd name="T9" fmla="*/ 173 h 240"/>
                <a:gd name="T10" fmla="*/ 81 w 228"/>
                <a:gd name="T11" fmla="*/ 169 h 240"/>
                <a:gd name="T12" fmla="*/ 79 w 228"/>
                <a:gd name="T13" fmla="*/ 156 h 240"/>
                <a:gd name="T14" fmla="*/ 59 w 228"/>
                <a:gd name="T15" fmla="*/ 114 h 240"/>
                <a:gd name="T16" fmla="*/ 114 w 228"/>
                <a:gd name="T17" fmla="*/ 59 h 240"/>
                <a:gd name="T18" fmla="*/ 169 w 228"/>
                <a:gd name="T19" fmla="*/ 114 h 240"/>
                <a:gd name="T20" fmla="*/ 152 w 228"/>
                <a:gd name="T21" fmla="*/ 153 h 240"/>
                <a:gd name="T22" fmla="*/ 151 w 228"/>
                <a:gd name="T23" fmla="*/ 166 h 240"/>
                <a:gd name="T24" fmla="*/ 165 w 228"/>
                <a:gd name="T25" fmla="*/ 167 h 240"/>
                <a:gd name="T26" fmla="*/ 187 w 228"/>
                <a:gd name="T27" fmla="*/ 114 h 240"/>
                <a:gd name="T28" fmla="*/ 116 w 228"/>
                <a:gd name="T29" fmla="*/ 79 h 240"/>
                <a:gd name="T30" fmla="*/ 81 w 228"/>
                <a:gd name="T31" fmla="*/ 114 h 240"/>
                <a:gd name="T32" fmla="*/ 101 w 228"/>
                <a:gd name="T33" fmla="*/ 144 h 240"/>
                <a:gd name="T34" fmla="*/ 101 w 228"/>
                <a:gd name="T35" fmla="*/ 226 h 240"/>
                <a:gd name="T36" fmla="*/ 115 w 228"/>
                <a:gd name="T37" fmla="*/ 240 h 240"/>
                <a:gd name="T38" fmla="*/ 129 w 228"/>
                <a:gd name="T39" fmla="*/ 226 h 240"/>
                <a:gd name="T40" fmla="*/ 129 w 228"/>
                <a:gd name="T41" fmla="*/ 145 h 240"/>
                <a:gd name="T42" fmla="*/ 150 w 228"/>
                <a:gd name="T43" fmla="*/ 114 h 240"/>
                <a:gd name="T44" fmla="*/ 116 w 228"/>
                <a:gd name="T45" fmla="*/ 79 h 240"/>
                <a:gd name="T46" fmla="*/ 114 w 228"/>
                <a:gd name="T47" fmla="*/ 0 h 240"/>
                <a:gd name="T48" fmla="*/ 0 w 228"/>
                <a:gd name="T49" fmla="*/ 114 h 240"/>
                <a:gd name="T50" fmla="*/ 52 w 228"/>
                <a:gd name="T51" fmla="*/ 209 h 240"/>
                <a:gd name="T52" fmla="*/ 57 w 228"/>
                <a:gd name="T53" fmla="*/ 211 h 240"/>
                <a:gd name="T54" fmla="*/ 65 w 228"/>
                <a:gd name="T55" fmla="*/ 206 h 240"/>
                <a:gd name="T56" fmla="*/ 62 w 228"/>
                <a:gd name="T57" fmla="*/ 193 h 240"/>
                <a:gd name="T58" fmla="*/ 19 w 228"/>
                <a:gd name="T59" fmla="*/ 114 h 240"/>
                <a:gd name="T60" fmla="*/ 114 w 228"/>
                <a:gd name="T61" fmla="*/ 18 h 240"/>
                <a:gd name="T62" fmla="*/ 209 w 228"/>
                <a:gd name="T63" fmla="*/ 114 h 240"/>
                <a:gd name="T64" fmla="*/ 168 w 228"/>
                <a:gd name="T65" fmla="*/ 192 h 240"/>
                <a:gd name="T66" fmla="*/ 165 w 228"/>
                <a:gd name="T67" fmla="*/ 205 h 240"/>
                <a:gd name="T68" fmla="*/ 178 w 228"/>
                <a:gd name="T69" fmla="*/ 208 h 240"/>
                <a:gd name="T70" fmla="*/ 228 w 228"/>
                <a:gd name="T71" fmla="*/ 114 h 240"/>
                <a:gd name="T72" fmla="*/ 114 w 228"/>
                <a:gd name="T7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240">
                  <a:moveTo>
                    <a:pt x="187" y="114"/>
                  </a:moveTo>
                  <a:cubicBezTo>
                    <a:pt x="187" y="73"/>
                    <a:pt x="154" y="40"/>
                    <a:pt x="114" y="40"/>
                  </a:cubicBezTo>
                  <a:cubicBezTo>
                    <a:pt x="73" y="40"/>
                    <a:pt x="40" y="73"/>
                    <a:pt x="40" y="114"/>
                  </a:cubicBezTo>
                  <a:cubicBezTo>
                    <a:pt x="40" y="136"/>
                    <a:pt x="50" y="157"/>
                    <a:pt x="68" y="171"/>
                  </a:cubicBezTo>
                  <a:cubicBezTo>
                    <a:pt x="69" y="172"/>
                    <a:pt x="71" y="173"/>
                    <a:pt x="74" y="173"/>
                  </a:cubicBezTo>
                  <a:cubicBezTo>
                    <a:pt x="76" y="173"/>
                    <a:pt x="79" y="171"/>
                    <a:pt x="81" y="169"/>
                  </a:cubicBezTo>
                  <a:cubicBezTo>
                    <a:pt x="84" y="165"/>
                    <a:pt x="83" y="159"/>
                    <a:pt x="79" y="156"/>
                  </a:cubicBezTo>
                  <a:cubicBezTo>
                    <a:pt x="67" y="146"/>
                    <a:pt x="59" y="130"/>
                    <a:pt x="59" y="114"/>
                  </a:cubicBezTo>
                  <a:cubicBezTo>
                    <a:pt x="59" y="83"/>
                    <a:pt x="84" y="59"/>
                    <a:pt x="114" y="59"/>
                  </a:cubicBezTo>
                  <a:cubicBezTo>
                    <a:pt x="144" y="59"/>
                    <a:pt x="169" y="83"/>
                    <a:pt x="169" y="114"/>
                  </a:cubicBezTo>
                  <a:cubicBezTo>
                    <a:pt x="169" y="129"/>
                    <a:pt x="163" y="143"/>
                    <a:pt x="152" y="153"/>
                  </a:cubicBezTo>
                  <a:cubicBezTo>
                    <a:pt x="148" y="157"/>
                    <a:pt x="148" y="163"/>
                    <a:pt x="151" y="166"/>
                  </a:cubicBezTo>
                  <a:cubicBezTo>
                    <a:pt x="155" y="170"/>
                    <a:pt x="161" y="170"/>
                    <a:pt x="165" y="167"/>
                  </a:cubicBezTo>
                  <a:cubicBezTo>
                    <a:pt x="179" y="153"/>
                    <a:pt x="187" y="134"/>
                    <a:pt x="187" y="114"/>
                  </a:cubicBezTo>
                  <a:close/>
                  <a:moveTo>
                    <a:pt x="116" y="79"/>
                  </a:moveTo>
                  <a:cubicBezTo>
                    <a:pt x="97" y="79"/>
                    <a:pt x="81" y="95"/>
                    <a:pt x="81" y="114"/>
                  </a:cubicBezTo>
                  <a:cubicBezTo>
                    <a:pt x="81" y="127"/>
                    <a:pt x="89" y="139"/>
                    <a:pt x="101" y="144"/>
                  </a:cubicBezTo>
                  <a:cubicBezTo>
                    <a:pt x="101" y="226"/>
                    <a:pt x="101" y="226"/>
                    <a:pt x="101" y="226"/>
                  </a:cubicBezTo>
                  <a:cubicBezTo>
                    <a:pt x="101" y="233"/>
                    <a:pt x="107" y="240"/>
                    <a:pt x="115" y="240"/>
                  </a:cubicBezTo>
                  <a:cubicBezTo>
                    <a:pt x="123" y="240"/>
                    <a:pt x="129" y="233"/>
                    <a:pt x="129" y="22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41" y="140"/>
                    <a:pt x="150" y="128"/>
                    <a:pt x="150" y="114"/>
                  </a:cubicBezTo>
                  <a:cubicBezTo>
                    <a:pt x="150" y="95"/>
                    <a:pt x="134" y="79"/>
                    <a:pt x="116" y="79"/>
                  </a:cubicBezTo>
                  <a:close/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52"/>
                    <a:pt x="19" y="188"/>
                    <a:pt x="52" y="209"/>
                  </a:cubicBezTo>
                  <a:cubicBezTo>
                    <a:pt x="54" y="210"/>
                    <a:pt x="55" y="211"/>
                    <a:pt x="57" y="211"/>
                  </a:cubicBezTo>
                  <a:cubicBezTo>
                    <a:pt x="60" y="211"/>
                    <a:pt x="63" y="209"/>
                    <a:pt x="65" y="206"/>
                  </a:cubicBezTo>
                  <a:cubicBezTo>
                    <a:pt x="68" y="202"/>
                    <a:pt x="67" y="196"/>
                    <a:pt x="62" y="193"/>
                  </a:cubicBezTo>
                  <a:cubicBezTo>
                    <a:pt x="35" y="176"/>
                    <a:pt x="19" y="146"/>
                    <a:pt x="19" y="114"/>
                  </a:cubicBezTo>
                  <a:cubicBezTo>
                    <a:pt x="19" y="61"/>
                    <a:pt x="61" y="18"/>
                    <a:pt x="114" y="18"/>
                  </a:cubicBezTo>
                  <a:cubicBezTo>
                    <a:pt x="166" y="18"/>
                    <a:pt x="209" y="61"/>
                    <a:pt x="209" y="114"/>
                  </a:cubicBezTo>
                  <a:cubicBezTo>
                    <a:pt x="209" y="145"/>
                    <a:pt x="194" y="174"/>
                    <a:pt x="168" y="192"/>
                  </a:cubicBezTo>
                  <a:cubicBezTo>
                    <a:pt x="163" y="195"/>
                    <a:pt x="162" y="201"/>
                    <a:pt x="165" y="205"/>
                  </a:cubicBezTo>
                  <a:cubicBezTo>
                    <a:pt x="168" y="209"/>
                    <a:pt x="174" y="211"/>
                    <a:pt x="178" y="208"/>
                  </a:cubicBezTo>
                  <a:cubicBezTo>
                    <a:pt x="209" y="186"/>
                    <a:pt x="228" y="151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61448" name="组合 71"/>
          <p:cNvGrpSpPr/>
          <p:nvPr/>
        </p:nvGrpSpPr>
        <p:grpSpPr>
          <a:xfrm>
            <a:off x="5173630" y="1412776"/>
            <a:ext cx="1276350" cy="1436688"/>
            <a:chOff x="6570080" y="2217316"/>
            <a:chExt cx="1901373" cy="2140857"/>
          </a:xfrm>
        </p:grpSpPr>
        <p:sp>
          <p:nvSpPr>
            <p:cNvPr id="73" name="íṡľíḍè-Rectangle 26"/>
            <p:cNvSpPr/>
            <p:nvPr/>
          </p:nvSpPr>
          <p:spPr>
            <a:xfrm>
              <a:off x="6570080" y="2217316"/>
              <a:ext cx="1901373" cy="1901932"/>
            </a:xfrm>
            <a:prstGeom prst="rect">
              <a:avLst/>
            </a:prstGeom>
            <a:solidFill>
              <a:srgbClr val="9BBB59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4" name="íṡľíḍè-Freeform: Shape 27"/>
            <p:cNvSpPr/>
            <p:nvPr/>
          </p:nvSpPr>
          <p:spPr>
            <a:xfrm rot="10800000">
              <a:off x="6570080" y="3989141"/>
              <a:ext cx="1901373" cy="369032"/>
            </a:xfrm>
            <a:custGeom>
              <a:avLst/>
              <a:gdLst>
                <a:gd name="connsiteX0" fmla="*/ 1901372 w 1901372"/>
                <a:gd name="connsiteY0" fmla="*/ 370114 h 370114"/>
                <a:gd name="connsiteX1" fmla="*/ 0 w 1901372"/>
                <a:gd name="connsiteY1" fmla="*/ 370114 h 370114"/>
                <a:gd name="connsiteX2" fmla="*/ 0 w 1901372"/>
                <a:gd name="connsiteY2" fmla="*/ 239486 h 370114"/>
                <a:gd name="connsiteX3" fmla="*/ 639355 w 1901372"/>
                <a:gd name="connsiteY3" fmla="*/ 239486 h 370114"/>
                <a:gd name="connsiteX4" fmla="*/ 950686 w 1901372"/>
                <a:gd name="connsiteY4" fmla="*/ 0 h 370114"/>
                <a:gd name="connsiteX5" fmla="*/ 1262017 w 1901372"/>
                <a:gd name="connsiteY5" fmla="*/ 239486 h 370114"/>
                <a:gd name="connsiteX6" fmla="*/ 1901372 w 1901372"/>
                <a:gd name="connsiteY6" fmla="*/ 239486 h 37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370114">
                  <a:moveTo>
                    <a:pt x="1901372" y="370114"/>
                  </a:moveTo>
                  <a:lnTo>
                    <a:pt x="0" y="370114"/>
                  </a:lnTo>
                  <a:lnTo>
                    <a:pt x="0" y="239486"/>
                  </a:lnTo>
                  <a:lnTo>
                    <a:pt x="639355" y="239486"/>
                  </a:lnTo>
                  <a:lnTo>
                    <a:pt x="950686" y="0"/>
                  </a:lnTo>
                  <a:lnTo>
                    <a:pt x="1262017" y="239486"/>
                  </a:lnTo>
                  <a:lnTo>
                    <a:pt x="1901372" y="239486"/>
                  </a:lnTo>
                  <a:close/>
                </a:path>
              </a:pathLst>
            </a:custGeom>
            <a:solidFill>
              <a:srgbClr val="9BBB59">
                <a:lumMod val="7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7" name="îŝḷîḓé-Freeform: Shape 45"/>
            <p:cNvSpPr/>
            <p:nvPr/>
          </p:nvSpPr>
          <p:spPr bwMode="auto">
            <a:xfrm>
              <a:off x="7092722" y="2560327"/>
              <a:ext cx="851361" cy="851611"/>
            </a:xfrm>
            <a:custGeom>
              <a:avLst/>
              <a:gdLst>
                <a:gd name="T0" fmla="*/ 74 w 236"/>
                <a:gd name="T1" fmla="*/ 160 h 236"/>
                <a:gd name="T2" fmla="*/ 93 w 236"/>
                <a:gd name="T3" fmla="*/ 160 h 236"/>
                <a:gd name="T4" fmla="*/ 93 w 236"/>
                <a:gd name="T5" fmla="*/ 103 h 236"/>
                <a:gd name="T6" fmla="*/ 74 w 236"/>
                <a:gd name="T7" fmla="*/ 103 h 236"/>
                <a:gd name="T8" fmla="*/ 74 w 236"/>
                <a:gd name="T9" fmla="*/ 160 h 236"/>
                <a:gd name="T10" fmla="*/ 140 w 236"/>
                <a:gd name="T11" fmla="*/ 102 h 236"/>
                <a:gd name="T12" fmla="*/ 122 w 236"/>
                <a:gd name="T13" fmla="*/ 111 h 236"/>
                <a:gd name="T14" fmla="*/ 122 w 236"/>
                <a:gd name="T15" fmla="*/ 103 h 236"/>
                <a:gd name="T16" fmla="*/ 103 w 236"/>
                <a:gd name="T17" fmla="*/ 103 h 236"/>
                <a:gd name="T18" fmla="*/ 103 w 236"/>
                <a:gd name="T19" fmla="*/ 160 h 236"/>
                <a:gd name="T20" fmla="*/ 122 w 236"/>
                <a:gd name="T21" fmla="*/ 160 h 236"/>
                <a:gd name="T22" fmla="*/ 122 w 236"/>
                <a:gd name="T23" fmla="*/ 128 h 236"/>
                <a:gd name="T24" fmla="*/ 123 w 236"/>
                <a:gd name="T25" fmla="*/ 124 h 236"/>
                <a:gd name="T26" fmla="*/ 133 w 236"/>
                <a:gd name="T27" fmla="*/ 117 h 236"/>
                <a:gd name="T28" fmla="*/ 142 w 236"/>
                <a:gd name="T29" fmla="*/ 130 h 236"/>
                <a:gd name="T30" fmla="*/ 142 w 236"/>
                <a:gd name="T31" fmla="*/ 160 h 236"/>
                <a:gd name="T32" fmla="*/ 161 w 236"/>
                <a:gd name="T33" fmla="*/ 160 h 236"/>
                <a:gd name="T34" fmla="*/ 161 w 236"/>
                <a:gd name="T35" fmla="*/ 160 h 236"/>
                <a:gd name="T36" fmla="*/ 161 w 236"/>
                <a:gd name="T37" fmla="*/ 127 h 236"/>
                <a:gd name="T38" fmla="*/ 140 w 236"/>
                <a:gd name="T39" fmla="*/ 102 h 236"/>
                <a:gd name="T40" fmla="*/ 122 w 236"/>
                <a:gd name="T41" fmla="*/ 111 h 236"/>
                <a:gd name="T42" fmla="*/ 122 w 236"/>
                <a:gd name="T43" fmla="*/ 111 h 236"/>
                <a:gd name="T44" fmla="*/ 122 w 236"/>
                <a:gd name="T45" fmla="*/ 111 h 236"/>
                <a:gd name="T46" fmla="*/ 83 w 236"/>
                <a:gd name="T47" fmla="*/ 75 h 236"/>
                <a:gd name="T48" fmla="*/ 73 w 236"/>
                <a:gd name="T49" fmla="*/ 85 h 236"/>
                <a:gd name="T50" fmla="*/ 83 w 236"/>
                <a:gd name="T51" fmla="*/ 95 h 236"/>
                <a:gd name="T52" fmla="*/ 83 w 236"/>
                <a:gd name="T53" fmla="*/ 95 h 236"/>
                <a:gd name="T54" fmla="*/ 94 w 236"/>
                <a:gd name="T55" fmla="*/ 85 h 236"/>
                <a:gd name="T56" fmla="*/ 83 w 236"/>
                <a:gd name="T57" fmla="*/ 75 h 236"/>
                <a:gd name="T58" fmla="*/ 118 w 236"/>
                <a:gd name="T59" fmla="*/ 0 h 236"/>
                <a:gd name="T60" fmla="*/ 0 w 236"/>
                <a:gd name="T61" fmla="*/ 118 h 236"/>
                <a:gd name="T62" fmla="*/ 118 w 236"/>
                <a:gd name="T63" fmla="*/ 236 h 236"/>
                <a:gd name="T64" fmla="*/ 236 w 236"/>
                <a:gd name="T65" fmla="*/ 118 h 236"/>
                <a:gd name="T66" fmla="*/ 118 w 236"/>
                <a:gd name="T67" fmla="*/ 0 h 236"/>
                <a:gd name="T68" fmla="*/ 181 w 236"/>
                <a:gd name="T69" fmla="*/ 172 h 236"/>
                <a:gd name="T70" fmla="*/ 171 w 236"/>
                <a:gd name="T71" fmla="*/ 181 h 236"/>
                <a:gd name="T72" fmla="*/ 64 w 236"/>
                <a:gd name="T73" fmla="*/ 181 h 236"/>
                <a:gd name="T74" fmla="*/ 55 w 236"/>
                <a:gd name="T75" fmla="*/ 172 h 236"/>
                <a:gd name="T76" fmla="*/ 55 w 236"/>
                <a:gd name="T77" fmla="*/ 63 h 236"/>
                <a:gd name="T78" fmla="*/ 64 w 236"/>
                <a:gd name="T79" fmla="*/ 54 h 236"/>
                <a:gd name="T80" fmla="*/ 171 w 236"/>
                <a:gd name="T81" fmla="*/ 54 h 236"/>
                <a:gd name="T82" fmla="*/ 181 w 236"/>
                <a:gd name="T83" fmla="*/ 63 h 236"/>
                <a:gd name="T84" fmla="*/ 181 w 236"/>
                <a:gd name="T85" fmla="*/ 17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6" h="236">
                  <a:moveTo>
                    <a:pt x="74" y="160"/>
                  </a:moveTo>
                  <a:cubicBezTo>
                    <a:pt x="93" y="160"/>
                    <a:pt x="93" y="160"/>
                    <a:pt x="93" y="160"/>
                  </a:cubicBezTo>
                  <a:cubicBezTo>
                    <a:pt x="93" y="103"/>
                    <a:pt x="93" y="103"/>
                    <a:pt x="93" y="103"/>
                  </a:cubicBezTo>
                  <a:cubicBezTo>
                    <a:pt x="74" y="103"/>
                    <a:pt x="74" y="103"/>
                    <a:pt x="74" y="103"/>
                  </a:cubicBezTo>
                  <a:lnTo>
                    <a:pt x="74" y="160"/>
                  </a:lnTo>
                  <a:close/>
                  <a:moveTo>
                    <a:pt x="140" y="102"/>
                  </a:moveTo>
                  <a:cubicBezTo>
                    <a:pt x="129" y="102"/>
                    <a:pt x="125" y="107"/>
                    <a:pt x="122" y="111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04" y="108"/>
                    <a:pt x="103" y="160"/>
                    <a:pt x="103" y="160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2" y="127"/>
                    <a:pt x="123" y="125"/>
                    <a:pt x="123" y="124"/>
                  </a:cubicBezTo>
                  <a:cubicBezTo>
                    <a:pt x="124" y="120"/>
                    <a:pt x="128" y="117"/>
                    <a:pt x="133" y="117"/>
                  </a:cubicBezTo>
                  <a:cubicBezTo>
                    <a:pt x="140" y="117"/>
                    <a:pt x="142" y="122"/>
                    <a:pt x="142" y="13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1" y="127"/>
                    <a:pt x="161" y="127"/>
                    <a:pt x="161" y="127"/>
                  </a:cubicBezTo>
                  <a:cubicBezTo>
                    <a:pt x="161" y="110"/>
                    <a:pt x="152" y="102"/>
                    <a:pt x="140" y="102"/>
                  </a:cubicBezTo>
                  <a:close/>
                  <a:moveTo>
                    <a:pt x="122" y="111"/>
                  </a:moveTo>
                  <a:cubicBezTo>
                    <a:pt x="122" y="111"/>
                    <a:pt x="122" y="111"/>
                    <a:pt x="122" y="111"/>
                  </a:cubicBezTo>
                  <a:cubicBezTo>
                    <a:pt x="122" y="111"/>
                    <a:pt x="122" y="111"/>
                    <a:pt x="122" y="111"/>
                  </a:cubicBezTo>
                  <a:close/>
                  <a:moveTo>
                    <a:pt x="83" y="75"/>
                  </a:moveTo>
                  <a:cubicBezTo>
                    <a:pt x="77" y="75"/>
                    <a:pt x="73" y="80"/>
                    <a:pt x="73" y="85"/>
                  </a:cubicBezTo>
                  <a:cubicBezTo>
                    <a:pt x="73" y="91"/>
                    <a:pt x="77" y="95"/>
                    <a:pt x="83" y="95"/>
                  </a:cubicBezTo>
                  <a:cubicBezTo>
                    <a:pt x="83" y="95"/>
                    <a:pt x="83" y="95"/>
                    <a:pt x="83" y="95"/>
                  </a:cubicBezTo>
                  <a:cubicBezTo>
                    <a:pt x="90" y="95"/>
                    <a:pt x="94" y="91"/>
                    <a:pt x="94" y="85"/>
                  </a:cubicBezTo>
                  <a:cubicBezTo>
                    <a:pt x="94" y="80"/>
                    <a:pt x="90" y="75"/>
                    <a:pt x="83" y="75"/>
                  </a:cubicBez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1" y="172"/>
                  </a:moveTo>
                  <a:cubicBezTo>
                    <a:pt x="181" y="177"/>
                    <a:pt x="176" y="181"/>
                    <a:pt x="171" y="181"/>
                  </a:cubicBezTo>
                  <a:cubicBezTo>
                    <a:pt x="64" y="181"/>
                    <a:pt x="64" y="181"/>
                    <a:pt x="64" y="181"/>
                  </a:cubicBezTo>
                  <a:cubicBezTo>
                    <a:pt x="59" y="181"/>
                    <a:pt x="55" y="177"/>
                    <a:pt x="55" y="172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58"/>
                    <a:pt x="59" y="54"/>
                    <a:pt x="64" y="54"/>
                  </a:cubicBezTo>
                  <a:cubicBezTo>
                    <a:pt x="171" y="54"/>
                    <a:pt x="171" y="54"/>
                    <a:pt x="171" y="54"/>
                  </a:cubicBezTo>
                  <a:cubicBezTo>
                    <a:pt x="176" y="54"/>
                    <a:pt x="181" y="58"/>
                    <a:pt x="181" y="63"/>
                  </a:cubicBezTo>
                  <a:cubicBezTo>
                    <a:pt x="181" y="172"/>
                    <a:pt x="181" y="172"/>
                    <a:pt x="181" y="172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9" name="Rectangle 1027"/>
          <p:cNvSpPr txBox="1">
            <a:spLocks noChangeArrowheads="1"/>
          </p:cNvSpPr>
          <p:nvPr/>
        </p:nvSpPr>
        <p:spPr bwMode="auto">
          <a:xfrm>
            <a:off x="2522060" y="3028851"/>
            <a:ext cx="1899964" cy="1542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可读性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kern="0" dirty="0">
                <a:ea typeface="+mn-ea"/>
                <a:cs typeface="+mn-ea"/>
                <a:sym typeface="+mn-lt"/>
              </a:rPr>
              <a:t>容易阅读和理解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0" name="Rectangle 1027"/>
          <p:cNvSpPr txBox="1">
            <a:spLocks noChangeArrowheads="1"/>
          </p:cNvSpPr>
          <p:nvPr/>
        </p:nvSpPr>
        <p:spPr bwMode="auto">
          <a:xfrm>
            <a:off x="4904285" y="3028851"/>
            <a:ext cx="1899963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健壮性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9BBB59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kern="0" dirty="0">
                <a:ea typeface="+mn-ea"/>
                <a:cs typeface="+mn-ea"/>
                <a:sym typeface="+mn-lt"/>
              </a:rPr>
              <a:t>容错处理。当输入数据非法时，能适当地反应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1" name="Rectangle 1027"/>
          <p:cNvSpPr txBox="1">
            <a:spLocks noChangeArrowheads="1"/>
          </p:cNvSpPr>
          <p:nvPr/>
        </p:nvSpPr>
        <p:spPr bwMode="auto">
          <a:xfrm>
            <a:off x="7286509" y="3028851"/>
            <a:ext cx="1511837" cy="176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高效性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8064A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时间代价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CC00"/>
              </a:buClr>
              <a:buSzPct val="50000"/>
              <a:buFontTx/>
              <a:buNone/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空间代价</a:t>
            </a:r>
          </a:p>
        </p:txBody>
      </p:sp>
    </p:spTree>
  </p:cSld>
  <p:clrMapOvr>
    <a:masterClrMapping/>
  </p:clrMapOvr>
  <p:transition>
    <p:spli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0837B-573A-4508-9F9E-A536769A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算法的正确性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A6E9F-143A-4CC9-8F5A-FD8016C94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" y="764704"/>
            <a:ext cx="8892480" cy="574288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实际是“程序”的正确性。分四个层次：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．程序中不含语法错误；</a:t>
            </a:r>
          </a:p>
          <a:p>
            <a:pPr marL="28575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．程序对于几组输入数据能够得出满足规格说明要求的结果；</a:t>
            </a:r>
          </a:p>
          <a:p>
            <a:pPr marL="285750" lvl="1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．</a:t>
            </a:r>
            <a:r>
              <a:rPr lang="zh-CN" altLang="en-US" dirty="0">
                <a:solidFill>
                  <a:srgbClr val="0000FF"/>
                </a:solidFill>
              </a:rPr>
              <a:t>程序对于精心选择的、典型、苛刻且带有刁难性的几组输入数据能够得出满足要求的结果</a:t>
            </a:r>
            <a:r>
              <a:rPr lang="zh-CN" altLang="en-US" dirty="0"/>
              <a:t>；（</a:t>
            </a:r>
            <a:r>
              <a:rPr lang="zh-CN" altLang="en-US" dirty="0">
                <a:solidFill>
                  <a:srgbClr val="0000FF"/>
                </a:solidFill>
              </a:rPr>
              <a:t>边界测试</a:t>
            </a:r>
            <a:r>
              <a:rPr lang="zh-CN" altLang="en-US" dirty="0"/>
              <a:t>）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  <a:sym typeface="Wingdings"/>
              </a:rPr>
              <a:t> </a:t>
            </a:r>
            <a:endParaRPr lang="zh-CN" altLang="en-US" dirty="0"/>
          </a:p>
          <a:p>
            <a:pPr marL="285750" lvl="1" indent="0">
              <a:buNone/>
            </a:pPr>
            <a:r>
              <a:rPr lang="en-US" altLang="zh-CN" dirty="0"/>
              <a:t>d</a:t>
            </a:r>
            <a:r>
              <a:rPr lang="zh-CN" altLang="en-US" dirty="0"/>
              <a:t>．程序对于一切合法的输入数据都能得出满足要求的结果；</a:t>
            </a:r>
          </a:p>
          <a:p>
            <a:pPr marL="0" marR="0" lvl="0" indent="0" algn="l" defTabSz="914400" rtl="0" eaLnBrk="0" fontAlgn="base" latinLnBrk="0" hangingPunct="0"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程序的正确性实际只能依赖于测试，人工测试和自动化的测试。一切合法的数据往往是个无穷集合，或者极为庞大，没有办法穷举出来。</a:t>
            </a:r>
          </a:p>
        </p:txBody>
      </p:sp>
    </p:spTree>
    <p:extLst>
      <p:ext uri="{BB962C8B-B14F-4D97-AF65-F5344CB8AC3E}">
        <p14:creationId xmlns:p14="http://schemas.microsoft.com/office/powerpoint/2010/main" val="2916496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42B3F-E6D2-4F1F-B697-4A9825AC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算法的性能分析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BC908C-6CEC-4DF3-9AC5-7C84D084C32E}"/>
              </a:ext>
            </a:extLst>
          </p:cNvPr>
          <p:cNvSpPr txBox="1"/>
          <p:nvPr/>
        </p:nvSpPr>
        <p:spPr>
          <a:xfrm>
            <a:off x="203400" y="2545904"/>
            <a:ext cx="3505922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分析算法占用的资源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979270A5-99A7-4C8A-BA26-F14440D6E1EA}"/>
              </a:ext>
            </a:extLst>
          </p:cNvPr>
          <p:cNvSpPr/>
          <p:nvPr/>
        </p:nvSpPr>
        <p:spPr bwMode="auto">
          <a:xfrm>
            <a:off x="3676808" y="2157203"/>
            <a:ext cx="214314" cy="1214446"/>
          </a:xfrm>
          <a:prstGeom prst="leftBrace">
            <a:avLst/>
          </a:prstGeom>
          <a:ln>
            <a:solidFill>
              <a:srgbClr val="F39801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Consolas" pitchFamily="49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2A2F26C-FAAB-44DB-9861-A648902C5907}"/>
              </a:ext>
            </a:extLst>
          </p:cNvPr>
          <p:cNvSpPr txBox="1"/>
          <p:nvPr/>
        </p:nvSpPr>
        <p:spPr>
          <a:xfrm>
            <a:off x="3957354" y="1960240"/>
            <a:ext cx="1640737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CPU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时间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4BAB8BA-BD7F-47AA-81C8-21AAD64010D3}"/>
              </a:ext>
            </a:extLst>
          </p:cNvPr>
          <p:cNvSpPr txBox="1"/>
          <p:nvPr/>
        </p:nvSpPr>
        <p:spPr>
          <a:xfrm>
            <a:off x="3918396" y="3151454"/>
            <a:ext cx="1640737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内存空间</a:t>
            </a:r>
          </a:p>
        </p:txBody>
      </p:sp>
      <p:grpSp>
        <p:nvGrpSpPr>
          <p:cNvPr id="8" name="组合 12">
            <a:extLst>
              <a:ext uri="{FF2B5EF4-FFF2-40B4-BE49-F238E27FC236}">
                <a16:creationId xmlns:a16="http://schemas.microsoft.com/office/drawing/2014/main" id="{822793BA-D6F2-48C1-BCF4-12F2C5099255}"/>
              </a:ext>
            </a:extLst>
          </p:cNvPr>
          <p:cNvGrpSpPr/>
          <p:nvPr/>
        </p:nvGrpSpPr>
        <p:grpSpPr>
          <a:xfrm>
            <a:off x="5528991" y="1938098"/>
            <a:ext cx="3209948" cy="437043"/>
            <a:chOff x="5429256" y="2297104"/>
            <a:chExt cx="3209948" cy="437043"/>
          </a:xfrm>
        </p:grpSpPr>
        <p:sp>
          <p:nvSpPr>
            <p:cNvPr id="9" name="右箭头 8">
              <a:extLst>
                <a:ext uri="{FF2B5EF4-FFF2-40B4-BE49-F238E27FC236}">
                  <a16:creationId xmlns:a16="http://schemas.microsoft.com/office/drawing/2014/main" id="{C956EA89-6178-4FF6-9154-9C3ED52B39DC}"/>
                </a:ext>
              </a:extLst>
            </p:cNvPr>
            <p:cNvSpPr/>
            <p:nvPr/>
          </p:nvSpPr>
          <p:spPr>
            <a:xfrm>
              <a:off x="5429256" y="2357430"/>
              <a:ext cx="571504" cy="285752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Consolas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F5D5BA-AA3E-47DF-ACAC-5A23E17347D4}"/>
                </a:ext>
              </a:extLst>
            </p:cNvPr>
            <p:cNvSpPr txBox="1"/>
            <p:nvPr/>
          </p:nvSpPr>
          <p:spPr>
            <a:xfrm>
              <a:off x="6067436" y="2297104"/>
              <a:ext cx="25717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Consolas" pitchFamily="49" charset="0"/>
                </a:rPr>
                <a:t>时间性能分析</a:t>
              </a:r>
            </a:p>
          </p:txBody>
        </p:sp>
      </p:grpSp>
      <p:grpSp>
        <p:nvGrpSpPr>
          <p:cNvPr id="11" name="组合 13">
            <a:extLst>
              <a:ext uri="{FF2B5EF4-FFF2-40B4-BE49-F238E27FC236}">
                <a16:creationId xmlns:a16="http://schemas.microsoft.com/office/drawing/2014/main" id="{60A06A7C-658A-406D-B49C-2A5941C9C62D}"/>
              </a:ext>
            </a:extLst>
          </p:cNvPr>
          <p:cNvGrpSpPr/>
          <p:nvPr/>
        </p:nvGrpSpPr>
        <p:grpSpPr>
          <a:xfrm>
            <a:off x="5528991" y="3151115"/>
            <a:ext cx="3219473" cy="437043"/>
            <a:chOff x="5429256" y="3249611"/>
            <a:chExt cx="3219473" cy="437043"/>
          </a:xfrm>
        </p:grpSpPr>
        <p:sp>
          <p:nvSpPr>
            <p:cNvPr id="12" name="右箭头 10">
              <a:extLst>
                <a:ext uri="{FF2B5EF4-FFF2-40B4-BE49-F238E27FC236}">
                  <a16:creationId xmlns:a16="http://schemas.microsoft.com/office/drawing/2014/main" id="{1C4003AB-E9BF-4988-A8E4-D2551BB92A78}"/>
                </a:ext>
              </a:extLst>
            </p:cNvPr>
            <p:cNvSpPr/>
            <p:nvPr/>
          </p:nvSpPr>
          <p:spPr>
            <a:xfrm>
              <a:off x="5429256" y="3294062"/>
              <a:ext cx="571504" cy="285752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Consolas" pitchFamily="49" charset="0"/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9724E73A-6556-43F8-B9A5-A8DE3457737B}"/>
                </a:ext>
              </a:extLst>
            </p:cNvPr>
            <p:cNvSpPr txBox="1"/>
            <p:nvPr/>
          </p:nvSpPr>
          <p:spPr>
            <a:xfrm>
              <a:off x="6076961" y="3249611"/>
              <a:ext cx="2571768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Consolas" pitchFamily="49" charset="0"/>
                </a:rPr>
                <a:t>空间性能分析</a:t>
              </a:r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D000DF6-F2A5-49BE-941D-D95EED5375B2}"/>
              </a:ext>
            </a:extLst>
          </p:cNvPr>
          <p:cNvSpPr txBox="1"/>
          <p:nvPr/>
        </p:nvSpPr>
        <p:spPr>
          <a:xfrm>
            <a:off x="444548" y="4423508"/>
            <a:ext cx="8254903" cy="1408124"/>
          </a:xfrm>
          <a:prstGeom prst="rect">
            <a:avLst/>
          </a:prstGeom>
          <a:noFill/>
          <a:ln w="28575">
            <a:solidFill>
              <a:schemeClr val="accent6">
                <a:shade val="95000"/>
                <a:satMod val="105000"/>
              </a:schemeClr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14400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itchFamily="49" charset="0"/>
              </a:rPr>
              <a:t>算法分析目的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Consolas" pitchFamily="49" charset="0"/>
              </a:rPr>
              <a:t>：分析算法的时空效率，以便改进算法性能。</a:t>
            </a:r>
          </a:p>
        </p:txBody>
      </p:sp>
    </p:spTree>
    <p:extLst>
      <p:ext uri="{BB962C8B-B14F-4D97-AF65-F5344CB8AC3E}">
        <p14:creationId xmlns:p14="http://schemas.microsoft.com/office/powerpoint/2010/main" val="79168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7A50C-0924-483C-B6B4-B44358AE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算法比较示例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5EBC794-D273-4340-9DF8-571924740890}"/>
              </a:ext>
            </a:extLst>
          </p:cNvPr>
          <p:cNvSpPr txBox="1"/>
          <p:nvPr/>
        </p:nvSpPr>
        <p:spPr>
          <a:xfrm>
            <a:off x="138461" y="741003"/>
            <a:ext cx="8867077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设计一个算法求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1+(1+2)+(1+2+3)+…+(1+2+3+…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。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2A64CC9-166F-4011-8391-3951A31D930E}"/>
              </a:ext>
            </a:extLst>
          </p:cNvPr>
          <p:cNvSpPr txBox="1"/>
          <p:nvPr/>
        </p:nvSpPr>
        <p:spPr>
          <a:xfrm>
            <a:off x="99544" y="1640518"/>
            <a:ext cx="4608205" cy="4109487"/>
          </a:xfrm>
          <a:prstGeom prst="rect">
            <a:avLst/>
          </a:prstGeom>
          <a:solidFill>
            <a:srgbClr val="F2F2F2"/>
          </a:solidFill>
          <a:ln w="25400">
            <a:solidFill>
              <a:srgbClr val="F3980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int sum=0;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for (int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 for (int j=1;j&lt;=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i;j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 += j;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return sum;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FC93AA10-5584-44B1-8512-D5C3278C5FD4}"/>
              </a:ext>
            </a:extLst>
          </p:cNvPr>
          <p:cNvSpPr txBox="1"/>
          <p:nvPr/>
        </p:nvSpPr>
        <p:spPr>
          <a:xfrm>
            <a:off x="4771957" y="1640518"/>
            <a:ext cx="4272499" cy="4109487"/>
          </a:xfrm>
          <a:prstGeom prst="rect">
            <a:avLst/>
          </a:prstGeom>
          <a:solidFill>
            <a:srgbClr val="F2F2F2"/>
          </a:solidFill>
          <a:ln w="25400">
            <a:solidFill>
              <a:srgbClr val="F3980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int sum=0, s=0;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for (int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{ s +=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 sum += s;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return sum;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309DD2E2-8C49-4A93-B472-4BFE2D5773D2}"/>
              </a:ext>
            </a:extLst>
          </p:cNvPr>
          <p:cNvSpPr txBox="1"/>
          <p:nvPr/>
        </p:nvSpPr>
        <p:spPr>
          <a:xfrm>
            <a:off x="1575554" y="5986966"/>
            <a:ext cx="1656184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两重循环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1A869B91-813F-4828-B789-412CBCC4354B}"/>
              </a:ext>
            </a:extLst>
          </p:cNvPr>
          <p:cNvSpPr txBox="1"/>
          <p:nvPr/>
        </p:nvSpPr>
        <p:spPr>
          <a:xfrm>
            <a:off x="6080114" y="5986966"/>
            <a:ext cx="1656184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一重循环</a:t>
            </a:r>
          </a:p>
        </p:txBody>
      </p:sp>
    </p:spTree>
    <p:extLst>
      <p:ext uri="{BB962C8B-B14F-4D97-AF65-F5344CB8AC3E}">
        <p14:creationId xmlns:p14="http://schemas.microsoft.com/office/powerpoint/2010/main" val="63710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0"/>
          <p:cNvSpPr>
            <a:spLocks noChangeArrowheads="1"/>
          </p:cNvSpPr>
          <p:nvPr/>
        </p:nvSpPr>
        <p:spPr bwMode="auto">
          <a:xfrm>
            <a:off x="827088" y="215900"/>
            <a:ext cx="7850188" cy="5492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算法分析方式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E724C7EF-437C-4101-8065-CA4807C4C52B}"/>
              </a:ext>
            </a:extLst>
          </p:cNvPr>
          <p:cNvSpPr txBox="1"/>
          <p:nvPr/>
        </p:nvSpPr>
        <p:spPr>
          <a:xfrm>
            <a:off x="179512" y="872541"/>
            <a:ext cx="8625693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39801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  <a:sym typeface="Wingdings"/>
              </a:rPr>
              <a:t>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rPr>
              <a:t>事后统计法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rPr>
              <a:t>：编写算法对应程序，统计其执行时间。例如，使用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rPr>
              <a:t>time</a:t>
            </a: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()</a:t>
            </a:r>
            <a:r>
              <a:rPr kumimoji="1" lang="zh-CN" altLang="en-US" dirty="0">
                <a:solidFill>
                  <a:prstClr val="black"/>
                </a:solidFill>
                <a:latin typeface="+mn-ea"/>
                <a:ea typeface="+mn-ea"/>
                <a:cs typeface="Times New Roman" pitchFamily="18" charset="0"/>
              </a:rPr>
              <a:t>函数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0DC2BC07-D678-43D4-A9BA-ED0B964F9AA5}"/>
              </a:ext>
            </a:extLst>
          </p:cNvPr>
          <p:cNvSpPr txBox="1"/>
          <p:nvPr/>
        </p:nvSpPr>
        <p:spPr>
          <a:xfrm>
            <a:off x="179512" y="5301208"/>
            <a:ext cx="8625693" cy="130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39801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  <a:sym typeface="Wingdings"/>
              </a:rPr>
              <a:t>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  <a:sym typeface="Wingdings"/>
              </a:rPr>
              <a:t>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事前估算法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：撇开上述因素，认为算法的执行时间是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问题规模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的函数。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  <a:sym typeface="Wingdings"/>
              </a:rPr>
              <a:t>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</p:txBody>
      </p:sp>
      <p:grpSp>
        <p:nvGrpSpPr>
          <p:cNvPr id="28" name="组合 9">
            <a:extLst>
              <a:ext uri="{FF2B5EF4-FFF2-40B4-BE49-F238E27FC236}">
                <a16:creationId xmlns:a16="http://schemas.microsoft.com/office/drawing/2014/main" id="{1199AA97-1368-4862-9DDA-23700FF242FA}"/>
              </a:ext>
            </a:extLst>
          </p:cNvPr>
          <p:cNvGrpSpPr/>
          <p:nvPr/>
        </p:nvGrpSpPr>
        <p:grpSpPr>
          <a:xfrm>
            <a:off x="683568" y="2428090"/>
            <a:ext cx="7993708" cy="2511879"/>
            <a:chOff x="785786" y="1939424"/>
            <a:chExt cx="6461504" cy="2511879"/>
          </a:xfrm>
        </p:grpSpPr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C97B415D-92CB-43DF-83C1-674986006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786" y="1939424"/>
              <a:ext cx="3500462" cy="2511879"/>
            </a:xfrm>
            <a:prstGeom prst="rect">
              <a:avLst/>
            </a:prstGeom>
            <a:solidFill>
              <a:srgbClr val="FBFDFC"/>
            </a:solidFill>
            <a:ln>
              <a:solidFill>
                <a:srgbClr val="F39801"/>
              </a:solidFill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108000" bIns="108000">
              <a:spAutoFit/>
            </a:bodyPr>
            <a:lstStyle/>
            <a:p>
              <a:pPr marL="457200" marR="0" lvl="0" indent="-457200" algn="just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39801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Times New Roman" pitchFamily="18" charset="0"/>
                </a:rPr>
                <a:t>编写程序的语言不同</a:t>
              </a:r>
            </a:p>
            <a:p>
              <a:pPr marL="457200" marR="0" lvl="0" indent="-457200" algn="just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39801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Times New Roman" pitchFamily="18" charset="0"/>
                </a:rPr>
                <a:t>执行程序的环境不同</a:t>
              </a:r>
            </a:p>
            <a:p>
              <a:pPr marL="457200" marR="0" lvl="0" indent="-457200" algn="just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39801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Times New Roman" pitchFamily="18" charset="0"/>
                </a:rPr>
                <a:t>其他因素</a:t>
              </a:r>
            </a:p>
          </p:txBody>
        </p: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590EB34C-BE34-4CA9-AC27-50D24EDB0353}"/>
                </a:ext>
              </a:extLst>
            </p:cNvPr>
            <p:cNvSpPr txBox="1"/>
            <p:nvPr/>
          </p:nvSpPr>
          <p:spPr>
            <a:xfrm>
              <a:off x="4743779" y="2540921"/>
              <a:ext cx="2503511" cy="13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所以不能用</a:t>
              </a: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绝对执行时间</a:t>
              </a:r>
              <a:r>
                <a:rPr kumimoji="1" lang="zh-CN" altLang="en-US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进行比较。</a:t>
              </a:r>
            </a:p>
          </p:txBody>
        </p:sp>
        <p:sp>
          <p:nvSpPr>
            <p:cNvPr id="31" name="右大括号 30">
              <a:extLst>
                <a:ext uri="{FF2B5EF4-FFF2-40B4-BE49-F238E27FC236}">
                  <a16:creationId xmlns:a16="http://schemas.microsoft.com/office/drawing/2014/main" id="{D3786280-9D91-4D06-84A2-CC431BF58F22}"/>
                </a:ext>
              </a:extLst>
            </p:cNvPr>
            <p:cNvSpPr/>
            <p:nvPr/>
          </p:nvSpPr>
          <p:spPr>
            <a:xfrm>
              <a:off x="4357686" y="2018597"/>
              <a:ext cx="269681" cy="2376264"/>
            </a:xfrm>
            <a:prstGeom prst="rightBrace">
              <a:avLst/>
            </a:prstGeom>
            <a:ln>
              <a:solidFill>
                <a:srgbClr val="F39801"/>
              </a:solidFill>
              <a:tailEnd type="non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2" name="圆角矩形标注 8">
            <a:extLst>
              <a:ext uri="{FF2B5EF4-FFF2-40B4-BE49-F238E27FC236}">
                <a16:creationId xmlns:a16="http://schemas.microsoft.com/office/drawing/2014/main" id="{8700AD5B-6109-424C-A7E6-715906391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2181426"/>
            <a:ext cx="4517622" cy="4460674"/>
          </a:xfrm>
          <a:prstGeom prst="wedgeRoundRectCallout">
            <a:avLst>
              <a:gd name="adj1" fmla="val -83386"/>
              <a:gd name="adj2" fmla="val 40644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越大算法的执行时间越长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排序：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为记录数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矩阵：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为矩阵的阶数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多项式：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为多项式的项数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集合：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为元素个数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树：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为树的结点个数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图：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为图的顶点数或边数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F62E5-667C-493E-957B-2B5621CC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算法运行时间的估算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349EF1-DF54-41C0-A91C-B97A9317F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60" y="908720"/>
            <a:ext cx="8892480" cy="5731079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运行时间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= </a:t>
            </a:r>
            <a:r>
              <a:rPr lang="zh-CN" altLang="en-US" dirty="0">
                <a:latin typeface="+mn-ea"/>
                <a:ea typeface="+mn-ea"/>
              </a:rPr>
              <a:t>算法中每条语句执行时间之和。</a:t>
            </a:r>
          </a:p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每条语句执行时间 </a:t>
            </a:r>
            <a:r>
              <a:rPr lang="en-US" altLang="zh-CN" dirty="0">
                <a:latin typeface="+mn-ea"/>
                <a:ea typeface="+mn-ea"/>
              </a:rPr>
              <a:t>= </a:t>
            </a:r>
            <a:r>
              <a:rPr lang="zh-CN" altLang="en-US" dirty="0">
                <a:latin typeface="+mn-ea"/>
                <a:ea typeface="+mn-ea"/>
              </a:rPr>
              <a:t>该语句的执行次数 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频度</a:t>
            </a:r>
            <a:r>
              <a:rPr lang="en-US" altLang="zh-CN" dirty="0">
                <a:latin typeface="+mn-ea"/>
                <a:ea typeface="+mn-ea"/>
              </a:rPr>
              <a:t>)×</a:t>
            </a:r>
            <a:r>
              <a:rPr lang="zh-CN" altLang="en-US" dirty="0">
                <a:latin typeface="+mn-ea"/>
                <a:ea typeface="+mn-ea"/>
              </a:rPr>
              <a:t>语句执行一次所需时间。</a:t>
            </a:r>
          </a:p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语句执行一次所需时间</a:t>
            </a:r>
            <a:r>
              <a:rPr lang="zh-CN" altLang="en-US" dirty="0">
                <a:latin typeface="+mn-ea"/>
                <a:ea typeface="+mn-ea"/>
              </a:rPr>
              <a:t>取决于机器的指令性能和速度和编译所产生的代码质量，很难确定。</a:t>
            </a:r>
          </a:p>
          <a:p>
            <a:r>
              <a:rPr lang="zh-CN" altLang="en-US" dirty="0">
                <a:latin typeface="+mn-ea"/>
                <a:ea typeface="+mn-ea"/>
              </a:rPr>
              <a:t>设每条语句执行一次所需时间为单位时间，则一个算法的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运行时间</a:t>
            </a:r>
            <a:r>
              <a:rPr lang="zh-CN" altLang="en-US" dirty="0">
                <a:latin typeface="+mn-ea"/>
                <a:ea typeface="+mn-ea"/>
              </a:rPr>
              <a:t>就是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该算法中所有语句的频度之和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99796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4C52E-5C25-4E12-96B8-A1F2214A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算法的运行时间估算示例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A29D51C-EE8A-4B6D-B6E5-8234AAAA3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5070"/>
            <a:ext cx="9144000" cy="5796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r"/>
              <a:defRPr sz="2800" b="1">
                <a:solidFill>
                  <a:schemeClr val="bg2"/>
                </a:solidFill>
                <a:latin typeface="Times New Roman" pitchFamily="18" charset="0"/>
                <a:ea typeface="+mn-ea"/>
              </a:defRPr>
            </a:lvl2pPr>
            <a:lvl3pPr marL="1143000" indent="-228600" algn="l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Ø"/>
              <a:defRPr sz="2800" b="1">
                <a:solidFill>
                  <a:schemeClr val="bg2"/>
                </a:solidFill>
                <a:latin typeface="Times New Roman" pitchFamily="18" charset="0"/>
                <a:ea typeface="+mn-ea"/>
              </a:defRPr>
            </a:lvl3pPr>
            <a:lvl4pPr marL="1600200" indent="-228600" algn="l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rgbClr val="660066"/>
              </a:buClr>
              <a:buSzPct val="55000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例：求两个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n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阶方阵的乘积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C = 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B</a:t>
            </a:r>
            <a:endParaRPr kumimoji="1" lang="en-US" altLang="zh-CN" b="0" kern="0" dirty="0">
              <a:solidFill>
                <a:schemeClr val="tx1"/>
              </a:solidFill>
              <a:latin typeface="+mn-ea"/>
            </a:endParaRP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void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MatrixMultiply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(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int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A[ ][ ],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int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B[ ][ ],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int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C[ ][ ],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int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n)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{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   for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(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int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= 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&lt; 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++ )	                 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… 2n+2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       for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(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int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j = 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j &lt; 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j++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{	       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… n(2n+2)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   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C[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][j] = 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                                      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… n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2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           for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(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int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k = 0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k &lt; 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k++ )    	       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… n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(2n+2)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               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C[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][j] = C[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][j] + A[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][k] * B[k][j]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;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… n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3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kern="0" dirty="0">
                <a:solidFill>
                  <a:srgbClr val="000099"/>
                </a:solidFill>
                <a:latin typeface="Times New Roman" panose="02020603050405020304" pitchFamily="18" charset="0"/>
                <a:ea typeface="仿宋_GB2312"/>
              </a:rPr>
              <a:t>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}</a:t>
            </a:r>
          </a:p>
          <a:p>
            <a:pPr marL="3240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60066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+mn-cs"/>
              </a:rPr>
              <a:t>}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pitchFamily="18" charset="0"/>
              <a:ea typeface="仿宋_GB2312"/>
              <a:cs typeface="+mn-cs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A539592C-2995-4CF3-9858-A4943943D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41276" y="5630480"/>
            <a:ext cx="2751204" cy="1971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2D17EF0B-FF5B-495C-8535-35BB11F62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6418" y="5733256"/>
            <a:ext cx="28985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+ 5n</a:t>
            </a:r>
            <a:r>
              <a:rPr kumimoji="1" lang="en-US" altLang="zh-CN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+ 4n + 2</a:t>
            </a:r>
            <a:endParaRPr kumimoji="1"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0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9ECAB-30B2-4D84-A23F-4098A83C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渐进时间复杂度，大</a:t>
            </a:r>
            <a:r>
              <a:rPr lang="en-US" altLang="zh-CN" dirty="0"/>
              <a:t>O</a:t>
            </a:r>
            <a:r>
              <a:rPr lang="zh-CN" altLang="en-US" dirty="0"/>
              <a:t>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2C5B5-A911-4BC1-9772-D580D2690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908720"/>
            <a:ext cx="8640959" cy="5472112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算法中所有语句的频度之和是矩阵阶数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n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的函数</a:t>
            </a:r>
            <a:r>
              <a:rPr lang="zh-CN" altLang="en-US" dirty="0">
                <a:latin typeface="+mn-ea"/>
                <a:ea typeface="+mn-ea"/>
              </a:rPr>
              <a:t>，称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是问题的规模。则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时间复杂度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T(n) </a:t>
            </a:r>
            <a:r>
              <a:rPr lang="zh-CN" altLang="en-US" dirty="0">
                <a:latin typeface="+mn-ea"/>
                <a:ea typeface="+mn-ea"/>
              </a:rPr>
              <a:t>是问题规模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的函数。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         </a:t>
            </a:r>
            <a:r>
              <a:rPr lang="en-US" altLang="zh-CN" dirty="0">
                <a:latin typeface="+mn-ea"/>
                <a:ea typeface="+mn-ea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T(n) = 3n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+ 5n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 + 4n +2</a:t>
            </a:r>
          </a:p>
          <a:p>
            <a:r>
              <a:rPr lang="zh-CN" altLang="en-US" dirty="0">
                <a:latin typeface="+mn-ea"/>
                <a:ea typeface="+mn-ea"/>
              </a:rPr>
              <a:t>当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趋于无穷大时，把时间复杂度的数量级（阶）称为算法的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渐进时间复杂度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         </a:t>
            </a:r>
            <a:r>
              <a:rPr lang="en-US" altLang="zh-CN" dirty="0">
                <a:latin typeface="+mn-ea"/>
                <a:ea typeface="+mn-ea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T(n) = O(n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             </a:t>
            </a:r>
            <a:r>
              <a:rPr lang="en-US" altLang="zh-CN" dirty="0">
                <a:latin typeface="+mn-ea"/>
                <a:ea typeface="+mn-ea"/>
              </a:rPr>
              <a:t>---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大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O 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表示法</a:t>
            </a:r>
          </a:p>
          <a:p>
            <a:r>
              <a:rPr lang="zh-CN" altLang="en-US" dirty="0">
                <a:latin typeface="+mn-ea"/>
                <a:ea typeface="+mn-ea"/>
              </a:rPr>
              <a:t>大</a:t>
            </a:r>
            <a:r>
              <a:rPr lang="en-US" altLang="zh-CN" dirty="0">
                <a:latin typeface="+mn-ea"/>
                <a:ea typeface="+mn-ea"/>
              </a:rPr>
              <a:t>O </a:t>
            </a:r>
            <a:r>
              <a:rPr lang="zh-CN" altLang="en-US" dirty="0">
                <a:latin typeface="+mn-ea"/>
                <a:ea typeface="+mn-ea"/>
              </a:rPr>
              <a:t>表示法表明，当 </a:t>
            </a:r>
            <a:r>
              <a:rPr lang="en-US" altLang="zh-CN" dirty="0">
                <a:latin typeface="+mn-ea"/>
                <a:ea typeface="+mn-ea"/>
              </a:rPr>
              <a:t>n→∞ </a:t>
            </a:r>
            <a:r>
              <a:rPr lang="zh-CN" altLang="en-US" dirty="0">
                <a:latin typeface="+mn-ea"/>
                <a:ea typeface="+mn-ea"/>
              </a:rPr>
              <a:t>时 </a:t>
            </a:r>
            <a:r>
              <a:rPr lang="en-US" altLang="zh-CN" dirty="0">
                <a:latin typeface="+mn-ea"/>
                <a:ea typeface="+mn-ea"/>
              </a:rPr>
              <a:t>T(n) </a:t>
            </a:r>
            <a:r>
              <a:rPr lang="zh-CN" altLang="en-US" dirty="0">
                <a:latin typeface="+mn-ea"/>
                <a:ea typeface="+mn-ea"/>
              </a:rPr>
              <a:t>的变化趋势。</a:t>
            </a:r>
          </a:p>
        </p:txBody>
      </p:sp>
    </p:spTree>
    <p:extLst>
      <p:ext uri="{BB962C8B-B14F-4D97-AF65-F5344CB8AC3E}">
        <p14:creationId xmlns:p14="http://schemas.microsoft.com/office/powerpoint/2010/main" val="1851094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A9A7A-5117-417F-A715-7618423A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</a:t>
            </a:r>
            <a:r>
              <a:rPr lang="en-US" altLang="zh-CN" dirty="0"/>
              <a:t>O</a:t>
            </a:r>
            <a:r>
              <a:rPr lang="zh-CN" altLang="en-US" dirty="0"/>
              <a:t>表示法（</a:t>
            </a:r>
            <a:r>
              <a:rPr lang="en-US" altLang="zh-CN" dirty="0"/>
              <a:t>Big-O notation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AECEF-1B19-45C4-BE54-BF52C477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07152"/>
            <a:ext cx="8568951" cy="583264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当且仅当存在正常数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和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en-US" altLang="zh-CN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,  </a:t>
            </a:r>
            <a:r>
              <a:rPr lang="zh-CN" altLang="en-US" dirty="0">
                <a:latin typeface="+mn-ea"/>
                <a:ea typeface="+mn-ea"/>
              </a:rPr>
              <a:t>使得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T(n)≤c f(n) </a:t>
            </a:r>
            <a:r>
              <a:rPr lang="zh-CN" altLang="en-US" dirty="0">
                <a:latin typeface="+mn-ea"/>
                <a:ea typeface="+mn-ea"/>
              </a:rPr>
              <a:t>对所有 </a:t>
            </a:r>
            <a:r>
              <a:rPr lang="en-US" altLang="zh-CN" dirty="0">
                <a:latin typeface="+mn-ea"/>
                <a:ea typeface="+mn-ea"/>
              </a:rPr>
              <a:t>n≥n</a:t>
            </a:r>
            <a:r>
              <a:rPr lang="en-US" altLang="zh-CN" baseline="-25000" dirty="0"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都成立，则称 </a:t>
            </a:r>
            <a:r>
              <a:rPr lang="en-US" altLang="zh-CN" dirty="0">
                <a:latin typeface="+mn-ea"/>
                <a:ea typeface="+mn-ea"/>
              </a:rPr>
              <a:t>f(n) </a:t>
            </a:r>
            <a:r>
              <a:rPr lang="zh-CN" altLang="en-US" dirty="0">
                <a:latin typeface="+mn-ea"/>
                <a:ea typeface="+mn-ea"/>
              </a:rPr>
              <a:t>给出了 </a:t>
            </a:r>
            <a:r>
              <a:rPr lang="en-US" altLang="zh-CN" dirty="0">
                <a:latin typeface="+mn-ea"/>
                <a:ea typeface="+mn-ea"/>
              </a:rPr>
              <a:t>T(n) </a:t>
            </a:r>
            <a:r>
              <a:rPr lang="zh-CN" altLang="en-US" dirty="0">
                <a:latin typeface="+mn-ea"/>
                <a:ea typeface="+mn-ea"/>
              </a:rPr>
              <a:t>的 一个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上界</a:t>
            </a:r>
            <a:r>
              <a:rPr lang="zh-CN" altLang="en-US" dirty="0">
                <a:latin typeface="+mn-ea"/>
                <a:ea typeface="+mn-ea"/>
              </a:rPr>
              <a:t>。记为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T(n)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＝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O(f(n))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大</a:t>
            </a:r>
            <a:r>
              <a:rPr lang="en-US" altLang="zh-CN" dirty="0">
                <a:latin typeface="+mn-ea"/>
                <a:ea typeface="+mn-ea"/>
              </a:rPr>
              <a:t>O </a:t>
            </a:r>
            <a:r>
              <a:rPr lang="zh-CN" altLang="en-US" dirty="0">
                <a:latin typeface="+mn-ea"/>
                <a:ea typeface="+mn-ea"/>
              </a:rPr>
              <a:t>表示法是对算法效率的一种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保守估计</a:t>
            </a:r>
            <a:r>
              <a:rPr lang="zh-CN" altLang="en-US" dirty="0">
                <a:latin typeface="+mn-ea"/>
                <a:ea typeface="+mn-ea"/>
              </a:rPr>
              <a:t>，对于规模为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的任意输入，算法的运行时间都不会超过</a:t>
            </a:r>
            <a:r>
              <a:rPr lang="en-US" altLang="zh-CN" dirty="0">
                <a:latin typeface="+mn-ea"/>
                <a:ea typeface="+mn-ea"/>
              </a:rPr>
              <a:t>O(f(n))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  <a:p>
            <a:r>
              <a:rPr lang="zh-CN" altLang="en-US" dirty="0">
                <a:latin typeface="+mn-ea"/>
                <a:ea typeface="+mn-ea"/>
              </a:rPr>
              <a:t>性质：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T(n)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的增长率小于等于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f(n)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的增长率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常系数可忽略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en-US" altLang="zh-CN" dirty="0">
                <a:latin typeface="+mn-ea"/>
                <a:ea typeface="+mn-ea"/>
              </a:rPr>
              <a:t>O(f(n))  = O(c f(n))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低次项可忽略</a:t>
            </a:r>
            <a:r>
              <a:rPr lang="zh-CN" altLang="en-US" dirty="0">
                <a:latin typeface="+mn-ea"/>
                <a:ea typeface="+mn-ea"/>
              </a:rPr>
              <a:t>：</a:t>
            </a:r>
            <a:r>
              <a:rPr lang="en-US" altLang="zh-CN" dirty="0">
                <a:latin typeface="+mn-ea"/>
                <a:ea typeface="+mn-ea"/>
              </a:rPr>
              <a:t>O(</a:t>
            </a:r>
            <a:r>
              <a:rPr lang="en-US" altLang="zh-CN" dirty="0" err="1">
                <a:latin typeface="+mn-ea"/>
                <a:ea typeface="+mn-ea"/>
              </a:rPr>
              <a:t>n</a:t>
            </a:r>
            <a:r>
              <a:rPr lang="en-US" altLang="zh-CN" baseline="30000" dirty="0" err="1">
                <a:latin typeface="+mn-ea"/>
                <a:ea typeface="+mn-ea"/>
              </a:rPr>
              <a:t>a</a:t>
            </a:r>
            <a:r>
              <a:rPr lang="en-US" altLang="zh-CN" dirty="0">
                <a:latin typeface="+mn-ea"/>
                <a:ea typeface="+mn-ea"/>
              </a:rPr>
              <a:t> + </a:t>
            </a:r>
            <a:r>
              <a:rPr lang="en-US" altLang="zh-CN" dirty="0" err="1">
                <a:latin typeface="+mn-ea"/>
                <a:ea typeface="+mn-ea"/>
              </a:rPr>
              <a:t>n</a:t>
            </a:r>
            <a:r>
              <a:rPr lang="en-US" altLang="zh-CN" baseline="30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)  =  O(</a:t>
            </a:r>
            <a:r>
              <a:rPr lang="en-US" altLang="zh-CN" dirty="0" err="1">
                <a:latin typeface="+mn-ea"/>
                <a:ea typeface="+mn-ea"/>
              </a:rPr>
              <a:t>n</a:t>
            </a:r>
            <a:r>
              <a:rPr lang="en-US" altLang="zh-CN" baseline="30000" dirty="0" err="1">
                <a:latin typeface="+mn-ea"/>
                <a:ea typeface="+mn-ea"/>
              </a:rPr>
              <a:t>a</a:t>
            </a:r>
            <a:r>
              <a:rPr lang="en-US" altLang="zh-CN" dirty="0">
                <a:latin typeface="+mn-ea"/>
                <a:ea typeface="+mn-ea"/>
              </a:rPr>
              <a:t>),  a &gt; b</a:t>
            </a:r>
          </a:p>
          <a:p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41829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A9A7A-5117-417F-A715-7618423A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</a:t>
            </a:r>
            <a:r>
              <a:rPr lang="el-GR" altLang="zh-CN" dirty="0"/>
              <a:t>Ω</a:t>
            </a:r>
            <a:r>
              <a:rPr lang="zh-CN" altLang="en-US" dirty="0"/>
              <a:t>表示法（</a:t>
            </a:r>
            <a:r>
              <a:rPr lang="en-US" altLang="zh-CN" dirty="0"/>
              <a:t>Big-</a:t>
            </a:r>
            <a:r>
              <a:rPr lang="el-GR" altLang="zh-CN" dirty="0"/>
              <a:t>Ω</a:t>
            </a:r>
            <a:r>
              <a:rPr lang="en-US" altLang="zh-CN" dirty="0"/>
              <a:t> notation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AECEF-1B19-45C4-BE54-BF52C477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07152"/>
            <a:ext cx="8568951" cy="583264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当且仅当存在正常数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和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en-US" altLang="zh-CN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,  </a:t>
            </a:r>
            <a:r>
              <a:rPr lang="zh-CN" altLang="en-US" dirty="0">
                <a:latin typeface="+mn-ea"/>
                <a:ea typeface="+mn-ea"/>
              </a:rPr>
              <a:t>使得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T(n)≥c g(n) </a:t>
            </a:r>
            <a:r>
              <a:rPr lang="zh-CN" altLang="en-US" dirty="0">
                <a:latin typeface="+mn-ea"/>
                <a:ea typeface="+mn-ea"/>
              </a:rPr>
              <a:t>对所有 </a:t>
            </a:r>
            <a:r>
              <a:rPr lang="en-US" altLang="zh-CN" dirty="0">
                <a:latin typeface="+mn-ea"/>
                <a:ea typeface="+mn-ea"/>
              </a:rPr>
              <a:t>n≥n</a:t>
            </a:r>
            <a:r>
              <a:rPr lang="en-US" altLang="zh-CN" baseline="-25000" dirty="0"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都成立，则称 </a:t>
            </a:r>
            <a:r>
              <a:rPr lang="en-US" altLang="zh-CN" dirty="0">
                <a:latin typeface="+mn-ea"/>
                <a:ea typeface="+mn-ea"/>
              </a:rPr>
              <a:t>g(n) </a:t>
            </a:r>
            <a:r>
              <a:rPr lang="zh-CN" altLang="en-US" dirty="0">
                <a:latin typeface="+mn-ea"/>
                <a:ea typeface="+mn-ea"/>
              </a:rPr>
              <a:t>给出了 </a:t>
            </a:r>
            <a:r>
              <a:rPr lang="en-US" altLang="zh-CN" dirty="0">
                <a:latin typeface="+mn-ea"/>
                <a:ea typeface="+mn-ea"/>
              </a:rPr>
              <a:t>T(n) </a:t>
            </a:r>
            <a:r>
              <a:rPr lang="zh-CN" altLang="en-US" dirty="0">
                <a:latin typeface="+mn-ea"/>
                <a:ea typeface="+mn-ea"/>
              </a:rPr>
              <a:t>的 一个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下界</a:t>
            </a:r>
            <a:r>
              <a:rPr lang="zh-CN" altLang="en-US" dirty="0">
                <a:latin typeface="+mn-ea"/>
                <a:ea typeface="+mn-ea"/>
              </a:rPr>
              <a:t>。记为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T(n)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＝</a:t>
            </a:r>
            <a:r>
              <a:rPr lang="el-GR" altLang="zh-CN" b="1" dirty="0">
                <a:solidFill>
                  <a:srgbClr val="FF0000"/>
                </a:solidFill>
                <a:latin typeface="+mn-ea"/>
                <a:ea typeface="+mn-ea"/>
              </a:rPr>
              <a:t>Ω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(g(n))</a:t>
            </a: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大</a:t>
            </a:r>
            <a:r>
              <a:rPr lang="el-GR" altLang="zh-CN" dirty="0">
                <a:latin typeface="+mn-ea"/>
                <a:ea typeface="+mn-ea"/>
              </a:rPr>
              <a:t>Ω</a:t>
            </a:r>
            <a:r>
              <a:rPr lang="zh-CN" altLang="en-US" dirty="0">
                <a:latin typeface="+mn-ea"/>
                <a:ea typeface="+mn-ea"/>
              </a:rPr>
              <a:t>表示法是对算法效率的一种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乐观估计</a:t>
            </a:r>
            <a:r>
              <a:rPr lang="zh-CN" altLang="en-US" dirty="0">
                <a:latin typeface="+mn-ea"/>
                <a:ea typeface="+mn-ea"/>
              </a:rPr>
              <a:t>，对于规模为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的任意输入，算法的运行时间都不会低于</a:t>
            </a:r>
            <a:r>
              <a:rPr lang="el-GR" altLang="zh-CN" dirty="0">
                <a:latin typeface="+mn-ea"/>
                <a:ea typeface="+mn-ea"/>
              </a:rPr>
              <a:t>Ω</a:t>
            </a:r>
            <a:r>
              <a:rPr lang="en-US" altLang="zh-CN" dirty="0">
                <a:latin typeface="+mn-ea"/>
                <a:ea typeface="+mn-ea"/>
              </a:rPr>
              <a:t>(g(n))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  <a:p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65756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A9A7A-5117-417F-A715-7618423A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</a:t>
            </a:r>
            <a:r>
              <a:rPr lang="el-GR" altLang="zh-CN" dirty="0"/>
              <a:t>Θ</a:t>
            </a:r>
            <a:r>
              <a:rPr lang="zh-CN" altLang="en-US" dirty="0"/>
              <a:t>表示法（</a:t>
            </a:r>
            <a:r>
              <a:rPr lang="en-US" altLang="zh-CN" dirty="0"/>
              <a:t>Big-</a:t>
            </a:r>
            <a:r>
              <a:rPr lang="el-GR" altLang="zh-CN" dirty="0"/>
              <a:t>Θ</a:t>
            </a:r>
            <a:r>
              <a:rPr lang="en-US" altLang="zh-CN" dirty="0"/>
              <a:t> notation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AECEF-1B19-45C4-BE54-BF52C477F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07152"/>
            <a:ext cx="8640960" cy="583264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如果存在正常数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</a:t>
            </a:r>
            <a:r>
              <a:rPr lang="en-US" altLang="zh-CN" dirty="0">
                <a:latin typeface="+mn-ea"/>
                <a:ea typeface="+mn-ea"/>
              </a:rPr>
              <a:t>&lt;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en-US" altLang="zh-CN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, </a:t>
            </a:r>
            <a:r>
              <a:rPr lang="zh-CN" altLang="en-US" dirty="0">
                <a:latin typeface="+mn-ea"/>
                <a:ea typeface="+mn-ea"/>
              </a:rPr>
              <a:t>和一个函数 </a:t>
            </a:r>
            <a:r>
              <a:rPr lang="en-US" altLang="zh-CN" dirty="0">
                <a:latin typeface="+mn-ea"/>
                <a:ea typeface="+mn-ea"/>
              </a:rPr>
              <a:t>h(n)</a:t>
            </a:r>
            <a:r>
              <a:rPr lang="zh-CN" altLang="en-US" dirty="0">
                <a:latin typeface="+mn-ea"/>
                <a:ea typeface="+mn-ea"/>
              </a:rPr>
              <a:t>，使得对所有 </a:t>
            </a:r>
            <a:r>
              <a:rPr lang="en-US" altLang="zh-CN" dirty="0">
                <a:latin typeface="+mn-ea"/>
                <a:ea typeface="+mn-ea"/>
              </a:rPr>
              <a:t>n≥n</a:t>
            </a:r>
            <a:r>
              <a:rPr lang="en-US" altLang="zh-CN" baseline="-25000" dirty="0"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都有 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</a:rPr>
              <a:t>a h(n) &lt; T(n) &lt; b h(n)</a:t>
            </a:r>
            <a:r>
              <a:rPr lang="zh-CN" altLang="en-US" dirty="0">
                <a:latin typeface="+mn-ea"/>
                <a:ea typeface="+mn-ea"/>
              </a:rPr>
              <a:t>，则称 </a:t>
            </a:r>
            <a:r>
              <a:rPr lang="en-US" altLang="zh-CN" dirty="0">
                <a:latin typeface="+mn-ea"/>
                <a:ea typeface="+mn-ea"/>
              </a:rPr>
              <a:t>h(n) </a:t>
            </a:r>
            <a:r>
              <a:rPr lang="zh-CN" altLang="en-US" dirty="0">
                <a:latin typeface="+mn-ea"/>
                <a:ea typeface="+mn-ea"/>
              </a:rPr>
              <a:t>给出了 </a:t>
            </a:r>
            <a:r>
              <a:rPr lang="en-US" altLang="zh-CN" dirty="0">
                <a:latin typeface="+mn-ea"/>
                <a:ea typeface="+mn-ea"/>
              </a:rPr>
              <a:t>T(n) </a:t>
            </a:r>
            <a:r>
              <a:rPr lang="zh-CN" altLang="en-US" dirty="0">
                <a:latin typeface="+mn-ea"/>
                <a:ea typeface="+mn-ea"/>
              </a:rPr>
              <a:t>的一个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确界</a:t>
            </a:r>
            <a:r>
              <a:rPr lang="zh-CN" altLang="en-US" dirty="0">
                <a:latin typeface="+mn-ea"/>
                <a:ea typeface="+mn-ea"/>
              </a:rPr>
              <a:t>。记为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T(n)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＝</a:t>
            </a:r>
            <a:r>
              <a:rPr lang="el-GR" altLang="zh-CN" b="1" dirty="0">
                <a:solidFill>
                  <a:srgbClr val="FF0000"/>
                </a:solidFill>
                <a:latin typeface="+mn-ea"/>
                <a:ea typeface="+mn-ea"/>
              </a:rPr>
              <a:t>Θ(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h(n))</a:t>
            </a:r>
          </a:p>
          <a:p>
            <a:r>
              <a:rPr lang="zh-CN" altLang="en-US" dirty="0">
                <a:latin typeface="+mn-ea"/>
                <a:ea typeface="+mn-ea"/>
              </a:rPr>
              <a:t>大</a:t>
            </a:r>
            <a:r>
              <a:rPr lang="el-GR" altLang="zh-CN" dirty="0">
                <a:latin typeface="+mn-ea"/>
                <a:ea typeface="+mn-ea"/>
              </a:rPr>
              <a:t>Θ</a:t>
            </a:r>
            <a:r>
              <a:rPr lang="zh-CN" altLang="en-US" dirty="0">
                <a:latin typeface="+mn-ea"/>
                <a:ea typeface="+mn-ea"/>
              </a:rPr>
              <a:t>表示法是对算法效率的一种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准确估计</a:t>
            </a:r>
            <a:r>
              <a:rPr lang="zh-CN" altLang="en-US" dirty="0">
                <a:latin typeface="+mn-ea"/>
                <a:ea typeface="+mn-ea"/>
              </a:rPr>
              <a:t>，对于规模为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的任意输入，算法的运行时间都与 </a:t>
            </a:r>
            <a:r>
              <a:rPr lang="el-GR" altLang="zh-CN" dirty="0">
                <a:latin typeface="+mn-ea"/>
                <a:ea typeface="+mn-ea"/>
              </a:rPr>
              <a:t>Θ(</a:t>
            </a:r>
            <a:r>
              <a:rPr lang="en-US" altLang="zh-CN" dirty="0">
                <a:latin typeface="+mn-ea"/>
                <a:ea typeface="+mn-ea"/>
              </a:rPr>
              <a:t>h(n))</a:t>
            </a:r>
            <a:r>
              <a:rPr lang="zh-CN" altLang="en-US" dirty="0">
                <a:latin typeface="+mn-ea"/>
                <a:ea typeface="+mn-ea"/>
              </a:rPr>
              <a:t>同阶。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T(n)=</a:t>
            </a:r>
            <a:r>
              <a:rPr lang="el-GR" altLang="zh-CN" b="1" dirty="0">
                <a:solidFill>
                  <a:srgbClr val="0000FF"/>
                </a:solidFill>
                <a:latin typeface="+mn-ea"/>
                <a:ea typeface="+mn-ea"/>
              </a:rPr>
              <a:t>Θ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(h(n))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当且仅当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T(n)=O(h(n)) </a:t>
            </a:r>
            <a:r>
              <a:rPr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且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T(n)=</a:t>
            </a:r>
            <a:r>
              <a:rPr lang="el-GR" altLang="zh-CN" b="1" dirty="0">
                <a:solidFill>
                  <a:srgbClr val="0000FF"/>
                </a:solidFill>
                <a:latin typeface="+mn-ea"/>
                <a:ea typeface="+mn-ea"/>
              </a:rPr>
              <a:t>Ω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(h(n))</a:t>
            </a:r>
          </a:p>
        </p:txBody>
      </p:sp>
    </p:spTree>
    <p:extLst>
      <p:ext uri="{BB962C8B-B14F-4D97-AF65-F5344CB8AC3E}">
        <p14:creationId xmlns:p14="http://schemas.microsoft.com/office/powerpoint/2010/main" val="2606709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44C5A-4DB9-4E1C-8941-41D50520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上界、下界、确界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CB291C-A432-483D-ABFA-31BF005C6AF0}"/>
              </a:ext>
            </a:extLst>
          </p:cNvPr>
          <p:cNvGrpSpPr/>
          <p:nvPr/>
        </p:nvGrpSpPr>
        <p:grpSpPr>
          <a:xfrm>
            <a:off x="357950" y="1486784"/>
            <a:ext cx="8428099" cy="4609660"/>
            <a:chOff x="467545" y="1486784"/>
            <a:chExt cx="8428099" cy="460966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7CE854F-382D-4387-BB35-DCEFFF77DCBA}"/>
                </a:ext>
              </a:extLst>
            </p:cNvPr>
            <p:cNvGrpSpPr/>
            <p:nvPr/>
          </p:nvGrpSpPr>
          <p:grpSpPr>
            <a:xfrm>
              <a:off x="467545" y="1486784"/>
              <a:ext cx="8132770" cy="4609660"/>
              <a:chOff x="365538" y="1551919"/>
              <a:chExt cx="8059325" cy="4062275"/>
            </a:xfrm>
          </p:grpSpPr>
          <p:sp>
            <p:nvSpPr>
              <p:cNvPr id="3" name="Line 3">
                <a:extLst>
                  <a:ext uri="{FF2B5EF4-FFF2-40B4-BE49-F238E27FC236}">
                    <a16:creationId xmlns:a16="http://schemas.microsoft.com/office/drawing/2014/main" id="{6CFF0456-1A71-4828-ABC7-DEDA0A038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3600" y="1952625"/>
                <a:ext cx="0" cy="34559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4" name="Line 4">
                <a:extLst>
                  <a:ext uri="{FF2B5EF4-FFF2-40B4-BE49-F238E27FC236}">
                    <a16:creationId xmlns:a16="http://schemas.microsoft.com/office/drawing/2014/main" id="{51E42D2B-F616-4028-9852-3CFA5D3BF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4572001" y="1411287"/>
                <a:ext cx="0" cy="7705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A8CEF3D-524A-4D7F-88C8-33A1FA38D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3" y="2384425"/>
                <a:ext cx="6992937" cy="2901950"/>
              </a:xfrm>
              <a:custGeom>
                <a:avLst/>
                <a:gdLst>
                  <a:gd name="T0" fmla="*/ 0 w 2359"/>
                  <a:gd name="T1" fmla="*/ 2449 h 2449"/>
                  <a:gd name="T2" fmla="*/ 318 w 2359"/>
                  <a:gd name="T3" fmla="*/ 1361 h 2449"/>
                  <a:gd name="T4" fmla="*/ 1225 w 2359"/>
                  <a:gd name="T5" fmla="*/ 453 h 2449"/>
                  <a:gd name="T6" fmla="*/ 2359 w 2359"/>
                  <a:gd name="T7" fmla="*/ 0 h 2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59" h="2449">
                    <a:moveTo>
                      <a:pt x="0" y="2449"/>
                    </a:moveTo>
                    <a:cubicBezTo>
                      <a:pt x="57" y="2071"/>
                      <a:pt x="114" y="1694"/>
                      <a:pt x="318" y="1361"/>
                    </a:cubicBezTo>
                    <a:cubicBezTo>
                      <a:pt x="522" y="1028"/>
                      <a:pt x="885" y="680"/>
                      <a:pt x="1225" y="453"/>
                    </a:cubicBezTo>
                    <a:cubicBezTo>
                      <a:pt x="1565" y="226"/>
                      <a:pt x="1962" y="113"/>
                      <a:pt x="2359" y="0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8DDD785-6B49-41D2-BB7E-8D67D6272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3" y="4545013"/>
                <a:ext cx="6992937" cy="741362"/>
              </a:xfrm>
              <a:custGeom>
                <a:avLst/>
                <a:gdLst>
                  <a:gd name="T0" fmla="*/ 0 w 2359"/>
                  <a:gd name="T1" fmla="*/ 2449 h 2449"/>
                  <a:gd name="T2" fmla="*/ 318 w 2359"/>
                  <a:gd name="T3" fmla="*/ 1361 h 2449"/>
                  <a:gd name="T4" fmla="*/ 1225 w 2359"/>
                  <a:gd name="T5" fmla="*/ 453 h 2449"/>
                  <a:gd name="T6" fmla="*/ 2359 w 2359"/>
                  <a:gd name="T7" fmla="*/ 0 h 2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59" h="2449">
                    <a:moveTo>
                      <a:pt x="0" y="2449"/>
                    </a:moveTo>
                    <a:cubicBezTo>
                      <a:pt x="57" y="2071"/>
                      <a:pt x="114" y="1694"/>
                      <a:pt x="318" y="1361"/>
                    </a:cubicBezTo>
                    <a:cubicBezTo>
                      <a:pt x="522" y="1028"/>
                      <a:pt x="885" y="680"/>
                      <a:pt x="1225" y="453"/>
                    </a:cubicBezTo>
                    <a:cubicBezTo>
                      <a:pt x="1565" y="226"/>
                      <a:pt x="1962" y="113"/>
                      <a:pt x="2359" y="0"/>
                    </a:cubicBezTo>
                  </a:path>
                </a:pathLst>
              </a:custGeom>
              <a:noFill/>
              <a:ln w="19050" cap="flat" cmpd="sng">
                <a:solidFill>
                  <a:srgbClr val="0080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8B4C8996-EEE5-482D-8906-335BB92DC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3" y="3536950"/>
                <a:ext cx="6992937" cy="1749425"/>
              </a:xfrm>
              <a:custGeom>
                <a:avLst/>
                <a:gdLst>
                  <a:gd name="T0" fmla="*/ 0 w 2359"/>
                  <a:gd name="T1" fmla="*/ 2449 h 2449"/>
                  <a:gd name="T2" fmla="*/ 318 w 2359"/>
                  <a:gd name="T3" fmla="*/ 1361 h 2449"/>
                  <a:gd name="T4" fmla="*/ 1225 w 2359"/>
                  <a:gd name="T5" fmla="*/ 453 h 2449"/>
                  <a:gd name="T6" fmla="*/ 2359 w 2359"/>
                  <a:gd name="T7" fmla="*/ 0 h 24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59" h="2449">
                    <a:moveTo>
                      <a:pt x="0" y="2449"/>
                    </a:moveTo>
                    <a:cubicBezTo>
                      <a:pt x="57" y="2071"/>
                      <a:pt x="114" y="1694"/>
                      <a:pt x="318" y="1361"/>
                    </a:cubicBezTo>
                    <a:cubicBezTo>
                      <a:pt x="522" y="1028"/>
                      <a:pt x="885" y="680"/>
                      <a:pt x="1225" y="453"/>
                    </a:cubicBezTo>
                    <a:cubicBezTo>
                      <a:pt x="1565" y="226"/>
                      <a:pt x="1962" y="113"/>
                      <a:pt x="2359" y="0"/>
                    </a:cubicBezTo>
                  </a:path>
                </a:pathLst>
              </a:custGeom>
              <a:noFill/>
              <a:ln w="19050" cap="flat" cmpd="sng">
                <a:solidFill>
                  <a:srgbClr val="FF66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3CC9924-BC44-44FD-BA19-E074098E8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663" y="3433763"/>
                <a:ext cx="6969125" cy="1852612"/>
              </a:xfrm>
              <a:custGeom>
                <a:avLst/>
                <a:gdLst>
                  <a:gd name="T0" fmla="*/ 0 w 4622"/>
                  <a:gd name="T1" fmla="*/ 1168 h 1168"/>
                  <a:gd name="T2" fmla="*/ 905 w 4622"/>
                  <a:gd name="T3" fmla="*/ 420 h 1168"/>
                  <a:gd name="T4" fmla="*/ 2039 w 4622"/>
                  <a:gd name="T5" fmla="*/ 510 h 1168"/>
                  <a:gd name="T6" fmla="*/ 3173 w 4622"/>
                  <a:gd name="T7" fmla="*/ 51 h 1168"/>
                  <a:gd name="T8" fmla="*/ 4622 w 4622"/>
                  <a:gd name="T9" fmla="*/ 204 h 1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2" h="1168">
                    <a:moveTo>
                      <a:pt x="0" y="1168"/>
                    </a:moveTo>
                    <a:cubicBezTo>
                      <a:pt x="151" y="1043"/>
                      <a:pt x="565" y="530"/>
                      <a:pt x="905" y="420"/>
                    </a:cubicBezTo>
                    <a:cubicBezTo>
                      <a:pt x="1245" y="310"/>
                      <a:pt x="1661" y="571"/>
                      <a:pt x="2039" y="510"/>
                    </a:cubicBezTo>
                    <a:cubicBezTo>
                      <a:pt x="2417" y="449"/>
                      <a:pt x="2743" y="102"/>
                      <a:pt x="3173" y="51"/>
                    </a:cubicBezTo>
                    <a:cubicBezTo>
                      <a:pt x="3603" y="0"/>
                      <a:pt x="4320" y="172"/>
                      <a:pt x="4622" y="204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endParaRPr lang="zh-CN" altLang="en-US"/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8DD3E39-C02F-4D1F-B1F6-2F8BA59E5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0038" y="2239963"/>
                <a:ext cx="433387" cy="288925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dirty="0">
                    <a:latin typeface="BrushScript BT" pitchFamily="66" charset="0"/>
                    <a:ea typeface="华文仿宋" panose="02010600040101010101" pitchFamily="2" charset="-122"/>
                    <a:cs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F34A9A8B-7240-4DA4-911E-3614B73F9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0038" y="3321050"/>
                <a:ext cx="433387" cy="288925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latin typeface="Arial Narrow" panose="020B0606020202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</a:t>
                </a: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823214B6-9668-417D-8028-6B0371EDD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0038" y="4400550"/>
                <a:ext cx="433387" cy="288925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b="1">
                    <a:latin typeface="Arial Narrow" panose="020B0606020202030204" pitchFamily="34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9C2948D8-D957-4FA2-8D39-CDE602582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0038" y="3716338"/>
                <a:ext cx="433387" cy="288925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A0E53A81-9F77-416A-ACD9-F2D59DE48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313" y="5325269"/>
                <a:ext cx="433387" cy="288925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B2156D93-05DD-4356-ABDE-83E98758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538" y="1551919"/>
                <a:ext cx="490125" cy="373058"/>
              </a:xfrm>
              <a:prstGeom prst="rect">
                <a:avLst/>
              </a:prstGeom>
              <a:noFill/>
              <a:ln w="349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8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algn="ctr">
                  <a:spcBef>
                    <a:spcPct val="5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E2FA0DAC-9F72-4B68-9FF0-00F16316F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0450" y="5762757"/>
              <a:ext cx="445194" cy="32785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808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algn="ctr">
                <a:spcBef>
                  <a:spcPct val="5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8670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AD04C-0A3D-4728-A529-4115FDC3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算法的时间复杂度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2BAD0-4928-4B31-94EA-D87965EFD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836712"/>
            <a:ext cx="8933849" cy="580308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一个没有循环的算法的执行时间与问题规模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无关，记作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O(1)</a:t>
            </a:r>
            <a:r>
              <a:rPr lang="zh-CN" altLang="en-US" dirty="0">
                <a:latin typeface="+mn-ea"/>
                <a:ea typeface="+mn-ea"/>
              </a:rPr>
              <a:t>，也称作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常数阶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  <a:p>
            <a:r>
              <a:rPr lang="zh-CN" altLang="en-US" dirty="0">
                <a:latin typeface="+mn-ea"/>
                <a:ea typeface="+mn-ea"/>
              </a:rPr>
              <a:t>一个只有一重循环的算法的执行时间与问题规模 </a:t>
            </a:r>
            <a:r>
              <a:rPr lang="en-US" altLang="zh-CN" dirty="0">
                <a:latin typeface="+mn-ea"/>
                <a:ea typeface="+mn-ea"/>
              </a:rPr>
              <a:t>n </a:t>
            </a:r>
            <a:r>
              <a:rPr lang="zh-CN" altLang="en-US" dirty="0">
                <a:latin typeface="+mn-ea"/>
                <a:ea typeface="+mn-ea"/>
              </a:rPr>
              <a:t>的增长呈线性增大关系，记作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O(n)</a:t>
            </a:r>
            <a:r>
              <a:rPr lang="zh-CN" altLang="en-US" dirty="0">
                <a:latin typeface="+mn-ea"/>
                <a:ea typeface="+mn-ea"/>
              </a:rPr>
              <a:t>，也称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线性阶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  <a:p>
            <a:r>
              <a:rPr lang="zh-CN" altLang="en-US" dirty="0">
                <a:latin typeface="+mn-ea"/>
                <a:ea typeface="+mn-ea"/>
              </a:rPr>
              <a:t>其余常用的算法时间复杂度还有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平方阶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O(n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立方阶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O(n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对数阶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O(log</a:t>
            </a:r>
            <a:r>
              <a:rPr lang="en-US" altLang="zh-CN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n)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指数阶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O(2</a:t>
            </a:r>
            <a:r>
              <a:rPr lang="en-US" altLang="zh-CN" baseline="3000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等。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C6527EB-99A1-4605-8D17-FB0766973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88" y="5142502"/>
            <a:ext cx="8640960" cy="587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O(1)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O(log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log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O(2</a:t>
            </a:r>
            <a:r>
              <a:rPr kumimoji="1" lang="en-US" altLang="zh-CN" sz="24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&lt;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!)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5" name="组合 11">
            <a:extLst>
              <a:ext uri="{FF2B5EF4-FFF2-40B4-BE49-F238E27FC236}">
                <a16:creationId xmlns:a16="http://schemas.microsoft.com/office/drawing/2014/main" id="{72771561-ABB3-4C95-A59D-182BC764FE2F}"/>
              </a:ext>
            </a:extLst>
          </p:cNvPr>
          <p:cNvGrpSpPr/>
          <p:nvPr/>
        </p:nvGrpSpPr>
        <p:grpSpPr>
          <a:xfrm>
            <a:off x="7022850" y="5803507"/>
            <a:ext cx="1800201" cy="664055"/>
            <a:chOff x="6447246" y="1701790"/>
            <a:chExt cx="1339463" cy="664055"/>
          </a:xfrm>
        </p:grpSpPr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599C5515-5312-4386-AF37-F19F66EEDDD7}"/>
                </a:ext>
              </a:extLst>
            </p:cNvPr>
            <p:cNvSpPr/>
            <p:nvPr/>
          </p:nvSpPr>
          <p:spPr>
            <a:xfrm rot="5400000">
              <a:off x="7045539" y="1103497"/>
              <a:ext cx="142878" cy="1339463"/>
            </a:xfrm>
            <a:prstGeom prst="rightBrace">
              <a:avLst/>
            </a:prstGeom>
            <a:ln>
              <a:solidFill>
                <a:srgbClr val="F39801"/>
              </a:solidFill>
              <a:tailEnd type="non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B359AEEF-2088-4995-9310-C9F7786D86AE}"/>
                </a:ext>
              </a:extLst>
            </p:cNvPr>
            <p:cNvSpPr txBox="1"/>
            <p:nvPr/>
          </p:nvSpPr>
          <p:spPr>
            <a:xfrm>
              <a:off x="6581193" y="1928802"/>
              <a:ext cx="1071570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CE3B37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指数阶</a:t>
              </a:r>
            </a:p>
          </p:txBody>
        </p:sp>
      </p:grpSp>
      <p:grpSp>
        <p:nvGrpSpPr>
          <p:cNvPr id="8" name="组合 10">
            <a:extLst>
              <a:ext uri="{FF2B5EF4-FFF2-40B4-BE49-F238E27FC236}">
                <a16:creationId xmlns:a16="http://schemas.microsoft.com/office/drawing/2014/main" id="{9F420901-00F6-4E9C-8E73-209A9D46DF89}"/>
              </a:ext>
            </a:extLst>
          </p:cNvPr>
          <p:cNvGrpSpPr/>
          <p:nvPr/>
        </p:nvGrpSpPr>
        <p:grpSpPr>
          <a:xfrm>
            <a:off x="353857" y="5824365"/>
            <a:ext cx="6552728" cy="815433"/>
            <a:chOff x="627171" y="1714490"/>
            <a:chExt cx="4875643" cy="632038"/>
          </a:xfrm>
        </p:grpSpPr>
        <p:sp>
          <p:nvSpPr>
            <p:cNvPr id="9" name="右大括号 8">
              <a:extLst>
                <a:ext uri="{FF2B5EF4-FFF2-40B4-BE49-F238E27FC236}">
                  <a16:creationId xmlns:a16="http://schemas.microsoft.com/office/drawing/2014/main" id="{28D1A966-14E5-4DB9-8E37-5B78B894281E}"/>
                </a:ext>
              </a:extLst>
            </p:cNvPr>
            <p:cNvSpPr/>
            <p:nvPr/>
          </p:nvSpPr>
          <p:spPr>
            <a:xfrm rot="5400000">
              <a:off x="3017703" y="-676042"/>
              <a:ext cx="94579" cy="4875643"/>
            </a:xfrm>
            <a:prstGeom prst="rightBrace">
              <a:avLst/>
            </a:prstGeom>
            <a:ln>
              <a:solidFill>
                <a:srgbClr val="F39801"/>
              </a:solidFill>
              <a:tailEnd type="non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4609FB40-67B5-4B9D-9615-3093A88D02BF}"/>
                </a:ext>
              </a:extLst>
            </p:cNvPr>
            <p:cNvSpPr txBox="1"/>
            <p:nvPr/>
          </p:nvSpPr>
          <p:spPr>
            <a:xfrm>
              <a:off x="2386331" y="1909485"/>
              <a:ext cx="1357322" cy="43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CE3B37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多项式阶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203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08CB0-5066-49A5-90B5-775D7458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各种函数的增长趋势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8581B47-413A-46C3-BD74-E2AE53B17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17359"/>
              </p:ext>
            </p:extLst>
          </p:nvPr>
        </p:nvGraphicFramePr>
        <p:xfrm>
          <a:off x="-1076154" y="1526522"/>
          <a:ext cx="10260632" cy="4532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8" name="Document" r:id="rId3" imgW="4882708" imgH="2044269" progId="Word.Document.8">
                  <p:embed/>
                </p:oleObj>
              </mc:Choice>
              <mc:Fallback>
                <p:oleObj name="Document" r:id="rId3" imgW="4882708" imgH="2044269" progId="Word.Document.8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2142D5B8-D492-4123-AAB5-CF2B935A0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76154" y="1526522"/>
                        <a:ext cx="10260632" cy="4532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5598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7A50C-0924-483C-B6B4-B44358AE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算法时间复杂度比较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5EBC794-D273-4340-9DF8-571924740890}"/>
              </a:ext>
            </a:extLst>
          </p:cNvPr>
          <p:cNvSpPr txBox="1"/>
          <p:nvPr/>
        </p:nvSpPr>
        <p:spPr>
          <a:xfrm>
            <a:off x="138461" y="741003"/>
            <a:ext cx="8867077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设计一个算法求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1+(1+2)+(1+2+3)+…+(1+2+3+…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。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2A64CC9-166F-4011-8391-3951A31D930E}"/>
              </a:ext>
            </a:extLst>
          </p:cNvPr>
          <p:cNvSpPr txBox="1"/>
          <p:nvPr/>
        </p:nvSpPr>
        <p:spPr>
          <a:xfrm>
            <a:off x="99544" y="1640518"/>
            <a:ext cx="4608205" cy="4109487"/>
          </a:xfrm>
          <a:prstGeom prst="rect">
            <a:avLst/>
          </a:prstGeom>
          <a:solidFill>
            <a:srgbClr val="F2F2F2"/>
          </a:solidFill>
          <a:ln w="25400">
            <a:solidFill>
              <a:srgbClr val="F3980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int sum=0;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for (int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 for (int j=1;j&lt;=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i;j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 += j;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return sum;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FC93AA10-5584-44B1-8512-D5C3278C5FD4}"/>
              </a:ext>
            </a:extLst>
          </p:cNvPr>
          <p:cNvSpPr txBox="1"/>
          <p:nvPr/>
        </p:nvSpPr>
        <p:spPr>
          <a:xfrm>
            <a:off x="4771957" y="1640518"/>
            <a:ext cx="4272499" cy="4109487"/>
          </a:xfrm>
          <a:prstGeom prst="rect">
            <a:avLst/>
          </a:prstGeom>
          <a:solidFill>
            <a:srgbClr val="F2F2F2"/>
          </a:solidFill>
          <a:ln w="25400">
            <a:solidFill>
              <a:srgbClr val="F3980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Sum2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int sum=0, s=0;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for (int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=1;i&lt;=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{ s +=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 sum += s;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   return sum;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309DD2E2-8C49-4A93-B472-4BFE2D5773D2}"/>
              </a:ext>
            </a:extLst>
          </p:cNvPr>
          <p:cNvSpPr txBox="1"/>
          <p:nvPr/>
        </p:nvSpPr>
        <p:spPr>
          <a:xfrm>
            <a:off x="1575554" y="5986966"/>
            <a:ext cx="1656184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kumimoji="1"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</a:t>
            </a:r>
            <a:r>
              <a:rPr kumimoji="1" lang="en-US" altLang="zh-CN" baseline="30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1A869B91-813F-4828-B789-412CBCC4354B}"/>
              </a:ext>
            </a:extLst>
          </p:cNvPr>
          <p:cNvSpPr txBox="1"/>
          <p:nvPr/>
        </p:nvSpPr>
        <p:spPr>
          <a:xfrm>
            <a:off x="6080114" y="5986966"/>
            <a:ext cx="1656184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O(n)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295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5AFF1-8E07-47C2-AAE5-F7C41B2F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B2E86-81FA-4176-AEBA-08D732A5ED16}"/>
              </a:ext>
            </a:extLst>
          </p:cNvPr>
          <p:cNvSpPr txBox="1"/>
          <p:nvPr/>
        </p:nvSpPr>
        <p:spPr>
          <a:xfrm>
            <a:off x="402690" y="1591547"/>
            <a:ext cx="8489790" cy="2386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某算法的时间复杂度为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，表明该算法的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（  ）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。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A. 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问题规模是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			B. 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执行时间等于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endParaRPr kumimoji="1" lang="zh-CN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C. 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执行时间与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成正比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		D. 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问题规模与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成正比</a:t>
            </a:r>
          </a:p>
        </p:txBody>
      </p:sp>
    </p:spTree>
    <p:extLst>
      <p:ext uri="{BB962C8B-B14F-4D97-AF65-F5344CB8AC3E}">
        <p14:creationId xmlns:p14="http://schemas.microsoft.com/office/powerpoint/2010/main" val="22427269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BEC24-69D7-4AFA-BBCC-E5D73559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98B27-259D-4DB4-A45C-F10851662569}"/>
              </a:ext>
            </a:extLst>
          </p:cNvPr>
          <p:cNvSpPr txBox="1"/>
          <p:nvPr/>
        </p:nvSpPr>
        <p:spPr>
          <a:xfrm>
            <a:off x="215516" y="1628800"/>
            <a:ext cx="8712968" cy="1524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下面几种算法时间复杂度中，时间复杂度最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高</a:t>
            </a:r>
            <a:r>
              <a:rPr kumimoji="1" lang="zh-CN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的是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（  ）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log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     B.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      C.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	   D. O(2</a:t>
            </a:r>
            <a:r>
              <a:rPr kumimoji="1" lang="en-US" altLang="zh-CN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</a:t>
            </a:r>
            <a:endParaRPr kumimoji="1" lang="zh-CN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7748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0" y="2834207"/>
            <a:ext cx="9144000" cy="40499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0211" name="Rectangle 3"/>
          <p:cNvSpPr>
            <a:spLocks noChangeArrowheads="1"/>
          </p:cNvSpPr>
          <p:nvPr/>
        </p:nvSpPr>
        <p:spPr bwMode="auto">
          <a:xfrm>
            <a:off x="569119" y="4885392"/>
            <a:ext cx="5029200" cy="19464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569119" y="3666194"/>
            <a:ext cx="5029200" cy="1143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50213" name="Rectangle 5"/>
          <p:cNvSpPr>
            <a:spLocks noChangeArrowheads="1"/>
          </p:cNvSpPr>
          <p:nvPr/>
        </p:nvSpPr>
        <p:spPr bwMode="auto">
          <a:xfrm>
            <a:off x="569119" y="3132793"/>
            <a:ext cx="5029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2" name="Text Box 7"/>
          <p:cNvSpPr txBox="1">
            <a:spLocks noChangeArrowheads="1"/>
          </p:cNvSpPr>
          <p:nvPr/>
        </p:nvSpPr>
        <p:spPr bwMode="auto">
          <a:xfrm>
            <a:off x="753710" y="2938962"/>
            <a:ext cx="4682386" cy="3892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 = 0;  y = 0;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 int k = 0; k &lt; n; k ++ 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x ++;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for ( int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0;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&lt; n;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 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for ( int j = 0; j &lt; n; j++ 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 ++;</a:t>
            </a:r>
          </a:p>
        </p:txBody>
      </p:sp>
      <p:sp>
        <p:nvSpPr>
          <p:cNvPr id="60423" name="Text Box 2"/>
          <p:cNvSpPr txBox="1">
            <a:spLocks noChangeArrowheads="1"/>
          </p:cNvSpPr>
          <p:nvPr/>
        </p:nvSpPr>
        <p:spPr bwMode="auto">
          <a:xfrm>
            <a:off x="266700" y="729473"/>
            <a:ext cx="8769796" cy="197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947" tIns="56473" rIns="112947" bIns="56473">
            <a:spAutoFit/>
          </a:bodyPr>
          <a:lstStyle>
            <a:lvl1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defTabSz="112903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defTabSz="112903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112903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找出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语句频度最大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的那条语句作为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基本语句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L="342900" marR="0" lvl="0" indent="-342900" algn="l" defTabSz="112903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计算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基本语句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的频度得到问题规模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的某个函数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</a:t>
            </a:r>
          </a:p>
          <a:p>
            <a:pPr marL="342900" marR="0" lvl="0" indent="-342900" algn="l" defTabSz="112903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取其数量级用符号“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”表示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60424" name="Rectangle 4"/>
          <p:cNvSpPr>
            <a:spLocks noChangeArrowheads="1"/>
          </p:cNvSpPr>
          <p:nvPr/>
        </p:nvSpPr>
        <p:spPr bwMode="auto">
          <a:xfrm>
            <a:off x="827088" y="182563"/>
            <a:ext cx="6000750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分析算法时间复杂度的基本方法</a:t>
            </a:r>
          </a:p>
        </p:txBody>
      </p:sp>
      <p:sp>
        <p:nvSpPr>
          <p:cNvPr id="16" name="云形标注 15"/>
          <p:cNvSpPr>
            <a:spLocks noChangeArrowheads="1"/>
          </p:cNvSpPr>
          <p:nvPr/>
        </p:nvSpPr>
        <p:spPr bwMode="auto">
          <a:xfrm>
            <a:off x="5676761" y="5291138"/>
            <a:ext cx="2233613" cy="730150"/>
          </a:xfrm>
          <a:prstGeom prst="cloudCallout">
            <a:avLst>
              <a:gd name="adj1" fmla="val -176154"/>
              <a:gd name="adj2" fmla="val 1123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f(n) = n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云形标注 16"/>
          <p:cNvSpPr>
            <a:spLocks noChangeArrowheads="1"/>
          </p:cNvSpPr>
          <p:nvPr/>
        </p:nvSpPr>
        <p:spPr bwMode="auto">
          <a:xfrm>
            <a:off x="5730876" y="3357563"/>
            <a:ext cx="3305620" cy="881063"/>
          </a:xfrm>
          <a:prstGeom prst="cloudCallout">
            <a:avLst>
              <a:gd name="adj1" fmla="val -23074"/>
              <a:gd name="adj2" fmla="val 15288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T(n) = O(n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 animBg="1"/>
      <p:bldP spid="17" grpId="0" build="allAtOnce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时间复杂度分析示例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1F2BCDB-9852-4F3E-88DB-ED11F3B85E9A}"/>
              </a:ext>
            </a:extLst>
          </p:cNvPr>
          <p:cNvGrpSpPr/>
          <p:nvPr/>
        </p:nvGrpSpPr>
        <p:grpSpPr>
          <a:xfrm>
            <a:off x="411844" y="4031624"/>
            <a:ext cx="8320312" cy="2826376"/>
            <a:chOff x="1214414" y="3789040"/>
            <a:chExt cx="4554401" cy="172819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729E779-D04A-4E2B-A849-86D2DDE5924E}"/>
                </a:ext>
              </a:extLst>
            </p:cNvPr>
            <p:cNvSpPr/>
            <p:nvPr/>
          </p:nvSpPr>
          <p:spPr>
            <a:xfrm>
              <a:off x="1214414" y="3789040"/>
              <a:ext cx="4554401" cy="1728192"/>
            </a:xfrm>
            <a:prstGeom prst="roundRect">
              <a:avLst>
                <a:gd name="adj" fmla="val 7952"/>
              </a:avLst>
            </a:prstGeom>
            <a:solidFill>
              <a:srgbClr val="5E2E82">
                <a:alpha val="50196"/>
              </a:srgbClr>
            </a:solidFill>
            <a:ln w="28575">
              <a:noFill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81964F3-46FF-4D41-83D0-1625FB48E0F7}"/>
                </a:ext>
              </a:extLst>
            </p:cNvPr>
            <p:cNvSpPr/>
            <p:nvPr/>
          </p:nvSpPr>
          <p:spPr>
            <a:xfrm>
              <a:off x="1341955" y="3898025"/>
              <a:ext cx="4313570" cy="1521779"/>
            </a:xfrm>
            <a:prstGeom prst="roundRect">
              <a:avLst>
                <a:gd name="adj" fmla="val 7952"/>
              </a:avLst>
            </a:prstGeom>
            <a:solidFill>
              <a:schemeClr val="bg1"/>
            </a:solidFill>
            <a:ln w="28575">
              <a:noFill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Picture 1">
            <a:extLst>
              <a:ext uri="{FF2B5EF4-FFF2-40B4-BE49-F238E27FC236}">
                <a16:creationId xmlns:a16="http://schemas.microsoft.com/office/drawing/2014/main" id="{D3D51A35-1981-4002-A392-0AE435E88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11844" y="4254660"/>
            <a:ext cx="8320312" cy="25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6D04DDED-D6C4-4D78-9675-17236A912847}"/>
              </a:ext>
            </a:extLst>
          </p:cNvPr>
          <p:cNvSpPr/>
          <p:nvPr/>
        </p:nvSpPr>
        <p:spPr bwMode="auto">
          <a:xfrm>
            <a:off x="411844" y="750051"/>
            <a:ext cx="8320312" cy="33304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4A68A613-340B-43F5-857F-6556F6359E78}"/>
              </a:ext>
            </a:extLst>
          </p:cNvPr>
          <p:cNvSpPr txBox="1"/>
          <p:nvPr/>
        </p:nvSpPr>
        <p:spPr>
          <a:xfrm>
            <a:off x="644845" y="727074"/>
            <a:ext cx="6243115" cy="33304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int fun(int n) {</a:t>
            </a: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int s=0;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for (int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=0;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&lt;=n;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++)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    for (int j=0; j&lt;=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;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)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        for (int k=0; k&lt;j; k++)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           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s++;</a:t>
            </a: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    return s;</a:t>
            </a:r>
          </a:p>
          <a:p>
            <a:pPr algn="l"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9BD369B-2A27-4058-8E5F-1C0E750B8DE1}"/>
              </a:ext>
            </a:extLst>
          </p:cNvPr>
          <p:cNvSpPr txBox="1"/>
          <p:nvPr/>
        </p:nvSpPr>
        <p:spPr>
          <a:xfrm>
            <a:off x="7120961" y="2544181"/>
            <a:ext cx="175804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zh-CN" dirty="0">
                <a:solidFill>
                  <a:srgbClr val="FF0000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基本操作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A70660E-7DA8-4146-B7CD-3EB87FD377F3}"/>
              </a:ext>
            </a:extLst>
          </p:cNvPr>
          <p:cNvCxnSpPr>
            <a:cxnSpLocks/>
          </p:cNvCxnSpPr>
          <p:nvPr/>
        </p:nvCxnSpPr>
        <p:spPr>
          <a:xfrm flipH="1" flipV="1">
            <a:off x="4438649" y="2875458"/>
            <a:ext cx="2581623" cy="8727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5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时间复杂度分析示例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2D55F1E-D844-45E7-B8CD-98B0E096FAF6}"/>
              </a:ext>
            </a:extLst>
          </p:cNvPr>
          <p:cNvGrpSpPr/>
          <p:nvPr/>
        </p:nvGrpSpPr>
        <p:grpSpPr>
          <a:xfrm>
            <a:off x="3236529" y="1628800"/>
            <a:ext cx="5907469" cy="3960440"/>
            <a:chOff x="1214414" y="3789040"/>
            <a:chExt cx="4554401" cy="172819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CFACABA-F605-44CF-8460-EFC482BC1640}"/>
                </a:ext>
              </a:extLst>
            </p:cNvPr>
            <p:cNvSpPr/>
            <p:nvPr/>
          </p:nvSpPr>
          <p:spPr>
            <a:xfrm>
              <a:off x="1214414" y="3789040"/>
              <a:ext cx="4554401" cy="1728192"/>
            </a:xfrm>
            <a:prstGeom prst="roundRect">
              <a:avLst>
                <a:gd name="adj" fmla="val 7952"/>
              </a:avLst>
            </a:prstGeom>
            <a:solidFill>
              <a:srgbClr val="5E2E82">
                <a:alpha val="50196"/>
              </a:srgbClr>
            </a:solidFill>
            <a:ln w="28575">
              <a:noFill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6C8815F-2C71-4CE9-A7A4-BF11580C6A56}"/>
                </a:ext>
              </a:extLst>
            </p:cNvPr>
            <p:cNvSpPr/>
            <p:nvPr/>
          </p:nvSpPr>
          <p:spPr>
            <a:xfrm>
              <a:off x="1341955" y="3855266"/>
              <a:ext cx="4313570" cy="1577919"/>
            </a:xfrm>
            <a:prstGeom prst="roundRect">
              <a:avLst>
                <a:gd name="adj" fmla="val 7952"/>
              </a:avLst>
            </a:prstGeom>
            <a:solidFill>
              <a:schemeClr val="bg1"/>
            </a:solidFill>
            <a:ln w="28575">
              <a:noFill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+mn-ea"/>
              </a:endParaRPr>
            </a:p>
          </p:txBody>
        </p:sp>
      </p:grpSp>
      <p:sp>
        <p:nvSpPr>
          <p:cNvPr id="19" name="TextBox 4">
            <a:extLst>
              <a:ext uri="{FF2B5EF4-FFF2-40B4-BE49-F238E27FC236}">
                <a16:creationId xmlns:a16="http://schemas.microsoft.com/office/drawing/2014/main" id="{14E63D59-7907-45EE-86B1-F8DB2C538B6D}"/>
              </a:ext>
            </a:extLst>
          </p:cNvPr>
          <p:cNvSpPr txBox="1"/>
          <p:nvPr/>
        </p:nvSpPr>
        <p:spPr>
          <a:xfrm>
            <a:off x="3386266" y="1752362"/>
            <a:ext cx="5538281" cy="352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bIns="144000" rtlCol="0">
            <a:spAutoFit/>
          </a:bodyPr>
          <a:lstStyle/>
          <a:p>
            <a:pPr marL="252095" indent="-252095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基本操作是语句</a:t>
            </a: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x=2*x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，设该语句执行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m 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次</a:t>
            </a:r>
            <a:r>
              <a:rPr lang="zh-CN" altLang="en-US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则</a:t>
            </a: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nb-NO" altLang="zh-CN" i="1" baseline="30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m</a:t>
            </a:r>
            <a:r>
              <a:rPr lang="nb-NO" altLang="zh-CN" baseline="30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+1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≥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/2</a:t>
            </a:r>
            <a:r>
              <a:rPr lang="zh-CN" altLang="en-US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en-US" altLang="zh-CN" dirty="0">
              <a:solidFill>
                <a:srgbClr val="525252"/>
              </a:solidFill>
              <a:latin typeface="+mn-ea"/>
              <a:cs typeface="Consolas" panose="020B0609020204030204" pitchFamily="49" charset="0"/>
            </a:endParaRPr>
          </a:p>
          <a:p>
            <a:pPr marL="252095" indent="-252095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取 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nb-NO" altLang="zh-CN" i="1" baseline="30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m</a:t>
            </a:r>
            <a:r>
              <a:rPr lang="nb-NO" altLang="zh-CN" baseline="30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+1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=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/2</a:t>
            </a:r>
            <a:r>
              <a:rPr lang="zh-CN" altLang="en-US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求</a:t>
            </a:r>
            <a:r>
              <a:rPr lang="zh-CN" altLang="en-US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出 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T(n) = 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m 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= log</a:t>
            </a:r>
            <a:r>
              <a:rPr lang="nb-NO" altLang="zh-CN" baseline="-25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/2) - 1 = log</a:t>
            </a:r>
            <a:r>
              <a:rPr lang="nb-NO" altLang="zh-CN" baseline="-25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n 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- 2 = O(log</a:t>
            </a:r>
            <a:r>
              <a:rPr lang="nb-NO" altLang="zh-CN" baseline="-25000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nb-NO" altLang="zh-CN" i="1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nb-NO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。</a:t>
            </a:r>
            <a:endParaRPr lang="zh-CN" altLang="en-US" dirty="0">
              <a:solidFill>
                <a:srgbClr val="525252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43B5D5D8-DF80-42E2-9FE8-90E05B2D10BA}"/>
              </a:ext>
            </a:extLst>
          </p:cNvPr>
          <p:cNvSpPr txBox="1"/>
          <p:nvPr/>
        </p:nvSpPr>
        <p:spPr>
          <a:xfrm>
            <a:off x="166097" y="1628800"/>
            <a:ext cx="2926811" cy="40926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int fun(int n)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 int x=2;</a:t>
            </a:r>
            <a:endParaRPr lang="zh-CN" altLang="zh-CN" dirty="0">
              <a:solidFill>
                <a:srgbClr val="525252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 while (x&lt;n/2)</a:t>
            </a:r>
            <a:endParaRPr lang="zh-CN" altLang="zh-CN" dirty="0">
              <a:solidFill>
                <a:srgbClr val="525252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x=2*x;</a:t>
            </a:r>
            <a:endParaRPr lang="zh-CN" altLang="zh-CN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  return x;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525252"/>
                </a:solidFill>
                <a:latin typeface="+mn-ea"/>
                <a:cs typeface="Consolas" panose="020B0609020204030204" pitchFamily="49" charset="0"/>
              </a:rPr>
              <a:t>}</a:t>
            </a:r>
            <a:endParaRPr lang="zh-CN" altLang="zh-CN" dirty="0">
              <a:solidFill>
                <a:srgbClr val="525252"/>
              </a:solidFill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670AA-CC0F-4833-B659-AC84E7FE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</a:t>
            </a:r>
            <a:r>
              <a:rPr lang="en-US" altLang="zh-CN" dirty="0"/>
              <a:t>O</a:t>
            </a:r>
            <a:r>
              <a:rPr lang="zh-CN" altLang="en-US" dirty="0"/>
              <a:t>表示法的加法和乘法规则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A4B2CF-ACC0-465D-AE59-EFB737CA1108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800100"/>
            <a:ext cx="8424936" cy="270090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大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表示法的加法规则（针对并列程序段）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    	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O(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	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O(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	T(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+ 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O(max 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), 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)))</a:t>
            </a: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D9A36BDC-FDB4-494A-BFAB-F665DF197CEB}"/>
              </a:ext>
            </a:extLst>
          </p:cNvPr>
          <p:cNvGrpSpPr>
            <a:grpSpLocks/>
          </p:cNvGrpSpPr>
          <p:nvPr/>
        </p:nvGrpSpPr>
        <p:grpSpPr bwMode="auto">
          <a:xfrm>
            <a:off x="4177869" y="1635957"/>
            <a:ext cx="1029628" cy="1080591"/>
            <a:chOff x="3039" y="958"/>
            <a:chExt cx="550" cy="499"/>
          </a:xfrm>
        </p:grpSpPr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93B056FD-0D63-4609-8547-F703A0C77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958"/>
              <a:ext cx="68" cy="499"/>
            </a:xfrm>
            <a:prstGeom prst="rightBrace">
              <a:avLst>
                <a:gd name="adj1" fmla="val 92407"/>
                <a:gd name="adj2" fmla="val 50000"/>
              </a:avLst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0721B394-8FAA-42B3-B5FC-473FBB276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026"/>
              <a:ext cx="48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并列</a:t>
              </a:r>
            </a:p>
          </p:txBody>
        </p:sp>
      </p:grpSp>
      <p:sp>
        <p:nvSpPr>
          <p:cNvPr id="11" name="Rectangle 13">
            <a:extLst>
              <a:ext uri="{FF2B5EF4-FFF2-40B4-BE49-F238E27FC236}">
                <a16:creationId xmlns:a16="http://schemas.microsoft.com/office/drawing/2014/main" id="{2C3BE29D-F10A-4A58-9471-28EB3C292F97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3699660"/>
            <a:ext cx="8389689" cy="27900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大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表示法的乘法规则（针对嵌套程序段）</a:t>
            </a:r>
          </a:p>
          <a:p>
            <a:pPr eaLnBrk="1" hangingPunct="1">
              <a:buClr>
                <a:srgbClr val="FF9900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O(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	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O(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     	T(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kern="0" baseline="-25000" dirty="0">
                <a:solidFill>
                  <a:srgbClr val="0066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))</a:t>
            </a:r>
            <a:br>
              <a:rPr lang="en-US" altLang="zh-CN" kern="0" dirty="0">
                <a:solidFill>
                  <a:srgbClr val="006600"/>
                </a:solidFill>
                <a:latin typeface="Times New Roman" panose="02020603050405020304" pitchFamily="18" charset="0"/>
              </a:rPr>
            </a:br>
            <a:endParaRPr lang="en-US" altLang="zh-CN" sz="1000" kern="0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F65DCDC6-3FE4-4A02-8790-A0B036205BFD}"/>
              </a:ext>
            </a:extLst>
          </p:cNvPr>
          <p:cNvGrpSpPr>
            <a:grpSpLocks/>
          </p:cNvGrpSpPr>
          <p:nvPr/>
        </p:nvGrpSpPr>
        <p:grpSpPr bwMode="auto">
          <a:xfrm>
            <a:off x="4304476" y="4511914"/>
            <a:ext cx="1031518" cy="1077325"/>
            <a:chOff x="3031" y="958"/>
            <a:chExt cx="613" cy="499"/>
          </a:xfrm>
        </p:grpSpPr>
        <p:sp>
          <p:nvSpPr>
            <p:cNvPr id="13" name="AutoShape 15">
              <a:extLst>
                <a:ext uri="{FF2B5EF4-FFF2-40B4-BE49-F238E27FC236}">
                  <a16:creationId xmlns:a16="http://schemas.microsoft.com/office/drawing/2014/main" id="{500BB8D0-F90A-4B1E-9470-0CD6B4BC9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958"/>
              <a:ext cx="84" cy="499"/>
            </a:xfrm>
            <a:prstGeom prst="rightBrace">
              <a:avLst>
                <a:gd name="adj1" fmla="val 92407"/>
                <a:gd name="adj2" fmla="val 50000"/>
              </a:avLst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95505564-1CE6-42F7-BDC9-92B8CE7D3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026"/>
              <a:ext cx="53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嵌套</a:t>
              </a:r>
              <a:endPara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53988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E3827-0FAE-4961-98D4-B5B52635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 3</a:t>
            </a:r>
            <a:endParaRPr lang="zh-CN" altLang="en-US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01C78F0-5124-4D1A-8131-B232A2EAC04A}"/>
              </a:ext>
            </a:extLst>
          </p:cNvPr>
          <p:cNvSpPr txBox="1"/>
          <p:nvPr/>
        </p:nvSpPr>
        <p:spPr>
          <a:xfrm>
            <a:off x="1187624" y="1116650"/>
            <a:ext cx="5985339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下列程序段的时间复杂度是（  ）。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38903E1-FAB7-4E89-AAAD-9BA6CAAEF70A}"/>
              </a:ext>
            </a:extLst>
          </p:cNvPr>
          <p:cNvSpPr txBox="1"/>
          <p:nvPr/>
        </p:nvSpPr>
        <p:spPr>
          <a:xfrm>
            <a:off x="459942" y="5157192"/>
            <a:ext cx="8280920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A. O(log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    B.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    C.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log</a:t>
            </a:r>
            <a:r>
              <a:rPr kumimoji="1" lang="en-US" altLang="zh-CN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    D. O(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2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8A20EDD-9E11-44EB-B9B4-B88885D95426}"/>
              </a:ext>
            </a:extLst>
          </p:cNvPr>
          <p:cNvSpPr txBox="1"/>
          <p:nvPr/>
        </p:nvSpPr>
        <p:spPr>
          <a:xfrm>
            <a:off x="2067553" y="1648981"/>
            <a:ext cx="5008894" cy="26084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count=0;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for(k=1; k&lt;=n; k*=2)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 for(j=1; j&lt;=n; 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j++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      count++;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7779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DF312-9AD1-4088-83AC-B726C6FE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73B82DAD-DE15-4611-A1EC-8AACCFD97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945" y="1413220"/>
            <a:ext cx="4252109" cy="4782230"/>
          </a:xfrm>
          <a:prstGeom prst="rect">
            <a:avLst/>
          </a:prstGeom>
          <a:noFill/>
          <a:ln w="19050"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80000" tIns="180000" bIns="14400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void 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func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(int n) {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int 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i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=0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，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s=0;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while (s&lt;n) {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i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++;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  s = </a:t>
            </a:r>
            <a:r>
              <a:rPr kumimoji="1" lang="en-US" altLang="zh-CN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s+i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;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  }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2C33800-D94E-4B54-8723-F542B7B81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33909"/>
            <a:ext cx="6553200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分析以下算法的时间复杂度。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8367554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19F8F-A214-4CD7-B1AF-45757424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2F8AC-D338-4D4B-A1F5-31D8AE87DE9A}"/>
              </a:ext>
            </a:extLst>
          </p:cNvPr>
          <p:cNvSpPr/>
          <p:nvPr/>
        </p:nvSpPr>
        <p:spPr>
          <a:xfrm>
            <a:off x="2735796" y="1586622"/>
            <a:ext cx="3672408" cy="2608406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while (i &lt; n) {</a:t>
            </a:r>
          </a:p>
          <a:p>
            <a:pPr algn="l">
              <a:lnSpc>
                <a:spcPct val="150000"/>
              </a:lnSpc>
            </a:pPr>
            <a:r>
              <a:rPr lang="pt-BR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++j;</a:t>
            </a:r>
          </a:p>
          <a:p>
            <a:pPr algn="l">
              <a:lnSpc>
                <a:spcPct val="150000"/>
              </a:lnSpc>
            </a:pPr>
            <a:r>
              <a:rPr lang="pt-BR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i += 100;</a:t>
            </a:r>
          </a:p>
          <a:p>
            <a:pPr algn="l">
              <a:lnSpc>
                <a:spcPct val="150000"/>
              </a:lnSpc>
            </a:pPr>
            <a:r>
              <a:rPr lang="pt-BR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955D7581-131B-4017-AD5C-D21E4D06C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33909"/>
            <a:ext cx="6553200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分析以下算法的时间复杂度。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24261309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52C98-C4C0-4541-9838-AB2AFE7B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11D98-9013-485F-B425-153EFBDB1D0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836713"/>
            <a:ext cx="8229600" cy="3960439"/>
          </a:xfrm>
          <a:prstGeom prst="rect">
            <a:avLst/>
          </a:prstGeom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+mn-ea"/>
                <a:ea typeface="+mn-ea"/>
              </a:rPr>
              <a:t>求整数 </a:t>
            </a:r>
            <a:r>
              <a:rPr lang="en-US" altLang="zh-CN" sz="2800" kern="0" dirty="0">
                <a:latin typeface="+mn-ea"/>
                <a:ea typeface="+mn-ea"/>
              </a:rPr>
              <a:t>n</a:t>
            </a:r>
            <a:r>
              <a:rPr lang="zh-CN" altLang="en-US" sz="2800" kern="0" dirty="0">
                <a:latin typeface="+mn-ea"/>
                <a:ea typeface="+mn-ea"/>
              </a:rPr>
              <a:t>（</a:t>
            </a:r>
            <a:r>
              <a:rPr lang="en-US" altLang="zh-CN" sz="2800" kern="0" dirty="0">
                <a:latin typeface="+mn-ea"/>
                <a:ea typeface="+mn-ea"/>
              </a:rPr>
              <a:t>n≥0</a:t>
            </a:r>
            <a:r>
              <a:rPr lang="zh-CN" altLang="en-US" sz="2800" kern="0" dirty="0">
                <a:latin typeface="+mn-ea"/>
                <a:ea typeface="+mn-ea"/>
              </a:rPr>
              <a:t>）的阶乘的算法如下，其时间复杂度是</a:t>
            </a: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Consolas" panose="020B0609020204030204" pitchFamily="49" charset="0"/>
                <a:ea typeface="+mn-ea"/>
              </a:rPr>
              <a:t>　　	   </a:t>
            </a:r>
            <a:r>
              <a:rPr lang="en-US" altLang="zh-CN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int fact(int n) {</a:t>
            </a: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            if (n&lt;=1) return 1;</a:t>
            </a: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　　	       </a:t>
            </a:r>
            <a:r>
              <a:rPr lang="en-US" altLang="zh-CN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return n*fact(n-1);</a:t>
            </a: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　　	   </a:t>
            </a:r>
            <a:r>
              <a:rPr lang="en-US" altLang="zh-CN" sz="2800" kern="0" dirty="0">
                <a:solidFill>
                  <a:srgbClr val="0000FF"/>
                </a:solidFill>
                <a:latin typeface="Consolas" panose="020B0609020204030204" pitchFamily="49" charset="0"/>
                <a:ea typeface="+mn-ea"/>
              </a:rPr>
              <a:t>}</a:t>
            </a: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800" kern="0" dirty="0">
              <a:latin typeface="+mn-ea"/>
              <a:ea typeface="+mn-ea"/>
            </a:endParaRPr>
          </a:p>
          <a:p>
            <a:pPr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+mn-ea"/>
                <a:ea typeface="+mn-ea"/>
              </a:rPr>
              <a:t>A. </a:t>
            </a:r>
            <a:r>
              <a:rPr lang="en-US" altLang="zh-CN" sz="2800" i="1" kern="0" dirty="0">
                <a:latin typeface="+mn-ea"/>
                <a:ea typeface="+mn-ea"/>
              </a:rPr>
              <a:t>O</a:t>
            </a:r>
            <a:r>
              <a:rPr lang="en-US" altLang="zh-CN" sz="2800" kern="0" dirty="0">
                <a:latin typeface="+mn-ea"/>
                <a:ea typeface="+mn-ea"/>
              </a:rPr>
              <a:t>(log</a:t>
            </a:r>
            <a:r>
              <a:rPr lang="en-US" altLang="zh-CN" sz="2800" kern="0" baseline="-25000" dirty="0">
                <a:latin typeface="+mn-ea"/>
                <a:ea typeface="+mn-ea"/>
              </a:rPr>
              <a:t>2</a:t>
            </a:r>
            <a:r>
              <a:rPr lang="en-US" altLang="zh-CN" sz="2800" kern="0" dirty="0">
                <a:latin typeface="+mn-ea"/>
                <a:ea typeface="+mn-ea"/>
              </a:rPr>
              <a:t>n)     B. </a:t>
            </a:r>
            <a:r>
              <a:rPr lang="en-US" altLang="zh-CN" sz="2800" i="1" kern="0" dirty="0">
                <a:latin typeface="+mn-ea"/>
                <a:ea typeface="+mn-ea"/>
              </a:rPr>
              <a:t>O</a:t>
            </a:r>
            <a:r>
              <a:rPr lang="en-US" altLang="zh-CN" sz="2800" kern="0" dirty="0">
                <a:latin typeface="+mn-ea"/>
                <a:ea typeface="+mn-ea"/>
              </a:rPr>
              <a:t>(n)     C. </a:t>
            </a:r>
            <a:r>
              <a:rPr lang="en-US" altLang="zh-CN" sz="2800" i="1" kern="0" dirty="0">
                <a:latin typeface="+mn-ea"/>
                <a:ea typeface="+mn-ea"/>
              </a:rPr>
              <a:t>O</a:t>
            </a:r>
            <a:r>
              <a:rPr lang="en-US" altLang="zh-CN" sz="2800" kern="0" dirty="0">
                <a:latin typeface="+mn-ea"/>
                <a:ea typeface="+mn-ea"/>
              </a:rPr>
              <a:t>(nlog</a:t>
            </a:r>
            <a:r>
              <a:rPr lang="en-US" altLang="zh-CN" sz="2800" kern="0" baseline="-25000" dirty="0">
                <a:latin typeface="+mn-ea"/>
                <a:ea typeface="+mn-ea"/>
              </a:rPr>
              <a:t>2</a:t>
            </a:r>
            <a:r>
              <a:rPr lang="en-US" altLang="zh-CN" sz="2800" kern="0" dirty="0">
                <a:latin typeface="+mn-ea"/>
                <a:ea typeface="+mn-ea"/>
              </a:rPr>
              <a:t>n)     D. </a:t>
            </a:r>
            <a:r>
              <a:rPr lang="en-US" altLang="zh-CN" sz="2800" i="1" kern="0" dirty="0">
                <a:latin typeface="+mn-ea"/>
                <a:ea typeface="+mn-ea"/>
              </a:rPr>
              <a:t>O</a:t>
            </a:r>
            <a:r>
              <a:rPr lang="en-US" altLang="zh-CN" sz="2800" kern="0" dirty="0">
                <a:latin typeface="+mn-ea"/>
                <a:ea typeface="+mn-ea"/>
              </a:rPr>
              <a:t>(n</a:t>
            </a:r>
            <a:r>
              <a:rPr lang="en-US" altLang="zh-CN" sz="2800" kern="0" baseline="30000" dirty="0">
                <a:latin typeface="+mn-ea"/>
                <a:ea typeface="+mn-ea"/>
              </a:rPr>
              <a:t>2</a:t>
            </a:r>
            <a:r>
              <a:rPr lang="en-US" altLang="zh-CN" sz="2800" kern="0" dirty="0"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35637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0" name="Rectangle 4"/>
          <p:cNvSpPr>
            <a:spLocks noChangeArrowheads="1"/>
          </p:cNvSpPr>
          <p:nvPr/>
        </p:nvSpPr>
        <p:spPr bwMode="auto">
          <a:xfrm>
            <a:off x="409575" y="2074082"/>
            <a:ext cx="8321675" cy="2795958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indent="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例：顺序查找，在数组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a[ ]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中查找值等于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的元素，返回其所在位置。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for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=0;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&lt;n;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++)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    if (a[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]==e) return i+1;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return 0;</a:t>
            </a:r>
          </a:p>
        </p:txBody>
      </p:sp>
      <p:sp>
        <p:nvSpPr>
          <p:cNvPr id="65538" name="Rectangle 5"/>
          <p:cNvSpPr>
            <a:spLocks noChangeArrowheads="1"/>
          </p:cNvSpPr>
          <p:nvPr/>
        </p:nvSpPr>
        <p:spPr bwMode="auto">
          <a:xfrm>
            <a:off x="335756" y="849743"/>
            <a:ext cx="8472487" cy="113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算法中基本操作重复执行的次数，还会随问题的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输入数据集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不同而不同。</a:t>
            </a:r>
          </a:p>
        </p:txBody>
      </p:sp>
      <p:sp>
        <p:nvSpPr>
          <p:cNvPr id="449542" name="Text Box 6"/>
          <p:cNvSpPr txBox="1">
            <a:spLocks noChangeArrowheads="1"/>
          </p:cNvSpPr>
          <p:nvPr/>
        </p:nvSpPr>
        <p:spPr bwMode="auto">
          <a:xfrm>
            <a:off x="426504" y="5403511"/>
            <a:ext cx="2170282" cy="11567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最好情况：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O(1)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55650" y="203200"/>
            <a:ext cx="7366000" cy="523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最好、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最坏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和平均时间复杂度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2935038" y="5403511"/>
            <a:ext cx="2074585" cy="11567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最坏情况：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O(n)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652119" y="5373216"/>
            <a:ext cx="3079131" cy="11580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平均时间复杂度</a:t>
            </a:r>
            <a:r>
              <a:rPr lang="zh-CN" altLang="en-US" dirty="0">
                <a:latin typeface="+mn-ea"/>
                <a:ea typeface="+mn-ea"/>
                <a:cs typeface="+mn-ea"/>
                <a:sym typeface="+mn-lt"/>
              </a:rPr>
              <a:t>：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0" grpId="0" animBg="1"/>
      <p:bldP spid="19" grpId="0"/>
      <p:bldP spid="2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C6C35-45BC-479F-8FB0-F8590EC9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平均时间复杂度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8B7AA61-E019-41FF-89D4-F1F8655B8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32" y="928491"/>
            <a:ext cx="8532948" cy="32478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设一个算法的输入规模为 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en-US" altLang="zh-CN" i="1" u="none" strike="noStrike" kern="1200" cap="none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1" u="none" strike="noStrike" kern="1200" cap="none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是所有可能的规模为 </a:t>
            </a:r>
            <a:r>
              <a:rPr kumimoji="1" lang="en-US" altLang="zh-CN" i="1" dirty="0">
                <a:solidFill>
                  <a:prstClr val="black"/>
                </a:solidFill>
                <a:latin typeface="+mn-ea"/>
                <a:ea typeface="+mn-ea"/>
                <a:cs typeface="Consolas" pitchFamily="49" charset="0"/>
              </a:rPr>
              <a:t>n </a:t>
            </a:r>
            <a:r>
              <a:rPr kumimoji="1" lang="zh-CN" altLang="en-US" dirty="0">
                <a:solidFill>
                  <a:prstClr val="black"/>
                </a:solidFill>
                <a:latin typeface="+mn-ea"/>
                <a:ea typeface="+mn-ea"/>
                <a:cs typeface="Consolas" pitchFamily="49" charset="0"/>
              </a:rPr>
              <a:t>的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输入数据的集合。对任一可能的输入 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I </a:t>
            </a:r>
            <a:r>
              <a:rPr kumimoji="1" lang="en-US" altLang="zh-CN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∈</a:t>
            </a:r>
            <a:r>
              <a:rPr kumimoji="1" lang="en-US" altLang="zh-CN" i="1" u="none" strike="noStrike" kern="1200" cap="none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en-US" altLang="zh-CN" i="1" u="none" strike="noStrike" kern="1200" cap="none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P(I)</a:t>
            </a:r>
            <a:r>
              <a:rPr kumimoji="1" lang="en-US" altLang="zh-CN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是 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I</a:t>
            </a:r>
            <a:r>
              <a:rPr kumimoji="1" lang="en-US" altLang="zh-CN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出现的概率，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T(I) 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是算法在输入 </a:t>
            </a:r>
            <a:r>
              <a:rPr kumimoji="1" lang="en-US" altLang="zh-CN" i="1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I</a:t>
            </a:r>
            <a:r>
              <a:rPr kumimoji="1" lang="en-US" altLang="zh-CN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下的时间复杂度，则算法的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平均时间复杂度</a:t>
            </a:r>
            <a:r>
              <a:rPr kumimoji="1" lang="zh-CN" altLang="en-US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为所有可能输入的期望值：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774C6161-A9E3-4182-8D14-98E277007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564858" y="3789040"/>
            <a:ext cx="4014283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8E87BEE-8A56-4B99-AE2B-486CB07CB68A}"/>
              </a:ext>
            </a:extLst>
          </p:cNvPr>
          <p:cNvSpPr txBox="1"/>
          <p:nvPr/>
        </p:nvSpPr>
        <p:spPr>
          <a:xfrm>
            <a:off x="359532" y="5360639"/>
            <a:ext cx="8388931" cy="1499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0000FF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如无特别说明，时间复杂度均指</a:t>
            </a:r>
            <a:r>
              <a:rPr lang="zh-CN" altLang="en-US" sz="32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最坏情况下</a:t>
            </a:r>
            <a:r>
              <a:rPr lang="zh-CN" altLang="en-US" sz="3200" dirty="0">
                <a:solidFill>
                  <a:srgbClr val="0000FF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的时间复杂度。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27585621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8CEE8-D8CE-450A-B728-058D66BC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算法的空间复杂度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BA285071-14E3-4060-8730-4F293B28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668314"/>
            <a:ext cx="8686800" cy="668032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108000" bIns="1800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E9BEEF1-85B6-411C-AB5F-33BCCA58BABA}"/>
              </a:ext>
            </a:extLst>
          </p:cNvPr>
          <p:cNvSpPr txBox="1"/>
          <p:nvPr/>
        </p:nvSpPr>
        <p:spPr>
          <a:xfrm>
            <a:off x="323527" y="4869160"/>
            <a:ext cx="8496945" cy="150810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lvl="0"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若一个算法的空间复杂度为 </a:t>
            </a:r>
            <a:r>
              <a:rPr kumimoji="1" lang="en-US" altLang="zh-CN" sz="3200" b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O</a:t>
            </a:r>
            <a:r>
              <a:rPr kumimoji="1" lang="en-US" altLang="zh-CN" sz="3200" b="1" dirty="0">
                <a:solidFill>
                  <a:srgbClr val="0000FF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(1)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，则称此算法为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原地工作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或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就地工作算法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Consolas" pitchFamily="49" charset="0"/>
              </a:rPr>
              <a:t>。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39E4403-6E9E-4193-967F-334FBF9EAC29}"/>
              </a:ext>
            </a:extLst>
          </p:cNvPr>
          <p:cNvSpPr txBox="1"/>
          <p:nvPr/>
        </p:nvSpPr>
        <p:spPr>
          <a:xfrm>
            <a:off x="395536" y="908720"/>
            <a:ext cx="8352928" cy="389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空间复杂度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：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用于度量一个算法</a:t>
            </a:r>
            <a:r>
              <a:rPr kumimoji="1" lang="zh-CN" altLang="en-US" dirty="0">
                <a:solidFill>
                  <a:prstClr val="black"/>
                </a:solidFill>
                <a:latin typeface="+mn-ea"/>
                <a:ea typeface="+mn-ea"/>
                <a:cs typeface="Consolas" pitchFamily="49" charset="0"/>
              </a:rPr>
              <a:t>在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运行过程中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临时占用的存储空间大小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。</a:t>
            </a:r>
            <a:endParaRPr kumimoji="1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一般也作为问题规模 </a:t>
            </a:r>
            <a:r>
              <a:rPr kumimoji="1" lang="en-US" altLang="zh-CN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的函数，采用数量级形式描述，记作</a:t>
            </a:r>
            <a:r>
              <a:rPr kumimoji="1" lang="zh-CN" altLang="en-US" dirty="0">
                <a:solidFill>
                  <a:prstClr val="black"/>
                </a:solidFill>
                <a:latin typeface="+mn-ea"/>
                <a:ea typeface="+mn-ea"/>
                <a:cs typeface="Consolas" pitchFamily="49" charset="0"/>
              </a:rPr>
              <a:t>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S(</a:t>
            </a: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 = O(g(</a:t>
            </a:r>
            <a:r>
              <a:rPr kumimoji="1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))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，表示随着问题规模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n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的增大，算法运行所需存储量的增长率不超过 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g(n) 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的增长率。</a:t>
            </a:r>
          </a:p>
        </p:txBody>
      </p:sp>
    </p:spTree>
    <p:extLst>
      <p:ext uri="{BB962C8B-B14F-4D97-AF65-F5344CB8AC3E}">
        <p14:creationId xmlns:p14="http://schemas.microsoft.com/office/powerpoint/2010/main" val="344644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B7F16-1570-4B82-9774-23320BF6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 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E8906572-EFD7-4F30-BDF8-AE70825D2A7A}"/>
              </a:ext>
            </a:extLst>
          </p:cNvPr>
          <p:cNvSpPr txBox="1"/>
          <p:nvPr/>
        </p:nvSpPr>
        <p:spPr>
          <a:xfrm>
            <a:off x="503548" y="1124744"/>
            <a:ext cx="8172908" cy="410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>
              <a:defRPr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某算法的空间复杂度为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 O(1)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，则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（   ）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A.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该算法执行不需要任何辅助空间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B.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该算法执行所需辅助空间大小与问题规模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 n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无关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C.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该算法执行不需要任何空间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D.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该算法执行所需空间大小与问题规模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 n </a:t>
            </a:r>
            <a:r>
              <a:rPr kumimoji="1" lang="zh-CN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无关</a:t>
            </a:r>
          </a:p>
        </p:txBody>
      </p:sp>
    </p:spTree>
    <p:extLst>
      <p:ext uri="{BB962C8B-B14F-4D97-AF65-F5344CB8AC3E}">
        <p14:creationId xmlns:p14="http://schemas.microsoft.com/office/powerpoint/2010/main" val="21466921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3873" y="3781425"/>
            <a:ext cx="4211960" cy="2924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1】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=0;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&lt;n/2;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++)</a:t>
            </a:r>
            <a:r>
              <a:rPr lang="zh-CN" altLang="en-US" sz="2400" dirty="0">
                <a:latin typeface="Consolas" panose="020B0609020204030204" pitchFamily="49" charset="0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Consolas" panose="020B0609020204030204" pitchFamily="49" charset="0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=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 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 = a[n-i-1];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  a[n-i-1] =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716463" y="3781425"/>
            <a:ext cx="4211960" cy="2924175"/>
          </a:xfrm>
          <a:prstGeom prst="rect">
            <a:avLst/>
          </a:prstGeom>
          <a:solidFill>
            <a:srgbClr val="6C4C8F">
              <a:alpha val="30000"/>
            </a:srgb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2】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=0;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&lt;n;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++)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  b[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 =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a[n-i-1];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for(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=0;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&lt;n;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++)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    a[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 =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b[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]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ea"/>
                <a:sym typeface="+mn-lt"/>
              </a:rPr>
              <a:t> 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ea"/>
              <a:sym typeface="+mn-lt"/>
            </a:endParaRP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376237" y="1019176"/>
            <a:ext cx="8391525" cy="523875"/>
          </a:xfrm>
          <a:prstGeom prst="rect">
            <a:avLst/>
          </a:prstGeom>
          <a:noFill/>
          <a:ln w="381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将一维数组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a[ ]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中的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个数逆序存放到原数组中。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云形标注 7"/>
          <p:cNvSpPr>
            <a:spLocks noChangeArrowheads="1"/>
          </p:cNvSpPr>
          <p:nvPr/>
        </p:nvSpPr>
        <p:spPr bwMode="auto">
          <a:xfrm>
            <a:off x="5372262" y="1981200"/>
            <a:ext cx="2900362" cy="943744"/>
          </a:xfrm>
          <a:prstGeom prst="cloudCallout">
            <a:avLst>
              <a:gd name="adj1" fmla="val -29597"/>
              <a:gd name="adj2" fmla="val 152884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S(n) = O(n)</a:t>
            </a:r>
          </a:p>
        </p:txBody>
      </p:sp>
      <p:sp>
        <p:nvSpPr>
          <p:cNvPr id="9" name="云形标注 8"/>
          <p:cNvSpPr>
            <a:spLocks noChangeArrowheads="1"/>
          </p:cNvSpPr>
          <p:nvPr/>
        </p:nvSpPr>
        <p:spPr bwMode="auto">
          <a:xfrm>
            <a:off x="633412" y="2032794"/>
            <a:ext cx="3002483" cy="1258888"/>
          </a:xfrm>
          <a:prstGeom prst="cloudCallout">
            <a:avLst>
              <a:gd name="adj1" fmla="val -20541"/>
              <a:gd name="adj2" fmla="val 92428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S(n) = O(1)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原地工作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27088" y="201613"/>
            <a:ext cx="4825032" cy="5032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算法的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  <a:sym typeface="+mn-lt"/>
              </a:rPr>
              <a:t>空间复杂度分析示例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build="allAtOnce" animBg="1"/>
      <p:bldP spid="9" grpId="0" build="allAtOnce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0A8F8-7041-4678-832F-366C4A69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算法的空间复杂度分析示例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8518D39-7D43-4FB3-9C83-22FAB49EC155}"/>
              </a:ext>
            </a:extLst>
          </p:cNvPr>
          <p:cNvSpPr txBox="1"/>
          <p:nvPr/>
        </p:nvSpPr>
        <p:spPr>
          <a:xfrm>
            <a:off x="1970202" y="1864162"/>
            <a:ext cx="5203596" cy="3943708"/>
          </a:xfrm>
          <a:prstGeom prst="rect">
            <a:avLst/>
          </a:prstGeom>
          <a:ln w="9525">
            <a:noFill/>
          </a:ln>
        </p:spPr>
        <p:txBody>
          <a:bodyPr vert="horz" wrap="square" lIns="0" tIns="22225" rIns="0" bIns="0" rtlCol="0">
            <a:spAutoFit/>
          </a:bodyPr>
          <a:lstStyle/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void </a:t>
            </a:r>
            <a:r>
              <a:rPr sz="2400" dirty="0" err="1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PrintN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(int N)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{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urier New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 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if (N)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{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urier New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       </a:t>
            </a:r>
            <a:r>
              <a:rPr sz="2400" dirty="0" err="1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PrintN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(N–1)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;</a:t>
            </a:r>
            <a:r>
              <a:rPr lang="zh-CN" alt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</a:t>
            </a:r>
            <a:endParaRPr lang="en-US" altLang="zh-CN" sz="2400" dirty="0">
              <a:solidFill>
                <a:srgbClr val="0000FF"/>
              </a:solidFill>
              <a:latin typeface="Consolas" panose="020B0609020204030204" pitchFamily="49" charset="0"/>
              <a:cs typeface="Courier New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cout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&lt;&lt;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N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&lt;&lt; “ ”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;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urier New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  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}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    </a:t>
            </a:r>
            <a:r>
              <a:rPr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return;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urier New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urier New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089408-5A6C-4E0D-85D3-D3E7DD84335B}"/>
              </a:ext>
            </a:extLst>
          </p:cNvPr>
          <p:cNvSpPr txBox="1"/>
          <p:nvPr/>
        </p:nvSpPr>
        <p:spPr>
          <a:xfrm>
            <a:off x="971600" y="1007302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分析下列算法的空间复杂度。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28508700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>
            <a:extLst>
              <a:ext uri="{FF2B5EF4-FFF2-40B4-BE49-F238E27FC236}">
                <a16:creationId xmlns:a16="http://schemas.microsoft.com/office/drawing/2014/main" id="{F8A31554-1208-4726-AE41-316C86397152}"/>
              </a:ext>
            </a:extLst>
          </p:cNvPr>
          <p:cNvSpPr/>
          <p:nvPr/>
        </p:nvSpPr>
        <p:spPr>
          <a:xfrm>
            <a:off x="886539" y="4202477"/>
            <a:ext cx="5480710" cy="577438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>
                <a:lumMod val="50000"/>
                <a:alpha val="69804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4FB1BCD4-ED11-4CD1-9320-7D776E9F0029}"/>
              </a:ext>
            </a:extLst>
          </p:cNvPr>
          <p:cNvSpPr/>
          <p:nvPr/>
        </p:nvSpPr>
        <p:spPr>
          <a:xfrm>
            <a:off x="890750" y="2895962"/>
            <a:ext cx="5476489" cy="592511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>
                <a:lumMod val="50000"/>
                <a:alpha val="69804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BDE79D9-C1D7-4E91-8E4D-818E6C864723}"/>
              </a:ext>
            </a:extLst>
          </p:cNvPr>
          <p:cNvSpPr/>
          <p:nvPr/>
        </p:nvSpPr>
        <p:spPr>
          <a:xfrm>
            <a:off x="177692" y="1484075"/>
            <a:ext cx="6189472" cy="670488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>
                <a:lumMod val="50000"/>
                <a:alpha val="69804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2AC19C8-3834-4004-B7B0-1FCCFD5C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从数据结构角度求解问题的过程</a:t>
            </a:r>
          </a:p>
        </p:txBody>
      </p:sp>
      <p:grpSp>
        <p:nvGrpSpPr>
          <p:cNvPr id="49" name="Group 50">
            <a:extLst>
              <a:ext uri="{FF2B5EF4-FFF2-40B4-BE49-F238E27FC236}">
                <a16:creationId xmlns:a16="http://schemas.microsoft.com/office/drawing/2014/main" id="{827EED86-DD81-45D4-AFF0-8B19E2848849}"/>
              </a:ext>
            </a:extLst>
          </p:cNvPr>
          <p:cNvGrpSpPr/>
          <p:nvPr/>
        </p:nvGrpSpPr>
        <p:grpSpPr bwMode="auto">
          <a:xfrm>
            <a:off x="6394469" y="4304694"/>
            <a:ext cx="2571839" cy="388691"/>
            <a:chOff x="3888" y="2351"/>
            <a:chExt cx="1762" cy="194"/>
          </a:xfrm>
          <a:solidFill>
            <a:schemeClr val="accent2"/>
          </a:solidFill>
        </p:grpSpPr>
        <p:sp>
          <p:nvSpPr>
            <p:cNvPr id="50" name="Text Box 40">
              <a:extLst>
                <a:ext uri="{FF2B5EF4-FFF2-40B4-BE49-F238E27FC236}">
                  <a16:creationId xmlns:a16="http://schemas.microsoft.com/office/drawing/2014/main" id="{19E17ED5-7792-4EA3-83AF-49FA0D914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9" y="2351"/>
              <a:ext cx="1341" cy="194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  <a:sym typeface="Wingdings" panose="05000000000000000000"/>
                </a:rPr>
                <a:t>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算法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设计</a:t>
              </a:r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2B6B9980-B825-4FB5-9FB2-F31FCB96D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478"/>
              <a:ext cx="384" cy="0"/>
            </a:xfrm>
            <a:prstGeom prst="line">
              <a:avLst/>
            </a:prstGeom>
            <a:grpFill/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2" name="Group 47">
            <a:extLst>
              <a:ext uri="{FF2B5EF4-FFF2-40B4-BE49-F238E27FC236}">
                <a16:creationId xmlns:a16="http://schemas.microsoft.com/office/drawing/2014/main" id="{55B23CE4-F0B5-4CDD-AC8B-25BC16C137CB}"/>
              </a:ext>
            </a:extLst>
          </p:cNvPr>
          <p:cNvGrpSpPr/>
          <p:nvPr/>
        </p:nvGrpSpPr>
        <p:grpSpPr bwMode="auto">
          <a:xfrm>
            <a:off x="6426208" y="2983522"/>
            <a:ext cx="2540100" cy="408114"/>
            <a:chOff x="4063" y="1601"/>
            <a:chExt cx="1712" cy="194"/>
          </a:xfrm>
          <a:solidFill>
            <a:schemeClr val="accent2"/>
          </a:solidFill>
        </p:grpSpPr>
        <p:sp>
          <p:nvSpPr>
            <p:cNvPr id="53" name="Text Box 39">
              <a:extLst>
                <a:ext uri="{FF2B5EF4-FFF2-40B4-BE49-F238E27FC236}">
                  <a16:creationId xmlns:a16="http://schemas.microsoft.com/office/drawing/2014/main" id="{FBE39F05-0A18-475D-B1C7-4195AB014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601"/>
              <a:ext cx="1311" cy="194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  <a:sym typeface="Wingdings" panose="05000000000000000000"/>
                </a:rPr>
                <a:t>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设计存储结构</a:t>
              </a:r>
            </a:p>
          </p:txBody>
        </p:sp>
        <p:sp>
          <p:nvSpPr>
            <p:cNvPr id="54" name="Line 46">
              <a:extLst>
                <a:ext uri="{FF2B5EF4-FFF2-40B4-BE49-F238E27FC236}">
                  <a16:creationId xmlns:a16="http://schemas.microsoft.com/office/drawing/2014/main" id="{ABA6A202-93C4-41D9-9D97-BFEB098AB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1705"/>
              <a:ext cx="364" cy="0"/>
            </a:xfrm>
            <a:prstGeom prst="line">
              <a:avLst/>
            </a:prstGeom>
            <a:grpFill/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none" l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5" name="Group 44">
            <a:extLst>
              <a:ext uri="{FF2B5EF4-FFF2-40B4-BE49-F238E27FC236}">
                <a16:creationId xmlns:a16="http://schemas.microsoft.com/office/drawing/2014/main" id="{197B4A18-9AD8-4DA0-8932-EC0E6E9D24B0}"/>
              </a:ext>
            </a:extLst>
          </p:cNvPr>
          <p:cNvGrpSpPr/>
          <p:nvPr/>
        </p:nvGrpSpPr>
        <p:grpSpPr bwMode="auto">
          <a:xfrm>
            <a:off x="6426379" y="1696999"/>
            <a:ext cx="2539929" cy="351662"/>
            <a:chOff x="4183" y="670"/>
            <a:chExt cx="1437" cy="194"/>
          </a:xfrm>
          <a:solidFill>
            <a:schemeClr val="accent2"/>
          </a:solidFill>
        </p:grpSpPr>
        <p:sp>
          <p:nvSpPr>
            <p:cNvPr id="56" name="Text Box 38">
              <a:extLst>
                <a:ext uri="{FF2B5EF4-FFF2-40B4-BE49-F238E27FC236}">
                  <a16:creationId xmlns:a16="http://schemas.microsoft.com/office/drawing/2014/main" id="{AF8C5064-5C34-4CEB-8B3C-0065EFFD8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670"/>
              <a:ext cx="1086" cy="194"/>
            </a:xfrm>
            <a:prstGeom prst="rect">
              <a:avLst/>
            </a:prstGeom>
            <a:grpFill/>
            <a:ln w="6350" cap="flat" cmpd="sng" algn="ctr">
              <a:solidFill>
                <a:srgbClr val="A5A5A5"/>
              </a:solidFill>
              <a:prstDash val="solid"/>
              <a:miter lim="800000"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  <a:sym typeface="Wingdings" panose="05000000000000000000"/>
                </a:rPr>
                <a:t>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问题描述</a:t>
              </a:r>
            </a:p>
          </p:txBody>
        </p:sp>
        <p:sp>
          <p:nvSpPr>
            <p:cNvPr id="57" name="Line 43">
              <a:extLst>
                <a:ext uri="{FF2B5EF4-FFF2-40B4-BE49-F238E27FC236}">
                  <a16:creationId xmlns:a16="http://schemas.microsoft.com/office/drawing/2014/main" id="{E6D8DC17-75EA-44F5-BCC8-65F63B8FE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754"/>
              <a:ext cx="318" cy="0"/>
            </a:xfrm>
            <a:prstGeom prst="line">
              <a:avLst/>
            </a:prstGeom>
            <a:grpFill/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58" name="Text Box 4">
            <a:extLst>
              <a:ext uri="{FF2B5EF4-FFF2-40B4-BE49-F238E27FC236}">
                <a16:creationId xmlns:a16="http://schemas.microsoft.com/office/drawing/2014/main" id="{92729AD5-8742-46FC-8571-5E994D061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47" y="1675281"/>
            <a:ext cx="5904535" cy="377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dist"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ADT </a:t>
            </a:r>
            <a:r>
              <a:rPr lang="zh-CN" altLang="en-US" sz="2400" b="1" dirty="0">
                <a:solidFill>
                  <a:srgbClr val="525252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＝ 逻辑结构 ＋ 抽象运算（功能描述）</a:t>
            </a:r>
          </a:p>
        </p:txBody>
      </p:sp>
      <p:grpSp>
        <p:nvGrpSpPr>
          <p:cNvPr id="59" name="Group 55">
            <a:extLst>
              <a:ext uri="{FF2B5EF4-FFF2-40B4-BE49-F238E27FC236}">
                <a16:creationId xmlns:a16="http://schemas.microsoft.com/office/drawing/2014/main" id="{894715D3-8887-4329-8732-153B851D711E}"/>
              </a:ext>
            </a:extLst>
          </p:cNvPr>
          <p:cNvGrpSpPr/>
          <p:nvPr/>
        </p:nvGrpSpPr>
        <p:grpSpPr bwMode="auto">
          <a:xfrm>
            <a:off x="1531539" y="2248637"/>
            <a:ext cx="4384675" cy="1177927"/>
            <a:chOff x="322" y="1476"/>
            <a:chExt cx="2762" cy="742"/>
          </a:xfrm>
        </p:grpSpPr>
        <p:grpSp>
          <p:nvGrpSpPr>
            <p:cNvPr id="60" name="Group 31">
              <a:extLst>
                <a:ext uri="{FF2B5EF4-FFF2-40B4-BE49-F238E27FC236}">
                  <a16:creationId xmlns:a16="http://schemas.microsoft.com/office/drawing/2014/main" id="{D106F83B-9F64-4A72-BE18-89D679F6F444}"/>
                </a:ext>
              </a:extLst>
            </p:cNvPr>
            <p:cNvGrpSpPr/>
            <p:nvPr/>
          </p:nvGrpSpPr>
          <p:grpSpPr bwMode="auto">
            <a:xfrm>
              <a:off x="1475" y="1476"/>
              <a:ext cx="1003" cy="363"/>
              <a:chOff x="1565" y="1097"/>
              <a:chExt cx="1003" cy="363"/>
            </a:xfrm>
          </p:grpSpPr>
          <p:sp>
            <p:nvSpPr>
              <p:cNvPr id="65" name="AutoShape 5">
                <a:extLst>
                  <a:ext uri="{FF2B5EF4-FFF2-40B4-BE49-F238E27FC236}">
                    <a16:creationId xmlns:a16="http://schemas.microsoft.com/office/drawing/2014/main" id="{01420D49-085F-4266-8C8E-E68686C30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1097"/>
                <a:ext cx="227" cy="363"/>
              </a:xfrm>
              <a:prstGeom prst="downArrow">
                <a:avLst>
                  <a:gd name="adj1" fmla="val 50000"/>
                  <a:gd name="adj2" fmla="val 39978"/>
                </a:avLst>
              </a:prstGeom>
              <a:solidFill>
                <a:srgbClr val="FFC000">
                  <a:alpha val="60000"/>
                </a:srgbClr>
              </a:solidFill>
              <a:ln w="6350" cap="flat" cmpd="sng" algn="ctr">
                <a:solidFill>
                  <a:srgbClr val="5E2E82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66" name="Text Box 6">
                <a:extLst>
                  <a:ext uri="{FF2B5EF4-FFF2-40B4-BE49-F238E27FC236}">
                    <a16:creationId xmlns:a16="http://schemas.microsoft.com/office/drawing/2014/main" id="{037D8300-9BD1-4F84-9F01-FC49E9189E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7" y="1102"/>
                <a:ext cx="771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映射</a:t>
                </a:r>
              </a:p>
            </p:txBody>
          </p:sp>
        </p:grpSp>
        <p:grpSp>
          <p:nvGrpSpPr>
            <p:cNvPr id="61" name="Group 32">
              <a:extLst>
                <a:ext uri="{FF2B5EF4-FFF2-40B4-BE49-F238E27FC236}">
                  <a16:creationId xmlns:a16="http://schemas.microsoft.com/office/drawing/2014/main" id="{ED2AB5B0-FD46-4BE5-A22B-B3352484E2BB}"/>
                </a:ext>
              </a:extLst>
            </p:cNvPr>
            <p:cNvGrpSpPr/>
            <p:nvPr/>
          </p:nvGrpSpPr>
          <p:grpSpPr bwMode="auto">
            <a:xfrm>
              <a:off x="322" y="1909"/>
              <a:ext cx="2762" cy="309"/>
              <a:chOff x="412" y="1530"/>
              <a:chExt cx="2762" cy="309"/>
            </a:xfrm>
          </p:grpSpPr>
          <p:sp>
            <p:nvSpPr>
              <p:cNvPr id="62" name="Text Box 7">
                <a:extLst>
                  <a:ext uri="{FF2B5EF4-FFF2-40B4-BE49-F238E27FC236}">
                    <a16:creationId xmlns:a16="http://schemas.microsoft.com/office/drawing/2014/main" id="{40604621-9AD2-4ED5-BB9F-AA358A237D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" y="1535"/>
                <a:ext cx="99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2525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存储结构</a:t>
                </a:r>
                <a:r>
                  <a:rPr kumimoji="0" lang="en-US" altLang="zh-CN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52525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63" name="Text Box 8">
                <a:extLst>
                  <a:ext uri="{FF2B5EF4-FFF2-40B4-BE49-F238E27FC236}">
                    <a16:creationId xmlns:a16="http://schemas.microsoft.com/office/drawing/2014/main" id="{C6785205-3594-41B8-893A-E131DCD22C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6" y="1530"/>
                <a:ext cx="998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2525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存储结构</a:t>
                </a:r>
                <a:r>
                  <a:rPr kumimoji="0" lang="en-US" altLang="zh-CN" sz="2400" b="1" i="1" u="none" strike="noStrike" kern="0" cap="none" spc="0" normalizeH="0" baseline="-25000" noProof="0" dirty="0">
                    <a:ln>
                      <a:noFill/>
                    </a:ln>
                    <a:solidFill>
                      <a:srgbClr val="52525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n</a:t>
                </a:r>
              </a:p>
            </p:txBody>
          </p:sp>
          <p:sp>
            <p:nvSpPr>
              <p:cNvPr id="64" name="Text Box 9">
                <a:extLst>
                  <a:ext uri="{FF2B5EF4-FFF2-40B4-BE49-F238E27FC236}">
                    <a16:creationId xmlns:a16="http://schemas.microsoft.com/office/drawing/2014/main" id="{2E308FC6-0236-458E-B6CF-5624D8553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1" y="1548"/>
                <a:ext cx="499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2525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…</a:t>
                </a:r>
              </a:p>
            </p:txBody>
          </p:sp>
        </p:grpSp>
      </p:grpSp>
      <p:grpSp>
        <p:nvGrpSpPr>
          <p:cNvPr id="67" name="Group 36">
            <a:extLst>
              <a:ext uri="{FF2B5EF4-FFF2-40B4-BE49-F238E27FC236}">
                <a16:creationId xmlns:a16="http://schemas.microsoft.com/office/drawing/2014/main" id="{5A041297-AF70-4FEF-8163-6E374470399B}"/>
              </a:ext>
            </a:extLst>
          </p:cNvPr>
          <p:cNvGrpSpPr/>
          <p:nvPr/>
        </p:nvGrpSpPr>
        <p:grpSpPr bwMode="auto">
          <a:xfrm>
            <a:off x="26687" y="2154975"/>
            <a:ext cx="6340476" cy="2600324"/>
            <a:chOff x="-419" y="1023"/>
            <a:chExt cx="3994" cy="1638"/>
          </a:xfrm>
        </p:grpSpPr>
        <p:sp>
          <p:nvSpPr>
            <p:cNvPr id="68" name="Text Box 10">
              <a:extLst>
                <a:ext uri="{FF2B5EF4-FFF2-40B4-BE49-F238E27FC236}">
                  <a16:creationId xmlns:a16="http://schemas.microsoft.com/office/drawing/2014/main" id="{8573D96E-CEA9-41F8-B71B-ABD3CBFBE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" y="2370"/>
              <a:ext cx="730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算法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11</a:t>
              </a:r>
            </a:p>
          </p:txBody>
        </p:sp>
        <p:sp>
          <p:nvSpPr>
            <p:cNvPr id="69" name="Text Box 11">
              <a:extLst>
                <a:ext uri="{FF2B5EF4-FFF2-40B4-BE49-F238E27FC236}">
                  <a16:creationId xmlns:a16="http://schemas.microsoft.com/office/drawing/2014/main" id="{1EA96289-190E-49FE-9B08-404727E9F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370"/>
              <a:ext cx="49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70" name="Text Box 12">
              <a:extLst>
                <a:ext uri="{FF2B5EF4-FFF2-40B4-BE49-F238E27FC236}">
                  <a16:creationId xmlns:a16="http://schemas.microsoft.com/office/drawing/2014/main" id="{73A06D71-DB0A-461E-9AA5-08B585982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" y="2370"/>
              <a:ext cx="75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算法</a:t>
              </a:r>
              <a:r>
                <a:rPr kumimoji="0" lang="en-US" altLang="zh-CN" sz="2400" b="1" i="0" u="none" strike="noStrike" kern="0" cap="none" spc="0" normalizeH="0" baseline="-25000" noProof="0" dirty="0" err="1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kumimoji="0" lang="en-US" altLang="zh-CN" sz="2400" b="1" i="1" u="none" strike="noStrike" kern="0" cap="none" spc="0" normalizeH="0" baseline="-25000" noProof="0" dirty="0" err="1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m</a:t>
              </a:r>
              <a:endPara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71" name="Line 13">
              <a:extLst>
                <a:ext uri="{FF2B5EF4-FFF2-40B4-BE49-F238E27FC236}">
                  <a16:creationId xmlns:a16="http://schemas.microsoft.com/office/drawing/2014/main" id="{5BAA210C-75A9-4448-A656-03E64C5F6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" y="1863"/>
              <a:ext cx="215" cy="441"/>
            </a:xfrm>
            <a:prstGeom prst="line">
              <a:avLst/>
            </a:prstGeom>
            <a:noFill/>
            <a:ln w="28575">
              <a:solidFill>
                <a:sysClr val="window" lastClr="FFFFFF">
                  <a:lumMod val="50000"/>
                </a:sys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2" name="Line 14">
              <a:extLst>
                <a:ext uri="{FF2B5EF4-FFF2-40B4-BE49-F238E27FC236}">
                  <a16:creationId xmlns:a16="http://schemas.microsoft.com/office/drawing/2014/main" id="{7E84EDEF-6F90-4F17-B192-464AB7FF1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1877"/>
              <a:ext cx="0" cy="408"/>
            </a:xfrm>
            <a:prstGeom prst="line">
              <a:avLst/>
            </a:prstGeom>
            <a:noFill/>
            <a:ln w="28575">
              <a:solidFill>
                <a:sysClr val="window" lastClr="FFFFFF">
                  <a:lumMod val="50000"/>
                </a:sys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3" name="Freeform 15">
              <a:extLst>
                <a:ext uri="{FF2B5EF4-FFF2-40B4-BE49-F238E27FC236}">
                  <a16:creationId xmlns:a16="http://schemas.microsoft.com/office/drawing/2014/main" id="{99AD6ABB-1B00-49F9-AFE6-F16C8E35CE81}"/>
                </a:ext>
              </a:extLst>
            </p:cNvPr>
            <p:cNvSpPr/>
            <p:nvPr/>
          </p:nvSpPr>
          <p:spPr bwMode="auto">
            <a:xfrm>
              <a:off x="1200" y="1880"/>
              <a:ext cx="240" cy="4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424"/>
                </a:cxn>
              </a:cxnLst>
              <a:rect l="0" t="0" r="r" b="b"/>
              <a:pathLst>
                <a:path w="240" h="424">
                  <a:moveTo>
                    <a:pt x="0" y="0"/>
                  </a:moveTo>
                  <a:lnTo>
                    <a:pt x="240" y="424"/>
                  </a:lnTo>
                </a:path>
              </a:pathLst>
            </a:custGeom>
            <a:noFill/>
            <a:ln w="28575" cap="flat" cmpd="sng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4" name="Text Box 16">
              <a:extLst>
                <a:ext uri="{FF2B5EF4-FFF2-40B4-BE49-F238E27FC236}">
                  <a16:creationId xmlns:a16="http://schemas.microsoft.com/office/drawing/2014/main" id="{C08AAA50-3E6C-4A13-9A1D-392FF6709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" y="2370"/>
              <a:ext cx="66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算法</a:t>
              </a:r>
              <a:r>
                <a:rPr kumimoji="0" lang="en-US" altLang="zh-CN" sz="2400" b="1" i="1" u="none" strike="noStrike" kern="0" cap="none" spc="0" normalizeH="0" baseline="-25000" noProof="0" dirty="0" err="1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kumimoji="0" lang="en-US" altLang="zh-CN" sz="2400" b="1" i="0" u="none" strike="noStrike" kern="0" cap="none" spc="0" normalizeH="0" baseline="-25000" noProof="0" dirty="0" err="1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endPara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75" name="Text Box 17">
              <a:extLst>
                <a:ext uri="{FF2B5EF4-FFF2-40B4-BE49-F238E27FC236}">
                  <a16:creationId xmlns:a16="http://schemas.microsoft.com/office/drawing/2014/main" id="{E1901ADF-79AD-4D1E-A0A1-3CF3A6CE0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" y="2370"/>
              <a:ext cx="49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76" name="Text Box 18">
              <a:extLst>
                <a:ext uri="{FF2B5EF4-FFF2-40B4-BE49-F238E27FC236}">
                  <a16:creationId xmlns:a16="http://schemas.microsoft.com/office/drawing/2014/main" id="{0405A84B-4907-4B93-BA60-34D797B5D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2370"/>
              <a:ext cx="72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算法</a:t>
              </a:r>
              <a:r>
                <a:rPr kumimoji="0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nm</a:t>
              </a:r>
            </a:p>
          </p:txBody>
        </p:sp>
        <p:sp>
          <p:nvSpPr>
            <p:cNvPr id="77" name="Line 19">
              <a:extLst>
                <a:ext uri="{FF2B5EF4-FFF2-40B4-BE49-F238E27FC236}">
                  <a16:creationId xmlns:a16="http://schemas.microsoft.com/office/drawing/2014/main" id="{2947A097-2BD8-43CB-A377-CCD48BB0A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78" y="1908"/>
              <a:ext cx="221" cy="377"/>
            </a:xfrm>
            <a:prstGeom prst="line">
              <a:avLst/>
            </a:prstGeom>
            <a:noFill/>
            <a:ln w="28575">
              <a:solidFill>
                <a:sysClr val="window" lastClr="FFFFFF">
                  <a:lumMod val="50000"/>
                </a:sys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8" name="Line 20">
              <a:extLst>
                <a:ext uri="{FF2B5EF4-FFF2-40B4-BE49-F238E27FC236}">
                  <a16:creationId xmlns:a16="http://schemas.microsoft.com/office/drawing/2014/main" id="{12734E92-4F78-41E6-872F-D17026A6E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899"/>
              <a:ext cx="0" cy="408"/>
            </a:xfrm>
            <a:prstGeom prst="line">
              <a:avLst/>
            </a:prstGeom>
            <a:noFill/>
            <a:ln w="28575">
              <a:solidFill>
                <a:sysClr val="window" lastClr="FFFFFF">
                  <a:lumMod val="50000"/>
                </a:sys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9" name="Freeform 21">
              <a:extLst>
                <a:ext uri="{FF2B5EF4-FFF2-40B4-BE49-F238E27FC236}">
                  <a16:creationId xmlns:a16="http://schemas.microsoft.com/office/drawing/2014/main" id="{6A0EC4B9-AC7D-4671-9C0F-C1989B329A17}"/>
                </a:ext>
              </a:extLst>
            </p:cNvPr>
            <p:cNvSpPr/>
            <p:nvPr/>
          </p:nvSpPr>
          <p:spPr bwMode="auto">
            <a:xfrm>
              <a:off x="2952" y="1902"/>
              <a:ext cx="240" cy="4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424"/>
                </a:cxn>
              </a:cxnLst>
              <a:rect l="0" t="0" r="r" b="b"/>
              <a:pathLst>
                <a:path w="240" h="424">
                  <a:moveTo>
                    <a:pt x="0" y="0"/>
                  </a:moveTo>
                  <a:lnTo>
                    <a:pt x="240" y="424"/>
                  </a:lnTo>
                </a:path>
              </a:pathLst>
            </a:custGeom>
            <a:noFill/>
            <a:ln w="28575" cap="flat" cmpd="sng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54AC50BB-9905-4568-8CC9-70EFF6F94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0" y="1023"/>
              <a:ext cx="0" cy="1445"/>
            </a:xfrm>
            <a:prstGeom prst="line">
              <a:avLst/>
            </a:prstGeom>
            <a:noFill/>
            <a:ln w="19050">
              <a:solidFill>
                <a:srgbClr val="5E2E82">
                  <a:alpha val="69804"/>
                </a:srgbClr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1" name="Line 23">
              <a:extLst>
                <a:ext uri="{FF2B5EF4-FFF2-40B4-BE49-F238E27FC236}">
                  <a16:creationId xmlns:a16="http://schemas.microsoft.com/office/drawing/2014/main" id="{74AA9DAD-6E00-4D60-9A86-0FB1D37D9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0" y="2471"/>
              <a:ext cx="183" cy="0"/>
            </a:xfrm>
            <a:prstGeom prst="line">
              <a:avLst/>
            </a:prstGeom>
            <a:noFill/>
            <a:ln w="19050">
              <a:solidFill>
                <a:srgbClr val="5E2E82">
                  <a:alpha val="69804"/>
                </a:srgb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2" name="Text Box 24">
              <a:extLst>
                <a:ext uri="{FF2B5EF4-FFF2-40B4-BE49-F238E27FC236}">
                  <a16:creationId xmlns:a16="http://schemas.microsoft.com/office/drawing/2014/main" id="{B3EAD5CD-1FED-4FCD-B9D9-315094C03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19" y="1357"/>
              <a:ext cx="349" cy="9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运算实现</a:t>
              </a:r>
            </a:p>
          </p:txBody>
        </p:sp>
      </p:grpSp>
      <p:grpSp>
        <p:nvGrpSpPr>
          <p:cNvPr id="83" name="Group 37">
            <a:extLst>
              <a:ext uri="{FF2B5EF4-FFF2-40B4-BE49-F238E27FC236}">
                <a16:creationId xmlns:a16="http://schemas.microsoft.com/office/drawing/2014/main" id="{57939877-D9AD-4F71-88B8-11B5AE43445A}"/>
              </a:ext>
            </a:extLst>
          </p:cNvPr>
          <p:cNvGrpSpPr/>
          <p:nvPr/>
        </p:nvGrpSpPr>
        <p:grpSpPr bwMode="auto">
          <a:xfrm>
            <a:off x="1661152" y="4800554"/>
            <a:ext cx="4464050" cy="1558926"/>
            <a:chOff x="893" y="2625"/>
            <a:chExt cx="2812" cy="982"/>
          </a:xfrm>
        </p:grpSpPr>
        <p:sp>
          <p:nvSpPr>
            <p:cNvPr id="84" name="AutoShape 25">
              <a:extLst>
                <a:ext uri="{FF2B5EF4-FFF2-40B4-BE49-F238E27FC236}">
                  <a16:creationId xmlns:a16="http://schemas.microsoft.com/office/drawing/2014/main" id="{B753B3D8-9562-47E7-A75C-C2B39308D01D}"/>
                </a:ext>
              </a:extLst>
            </p:cNvPr>
            <p:cNvSpPr/>
            <p:nvPr/>
          </p:nvSpPr>
          <p:spPr bwMode="auto">
            <a:xfrm rot="16200000">
              <a:off x="2231" y="1287"/>
              <a:ext cx="136" cy="2812"/>
            </a:xfrm>
            <a:prstGeom prst="leftBrace">
              <a:avLst>
                <a:gd name="adj1" fmla="val 172304"/>
                <a:gd name="adj2" fmla="val 50000"/>
              </a:avLst>
            </a:prstGeom>
            <a:noFill/>
            <a:ln w="28575">
              <a:solidFill>
                <a:sysClr val="window" lastClr="FFFFFF">
                  <a:lumMod val="50000"/>
                </a:sysClr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5" name="Text Box 26">
              <a:extLst>
                <a:ext uri="{FF2B5EF4-FFF2-40B4-BE49-F238E27FC236}">
                  <a16:creationId xmlns:a16="http://schemas.microsoft.com/office/drawing/2014/main" id="{68D42E68-5F2C-4BF9-B58A-DBED4FF7C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3316"/>
              <a:ext cx="998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>
                      <a:alpha val="70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最佳算法</a:t>
              </a:r>
              <a:endParaRPr kumimoji="0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>
                    <a:alpha val="7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86" name="AutoShape 27">
              <a:extLst>
                <a:ext uri="{FF2B5EF4-FFF2-40B4-BE49-F238E27FC236}">
                  <a16:creationId xmlns:a16="http://schemas.microsoft.com/office/drawing/2014/main" id="{697CF2BE-45A9-4194-9F8B-E3DEF1DAE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2907"/>
              <a:ext cx="227" cy="363"/>
            </a:xfrm>
            <a:prstGeom prst="downArrow">
              <a:avLst>
                <a:gd name="adj1" fmla="val 50000"/>
                <a:gd name="adj2" fmla="val 39978"/>
              </a:avLst>
            </a:prstGeom>
            <a:solidFill>
              <a:srgbClr val="FFC000">
                <a:alpha val="60000"/>
              </a:srgbClr>
            </a:solidFill>
            <a:ln w="6350" cap="flat" cmpd="sng" algn="ctr">
              <a:solidFill>
                <a:srgbClr val="5E2E82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87" name="Text Box 28">
              <a:extLst>
                <a:ext uri="{FF2B5EF4-FFF2-40B4-BE49-F238E27FC236}">
                  <a16:creationId xmlns:a16="http://schemas.microsoft.com/office/drawing/2014/main" id="{C5508D7A-CB07-4655-AB26-0AC56F0FE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2898"/>
              <a:ext cx="953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算法分析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2544A18-2451-44E6-99CF-C66C1AA91D90}"/>
              </a:ext>
            </a:extLst>
          </p:cNvPr>
          <p:cNvGrpSpPr/>
          <p:nvPr/>
        </p:nvGrpSpPr>
        <p:grpSpPr>
          <a:xfrm>
            <a:off x="2176570" y="5110528"/>
            <a:ext cx="6789738" cy="1328823"/>
            <a:chOff x="1688731" y="4674537"/>
            <a:chExt cx="6967212" cy="1270000"/>
          </a:xfrm>
          <a:noFill/>
        </p:grpSpPr>
        <p:sp>
          <p:nvSpPr>
            <p:cNvPr id="89" name="Rectangle 51">
              <a:extLst>
                <a:ext uri="{FF2B5EF4-FFF2-40B4-BE49-F238E27FC236}">
                  <a16:creationId xmlns:a16="http://schemas.microsoft.com/office/drawing/2014/main" id="{705D3A36-0576-47DE-8276-E61D830A2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731" y="4674537"/>
              <a:ext cx="3492506" cy="1270000"/>
            </a:xfrm>
            <a:prstGeom prst="rect">
              <a:avLst/>
            </a:prstGeom>
            <a:grpFill/>
            <a:ln w="19050">
              <a:solidFill>
                <a:sysClr val="window" lastClr="FFFFFF">
                  <a:lumMod val="50000"/>
                </a:sysClr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0" name="Text Box 41">
              <a:extLst>
                <a:ext uri="{FF2B5EF4-FFF2-40B4-BE49-F238E27FC236}">
                  <a16:creationId xmlns:a16="http://schemas.microsoft.com/office/drawing/2014/main" id="{4806E72E-F40E-44F7-ADDB-2A9EAB8E8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4739" y="5155648"/>
              <a:ext cx="2081204" cy="307777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  <a:sym typeface="Wingdings" panose="05000000000000000000"/>
                </a:rPr>
                <a:t>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等线" panose="02010600030101010101" pitchFamily="2" charset="-122"/>
                  <a:cs typeface="Consolas" panose="020B0609020204030204" pitchFamily="49" charset="0"/>
                </a:rPr>
                <a:t>算法分析</a:t>
              </a:r>
            </a:p>
          </p:txBody>
        </p:sp>
        <p:sp>
          <p:nvSpPr>
            <p:cNvPr id="91" name="Line 52">
              <a:extLst>
                <a:ext uri="{FF2B5EF4-FFF2-40B4-BE49-F238E27FC236}">
                  <a16:creationId xmlns:a16="http://schemas.microsoft.com/office/drawing/2014/main" id="{5F1AA9E7-6B8F-4C47-AF97-20ADEC503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3236" y="5322930"/>
              <a:ext cx="1181691" cy="10803"/>
            </a:xfrm>
            <a:prstGeom prst="line">
              <a:avLst/>
            </a:prstGeom>
            <a:grpFill/>
            <a:ln w="285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721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1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1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6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1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3" grpId="0" animBg="1"/>
      <p:bldP spid="92" grpId="0" animBg="1"/>
      <p:bldP spid="58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ChangeArrowheads="1"/>
          </p:cNvSpPr>
          <p:nvPr/>
        </p:nvSpPr>
        <p:spPr bwMode="auto">
          <a:xfrm>
            <a:off x="251520" y="1557338"/>
            <a:ext cx="8640960" cy="403190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数据、数据元素、数据项、数据结构等基本概念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2.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对数据结构的两个层次的理解</a:t>
            </a:r>
          </a:p>
          <a:p>
            <a:pPr marL="1371600" lvl="2" indent="-457200">
              <a:lnSpc>
                <a:spcPct val="150000"/>
              </a:lnSpc>
              <a:buClr>
                <a:srgbClr val="FF3399"/>
              </a:buClr>
              <a:buFont typeface="Arial" panose="020B0604020202020204" pitchFamily="34" charset="0"/>
              <a:buChar char="•"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逻辑结构</a:t>
            </a:r>
          </a:p>
          <a:p>
            <a:pPr marL="1371600" lvl="2" indent="-457200">
              <a:lnSpc>
                <a:spcPct val="150000"/>
              </a:lnSpc>
              <a:buClr>
                <a:srgbClr val="FF3399"/>
              </a:buClr>
              <a:buFont typeface="Arial" panose="020B0604020202020204" pitchFamily="34" charset="0"/>
              <a:buChar char="•"/>
              <a:defRPr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存储结构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抽象数据类型的表示方法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 "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4.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算法的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时间复杂度</a:t>
            </a:r>
            <a:r>
              <a:rPr kumimoji="1" lang="zh-CN" altLang="en-US" dirty="0">
                <a:latin typeface="+mn-ea"/>
                <a:ea typeface="+mn-ea"/>
                <a:cs typeface="+mn-ea"/>
                <a:sym typeface="+mn-lt"/>
              </a:rPr>
              <a:t>和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lt"/>
              </a:rPr>
              <a:t>空间复杂度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及其简单分析法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7680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小结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BhMDM5OWMxZjA2Y2M4YmM5ODhkYmUzZmFiYjRmZDUifQ=="/>
</p:tagLst>
</file>

<file path=ppt/theme/theme1.xml><?xml version="1.0" encoding="utf-8"?>
<a:theme xmlns:a="http://schemas.openxmlformats.org/drawingml/2006/main" name="主题2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v5y3ow4k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18843</TotalTime>
  <Words>6291</Words>
  <Application>Microsoft Office PowerPoint</Application>
  <PresentationFormat>全屏显示(4:3)</PresentationFormat>
  <Paragraphs>844</Paragraphs>
  <Slides>83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83</vt:i4>
      </vt:variant>
    </vt:vector>
  </HeadingPairs>
  <TitlesOfParts>
    <vt:vector size="108" baseType="lpstr">
      <vt:lpstr>BrushScript BT</vt:lpstr>
      <vt:lpstr>Gill Sans</vt:lpstr>
      <vt:lpstr>Pirulen</vt:lpstr>
      <vt:lpstr>等线</vt:lpstr>
      <vt:lpstr>仿宋_GB2312</vt:lpstr>
      <vt:lpstr>黑体</vt:lpstr>
      <vt:lpstr>华文隶书</vt:lpstr>
      <vt:lpstr>华文新魏</vt:lpstr>
      <vt:lpstr>楷体</vt:lpstr>
      <vt:lpstr>楷体_GB2312</vt:lpstr>
      <vt:lpstr>宋体</vt:lpstr>
      <vt:lpstr>微软雅黑</vt:lpstr>
      <vt:lpstr>微软雅黑</vt:lpstr>
      <vt:lpstr>Arial</vt:lpstr>
      <vt:lpstr>Arial Black</vt:lpstr>
      <vt:lpstr>Arial Narrow</vt:lpstr>
      <vt:lpstr>Calibri</vt:lpstr>
      <vt:lpstr>Consolas</vt:lpstr>
      <vt:lpstr>Times New Roman</vt:lpstr>
      <vt:lpstr>Wingdings</vt:lpstr>
      <vt:lpstr>主题2</vt:lpstr>
      <vt:lpstr>Pixel</vt:lpstr>
      <vt:lpstr>Microsoft Word 97 - 2003 Document</vt:lpstr>
      <vt:lpstr>Visio.Drawing.11</vt:lpstr>
      <vt:lpstr>Document</vt:lpstr>
      <vt:lpstr>第一章 绪论</vt:lpstr>
      <vt:lpstr>目录（Contents）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数据结构在计算机学科中的地位 </vt:lpstr>
      <vt:lpstr>课程目的</vt:lpstr>
      <vt:lpstr>目录（Contents）</vt:lpstr>
      <vt:lpstr>PowerPoint 演示文稿</vt:lpstr>
      <vt:lpstr>PowerPoint 演示文稿</vt:lpstr>
      <vt:lpstr>PowerPoint 演示文稿</vt:lpstr>
      <vt:lpstr>数据结构的形式化定义</vt:lpstr>
      <vt:lpstr>数据结构的形式化定义示例</vt:lpstr>
      <vt:lpstr>数据结构的形式化定义示例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存储结构与逻辑结构</vt:lpstr>
      <vt:lpstr>PowerPoint 演示文稿</vt:lpstr>
      <vt:lpstr>PowerPoint 演示文稿</vt:lpstr>
      <vt:lpstr>目录（Contents）</vt:lpstr>
      <vt:lpstr>PowerPoint 演示文稿</vt:lpstr>
      <vt:lpstr>PowerPoint 演示文稿</vt:lpstr>
      <vt:lpstr>PowerPoint 演示文稿</vt:lpstr>
      <vt:lpstr>基本数据类型与构造数据类型</vt:lpstr>
      <vt:lpstr>抽象数据类型 (ADTs: Abstract  Data Types)</vt:lpstr>
      <vt:lpstr>PowerPoint 演示文稿</vt:lpstr>
      <vt:lpstr>PowerPoint 演示文稿</vt:lpstr>
      <vt:lpstr>抽象数据类型</vt:lpstr>
      <vt:lpstr>抽象数据类型的定义示例---Complex</vt:lpstr>
      <vt:lpstr>抽象数据类型的定义示例---Complex</vt:lpstr>
      <vt:lpstr>抽象数据类型的实现示例---Complex</vt:lpstr>
      <vt:lpstr>抽象数据类型的实现示例---Complex</vt:lpstr>
      <vt:lpstr>抽象数据类型的表示与实现</vt:lpstr>
      <vt:lpstr>抽象数据类型的表示与实现</vt:lpstr>
      <vt:lpstr>PowerPoint 演示文稿</vt:lpstr>
      <vt:lpstr>PowerPoint 演示文稿</vt:lpstr>
      <vt:lpstr>目录（Contents）</vt:lpstr>
      <vt:lpstr>PowerPoint 演示文稿</vt:lpstr>
      <vt:lpstr>PowerPoint 演示文稿</vt:lpstr>
      <vt:lpstr>图灵机</vt:lpstr>
      <vt:lpstr>PowerPoint 演示文稿</vt:lpstr>
      <vt:lpstr>算法的正确性</vt:lpstr>
      <vt:lpstr>算法的性能分析</vt:lpstr>
      <vt:lpstr>算法比较示例</vt:lpstr>
      <vt:lpstr>PowerPoint 演示文稿</vt:lpstr>
      <vt:lpstr>算法运行时间的估算</vt:lpstr>
      <vt:lpstr>算法的运行时间估算示例</vt:lpstr>
      <vt:lpstr>渐进时间复杂度，大O表示法</vt:lpstr>
      <vt:lpstr>大O表示法（Big-O notation）</vt:lpstr>
      <vt:lpstr>大Ω表示法（Big-Ω notation）</vt:lpstr>
      <vt:lpstr>大Θ表示法（Big-Θ notation）</vt:lpstr>
      <vt:lpstr>上界、下界、确界</vt:lpstr>
      <vt:lpstr>算法的时间复杂度</vt:lpstr>
      <vt:lpstr>各种函数的增长趋势</vt:lpstr>
      <vt:lpstr>算法时间复杂度比较</vt:lpstr>
      <vt:lpstr>课堂练习 1</vt:lpstr>
      <vt:lpstr>课堂练习 2</vt:lpstr>
      <vt:lpstr>PowerPoint 演示文稿</vt:lpstr>
      <vt:lpstr>PowerPoint 演示文稿</vt:lpstr>
      <vt:lpstr>PowerPoint 演示文稿</vt:lpstr>
      <vt:lpstr>大O表示法的加法和乘法规则</vt:lpstr>
      <vt:lpstr>课堂练习 3</vt:lpstr>
      <vt:lpstr>课堂练习 4</vt:lpstr>
      <vt:lpstr>课堂练习 5</vt:lpstr>
      <vt:lpstr>课堂练习 6</vt:lpstr>
      <vt:lpstr>PowerPoint 演示文稿</vt:lpstr>
      <vt:lpstr>平均时间复杂度</vt:lpstr>
      <vt:lpstr>算法的空间复杂度</vt:lpstr>
      <vt:lpstr>课堂练习 7</vt:lpstr>
      <vt:lpstr>PowerPoint 演示文稿</vt:lpstr>
      <vt:lpstr>算法的空间复杂度分析示例</vt:lpstr>
      <vt:lpstr>从数据结构角度求解问题的过程</vt:lpstr>
      <vt:lpstr>小结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Wang Qiuyue</cp:lastModifiedBy>
  <cp:revision>1102</cp:revision>
  <dcterms:created xsi:type="dcterms:W3CDTF">1996-07-15T15:40:02Z</dcterms:created>
  <dcterms:modified xsi:type="dcterms:W3CDTF">2025-09-08T03:59:35Z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38058D3E78014A1BB848310D600CF1EC</vt:lpwstr>
  </property>
</Properties>
</file>