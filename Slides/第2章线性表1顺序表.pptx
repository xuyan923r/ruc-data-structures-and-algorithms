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55"/>
  </p:notesMasterIdLst>
  <p:handoutMasterIdLst>
    <p:handoutMasterId r:id="rId56"/>
  </p:handoutMasterIdLst>
  <p:sldIdLst>
    <p:sldId id="256" r:id="rId3"/>
    <p:sldId id="823" r:id="rId4"/>
    <p:sldId id="1172" r:id="rId5"/>
    <p:sldId id="825" r:id="rId6"/>
    <p:sldId id="1173" r:id="rId7"/>
    <p:sldId id="826" r:id="rId8"/>
    <p:sldId id="511" r:id="rId9"/>
    <p:sldId id="1175" r:id="rId10"/>
    <p:sldId id="1188" r:id="rId11"/>
    <p:sldId id="1189" r:id="rId12"/>
    <p:sldId id="1190" r:id="rId13"/>
    <p:sldId id="1191" r:id="rId14"/>
    <p:sldId id="1192" r:id="rId15"/>
    <p:sldId id="1194" r:id="rId16"/>
    <p:sldId id="1195" r:id="rId17"/>
    <p:sldId id="1196" r:id="rId18"/>
    <p:sldId id="1197" r:id="rId19"/>
    <p:sldId id="1198" r:id="rId20"/>
    <p:sldId id="1199" r:id="rId21"/>
    <p:sldId id="1200" r:id="rId22"/>
    <p:sldId id="1174" r:id="rId23"/>
    <p:sldId id="516" r:id="rId24"/>
    <p:sldId id="517" r:id="rId25"/>
    <p:sldId id="1201" r:id="rId26"/>
    <p:sldId id="592" r:id="rId27"/>
    <p:sldId id="833" r:id="rId28"/>
    <p:sldId id="651" r:id="rId29"/>
    <p:sldId id="655" r:id="rId30"/>
    <p:sldId id="1003" r:id="rId31"/>
    <p:sldId id="593" r:id="rId32"/>
    <p:sldId id="594" r:id="rId33"/>
    <p:sldId id="595" r:id="rId34"/>
    <p:sldId id="1004" r:id="rId35"/>
    <p:sldId id="596" r:id="rId36"/>
    <p:sldId id="1202" r:id="rId37"/>
    <p:sldId id="586" r:id="rId38"/>
    <p:sldId id="587" r:id="rId39"/>
    <p:sldId id="588" r:id="rId40"/>
    <p:sldId id="1205" r:id="rId41"/>
    <p:sldId id="1203" r:id="rId42"/>
    <p:sldId id="537" r:id="rId43"/>
    <p:sldId id="597" r:id="rId44"/>
    <p:sldId id="1204" r:id="rId45"/>
    <p:sldId id="590" r:id="rId46"/>
    <p:sldId id="1211" r:id="rId47"/>
    <p:sldId id="583" r:id="rId48"/>
    <p:sldId id="598" r:id="rId49"/>
    <p:sldId id="447" r:id="rId50"/>
    <p:sldId id="1017" r:id="rId51"/>
    <p:sldId id="1208" r:id="rId52"/>
    <p:sldId id="1209" r:id="rId53"/>
    <p:sldId id="1210" r:id="rId54"/>
  </p:sldIdLst>
  <p:sldSz cx="9144000" cy="6858000" type="screen4x3"/>
  <p:notesSz cx="6858000" cy="9144000"/>
  <p:custDataLst>
    <p:tags r:id="rId57"/>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9476B6"/>
    <a:srgbClr val="EBEBEB"/>
    <a:srgbClr val="E2D9EB"/>
    <a:srgbClr val="EAEAEA"/>
    <a:srgbClr val="B8D4EC"/>
    <a:srgbClr val="F6F6F6"/>
    <a:srgbClr val="D7D7FF"/>
    <a:srgbClr val="36A6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710" autoAdjust="0"/>
  </p:normalViewPr>
  <p:slideViewPr>
    <p:cSldViewPr snapToObjects="1" showGuides="1">
      <p:cViewPr varScale="1">
        <p:scale>
          <a:sx n="81" d="100"/>
          <a:sy n="81" d="100"/>
        </p:scale>
        <p:origin x="1637"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5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gs" Target="tags/tag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2A38A7-D78D-4DF9-B239-EF7EA5511D4D}"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172" name="Rectangle 4"/>
          <p:cNvSpPr>
            <a:spLocks noGrp="1" noRot="1" noChangeAspec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9F52307-9B28-41B2-8D96-4A8282D1D992}"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zh-CN" sz="1200" dirty="0">
                <a:ea typeface="宋体" panose="02010600030101010101" pitchFamily="2" charset="-122"/>
              </a:rPr>
              <a:t>4</a:t>
            </a:fld>
            <a:endParaRPr lang="" altLang="zh-CN" sz="1200" dirty="0">
              <a:ea typeface="宋体" panose="02010600030101010101" pitchFamily="2" charset="-122"/>
            </a:endParaRPr>
          </a:p>
        </p:txBody>
      </p:sp>
      <p:sp>
        <p:nvSpPr>
          <p:cNvPr id="17411" name="Rectangle 2"/>
          <p:cNvSpPr>
            <a:spLocks noGrp="1" noRot="1" noChangeAspect="1" noTextEdit="1"/>
          </p:cNvSpPr>
          <p:nvPr>
            <p:ph type="sldImg"/>
          </p:nvPr>
        </p:nvSpPr>
        <p:spPr>
          <a:solidFill>
            <a:srgbClr val="FFFFFF">
              <a:alpha val="100000"/>
            </a:srgbClr>
          </a:solidFill>
          <a:ln/>
        </p:spPr>
      </p:sp>
      <p:sp>
        <p:nvSpPr>
          <p:cNvPr id="17412"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zh-CN" sz="1200" dirty="0">
                <a:ea typeface="宋体" panose="02010600030101010101" pitchFamily="2" charset="-122"/>
              </a:rPr>
              <a:t>6</a:t>
            </a:fld>
            <a:endParaRPr lang="" altLang="zh-CN" sz="1200" dirty="0">
              <a:ea typeface="宋体" panose="02010600030101010101" pitchFamily="2" charset="-122"/>
            </a:endParaRPr>
          </a:p>
        </p:txBody>
      </p:sp>
      <p:sp>
        <p:nvSpPr>
          <p:cNvPr id="19459" name="Rectangle 1026"/>
          <p:cNvSpPr>
            <a:spLocks noGrp="1" noRot="1" noChangeAspect="1" noTextEdit="1"/>
          </p:cNvSpPr>
          <p:nvPr>
            <p:ph type="sldImg"/>
          </p:nvPr>
        </p:nvSpPr>
        <p:spPr>
          <a:solidFill>
            <a:srgbClr val="FFFFFF">
              <a:alpha val="100000"/>
            </a:srgbClr>
          </a:solidFill>
          <a:ln/>
        </p:spPr>
      </p:sp>
      <p:sp>
        <p:nvSpPr>
          <p:cNvPr id="19460" name="Rectangle 1027"/>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zh-CN" sz="1200" dirty="0">
                <a:ea typeface="宋体" panose="02010600030101010101" pitchFamily="2" charset="-122"/>
              </a:rPr>
              <a:t>7</a:t>
            </a:fld>
            <a:endParaRPr lang="" altLang="zh-CN" sz="1200" dirty="0">
              <a:ea typeface="宋体" panose="02010600030101010101" pitchFamily="2" charset="-122"/>
            </a:endParaRPr>
          </a:p>
        </p:txBody>
      </p:sp>
      <p:sp>
        <p:nvSpPr>
          <p:cNvPr id="36867" name="Rectangle 2"/>
          <p:cNvSpPr>
            <a:spLocks noGrp="1" noRot="1" noChangeAspect="1" noTextEdit="1"/>
          </p:cNvSpPr>
          <p:nvPr>
            <p:ph type="sldImg"/>
          </p:nvPr>
        </p:nvSpPr>
        <p:spPr>
          <a:solidFill>
            <a:srgbClr val="FFFFFF">
              <a:alpha val="100000"/>
            </a:srgbClr>
          </a:solidFill>
          <a:ln/>
        </p:spPr>
      </p:sp>
      <p:sp>
        <p:nvSpPr>
          <p:cNvPr id="3686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extLst>
      <p:ext uri="{BB962C8B-B14F-4D97-AF65-F5344CB8AC3E}">
        <p14:creationId xmlns:p14="http://schemas.microsoft.com/office/powerpoint/2010/main" val="4038342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zh-CN" sz="1200" dirty="0">
                <a:ea typeface="宋体" panose="02010600030101010101" pitchFamily="2" charset="-122"/>
              </a:rPr>
              <a:t>29</a:t>
            </a:fld>
            <a:endParaRPr lang="" altLang="zh-CN" sz="1200" dirty="0">
              <a:ea typeface="宋体" panose="02010600030101010101" pitchFamily="2" charset="-122"/>
            </a:endParaRPr>
          </a:p>
        </p:txBody>
      </p:sp>
      <p:sp>
        <p:nvSpPr>
          <p:cNvPr id="56323" name="Rectangle 2"/>
          <p:cNvSpPr>
            <a:spLocks noGrp="1" noRot="1" noChangeAspect="1" noTextEdit="1"/>
          </p:cNvSpPr>
          <p:nvPr>
            <p:ph type="sldImg"/>
          </p:nvPr>
        </p:nvSpPr>
        <p:spPr>
          <a:solidFill>
            <a:srgbClr val="FFFFFF">
              <a:alpha val="100000"/>
            </a:srgbClr>
          </a:solidFill>
          <a:ln/>
        </p:spPr>
      </p:sp>
      <p:sp>
        <p:nvSpPr>
          <p:cNvPr id="56324"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97838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zh-CN" sz="1200" dirty="0">
                <a:ea typeface="宋体" panose="02010600030101010101" pitchFamily="2" charset="-122"/>
              </a:rPr>
              <a:t>33</a:t>
            </a:fld>
            <a:endParaRPr lang="" altLang="zh-CN" sz="1200" dirty="0">
              <a:ea typeface="宋体" panose="02010600030101010101" pitchFamily="2" charset="-122"/>
            </a:endParaRPr>
          </a:p>
        </p:txBody>
      </p:sp>
      <p:sp>
        <p:nvSpPr>
          <p:cNvPr id="62467" name="Rectangle 2"/>
          <p:cNvSpPr>
            <a:spLocks noGrp="1" noRot="1" noChangeAspect="1" noTextEdit="1"/>
          </p:cNvSpPr>
          <p:nvPr>
            <p:ph type="sldImg"/>
          </p:nvPr>
        </p:nvSpPr>
        <p:spPr>
          <a:solidFill>
            <a:srgbClr val="FFFFFF">
              <a:alpha val="100000"/>
            </a:srgbClr>
          </a:solidFill>
          <a:ln/>
        </p:spPr>
      </p:sp>
      <p:sp>
        <p:nvSpPr>
          <p:cNvPr id="6246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zh-CN" sz="1200" dirty="0">
                <a:ea typeface="宋体" panose="02010600030101010101" pitchFamily="2" charset="-122"/>
              </a:rPr>
              <a:t>35</a:t>
            </a:fld>
            <a:endParaRPr lang="" altLang="zh-CN" sz="1200" dirty="0">
              <a:ea typeface="宋体" panose="02010600030101010101" pitchFamily="2" charset="-122"/>
            </a:endParaRPr>
          </a:p>
        </p:txBody>
      </p:sp>
      <p:sp>
        <p:nvSpPr>
          <p:cNvPr id="62467" name="Rectangle 2"/>
          <p:cNvSpPr>
            <a:spLocks noGrp="1" noRot="1" noChangeAspect="1" noTextEdit="1"/>
          </p:cNvSpPr>
          <p:nvPr>
            <p:ph type="sldImg"/>
          </p:nvPr>
        </p:nvSpPr>
        <p:spPr>
          <a:solidFill>
            <a:srgbClr val="FFFFFF">
              <a:alpha val="100000"/>
            </a:srgbClr>
          </a:solidFill>
          <a:ln/>
        </p:spPr>
      </p:sp>
      <p:sp>
        <p:nvSpPr>
          <p:cNvPr id="6246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extLst>
      <p:ext uri="{BB962C8B-B14F-4D97-AF65-F5344CB8AC3E}">
        <p14:creationId xmlns:p14="http://schemas.microsoft.com/office/powerpoint/2010/main" val="3608715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zh-CN" sz="1200" dirty="0">
                <a:ea typeface="宋体" panose="02010600030101010101" pitchFamily="2" charset="-122"/>
              </a:rPr>
              <a:t>40</a:t>
            </a:fld>
            <a:endParaRPr lang="" altLang="zh-CN" sz="1200" dirty="0">
              <a:ea typeface="宋体" panose="02010600030101010101" pitchFamily="2" charset="-122"/>
            </a:endParaRPr>
          </a:p>
        </p:txBody>
      </p:sp>
      <p:sp>
        <p:nvSpPr>
          <p:cNvPr id="62467" name="Rectangle 2"/>
          <p:cNvSpPr>
            <a:spLocks noGrp="1" noRot="1" noChangeAspect="1" noTextEdit="1"/>
          </p:cNvSpPr>
          <p:nvPr>
            <p:ph type="sldImg"/>
          </p:nvPr>
        </p:nvSpPr>
        <p:spPr>
          <a:solidFill>
            <a:srgbClr val="FFFFFF">
              <a:alpha val="100000"/>
            </a:srgbClr>
          </a:solidFill>
          <a:ln/>
        </p:spPr>
      </p:sp>
      <p:sp>
        <p:nvSpPr>
          <p:cNvPr id="6246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extLst>
      <p:ext uri="{BB962C8B-B14F-4D97-AF65-F5344CB8AC3E}">
        <p14:creationId xmlns:p14="http://schemas.microsoft.com/office/powerpoint/2010/main" val="3776907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 altLang="zh-CN" sz="1200" dirty="0">
                <a:ea typeface="宋体" panose="02010600030101010101" pitchFamily="2" charset="-122"/>
              </a:rPr>
              <a:t>45</a:t>
            </a:fld>
            <a:endParaRPr lang="" altLang="zh-CN" sz="1200" dirty="0">
              <a:ea typeface="宋体" panose="02010600030101010101" pitchFamily="2" charset="-122"/>
            </a:endParaRPr>
          </a:p>
        </p:txBody>
      </p:sp>
      <p:sp>
        <p:nvSpPr>
          <p:cNvPr id="62467" name="Rectangle 2"/>
          <p:cNvSpPr>
            <a:spLocks noGrp="1" noRot="1" noChangeAspect="1" noTextEdit="1"/>
          </p:cNvSpPr>
          <p:nvPr>
            <p:ph type="sldImg"/>
          </p:nvPr>
        </p:nvSpPr>
        <p:spPr>
          <a:solidFill>
            <a:srgbClr val="FFFFFF">
              <a:alpha val="100000"/>
            </a:srgbClr>
          </a:solidFill>
          <a:ln/>
        </p:spPr>
      </p:sp>
      <p:sp>
        <p:nvSpPr>
          <p:cNvPr id="6246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extLst>
      <p:ext uri="{BB962C8B-B14F-4D97-AF65-F5344CB8AC3E}">
        <p14:creationId xmlns:p14="http://schemas.microsoft.com/office/powerpoint/2010/main" val="3286604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43165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4179799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2050"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chemeClr val="accent2"/>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a:xfrm>
            <a:off x="844171" y="235957"/>
            <a:ext cx="6400800" cy="456739"/>
          </a:xfrm>
        </p:spPr>
        <p:txBody>
          <a:bodyPr/>
          <a:lstStyle/>
          <a:p>
            <a:r>
              <a:rPr lang="zh-CN" altLang="en-US" noProof="1"/>
              <a:t>单击此处编辑母版标题样式</a:t>
            </a:r>
          </a:p>
        </p:txBody>
      </p:sp>
      <p:sp>
        <p:nvSpPr>
          <p:cNvPr id="3" name="内容占位符 2"/>
          <p:cNvSpPr>
            <a:spLocks noGrp="1"/>
          </p:cNvSpPr>
          <p:nvPr>
            <p:ph idx="1" hasCustomPrompt="1"/>
          </p:nvPr>
        </p:nvSpPr>
        <p:spPr>
          <a:xfrm>
            <a:off x="343198" y="880227"/>
            <a:ext cx="8457604" cy="5741816"/>
          </a:xfrm>
        </p:spPr>
        <p:txBody>
          <a:bodyPr/>
          <a:lstStyle>
            <a:lvl1pPr marL="0" indent="0">
              <a:lnSpc>
                <a:spcPct val="150000"/>
              </a:lnSpc>
              <a:buFont typeface="Arial" panose="020B0604020202020204" pitchFamily="34" charset="0"/>
              <a:buNone/>
              <a:defRPr sz="2800"/>
            </a:lvl1pPr>
            <a:lvl2pPr marL="457200" indent="0">
              <a:lnSpc>
                <a:spcPct val="150000"/>
              </a:lnSpc>
              <a:buNone/>
              <a:defRPr sz="2400"/>
            </a:lvl2pPr>
          </a:lstStyle>
          <a:p>
            <a:pPr lvl="0"/>
            <a:r>
              <a:rPr lang="zh-CN" altLang="en-US" noProof="1"/>
              <a:t>编辑母版文本样式</a:t>
            </a:r>
          </a:p>
          <a:p>
            <a:pPr lvl="1"/>
            <a:r>
              <a:rPr lang="zh-CN" altLang="en-US" noProof="1"/>
              <a:t>第二级</a:t>
            </a:r>
          </a:p>
        </p:txBody>
      </p:sp>
      <p:grpSp>
        <p:nvGrpSpPr>
          <p:cNvPr id="17" name="组合 16"/>
          <p:cNvGrpSpPr/>
          <p:nvPr/>
        </p:nvGrpSpPr>
        <p:grpSpPr>
          <a:xfrm>
            <a:off x="115637" y="378030"/>
            <a:ext cx="617410" cy="174607"/>
            <a:chOff x="384175" y="480608"/>
            <a:chExt cx="348872" cy="98663"/>
          </a:xfrm>
          <a:solidFill>
            <a:schemeClr val="accent3">
              <a:lumMod val="90000"/>
            </a:schemeClr>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chemeClr val="accent2"/>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a:xfrm>
            <a:off x="844550" y="233716"/>
            <a:ext cx="6400800" cy="457200"/>
          </a:xfrm>
        </p:spPr>
        <p:txBody>
          <a:bodyPr/>
          <a:lstStyle/>
          <a:p>
            <a:r>
              <a:rPr lang="zh-CN" altLang="en-US" noProof="1"/>
              <a:t>单击此处编辑母版标题样式</a:t>
            </a:r>
          </a:p>
        </p:txBody>
      </p:sp>
      <p:sp>
        <p:nvSpPr>
          <p:cNvPr id="4101" name="直接连接符 9"/>
          <p:cNvSpPr/>
          <p:nvPr userDrawn="1"/>
        </p:nvSpPr>
        <p:spPr>
          <a:xfrm>
            <a:off x="0" y="6357938"/>
            <a:ext cx="9144000" cy="71437"/>
          </a:xfrm>
          <a:prstGeom prst="line">
            <a:avLst/>
          </a:prstGeom>
          <a:ln w="9525">
            <a:noFill/>
          </a:ln>
        </p:spPr>
      </p:sp>
      <p:grpSp>
        <p:nvGrpSpPr>
          <p:cNvPr id="17" name="组合 16"/>
          <p:cNvGrpSpPr/>
          <p:nvPr/>
        </p:nvGrpSpPr>
        <p:grpSpPr>
          <a:xfrm>
            <a:off x="115637" y="404664"/>
            <a:ext cx="617410" cy="174607"/>
            <a:chOff x="384175" y="480608"/>
            <a:chExt cx="348872" cy="98663"/>
          </a:xfrm>
          <a:solidFill>
            <a:schemeClr val="bg1">
              <a:lumMod val="90000"/>
            </a:schemeClr>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rgbClr val="000000"/>
        </a:solidFill>
        <a:effectLst/>
      </p:bgPr>
    </p:bg>
    <p:spTree>
      <p:nvGrpSpPr>
        <p:cNvPr id="1" name=""/>
        <p:cNvGrpSpPr/>
        <p:nvPr/>
      </p:nvGrpSpPr>
      <p:grpSpPr>
        <a:xfrm>
          <a:off x="0" y="0"/>
          <a:ext cx="0" cy="0"/>
          <a:chOff x="0" y="0"/>
          <a:chExt cx="0" cy="0"/>
        </a:xfrm>
      </p:grpSpPr>
      <p:sp>
        <p:nvSpPr>
          <p:cNvPr id="5122"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017588" y="188640"/>
            <a:ext cx="6400800" cy="685800"/>
          </a:xfrm>
          <a:prstGeom prst="rect">
            <a:avLst/>
          </a:prstGeom>
        </p:spPr>
        <p:txBody>
          <a:bodyPr/>
          <a:lstStyle/>
          <a:p>
            <a:r>
              <a:rPr lang="zh-CN" altLang="en-US" noProof="1"/>
              <a:t>单击此处编辑母版标题样式</a:t>
            </a:r>
          </a:p>
        </p:txBody>
      </p:sp>
      <p:sp>
        <p:nvSpPr>
          <p:cNvPr id="3" name="表格占位符 2"/>
          <p:cNvSpPr>
            <a:spLocks noGrp="1"/>
          </p:cNvSpPr>
          <p:nvPr>
            <p:ph type="tbl" idx="1"/>
          </p:nvPr>
        </p:nvSpPr>
        <p:spPr>
          <a:xfrm>
            <a:off x="649288" y="1449388"/>
            <a:ext cx="7983537" cy="4725987"/>
          </a:xfrm>
          <a:prstGeom prst="rect">
            <a:avLst/>
          </a:prstGeo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0" cap="none" spc="0" normalizeH="0" baseline="0" noProof="0">
              <a:ln>
                <a:noFill/>
              </a:ln>
              <a:solidFill>
                <a:schemeClr val="tx1"/>
              </a:solidFill>
              <a:effectLst/>
              <a:uLnTx/>
              <a:uFillTx/>
              <a:latin typeface="+mn-lt"/>
              <a:ea typeface="微软雅黑" panose="020B0503020204020204" pitchFamily="34"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017588" y="609600"/>
            <a:ext cx="6400800" cy="685800"/>
          </a:xfrm>
          <a:prstGeom prst="rect">
            <a:avLst/>
          </a:prstGeom>
        </p:spPr>
        <p:txBody>
          <a:bodyPr/>
          <a:lstStyle/>
          <a:p>
            <a:r>
              <a:rPr lang="zh-CN" altLang="en-US" noProof="1"/>
              <a:t>单击此处编辑母版标题样式</a:t>
            </a:r>
          </a:p>
        </p:txBody>
      </p:sp>
      <p:sp>
        <p:nvSpPr>
          <p:cNvPr id="3" name="SmartArt 占位符 2"/>
          <p:cNvSpPr>
            <a:spLocks noGrp="1"/>
          </p:cNvSpPr>
          <p:nvPr>
            <p:ph type="pic" idx="1"/>
          </p:nvPr>
        </p:nvSpPr>
        <p:spPr>
          <a:xfrm>
            <a:off x="649288" y="1449388"/>
            <a:ext cx="7983537" cy="4725987"/>
          </a:xfrm>
          <a:prstGeom prst="rect">
            <a:avLst/>
          </a:prstGeo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0" cap="none" spc="0" normalizeH="0" baseline="0" noProof="0">
              <a:ln>
                <a:noFill/>
              </a:ln>
              <a:solidFill>
                <a:schemeClr val="tx1"/>
              </a:solidFill>
              <a:effectLst/>
              <a:uLnTx/>
              <a:uFillTx/>
              <a:latin typeface="+mn-lt"/>
              <a:ea typeface="微软雅黑" panose="020B0503020204020204" pitchFamily="34"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49288" y="609600"/>
            <a:ext cx="7983537" cy="556577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9698" name="Group 2">
            <a:extLst>
              <a:ext uri="{FF2B5EF4-FFF2-40B4-BE49-F238E27FC236}">
                <a16:creationId xmlns:a16="http://schemas.microsoft.com/office/drawing/2014/main" id="{8CAF50F0-3A55-4ADA-AA1D-9792FAE14E5B}"/>
              </a:ext>
            </a:extLst>
          </p:cNvPr>
          <p:cNvGrpSpPr>
            <a:grpSpLocks/>
          </p:cNvGrpSpPr>
          <p:nvPr/>
        </p:nvGrpSpPr>
        <p:grpSpPr bwMode="auto">
          <a:xfrm>
            <a:off x="0" y="0"/>
            <a:ext cx="9144000" cy="6858000"/>
            <a:chOff x="0" y="0"/>
            <a:chExt cx="5760" cy="4320"/>
          </a:xfrm>
        </p:grpSpPr>
        <p:sp>
          <p:nvSpPr>
            <p:cNvPr id="29699" name="Rectangle 3">
              <a:extLst>
                <a:ext uri="{FF2B5EF4-FFF2-40B4-BE49-F238E27FC236}">
                  <a16:creationId xmlns:a16="http://schemas.microsoft.com/office/drawing/2014/main" id="{3CA8E321-DF00-4874-877B-385BA03E1297}"/>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29700" name="Rectangle 4">
              <a:extLst>
                <a:ext uri="{FF2B5EF4-FFF2-40B4-BE49-F238E27FC236}">
                  <a16:creationId xmlns:a16="http://schemas.microsoft.com/office/drawing/2014/main" id="{FD4184E0-E0DD-4579-BB7D-FE1E1AAC71A1}"/>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grpSp>
          <p:nvGrpSpPr>
            <p:cNvPr id="29701" name="Group 5">
              <a:extLst>
                <a:ext uri="{FF2B5EF4-FFF2-40B4-BE49-F238E27FC236}">
                  <a16:creationId xmlns:a16="http://schemas.microsoft.com/office/drawing/2014/main" id="{AC01B30C-1D2A-4938-A483-9F823E609694}"/>
                </a:ext>
              </a:extLst>
            </p:cNvPr>
            <p:cNvGrpSpPr>
              <a:grpSpLocks/>
            </p:cNvGrpSpPr>
            <p:nvPr/>
          </p:nvGrpSpPr>
          <p:grpSpPr bwMode="auto">
            <a:xfrm>
              <a:off x="0" y="672"/>
              <a:ext cx="1806" cy="1989"/>
              <a:chOff x="0" y="672"/>
              <a:chExt cx="1806" cy="1989"/>
            </a:xfrm>
          </p:grpSpPr>
          <p:sp>
            <p:nvSpPr>
              <p:cNvPr id="29702" name="Rectangle 6">
                <a:extLst>
                  <a:ext uri="{FF2B5EF4-FFF2-40B4-BE49-F238E27FC236}">
                    <a16:creationId xmlns:a16="http://schemas.microsoft.com/office/drawing/2014/main" id="{2054F69F-1878-4EDF-A48B-E59D89D64FE1}"/>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3" name="Rectangle 7">
                <a:extLst>
                  <a:ext uri="{FF2B5EF4-FFF2-40B4-BE49-F238E27FC236}">
                    <a16:creationId xmlns:a16="http://schemas.microsoft.com/office/drawing/2014/main" id="{585B3566-4EB7-49E0-A9C1-98563F1ABE63}"/>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4" name="Rectangle 8">
                <a:extLst>
                  <a:ext uri="{FF2B5EF4-FFF2-40B4-BE49-F238E27FC236}">
                    <a16:creationId xmlns:a16="http://schemas.microsoft.com/office/drawing/2014/main" id="{6BA47FA8-F952-43B3-9165-49552E7547B7}"/>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5" name="Rectangle 9">
                <a:extLst>
                  <a:ext uri="{FF2B5EF4-FFF2-40B4-BE49-F238E27FC236}">
                    <a16:creationId xmlns:a16="http://schemas.microsoft.com/office/drawing/2014/main" id="{9D408330-8C6C-4B99-960C-3173B443C8B6}"/>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6" name="Rectangle 10">
                <a:extLst>
                  <a:ext uri="{FF2B5EF4-FFF2-40B4-BE49-F238E27FC236}">
                    <a16:creationId xmlns:a16="http://schemas.microsoft.com/office/drawing/2014/main" id="{6DADB660-670B-43E3-B0B3-E6797782571E}"/>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7" name="Rectangle 11">
                <a:extLst>
                  <a:ext uri="{FF2B5EF4-FFF2-40B4-BE49-F238E27FC236}">
                    <a16:creationId xmlns:a16="http://schemas.microsoft.com/office/drawing/2014/main" id="{21F32A29-CBB3-405F-B62F-AFCA2142A926}"/>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8" name="Rectangle 12">
                <a:extLst>
                  <a:ext uri="{FF2B5EF4-FFF2-40B4-BE49-F238E27FC236}">
                    <a16:creationId xmlns:a16="http://schemas.microsoft.com/office/drawing/2014/main" id="{BED7B892-C9DA-47F7-8DB7-0162F5E59697}"/>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9" name="Rectangle 13">
                <a:extLst>
                  <a:ext uri="{FF2B5EF4-FFF2-40B4-BE49-F238E27FC236}">
                    <a16:creationId xmlns:a16="http://schemas.microsoft.com/office/drawing/2014/main" id="{1CF2F4CA-5A16-4B2E-9649-8934827E6FEA}"/>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10" name="Rectangle 14">
                <a:extLst>
                  <a:ext uri="{FF2B5EF4-FFF2-40B4-BE49-F238E27FC236}">
                    <a16:creationId xmlns:a16="http://schemas.microsoft.com/office/drawing/2014/main" id="{E44FE56F-87D5-470E-87AD-C89C43394C70}"/>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11" name="Rectangle 15">
                <a:extLst>
                  <a:ext uri="{FF2B5EF4-FFF2-40B4-BE49-F238E27FC236}">
                    <a16:creationId xmlns:a16="http://schemas.microsoft.com/office/drawing/2014/main" id="{2F046A15-3B8F-43A9-B095-F7C1CF803B9B}"/>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grpSp>
      </p:grpSp>
      <p:sp>
        <p:nvSpPr>
          <p:cNvPr id="29712" name="Rectangle 16">
            <a:extLst>
              <a:ext uri="{FF2B5EF4-FFF2-40B4-BE49-F238E27FC236}">
                <a16:creationId xmlns:a16="http://schemas.microsoft.com/office/drawing/2014/main" id="{67D1B36C-3839-47A5-A900-133A52291D66}"/>
              </a:ext>
            </a:extLst>
          </p:cNvPr>
          <p:cNvSpPr>
            <a:spLocks noGrp="1" noChangeArrowheads="1"/>
          </p:cNvSpPr>
          <p:nvPr>
            <p:ph type="dt" sz="half" idx="2"/>
          </p:nvPr>
        </p:nvSpPr>
        <p:spPr>
          <a:xfrm>
            <a:off x="457200" y="6248400"/>
            <a:ext cx="2133600" cy="457200"/>
          </a:xfrm>
        </p:spPr>
        <p:txBody>
          <a:bodyPr/>
          <a:lstStyle>
            <a:lvl1pPr>
              <a:defRPr/>
            </a:lvl1pPr>
          </a:lstStyle>
          <a:p>
            <a:endParaRPr lang="en-US" altLang="zh-CN"/>
          </a:p>
        </p:txBody>
      </p:sp>
      <p:sp>
        <p:nvSpPr>
          <p:cNvPr id="29713" name="Rectangle 17">
            <a:extLst>
              <a:ext uri="{FF2B5EF4-FFF2-40B4-BE49-F238E27FC236}">
                <a16:creationId xmlns:a16="http://schemas.microsoft.com/office/drawing/2014/main" id="{0509F7D1-0841-4DCC-9FE2-AE04AD9F3873}"/>
              </a:ext>
            </a:extLst>
          </p:cNvPr>
          <p:cNvSpPr>
            <a:spLocks noGrp="1" noChangeArrowheads="1"/>
          </p:cNvSpPr>
          <p:nvPr>
            <p:ph type="ftr" sz="quarter" idx="3"/>
          </p:nvPr>
        </p:nvSpPr>
        <p:spPr/>
        <p:txBody>
          <a:bodyPr/>
          <a:lstStyle>
            <a:lvl1pPr>
              <a:defRPr/>
            </a:lvl1pPr>
          </a:lstStyle>
          <a:p>
            <a:endParaRPr lang="en-US" altLang="zh-CN"/>
          </a:p>
        </p:txBody>
      </p:sp>
      <p:sp>
        <p:nvSpPr>
          <p:cNvPr id="29714" name="Rectangle 18">
            <a:extLst>
              <a:ext uri="{FF2B5EF4-FFF2-40B4-BE49-F238E27FC236}">
                <a16:creationId xmlns:a16="http://schemas.microsoft.com/office/drawing/2014/main" id="{80A1332F-FCA7-48B5-9F83-5973E300D742}"/>
              </a:ext>
            </a:extLst>
          </p:cNvPr>
          <p:cNvSpPr>
            <a:spLocks noGrp="1" noChangeArrowheads="1"/>
          </p:cNvSpPr>
          <p:nvPr>
            <p:ph type="sldNum" sz="quarter" idx="4"/>
          </p:nvPr>
        </p:nvSpPr>
        <p:spPr>
          <a:xfrm>
            <a:off x="6553200" y="6248400"/>
            <a:ext cx="2133600" cy="457200"/>
          </a:xfrm>
        </p:spPr>
        <p:txBody>
          <a:bodyPr/>
          <a:lstStyle>
            <a:lvl1pPr>
              <a:defRPr sz="1200" b="0">
                <a:latin typeface="Arial Black" panose="020B0A04020102020204" pitchFamily="34" charset="0"/>
                <a:ea typeface="+mn-ea"/>
              </a:defRPr>
            </a:lvl1pPr>
          </a:lstStyle>
          <a:p>
            <a:fld id="{E5309CBB-3AEB-4BD3-8A17-C01AB13CAED3}" type="slidenum">
              <a:rPr lang="en-US" altLang="zh-CN"/>
              <a:pPr/>
              <a:t>‹#›</a:t>
            </a:fld>
            <a:endParaRPr lang="en-US" altLang="zh-CN"/>
          </a:p>
        </p:txBody>
      </p:sp>
      <p:sp>
        <p:nvSpPr>
          <p:cNvPr id="29715" name="Rectangle 19">
            <a:extLst>
              <a:ext uri="{FF2B5EF4-FFF2-40B4-BE49-F238E27FC236}">
                <a16:creationId xmlns:a16="http://schemas.microsoft.com/office/drawing/2014/main" id="{8E8CB819-80A5-4466-9E73-B0A49F10772B}"/>
              </a:ext>
            </a:extLst>
          </p:cNvPr>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9716" name="Rectangle 20">
            <a:extLst>
              <a:ext uri="{FF2B5EF4-FFF2-40B4-BE49-F238E27FC236}">
                <a16:creationId xmlns:a16="http://schemas.microsoft.com/office/drawing/2014/main" id="{92C074B9-A395-4156-9D56-1EC3461D110C}"/>
              </a:ext>
            </a:extLst>
          </p:cNvPr>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a:t>单击此处编辑母版副标题样式</a:t>
            </a:r>
          </a:p>
        </p:txBody>
      </p:sp>
    </p:spTree>
    <p:extLst>
      <p:ext uri="{BB962C8B-B14F-4D97-AF65-F5344CB8AC3E}">
        <p14:creationId xmlns:p14="http://schemas.microsoft.com/office/powerpoint/2010/main" val="1916492592"/>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9048E9-7969-4300-BA6A-AB7F609A3F6B}"/>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DF1078F0-05CD-4ADF-9A07-7E85E80AF73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1CF52D6-C64F-4484-B872-4491C534C9FC}"/>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1AD00F02-548B-4135-9E7E-FAB4FED24FF6}"/>
              </a:ext>
            </a:extLst>
          </p:cNvPr>
          <p:cNvSpPr>
            <a:spLocks noGrp="1"/>
          </p:cNvSpPr>
          <p:nvPr>
            <p:ph type="sldNum" sz="quarter" idx="11"/>
          </p:nvPr>
        </p:nvSpPr>
        <p:spPr/>
        <p:txBody>
          <a:bodyPr/>
          <a:lstStyle>
            <a:lvl1pPr>
              <a:defRPr/>
            </a:lvl1pPr>
          </a:lstStyle>
          <a:p>
            <a:fld id="{67DFCF5C-C2A2-4C66-B481-19AC68269094}" type="slidenum">
              <a:rPr lang="en-US" altLang="zh-CN"/>
              <a:pPr/>
              <a:t>‹#›</a:t>
            </a:fld>
            <a:endParaRPr lang="en-US" altLang="zh-CN"/>
          </a:p>
        </p:txBody>
      </p:sp>
      <p:sp>
        <p:nvSpPr>
          <p:cNvPr id="6" name="日期占位符 5">
            <a:extLst>
              <a:ext uri="{FF2B5EF4-FFF2-40B4-BE49-F238E27FC236}">
                <a16:creationId xmlns:a16="http://schemas.microsoft.com/office/drawing/2014/main" id="{F846A2C3-D87A-417F-97B7-6D0A37C6295A}"/>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700644811"/>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E5B9B-EAD2-474C-80D9-55EDBD5B3B0F}"/>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DEB9AB-0B78-4779-B2DD-2156F4E52DE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F9F454CB-5FA3-4EE5-A663-E5F42B206E69}"/>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66BDDD17-3EEF-410F-AD08-0F2841DB8E0C}"/>
              </a:ext>
            </a:extLst>
          </p:cNvPr>
          <p:cNvSpPr>
            <a:spLocks noGrp="1"/>
          </p:cNvSpPr>
          <p:nvPr>
            <p:ph type="sldNum" sz="quarter" idx="11"/>
          </p:nvPr>
        </p:nvSpPr>
        <p:spPr/>
        <p:txBody>
          <a:bodyPr/>
          <a:lstStyle>
            <a:lvl1pPr>
              <a:defRPr/>
            </a:lvl1pPr>
          </a:lstStyle>
          <a:p>
            <a:fld id="{9561422F-630F-49A1-B5EE-888F39F5095F}" type="slidenum">
              <a:rPr lang="en-US" altLang="zh-CN"/>
              <a:pPr/>
              <a:t>‹#›</a:t>
            </a:fld>
            <a:endParaRPr lang="en-US" altLang="zh-CN"/>
          </a:p>
        </p:txBody>
      </p:sp>
      <p:sp>
        <p:nvSpPr>
          <p:cNvPr id="6" name="日期占位符 5">
            <a:extLst>
              <a:ext uri="{FF2B5EF4-FFF2-40B4-BE49-F238E27FC236}">
                <a16:creationId xmlns:a16="http://schemas.microsoft.com/office/drawing/2014/main" id="{30C34C09-E65E-40A6-A4C3-564AF5414211}"/>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43990964"/>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BF6908-2681-4A69-81B6-7F484EF544C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703E58-A1D6-4DFF-B8A7-9F42B3BFBB56}"/>
              </a:ext>
            </a:extLst>
          </p:cNvPr>
          <p:cNvSpPr>
            <a:spLocks noGrp="1"/>
          </p:cNvSpPr>
          <p:nvPr>
            <p:ph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36F388D-E693-4968-8F3F-2567DCC1639E}"/>
              </a:ext>
            </a:extLst>
          </p:cNvPr>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A9FC00AB-6640-4CB8-8B95-ACA87343E42E}"/>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C4F2435-F14C-427A-B97F-EC0D7144A283}"/>
              </a:ext>
            </a:extLst>
          </p:cNvPr>
          <p:cNvSpPr>
            <a:spLocks noGrp="1"/>
          </p:cNvSpPr>
          <p:nvPr>
            <p:ph type="sldNum" sz="quarter" idx="11"/>
          </p:nvPr>
        </p:nvSpPr>
        <p:spPr/>
        <p:txBody>
          <a:bodyPr/>
          <a:lstStyle>
            <a:lvl1pPr>
              <a:defRPr/>
            </a:lvl1pPr>
          </a:lstStyle>
          <a:p>
            <a:fld id="{8A31931F-EF41-40CE-B503-7D416B9597B0}" type="slidenum">
              <a:rPr lang="en-US" altLang="zh-CN"/>
              <a:pPr/>
              <a:t>‹#›</a:t>
            </a:fld>
            <a:endParaRPr lang="en-US" altLang="zh-CN"/>
          </a:p>
        </p:txBody>
      </p:sp>
      <p:sp>
        <p:nvSpPr>
          <p:cNvPr id="7" name="日期占位符 6">
            <a:extLst>
              <a:ext uri="{FF2B5EF4-FFF2-40B4-BE49-F238E27FC236}">
                <a16:creationId xmlns:a16="http://schemas.microsoft.com/office/drawing/2014/main" id="{83DAA1C9-D806-430A-BD3F-C90F1F931617}"/>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1081368443"/>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85370-78EB-4017-B873-01488CBEC901}"/>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BFAADA-45BF-4757-B837-AB17A262AAB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4242B3C-64ED-4CAB-AAEC-5DCA64A313F5}"/>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1AD68A9-2257-42C5-BE0E-6B350D9FE44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D4182D-0893-4FF4-8917-C7E4B519F53D}"/>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8E19D611-22C1-4CD5-98B3-34A658251273}"/>
              </a:ext>
            </a:extLst>
          </p:cNvPr>
          <p:cNvSpPr>
            <a:spLocks noGrp="1"/>
          </p:cNvSpPr>
          <p:nvPr>
            <p:ph type="ftr" sz="quarter" idx="10"/>
          </p:nvPr>
        </p:nvSpPr>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50070C82-9147-4D12-AE04-F72416F8B8CF}"/>
              </a:ext>
            </a:extLst>
          </p:cNvPr>
          <p:cNvSpPr>
            <a:spLocks noGrp="1"/>
          </p:cNvSpPr>
          <p:nvPr>
            <p:ph type="sldNum" sz="quarter" idx="11"/>
          </p:nvPr>
        </p:nvSpPr>
        <p:spPr/>
        <p:txBody>
          <a:bodyPr/>
          <a:lstStyle>
            <a:lvl1pPr>
              <a:defRPr/>
            </a:lvl1pPr>
          </a:lstStyle>
          <a:p>
            <a:fld id="{8ED5FE2A-6A0D-46F0-9A25-D63A1B86CAAF}" type="slidenum">
              <a:rPr lang="en-US" altLang="zh-CN"/>
              <a:pPr/>
              <a:t>‹#›</a:t>
            </a:fld>
            <a:endParaRPr lang="en-US" altLang="zh-CN"/>
          </a:p>
        </p:txBody>
      </p:sp>
      <p:sp>
        <p:nvSpPr>
          <p:cNvPr id="9" name="日期占位符 8">
            <a:extLst>
              <a:ext uri="{FF2B5EF4-FFF2-40B4-BE49-F238E27FC236}">
                <a16:creationId xmlns:a16="http://schemas.microsoft.com/office/drawing/2014/main" id="{FC29BF08-1F99-4F41-9FE0-897CAFB2533F}"/>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474274667"/>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7D100A-5B57-4855-8146-C6CF87D3EF5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7E59A4E8-8ACF-4115-8384-5197E01C8D62}"/>
              </a:ext>
            </a:extLst>
          </p:cNvPr>
          <p:cNvSpPr>
            <a:spLocks noGrp="1"/>
          </p:cNvSpPr>
          <p:nvPr>
            <p:ph type="ftr" sz="quarter" idx="10"/>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BF4A9A5F-FC52-48D2-AF1A-4C84D2DFE5B2}"/>
              </a:ext>
            </a:extLst>
          </p:cNvPr>
          <p:cNvSpPr>
            <a:spLocks noGrp="1"/>
          </p:cNvSpPr>
          <p:nvPr>
            <p:ph type="sldNum" sz="quarter" idx="11"/>
          </p:nvPr>
        </p:nvSpPr>
        <p:spPr/>
        <p:txBody>
          <a:bodyPr/>
          <a:lstStyle>
            <a:lvl1pPr>
              <a:defRPr/>
            </a:lvl1pPr>
          </a:lstStyle>
          <a:p>
            <a:fld id="{74F561C9-FB71-4454-A9F9-B9626922A02F}" type="slidenum">
              <a:rPr lang="en-US" altLang="zh-CN"/>
              <a:pPr/>
              <a:t>‹#›</a:t>
            </a:fld>
            <a:endParaRPr lang="en-US" altLang="zh-CN"/>
          </a:p>
        </p:txBody>
      </p:sp>
      <p:sp>
        <p:nvSpPr>
          <p:cNvPr id="5" name="日期占位符 4">
            <a:extLst>
              <a:ext uri="{FF2B5EF4-FFF2-40B4-BE49-F238E27FC236}">
                <a16:creationId xmlns:a16="http://schemas.microsoft.com/office/drawing/2014/main" id="{5B90ABE2-FCE1-4421-818A-7C71304F76E3}"/>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154071399"/>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AAE7580-9D24-411F-8067-CE1FA87A8B8C}"/>
              </a:ext>
            </a:extLst>
          </p:cNvPr>
          <p:cNvSpPr>
            <a:spLocks noGrp="1"/>
          </p:cNvSpPr>
          <p:nvPr>
            <p:ph type="ftr" sz="quarter" idx="10"/>
          </p:nvPr>
        </p:nvSpPr>
        <p:spPr/>
        <p:txBody>
          <a:bodyPr/>
          <a:lstStyle>
            <a:lvl1pPr>
              <a:defRPr/>
            </a:lvl1pPr>
          </a:lstStyle>
          <a:p>
            <a:endParaRPr lang="en-US" altLang="zh-CN"/>
          </a:p>
        </p:txBody>
      </p:sp>
      <p:sp>
        <p:nvSpPr>
          <p:cNvPr id="3" name="灯片编号占位符 2">
            <a:extLst>
              <a:ext uri="{FF2B5EF4-FFF2-40B4-BE49-F238E27FC236}">
                <a16:creationId xmlns:a16="http://schemas.microsoft.com/office/drawing/2014/main" id="{62A20B5A-2B24-441F-827C-9288EFD0DD98}"/>
              </a:ext>
            </a:extLst>
          </p:cNvPr>
          <p:cNvSpPr>
            <a:spLocks noGrp="1"/>
          </p:cNvSpPr>
          <p:nvPr>
            <p:ph type="sldNum" sz="quarter" idx="11"/>
          </p:nvPr>
        </p:nvSpPr>
        <p:spPr/>
        <p:txBody>
          <a:bodyPr/>
          <a:lstStyle>
            <a:lvl1pPr>
              <a:defRPr/>
            </a:lvl1pPr>
          </a:lstStyle>
          <a:p>
            <a:fld id="{261FF4EF-7BBD-4FA0-9747-34A363CFCF8F}" type="slidenum">
              <a:rPr lang="en-US" altLang="zh-CN"/>
              <a:pPr/>
              <a:t>‹#›</a:t>
            </a:fld>
            <a:endParaRPr lang="en-US" altLang="zh-CN"/>
          </a:p>
        </p:txBody>
      </p:sp>
      <p:sp>
        <p:nvSpPr>
          <p:cNvPr id="4" name="日期占位符 3">
            <a:extLst>
              <a:ext uri="{FF2B5EF4-FFF2-40B4-BE49-F238E27FC236}">
                <a16:creationId xmlns:a16="http://schemas.microsoft.com/office/drawing/2014/main" id="{FA84933C-F8BA-4D78-8B20-AC7E97CDEB78}"/>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469601979"/>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DAD98-0F2F-43ED-B9B8-D9BB4FA071AF}"/>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5088B04-690B-4362-8C14-48C7BF31391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6A5527-53B5-431B-94A1-540395E6C69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112205B-3744-49D9-8FE7-56DF158DA2B1}"/>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57C1708-194E-464B-A327-7D2563DDCB94}"/>
              </a:ext>
            </a:extLst>
          </p:cNvPr>
          <p:cNvSpPr>
            <a:spLocks noGrp="1"/>
          </p:cNvSpPr>
          <p:nvPr>
            <p:ph type="sldNum" sz="quarter" idx="11"/>
          </p:nvPr>
        </p:nvSpPr>
        <p:spPr/>
        <p:txBody>
          <a:bodyPr/>
          <a:lstStyle>
            <a:lvl1pPr>
              <a:defRPr/>
            </a:lvl1pPr>
          </a:lstStyle>
          <a:p>
            <a:fld id="{E77B8F39-10B7-4545-A6C0-3F0F860BA4FE}" type="slidenum">
              <a:rPr lang="en-US" altLang="zh-CN"/>
              <a:pPr/>
              <a:t>‹#›</a:t>
            </a:fld>
            <a:endParaRPr lang="en-US" altLang="zh-CN"/>
          </a:p>
        </p:txBody>
      </p:sp>
      <p:sp>
        <p:nvSpPr>
          <p:cNvPr id="7" name="日期占位符 6">
            <a:extLst>
              <a:ext uri="{FF2B5EF4-FFF2-40B4-BE49-F238E27FC236}">
                <a16:creationId xmlns:a16="http://schemas.microsoft.com/office/drawing/2014/main" id="{97918829-C0AE-484B-B38E-2B3238969187}"/>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720165786"/>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30182-45BC-4F98-8B9A-8E68F5430A45}"/>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F2BEAD-96DE-46FB-9A5C-AE3D7EEA572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B6901F3-5B60-466C-895C-D40C8DA05C6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F6B48F8F-5375-459A-8CD5-32FB7BFCB97C}"/>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5B7A2D5-5350-4E5D-8EE4-5E291E74D07D}"/>
              </a:ext>
            </a:extLst>
          </p:cNvPr>
          <p:cNvSpPr>
            <a:spLocks noGrp="1"/>
          </p:cNvSpPr>
          <p:nvPr>
            <p:ph type="sldNum" sz="quarter" idx="11"/>
          </p:nvPr>
        </p:nvSpPr>
        <p:spPr/>
        <p:txBody>
          <a:bodyPr/>
          <a:lstStyle>
            <a:lvl1pPr>
              <a:defRPr/>
            </a:lvl1pPr>
          </a:lstStyle>
          <a:p>
            <a:fld id="{3B5074B4-9195-4B33-9557-6D03CD715FC5}" type="slidenum">
              <a:rPr lang="en-US" altLang="zh-CN"/>
              <a:pPr/>
              <a:t>‹#›</a:t>
            </a:fld>
            <a:endParaRPr lang="en-US" altLang="zh-CN"/>
          </a:p>
        </p:txBody>
      </p:sp>
      <p:sp>
        <p:nvSpPr>
          <p:cNvPr id="7" name="日期占位符 6">
            <a:extLst>
              <a:ext uri="{FF2B5EF4-FFF2-40B4-BE49-F238E27FC236}">
                <a16:creationId xmlns:a16="http://schemas.microsoft.com/office/drawing/2014/main" id="{87C5420C-4B03-4E48-8D15-78B4EC17B174}"/>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795680716"/>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72601D-8D66-4148-91AA-04A14BE1BEB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38F4D0-70DC-4DFD-A3A5-D0403CBDABA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8320218F-08AA-4223-829D-1B50B3FCAA65}"/>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9E890FB-3E52-45DE-9DED-992E246EC619}"/>
              </a:ext>
            </a:extLst>
          </p:cNvPr>
          <p:cNvSpPr>
            <a:spLocks noGrp="1"/>
          </p:cNvSpPr>
          <p:nvPr>
            <p:ph type="sldNum" sz="quarter" idx="11"/>
          </p:nvPr>
        </p:nvSpPr>
        <p:spPr/>
        <p:txBody>
          <a:bodyPr/>
          <a:lstStyle>
            <a:lvl1pPr>
              <a:defRPr/>
            </a:lvl1pPr>
          </a:lstStyle>
          <a:p>
            <a:fld id="{E31AE139-FCD8-49E9-AEFA-5B65DCDF169F}" type="slidenum">
              <a:rPr lang="en-US" altLang="zh-CN"/>
              <a:pPr/>
              <a:t>‹#›</a:t>
            </a:fld>
            <a:endParaRPr lang="en-US" altLang="zh-CN"/>
          </a:p>
        </p:txBody>
      </p:sp>
      <p:sp>
        <p:nvSpPr>
          <p:cNvPr id="6" name="日期占位符 5">
            <a:extLst>
              <a:ext uri="{FF2B5EF4-FFF2-40B4-BE49-F238E27FC236}">
                <a16:creationId xmlns:a16="http://schemas.microsoft.com/office/drawing/2014/main" id="{7D1184F0-437D-45B8-BF2D-28153DE19E96}"/>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799332841"/>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092409-CC5C-48C3-997B-292643DBCE53}"/>
              </a:ext>
            </a:extLst>
          </p:cNvPr>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80ABE33-88BC-4EE2-8363-6804A8DD6D85}"/>
              </a:ext>
            </a:extLst>
          </p:cNvPr>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D00B62E-76DB-4459-8ED0-41FE776239FB}"/>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E00F402-EFE4-4030-B673-02DA40FDB931}"/>
              </a:ext>
            </a:extLst>
          </p:cNvPr>
          <p:cNvSpPr>
            <a:spLocks noGrp="1"/>
          </p:cNvSpPr>
          <p:nvPr>
            <p:ph type="sldNum" sz="quarter" idx="11"/>
          </p:nvPr>
        </p:nvSpPr>
        <p:spPr/>
        <p:txBody>
          <a:bodyPr/>
          <a:lstStyle>
            <a:lvl1pPr>
              <a:defRPr/>
            </a:lvl1pPr>
          </a:lstStyle>
          <a:p>
            <a:fld id="{23D69601-9D7C-43AD-8E1E-015C13AF9FF6}" type="slidenum">
              <a:rPr lang="en-US" altLang="zh-CN"/>
              <a:pPr/>
              <a:t>‹#›</a:t>
            </a:fld>
            <a:endParaRPr lang="en-US" altLang="zh-CN"/>
          </a:p>
        </p:txBody>
      </p:sp>
      <p:sp>
        <p:nvSpPr>
          <p:cNvPr id="6" name="日期占位符 5">
            <a:extLst>
              <a:ext uri="{FF2B5EF4-FFF2-40B4-BE49-F238E27FC236}">
                <a16:creationId xmlns:a16="http://schemas.microsoft.com/office/drawing/2014/main" id="{E1AE1A58-1346-4E35-A034-D1C2F1FD2B88}"/>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156974373"/>
      </p:ext>
    </p:extLst>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DDBD91-EC1A-40D2-9866-C876A1679DC2}"/>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表格占位符 2">
            <a:extLst>
              <a:ext uri="{FF2B5EF4-FFF2-40B4-BE49-F238E27FC236}">
                <a16:creationId xmlns:a16="http://schemas.microsoft.com/office/drawing/2014/main" id="{8F8FAA65-1A10-4BF7-BD70-92C1323D8424}"/>
              </a:ext>
            </a:extLst>
          </p:cNvPr>
          <p:cNvSpPr>
            <a:spLocks noGrp="1"/>
          </p:cNvSpPr>
          <p:nvPr>
            <p:ph type="tbl" idx="1"/>
          </p:nvPr>
        </p:nvSpPr>
        <p:spPr>
          <a:xfrm>
            <a:off x="457200" y="1981200"/>
            <a:ext cx="8229600" cy="3886200"/>
          </a:xfrm>
        </p:spPr>
        <p:txBody>
          <a:bodyPr/>
          <a:lstStyle/>
          <a:p>
            <a:endParaRPr lang="zh-CN" altLang="en-US"/>
          </a:p>
        </p:txBody>
      </p:sp>
      <p:sp>
        <p:nvSpPr>
          <p:cNvPr id="4" name="页脚占位符 3">
            <a:extLst>
              <a:ext uri="{FF2B5EF4-FFF2-40B4-BE49-F238E27FC236}">
                <a16:creationId xmlns:a16="http://schemas.microsoft.com/office/drawing/2014/main" id="{7B7B263A-6192-4A79-BDC8-8FCDE3A27400}"/>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D3D9E543-2961-4C47-A642-897040921659}"/>
              </a:ext>
            </a:extLst>
          </p:cNvPr>
          <p:cNvSpPr>
            <a:spLocks noGrp="1"/>
          </p:cNvSpPr>
          <p:nvPr>
            <p:ph type="sldNum" sz="quarter" idx="11"/>
          </p:nvPr>
        </p:nvSpPr>
        <p:spPr>
          <a:xfrm>
            <a:off x="6553200" y="6200775"/>
            <a:ext cx="2133600" cy="457200"/>
          </a:xfrm>
        </p:spPr>
        <p:txBody>
          <a:bodyPr/>
          <a:lstStyle>
            <a:lvl1pPr>
              <a:defRPr/>
            </a:lvl1pPr>
          </a:lstStyle>
          <a:p>
            <a:fld id="{3EE2D7AF-3E92-46C1-9199-DB3F303CD0D0}" type="slidenum">
              <a:rPr lang="en-US" altLang="zh-CN"/>
              <a:pPr/>
              <a:t>‹#›</a:t>
            </a:fld>
            <a:endParaRPr lang="en-US" altLang="zh-CN"/>
          </a:p>
        </p:txBody>
      </p:sp>
      <p:sp>
        <p:nvSpPr>
          <p:cNvPr id="6" name="日期占位符 5">
            <a:extLst>
              <a:ext uri="{FF2B5EF4-FFF2-40B4-BE49-F238E27FC236}">
                <a16:creationId xmlns:a16="http://schemas.microsoft.com/office/drawing/2014/main" id="{80BE2EAB-A84B-4F08-9F09-4EB913DF9E18}"/>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3141184602"/>
      </p:ext>
    </p:extLst>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E5570E-AAE7-4CA9-9BBE-D75B9AE97BFF}"/>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SmartArt 占位符 2">
            <a:extLst>
              <a:ext uri="{FF2B5EF4-FFF2-40B4-BE49-F238E27FC236}">
                <a16:creationId xmlns:a16="http://schemas.microsoft.com/office/drawing/2014/main" id="{69F0F830-8A64-4C74-B83A-8811742AEB6E}"/>
              </a:ext>
            </a:extLst>
          </p:cNvPr>
          <p:cNvSpPr>
            <a:spLocks noGrp="1"/>
          </p:cNvSpPr>
          <p:nvPr>
            <p:ph type="dgm" idx="1"/>
          </p:nvPr>
        </p:nvSpPr>
        <p:spPr>
          <a:xfrm>
            <a:off x="457200" y="1981200"/>
            <a:ext cx="8229600" cy="3886200"/>
          </a:xfrm>
        </p:spPr>
        <p:txBody>
          <a:bodyPr/>
          <a:lstStyle/>
          <a:p>
            <a:endParaRPr lang="zh-CN" altLang="en-US"/>
          </a:p>
        </p:txBody>
      </p:sp>
      <p:sp>
        <p:nvSpPr>
          <p:cNvPr id="4" name="页脚占位符 3">
            <a:extLst>
              <a:ext uri="{FF2B5EF4-FFF2-40B4-BE49-F238E27FC236}">
                <a16:creationId xmlns:a16="http://schemas.microsoft.com/office/drawing/2014/main" id="{696245BF-E54E-4380-8C53-2103FE397214}"/>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1940811D-1E6E-4F6C-AB3B-E81853771184}"/>
              </a:ext>
            </a:extLst>
          </p:cNvPr>
          <p:cNvSpPr>
            <a:spLocks noGrp="1"/>
          </p:cNvSpPr>
          <p:nvPr>
            <p:ph type="sldNum" sz="quarter" idx="11"/>
          </p:nvPr>
        </p:nvSpPr>
        <p:spPr>
          <a:xfrm>
            <a:off x="6553200" y="6200775"/>
            <a:ext cx="2133600" cy="457200"/>
          </a:xfrm>
        </p:spPr>
        <p:txBody>
          <a:bodyPr/>
          <a:lstStyle>
            <a:lvl1pPr>
              <a:defRPr/>
            </a:lvl1pPr>
          </a:lstStyle>
          <a:p>
            <a:fld id="{5D438AE6-C331-480D-9D64-09098024A32B}" type="slidenum">
              <a:rPr lang="en-US" altLang="zh-CN"/>
              <a:pPr/>
              <a:t>‹#›</a:t>
            </a:fld>
            <a:endParaRPr lang="en-US" altLang="zh-CN"/>
          </a:p>
        </p:txBody>
      </p:sp>
      <p:sp>
        <p:nvSpPr>
          <p:cNvPr id="6" name="日期占位符 5">
            <a:extLst>
              <a:ext uri="{FF2B5EF4-FFF2-40B4-BE49-F238E27FC236}">
                <a16:creationId xmlns:a16="http://schemas.microsoft.com/office/drawing/2014/main" id="{9F6DDA6E-80B0-47AF-9E5B-F22706BE61AE}"/>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3507896575"/>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p:cNvSpPr>
          <p:nvPr>
            <p:ph type="body"/>
          </p:nvPr>
        </p:nvSpPr>
        <p:spPr>
          <a:xfrm>
            <a:off x="496888" y="1116013"/>
            <a:ext cx="8251825" cy="5472112"/>
          </a:xfrm>
          <a:prstGeom prst="rect">
            <a:avLst/>
          </a:prstGeom>
          <a:noFill/>
          <a:ln w="9525">
            <a:noFill/>
          </a:ln>
        </p:spPr>
        <p:txBody>
          <a:bodyPr/>
          <a:lstStyle/>
          <a:p>
            <a:pPr lvl="0"/>
            <a:r>
              <a:rPr lang="zh-CN" altLang="en-US" dirty="0"/>
              <a:t>单击以编辑母版文本样式</a:t>
            </a:r>
          </a:p>
        </p:txBody>
      </p:sp>
      <p:cxnSp>
        <p:nvCxnSpPr>
          <p:cNvPr id="1027" name="直接连接符 9"/>
          <p:cNvCxnSpPr/>
          <p:nvPr userDrawn="1"/>
        </p:nvCxnSpPr>
        <p:spPr>
          <a:xfrm>
            <a:off x="0" y="6357938"/>
            <a:ext cx="9144000" cy="71437"/>
          </a:xfrm>
          <a:prstGeom prst="line">
            <a:avLst/>
          </a:prstGeom>
          <a:ln w="9525">
            <a:noFill/>
          </a:ln>
        </p:spPr>
      </p:cxnSp>
      <p:sp>
        <p:nvSpPr>
          <p:cNvPr id="10" name="矩形 9"/>
          <p:cNvSpPr/>
          <p:nvPr/>
        </p:nvSpPr>
        <p:spPr>
          <a:xfrm>
            <a:off x="0" y="190500"/>
            <a:ext cx="9144000" cy="536575"/>
          </a:xfrm>
          <a:prstGeom prst="rect">
            <a:avLst/>
          </a:prstGeom>
          <a:solidFill>
            <a:schemeClr val="accent2"/>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grpSp>
        <p:nvGrpSpPr>
          <p:cNvPr id="2" name="组合 1"/>
          <p:cNvGrpSpPr/>
          <p:nvPr/>
        </p:nvGrpSpPr>
        <p:grpSpPr>
          <a:xfrm>
            <a:off x="115637" y="385924"/>
            <a:ext cx="617410" cy="174607"/>
            <a:chOff x="384175" y="480608"/>
            <a:chExt cx="348872" cy="98663"/>
          </a:xfrm>
          <a:solidFill>
            <a:schemeClr val="accent3">
              <a:lumMod val="90000"/>
            </a:schemeClr>
          </a:solidFill>
        </p:grpSpPr>
        <p:sp>
          <p:nvSpPr>
            <p:cNvPr id="12" name="等腰三角形 11">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3" name="等腰三角形 12">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4" name="等腰三角形 13">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
        <p:nvSpPr>
          <p:cNvPr id="1031" name="Rectangle 2"/>
          <p:cNvSpPr>
            <a:spLocks noGrp="1"/>
          </p:cNvSpPr>
          <p:nvPr>
            <p:ph type="title"/>
          </p:nvPr>
        </p:nvSpPr>
        <p:spPr>
          <a:xfrm>
            <a:off x="844550" y="242594"/>
            <a:ext cx="6400800" cy="457200"/>
          </a:xfrm>
          <a:prstGeom prst="rect">
            <a:avLst/>
          </a:prstGeom>
          <a:noFill/>
          <a:ln w="9525">
            <a:noFill/>
          </a:ln>
        </p:spPr>
        <p:txBody>
          <a:bodyPr anchor="ctr" anchorCtr="0"/>
          <a:lstStyle/>
          <a:p>
            <a:pPr lvl="0"/>
            <a:r>
              <a:rPr lang="" altLang="zh-CN" dirty="0"/>
              <a:t>单击以编辑</a:t>
            </a:r>
            <a:r>
              <a:rPr lang="" altLang="en-US" dirty="0"/>
              <a:t>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rtl="0" eaLnBrk="0" fontAlgn="base" hangingPunct="0">
        <a:spcBef>
          <a:spcPct val="0"/>
        </a:spcBef>
        <a:spcAft>
          <a:spcPct val="0"/>
        </a:spcAft>
        <a:defRPr sz="2800">
          <a:solidFill>
            <a:schemeClr val="bg1"/>
          </a:solidFill>
          <a:latin typeface="+mj-lt"/>
          <a:ea typeface="微软雅黑" panose="020B0503020204020204" pitchFamily="34" charset="-122"/>
          <a:cs typeface="+mj-cs"/>
        </a:defRPr>
      </a:lvl1pPr>
      <a:lvl2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2pPr>
      <a:lvl3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3pPr>
      <a:lvl4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4pPr>
      <a:lvl5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A46C38E-1E1E-4D64-934F-7CE1F6CA869E}"/>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vl1pPr>
          </a:lstStyle>
          <a:p>
            <a:endParaRPr lang="en-US" altLang="zh-CN"/>
          </a:p>
        </p:txBody>
      </p:sp>
      <p:sp>
        <p:nvSpPr>
          <p:cNvPr id="28675" name="Rectangle 3">
            <a:extLst>
              <a:ext uri="{FF2B5EF4-FFF2-40B4-BE49-F238E27FC236}">
                <a16:creationId xmlns:a16="http://schemas.microsoft.com/office/drawing/2014/main" id="{95FE34E4-5EAA-43C2-A785-ACA20CF6D62B}"/>
              </a:ext>
            </a:extLst>
          </p:cNvPr>
          <p:cNvSpPr>
            <a:spLocks noGrp="1" noChangeArrowheads="1"/>
          </p:cNvSpPr>
          <p:nvPr>
            <p:ph type="sldNum" sz="quarter" idx="4"/>
          </p:nvPr>
        </p:nvSpPr>
        <p:spPr bwMode="auto">
          <a:xfrm>
            <a:off x="6553200" y="620077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b="1">
                <a:latin typeface="华文新魏" panose="02010800040101010101" pitchFamily="2" charset="-122"/>
                <a:ea typeface="华文新魏" panose="02010800040101010101" pitchFamily="2" charset="-122"/>
              </a:defRPr>
            </a:lvl1pPr>
          </a:lstStyle>
          <a:p>
            <a:fld id="{1F4AA395-A1D4-4B09-9C75-AA052D7FA1A0}" type="slidenum">
              <a:rPr lang="en-US" altLang="zh-CN"/>
              <a:pPr/>
              <a:t>‹#›</a:t>
            </a:fld>
            <a:endParaRPr lang="en-US" altLang="zh-CN"/>
          </a:p>
        </p:txBody>
      </p:sp>
      <p:grpSp>
        <p:nvGrpSpPr>
          <p:cNvPr id="28676" name="Group 4">
            <a:extLst>
              <a:ext uri="{FF2B5EF4-FFF2-40B4-BE49-F238E27FC236}">
                <a16:creationId xmlns:a16="http://schemas.microsoft.com/office/drawing/2014/main" id="{0C925DCF-12C5-4B95-9392-08B66831CCBF}"/>
              </a:ext>
            </a:extLst>
          </p:cNvPr>
          <p:cNvGrpSpPr>
            <a:grpSpLocks/>
          </p:cNvGrpSpPr>
          <p:nvPr/>
        </p:nvGrpSpPr>
        <p:grpSpPr bwMode="auto">
          <a:xfrm>
            <a:off x="0" y="0"/>
            <a:ext cx="9144000" cy="546100"/>
            <a:chOff x="0" y="0"/>
            <a:chExt cx="5760" cy="344"/>
          </a:xfrm>
        </p:grpSpPr>
        <p:sp>
          <p:nvSpPr>
            <p:cNvPr id="28677" name="Rectangle 5">
              <a:extLst>
                <a:ext uri="{FF2B5EF4-FFF2-40B4-BE49-F238E27FC236}">
                  <a16:creationId xmlns:a16="http://schemas.microsoft.com/office/drawing/2014/main" id="{7A338ACE-7AF2-4137-83FE-E24491DBD305}"/>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28678" name="Rectangle 6">
              <a:extLst>
                <a:ext uri="{FF2B5EF4-FFF2-40B4-BE49-F238E27FC236}">
                  <a16:creationId xmlns:a16="http://schemas.microsoft.com/office/drawing/2014/main" id="{93653F84-1782-4A00-B81C-167BEBA3C5A9}"/>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8679" name="Rectangle 7">
              <a:extLst>
                <a:ext uri="{FF2B5EF4-FFF2-40B4-BE49-F238E27FC236}">
                  <a16:creationId xmlns:a16="http://schemas.microsoft.com/office/drawing/2014/main" id="{F1A954A5-F7A0-4640-BEF0-93F5458C0196}"/>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0" name="Rectangle 8">
              <a:extLst>
                <a:ext uri="{FF2B5EF4-FFF2-40B4-BE49-F238E27FC236}">
                  <a16:creationId xmlns:a16="http://schemas.microsoft.com/office/drawing/2014/main" id="{2D195F7B-269B-458F-A0EE-2C766E6C8E5E}"/>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1" name="Rectangle 9">
              <a:extLst>
                <a:ext uri="{FF2B5EF4-FFF2-40B4-BE49-F238E27FC236}">
                  <a16:creationId xmlns:a16="http://schemas.microsoft.com/office/drawing/2014/main" id="{DFB9C109-16C6-4E42-816C-B69A23CCEEDA}"/>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28682" name="Rectangle 10">
              <a:extLst>
                <a:ext uri="{FF2B5EF4-FFF2-40B4-BE49-F238E27FC236}">
                  <a16:creationId xmlns:a16="http://schemas.microsoft.com/office/drawing/2014/main" id="{98CC751E-7F3A-4B73-8A1C-62AE9BAD475D}"/>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3" name="Rectangle 11">
              <a:extLst>
                <a:ext uri="{FF2B5EF4-FFF2-40B4-BE49-F238E27FC236}">
                  <a16:creationId xmlns:a16="http://schemas.microsoft.com/office/drawing/2014/main" id="{104DD1E0-86CE-44BA-A4C3-8DF5C9D3A62E}"/>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8684" name="Rectangle 12">
              <a:extLst>
                <a:ext uri="{FF2B5EF4-FFF2-40B4-BE49-F238E27FC236}">
                  <a16:creationId xmlns:a16="http://schemas.microsoft.com/office/drawing/2014/main" id="{0A789231-86A8-496A-A5CB-7895349BA3AF}"/>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28685" name="Rectangle 13">
              <a:extLst>
                <a:ext uri="{FF2B5EF4-FFF2-40B4-BE49-F238E27FC236}">
                  <a16:creationId xmlns:a16="http://schemas.microsoft.com/office/drawing/2014/main" id="{D24B3D9C-AB33-4D7F-82CC-7B005423D6DC}"/>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28686" name="Rectangle 14">
            <a:extLst>
              <a:ext uri="{FF2B5EF4-FFF2-40B4-BE49-F238E27FC236}">
                <a16:creationId xmlns:a16="http://schemas.microsoft.com/office/drawing/2014/main" id="{49D69E84-F191-4AF1-93FC-AF67C344A58B}"/>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8687" name="Rectangle 15">
            <a:extLst>
              <a:ext uri="{FF2B5EF4-FFF2-40B4-BE49-F238E27FC236}">
                <a16:creationId xmlns:a16="http://schemas.microsoft.com/office/drawing/2014/main" id="{B118BF2E-8CDD-4976-A602-1FAE0C53A967}"/>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688" name="Rectangle 16">
            <a:extLst>
              <a:ext uri="{FF2B5EF4-FFF2-40B4-BE49-F238E27FC236}">
                <a16:creationId xmlns:a16="http://schemas.microsoft.com/office/drawing/2014/main" id="{1670E9EC-8BD9-4ED0-AB5C-50279F4B690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Tree>
    <p:extLst>
      <p:ext uri="{BB962C8B-B14F-4D97-AF65-F5344CB8AC3E}">
        <p14:creationId xmlns:p14="http://schemas.microsoft.com/office/powerpoint/2010/main" val="144400670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ransition>
    <p:wipe dir="r"/>
  </p:transition>
  <p:hf hdr="0" ftr="0" dt="0"/>
  <p:txStyles>
    <p:titleStyle>
      <a:lvl1pPr algn="l" rtl="0" fontAlgn="base">
        <a:spcBef>
          <a:spcPct val="0"/>
        </a:spcBef>
        <a:spcAft>
          <a:spcPct val="0"/>
        </a:spcAft>
        <a:defRPr sz="4400" kern="12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8.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AD70D86-A9E0-4A58-892E-B8E771EC9B50}"/>
              </a:ext>
            </a:extLst>
          </p:cNvPr>
          <p:cNvSpPr>
            <a:spLocks noGrp="1" noChangeArrowheads="1"/>
          </p:cNvSpPr>
          <p:nvPr>
            <p:ph type="ctrTitle"/>
          </p:nvPr>
        </p:nvSpPr>
        <p:spPr>
          <a:xfrm>
            <a:off x="2808288" y="1773238"/>
            <a:ext cx="6019800" cy="2209800"/>
          </a:xfrm>
        </p:spPr>
        <p:txBody>
          <a:bodyPr/>
          <a:lstStyle/>
          <a:p>
            <a:pPr algn="ctr"/>
            <a:r>
              <a:rPr lang="zh-CN" altLang="en-US" sz="4800" dirty="0">
                <a:latin typeface="楷体_GB2312" pitchFamily="49" charset="-122"/>
                <a:ea typeface="楷体_GB2312" pitchFamily="49" charset="-122"/>
              </a:rPr>
              <a:t>第二章 线性表 </a:t>
            </a:r>
          </a:p>
        </p:txBody>
      </p:sp>
      <p:sp>
        <p:nvSpPr>
          <p:cNvPr id="2" name="副标题 1">
            <a:extLst>
              <a:ext uri="{FF2B5EF4-FFF2-40B4-BE49-F238E27FC236}">
                <a16:creationId xmlns:a16="http://schemas.microsoft.com/office/drawing/2014/main" id="{03CFA724-2FB7-4C8F-815C-179C5D2A3765}"/>
              </a:ext>
            </a:extLst>
          </p:cNvPr>
          <p:cNvSpPr>
            <a:spLocks noGrp="1"/>
          </p:cNvSpPr>
          <p:nvPr>
            <p:ph type="subTitle" idx="1"/>
          </p:nvPr>
        </p:nvSpPr>
        <p:spPr/>
        <p:txBody>
          <a:bodyPr/>
          <a:lstStyle/>
          <a:p>
            <a:pPr>
              <a:lnSpc>
                <a:spcPct val="150000"/>
              </a:lnSpc>
            </a:pPr>
            <a:r>
              <a:rPr lang="zh-CN" altLang="en-US" sz="3200" dirty="0"/>
              <a:t>线性表的类型定义及其物理实现</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8"/>
          <p:cNvSpPr>
            <a:spLocks noChangeArrowheads="1"/>
          </p:cNvSpPr>
          <p:nvPr/>
        </p:nvSpPr>
        <p:spPr bwMode="auto">
          <a:xfrm>
            <a:off x="755576" y="964214"/>
            <a:ext cx="5408613" cy="2369536"/>
          </a:xfrm>
          <a:prstGeom prst="rect">
            <a:avLst/>
          </a:prstGeom>
          <a:noFill/>
          <a:ln>
            <a:noFill/>
          </a:ln>
        </p:spPr>
        <p:txBody>
          <a:bodyPr/>
          <a:lstStyle>
            <a:lvl1pPr marL="342900" indent="-342900">
              <a:buFont typeface="Arial" panose="020B0604020202020204" pitchFamily="34" charset="0"/>
              <a:defRPr sz="2800">
                <a:solidFill>
                  <a:schemeClr val="tx1"/>
                </a:solidFill>
                <a:latin typeface="Times New Roman" panose="02020603050405020304" pitchFamily="18" charset="0"/>
                <a:ea typeface="仿宋_GB2312" pitchFamily="49" charset="-122"/>
              </a:defRPr>
            </a:lvl1pPr>
            <a:lvl2pPr marL="742950" indent="-285750">
              <a:buFont typeface="Arial" panose="020B0604020202020204" pitchFamily="34" charset="0"/>
              <a:defRPr sz="2800">
                <a:solidFill>
                  <a:schemeClr val="tx1"/>
                </a:solidFill>
                <a:latin typeface="Times New Roman" panose="02020603050405020304" pitchFamily="18" charset="0"/>
                <a:ea typeface="仿宋_GB2312" pitchFamily="49" charset="-122"/>
              </a:defRPr>
            </a:lvl2pPr>
            <a:lvl3pPr marL="1143000" indent="-228600">
              <a:buFont typeface="Arial" panose="020B0604020202020204" pitchFamily="34" charset="0"/>
              <a:defRPr sz="2800">
                <a:solidFill>
                  <a:schemeClr val="tx1"/>
                </a:solidFill>
                <a:latin typeface="Times New Roman" panose="02020603050405020304" pitchFamily="18" charset="0"/>
                <a:ea typeface="仿宋_GB2312" pitchFamily="49" charset="-122"/>
              </a:defRPr>
            </a:lvl3pPr>
            <a:lvl4pPr marL="1600200" indent="-228600">
              <a:buFont typeface="Arial" panose="020B0604020202020204" pitchFamily="34" charset="0"/>
              <a:defRPr sz="2800">
                <a:solidFill>
                  <a:schemeClr val="tx1"/>
                </a:solidFill>
                <a:latin typeface="Times New Roman" panose="02020603050405020304" pitchFamily="18" charset="0"/>
                <a:ea typeface="仿宋_GB2312" pitchFamily="49" charset="-122"/>
              </a:defRPr>
            </a:lvl4pPr>
            <a:lvl5pPr marL="2057400" indent="-228600">
              <a:buFont typeface="Arial" panose="020B0604020202020204" pitchFamily="34" charset="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仿宋_GB2312" pitchFamily="49" charset="-122"/>
              </a:defRPr>
            </a:lvl9pPr>
          </a:lstStyle>
          <a:p>
            <a:pPr marR="0" lvl="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章  线性表</a:t>
            </a:r>
          </a:p>
          <a:p>
            <a:pPr marR="0" lvl="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章  栈和队列</a:t>
            </a:r>
          </a:p>
          <a:p>
            <a:pPr marR="0" lvl="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章  字符串</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R="0" lvl="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lang="zh-CN" altLang="en-US" sz="2400" dirty="0">
                <a:latin typeface="+mn-lt"/>
                <a:ea typeface="+mn-ea"/>
                <a:cs typeface="+mn-ea"/>
                <a:sym typeface="+mn-lt"/>
              </a:rPr>
              <a:t>第</a:t>
            </a:r>
            <a:r>
              <a:rPr lang="en-US" altLang="zh-CN" sz="2400" dirty="0">
                <a:latin typeface="+mn-lt"/>
                <a:ea typeface="+mn-ea"/>
                <a:cs typeface="+mn-ea"/>
                <a:sym typeface="+mn-lt"/>
              </a:rPr>
              <a:t>5</a:t>
            </a:r>
            <a:r>
              <a:rPr lang="zh-CN" altLang="en-US" sz="2400" dirty="0">
                <a:latin typeface="+mn-lt"/>
                <a:ea typeface="+mn-ea"/>
                <a:cs typeface="+mn-ea"/>
                <a:sym typeface="+mn-lt"/>
              </a:rPr>
              <a:t>章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数组和广义表  </a:t>
            </a:r>
          </a:p>
        </p:txBody>
      </p:sp>
      <p:grpSp>
        <p:nvGrpSpPr>
          <p:cNvPr id="2" name="组合 1"/>
          <p:cNvGrpSpPr/>
          <p:nvPr/>
        </p:nvGrpSpPr>
        <p:grpSpPr>
          <a:xfrm>
            <a:off x="5824" y="3376228"/>
            <a:ext cx="8672513" cy="2791027"/>
            <a:chOff x="3175" y="3429000"/>
            <a:chExt cx="8672513" cy="2065636"/>
          </a:xfrm>
        </p:grpSpPr>
        <p:sp>
          <p:nvSpPr>
            <p:cNvPr id="12" name="矩形: 圆角 16"/>
            <p:cNvSpPr>
              <a:spLocks noChangeArrowheads="1"/>
            </p:cNvSpPr>
            <p:nvPr/>
          </p:nvSpPr>
          <p:spPr bwMode="auto">
            <a:xfrm>
              <a:off x="392113" y="3433764"/>
              <a:ext cx="8283575" cy="401560"/>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316" name="Rectangle 11"/>
            <p:cNvSpPr>
              <a:spLocks noChangeArrowheads="1"/>
            </p:cNvSpPr>
            <p:nvPr/>
          </p:nvSpPr>
          <p:spPr bwMode="auto">
            <a:xfrm>
              <a:off x="365125" y="3834699"/>
              <a:ext cx="8310563" cy="1659937"/>
            </a:xfrm>
            <a:prstGeom prst="rect">
              <a:avLst/>
            </a:prstGeom>
            <a:solidFill>
              <a:schemeClr val="bg2">
                <a:lumMod val="20000"/>
                <a:lumOff val="80000"/>
              </a:schemeClr>
            </a:solidFill>
            <a:ln>
              <a:noFill/>
            </a:ln>
          </p:spPr>
          <p:txBody>
            <a:bodyPr>
              <a:spAutoFit/>
            </a:bodyPr>
            <a:lstStyle>
              <a:lvl1pPr>
                <a:lnSpc>
                  <a:spcPct val="130000"/>
                </a:lnSpc>
                <a:tabLst>
                  <a:tab pos="669925" algn="l"/>
                </a:tabLst>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tabLst>
                  <a:tab pos="669925" algn="l"/>
                </a:tabLst>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tabLst>
                  <a:tab pos="669925" algn="l"/>
                </a:tabLst>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tabLst>
                  <a:tab pos="669925" algn="l"/>
                </a:tabLst>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tabLst>
                  <a:tab pos="669925" algn="l"/>
                </a:tabLst>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tabLst>
                  <a:tab pos="669925" algn="l"/>
                </a:tabLst>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tabLst>
                  <a:tab pos="669925" algn="l"/>
                </a:tabLst>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tabLst>
                  <a:tab pos="669925" algn="l"/>
                </a:tabLst>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tabLst>
                  <a:tab pos="669925" algn="l"/>
                </a:tabLst>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1" fontAlgn="base" latinLnBrk="0" hangingPunct="1">
                <a:lnSpc>
                  <a:spcPct val="150000"/>
                </a:lnSpc>
                <a:spcBef>
                  <a:spcPct val="0"/>
                </a:spcBef>
                <a:spcAft>
                  <a:spcPct val="0"/>
                </a:spcAft>
                <a:buClrTx/>
                <a:buSzTx/>
                <a:buFontTx/>
                <a:buNone/>
                <a:tabLst>
                  <a:tab pos="669925" algn="l"/>
                </a:tabLst>
                <a:defRPr/>
              </a:pPr>
              <a:r>
                <a:rPr lang="zh-CN" altLang="en-US" dirty="0">
                  <a:latin typeface="+mn-lt"/>
                  <a:ea typeface="+mn-ea"/>
                  <a:cs typeface="+mn-ea"/>
                  <a:sym typeface="+mn-lt"/>
                </a:rPr>
                <a:t>在数据元素的非</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空有限集中，有且仅有一个“</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第一个</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最后一个</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”数据元素；除第一个之外的每个数据元素都只有一个</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直接前驱</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；除最后一个之外的每个数据元素都只有一个</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直接后继</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0" name="Rectangle 13"/>
            <p:cNvSpPr>
              <a:spLocks noChangeArrowheads="1"/>
            </p:cNvSpPr>
            <p:nvPr/>
          </p:nvSpPr>
          <p:spPr bwMode="auto">
            <a:xfrm>
              <a:off x="3175" y="3429000"/>
              <a:ext cx="3724275" cy="341678"/>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schemeClr val="bg1"/>
                  </a:solidFill>
                  <a:effectLst/>
                  <a:uLnTx/>
                  <a:uFillTx/>
                  <a:latin typeface="+mn-lt"/>
                  <a:ea typeface="+mn-ea"/>
                  <a:cs typeface="+mn-ea"/>
                  <a:sym typeface="+mn-lt"/>
                </a:rPr>
                <a:t>线性结构的</a:t>
              </a:r>
              <a:r>
                <a:rPr kumimoji="1" lang="zh-CN" altLang="en-US" sz="2400" dirty="0">
                  <a:solidFill>
                    <a:schemeClr val="bg1"/>
                  </a:solidFill>
                  <a:latin typeface="+mn-lt"/>
                  <a:ea typeface="+mn-ea"/>
                  <a:cs typeface="+mn-ea"/>
                  <a:sym typeface="+mn-lt"/>
                </a:rPr>
                <a:t>特点</a:t>
              </a:r>
              <a:r>
                <a:rPr kumimoji="1" lang="zh-CN" altLang="en-US" sz="24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sp>
        <p:nvSpPr>
          <p:cNvPr id="10249" name="标题 4"/>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近几周上课内容</a:t>
            </a:r>
          </a:p>
        </p:txBody>
      </p:sp>
      <p:grpSp>
        <p:nvGrpSpPr>
          <p:cNvPr id="3" name="组合 2"/>
          <p:cNvGrpSpPr/>
          <p:nvPr/>
        </p:nvGrpSpPr>
        <p:grpSpPr>
          <a:xfrm>
            <a:off x="4717569" y="1180487"/>
            <a:ext cx="3958119" cy="1981998"/>
            <a:chOff x="5329238" y="1609725"/>
            <a:chExt cx="3530606" cy="1079683"/>
          </a:xfrm>
        </p:grpSpPr>
        <p:sp>
          <p:nvSpPr>
            <p:cNvPr id="7" name="Text Box 10"/>
            <p:cNvSpPr txBox="1">
              <a:spLocks noChangeArrowheads="1"/>
            </p:cNvSpPr>
            <p:nvPr/>
          </p:nvSpPr>
          <p:spPr bwMode="auto">
            <a:xfrm>
              <a:off x="6357898" y="1830161"/>
              <a:ext cx="1804988" cy="285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线性结构</a:t>
              </a:r>
            </a:p>
          </p:txBody>
        </p:sp>
        <p:sp>
          <p:nvSpPr>
            <p:cNvPr id="11" name="Rectangle 14"/>
            <p:cNvSpPr>
              <a:spLocks noChangeArrowheads="1"/>
            </p:cNvSpPr>
            <p:nvPr/>
          </p:nvSpPr>
          <p:spPr bwMode="auto">
            <a:xfrm>
              <a:off x="5740406" y="2169663"/>
              <a:ext cx="3119438" cy="519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（逻辑、存储和运算）</a:t>
              </a:r>
            </a:p>
          </p:txBody>
        </p:sp>
        <p:sp>
          <p:nvSpPr>
            <p:cNvPr id="8" name="右中括号 7"/>
            <p:cNvSpPr/>
            <p:nvPr/>
          </p:nvSpPr>
          <p:spPr bwMode="auto">
            <a:xfrm>
              <a:off x="5329238" y="1609725"/>
              <a:ext cx="220662" cy="1008063"/>
            </a:xfrm>
            <a:prstGeom prst="rightBracket">
              <a:avLst/>
            </a:prstGeom>
            <a:noFill/>
            <a:ln w="19050" cap="flat" cmpd="sng" algn="ctr">
              <a:solidFill>
                <a:schemeClr val="accent1">
                  <a:lumMod val="60000"/>
                  <a:lumOff val="40000"/>
                </a:schemeClr>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latin typeface="黑体" panose="02010609060101010101" pitchFamily="49" charset="-122"/>
                <a:ea typeface="黑体" panose="02010609060101010101" pitchFamily="49" charset="-122"/>
              </a:rPr>
              <a:t>线性表的类型定义</a:t>
            </a: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线性表的顺序表示和实现</a:t>
            </a: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线性表的链式表示和实现</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线性链表</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循环链表</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双向链表</a:t>
            </a: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一元多项式的表示及相加</a:t>
            </a:r>
          </a:p>
        </p:txBody>
      </p:sp>
    </p:spTree>
    <p:extLst>
      <p:ext uri="{BB962C8B-B14F-4D97-AF65-F5344CB8AC3E}">
        <p14:creationId xmlns:p14="http://schemas.microsoft.com/office/powerpoint/2010/main" val="1525590459"/>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534" name="Rectangle 38"/>
          <p:cNvSpPr>
            <a:spLocks noChangeArrowheads="1"/>
          </p:cNvSpPr>
          <p:nvPr/>
        </p:nvSpPr>
        <p:spPr bwMode="auto">
          <a:xfrm>
            <a:off x="619217" y="1674392"/>
            <a:ext cx="79248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30000"/>
              </a:spcAft>
              <a:buClrTx/>
              <a:buSzTx/>
              <a:buFontTx/>
              <a:buNone/>
              <a:defRPr/>
            </a:pPr>
            <a:r>
              <a:rPr kumimoji="0" lang="zh-CN" altLang="en-US" sz="3200" b="0" i="0" u="none" strike="noStrike" kern="1200" cap="none" spc="0" normalizeH="0" baseline="0" noProof="0" dirty="0">
                <a:ln>
                  <a:noFill/>
                </a:ln>
                <a:effectLst/>
                <a:uLnTx/>
                <a:uFillTx/>
                <a:latin typeface="+mn-lt"/>
                <a:ea typeface="+mn-ea"/>
                <a:cs typeface="+mn-ea"/>
                <a:sym typeface="+mn-lt"/>
              </a:rPr>
              <a:t>（ </a:t>
            </a:r>
            <a:r>
              <a:rPr kumimoji="0" lang="en-US" altLang="zh-CN" sz="3200" b="0" i="0" u="none" strike="noStrike" kern="1200" cap="none" spc="0" normalizeH="0" baseline="0" noProof="0" dirty="0">
                <a:ln>
                  <a:noFill/>
                </a:ln>
                <a:effectLst/>
                <a:uLnTx/>
                <a:uFillTx/>
                <a:latin typeface="+mn-lt"/>
                <a:ea typeface="+mn-ea"/>
                <a:cs typeface="+mn-ea"/>
                <a:sym typeface="+mn-lt"/>
              </a:rPr>
              <a:t>a</a:t>
            </a:r>
            <a:r>
              <a:rPr kumimoji="0" lang="en-US" altLang="zh-CN" sz="3200" b="0" i="0" u="none" strike="noStrike" kern="1200" cap="none" spc="0" normalizeH="0" baseline="-30000" noProof="0" dirty="0">
                <a:ln>
                  <a:noFill/>
                </a:ln>
                <a:effectLst/>
                <a:uLnTx/>
                <a:uFillTx/>
                <a:latin typeface="+mn-lt"/>
                <a:ea typeface="+mn-ea"/>
                <a:cs typeface="+mn-ea"/>
                <a:sym typeface="+mn-lt"/>
              </a:rPr>
              <a:t>1</a:t>
            </a:r>
            <a:r>
              <a:rPr kumimoji="0" lang="en-US" altLang="zh-CN" sz="3200" b="0" i="0" u="none" strike="noStrike" kern="1200" cap="none" spc="0" normalizeH="0" baseline="0" noProof="0" dirty="0">
                <a:ln>
                  <a:noFill/>
                </a:ln>
                <a:effectLst/>
                <a:uLnTx/>
                <a:uFillTx/>
                <a:latin typeface="+mn-lt"/>
                <a:ea typeface="+mn-ea"/>
                <a:cs typeface="+mn-ea"/>
                <a:sym typeface="+mn-lt"/>
              </a:rPr>
              <a:t>,  a</a:t>
            </a:r>
            <a:r>
              <a:rPr kumimoji="0" lang="en-US" altLang="zh-CN" sz="3200" b="0" i="0" u="none" strike="noStrike" kern="1200" cap="none" spc="0" normalizeH="0" baseline="-30000" noProof="0" dirty="0">
                <a:ln>
                  <a:noFill/>
                </a:ln>
                <a:effectLst/>
                <a:uLnTx/>
                <a:uFillTx/>
                <a:latin typeface="+mn-lt"/>
                <a:ea typeface="+mn-ea"/>
                <a:cs typeface="+mn-ea"/>
                <a:sym typeface="+mn-lt"/>
              </a:rPr>
              <a:t>2</a:t>
            </a:r>
            <a:r>
              <a:rPr kumimoji="0" lang="en-US" altLang="zh-CN" sz="3200" b="0" i="0" u="none" strike="noStrike" kern="1200" cap="none" spc="0" normalizeH="0" baseline="0" noProof="0" dirty="0">
                <a:ln>
                  <a:noFill/>
                </a:ln>
                <a:effectLst/>
                <a:uLnTx/>
                <a:uFillTx/>
                <a:latin typeface="+mn-lt"/>
                <a:ea typeface="+mn-ea"/>
                <a:cs typeface="+mn-ea"/>
                <a:sym typeface="+mn-lt"/>
              </a:rPr>
              <a:t>,  …,  a</a:t>
            </a:r>
            <a:r>
              <a:rPr kumimoji="0" lang="en-US" altLang="zh-CN" sz="3200" b="0" i="0" u="none" strike="noStrike" kern="1200" cap="none" spc="0" normalizeH="0" baseline="-30000" noProof="0" dirty="0">
                <a:ln>
                  <a:noFill/>
                </a:ln>
                <a:effectLst/>
                <a:uLnTx/>
                <a:uFillTx/>
                <a:latin typeface="+mn-lt"/>
                <a:ea typeface="+mn-ea"/>
                <a:cs typeface="+mn-ea"/>
                <a:sym typeface="+mn-lt"/>
              </a:rPr>
              <a:t>i-1</a:t>
            </a:r>
            <a:r>
              <a:rPr lang="en-US" altLang="zh-CN" sz="3200" noProof="0" dirty="0">
                <a:latin typeface="+mn-lt"/>
                <a:ea typeface="+mn-ea"/>
                <a:cs typeface="+mn-ea"/>
                <a:sym typeface="+mn-lt"/>
              </a:rPr>
              <a:t>,  </a:t>
            </a:r>
            <a:r>
              <a:rPr kumimoji="0" lang="en-US" altLang="zh-CN" sz="3200" b="0" i="0" u="none" strike="noStrike" kern="1200" cap="none" spc="0" normalizeH="0" baseline="0" noProof="0" dirty="0">
                <a:ln>
                  <a:noFill/>
                </a:ln>
                <a:effectLst/>
                <a:uLnTx/>
                <a:uFillTx/>
                <a:latin typeface="+mn-lt"/>
                <a:ea typeface="+mn-ea"/>
                <a:cs typeface="+mn-ea"/>
                <a:sym typeface="+mn-lt"/>
              </a:rPr>
              <a:t>a</a:t>
            </a:r>
            <a:r>
              <a:rPr kumimoji="0" lang="en-US" altLang="zh-CN" sz="3200" b="0" i="0" u="none" strike="noStrike" kern="1200" cap="none" spc="0" normalizeH="0" baseline="-30000" noProof="0" dirty="0">
                <a:ln>
                  <a:noFill/>
                </a:ln>
                <a:effectLst/>
                <a:uLnTx/>
                <a:uFillTx/>
                <a:latin typeface="+mn-lt"/>
                <a:ea typeface="+mn-ea"/>
                <a:cs typeface="+mn-ea"/>
                <a:sym typeface="+mn-lt"/>
              </a:rPr>
              <a:t>i</a:t>
            </a:r>
            <a:r>
              <a:rPr kumimoji="0" lang="en-US" altLang="zh-CN" sz="3200" b="0" i="0" u="none" strike="noStrike" kern="1200" cap="none" spc="0" normalizeH="0" baseline="0" noProof="0" dirty="0">
                <a:ln>
                  <a:noFill/>
                </a:ln>
                <a:effectLst/>
                <a:uLnTx/>
                <a:uFillTx/>
                <a:latin typeface="+mn-lt"/>
                <a:ea typeface="+mn-ea"/>
                <a:cs typeface="+mn-ea"/>
                <a:sym typeface="+mn-lt"/>
              </a:rPr>
              <a:t>,  a</a:t>
            </a:r>
            <a:r>
              <a:rPr kumimoji="0" lang="en-US" altLang="zh-CN" sz="3200" b="0" i="0" u="none" strike="noStrike" kern="1200" cap="none" spc="0" normalizeH="0" baseline="-30000" noProof="0" dirty="0">
                <a:ln>
                  <a:noFill/>
                </a:ln>
                <a:effectLst/>
                <a:uLnTx/>
                <a:uFillTx/>
                <a:latin typeface="+mn-lt"/>
                <a:ea typeface="+mn-ea"/>
                <a:cs typeface="+mn-ea"/>
                <a:sym typeface="+mn-lt"/>
              </a:rPr>
              <a:t>i</a:t>
            </a:r>
            <a:r>
              <a:rPr kumimoji="0" lang="zh-CN" altLang="en-US" sz="3200" b="0" i="0" u="none" strike="noStrike" kern="1200" cap="none" spc="0" normalizeH="0" baseline="-30000" noProof="0" dirty="0">
                <a:ln>
                  <a:noFill/>
                </a:ln>
                <a:effectLst/>
                <a:uLnTx/>
                <a:uFillTx/>
                <a:latin typeface="+mn-lt"/>
                <a:ea typeface="+mn-ea"/>
                <a:cs typeface="+mn-ea"/>
                <a:sym typeface="+mn-lt"/>
              </a:rPr>
              <a:t>＋</a:t>
            </a:r>
            <a:r>
              <a:rPr kumimoji="0" lang="en-US" altLang="zh-CN" sz="3200" b="0" i="0" u="none" strike="noStrike" kern="1200" cap="none" spc="0" normalizeH="0" baseline="-30000" noProof="0" dirty="0">
                <a:ln>
                  <a:noFill/>
                </a:ln>
                <a:effectLst/>
                <a:uLnTx/>
                <a:uFillTx/>
                <a:latin typeface="+mn-lt"/>
                <a:ea typeface="+mn-ea"/>
                <a:cs typeface="+mn-ea"/>
                <a:sym typeface="+mn-lt"/>
              </a:rPr>
              <a:t>1</a:t>
            </a:r>
            <a:r>
              <a:rPr kumimoji="0" lang="en-US" altLang="zh-CN" sz="3200" b="0" i="0" u="none" strike="noStrike" kern="1200" cap="none" spc="0" normalizeH="0" baseline="0" noProof="0" dirty="0">
                <a:ln>
                  <a:noFill/>
                </a:ln>
                <a:effectLst/>
                <a:uLnTx/>
                <a:uFillTx/>
                <a:latin typeface="+mn-lt"/>
                <a:ea typeface="+mn-ea"/>
                <a:cs typeface="+mn-ea"/>
                <a:sym typeface="+mn-lt"/>
              </a:rPr>
              <a:t>,  …,  a</a:t>
            </a:r>
            <a:r>
              <a:rPr kumimoji="0" lang="en-US" altLang="zh-CN" sz="3200" b="0" i="0" u="none" strike="noStrike" kern="1200" cap="none" spc="0" normalizeH="0" baseline="-30000" noProof="0" dirty="0">
                <a:ln>
                  <a:noFill/>
                </a:ln>
                <a:effectLst/>
                <a:uLnTx/>
                <a:uFillTx/>
                <a:latin typeface="+mn-lt"/>
                <a:ea typeface="+mn-ea"/>
                <a:cs typeface="+mn-ea"/>
                <a:sym typeface="+mn-lt"/>
              </a:rPr>
              <a:t>n</a:t>
            </a:r>
            <a:r>
              <a:rPr kumimoji="0" lang="en-US" altLang="zh-CN" sz="3200" b="0" i="0" u="none" strike="noStrike" kern="1200" cap="none" spc="0" normalizeH="0" noProof="0" dirty="0">
                <a:ln>
                  <a:noFill/>
                </a:ln>
                <a:effectLst/>
                <a:uLnTx/>
                <a:uFillTx/>
                <a:latin typeface="+mn-lt"/>
                <a:ea typeface="+mn-ea"/>
                <a:cs typeface="+mn-ea"/>
                <a:sym typeface="+mn-lt"/>
              </a:rPr>
              <a:t> </a:t>
            </a:r>
            <a:r>
              <a:rPr kumimoji="0" lang="zh-CN" altLang="en-US" sz="3200" b="0" i="0" u="none" strike="noStrike" kern="1200" cap="none" spc="0" normalizeH="0" baseline="0" noProof="0" dirty="0">
                <a:ln>
                  <a:noFill/>
                </a:ln>
                <a:effectLst/>
                <a:uLnTx/>
                <a:uFillTx/>
                <a:latin typeface="+mn-lt"/>
                <a:ea typeface="+mn-ea"/>
                <a:cs typeface="+mn-ea"/>
                <a:sym typeface="+mn-lt"/>
              </a:rPr>
              <a:t>）</a:t>
            </a:r>
          </a:p>
        </p:txBody>
      </p:sp>
      <p:sp>
        <p:nvSpPr>
          <p:cNvPr id="362536" name="Rectangle 40"/>
          <p:cNvSpPr>
            <a:spLocks noChangeArrowheads="1"/>
          </p:cNvSpPr>
          <p:nvPr/>
        </p:nvSpPr>
        <p:spPr bwMode="auto">
          <a:xfrm>
            <a:off x="609600" y="940127"/>
            <a:ext cx="792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mn-ea"/>
                <a:ea typeface="+mn-ea"/>
                <a:cs typeface="+mn-ea"/>
                <a:sym typeface="+mn-lt"/>
              </a:rPr>
              <a:t>线性表</a:t>
            </a:r>
            <a:r>
              <a:rPr kumimoji="0" lang="zh-CN" altLang="en-US" sz="2800" b="0" i="0" u="none" strike="noStrike" kern="1200" cap="none" spc="0" normalizeH="0" baseline="0" noProof="0" dirty="0">
                <a:ln>
                  <a:noFill/>
                </a:ln>
                <a:solidFill>
                  <a:schemeClr val="accent2"/>
                </a:solidFill>
                <a:effectLst/>
                <a:uLnTx/>
                <a:uFillTx/>
                <a:latin typeface="+mn-ea"/>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rPr>
              <a:t>n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个数据元素的有限序列。</a:t>
            </a:r>
            <a:r>
              <a:rPr lang="zh-CN" altLang="en-US" sz="2800" dirty="0">
                <a:latin typeface="+mn-ea"/>
                <a:ea typeface="+mn-ea"/>
                <a:cs typeface="+mn-ea"/>
                <a:sym typeface="+mn-lt"/>
              </a:rPr>
              <a:t>可以</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记作：</a:t>
            </a:r>
          </a:p>
        </p:txBody>
      </p:sp>
      <p:sp>
        <p:nvSpPr>
          <p:cNvPr id="362537" name="Rectangle 41"/>
          <p:cNvSpPr>
            <a:spLocks noChangeArrowheads="1"/>
          </p:cNvSpPr>
          <p:nvPr/>
        </p:nvSpPr>
        <p:spPr bwMode="auto">
          <a:xfrm>
            <a:off x="6338280" y="5791685"/>
            <a:ext cx="22977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n=0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时称为</a:t>
            </a:r>
            <a:r>
              <a:rPr lang="zh-CN" altLang="en-US" noProof="0" dirty="0">
                <a:solidFill>
                  <a:srgbClr val="FF0000"/>
                </a:solidFill>
                <a:latin typeface="+mn-lt"/>
                <a:ea typeface="+mn-ea"/>
                <a:cs typeface="+mn-ea"/>
                <a:sym typeface="+mn-lt"/>
              </a:rPr>
              <a:t>空表</a:t>
            </a:r>
            <a:endPar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endParaRPr>
          </a:p>
        </p:txBody>
      </p:sp>
      <p:sp>
        <p:nvSpPr>
          <p:cNvPr id="362538" name="AutoShape 42"/>
          <p:cNvSpPr/>
          <p:nvPr/>
        </p:nvSpPr>
        <p:spPr bwMode="auto">
          <a:xfrm rot="-5400000">
            <a:off x="4397128" y="-212551"/>
            <a:ext cx="363538" cy="5486400"/>
          </a:xfrm>
          <a:prstGeom prst="leftBrace">
            <a:avLst>
              <a:gd name="adj1" fmla="val 25013"/>
              <a:gd name="adj2" fmla="val 50000"/>
            </a:avLst>
          </a:prstGeom>
          <a:noFill/>
          <a:ln w="254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39" name="Rectangle 43"/>
          <p:cNvSpPr>
            <a:spLocks noChangeArrowheads="1"/>
          </p:cNvSpPr>
          <p:nvPr/>
        </p:nvSpPr>
        <p:spPr bwMode="auto">
          <a:xfrm>
            <a:off x="3734346" y="2828725"/>
            <a:ext cx="1689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数据元素</a:t>
            </a:r>
          </a:p>
        </p:txBody>
      </p:sp>
      <p:sp>
        <p:nvSpPr>
          <p:cNvPr id="362540" name="Line 44"/>
          <p:cNvSpPr>
            <a:spLocks noChangeShapeType="1"/>
          </p:cNvSpPr>
          <p:nvPr/>
        </p:nvSpPr>
        <p:spPr bwMode="auto">
          <a:xfrm flipH="1">
            <a:off x="990599" y="2260181"/>
            <a:ext cx="997571" cy="1406524"/>
          </a:xfrm>
          <a:prstGeom prst="line">
            <a:avLst/>
          </a:prstGeom>
          <a:noFill/>
          <a:ln w="349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41" name="Rectangle 45"/>
          <p:cNvSpPr>
            <a:spLocks noChangeArrowheads="1"/>
          </p:cNvSpPr>
          <p:nvPr/>
        </p:nvSpPr>
        <p:spPr bwMode="auto">
          <a:xfrm>
            <a:off x="222250" y="3666704"/>
            <a:ext cx="16827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表头元素</a:t>
            </a:r>
          </a:p>
        </p:txBody>
      </p:sp>
      <p:sp>
        <p:nvSpPr>
          <p:cNvPr id="362542" name="Line 46"/>
          <p:cNvSpPr>
            <a:spLocks noChangeShapeType="1"/>
          </p:cNvSpPr>
          <p:nvPr/>
        </p:nvSpPr>
        <p:spPr bwMode="auto">
          <a:xfrm>
            <a:off x="7294881" y="2279230"/>
            <a:ext cx="669256" cy="1311274"/>
          </a:xfrm>
          <a:prstGeom prst="line">
            <a:avLst/>
          </a:prstGeom>
          <a:noFill/>
          <a:ln w="349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43" name="Rectangle 47"/>
          <p:cNvSpPr>
            <a:spLocks noChangeArrowheads="1"/>
          </p:cNvSpPr>
          <p:nvPr/>
        </p:nvSpPr>
        <p:spPr bwMode="auto">
          <a:xfrm>
            <a:off x="2890838" y="3655592"/>
            <a:ext cx="2054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的直接前驱</a:t>
            </a:r>
          </a:p>
        </p:txBody>
      </p:sp>
      <p:sp>
        <p:nvSpPr>
          <p:cNvPr id="362544" name="Rectangle 48"/>
          <p:cNvSpPr>
            <a:spLocks noChangeArrowheads="1"/>
          </p:cNvSpPr>
          <p:nvPr/>
        </p:nvSpPr>
        <p:spPr bwMode="auto">
          <a:xfrm>
            <a:off x="4802188" y="3647654"/>
            <a:ext cx="2151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400" b="0" i="0" u="none" strike="noStrike" kern="1200" cap="none" spc="0" normalizeH="0" baseline="-30000" noProof="0" dirty="0">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的直接后继</a:t>
            </a:r>
          </a:p>
        </p:txBody>
      </p:sp>
      <p:sp>
        <p:nvSpPr>
          <p:cNvPr id="362545" name="Line 49"/>
          <p:cNvSpPr>
            <a:spLocks noChangeShapeType="1"/>
          </p:cNvSpPr>
          <p:nvPr/>
        </p:nvSpPr>
        <p:spPr bwMode="auto">
          <a:xfrm flipH="1">
            <a:off x="3851920" y="2307805"/>
            <a:ext cx="154711" cy="1282699"/>
          </a:xfrm>
          <a:prstGeom prst="line">
            <a:avLst/>
          </a:prstGeom>
          <a:noFill/>
          <a:ln w="349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46" name="Line 50"/>
          <p:cNvSpPr>
            <a:spLocks noChangeShapeType="1"/>
          </p:cNvSpPr>
          <p:nvPr/>
        </p:nvSpPr>
        <p:spPr bwMode="auto">
          <a:xfrm>
            <a:off x="5602332" y="2316536"/>
            <a:ext cx="303830" cy="1293812"/>
          </a:xfrm>
          <a:prstGeom prst="line">
            <a:avLst/>
          </a:prstGeom>
          <a:noFill/>
          <a:ln w="34925">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50" name="Rectangle 54"/>
          <p:cNvSpPr>
            <a:spLocks noChangeArrowheads="1"/>
          </p:cNvSpPr>
          <p:nvPr/>
        </p:nvSpPr>
        <p:spPr bwMode="auto">
          <a:xfrm>
            <a:off x="7152502" y="3620964"/>
            <a:ext cx="16827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表尾元素</a:t>
            </a:r>
          </a:p>
        </p:txBody>
      </p:sp>
      <p:sp>
        <p:nvSpPr>
          <p:cNvPr id="362551" name="Oval 55"/>
          <p:cNvSpPr>
            <a:spLocks noChangeArrowheads="1"/>
          </p:cNvSpPr>
          <p:nvPr/>
        </p:nvSpPr>
        <p:spPr bwMode="auto">
          <a:xfrm>
            <a:off x="2699792" y="2004592"/>
            <a:ext cx="214313" cy="292100"/>
          </a:xfrm>
          <a:prstGeom prst="ellipse">
            <a:avLst/>
          </a:prstGeom>
          <a:noFill/>
          <a:ln w="25400">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2552" name="Oval 56"/>
          <p:cNvSpPr>
            <a:spLocks noChangeArrowheads="1"/>
          </p:cNvSpPr>
          <p:nvPr/>
        </p:nvSpPr>
        <p:spPr bwMode="auto">
          <a:xfrm>
            <a:off x="7038202" y="2029992"/>
            <a:ext cx="228600" cy="277813"/>
          </a:xfrm>
          <a:prstGeom prst="ellipse">
            <a:avLst/>
          </a:prstGeom>
          <a:noFill/>
          <a:ln w="25400">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29" name="Rectangle 58"/>
          <p:cNvSpPr>
            <a:spLocks noChangeArrowheads="1"/>
          </p:cNvSpPr>
          <p:nvPr/>
        </p:nvSpPr>
        <p:spPr bwMode="auto">
          <a:xfrm>
            <a:off x="768350" y="219075"/>
            <a:ext cx="6775450" cy="546771"/>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线性表的定义和特点</a:t>
            </a:r>
          </a:p>
        </p:txBody>
      </p:sp>
      <p:sp>
        <p:nvSpPr>
          <p:cNvPr id="16404" name="AutoShape 51"/>
          <p:cNvSpPr/>
          <p:nvPr/>
        </p:nvSpPr>
        <p:spPr>
          <a:xfrm flipV="1">
            <a:off x="507988" y="4520715"/>
            <a:ext cx="2911884" cy="1397157"/>
          </a:xfrm>
          <a:prstGeom prst="wedgeRoundRectCallout">
            <a:avLst>
              <a:gd name="adj1" fmla="val 28331"/>
              <a:gd name="adj2" fmla="val 209115"/>
              <a:gd name="adj3" fmla="val 16667"/>
            </a:avLst>
          </a:prstGeom>
          <a:solidFill>
            <a:schemeClr val="bg2">
              <a:lumMod val="20000"/>
              <a:lumOff val="80000"/>
            </a:schemeClr>
          </a:solidFill>
          <a:ln w="34925">
            <a:noFill/>
          </a:ln>
        </p:spPr>
        <p:txBody>
          <a:bodyPr rot="1080000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50000"/>
              </a:lnSpc>
              <a:spcBef>
                <a:spcPct val="50000"/>
              </a:spcBef>
              <a:buNone/>
            </a:pPr>
            <a:r>
              <a:rPr lang="zh-CN" altLang="en-US" dirty="0">
                <a:ea typeface="微软雅黑" panose="020B0503020204020204" pitchFamily="34" charset="-122"/>
                <a:sym typeface="+mn-lt"/>
              </a:rPr>
              <a:t>下标，指示元素在表中的</a:t>
            </a:r>
            <a:r>
              <a:rPr lang="zh-CN" altLang="en-US" dirty="0">
                <a:solidFill>
                  <a:srgbClr val="0000FF"/>
                </a:solidFill>
                <a:ea typeface="微软雅黑" panose="020B0503020204020204" pitchFamily="34" charset="-122"/>
                <a:sym typeface="+mn-lt"/>
              </a:rPr>
              <a:t>位序</a:t>
            </a:r>
          </a:p>
        </p:txBody>
      </p:sp>
      <p:sp>
        <p:nvSpPr>
          <p:cNvPr id="16405" name="AutoShape 52"/>
          <p:cNvSpPr/>
          <p:nvPr/>
        </p:nvSpPr>
        <p:spPr>
          <a:xfrm flipV="1">
            <a:off x="6316699" y="4427114"/>
            <a:ext cx="2215741" cy="1236591"/>
          </a:xfrm>
          <a:prstGeom prst="wedgeRoundRectCallout">
            <a:avLst>
              <a:gd name="adj1" fmla="val -12828"/>
              <a:gd name="adj2" fmla="val 225285"/>
              <a:gd name="adj3" fmla="val 16667"/>
            </a:avLst>
          </a:prstGeom>
          <a:solidFill>
            <a:schemeClr val="bg2">
              <a:lumMod val="20000"/>
              <a:lumOff val="80000"/>
            </a:schemeClr>
          </a:solidFill>
          <a:ln w="34925">
            <a:noFill/>
          </a:ln>
        </p:spPr>
        <p:txBody>
          <a:bodyPr rot="1080000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50000"/>
              </a:lnSpc>
              <a:spcBef>
                <a:spcPct val="50000"/>
              </a:spcBef>
              <a:buNone/>
            </a:pPr>
            <a:r>
              <a:rPr lang="en-US" altLang="zh-CN" dirty="0">
                <a:ea typeface="微软雅黑" panose="020B0503020204020204" pitchFamily="34" charset="-122"/>
                <a:sym typeface="+mn-lt"/>
              </a:rPr>
              <a:t>n </a:t>
            </a:r>
            <a:r>
              <a:rPr lang="zh-CN" altLang="en-US" dirty="0">
                <a:ea typeface="微软雅黑" panose="020B0503020204020204" pitchFamily="34" charset="-122"/>
                <a:sym typeface="+mn-lt"/>
              </a:rPr>
              <a:t>为元素个数，即</a:t>
            </a:r>
            <a:r>
              <a:rPr lang="zh-CN" altLang="en-US" dirty="0">
                <a:solidFill>
                  <a:srgbClr val="0000FF"/>
                </a:solidFill>
                <a:ea typeface="微软雅黑" panose="020B0503020204020204" pitchFamily="34" charset="-122"/>
                <a:sym typeface="+mn-lt"/>
              </a:rPr>
              <a:t>表的长度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253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499"/>
                                          </p:stCondLst>
                                        </p:cTn>
                                        <p:tgtEl>
                                          <p:spTgt spid="362538"/>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499"/>
                                          </p:stCondLst>
                                        </p:cTn>
                                        <p:tgtEl>
                                          <p:spTgt spid="3625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36254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499"/>
                                          </p:stCondLst>
                                        </p:cTn>
                                        <p:tgtEl>
                                          <p:spTgt spid="36254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36254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499"/>
                                          </p:stCondLst>
                                        </p:cTn>
                                        <p:tgtEl>
                                          <p:spTgt spid="36255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499"/>
                                          </p:stCondLst>
                                        </p:cTn>
                                        <p:tgtEl>
                                          <p:spTgt spid="36254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499"/>
                                          </p:stCondLst>
                                        </p:cTn>
                                        <p:tgtEl>
                                          <p:spTgt spid="36254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499"/>
                                          </p:stCondLst>
                                        </p:cTn>
                                        <p:tgtEl>
                                          <p:spTgt spid="36254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499"/>
                                          </p:stCondLst>
                                        </p:cTn>
                                        <p:tgtEl>
                                          <p:spTgt spid="36254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362551"/>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grpId="0" nodeType="afterEffect">
                                  <p:stCondLst>
                                    <p:cond delay="1000"/>
                                  </p:stCondLst>
                                  <p:childTnLst>
                                    <p:set>
                                      <p:cBhvr>
                                        <p:cTn id="40" dur="1" fill="hold">
                                          <p:stCondLst>
                                            <p:cond delay="499"/>
                                          </p:stCondLst>
                                        </p:cTn>
                                        <p:tgtEl>
                                          <p:spTgt spid="1640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362552"/>
                                        </p:tgtEl>
                                        <p:attrNameLst>
                                          <p:attrName>style.visibility</p:attrName>
                                        </p:attrNameLst>
                                      </p:cBhvr>
                                      <p:to>
                                        <p:strVal val="visible"/>
                                      </p:to>
                                    </p:set>
                                  </p:childTnLst>
                                </p:cTn>
                              </p:par>
                            </p:childTnLst>
                          </p:cTn>
                        </p:par>
                        <p:par>
                          <p:cTn id="45" fill="hold">
                            <p:stCondLst>
                              <p:cond delay="500"/>
                            </p:stCondLst>
                            <p:childTnLst>
                              <p:par>
                                <p:cTn id="46" presetID="1" presetClass="entr" presetSubtype="0" fill="hold" grpId="0" nodeType="afterEffect">
                                  <p:stCondLst>
                                    <p:cond delay="1000"/>
                                  </p:stCondLst>
                                  <p:childTnLst>
                                    <p:set>
                                      <p:cBhvr>
                                        <p:cTn id="47" dur="1" fill="hold">
                                          <p:stCondLst>
                                            <p:cond delay="499"/>
                                          </p:stCondLst>
                                        </p:cTn>
                                        <p:tgtEl>
                                          <p:spTgt spid="1640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362537"/>
                                        </p:tgtEl>
                                        <p:attrNameLst>
                                          <p:attrName>style.visibility</p:attrName>
                                        </p:attrNameLst>
                                      </p:cBhvr>
                                      <p:to>
                                        <p:strVal val="visible"/>
                                      </p:to>
                                    </p:set>
                                    <p:animEffect transition="in" filter="fade">
                                      <p:cBhvr>
                                        <p:cTn id="52" dur="1000"/>
                                        <p:tgtEl>
                                          <p:spTgt spid="362537"/>
                                        </p:tgtEl>
                                      </p:cBhvr>
                                    </p:animEffect>
                                    <p:anim calcmode="lin" valueType="num">
                                      <p:cBhvr>
                                        <p:cTn id="53" dur="1000" fill="hold"/>
                                        <p:tgtEl>
                                          <p:spTgt spid="362537"/>
                                        </p:tgtEl>
                                        <p:attrNameLst>
                                          <p:attrName>ppt_x</p:attrName>
                                        </p:attrNameLst>
                                      </p:cBhvr>
                                      <p:tavLst>
                                        <p:tav tm="0">
                                          <p:val>
                                            <p:strVal val="#ppt_x"/>
                                          </p:val>
                                        </p:tav>
                                        <p:tav tm="100000">
                                          <p:val>
                                            <p:strVal val="#ppt_x"/>
                                          </p:val>
                                        </p:tav>
                                      </p:tavLst>
                                    </p:anim>
                                    <p:anim calcmode="lin" valueType="num">
                                      <p:cBhvr>
                                        <p:cTn id="54" dur="1000" fill="hold"/>
                                        <p:tgtEl>
                                          <p:spTgt spid="3625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34" grpId="0"/>
      <p:bldP spid="362537" grpId="0"/>
      <p:bldP spid="362538" grpId="0" animBg="1"/>
      <p:bldP spid="362539" grpId="0"/>
      <p:bldP spid="362541" grpId="0"/>
      <p:bldP spid="362543" grpId="0"/>
      <p:bldP spid="362544" grpId="0"/>
      <p:bldP spid="362550" grpId="0"/>
      <p:bldP spid="362551" grpId="0" animBg="1"/>
      <p:bldP spid="362552" grpId="0" animBg="1"/>
      <p:bldP spid="16404" grpId="0" animBg="1"/>
      <p:bldP spid="1640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326E0C-8A55-43E2-9FEC-EE89B7623E18}"/>
              </a:ext>
            </a:extLst>
          </p:cNvPr>
          <p:cNvSpPr>
            <a:spLocks noGrp="1"/>
          </p:cNvSpPr>
          <p:nvPr>
            <p:ph type="title"/>
          </p:nvPr>
        </p:nvSpPr>
        <p:spPr/>
        <p:txBody>
          <a:bodyPr/>
          <a:lstStyle/>
          <a:p>
            <a:r>
              <a:rPr lang="zh-CN" altLang="en-US" dirty="0"/>
              <a:t>线性表的定义和特点</a:t>
            </a:r>
          </a:p>
        </p:txBody>
      </p:sp>
      <p:sp>
        <p:nvSpPr>
          <p:cNvPr id="3" name="内容占位符 2">
            <a:extLst>
              <a:ext uri="{FF2B5EF4-FFF2-40B4-BE49-F238E27FC236}">
                <a16:creationId xmlns:a16="http://schemas.microsoft.com/office/drawing/2014/main" id="{3ED3DA52-381C-46C2-99FD-F325C1F26C46}"/>
              </a:ext>
            </a:extLst>
          </p:cNvPr>
          <p:cNvSpPr>
            <a:spLocks noGrp="1"/>
          </p:cNvSpPr>
          <p:nvPr>
            <p:ph idx="1"/>
          </p:nvPr>
        </p:nvSpPr>
        <p:spPr>
          <a:xfrm>
            <a:off x="251520" y="880227"/>
            <a:ext cx="8568952" cy="5741816"/>
          </a:xfrm>
        </p:spPr>
        <p:txBody>
          <a:bodyPr/>
          <a:lstStyle/>
          <a:p>
            <a:pPr marL="457200" indent="-457200">
              <a:buFont typeface="Arial" panose="020B0604020202020204" pitchFamily="34" charset="0"/>
              <a:buChar char="•"/>
            </a:pPr>
            <a:r>
              <a:rPr lang="zh-CN" altLang="en-US" dirty="0"/>
              <a:t>表中元素排列是</a:t>
            </a:r>
            <a:r>
              <a:rPr lang="zh-CN" altLang="en-US" dirty="0">
                <a:solidFill>
                  <a:srgbClr val="0000FF"/>
                </a:solidFill>
              </a:rPr>
              <a:t>有次序</a:t>
            </a:r>
            <a:r>
              <a:rPr lang="zh-CN" altLang="en-US" dirty="0"/>
              <a:t>的。直接前驱和直接后继描述了结点之间的逻辑关系（即邻接关系）。</a:t>
            </a:r>
          </a:p>
          <a:p>
            <a:pPr marL="457200" indent="-457200">
              <a:buFont typeface="Arial" panose="020B0604020202020204" pitchFamily="34" charset="0"/>
              <a:buChar char="•"/>
            </a:pPr>
            <a:r>
              <a:rPr lang="zh-CN" altLang="en-US" dirty="0"/>
              <a:t>表中元素个数</a:t>
            </a:r>
            <a:r>
              <a:rPr lang="zh-CN" altLang="en-US" dirty="0">
                <a:solidFill>
                  <a:srgbClr val="0000FF"/>
                </a:solidFill>
              </a:rPr>
              <a:t>有限</a:t>
            </a:r>
            <a:r>
              <a:rPr lang="zh-CN" altLang="en-US" dirty="0"/>
              <a:t>。</a:t>
            </a:r>
          </a:p>
          <a:p>
            <a:pPr marL="457200" indent="-457200">
              <a:buFont typeface="Arial" panose="020B0604020202020204" pitchFamily="34" charset="0"/>
              <a:buChar char="•"/>
            </a:pPr>
            <a:r>
              <a:rPr lang="zh-CN" altLang="en-US" dirty="0"/>
              <a:t>表中元素的</a:t>
            </a:r>
            <a:r>
              <a:rPr lang="zh-CN" altLang="en-US" dirty="0">
                <a:solidFill>
                  <a:srgbClr val="0000FF"/>
                </a:solidFill>
              </a:rPr>
              <a:t>数据类型相同</a:t>
            </a:r>
            <a:r>
              <a:rPr lang="zh-CN" altLang="en-US" dirty="0"/>
              <a:t>。这意味着每一表元素占有相同数量的存储空间。</a:t>
            </a:r>
          </a:p>
        </p:txBody>
      </p:sp>
    </p:spTree>
    <p:extLst>
      <p:ext uri="{BB962C8B-B14F-4D97-AF65-F5344CB8AC3E}">
        <p14:creationId xmlns:p14="http://schemas.microsoft.com/office/powerpoint/2010/main" val="2826138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154"/>
          <p:cNvSpPr>
            <a:spLocks noGrp="1" noChangeArrowheads="1"/>
          </p:cNvSpPr>
          <p:nvPr>
            <p:ph type="title"/>
          </p:nvPr>
        </p:nvSpPr>
        <p:spPr>
          <a:xfrm>
            <a:off x="812800" y="165100"/>
            <a:ext cx="7712075" cy="6096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线性表示例</a:t>
            </a:r>
          </a:p>
        </p:txBody>
      </p:sp>
      <p:sp>
        <p:nvSpPr>
          <p:cNvPr id="364699" name="Rectangle 155"/>
          <p:cNvSpPr>
            <a:spLocks noGrp="1" noChangeArrowheads="1"/>
          </p:cNvSpPr>
          <p:nvPr>
            <p:ph idx="1" hasCustomPrompt="1"/>
          </p:nvPr>
        </p:nvSpPr>
        <p:spPr>
          <a:xfrm>
            <a:off x="1115616" y="1517651"/>
            <a:ext cx="4897438" cy="377825"/>
          </a:xfrm>
        </p:spPr>
        <p:txBody>
          <a:bodyPr vert="horz" wrap="square" lIns="91440" tIns="45720" rIns="91440" bIns="45720" numCol="1" anchor="ctr" anchorCtr="0" compatLnSpc="1"/>
          <a:lstStyle/>
          <a:p>
            <a:pPr marL="0" marR="0" lvl="0" indent="0" algn="l" defTabSz="914400" rtl="0" eaLnBrk="0" fontAlgn="base" latinLnBrk="0" hangingPunct="0">
              <a:lnSpc>
                <a:spcPct val="80000"/>
              </a:lnSpc>
              <a:spcBef>
                <a:spcPct val="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  B,  C,  D, ……  ,  Z</a:t>
            </a:r>
            <a:r>
              <a:rPr kumimoji="0" lang="zh-CN" altLang="en-US" sz="2400" b="0" i="0" u="none" strike="noStrike" kern="0" cap="none" spc="0" normalizeH="0" baseline="0" noProof="0" dirty="0">
                <a:ln>
                  <a:noFill/>
                </a:ln>
                <a:solidFill>
                  <a:schemeClr val="tx1"/>
                </a:solidFill>
                <a:effectLst/>
                <a:uLnTx/>
                <a:uFillTx/>
                <a:latin typeface="+mn-lt"/>
                <a:ea typeface="+mn-ea"/>
                <a:cs typeface="+mn-ea"/>
                <a:sym typeface="+mn-lt"/>
              </a:rPr>
              <a:t>）</a:t>
            </a:r>
          </a:p>
        </p:txBody>
      </p:sp>
      <p:sp>
        <p:nvSpPr>
          <p:cNvPr id="364756" name="Text Box 212"/>
          <p:cNvSpPr txBox="1">
            <a:spLocks noChangeArrowheads="1"/>
          </p:cNvSpPr>
          <p:nvPr/>
        </p:nvSpPr>
        <p:spPr bwMode="auto">
          <a:xfrm>
            <a:off x="149225" y="2462996"/>
            <a:ext cx="3340100" cy="461665"/>
          </a:xfrm>
          <a:prstGeom prst="rect">
            <a:avLst/>
          </a:prstGeom>
          <a:noFill/>
          <a:ln w="9525">
            <a:noFill/>
            <a:miter lim="800000"/>
          </a:ln>
          <a:effectLst/>
        </p:spPr>
        <p:txBody>
          <a:bodyPr>
            <a:spAutoFit/>
          </a:bodyPr>
          <a:lstStyle/>
          <a:p>
            <a:pPr marR="0" defTabSz="914400">
              <a:buClrTx/>
              <a:buSzTx/>
              <a:buFontTx/>
              <a:buNone/>
              <a:defRPr/>
            </a:pPr>
            <a:r>
              <a:rPr kumimoji="1" lang="zh-CN" altLang="en-US" sz="2400" kern="1200" cap="none" spc="0" normalizeH="0" baseline="0" noProof="0" dirty="0">
                <a:solidFill>
                  <a:schemeClr val="tx1">
                    <a:lumMod val="95000"/>
                    <a:lumOff val="5000"/>
                  </a:schemeClr>
                </a:solidFill>
                <a:latin typeface="+mn-ea"/>
                <a:ea typeface="+mn-ea"/>
                <a:cs typeface="+mn-ea"/>
                <a:sym typeface="+mn-lt"/>
              </a:rPr>
              <a:t>例如，学生情况登记表</a:t>
            </a:r>
          </a:p>
        </p:txBody>
      </p:sp>
      <p:sp>
        <p:nvSpPr>
          <p:cNvPr id="364758" name="Rectangle 214"/>
          <p:cNvSpPr>
            <a:spLocks noChangeArrowheads="1"/>
          </p:cNvSpPr>
          <p:nvPr/>
        </p:nvSpPr>
        <p:spPr bwMode="auto">
          <a:xfrm>
            <a:off x="161925" y="911504"/>
            <a:ext cx="593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lvl="0" eaLnBrk="1" hangingPunct="1">
              <a:lnSpc>
                <a:spcPct val="100000"/>
              </a:lnSpc>
              <a:spcBef>
                <a:spcPct val="50000"/>
              </a:spcBef>
              <a:defRPr/>
            </a:pPr>
            <a:r>
              <a:rPr lang="zh-CN" altLang="en-US" dirty="0">
                <a:latin typeface="+mn-lt"/>
                <a:ea typeface="+mn-ea"/>
                <a:cs typeface="+mn-ea"/>
                <a:sym typeface="+mn-lt"/>
              </a:rPr>
              <a:t>例如，</a:t>
            </a:r>
            <a:r>
              <a:rPr lang="en-US" altLang="zh-CN" dirty="0">
                <a:latin typeface="+mn-lt"/>
                <a:ea typeface="+mn-ea"/>
                <a:cs typeface="+mn-ea"/>
                <a:sym typeface="+mn-lt"/>
              </a:rPr>
              <a:t>26 </a:t>
            </a:r>
            <a:r>
              <a:rPr lang="zh-CN" altLang="en-US" dirty="0">
                <a:latin typeface="+mn-lt"/>
                <a:ea typeface="+mn-ea"/>
                <a:cs typeface="+mn-ea"/>
                <a:sym typeface="+mn-lt"/>
              </a:rPr>
              <a:t>个英文字母组成的英文表</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64760" name="Rectangle 216"/>
          <p:cNvSpPr>
            <a:spLocks noChangeArrowheads="1"/>
          </p:cNvSpPr>
          <p:nvPr/>
        </p:nvSpPr>
        <p:spPr bwMode="auto">
          <a:xfrm>
            <a:off x="2142083" y="6176336"/>
            <a:ext cx="4859834" cy="388938"/>
          </a:xfrm>
          <a:prstGeom prst="rect">
            <a:avLst/>
          </a:prstGeom>
          <a:solidFill>
            <a:schemeClr val="bg1">
              <a:lumMod val="90000"/>
            </a:schemeClr>
          </a:solidFill>
          <a:ln>
            <a:noFill/>
          </a:ln>
        </p:spPr>
        <p:txBody>
          <a:bodyPr wrap="square"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80000"/>
              </a:lnSpc>
              <a:spcBef>
                <a:spcPct val="20000"/>
              </a:spcBef>
              <a:spcAft>
                <a:spcPct val="0"/>
              </a:spcAft>
              <a:buClrTx/>
              <a:buSzTx/>
              <a:buFontTx/>
              <a:buNone/>
              <a:defRPr/>
            </a:pPr>
            <a:r>
              <a:rPr kumimoji="0" lang="zh-CN" altLang="en-US" sz="2400" b="0" i="0" u="none" strike="noStrike" kern="1200" cap="none" spc="0" normalizeH="0" baseline="0" noProof="0" dirty="0">
                <a:ln>
                  <a:noFill/>
                </a:ln>
                <a:effectLst/>
                <a:uLnTx/>
                <a:uFillTx/>
                <a:latin typeface="+mn-lt"/>
                <a:ea typeface="+mn-ea"/>
                <a:cs typeface="+mn-ea"/>
                <a:sym typeface="+mn-lt"/>
              </a:rPr>
              <a:t>同一线性表中的元素具有相同特性</a:t>
            </a:r>
          </a:p>
        </p:txBody>
      </p:sp>
      <p:graphicFrame>
        <p:nvGraphicFramePr>
          <p:cNvPr id="10" name="表格 9"/>
          <p:cNvGraphicFramePr/>
          <p:nvPr>
            <p:extLst>
              <p:ext uri="{D42A27DB-BD31-4B8C-83A1-F6EECF244321}">
                <p14:modId xmlns:p14="http://schemas.microsoft.com/office/powerpoint/2010/main" val="228355940"/>
              </p:ext>
            </p:extLst>
          </p:nvPr>
        </p:nvGraphicFramePr>
        <p:xfrm>
          <a:off x="161925" y="3065809"/>
          <a:ext cx="8820150" cy="2811463"/>
        </p:xfrm>
        <a:graphic>
          <a:graphicData uri="http://schemas.openxmlformats.org/drawingml/2006/table">
            <a:tbl>
              <a:tblPr firstRow="1">
                <a:tableStyleId>{5C22544A-7EE6-4342-B048-85BDC9FD1C3A}</a:tableStyleId>
              </a:tblPr>
              <a:tblGrid>
                <a:gridCol w="1479714">
                  <a:extLst>
                    <a:ext uri="{9D8B030D-6E8A-4147-A177-3AD203B41FA5}">
                      <a16:colId xmlns:a16="http://schemas.microsoft.com/office/drawing/2014/main" val="20000"/>
                    </a:ext>
                  </a:extLst>
                </a:gridCol>
                <a:gridCol w="1579520">
                  <a:extLst>
                    <a:ext uri="{9D8B030D-6E8A-4147-A177-3AD203B41FA5}">
                      <a16:colId xmlns:a16="http://schemas.microsoft.com/office/drawing/2014/main" val="20001"/>
                    </a:ext>
                  </a:extLst>
                </a:gridCol>
                <a:gridCol w="1440229">
                  <a:extLst>
                    <a:ext uri="{9D8B030D-6E8A-4147-A177-3AD203B41FA5}">
                      <a16:colId xmlns:a16="http://schemas.microsoft.com/office/drawing/2014/main" val="20002"/>
                    </a:ext>
                  </a:extLst>
                </a:gridCol>
                <a:gridCol w="1872298">
                  <a:extLst>
                    <a:ext uri="{9D8B030D-6E8A-4147-A177-3AD203B41FA5}">
                      <a16:colId xmlns:a16="http://schemas.microsoft.com/office/drawing/2014/main" val="20003"/>
                    </a:ext>
                  </a:extLst>
                </a:gridCol>
                <a:gridCol w="2448389">
                  <a:extLst>
                    <a:ext uri="{9D8B030D-6E8A-4147-A177-3AD203B41FA5}">
                      <a16:colId xmlns:a16="http://schemas.microsoft.com/office/drawing/2014/main" val="20004"/>
                    </a:ext>
                  </a:extLst>
                </a:gridCol>
              </a:tblGrid>
              <a:tr h="461473">
                <a:tc>
                  <a:txBody>
                    <a:bodyPr/>
                    <a:lstStyle>
                      <a:lvl1pPr marL="0" lvl="0"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stStyle>
                    <a:p>
                      <a:pPr lvl="0" algn="ctr" eaLnBrk="1" hangingPunct="1">
                        <a:buNone/>
                      </a:pPr>
                      <a:r>
                        <a:rPr lang="zh-CN" altLang="en-US" sz="1800" b="0" i="0" u="none" kern="1200" baseline="0" dirty="0">
                          <a:solidFill>
                            <a:schemeClr val="bg1"/>
                          </a:solidFill>
                          <a:latin typeface="+mn-lt"/>
                          <a:ea typeface="+mn-ea"/>
                          <a:cs typeface="+mn-ea"/>
                          <a:sym typeface="+mn-lt"/>
                        </a:rPr>
                        <a:t>学号</a:t>
                      </a:r>
                    </a:p>
                  </a:txBody>
                  <a:tcPr marL="90020" marR="90020" marT="46829" marB="46829" anchor="ctr"/>
                </a:tc>
                <a:tc>
                  <a:txBody>
                    <a:bodyPr/>
                    <a:lstStyle>
                      <a:lvl1pPr marL="0" lvl="0"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stStyle>
                    <a:p>
                      <a:pPr lvl="0" algn="ctr" eaLnBrk="1" hangingPunct="1">
                        <a:buNone/>
                      </a:pPr>
                      <a:r>
                        <a:rPr lang="zh-CN" altLang="en-US" sz="1800" b="0" i="0" u="none" kern="1200" baseline="0" dirty="0">
                          <a:solidFill>
                            <a:schemeClr val="bg1"/>
                          </a:solidFill>
                          <a:latin typeface="+mn-lt"/>
                          <a:ea typeface="+mn-ea"/>
                          <a:cs typeface="+mn-ea"/>
                          <a:sym typeface="+mn-lt"/>
                        </a:rPr>
                        <a:t>姓名</a:t>
                      </a:r>
                    </a:p>
                  </a:txBody>
                  <a:tcPr marL="90020" marR="90020" marT="46829" marB="46829" anchor="ctr"/>
                </a:tc>
                <a:tc>
                  <a:txBody>
                    <a:bodyPr/>
                    <a:lstStyle/>
                    <a:p>
                      <a:pPr lvl="0" algn="ctr" eaLnBrk="1" hangingPunct="1">
                        <a:buNone/>
                      </a:pPr>
                      <a:r>
                        <a:rPr lang="zh-CN" altLang="en-US" sz="1800" b="0" i="0" u="none" kern="1200" baseline="0" dirty="0">
                          <a:solidFill>
                            <a:schemeClr val="bg1"/>
                          </a:solidFill>
                          <a:latin typeface="+mn-lt"/>
                          <a:ea typeface="+mn-ea"/>
                          <a:cs typeface="+mn-ea"/>
                          <a:sym typeface="+mn-lt"/>
                        </a:rPr>
                        <a:t>性别</a:t>
                      </a:r>
                    </a:p>
                  </a:txBody>
                  <a:tcPr marL="90020" marR="90020" marT="46829" marB="46829" anchor="ctr"/>
                </a:tc>
                <a:tc>
                  <a:txBody>
                    <a:bodyPr/>
                    <a:lstStyle/>
                    <a:p>
                      <a:pPr lvl="0" algn="ctr" eaLnBrk="1" hangingPunct="1">
                        <a:buNone/>
                      </a:pPr>
                      <a:r>
                        <a:rPr lang="zh-CN" altLang="en-US" sz="1800" b="0" i="0" u="none" kern="1200" baseline="0" dirty="0">
                          <a:solidFill>
                            <a:schemeClr val="bg1"/>
                          </a:solidFill>
                          <a:latin typeface="+mn-lt"/>
                          <a:ea typeface="+mn-ea"/>
                          <a:cs typeface="+mn-ea"/>
                          <a:sym typeface="+mn-lt"/>
                        </a:rPr>
                        <a:t>年龄</a:t>
                      </a:r>
                    </a:p>
                  </a:txBody>
                  <a:tcPr marL="90020" marR="90020" marT="46829" marB="46829" anchor="ctr"/>
                </a:tc>
                <a:tc>
                  <a:txBody>
                    <a:bodyPr/>
                    <a:lstStyle>
                      <a:lvl1pPr marL="0" lvl="0"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defRPr>
                      </a:lvl1pPr>
                      <a:lvl2pPr marL="457200" lvl="1"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stStyle>
                    <a:p>
                      <a:pPr lvl="0" algn="ctr" eaLnBrk="1" hangingPunct="1">
                        <a:buNone/>
                      </a:pPr>
                      <a:r>
                        <a:rPr lang="zh-CN" altLang="en-US" sz="1800" b="0" i="0" u="none" kern="1200" baseline="0" dirty="0">
                          <a:solidFill>
                            <a:schemeClr val="bg1"/>
                          </a:solidFill>
                          <a:latin typeface="+mn-lt"/>
                          <a:ea typeface="+mn-ea"/>
                          <a:cs typeface="+mn-ea"/>
                          <a:sym typeface="+mn-lt"/>
                        </a:rPr>
                        <a:t>班级</a:t>
                      </a:r>
                    </a:p>
                  </a:txBody>
                  <a:tcPr marL="90020" marR="90020" marT="46829" marB="46829" anchor="ctr"/>
                </a:tc>
                <a:extLst>
                  <a:ext uri="{0D108BD9-81ED-4DB2-BD59-A6C34878D82A}">
                    <a16:rowId xmlns:a16="http://schemas.microsoft.com/office/drawing/2014/main" val="10000"/>
                  </a:ext>
                </a:extLst>
              </a:tr>
              <a:tr h="45712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041810205</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于春梅</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a:solidFill>
                            <a:schemeClr val="tx1"/>
                          </a:solidFill>
                          <a:latin typeface="+mn-lt"/>
                          <a:ea typeface="+mn-ea"/>
                          <a:cs typeface="+mn-ea"/>
                          <a:sym typeface="+mn-lt"/>
                        </a:rPr>
                        <a:t>女</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   18</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04</a:t>
                      </a:r>
                      <a:r>
                        <a:rPr lang="zh-CN" altLang="en-US" sz="1800" b="0" i="0" u="none" kern="1200" baseline="0">
                          <a:solidFill>
                            <a:schemeClr val="tx1"/>
                          </a:solidFill>
                          <a:latin typeface="+mn-lt"/>
                          <a:ea typeface="+mn-ea"/>
                          <a:cs typeface="+mn-ea"/>
                          <a:sym typeface="+mn-lt"/>
                        </a:rPr>
                        <a:t>级计算机</a:t>
                      </a:r>
                      <a:r>
                        <a:rPr lang="en-US" altLang="zh-CN" sz="1800" b="0" i="0" u="none" kern="1200" baseline="0">
                          <a:solidFill>
                            <a:schemeClr val="tx1"/>
                          </a:solidFill>
                          <a:latin typeface="+mn-lt"/>
                          <a:ea typeface="+mn-ea"/>
                          <a:cs typeface="+mn-ea"/>
                          <a:sym typeface="+mn-lt"/>
                        </a:rPr>
                        <a:t>1</a:t>
                      </a:r>
                      <a:r>
                        <a:rPr lang="zh-CN" altLang="en-US" sz="1800" b="0" i="0" u="none" kern="1200" baseline="0">
                          <a:solidFill>
                            <a:schemeClr val="tx1"/>
                          </a:solidFill>
                          <a:latin typeface="+mn-lt"/>
                          <a:ea typeface="+mn-ea"/>
                          <a:cs typeface="+mn-ea"/>
                          <a:sym typeface="+mn-lt"/>
                        </a:rPr>
                        <a:t>班</a:t>
                      </a:r>
                    </a:p>
                  </a:txBody>
                  <a:tcPr marL="91444" marR="91444" marT="45735" marB="45735" anchor="ctr" horzOverflow="overflow"/>
                </a:tc>
                <a:extLst>
                  <a:ext uri="{0D108BD9-81ED-4DB2-BD59-A6C34878D82A}">
                    <a16:rowId xmlns:a16="http://schemas.microsoft.com/office/drawing/2014/main" val="10001"/>
                  </a:ext>
                </a:extLst>
              </a:tr>
              <a:tr h="52149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041810260</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何仕鹏</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男</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   20</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04</a:t>
                      </a:r>
                      <a:r>
                        <a:rPr lang="zh-CN" altLang="en-US" sz="1800" b="0" i="0" u="none" kern="1200" baseline="0">
                          <a:solidFill>
                            <a:schemeClr val="tx1"/>
                          </a:solidFill>
                          <a:latin typeface="+mn-lt"/>
                          <a:ea typeface="+mn-ea"/>
                          <a:cs typeface="+mn-ea"/>
                          <a:sym typeface="+mn-lt"/>
                        </a:rPr>
                        <a:t>级计算机</a:t>
                      </a:r>
                      <a:r>
                        <a:rPr lang="en-US" altLang="zh-CN" sz="1800" b="0" i="0" u="none" kern="1200" baseline="0">
                          <a:solidFill>
                            <a:schemeClr val="tx1"/>
                          </a:solidFill>
                          <a:latin typeface="+mn-lt"/>
                          <a:ea typeface="+mn-ea"/>
                          <a:cs typeface="+mn-ea"/>
                          <a:sym typeface="+mn-lt"/>
                        </a:rPr>
                        <a:t>2</a:t>
                      </a:r>
                      <a:r>
                        <a:rPr lang="zh-CN" altLang="en-US" sz="1800" b="0" i="0" u="none" kern="1200" baseline="0">
                          <a:solidFill>
                            <a:schemeClr val="tx1"/>
                          </a:solidFill>
                          <a:latin typeface="+mn-lt"/>
                          <a:ea typeface="+mn-ea"/>
                          <a:cs typeface="+mn-ea"/>
                          <a:sym typeface="+mn-lt"/>
                        </a:rPr>
                        <a:t>班</a:t>
                      </a:r>
                    </a:p>
                  </a:txBody>
                  <a:tcPr marL="91444" marR="91444" marT="45735" marB="45735" anchor="ctr" horzOverflow="overflow"/>
                </a:tc>
                <a:extLst>
                  <a:ext uri="{0D108BD9-81ED-4DB2-BD59-A6C34878D82A}">
                    <a16:rowId xmlns:a16="http://schemas.microsoft.com/office/drawing/2014/main" val="10002"/>
                  </a:ext>
                </a:extLst>
              </a:tr>
              <a:tr h="45712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041810284</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王   爽</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女</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   19</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a:t>
                      </a:r>
                      <a:r>
                        <a:rPr lang="zh-CN" altLang="en-US" sz="1800" b="0" i="0" u="none" kern="1200" baseline="0" dirty="0">
                          <a:solidFill>
                            <a:schemeClr val="tx1"/>
                          </a:solidFill>
                          <a:latin typeface="+mn-lt"/>
                          <a:ea typeface="+mn-ea"/>
                          <a:cs typeface="+mn-ea"/>
                          <a:sym typeface="+mn-lt"/>
                        </a:rPr>
                        <a:t>级计算机</a:t>
                      </a:r>
                      <a:r>
                        <a:rPr lang="en-US" altLang="zh-CN" sz="1800" b="0" i="0" u="none" kern="1200" baseline="0" dirty="0">
                          <a:solidFill>
                            <a:schemeClr val="tx1"/>
                          </a:solidFill>
                          <a:latin typeface="+mn-lt"/>
                          <a:ea typeface="+mn-ea"/>
                          <a:cs typeface="+mn-ea"/>
                          <a:sym typeface="+mn-lt"/>
                        </a:rPr>
                        <a:t>3</a:t>
                      </a:r>
                      <a:r>
                        <a:rPr lang="zh-CN" altLang="en-US" sz="1800" b="0" i="0" u="none" kern="1200" baseline="0" dirty="0">
                          <a:solidFill>
                            <a:schemeClr val="tx1"/>
                          </a:solidFill>
                          <a:latin typeface="+mn-lt"/>
                          <a:ea typeface="+mn-ea"/>
                          <a:cs typeface="+mn-ea"/>
                          <a:sym typeface="+mn-lt"/>
                        </a:rPr>
                        <a:t>班</a:t>
                      </a:r>
                    </a:p>
                  </a:txBody>
                  <a:tcPr marL="91444" marR="91444" marT="45735" marB="45735" anchor="ctr" horzOverflow="overflow"/>
                </a:tc>
                <a:extLst>
                  <a:ext uri="{0D108BD9-81ED-4DB2-BD59-A6C34878D82A}">
                    <a16:rowId xmlns:a16="http://schemas.microsoft.com/office/drawing/2014/main" val="10003"/>
                  </a:ext>
                </a:extLst>
              </a:tr>
              <a:tr h="45712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041810360</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王亚武</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en-US" sz="1800" b="0" i="0" u="none" kern="1200" baseline="0" dirty="0">
                          <a:solidFill>
                            <a:schemeClr val="tx1"/>
                          </a:solidFill>
                          <a:latin typeface="+mn-lt"/>
                          <a:ea typeface="+mn-ea"/>
                          <a:cs typeface="+mn-ea"/>
                          <a:sym typeface="+mn-lt"/>
                        </a:rPr>
                        <a:t>男</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a:solidFill>
                            <a:schemeClr val="tx1"/>
                          </a:solidFill>
                          <a:latin typeface="+mn-lt"/>
                          <a:ea typeface="+mn-ea"/>
                          <a:cs typeface="+mn-ea"/>
                          <a:sym typeface="+mn-lt"/>
                        </a:rPr>
                        <a:t>   18</a:t>
                      </a:r>
                    </a:p>
                  </a:txBody>
                  <a:tcPr marL="91444" marR="91444" marT="45735" marB="45735"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1800" b="0" i="0" u="none" kern="1200" baseline="0" dirty="0">
                          <a:solidFill>
                            <a:schemeClr val="tx1"/>
                          </a:solidFill>
                          <a:latin typeface="+mn-lt"/>
                          <a:ea typeface="+mn-ea"/>
                          <a:cs typeface="+mn-ea"/>
                          <a:sym typeface="+mn-lt"/>
                        </a:rPr>
                        <a:t>04</a:t>
                      </a:r>
                      <a:r>
                        <a:rPr lang="zh-CN" altLang="en-US" sz="1800" b="0" i="0" u="none" kern="1200" baseline="0" dirty="0">
                          <a:solidFill>
                            <a:schemeClr val="tx1"/>
                          </a:solidFill>
                          <a:latin typeface="+mn-lt"/>
                          <a:ea typeface="+mn-ea"/>
                          <a:cs typeface="+mn-ea"/>
                          <a:sym typeface="+mn-lt"/>
                        </a:rPr>
                        <a:t>级计算机</a:t>
                      </a:r>
                      <a:r>
                        <a:rPr lang="en-US" altLang="zh-CN" sz="1800" b="0" i="0" u="none" kern="1200" baseline="0" dirty="0">
                          <a:solidFill>
                            <a:schemeClr val="tx1"/>
                          </a:solidFill>
                          <a:latin typeface="+mn-lt"/>
                          <a:ea typeface="+mn-ea"/>
                          <a:cs typeface="+mn-ea"/>
                          <a:sym typeface="+mn-lt"/>
                        </a:rPr>
                        <a:t>4</a:t>
                      </a:r>
                      <a:r>
                        <a:rPr lang="zh-CN" altLang="en-US" sz="1800" b="0" i="0" u="none" kern="1200" baseline="0" dirty="0">
                          <a:solidFill>
                            <a:schemeClr val="tx1"/>
                          </a:solidFill>
                          <a:latin typeface="+mn-lt"/>
                          <a:ea typeface="+mn-ea"/>
                          <a:cs typeface="+mn-ea"/>
                          <a:sym typeface="+mn-lt"/>
                        </a:rPr>
                        <a:t>班</a:t>
                      </a:r>
                    </a:p>
                  </a:txBody>
                  <a:tcPr marL="91444" marR="91444" marT="45735" marB="45735" anchor="ctr" horzOverflow="overflow"/>
                </a:tc>
                <a:extLst>
                  <a:ext uri="{0D108BD9-81ED-4DB2-BD59-A6C34878D82A}">
                    <a16:rowId xmlns:a16="http://schemas.microsoft.com/office/drawing/2014/main" val="10004"/>
                  </a:ext>
                </a:extLst>
              </a:tr>
              <a:tr h="457123">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mn-lt"/>
                          <a:ea typeface="+mn-ea"/>
                          <a:cs typeface="+mn-ea"/>
                          <a:sym typeface="+mn-lt"/>
                        </a:rPr>
                        <a:t>：</a:t>
                      </a:r>
                    </a:p>
                  </a:txBody>
                  <a:tcPr marL="91444" marR="91444" marT="45735" marB="45735"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mn-lt"/>
                          <a:ea typeface="+mn-ea"/>
                          <a:cs typeface="+mn-ea"/>
                          <a:sym typeface="+mn-lt"/>
                        </a:rPr>
                        <a:t>：</a:t>
                      </a:r>
                    </a:p>
                  </a:txBody>
                  <a:tcPr marL="91444" marR="91444" marT="45735" marB="45735"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a:t>
                      </a:r>
                    </a:p>
                  </a:txBody>
                  <a:tcPr marL="91444" marR="91444" marT="45735" marB="45735"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2000" b="0" i="0" u="none" strike="noStrike" cap="none" normalizeH="0" baseline="0" dirty="0">
                          <a:ln>
                            <a:noFill/>
                          </a:ln>
                          <a:solidFill>
                            <a:schemeClr val="tx1"/>
                          </a:solidFill>
                          <a:effectLst/>
                          <a:latin typeface="+mn-lt"/>
                          <a:ea typeface="+mn-ea"/>
                          <a:cs typeface="+mn-ea"/>
                          <a:sym typeface="+mn-lt"/>
                        </a:rPr>
                        <a:t>   </a:t>
                      </a:r>
                      <a:r>
                        <a:rPr kumimoji="1" lang="zh-CN" altLang="en-US" sz="2000" b="0" i="0" u="none" strike="noStrike" cap="none" normalizeH="0" baseline="0" dirty="0">
                          <a:ln>
                            <a:noFill/>
                          </a:ln>
                          <a:solidFill>
                            <a:schemeClr val="tx1"/>
                          </a:solidFill>
                          <a:effectLst/>
                          <a:latin typeface="+mn-lt"/>
                          <a:ea typeface="+mn-ea"/>
                          <a:cs typeface="+mn-ea"/>
                          <a:sym typeface="+mn-lt"/>
                        </a:rPr>
                        <a:t>：</a:t>
                      </a:r>
                    </a:p>
                  </a:txBody>
                  <a:tcPr marL="91444" marR="91444" marT="45735" marB="45735"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2000" b="0" i="0" u="none" strike="noStrike" cap="none" normalizeH="0" baseline="0" dirty="0">
                          <a:ln>
                            <a:noFill/>
                          </a:ln>
                          <a:solidFill>
                            <a:schemeClr val="tx1"/>
                          </a:solidFill>
                          <a:effectLst/>
                          <a:latin typeface="+mn-lt"/>
                          <a:ea typeface="+mn-ea"/>
                          <a:cs typeface="+mn-ea"/>
                          <a:sym typeface="+mn-lt"/>
                        </a:rPr>
                        <a:t>：</a:t>
                      </a:r>
                    </a:p>
                  </a:txBody>
                  <a:tcPr marL="91444" marR="91444" marT="45735" marB="45735" anchor="ctr" horzOverflow="overflow"/>
                </a:tc>
                <a:extLst>
                  <a:ext uri="{0D108BD9-81ED-4DB2-BD59-A6C34878D82A}">
                    <a16:rowId xmlns:a16="http://schemas.microsoft.com/office/drawing/2014/main" val="10005"/>
                  </a:ext>
                </a:extLst>
              </a:tr>
            </a:tbl>
          </a:graphicData>
        </a:graphic>
      </p:graphicFrame>
      <p:cxnSp>
        <p:nvCxnSpPr>
          <p:cNvPr id="18485" name="直接连接符 2"/>
          <p:cNvCxnSpPr/>
          <p:nvPr/>
        </p:nvCxnSpPr>
        <p:spPr>
          <a:xfrm>
            <a:off x="161925" y="2058988"/>
            <a:ext cx="7289800" cy="146050"/>
          </a:xfrm>
          <a:prstGeom prst="line">
            <a:avLst/>
          </a:prstGeom>
          <a:ln w="9525">
            <a:noFill/>
          </a:ln>
        </p:spPr>
      </p:cxnSp>
      <p:cxnSp>
        <p:nvCxnSpPr>
          <p:cNvPr id="18486" name="直接连接符 7"/>
          <p:cNvCxnSpPr/>
          <p:nvPr/>
        </p:nvCxnSpPr>
        <p:spPr>
          <a:xfrm>
            <a:off x="149225" y="2132856"/>
            <a:ext cx="8820150" cy="0"/>
          </a:xfrm>
          <a:prstGeom prst="line">
            <a:avLst/>
          </a:prstGeom>
          <a:ln w="57150" cap="flat" cmpd="sng">
            <a:solidFill>
              <a:srgbClr val="76AEDD"/>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64699">
                                            <p:txEl>
                                              <p:pRg st="0" end="0"/>
                                            </p:txEl>
                                          </p:spTgt>
                                        </p:tgtEl>
                                        <p:attrNameLst>
                                          <p:attrName>style.visibility</p:attrName>
                                        </p:attrNameLst>
                                      </p:cBhvr>
                                      <p:to>
                                        <p:strVal val="visible"/>
                                      </p:to>
                                    </p:set>
                                    <p:animEffect transition="in" filter="fade">
                                      <p:cBhvr>
                                        <p:cTn id="7" dur="1000"/>
                                        <p:tgtEl>
                                          <p:spTgt spid="364699">
                                            <p:txEl>
                                              <p:pRg st="0" end="0"/>
                                            </p:txEl>
                                          </p:spTgt>
                                        </p:tgtEl>
                                      </p:cBhvr>
                                    </p:animEffect>
                                    <p:anim calcmode="lin" valueType="num">
                                      <p:cBhvr>
                                        <p:cTn id="8" dur="1000" fill="hold"/>
                                        <p:tgtEl>
                                          <p:spTgt spid="3646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646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36475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364760"/>
                                        </p:tgtEl>
                                        <p:attrNameLst>
                                          <p:attrName>style.visibility</p:attrName>
                                        </p:attrNameLst>
                                      </p:cBhvr>
                                      <p:to>
                                        <p:strVal val="visible"/>
                                      </p:to>
                                    </p:set>
                                    <p:anim calcmode="lin" valueType="num">
                                      <p:cBhvr>
                                        <p:cTn id="24" dur="1000" fill="hold"/>
                                        <p:tgtEl>
                                          <p:spTgt spid="364760"/>
                                        </p:tgtEl>
                                        <p:attrNameLst>
                                          <p:attrName>ppt_w</p:attrName>
                                        </p:attrNameLst>
                                      </p:cBhvr>
                                      <p:tavLst>
                                        <p:tav tm="0">
                                          <p:val>
                                            <p:fltVal val="0"/>
                                          </p:val>
                                        </p:tav>
                                        <p:tav tm="100000">
                                          <p:val>
                                            <p:strVal val="#ppt_w"/>
                                          </p:val>
                                        </p:tav>
                                      </p:tavLst>
                                    </p:anim>
                                    <p:anim calcmode="lin" valueType="num">
                                      <p:cBhvr>
                                        <p:cTn id="25" dur="1000" fill="hold"/>
                                        <p:tgtEl>
                                          <p:spTgt spid="364760"/>
                                        </p:tgtEl>
                                        <p:attrNameLst>
                                          <p:attrName>ppt_h</p:attrName>
                                        </p:attrNameLst>
                                      </p:cBhvr>
                                      <p:tavLst>
                                        <p:tav tm="0">
                                          <p:val>
                                            <p:fltVal val="0"/>
                                          </p:val>
                                        </p:tav>
                                        <p:tav tm="100000">
                                          <p:val>
                                            <p:strVal val="#ppt_h"/>
                                          </p:val>
                                        </p:tav>
                                      </p:tavLst>
                                    </p:anim>
                                    <p:anim calcmode="lin" valueType="num">
                                      <p:cBhvr>
                                        <p:cTn id="26" dur="1000" fill="hold"/>
                                        <p:tgtEl>
                                          <p:spTgt spid="36476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36476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699" grpId="0" build="p"/>
      <p:bldP spid="364756" grpId="0"/>
      <p:bldP spid="36476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58"/>
          <p:cNvSpPr>
            <a:spLocks noChangeArrowheads="1"/>
          </p:cNvSpPr>
          <p:nvPr/>
        </p:nvSpPr>
        <p:spPr bwMode="auto">
          <a:xfrm>
            <a:off x="801688" y="1412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4" name="Freeform 5"/>
          <p:cNvSpPr/>
          <p:nvPr/>
        </p:nvSpPr>
        <p:spPr bwMode="auto">
          <a:xfrm>
            <a:off x="4984750" y="1131987"/>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105025" y="1878112"/>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794000" y="3497362"/>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720975" y="1532037"/>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889250" y="3568799"/>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243138" y="1979712"/>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984750" y="1247874"/>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327650" y="3113187"/>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97388" y="4152999"/>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587750" y="2395637"/>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749675" y="3773587"/>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713163" y="2933799"/>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5076825" y="2679799"/>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338763" y="3364012"/>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700588" y="4081562"/>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943350" y="2751237"/>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859588" y="1052612"/>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953125" y="3602137"/>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316413" y="4973737"/>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470775" y="1024037"/>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129463" y="4330799"/>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981200" y="4206974"/>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265613" y="5475387"/>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981450" y="3030637"/>
            <a:ext cx="1204913" cy="861809"/>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570464" y="836712"/>
            <a:ext cx="1438924"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初始化</a:t>
            </a:r>
          </a:p>
        </p:txBody>
      </p:sp>
      <p:sp>
        <p:nvSpPr>
          <p:cNvPr id="69" name="TextBox 200"/>
          <p:cNvSpPr txBox="1"/>
          <p:nvPr/>
        </p:nvSpPr>
        <p:spPr bwMode="auto">
          <a:xfrm>
            <a:off x="3102780" y="5335687"/>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查找</a:t>
            </a:r>
          </a:p>
        </p:txBody>
      </p:sp>
      <p:sp>
        <p:nvSpPr>
          <p:cNvPr id="70" name="TextBox 202"/>
          <p:cNvSpPr txBox="1"/>
          <p:nvPr/>
        </p:nvSpPr>
        <p:spPr bwMode="auto">
          <a:xfrm>
            <a:off x="798523" y="4040287"/>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插入</a:t>
            </a:r>
          </a:p>
        </p:txBody>
      </p:sp>
      <p:sp>
        <p:nvSpPr>
          <p:cNvPr id="71" name="TextBox 204"/>
          <p:cNvSpPr txBox="1"/>
          <p:nvPr/>
        </p:nvSpPr>
        <p:spPr bwMode="auto">
          <a:xfrm>
            <a:off x="6839908" y="4532412"/>
            <a:ext cx="1454779" cy="554032"/>
          </a:xfrm>
          <a:prstGeom prst="rect">
            <a:avLst/>
          </a:prstGeom>
          <a:noFill/>
        </p:spPr>
        <p:txBody>
          <a:bodyPr wrap="squar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取值</a:t>
            </a:r>
          </a:p>
        </p:txBody>
      </p:sp>
      <p:sp>
        <p:nvSpPr>
          <p:cNvPr id="72" name="TextBox 206"/>
          <p:cNvSpPr txBox="1"/>
          <p:nvPr/>
        </p:nvSpPr>
        <p:spPr bwMode="auto">
          <a:xfrm>
            <a:off x="296080" y="1997174"/>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删除</a:t>
            </a:r>
          </a:p>
        </p:txBody>
      </p:sp>
      <p:sp>
        <p:nvSpPr>
          <p:cNvPr id="73" name="TextBox 210"/>
          <p:cNvSpPr txBox="1"/>
          <p:nvPr/>
        </p:nvSpPr>
        <p:spPr bwMode="auto">
          <a:xfrm>
            <a:off x="5629275" y="1773337"/>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752725" y="2497237"/>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152775" y="3830737"/>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714875" y="4249837"/>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591175" y="3240187"/>
            <a:ext cx="490538"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2049463" y="4264124"/>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582738" y="2243237"/>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530350" y="2213074"/>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4" name="文本框 3">
            <a:extLst>
              <a:ext uri="{FF2B5EF4-FFF2-40B4-BE49-F238E27FC236}">
                <a16:creationId xmlns:a16="http://schemas.microsoft.com/office/drawing/2014/main" id="{9C7F0185-4B40-4F24-8F6A-CC0C1192E4E6}"/>
              </a:ext>
            </a:extLst>
          </p:cNvPr>
          <p:cNvSpPr txBox="1"/>
          <p:nvPr/>
        </p:nvSpPr>
        <p:spPr>
          <a:xfrm>
            <a:off x="1404095" y="6220867"/>
            <a:ext cx="7007046" cy="523220"/>
          </a:xfrm>
          <a:prstGeom prst="rect">
            <a:avLst/>
          </a:prstGeom>
          <a:noFill/>
        </p:spPr>
        <p:txBody>
          <a:bodyPr wrap="none" rtlCol="0">
            <a:spAutoFit/>
          </a:bodyPr>
          <a:lstStyle/>
          <a:p>
            <a:r>
              <a:rPr lang="zh-CN" altLang="en-US" dirty="0">
                <a:solidFill>
                  <a:srgbClr val="0000FF"/>
                </a:solidFill>
                <a:latin typeface="+mn-ea"/>
                <a:ea typeface="+mn-ea"/>
              </a:rPr>
              <a:t>其他操作如遍历、排序、合并、拆分等等。</a:t>
            </a:r>
            <a:endParaRPr lang="zh-CN" altLang="zh-CN" dirty="0">
              <a:solidFill>
                <a:srgbClr val="0000FF"/>
              </a:solidFill>
              <a:latin typeface="+mn-ea"/>
              <a:ea typeface="+mn-ea"/>
            </a:endParaRPr>
          </a:p>
        </p:txBody>
      </p:sp>
    </p:spTree>
    <p:extLst>
      <p:ext uri="{BB962C8B-B14F-4D97-AF65-F5344CB8AC3E}">
        <p14:creationId xmlns:p14="http://schemas.microsoft.com/office/powerpoint/2010/main" val="4283018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B56F42-FEA1-47BA-9539-E82BEBF65441}"/>
              </a:ext>
            </a:extLst>
          </p:cNvPr>
          <p:cNvSpPr>
            <a:spLocks noGrp="1"/>
          </p:cNvSpPr>
          <p:nvPr>
            <p:ph type="title"/>
          </p:nvPr>
        </p:nvSpPr>
        <p:spPr/>
        <p:txBody>
          <a:bodyPr/>
          <a:lstStyle/>
          <a:p>
            <a:r>
              <a:rPr lang="zh-CN" altLang="en-US" dirty="0"/>
              <a:t>抽象数据类型线性表的定义</a:t>
            </a:r>
          </a:p>
        </p:txBody>
      </p:sp>
      <p:sp>
        <p:nvSpPr>
          <p:cNvPr id="3" name="内容占位符 2">
            <a:extLst>
              <a:ext uri="{FF2B5EF4-FFF2-40B4-BE49-F238E27FC236}">
                <a16:creationId xmlns:a16="http://schemas.microsoft.com/office/drawing/2014/main" id="{B9AB9780-42A2-4411-95A8-675DBB9E116F}"/>
              </a:ext>
            </a:extLst>
          </p:cNvPr>
          <p:cNvSpPr>
            <a:spLocks noGrp="1"/>
          </p:cNvSpPr>
          <p:nvPr>
            <p:ph idx="1"/>
          </p:nvPr>
        </p:nvSpPr>
        <p:spPr>
          <a:xfrm>
            <a:off x="343198" y="730404"/>
            <a:ext cx="8457604" cy="6160590"/>
          </a:xfrm>
          <a:solidFill>
            <a:schemeClr val="bg2">
              <a:lumMod val="20000"/>
              <a:lumOff val="80000"/>
            </a:schemeClr>
          </a:solidFill>
        </p:spPr>
        <p:txBody>
          <a:bodyPr/>
          <a:lstStyle/>
          <a:p>
            <a:pPr eaLnBrk="1" hangingPunct="1">
              <a:spcBef>
                <a:spcPts val="0"/>
              </a:spcBef>
              <a:buFont typeface="Monotype Sorts" pitchFamily="2" charset="2"/>
              <a:buNone/>
            </a:pPr>
            <a:r>
              <a:rPr lang="en-US" altLang="zh-CN" sz="2000" b="1" dirty="0">
                <a:latin typeface="+mn-ea"/>
                <a:ea typeface="+mn-ea"/>
              </a:rPr>
              <a:t>ADT List {</a:t>
            </a:r>
            <a:endParaRPr lang="en-US" altLang="zh-CN" sz="2000" dirty="0">
              <a:latin typeface="+mn-ea"/>
              <a:ea typeface="+mn-ea"/>
            </a:endParaRPr>
          </a:p>
          <a:p>
            <a:pPr eaLnBrk="1" hangingPunct="1">
              <a:spcBef>
                <a:spcPts val="0"/>
              </a:spcBef>
              <a:buFont typeface="Monotype Sorts" pitchFamily="2" charset="2"/>
              <a:buNone/>
            </a:pPr>
            <a:r>
              <a:rPr lang="zh-CN" altLang="en-US" sz="1800" dirty="0">
                <a:solidFill>
                  <a:srgbClr val="FF0000"/>
                </a:solidFill>
                <a:latin typeface="+mn-ea"/>
                <a:ea typeface="+mn-ea"/>
              </a:rPr>
              <a:t>数据对象： </a:t>
            </a:r>
            <a:r>
              <a:rPr lang="en-US" altLang="zh-CN" sz="1800" i="1" dirty="0">
                <a:latin typeface="+mn-ea"/>
                <a:ea typeface="+mn-ea"/>
              </a:rPr>
              <a:t>D</a:t>
            </a:r>
            <a:r>
              <a:rPr lang="zh-CN" altLang="en-US" sz="1800" dirty="0">
                <a:latin typeface="+mn-ea"/>
                <a:ea typeface="+mn-ea"/>
              </a:rPr>
              <a:t>＝</a:t>
            </a:r>
            <a:r>
              <a:rPr lang="en-US" altLang="zh-CN" sz="1800" dirty="0">
                <a:latin typeface="+mn-ea"/>
                <a:ea typeface="+mn-ea"/>
              </a:rPr>
              <a:t>{</a:t>
            </a:r>
            <a:r>
              <a:rPr lang="en-US" altLang="zh-CN" sz="1800" i="1" dirty="0">
                <a:latin typeface="+mn-ea"/>
                <a:ea typeface="+mn-ea"/>
              </a:rPr>
              <a:t> a</a:t>
            </a:r>
            <a:r>
              <a:rPr lang="en-US" altLang="zh-CN" sz="1800" i="1" baseline="-25000" dirty="0">
                <a:latin typeface="+mn-ea"/>
                <a:ea typeface="+mn-ea"/>
              </a:rPr>
              <a:t>i</a:t>
            </a:r>
            <a:r>
              <a:rPr lang="en-US" altLang="zh-CN" sz="1800" dirty="0">
                <a:latin typeface="+mn-ea"/>
                <a:ea typeface="+mn-ea"/>
              </a:rPr>
              <a:t> | </a:t>
            </a:r>
            <a:r>
              <a:rPr lang="en-US" altLang="zh-CN" sz="1800" i="1" dirty="0">
                <a:latin typeface="+mn-ea"/>
                <a:ea typeface="+mn-ea"/>
              </a:rPr>
              <a:t>a</a:t>
            </a:r>
            <a:r>
              <a:rPr lang="en-US" altLang="zh-CN" sz="1800" i="1" baseline="-25000" dirty="0">
                <a:latin typeface="+mn-ea"/>
                <a:ea typeface="+mn-ea"/>
              </a:rPr>
              <a:t>i</a:t>
            </a:r>
            <a:r>
              <a:rPr lang="en-US" altLang="zh-CN" sz="1800" dirty="0">
                <a:latin typeface="+mn-ea"/>
                <a:ea typeface="+mn-ea"/>
              </a:rPr>
              <a:t> ∈</a:t>
            </a:r>
            <a:r>
              <a:rPr lang="en-US" altLang="zh-CN" sz="1800" dirty="0" err="1">
                <a:latin typeface="+mn-ea"/>
                <a:ea typeface="+mn-ea"/>
              </a:rPr>
              <a:t>ElemSet</a:t>
            </a:r>
            <a:r>
              <a:rPr lang="en-US" altLang="zh-CN" sz="1800" dirty="0">
                <a:latin typeface="+mn-ea"/>
                <a:ea typeface="+mn-ea"/>
              </a:rPr>
              <a:t>, </a:t>
            </a:r>
            <a:r>
              <a:rPr lang="en-US" altLang="zh-CN" sz="1800" dirty="0" err="1">
                <a:latin typeface="+mn-ea"/>
                <a:ea typeface="+mn-ea"/>
              </a:rPr>
              <a:t>i</a:t>
            </a:r>
            <a:r>
              <a:rPr lang="en-US" altLang="zh-CN" sz="1800" dirty="0">
                <a:latin typeface="+mn-ea"/>
                <a:ea typeface="+mn-ea"/>
              </a:rPr>
              <a:t>=1,2,...,n }</a:t>
            </a:r>
          </a:p>
          <a:p>
            <a:pPr eaLnBrk="1" hangingPunct="1">
              <a:spcBef>
                <a:spcPts val="0"/>
              </a:spcBef>
              <a:buFont typeface="Monotype Sorts" pitchFamily="2" charset="2"/>
              <a:buNone/>
            </a:pPr>
            <a:r>
              <a:rPr lang="zh-CN" altLang="en-US" sz="1800" dirty="0">
                <a:solidFill>
                  <a:srgbClr val="FF0000"/>
                </a:solidFill>
                <a:latin typeface="+mn-ea"/>
                <a:ea typeface="+mn-ea"/>
              </a:rPr>
              <a:t>数据关系： </a:t>
            </a:r>
            <a:r>
              <a:rPr lang="en-US" altLang="zh-CN" sz="1800" i="1" dirty="0">
                <a:latin typeface="+mn-ea"/>
                <a:ea typeface="+mn-ea"/>
              </a:rPr>
              <a:t>R</a:t>
            </a:r>
            <a:r>
              <a:rPr lang="en-US" altLang="zh-CN" sz="1800" i="1" baseline="-25000" dirty="0">
                <a:latin typeface="+mn-ea"/>
                <a:ea typeface="+mn-ea"/>
              </a:rPr>
              <a:t>1</a:t>
            </a:r>
            <a:r>
              <a:rPr lang="zh-CN" altLang="en-US" sz="1800" dirty="0">
                <a:latin typeface="+mn-ea"/>
                <a:ea typeface="+mn-ea"/>
              </a:rPr>
              <a:t>＝</a:t>
            </a:r>
            <a:r>
              <a:rPr lang="en-US" altLang="zh-CN" sz="1800" dirty="0">
                <a:latin typeface="+mn-ea"/>
                <a:ea typeface="+mn-ea"/>
              </a:rPr>
              <a:t>{ &lt;</a:t>
            </a:r>
            <a:r>
              <a:rPr lang="en-US" altLang="zh-CN" sz="1800" i="1" dirty="0">
                <a:latin typeface="+mn-ea"/>
                <a:ea typeface="+mn-ea"/>
              </a:rPr>
              <a:t>a</a:t>
            </a:r>
            <a:r>
              <a:rPr lang="en-US" altLang="zh-CN" sz="1800" i="1" baseline="-25000" dirty="0">
                <a:latin typeface="+mn-ea"/>
                <a:ea typeface="+mn-ea"/>
              </a:rPr>
              <a:t>i-1</a:t>
            </a:r>
            <a:r>
              <a:rPr lang="en-US" altLang="zh-CN" sz="1800" dirty="0">
                <a:latin typeface="+mn-ea"/>
                <a:ea typeface="+mn-ea"/>
              </a:rPr>
              <a:t> , </a:t>
            </a:r>
            <a:r>
              <a:rPr lang="en-US" altLang="zh-CN" sz="1800" i="1" dirty="0">
                <a:latin typeface="+mn-ea"/>
                <a:ea typeface="+mn-ea"/>
              </a:rPr>
              <a:t>a</a:t>
            </a:r>
            <a:r>
              <a:rPr lang="en-US" altLang="zh-CN" sz="1800" i="1" baseline="-25000" dirty="0">
                <a:latin typeface="+mn-ea"/>
                <a:ea typeface="+mn-ea"/>
              </a:rPr>
              <a:t>i</a:t>
            </a:r>
            <a:r>
              <a:rPr lang="en-US" altLang="zh-CN" sz="1800" dirty="0">
                <a:latin typeface="+mn-ea"/>
                <a:ea typeface="+mn-ea"/>
              </a:rPr>
              <a:t> &gt;|</a:t>
            </a:r>
            <a:r>
              <a:rPr lang="en-US" altLang="zh-CN" sz="1800" i="1" dirty="0">
                <a:latin typeface="+mn-ea"/>
                <a:ea typeface="+mn-ea"/>
              </a:rPr>
              <a:t>a</a:t>
            </a:r>
            <a:r>
              <a:rPr lang="en-US" altLang="zh-CN" sz="1800" i="1" baseline="-25000" dirty="0">
                <a:latin typeface="+mn-ea"/>
                <a:ea typeface="+mn-ea"/>
              </a:rPr>
              <a:t>i-1</a:t>
            </a:r>
            <a:r>
              <a:rPr lang="en-US" altLang="zh-CN" sz="1800" dirty="0">
                <a:latin typeface="+mn-ea"/>
                <a:ea typeface="+mn-ea"/>
              </a:rPr>
              <a:t> , </a:t>
            </a:r>
            <a:r>
              <a:rPr lang="en-US" altLang="zh-CN" sz="1800" i="1" dirty="0" err="1">
                <a:latin typeface="+mn-ea"/>
                <a:ea typeface="+mn-ea"/>
              </a:rPr>
              <a:t>a</a:t>
            </a:r>
            <a:r>
              <a:rPr lang="en-US" altLang="zh-CN" sz="1800" i="1" baseline="-25000" dirty="0" err="1">
                <a:latin typeface="+mn-ea"/>
                <a:ea typeface="+mn-ea"/>
              </a:rPr>
              <a:t>i</a:t>
            </a:r>
            <a:r>
              <a:rPr lang="en-US" altLang="zh-CN" sz="1800" dirty="0" err="1">
                <a:latin typeface="+mn-ea"/>
                <a:ea typeface="+mn-ea"/>
              </a:rPr>
              <a:t>∈D</a:t>
            </a:r>
            <a:r>
              <a:rPr lang="en-US" altLang="zh-CN" sz="1800" dirty="0">
                <a:latin typeface="+mn-ea"/>
                <a:ea typeface="+mn-ea"/>
              </a:rPr>
              <a:t>,  </a:t>
            </a:r>
            <a:r>
              <a:rPr lang="en-US" altLang="zh-CN" sz="1800" dirty="0" err="1">
                <a:latin typeface="+mn-ea"/>
                <a:ea typeface="+mn-ea"/>
              </a:rPr>
              <a:t>i</a:t>
            </a:r>
            <a:r>
              <a:rPr lang="en-US" altLang="zh-CN" sz="1800" dirty="0">
                <a:latin typeface="+mn-ea"/>
                <a:ea typeface="+mn-ea"/>
              </a:rPr>
              <a:t>=2,...,n }</a:t>
            </a:r>
          </a:p>
          <a:p>
            <a:pPr eaLnBrk="1" hangingPunct="1">
              <a:spcBef>
                <a:spcPts val="0"/>
              </a:spcBef>
              <a:buFont typeface="Monotype Sorts" pitchFamily="2" charset="2"/>
              <a:buNone/>
            </a:pPr>
            <a:r>
              <a:rPr lang="zh-CN" altLang="en-US" sz="1800" dirty="0">
                <a:solidFill>
                  <a:srgbClr val="FF0000"/>
                </a:solidFill>
                <a:latin typeface="+mn-ea"/>
                <a:ea typeface="+mn-ea"/>
              </a:rPr>
              <a:t>基本操作：</a:t>
            </a:r>
            <a:endParaRPr lang="en-US" altLang="zh-CN" sz="1800" dirty="0">
              <a:solidFill>
                <a:srgbClr val="FF0000"/>
              </a:solidFill>
              <a:latin typeface="+mn-ea"/>
              <a:ea typeface="+mn-ea"/>
            </a:endParaRPr>
          </a:p>
          <a:p>
            <a:pPr marL="0" indent="0">
              <a:buNone/>
            </a:pPr>
            <a:r>
              <a:rPr lang="zh-CN" altLang="en-US" sz="1800" dirty="0">
                <a:ea typeface="+mn-ea"/>
              </a:rPr>
              <a:t>    </a:t>
            </a:r>
            <a:r>
              <a:rPr lang="en-US" altLang="zh-CN" sz="1800" dirty="0" err="1">
                <a:solidFill>
                  <a:srgbClr val="0000FF"/>
                </a:solidFill>
                <a:ea typeface="+mn-ea"/>
              </a:rPr>
              <a:t>InitList</a:t>
            </a:r>
            <a:r>
              <a:rPr lang="en-US" altLang="zh-CN" sz="1800" dirty="0">
                <a:solidFill>
                  <a:srgbClr val="0000FF"/>
                </a:solidFill>
                <a:ea typeface="+mn-ea"/>
              </a:rPr>
              <a:t>(&amp;L)</a:t>
            </a:r>
          </a:p>
          <a:p>
            <a:pPr marL="0" indent="0">
              <a:buNone/>
            </a:pPr>
            <a:r>
              <a:rPr lang="en-US" altLang="zh-CN" sz="1800" dirty="0">
                <a:latin typeface="+mn-ea"/>
                <a:ea typeface="+mn-ea"/>
              </a:rPr>
              <a:t>        </a:t>
            </a:r>
            <a:r>
              <a:rPr lang="zh-CN" altLang="en-US" sz="1800" dirty="0">
                <a:latin typeface="+mn-ea"/>
                <a:ea typeface="+mn-ea"/>
              </a:rPr>
              <a:t>操作结果：构造一个空的线性表 </a:t>
            </a:r>
            <a:r>
              <a:rPr lang="en-US" altLang="zh-CN" sz="1800" dirty="0">
                <a:ea typeface="+mn-ea"/>
              </a:rPr>
              <a:t>L</a:t>
            </a:r>
            <a:r>
              <a:rPr lang="zh-CN" altLang="en-US" sz="1800" dirty="0">
                <a:latin typeface="+mn-ea"/>
                <a:ea typeface="+mn-ea"/>
              </a:rPr>
              <a:t>。</a:t>
            </a:r>
            <a:endParaRPr lang="en-US" altLang="zh-CN" sz="1800" dirty="0">
              <a:latin typeface="+mn-ea"/>
              <a:ea typeface="+mn-ea"/>
            </a:endParaRPr>
          </a:p>
          <a:p>
            <a:pPr marL="0" indent="0">
              <a:buNone/>
            </a:pPr>
            <a:r>
              <a:rPr lang="zh-CN" altLang="en-US" sz="1800" dirty="0">
                <a:ea typeface="+mn-ea"/>
              </a:rPr>
              <a:t>    </a:t>
            </a:r>
            <a:r>
              <a:rPr lang="en-US" altLang="zh-CN" sz="1800" dirty="0" err="1">
                <a:solidFill>
                  <a:srgbClr val="0000FF"/>
                </a:solidFill>
                <a:ea typeface="+mn-ea"/>
              </a:rPr>
              <a:t>DestroyList</a:t>
            </a:r>
            <a:r>
              <a:rPr lang="en-US" altLang="zh-CN" sz="1800" dirty="0">
                <a:solidFill>
                  <a:srgbClr val="0000FF"/>
                </a:solidFill>
                <a:ea typeface="+mn-ea"/>
              </a:rPr>
              <a:t>(&amp;L) </a:t>
            </a:r>
          </a:p>
          <a:p>
            <a:pPr marL="0" indent="0">
              <a:buNone/>
            </a:pPr>
            <a:r>
              <a:rPr lang="en-US" altLang="zh-CN" sz="1800" dirty="0">
                <a:latin typeface="+mn-ea"/>
                <a:ea typeface="+mn-ea"/>
              </a:rPr>
              <a:t>        </a:t>
            </a:r>
            <a:r>
              <a:rPr lang="zh-CN" altLang="en-US" sz="1800" dirty="0">
                <a:latin typeface="+mn-ea"/>
                <a:ea typeface="+mn-ea"/>
              </a:rPr>
              <a:t>初始条件：线性表 </a:t>
            </a:r>
            <a:r>
              <a:rPr lang="en-US" altLang="zh-CN" sz="1800" dirty="0">
                <a:ea typeface="+mn-ea"/>
              </a:rPr>
              <a:t>L </a:t>
            </a:r>
            <a:r>
              <a:rPr lang="zh-CN" altLang="en-US" sz="1800" dirty="0">
                <a:latin typeface="+mn-ea"/>
                <a:ea typeface="+mn-ea"/>
              </a:rPr>
              <a:t>已存在。</a:t>
            </a:r>
            <a:endParaRPr lang="en-US" altLang="zh-CN" sz="1800" dirty="0">
              <a:latin typeface="+mn-ea"/>
              <a:ea typeface="+mn-ea"/>
            </a:endParaRPr>
          </a:p>
          <a:p>
            <a:pPr marL="0" indent="0">
              <a:buNone/>
            </a:pPr>
            <a:r>
              <a:rPr lang="zh-CN" altLang="en-US" sz="1800" dirty="0">
                <a:latin typeface="+mn-ea"/>
                <a:ea typeface="+mn-ea"/>
              </a:rPr>
              <a:t>        操作结果：销毁线性表 </a:t>
            </a:r>
            <a:r>
              <a:rPr lang="en-US" altLang="zh-CN" sz="1800" dirty="0">
                <a:ea typeface="+mn-ea"/>
              </a:rPr>
              <a:t>L</a:t>
            </a:r>
            <a:r>
              <a:rPr lang="zh-CN" altLang="en-US" sz="1800" dirty="0">
                <a:latin typeface="+mn-ea"/>
                <a:ea typeface="+mn-ea"/>
              </a:rPr>
              <a:t>。</a:t>
            </a:r>
            <a:endParaRPr lang="en-US" altLang="zh-CN" sz="1800" dirty="0">
              <a:latin typeface="+mn-ea"/>
              <a:ea typeface="+mn-ea"/>
            </a:endParaRPr>
          </a:p>
          <a:p>
            <a:pPr marL="0" indent="0">
              <a:buNone/>
            </a:pPr>
            <a:r>
              <a:rPr lang="zh-CN" altLang="en-US" sz="1800" dirty="0">
                <a:latin typeface="+mn-ea"/>
                <a:ea typeface="+mn-ea"/>
              </a:rPr>
              <a:t>    </a:t>
            </a:r>
            <a:r>
              <a:rPr lang="en-US" altLang="zh-CN" sz="1800" dirty="0" err="1">
                <a:solidFill>
                  <a:srgbClr val="0000FF"/>
                </a:solidFill>
                <a:ea typeface="+mn-ea"/>
              </a:rPr>
              <a:t>ClearList</a:t>
            </a:r>
            <a:r>
              <a:rPr lang="en-US" altLang="zh-CN" sz="1800" dirty="0">
                <a:solidFill>
                  <a:srgbClr val="0000FF"/>
                </a:solidFill>
                <a:ea typeface="+mn-ea"/>
              </a:rPr>
              <a:t>(&amp;L)</a:t>
            </a:r>
          </a:p>
          <a:p>
            <a:pPr marL="0" indent="0">
              <a:buNone/>
            </a:pPr>
            <a:r>
              <a:rPr lang="en-US" altLang="zh-CN" sz="1800" dirty="0">
                <a:latin typeface="+mn-ea"/>
                <a:ea typeface="+mn-ea"/>
              </a:rPr>
              <a:t>        </a:t>
            </a:r>
            <a:r>
              <a:rPr lang="zh-CN" altLang="en-US" sz="1800" dirty="0">
                <a:latin typeface="+mn-ea"/>
                <a:ea typeface="+mn-ea"/>
              </a:rPr>
              <a:t>初始条件：线性表 </a:t>
            </a:r>
            <a:r>
              <a:rPr lang="en-US" altLang="zh-CN" sz="1800" dirty="0">
                <a:ea typeface="+mn-ea"/>
              </a:rPr>
              <a:t>L </a:t>
            </a:r>
            <a:r>
              <a:rPr lang="zh-CN" altLang="en-US" sz="1800" dirty="0">
                <a:latin typeface="+mn-ea"/>
                <a:ea typeface="+mn-ea"/>
              </a:rPr>
              <a:t>已存在。</a:t>
            </a:r>
            <a:endParaRPr lang="en-US" altLang="zh-CN" sz="1800" dirty="0">
              <a:latin typeface="+mn-ea"/>
              <a:ea typeface="+mn-ea"/>
            </a:endParaRPr>
          </a:p>
          <a:p>
            <a:pPr marL="0" indent="0">
              <a:buNone/>
            </a:pPr>
            <a:r>
              <a:rPr lang="zh-CN" altLang="en-US" sz="1800" dirty="0">
                <a:latin typeface="+mn-ea"/>
                <a:ea typeface="+mn-ea"/>
              </a:rPr>
              <a:t>        操作结果：将 </a:t>
            </a:r>
            <a:r>
              <a:rPr lang="en-US" altLang="zh-CN" sz="1800" dirty="0">
                <a:ea typeface="+mn-ea"/>
              </a:rPr>
              <a:t>L </a:t>
            </a:r>
            <a:r>
              <a:rPr lang="zh-CN" altLang="en-US" sz="1800" dirty="0">
                <a:latin typeface="+mn-ea"/>
                <a:ea typeface="+mn-ea"/>
              </a:rPr>
              <a:t>重置为空表。</a:t>
            </a:r>
            <a:endParaRPr lang="en-US" altLang="zh-CN" sz="1800" dirty="0">
              <a:latin typeface="+mn-ea"/>
              <a:ea typeface="+mn-ea"/>
            </a:endParaRPr>
          </a:p>
          <a:p>
            <a:pPr marL="0" indent="0">
              <a:buNone/>
            </a:pPr>
            <a:r>
              <a:rPr lang="zh-CN" altLang="en-US" sz="1800" dirty="0">
                <a:latin typeface="+mn-ea"/>
                <a:ea typeface="+mn-ea"/>
              </a:rPr>
              <a:t>    </a:t>
            </a:r>
            <a:r>
              <a:rPr lang="en-US" altLang="zh-CN" sz="1800" dirty="0" err="1">
                <a:solidFill>
                  <a:srgbClr val="0000FF"/>
                </a:solidFill>
                <a:ea typeface="+mn-ea"/>
              </a:rPr>
              <a:t>ListEmpty</a:t>
            </a:r>
            <a:r>
              <a:rPr lang="en-US" altLang="zh-CN" sz="1800" dirty="0">
                <a:solidFill>
                  <a:srgbClr val="0000FF"/>
                </a:solidFill>
                <a:ea typeface="+mn-ea"/>
              </a:rPr>
              <a:t>(L)</a:t>
            </a:r>
          </a:p>
          <a:p>
            <a:pPr marL="0" indent="0">
              <a:buNone/>
            </a:pPr>
            <a:r>
              <a:rPr lang="en-US" altLang="zh-CN" sz="1800" dirty="0">
                <a:latin typeface="+mn-ea"/>
                <a:ea typeface="+mn-ea"/>
              </a:rPr>
              <a:t>        </a:t>
            </a:r>
            <a:r>
              <a:rPr lang="zh-CN" altLang="en-US" sz="1800" dirty="0">
                <a:latin typeface="+mn-ea"/>
                <a:ea typeface="+mn-ea"/>
              </a:rPr>
              <a:t>初始条件：线性表 </a:t>
            </a:r>
            <a:r>
              <a:rPr lang="en-US" altLang="zh-CN" sz="1800" dirty="0">
                <a:ea typeface="+mn-ea"/>
              </a:rPr>
              <a:t>L </a:t>
            </a:r>
            <a:r>
              <a:rPr lang="zh-CN" altLang="en-US" sz="1800" dirty="0">
                <a:latin typeface="+mn-ea"/>
                <a:ea typeface="+mn-ea"/>
              </a:rPr>
              <a:t>已存在。</a:t>
            </a:r>
            <a:endParaRPr lang="en-US" altLang="zh-CN" sz="1800" dirty="0">
              <a:latin typeface="+mn-ea"/>
              <a:ea typeface="+mn-ea"/>
            </a:endParaRPr>
          </a:p>
          <a:p>
            <a:pPr eaLnBrk="1" hangingPunct="1">
              <a:lnSpc>
                <a:spcPct val="120000"/>
              </a:lnSpc>
              <a:spcBef>
                <a:spcPct val="0"/>
              </a:spcBef>
              <a:buClrTx/>
              <a:buFontTx/>
              <a:buNone/>
            </a:pPr>
            <a:r>
              <a:rPr lang="zh-CN" altLang="en-US" sz="1800" dirty="0">
                <a:latin typeface="+mn-ea"/>
                <a:ea typeface="+mn-ea"/>
              </a:rPr>
              <a:t>        操作结果：若 </a:t>
            </a:r>
            <a:r>
              <a:rPr lang="en-US" altLang="zh-CN" sz="1800" dirty="0">
                <a:ea typeface="+mn-ea"/>
              </a:rPr>
              <a:t>L </a:t>
            </a:r>
            <a:r>
              <a:rPr lang="zh-CN" altLang="en-US" sz="1800" dirty="0">
                <a:latin typeface="+mn-ea"/>
                <a:ea typeface="+mn-ea"/>
              </a:rPr>
              <a:t>为空表，则返回</a:t>
            </a:r>
            <a:r>
              <a:rPr lang="en-US" altLang="zh-CN" sz="1800" dirty="0">
                <a:ea typeface="+mn-ea"/>
              </a:rPr>
              <a:t>TRUE</a:t>
            </a:r>
            <a:r>
              <a:rPr lang="zh-CN" altLang="en-US" sz="1800" dirty="0">
                <a:latin typeface="+mn-ea"/>
                <a:ea typeface="+mn-ea"/>
              </a:rPr>
              <a:t>，否则</a:t>
            </a:r>
            <a:r>
              <a:rPr lang="en-US" altLang="zh-CN" sz="1800" dirty="0">
                <a:ea typeface="+mn-ea"/>
              </a:rPr>
              <a:t>FALSE</a:t>
            </a:r>
            <a:r>
              <a:rPr lang="zh-CN" altLang="en-US" sz="1800" dirty="0">
                <a:latin typeface="+mn-ea"/>
                <a:ea typeface="+mn-ea"/>
              </a:rPr>
              <a:t>。</a:t>
            </a:r>
          </a:p>
          <a:p>
            <a:pPr marL="0" indent="0">
              <a:buNone/>
            </a:pPr>
            <a:endParaRPr lang="zh-CN" altLang="en-US" sz="2000" dirty="0">
              <a:latin typeface="+mn-ea"/>
              <a:ea typeface="+mn-ea"/>
            </a:endParaRPr>
          </a:p>
        </p:txBody>
      </p:sp>
    </p:spTree>
    <p:extLst>
      <p:ext uri="{BB962C8B-B14F-4D97-AF65-F5344CB8AC3E}">
        <p14:creationId xmlns:p14="http://schemas.microsoft.com/office/powerpoint/2010/main" val="3926486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D22AC5-5785-486B-8EDB-8036207723CF}"/>
              </a:ext>
            </a:extLst>
          </p:cNvPr>
          <p:cNvSpPr>
            <a:spLocks noGrp="1"/>
          </p:cNvSpPr>
          <p:nvPr>
            <p:ph type="title"/>
          </p:nvPr>
        </p:nvSpPr>
        <p:spPr/>
        <p:txBody>
          <a:bodyPr/>
          <a:lstStyle/>
          <a:p>
            <a:r>
              <a:rPr lang="zh-CN" altLang="en-US" dirty="0"/>
              <a:t>抽象数据类型线性表的定义</a:t>
            </a:r>
          </a:p>
        </p:txBody>
      </p:sp>
      <p:sp>
        <p:nvSpPr>
          <p:cNvPr id="3" name="内容占位符 2">
            <a:extLst>
              <a:ext uri="{FF2B5EF4-FFF2-40B4-BE49-F238E27FC236}">
                <a16:creationId xmlns:a16="http://schemas.microsoft.com/office/drawing/2014/main" id="{273F9E3E-3333-4361-9E8E-4102ACBB067B}"/>
              </a:ext>
            </a:extLst>
          </p:cNvPr>
          <p:cNvSpPr>
            <a:spLocks noGrp="1"/>
          </p:cNvSpPr>
          <p:nvPr>
            <p:ph idx="1"/>
          </p:nvPr>
        </p:nvSpPr>
        <p:spPr>
          <a:xfrm>
            <a:off x="251520" y="730742"/>
            <a:ext cx="8640960" cy="6127258"/>
          </a:xfrm>
          <a:solidFill>
            <a:schemeClr val="bg2">
              <a:lumMod val="20000"/>
              <a:lumOff val="80000"/>
            </a:schemeClr>
          </a:solidFill>
        </p:spPr>
        <p:txBody>
          <a:bodyPr/>
          <a:lstStyle/>
          <a:p>
            <a:pPr marL="0" indent="0">
              <a:buNone/>
            </a:pPr>
            <a:r>
              <a:rPr lang="zh-CN" altLang="en-US" sz="1800" dirty="0"/>
              <a:t>   </a:t>
            </a:r>
            <a:r>
              <a:rPr lang="zh-CN" altLang="en-US" sz="1800" dirty="0">
                <a:solidFill>
                  <a:srgbClr val="0000FF"/>
                </a:solidFill>
              </a:rPr>
              <a:t> </a:t>
            </a:r>
            <a:r>
              <a:rPr lang="en-US" altLang="zh-CN" sz="1800" dirty="0" err="1">
                <a:solidFill>
                  <a:srgbClr val="0000FF"/>
                </a:solidFill>
              </a:rPr>
              <a:t>ListLength</a:t>
            </a:r>
            <a:r>
              <a:rPr lang="en-US" altLang="zh-CN" sz="1800" dirty="0">
                <a:solidFill>
                  <a:srgbClr val="0000FF"/>
                </a:solidFill>
              </a:rPr>
              <a:t>(L)</a:t>
            </a:r>
          </a:p>
          <a:p>
            <a:pPr marL="0" indent="0">
              <a:buNone/>
            </a:pPr>
            <a:r>
              <a:rPr lang="en-US" altLang="zh-CN" sz="1800" dirty="0"/>
              <a:t>        </a:t>
            </a:r>
            <a:r>
              <a:rPr lang="zh-CN" altLang="en-US" sz="1800" dirty="0"/>
              <a:t>初始条件：线性表 </a:t>
            </a:r>
            <a:r>
              <a:rPr lang="en-US" altLang="zh-CN" sz="1800" dirty="0"/>
              <a:t>L </a:t>
            </a:r>
            <a:r>
              <a:rPr lang="zh-CN" altLang="en-US" sz="1800" dirty="0"/>
              <a:t>已存在。</a:t>
            </a:r>
          </a:p>
          <a:p>
            <a:pPr marL="0" indent="0">
              <a:buNone/>
            </a:pPr>
            <a:r>
              <a:rPr lang="zh-CN" altLang="en-US" sz="1800" dirty="0"/>
              <a:t>        操作结果：返回 </a:t>
            </a:r>
            <a:r>
              <a:rPr lang="en-US" altLang="zh-CN" sz="1800" dirty="0"/>
              <a:t>L </a:t>
            </a:r>
            <a:r>
              <a:rPr lang="zh-CN" altLang="en-US" sz="1800" dirty="0"/>
              <a:t>中元素的个数。</a:t>
            </a:r>
            <a:endParaRPr lang="en-US" altLang="zh-CN" sz="1800" dirty="0"/>
          </a:p>
          <a:p>
            <a:pPr marL="0" indent="0">
              <a:buNone/>
            </a:pPr>
            <a:r>
              <a:rPr lang="zh-CN" altLang="en-US" sz="1800" dirty="0"/>
              <a:t>    </a:t>
            </a:r>
            <a:r>
              <a:rPr lang="en-US" altLang="zh-CN" sz="1800" dirty="0" err="1">
                <a:solidFill>
                  <a:srgbClr val="0000FF"/>
                </a:solidFill>
              </a:rPr>
              <a:t>GetElem</a:t>
            </a:r>
            <a:r>
              <a:rPr lang="en-US" altLang="zh-CN" sz="1800" dirty="0">
                <a:solidFill>
                  <a:srgbClr val="0000FF"/>
                </a:solidFill>
              </a:rPr>
              <a:t>(L, </a:t>
            </a:r>
            <a:r>
              <a:rPr lang="en-US" altLang="zh-CN" sz="1800" dirty="0" err="1">
                <a:solidFill>
                  <a:srgbClr val="0000FF"/>
                </a:solidFill>
              </a:rPr>
              <a:t>i</a:t>
            </a:r>
            <a:r>
              <a:rPr lang="en-US" altLang="zh-CN" sz="1800" dirty="0">
                <a:solidFill>
                  <a:srgbClr val="0000FF"/>
                </a:solidFill>
              </a:rPr>
              <a:t>, &amp;e)</a:t>
            </a:r>
          </a:p>
          <a:p>
            <a:pPr marL="0" indent="0">
              <a:buNone/>
            </a:pPr>
            <a:r>
              <a:rPr lang="en-US" altLang="zh-CN" sz="1800" dirty="0"/>
              <a:t>        </a:t>
            </a:r>
            <a:r>
              <a:rPr lang="zh-CN" altLang="en-US" sz="1800" dirty="0"/>
              <a:t>初始条件：线性表 </a:t>
            </a:r>
            <a:r>
              <a:rPr lang="en-US" altLang="zh-CN" sz="1800" dirty="0"/>
              <a:t>L </a:t>
            </a:r>
            <a:r>
              <a:rPr lang="zh-CN" altLang="en-US" sz="1800" dirty="0"/>
              <a:t>已存在，</a:t>
            </a:r>
            <a:r>
              <a:rPr lang="en-US" altLang="zh-CN" sz="1800" dirty="0"/>
              <a:t>1≤i≤ListLength(L)</a:t>
            </a:r>
            <a:r>
              <a:rPr lang="zh-CN" altLang="en-US" sz="1800" dirty="0"/>
              <a:t>。</a:t>
            </a:r>
            <a:endParaRPr lang="en-US" altLang="zh-CN" sz="1800" dirty="0"/>
          </a:p>
          <a:p>
            <a:pPr marL="0" indent="0">
              <a:buNone/>
            </a:pPr>
            <a:r>
              <a:rPr lang="zh-CN" altLang="en-US" sz="1800" dirty="0"/>
              <a:t>        操作结果：用 </a:t>
            </a:r>
            <a:r>
              <a:rPr lang="en-US" altLang="zh-CN" sz="1800" dirty="0"/>
              <a:t>e </a:t>
            </a:r>
            <a:r>
              <a:rPr lang="zh-CN" altLang="en-US" sz="1800" dirty="0"/>
              <a:t>返回</a:t>
            </a:r>
            <a:r>
              <a:rPr lang="en-US" altLang="zh-CN" sz="1800" dirty="0"/>
              <a:t>L</a:t>
            </a:r>
            <a:r>
              <a:rPr lang="zh-CN" altLang="en-US" sz="1800" dirty="0"/>
              <a:t>中第 </a:t>
            </a:r>
            <a:r>
              <a:rPr lang="en-US" altLang="zh-CN" sz="1800" dirty="0" err="1"/>
              <a:t>i</a:t>
            </a:r>
            <a:r>
              <a:rPr lang="en-US" altLang="zh-CN" sz="1800" dirty="0"/>
              <a:t> </a:t>
            </a:r>
            <a:r>
              <a:rPr lang="zh-CN" altLang="en-US" sz="1800" dirty="0"/>
              <a:t>个元素的值。</a:t>
            </a:r>
            <a:endParaRPr lang="en-US" altLang="zh-CN" sz="1800" dirty="0"/>
          </a:p>
          <a:p>
            <a:pPr marL="0" indent="0">
              <a:buNone/>
            </a:pPr>
            <a:r>
              <a:rPr lang="zh-CN" altLang="en-US" sz="1800" dirty="0"/>
              <a:t>    </a:t>
            </a:r>
            <a:r>
              <a:rPr lang="en-US" altLang="zh-CN" sz="1800" dirty="0" err="1">
                <a:solidFill>
                  <a:srgbClr val="0000FF"/>
                </a:solidFill>
              </a:rPr>
              <a:t>LocateElem</a:t>
            </a:r>
            <a:r>
              <a:rPr lang="en-US" altLang="zh-CN" sz="1800" dirty="0">
                <a:solidFill>
                  <a:srgbClr val="0000FF"/>
                </a:solidFill>
              </a:rPr>
              <a:t>(L, e, compare( ))</a:t>
            </a:r>
          </a:p>
          <a:p>
            <a:pPr marL="0" indent="0">
              <a:buNone/>
            </a:pPr>
            <a:r>
              <a:rPr lang="en-US" altLang="zh-CN" sz="1800" dirty="0"/>
              <a:t>        </a:t>
            </a:r>
            <a:r>
              <a:rPr lang="zh-CN" altLang="en-US" sz="1800" dirty="0"/>
              <a:t>初始条件：线性表 </a:t>
            </a:r>
            <a:r>
              <a:rPr lang="en-US" altLang="zh-CN" sz="1800" dirty="0"/>
              <a:t>L </a:t>
            </a:r>
            <a:r>
              <a:rPr lang="zh-CN" altLang="en-US" sz="1800" dirty="0"/>
              <a:t>已存在，</a:t>
            </a:r>
            <a:r>
              <a:rPr lang="en-US" altLang="zh-CN" sz="1800" dirty="0"/>
              <a:t>e </a:t>
            </a:r>
            <a:r>
              <a:rPr lang="zh-CN" altLang="en-US" sz="1800" dirty="0"/>
              <a:t>为给定值，</a:t>
            </a:r>
            <a:r>
              <a:rPr lang="en-US" altLang="zh-CN" sz="1800" dirty="0"/>
              <a:t>compare()</a:t>
            </a:r>
            <a:r>
              <a:rPr lang="zh-CN" altLang="en-US" sz="1800" dirty="0"/>
              <a:t>是元素判定函数。</a:t>
            </a:r>
            <a:endParaRPr lang="en-US" altLang="zh-CN" sz="1800" dirty="0"/>
          </a:p>
          <a:p>
            <a:pPr marL="0" indent="0">
              <a:buNone/>
            </a:pPr>
            <a:r>
              <a:rPr lang="zh-CN" altLang="en-US" sz="1800" dirty="0"/>
              <a:t>        操作结果：返回 </a:t>
            </a:r>
            <a:r>
              <a:rPr lang="en-US" altLang="zh-CN" sz="1800" dirty="0"/>
              <a:t>L </a:t>
            </a:r>
            <a:r>
              <a:rPr lang="zh-CN" altLang="en-US" sz="1800" dirty="0"/>
              <a:t>中第</a:t>
            </a:r>
            <a:r>
              <a:rPr lang="en-US" altLang="zh-CN" sz="1800" dirty="0"/>
              <a:t>1</a:t>
            </a:r>
            <a:r>
              <a:rPr lang="zh-CN" altLang="en-US" sz="1800" dirty="0"/>
              <a:t>个与 </a:t>
            </a:r>
            <a:r>
              <a:rPr lang="en-US" altLang="zh-CN" sz="1800" dirty="0"/>
              <a:t>e </a:t>
            </a:r>
            <a:r>
              <a:rPr lang="zh-CN" altLang="en-US" sz="1800" dirty="0"/>
              <a:t>满足关系</a:t>
            </a:r>
            <a:r>
              <a:rPr lang="en-US" altLang="zh-CN" sz="1800" dirty="0"/>
              <a:t>compare()</a:t>
            </a:r>
            <a:r>
              <a:rPr lang="zh-CN" altLang="en-US" sz="1800" dirty="0"/>
              <a:t>的元素的位序。若这样的元素不存在，则返回值为</a:t>
            </a:r>
            <a:r>
              <a:rPr lang="en-US" altLang="zh-CN" sz="1800" dirty="0"/>
              <a:t>0</a:t>
            </a:r>
            <a:r>
              <a:rPr lang="zh-CN" altLang="en-US" sz="1800" dirty="0"/>
              <a:t>。</a:t>
            </a:r>
            <a:endParaRPr lang="en-US" altLang="zh-CN" sz="1800" dirty="0"/>
          </a:p>
          <a:p>
            <a:pPr marL="0" indent="0">
              <a:buNone/>
            </a:pPr>
            <a:r>
              <a:rPr lang="zh-CN" altLang="en-US" sz="1800" dirty="0"/>
              <a:t>    </a:t>
            </a:r>
            <a:r>
              <a:rPr lang="pt-BR" altLang="zh-CN" sz="1800" dirty="0">
                <a:solidFill>
                  <a:srgbClr val="0000FF"/>
                </a:solidFill>
              </a:rPr>
              <a:t>PriorElem(L, cur_e, &amp;pre_e)</a:t>
            </a:r>
          </a:p>
          <a:p>
            <a:pPr marL="0" indent="0">
              <a:buNone/>
            </a:pPr>
            <a:r>
              <a:rPr lang="en-US" altLang="zh-CN" sz="1800" dirty="0"/>
              <a:t>        </a:t>
            </a:r>
            <a:r>
              <a:rPr lang="zh-CN" altLang="en-US" sz="1800" dirty="0"/>
              <a:t>初始条件：线性表 </a:t>
            </a:r>
            <a:r>
              <a:rPr lang="en-US" altLang="zh-CN" sz="1800" dirty="0"/>
              <a:t>L </a:t>
            </a:r>
            <a:r>
              <a:rPr lang="zh-CN" altLang="en-US" sz="1800" dirty="0"/>
              <a:t>已存在。</a:t>
            </a:r>
            <a:endParaRPr lang="en-US" altLang="zh-CN" sz="1800" dirty="0"/>
          </a:p>
          <a:p>
            <a:pPr marL="0" indent="0">
              <a:buNone/>
            </a:pPr>
            <a:r>
              <a:rPr lang="zh-CN" altLang="en-US" sz="1800" dirty="0"/>
              <a:t>        操作结果：若 </a:t>
            </a:r>
            <a:r>
              <a:rPr lang="en-US" altLang="zh-CN" sz="1800" dirty="0" err="1"/>
              <a:t>cur_e</a:t>
            </a:r>
            <a:r>
              <a:rPr lang="en-US" altLang="zh-CN" sz="1800" dirty="0"/>
              <a:t> </a:t>
            </a:r>
            <a:r>
              <a:rPr lang="zh-CN" altLang="en-US" sz="1800" dirty="0"/>
              <a:t>是 </a:t>
            </a:r>
            <a:r>
              <a:rPr lang="en-US" altLang="zh-CN" sz="1800" dirty="0"/>
              <a:t>L </a:t>
            </a:r>
            <a:r>
              <a:rPr lang="zh-CN" altLang="en-US" sz="1800" dirty="0"/>
              <a:t>的元素，且不是第一个，则用 </a:t>
            </a:r>
            <a:r>
              <a:rPr lang="en-US" altLang="zh-CN" sz="1800" dirty="0" err="1"/>
              <a:t>pre_e</a:t>
            </a:r>
            <a:r>
              <a:rPr lang="en-US" altLang="zh-CN" sz="1800" dirty="0"/>
              <a:t> </a:t>
            </a:r>
            <a:r>
              <a:rPr lang="zh-CN" altLang="en-US" sz="1800" dirty="0"/>
              <a:t>返回它的前驱，否则操作失败，</a:t>
            </a:r>
            <a:r>
              <a:rPr lang="en-US" altLang="zh-CN" sz="1800" dirty="0" err="1"/>
              <a:t>pre_e</a:t>
            </a:r>
            <a:r>
              <a:rPr lang="en-US" altLang="zh-CN" sz="1800" dirty="0"/>
              <a:t> </a:t>
            </a:r>
            <a:r>
              <a:rPr lang="zh-CN" altLang="en-US" sz="1800" dirty="0"/>
              <a:t>无定义。</a:t>
            </a:r>
            <a:endParaRPr lang="en-US" altLang="zh-CN" sz="1800" dirty="0"/>
          </a:p>
        </p:txBody>
      </p:sp>
    </p:spTree>
    <p:extLst>
      <p:ext uri="{BB962C8B-B14F-4D97-AF65-F5344CB8AC3E}">
        <p14:creationId xmlns:p14="http://schemas.microsoft.com/office/powerpoint/2010/main" val="3027824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D22AC5-5785-486B-8EDB-8036207723CF}"/>
              </a:ext>
            </a:extLst>
          </p:cNvPr>
          <p:cNvSpPr>
            <a:spLocks noGrp="1"/>
          </p:cNvSpPr>
          <p:nvPr>
            <p:ph type="title"/>
          </p:nvPr>
        </p:nvSpPr>
        <p:spPr/>
        <p:txBody>
          <a:bodyPr/>
          <a:lstStyle/>
          <a:p>
            <a:r>
              <a:rPr lang="zh-CN" altLang="en-US" dirty="0"/>
              <a:t>抽象数据类型线性表的定义</a:t>
            </a:r>
          </a:p>
        </p:txBody>
      </p:sp>
      <p:sp>
        <p:nvSpPr>
          <p:cNvPr id="3" name="内容占位符 2">
            <a:extLst>
              <a:ext uri="{FF2B5EF4-FFF2-40B4-BE49-F238E27FC236}">
                <a16:creationId xmlns:a16="http://schemas.microsoft.com/office/drawing/2014/main" id="{273F9E3E-3333-4361-9E8E-4102ACBB067B}"/>
              </a:ext>
            </a:extLst>
          </p:cNvPr>
          <p:cNvSpPr>
            <a:spLocks noGrp="1"/>
          </p:cNvSpPr>
          <p:nvPr>
            <p:ph idx="1"/>
          </p:nvPr>
        </p:nvSpPr>
        <p:spPr>
          <a:xfrm>
            <a:off x="35496" y="730742"/>
            <a:ext cx="9073008" cy="6127258"/>
          </a:xfrm>
          <a:solidFill>
            <a:schemeClr val="bg2">
              <a:lumMod val="20000"/>
              <a:lumOff val="80000"/>
            </a:schemeClr>
          </a:solidFill>
        </p:spPr>
        <p:txBody>
          <a:bodyPr/>
          <a:lstStyle/>
          <a:p>
            <a:pPr marL="0" indent="0">
              <a:buNone/>
            </a:pPr>
            <a:r>
              <a:rPr lang="zh-CN" altLang="en-US" sz="1800" dirty="0"/>
              <a:t>   </a:t>
            </a:r>
            <a:r>
              <a:rPr lang="zh-CN" altLang="en-US" sz="1800" dirty="0">
                <a:solidFill>
                  <a:srgbClr val="0000FF"/>
                </a:solidFill>
              </a:rPr>
              <a:t> </a:t>
            </a:r>
            <a:r>
              <a:rPr lang="pt-BR" altLang="zh-CN" sz="1800" dirty="0">
                <a:solidFill>
                  <a:srgbClr val="0000FF"/>
                </a:solidFill>
              </a:rPr>
              <a:t>NextElem( L, cur_e, &amp;next_e )</a:t>
            </a:r>
          </a:p>
          <a:p>
            <a:pPr marL="0" indent="0">
              <a:buNone/>
            </a:pPr>
            <a:r>
              <a:rPr lang="en-US" altLang="zh-CN" sz="1800" dirty="0"/>
              <a:t>        </a:t>
            </a:r>
            <a:r>
              <a:rPr lang="zh-CN" altLang="en-US" sz="1800" dirty="0"/>
              <a:t>初始条件：线性表 </a:t>
            </a:r>
            <a:r>
              <a:rPr lang="en-US" altLang="zh-CN" sz="1800" dirty="0"/>
              <a:t>L </a:t>
            </a:r>
            <a:r>
              <a:rPr lang="zh-CN" altLang="en-US" sz="1800" dirty="0"/>
              <a:t>已存在。</a:t>
            </a:r>
          </a:p>
          <a:p>
            <a:pPr marL="0" indent="0">
              <a:buNone/>
            </a:pPr>
            <a:r>
              <a:rPr lang="zh-CN" altLang="en-US" sz="1800" dirty="0"/>
              <a:t>        操作结果：若 </a:t>
            </a:r>
            <a:r>
              <a:rPr lang="en-US" altLang="zh-CN" sz="1800" dirty="0" err="1"/>
              <a:t>cur_e</a:t>
            </a:r>
            <a:r>
              <a:rPr lang="en-US" altLang="zh-CN" sz="1800" dirty="0"/>
              <a:t> </a:t>
            </a:r>
            <a:r>
              <a:rPr lang="zh-CN" altLang="en-US" sz="1800" dirty="0"/>
              <a:t>是 </a:t>
            </a:r>
            <a:r>
              <a:rPr lang="en-US" altLang="zh-CN" sz="1800" dirty="0"/>
              <a:t>L </a:t>
            </a:r>
            <a:r>
              <a:rPr lang="zh-CN" altLang="en-US" sz="1800" dirty="0"/>
              <a:t>的元素，且不是最后一个，则用 </a:t>
            </a:r>
            <a:r>
              <a:rPr lang="en-US" altLang="zh-CN" sz="1800" dirty="0" err="1"/>
              <a:t>next_e</a:t>
            </a:r>
            <a:r>
              <a:rPr lang="en-US" altLang="zh-CN" sz="1800" dirty="0"/>
              <a:t> </a:t>
            </a:r>
            <a:r>
              <a:rPr lang="zh-CN" altLang="en-US" sz="1800" dirty="0"/>
              <a:t>返回它的后继，否则操作失败，</a:t>
            </a:r>
            <a:r>
              <a:rPr lang="en-US" altLang="zh-CN" sz="1800" dirty="0" err="1"/>
              <a:t>next_e</a:t>
            </a:r>
            <a:r>
              <a:rPr lang="en-US" altLang="zh-CN" sz="1800" dirty="0"/>
              <a:t> </a:t>
            </a:r>
            <a:r>
              <a:rPr lang="zh-CN" altLang="en-US" sz="1800" dirty="0"/>
              <a:t>无定义。</a:t>
            </a:r>
            <a:endParaRPr lang="en-US" altLang="zh-CN" sz="1800" dirty="0"/>
          </a:p>
          <a:p>
            <a:pPr marL="0" indent="0">
              <a:buNone/>
            </a:pPr>
            <a:r>
              <a:rPr lang="zh-CN" altLang="en-US" sz="1800" dirty="0"/>
              <a:t>    </a:t>
            </a:r>
            <a:r>
              <a:rPr lang="en-US" altLang="zh-CN" sz="1800" dirty="0" err="1">
                <a:solidFill>
                  <a:srgbClr val="0000FF"/>
                </a:solidFill>
              </a:rPr>
              <a:t>ListInsert</a:t>
            </a:r>
            <a:r>
              <a:rPr lang="en-US" altLang="zh-CN" sz="1800" dirty="0">
                <a:solidFill>
                  <a:srgbClr val="0000FF"/>
                </a:solidFill>
              </a:rPr>
              <a:t>( &amp;L, </a:t>
            </a:r>
            <a:r>
              <a:rPr lang="en-US" altLang="zh-CN" sz="1800" dirty="0" err="1">
                <a:solidFill>
                  <a:srgbClr val="0000FF"/>
                </a:solidFill>
              </a:rPr>
              <a:t>i</a:t>
            </a:r>
            <a:r>
              <a:rPr lang="en-US" altLang="zh-CN" sz="1800" dirty="0">
                <a:solidFill>
                  <a:srgbClr val="0000FF"/>
                </a:solidFill>
              </a:rPr>
              <a:t>, e )</a:t>
            </a:r>
          </a:p>
          <a:p>
            <a:pPr marL="0" indent="0">
              <a:buNone/>
            </a:pPr>
            <a:r>
              <a:rPr lang="en-US" altLang="zh-CN" sz="1800" dirty="0"/>
              <a:t>        </a:t>
            </a:r>
            <a:r>
              <a:rPr lang="zh-CN" altLang="en-US" sz="1800" dirty="0"/>
              <a:t>初始条件：线性表 </a:t>
            </a:r>
            <a:r>
              <a:rPr lang="en-US" altLang="zh-CN" sz="1800" dirty="0"/>
              <a:t>L </a:t>
            </a:r>
            <a:r>
              <a:rPr lang="zh-CN" altLang="en-US" sz="1800" dirty="0"/>
              <a:t>已存在，</a:t>
            </a:r>
            <a:r>
              <a:rPr lang="en-US" altLang="zh-CN" sz="1800" dirty="0"/>
              <a:t>1≤i≤ListLength(L)+1</a:t>
            </a:r>
            <a:r>
              <a:rPr lang="zh-CN" altLang="en-US" sz="1800" dirty="0"/>
              <a:t>。</a:t>
            </a:r>
            <a:endParaRPr lang="en-US" altLang="zh-CN" sz="1800" dirty="0"/>
          </a:p>
          <a:p>
            <a:pPr marL="0" indent="0">
              <a:buNone/>
            </a:pPr>
            <a:r>
              <a:rPr lang="zh-CN" altLang="en-US" sz="1800" dirty="0"/>
              <a:t>        操作结果：在 </a:t>
            </a:r>
            <a:r>
              <a:rPr lang="en-US" altLang="zh-CN" sz="1800" dirty="0"/>
              <a:t>L </a:t>
            </a:r>
            <a:r>
              <a:rPr lang="zh-CN" altLang="en-US" sz="1800" dirty="0"/>
              <a:t>的第 </a:t>
            </a:r>
            <a:r>
              <a:rPr lang="en-US" altLang="zh-CN" sz="1800" dirty="0" err="1"/>
              <a:t>i</a:t>
            </a:r>
            <a:r>
              <a:rPr lang="en-US" altLang="zh-CN" sz="1800" dirty="0"/>
              <a:t> </a:t>
            </a:r>
            <a:r>
              <a:rPr lang="zh-CN" altLang="en-US" sz="1800" dirty="0"/>
              <a:t>个元素之前插入新的元素 </a:t>
            </a:r>
            <a:r>
              <a:rPr lang="en-US" altLang="zh-CN" sz="1800" dirty="0"/>
              <a:t>e</a:t>
            </a:r>
            <a:r>
              <a:rPr lang="zh-CN" altLang="en-US" sz="1800" dirty="0"/>
              <a:t>，</a:t>
            </a:r>
            <a:r>
              <a:rPr lang="en-US" altLang="zh-CN" sz="1800" dirty="0"/>
              <a:t>L </a:t>
            </a:r>
            <a:r>
              <a:rPr lang="zh-CN" altLang="en-US" sz="1800" dirty="0"/>
              <a:t>的长度增</a:t>
            </a:r>
            <a:r>
              <a:rPr lang="en-US" altLang="zh-CN" sz="1800" dirty="0"/>
              <a:t>1</a:t>
            </a:r>
            <a:r>
              <a:rPr lang="zh-CN" altLang="en-US" sz="1800" dirty="0"/>
              <a:t>。</a:t>
            </a:r>
            <a:endParaRPr lang="en-US" altLang="zh-CN" sz="1800" dirty="0"/>
          </a:p>
          <a:p>
            <a:pPr marL="0" indent="0">
              <a:buNone/>
            </a:pPr>
            <a:r>
              <a:rPr lang="zh-CN" altLang="en-US" sz="1800" dirty="0"/>
              <a:t>    </a:t>
            </a:r>
            <a:r>
              <a:rPr lang="en-US" altLang="zh-CN" sz="1800" dirty="0" err="1">
                <a:solidFill>
                  <a:srgbClr val="0000FF"/>
                </a:solidFill>
              </a:rPr>
              <a:t>ListDelete</a:t>
            </a:r>
            <a:r>
              <a:rPr lang="en-US" altLang="zh-CN" sz="1800" dirty="0">
                <a:solidFill>
                  <a:srgbClr val="0000FF"/>
                </a:solidFill>
              </a:rPr>
              <a:t>(&amp;L, </a:t>
            </a:r>
            <a:r>
              <a:rPr lang="en-US" altLang="zh-CN" sz="1800" dirty="0" err="1">
                <a:solidFill>
                  <a:srgbClr val="0000FF"/>
                </a:solidFill>
              </a:rPr>
              <a:t>i</a:t>
            </a:r>
            <a:r>
              <a:rPr lang="en-US" altLang="zh-CN" sz="1800" dirty="0">
                <a:solidFill>
                  <a:srgbClr val="0000FF"/>
                </a:solidFill>
              </a:rPr>
              <a:t>, &amp;e</a:t>
            </a:r>
            <a:r>
              <a:rPr lang="zh-CN" altLang="en-US" sz="1800" dirty="0">
                <a:solidFill>
                  <a:srgbClr val="0000FF"/>
                </a:solidFill>
              </a:rPr>
              <a:t>）</a:t>
            </a:r>
          </a:p>
          <a:p>
            <a:pPr marL="0" indent="0">
              <a:buNone/>
            </a:pPr>
            <a:r>
              <a:rPr lang="en-US" altLang="zh-CN" sz="1800" dirty="0"/>
              <a:t>        </a:t>
            </a:r>
            <a:r>
              <a:rPr lang="zh-CN" altLang="en-US" sz="1800" dirty="0"/>
              <a:t>初始条件：线性表 </a:t>
            </a:r>
            <a:r>
              <a:rPr lang="en-US" altLang="zh-CN" sz="1800" dirty="0"/>
              <a:t>L </a:t>
            </a:r>
            <a:r>
              <a:rPr lang="zh-CN" altLang="en-US" sz="1800" dirty="0"/>
              <a:t>已存在且非空，</a:t>
            </a:r>
            <a:r>
              <a:rPr lang="en-US" altLang="zh-CN" sz="1800" dirty="0"/>
              <a:t>1≤i≤ListLength(L)</a:t>
            </a:r>
            <a:r>
              <a:rPr lang="zh-CN" altLang="en-US" sz="1800" dirty="0"/>
              <a:t>。</a:t>
            </a:r>
            <a:endParaRPr lang="en-US" altLang="zh-CN" sz="1800" dirty="0"/>
          </a:p>
          <a:p>
            <a:pPr marL="0" indent="0">
              <a:buNone/>
            </a:pPr>
            <a:r>
              <a:rPr lang="zh-CN" altLang="en-US" sz="1800" dirty="0"/>
              <a:t>        操作结果：删除 </a:t>
            </a:r>
            <a:r>
              <a:rPr lang="en-US" altLang="zh-CN" sz="1800" dirty="0"/>
              <a:t>L </a:t>
            </a:r>
            <a:r>
              <a:rPr lang="zh-CN" altLang="en-US" sz="1800" dirty="0"/>
              <a:t>的第 </a:t>
            </a:r>
            <a:r>
              <a:rPr lang="en-US" altLang="zh-CN" sz="1800" dirty="0" err="1"/>
              <a:t>i</a:t>
            </a:r>
            <a:r>
              <a:rPr lang="en-US" altLang="zh-CN" sz="1800" dirty="0"/>
              <a:t> </a:t>
            </a:r>
            <a:r>
              <a:rPr lang="zh-CN" altLang="en-US" sz="1800" dirty="0"/>
              <a:t>个元素，并用 </a:t>
            </a:r>
            <a:r>
              <a:rPr lang="en-US" altLang="zh-CN" sz="1800" dirty="0"/>
              <a:t>e </a:t>
            </a:r>
            <a:r>
              <a:rPr lang="zh-CN" altLang="en-US" sz="1800" dirty="0"/>
              <a:t>返回其值，</a:t>
            </a:r>
            <a:r>
              <a:rPr lang="en-US" altLang="zh-CN" sz="1800" dirty="0"/>
              <a:t>L </a:t>
            </a:r>
            <a:r>
              <a:rPr lang="zh-CN" altLang="en-US" sz="1800" dirty="0"/>
              <a:t>的长度减</a:t>
            </a:r>
            <a:r>
              <a:rPr lang="en-US" altLang="zh-CN" sz="1800" dirty="0"/>
              <a:t>1</a:t>
            </a:r>
            <a:r>
              <a:rPr lang="zh-CN" altLang="en-US" sz="1800" dirty="0"/>
              <a:t>。</a:t>
            </a:r>
            <a:endParaRPr lang="en-US" altLang="zh-CN" sz="1800" dirty="0"/>
          </a:p>
          <a:p>
            <a:pPr marL="0" indent="0">
              <a:buNone/>
            </a:pPr>
            <a:r>
              <a:rPr lang="zh-CN" altLang="en-US" sz="1800" dirty="0"/>
              <a:t>    </a:t>
            </a:r>
            <a:r>
              <a:rPr lang="pt-BR" altLang="zh-CN" sz="1800" dirty="0">
                <a:solidFill>
                  <a:srgbClr val="0000FF"/>
                </a:solidFill>
              </a:rPr>
              <a:t>ListTraverse(L, visit( ))</a:t>
            </a:r>
          </a:p>
          <a:p>
            <a:pPr marL="0" indent="0">
              <a:buNone/>
            </a:pPr>
            <a:r>
              <a:rPr lang="en-US" altLang="zh-CN" sz="1800" dirty="0"/>
              <a:t>        </a:t>
            </a:r>
            <a:r>
              <a:rPr lang="zh-CN" altLang="en-US" sz="1800" dirty="0"/>
              <a:t>初始条件：线性表 </a:t>
            </a:r>
            <a:r>
              <a:rPr lang="en-US" altLang="zh-CN" sz="1800" dirty="0"/>
              <a:t>L </a:t>
            </a:r>
            <a:r>
              <a:rPr lang="zh-CN" altLang="en-US" sz="1800" dirty="0"/>
              <a:t>已存在。</a:t>
            </a:r>
            <a:endParaRPr lang="en-US" altLang="zh-CN" sz="1800" dirty="0"/>
          </a:p>
          <a:p>
            <a:pPr marL="0" indent="0">
              <a:buNone/>
            </a:pPr>
            <a:r>
              <a:rPr lang="zh-CN" altLang="en-US" sz="1800" dirty="0"/>
              <a:t>        操作结果：依次对 </a:t>
            </a:r>
            <a:r>
              <a:rPr lang="en-US" altLang="zh-CN" sz="1800" dirty="0"/>
              <a:t>L </a:t>
            </a:r>
            <a:r>
              <a:rPr lang="zh-CN" altLang="en-US" sz="1800" dirty="0"/>
              <a:t>的每个元素调用函数 </a:t>
            </a:r>
            <a:r>
              <a:rPr lang="en-US" altLang="zh-CN" sz="1800" dirty="0"/>
              <a:t>visit( )</a:t>
            </a:r>
            <a:r>
              <a:rPr lang="zh-CN" altLang="en-US" sz="1800" dirty="0"/>
              <a:t>。一旦 </a:t>
            </a:r>
            <a:r>
              <a:rPr lang="en-US" altLang="zh-CN" sz="1800" dirty="0"/>
              <a:t>visit( ) </a:t>
            </a:r>
            <a:r>
              <a:rPr lang="zh-CN" altLang="en-US" sz="1800" dirty="0"/>
              <a:t>失败，则操作失败。</a:t>
            </a:r>
            <a:endParaRPr lang="en-US" altLang="zh-CN" sz="1800" dirty="0"/>
          </a:p>
          <a:p>
            <a:pPr marL="0" indent="0">
              <a:buNone/>
            </a:pPr>
            <a:r>
              <a:rPr lang="en-US" altLang="zh-CN" sz="2000" b="1" dirty="0"/>
              <a:t>} ADT List</a:t>
            </a:r>
          </a:p>
        </p:txBody>
      </p:sp>
    </p:spTree>
    <p:extLst>
      <p:ext uri="{BB962C8B-B14F-4D97-AF65-F5344CB8AC3E}">
        <p14:creationId xmlns:p14="http://schemas.microsoft.com/office/powerpoint/2010/main" val="2974322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FC0DED-33A1-4B46-AF32-FEB916EB5457}"/>
              </a:ext>
            </a:extLst>
          </p:cNvPr>
          <p:cNvSpPr>
            <a:spLocks noGrp="1"/>
          </p:cNvSpPr>
          <p:nvPr>
            <p:ph type="title"/>
          </p:nvPr>
        </p:nvSpPr>
        <p:spPr/>
        <p:txBody>
          <a:bodyPr/>
          <a:lstStyle/>
          <a:p>
            <a:r>
              <a:rPr lang="zh-CN" altLang="en-US" dirty="0"/>
              <a:t>线性表的其他操作</a:t>
            </a:r>
          </a:p>
        </p:txBody>
      </p:sp>
      <p:sp>
        <p:nvSpPr>
          <p:cNvPr id="3" name="内容占位符 2">
            <a:extLst>
              <a:ext uri="{FF2B5EF4-FFF2-40B4-BE49-F238E27FC236}">
                <a16:creationId xmlns:a16="http://schemas.microsoft.com/office/drawing/2014/main" id="{C0EAF46D-BF50-4AA2-9B6A-7A5301B1A510}"/>
              </a:ext>
            </a:extLst>
          </p:cNvPr>
          <p:cNvSpPr>
            <a:spLocks noGrp="1"/>
          </p:cNvSpPr>
          <p:nvPr>
            <p:ph idx="1"/>
          </p:nvPr>
        </p:nvSpPr>
        <p:spPr>
          <a:xfrm>
            <a:off x="539552" y="880227"/>
            <a:ext cx="7992888" cy="5741816"/>
          </a:xfrm>
        </p:spPr>
        <p:txBody>
          <a:bodyPr/>
          <a:lstStyle/>
          <a:p>
            <a:r>
              <a:rPr lang="zh-CN" altLang="en-US" dirty="0"/>
              <a:t>利用上述定义的线性表，可以实现其它更复杂的操作。例如，线性表的合并、拆分、复制等。</a:t>
            </a:r>
          </a:p>
        </p:txBody>
      </p:sp>
    </p:spTree>
    <p:extLst>
      <p:ext uri="{BB962C8B-B14F-4D97-AF65-F5344CB8AC3E}">
        <p14:creationId xmlns:p14="http://schemas.microsoft.com/office/powerpoint/2010/main" val="1479703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759947-EAAE-4BC1-A4E1-86304E7DC433}"/>
              </a:ext>
            </a:extLst>
          </p:cNvPr>
          <p:cNvSpPr>
            <a:spLocks noGrp="1"/>
          </p:cNvSpPr>
          <p:nvPr>
            <p:ph type="title"/>
          </p:nvPr>
        </p:nvSpPr>
        <p:spPr/>
        <p:txBody>
          <a:bodyPr/>
          <a:lstStyle/>
          <a:p>
            <a:r>
              <a:rPr lang="zh-CN" altLang="en-US" dirty="0"/>
              <a:t>例</a:t>
            </a:r>
            <a:r>
              <a:rPr lang="en-US" altLang="zh-CN" dirty="0"/>
              <a:t>2-1 </a:t>
            </a:r>
            <a:r>
              <a:rPr lang="zh-CN" altLang="en-US" dirty="0"/>
              <a:t>集合的并运算</a:t>
            </a:r>
          </a:p>
        </p:txBody>
      </p:sp>
      <p:sp>
        <p:nvSpPr>
          <p:cNvPr id="3" name="内容占位符 2">
            <a:extLst>
              <a:ext uri="{FF2B5EF4-FFF2-40B4-BE49-F238E27FC236}">
                <a16:creationId xmlns:a16="http://schemas.microsoft.com/office/drawing/2014/main" id="{7C0F3E25-3ABE-4A6E-A3C1-DA302754EB1C}"/>
              </a:ext>
            </a:extLst>
          </p:cNvPr>
          <p:cNvSpPr>
            <a:spLocks noGrp="1"/>
          </p:cNvSpPr>
          <p:nvPr>
            <p:ph idx="1"/>
          </p:nvPr>
        </p:nvSpPr>
        <p:spPr/>
        <p:txBody>
          <a:bodyPr/>
          <a:lstStyle/>
          <a:p>
            <a:r>
              <a:rPr lang="zh-CN" altLang="en-US" dirty="0">
                <a:latin typeface="+mn-ea"/>
                <a:ea typeface="+mn-ea"/>
              </a:rPr>
              <a:t>假设有两个集合 </a:t>
            </a:r>
            <a:r>
              <a:rPr lang="en-US" altLang="zh-CN" dirty="0">
                <a:latin typeface="+mn-ea"/>
                <a:ea typeface="+mn-ea"/>
              </a:rPr>
              <a:t>A </a:t>
            </a:r>
            <a:r>
              <a:rPr lang="zh-CN" altLang="en-US" dirty="0">
                <a:latin typeface="+mn-ea"/>
                <a:ea typeface="+mn-ea"/>
              </a:rPr>
              <a:t>和 </a:t>
            </a:r>
            <a:r>
              <a:rPr lang="en-US" altLang="zh-CN" dirty="0">
                <a:latin typeface="+mn-ea"/>
                <a:ea typeface="+mn-ea"/>
              </a:rPr>
              <a:t>B</a:t>
            </a:r>
            <a:r>
              <a:rPr lang="zh-CN" altLang="en-US" dirty="0">
                <a:latin typeface="+mn-ea"/>
                <a:ea typeface="+mn-ea"/>
              </a:rPr>
              <a:t>，分别用两个线性表 </a:t>
            </a:r>
            <a:r>
              <a:rPr lang="en-US" altLang="zh-CN" dirty="0">
                <a:latin typeface="+mn-ea"/>
                <a:ea typeface="+mn-ea"/>
              </a:rPr>
              <a:t>L</a:t>
            </a:r>
            <a:r>
              <a:rPr lang="en-US" altLang="zh-CN" baseline="-25000" dirty="0">
                <a:latin typeface="+mn-ea"/>
                <a:ea typeface="+mn-ea"/>
              </a:rPr>
              <a:t>A</a:t>
            </a:r>
            <a:r>
              <a:rPr lang="en-US" altLang="zh-CN" dirty="0">
                <a:latin typeface="+mn-ea"/>
                <a:ea typeface="+mn-ea"/>
              </a:rPr>
              <a:t> </a:t>
            </a:r>
            <a:r>
              <a:rPr lang="zh-CN" altLang="en-US" dirty="0">
                <a:latin typeface="+mn-ea"/>
                <a:ea typeface="+mn-ea"/>
              </a:rPr>
              <a:t>和 </a:t>
            </a:r>
            <a:r>
              <a:rPr lang="en-US" altLang="zh-CN" dirty="0">
                <a:latin typeface="+mn-ea"/>
                <a:ea typeface="+mn-ea"/>
              </a:rPr>
              <a:t>L</a:t>
            </a:r>
            <a:r>
              <a:rPr lang="en-US" altLang="zh-CN" baseline="-25000" dirty="0">
                <a:latin typeface="+mn-ea"/>
                <a:ea typeface="+mn-ea"/>
              </a:rPr>
              <a:t>B</a:t>
            </a:r>
            <a:r>
              <a:rPr lang="en-US" altLang="zh-CN" dirty="0">
                <a:latin typeface="+mn-ea"/>
                <a:ea typeface="+mn-ea"/>
              </a:rPr>
              <a:t> </a:t>
            </a:r>
            <a:r>
              <a:rPr lang="zh-CN" altLang="en-US" dirty="0">
                <a:latin typeface="+mn-ea"/>
                <a:ea typeface="+mn-ea"/>
              </a:rPr>
              <a:t>表示，即：线性表中的数据元素即为集合中的成员。 现求一个新的集合 </a:t>
            </a:r>
            <a:r>
              <a:rPr lang="en-US" altLang="zh-CN" dirty="0">
                <a:latin typeface="+mn-ea"/>
                <a:ea typeface="+mn-ea"/>
              </a:rPr>
              <a:t>A</a:t>
            </a:r>
            <a:r>
              <a:rPr lang="zh-CN" altLang="en-US" dirty="0">
                <a:latin typeface="+mn-ea"/>
                <a:ea typeface="+mn-ea"/>
              </a:rPr>
              <a:t>＝</a:t>
            </a:r>
            <a:r>
              <a:rPr lang="en-US" altLang="zh-CN" dirty="0">
                <a:latin typeface="+mn-ea"/>
                <a:ea typeface="+mn-ea"/>
              </a:rPr>
              <a:t>A∪B</a:t>
            </a:r>
            <a:r>
              <a:rPr lang="zh-CN" altLang="en-US" dirty="0">
                <a:latin typeface="+mn-ea"/>
                <a:ea typeface="+mn-ea"/>
              </a:rPr>
              <a:t>。</a:t>
            </a:r>
            <a:endParaRPr lang="en-US" altLang="zh-CN" dirty="0">
              <a:latin typeface="+mn-ea"/>
              <a:ea typeface="+mn-ea"/>
            </a:endParaRPr>
          </a:p>
          <a:p>
            <a:endParaRPr lang="en-US" altLang="zh-CN" dirty="0">
              <a:latin typeface="+mn-ea"/>
              <a:ea typeface="+mn-ea"/>
            </a:endParaRPr>
          </a:p>
          <a:p>
            <a:r>
              <a:rPr lang="zh-CN" altLang="en-US" dirty="0">
                <a:solidFill>
                  <a:srgbClr val="0000FF"/>
                </a:solidFill>
                <a:latin typeface="+mn-ea"/>
                <a:ea typeface="+mn-ea"/>
              </a:rPr>
              <a:t>上述问题可转换为：</a:t>
            </a:r>
          </a:p>
          <a:p>
            <a:r>
              <a:rPr lang="zh-CN" altLang="en-US" dirty="0">
                <a:latin typeface="华文楷体" panose="02010600040101010101" pitchFamily="2" charset="-122"/>
                <a:ea typeface="华文楷体" panose="02010600040101010101" pitchFamily="2" charset="-122"/>
              </a:rPr>
              <a:t>扩大线性表 </a:t>
            </a:r>
            <a:r>
              <a:rPr lang="en-US" altLang="zh-CN" dirty="0">
                <a:latin typeface="华文楷体" panose="02010600040101010101" pitchFamily="2" charset="-122"/>
                <a:ea typeface="华文楷体" panose="02010600040101010101" pitchFamily="2" charset="-122"/>
              </a:rPr>
              <a:t>L</a:t>
            </a:r>
            <a:r>
              <a:rPr lang="en-US" altLang="zh-CN" baseline="-25000" dirty="0">
                <a:latin typeface="华文楷体" panose="02010600040101010101" pitchFamily="2" charset="-122"/>
                <a:ea typeface="华文楷体" panose="02010600040101010101" pitchFamily="2" charset="-122"/>
              </a:rPr>
              <a:t>A</a:t>
            </a:r>
            <a:r>
              <a:rPr lang="zh-CN" altLang="en-US" dirty="0">
                <a:latin typeface="华文楷体" panose="02010600040101010101" pitchFamily="2" charset="-122"/>
                <a:ea typeface="华文楷体" panose="02010600040101010101" pitchFamily="2" charset="-122"/>
              </a:rPr>
              <a:t>，将存在于线性表 </a:t>
            </a:r>
            <a:r>
              <a:rPr lang="en-US" altLang="zh-CN" dirty="0">
                <a:latin typeface="华文楷体" panose="02010600040101010101" pitchFamily="2" charset="-122"/>
                <a:ea typeface="华文楷体" panose="02010600040101010101" pitchFamily="2" charset="-122"/>
              </a:rPr>
              <a:t>L</a:t>
            </a:r>
            <a:r>
              <a:rPr lang="en-US" altLang="zh-CN" baseline="-25000" dirty="0">
                <a:latin typeface="华文楷体" panose="02010600040101010101" pitchFamily="2" charset="-122"/>
                <a:ea typeface="华文楷体" panose="02010600040101010101" pitchFamily="2" charset="-122"/>
              </a:rPr>
              <a:t>B</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中而不存在于线性表 </a:t>
            </a:r>
            <a:r>
              <a:rPr lang="en-US" altLang="zh-CN" dirty="0">
                <a:latin typeface="华文楷体" panose="02010600040101010101" pitchFamily="2" charset="-122"/>
                <a:ea typeface="华文楷体" panose="02010600040101010101" pitchFamily="2" charset="-122"/>
              </a:rPr>
              <a:t>L</a:t>
            </a:r>
            <a:r>
              <a:rPr lang="en-US" altLang="zh-CN" baseline="-25000" dirty="0">
                <a:latin typeface="华文楷体" panose="02010600040101010101" pitchFamily="2" charset="-122"/>
                <a:ea typeface="华文楷体" panose="02010600040101010101" pitchFamily="2" charset="-122"/>
              </a:rPr>
              <a:t>A</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中的数据元素插入到线性表 </a:t>
            </a:r>
            <a:r>
              <a:rPr lang="en-US" altLang="zh-CN" dirty="0">
                <a:latin typeface="华文楷体" panose="02010600040101010101" pitchFamily="2" charset="-122"/>
                <a:ea typeface="华文楷体" panose="02010600040101010101" pitchFamily="2" charset="-122"/>
              </a:rPr>
              <a:t>L</a:t>
            </a:r>
            <a:r>
              <a:rPr lang="en-US" altLang="zh-CN" baseline="-25000" dirty="0">
                <a:latin typeface="华文楷体" panose="02010600040101010101" pitchFamily="2" charset="-122"/>
                <a:ea typeface="华文楷体" panose="02010600040101010101" pitchFamily="2" charset="-122"/>
              </a:rPr>
              <a:t>A</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中去。</a:t>
            </a:r>
          </a:p>
          <a:p>
            <a:endParaRPr lang="zh-CN" altLang="en-US" dirty="0">
              <a:latin typeface="+mn-ea"/>
              <a:ea typeface="+mn-ea"/>
            </a:endParaRPr>
          </a:p>
          <a:p>
            <a:endParaRPr lang="zh-CN" altLang="en-US" dirty="0">
              <a:latin typeface="+mn-ea"/>
              <a:ea typeface="+mn-ea"/>
            </a:endParaRPr>
          </a:p>
        </p:txBody>
      </p:sp>
    </p:spTree>
    <p:extLst>
      <p:ext uri="{BB962C8B-B14F-4D97-AF65-F5344CB8AC3E}">
        <p14:creationId xmlns:p14="http://schemas.microsoft.com/office/powerpoint/2010/main" val="3036784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108B08-17A9-4683-B851-F001FCB775A6}"/>
              </a:ext>
            </a:extLst>
          </p:cNvPr>
          <p:cNvSpPr>
            <a:spLocks noGrp="1"/>
          </p:cNvSpPr>
          <p:nvPr>
            <p:ph type="title"/>
          </p:nvPr>
        </p:nvSpPr>
        <p:spPr/>
        <p:txBody>
          <a:bodyPr/>
          <a:lstStyle/>
          <a:p>
            <a:r>
              <a:rPr lang="zh-CN" altLang="en-US" dirty="0"/>
              <a:t>例</a:t>
            </a:r>
            <a:r>
              <a:rPr lang="en-US" altLang="zh-CN" dirty="0"/>
              <a:t>2-1 </a:t>
            </a:r>
            <a:r>
              <a:rPr lang="zh-CN" altLang="en-US" dirty="0"/>
              <a:t>集合的并运算</a:t>
            </a:r>
          </a:p>
        </p:txBody>
      </p:sp>
      <p:sp>
        <p:nvSpPr>
          <p:cNvPr id="3" name="内容占位符 2">
            <a:extLst>
              <a:ext uri="{FF2B5EF4-FFF2-40B4-BE49-F238E27FC236}">
                <a16:creationId xmlns:a16="http://schemas.microsoft.com/office/drawing/2014/main" id="{D8A1FC4E-288A-486F-8C4C-108701356782}"/>
              </a:ext>
            </a:extLst>
          </p:cNvPr>
          <p:cNvSpPr>
            <a:spLocks noGrp="1"/>
          </p:cNvSpPr>
          <p:nvPr>
            <p:ph idx="1"/>
          </p:nvPr>
        </p:nvSpPr>
        <p:spPr>
          <a:xfrm>
            <a:off x="343198" y="880228"/>
            <a:ext cx="8457604" cy="748572"/>
          </a:xfrm>
        </p:spPr>
        <p:txBody>
          <a:bodyPr/>
          <a:lstStyle/>
          <a:p>
            <a:r>
              <a:rPr lang="zh-CN" altLang="en-US" dirty="0">
                <a:latin typeface="+mn-ea"/>
                <a:ea typeface="+mn-ea"/>
              </a:rPr>
              <a:t>例如，</a:t>
            </a:r>
            <a:r>
              <a:rPr lang="en-US" altLang="zh-CN" dirty="0">
                <a:latin typeface="+mn-ea"/>
                <a:ea typeface="+mn-ea"/>
              </a:rPr>
              <a:t>L</a:t>
            </a:r>
            <a:r>
              <a:rPr lang="en-US" altLang="zh-CN" baseline="-25000" dirty="0">
                <a:latin typeface="+mn-ea"/>
                <a:ea typeface="+mn-ea"/>
              </a:rPr>
              <a:t>A</a:t>
            </a:r>
            <a:r>
              <a:rPr lang="en-US" altLang="zh-CN" dirty="0">
                <a:latin typeface="+mn-ea"/>
                <a:ea typeface="+mn-ea"/>
              </a:rPr>
              <a:t> = {3, 13, 7, 9}</a:t>
            </a:r>
            <a:r>
              <a:rPr lang="zh-CN" altLang="en-US" dirty="0">
                <a:latin typeface="+mn-ea"/>
                <a:ea typeface="+mn-ea"/>
              </a:rPr>
              <a:t>，</a:t>
            </a:r>
            <a:r>
              <a:rPr lang="en-US" altLang="zh-CN" dirty="0">
                <a:latin typeface="+mn-ea"/>
                <a:ea typeface="+mn-ea"/>
              </a:rPr>
              <a:t>L</a:t>
            </a:r>
            <a:r>
              <a:rPr lang="en-US" altLang="zh-CN" baseline="-25000" dirty="0">
                <a:latin typeface="+mn-ea"/>
                <a:ea typeface="+mn-ea"/>
              </a:rPr>
              <a:t>B</a:t>
            </a:r>
            <a:r>
              <a:rPr lang="en-US" altLang="zh-CN" dirty="0">
                <a:latin typeface="+mn-ea"/>
                <a:ea typeface="+mn-ea"/>
              </a:rPr>
              <a:t> = {5, 7, 10}</a:t>
            </a:r>
          </a:p>
        </p:txBody>
      </p:sp>
      <p:grpSp>
        <p:nvGrpSpPr>
          <p:cNvPr id="4" name="Group 43">
            <a:extLst>
              <a:ext uri="{FF2B5EF4-FFF2-40B4-BE49-F238E27FC236}">
                <a16:creationId xmlns:a16="http://schemas.microsoft.com/office/drawing/2014/main" id="{ABB0CB9E-C224-49AD-95C9-7E926AD2D7F4}"/>
              </a:ext>
            </a:extLst>
          </p:cNvPr>
          <p:cNvGrpSpPr>
            <a:grpSpLocks/>
          </p:cNvGrpSpPr>
          <p:nvPr/>
        </p:nvGrpSpPr>
        <p:grpSpPr bwMode="auto">
          <a:xfrm>
            <a:off x="1828800" y="1663725"/>
            <a:ext cx="931863" cy="3062890"/>
            <a:chOff x="1152" y="1056"/>
            <a:chExt cx="587" cy="1296"/>
          </a:xfrm>
        </p:grpSpPr>
        <p:sp>
          <p:nvSpPr>
            <p:cNvPr id="5" name="Line 5">
              <a:extLst>
                <a:ext uri="{FF2B5EF4-FFF2-40B4-BE49-F238E27FC236}">
                  <a16:creationId xmlns:a16="http://schemas.microsoft.com/office/drawing/2014/main" id="{D03627D9-E5D8-4BE4-8398-1B2D09599B36}"/>
                </a:ext>
              </a:extLst>
            </p:cNvPr>
            <p:cNvSpPr>
              <a:spLocks noChangeShapeType="1"/>
            </p:cNvSpPr>
            <p:nvPr/>
          </p:nvSpPr>
          <p:spPr bwMode="auto">
            <a:xfrm>
              <a:off x="1152" y="1392"/>
              <a:ext cx="0" cy="9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6" name="Line 6">
              <a:extLst>
                <a:ext uri="{FF2B5EF4-FFF2-40B4-BE49-F238E27FC236}">
                  <a16:creationId xmlns:a16="http://schemas.microsoft.com/office/drawing/2014/main" id="{085B9B1B-D773-4570-BC08-9D34E6E77EF2}"/>
                </a:ext>
              </a:extLst>
            </p:cNvPr>
            <p:cNvSpPr>
              <a:spLocks noChangeShapeType="1"/>
            </p:cNvSpPr>
            <p:nvPr/>
          </p:nvSpPr>
          <p:spPr bwMode="auto">
            <a:xfrm>
              <a:off x="1680" y="1392"/>
              <a:ext cx="0" cy="9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7" name="Line 7">
              <a:extLst>
                <a:ext uri="{FF2B5EF4-FFF2-40B4-BE49-F238E27FC236}">
                  <a16:creationId xmlns:a16="http://schemas.microsoft.com/office/drawing/2014/main" id="{7F43BC03-E1B0-409D-A03E-0E5B66523640}"/>
                </a:ext>
              </a:extLst>
            </p:cNvPr>
            <p:cNvSpPr>
              <a:spLocks noChangeShapeType="1"/>
            </p:cNvSpPr>
            <p:nvPr/>
          </p:nvSpPr>
          <p:spPr bwMode="auto">
            <a:xfrm>
              <a:off x="1152" y="139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8" name="Line 8">
              <a:extLst>
                <a:ext uri="{FF2B5EF4-FFF2-40B4-BE49-F238E27FC236}">
                  <a16:creationId xmlns:a16="http://schemas.microsoft.com/office/drawing/2014/main" id="{D9952C22-FC7D-445A-93A6-AEFBAB325A0C}"/>
                </a:ext>
              </a:extLst>
            </p:cNvPr>
            <p:cNvSpPr>
              <a:spLocks noChangeShapeType="1"/>
            </p:cNvSpPr>
            <p:nvPr/>
          </p:nvSpPr>
          <p:spPr bwMode="auto">
            <a:xfrm>
              <a:off x="1152" y="163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9" name="Line 9">
              <a:extLst>
                <a:ext uri="{FF2B5EF4-FFF2-40B4-BE49-F238E27FC236}">
                  <a16:creationId xmlns:a16="http://schemas.microsoft.com/office/drawing/2014/main" id="{3C8B3F2B-2341-46C3-9AE5-3C677E7C0641}"/>
                </a:ext>
              </a:extLst>
            </p:cNvPr>
            <p:cNvSpPr>
              <a:spLocks noChangeShapeType="1"/>
            </p:cNvSpPr>
            <p:nvPr/>
          </p:nvSpPr>
          <p:spPr bwMode="auto">
            <a:xfrm>
              <a:off x="1152" y="187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 name="Line 10">
              <a:extLst>
                <a:ext uri="{FF2B5EF4-FFF2-40B4-BE49-F238E27FC236}">
                  <a16:creationId xmlns:a16="http://schemas.microsoft.com/office/drawing/2014/main" id="{F85AAEA4-EC23-4B47-A701-2F1B05033C0A}"/>
                </a:ext>
              </a:extLst>
            </p:cNvPr>
            <p:cNvSpPr>
              <a:spLocks noChangeShapeType="1"/>
            </p:cNvSpPr>
            <p:nvPr/>
          </p:nvSpPr>
          <p:spPr bwMode="auto">
            <a:xfrm>
              <a:off x="1152" y="211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1" name="Line 11">
              <a:extLst>
                <a:ext uri="{FF2B5EF4-FFF2-40B4-BE49-F238E27FC236}">
                  <a16:creationId xmlns:a16="http://schemas.microsoft.com/office/drawing/2014/main" id="{13FE89F0-C0C2-46B3-BC65-1E0671AB8D39}"/>
                </a:ext>
              </a:extLst>
            </p:cNvPr>
            <p:cNvSpPr>
              <a:spLocks noChangeShapeType="1"/>
            </p:cNvSpPr>
            <p:nvPr/>
          </p:nvSpPr>
          <p:spPr bwMode="auto">
            <a:xfrm>
              <a:off x="1152" y="235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2" name="Text Box 12">
              <a:extLst>
                <a:ext uri="{FF2B5EF4-FFF2-40B4-BE49-F238E27FC236}">
                  <a16:creationId xmlns:a16="http://schemas.microsoft.com/office/drawing/2014/main" id="{84E2CCA9-C3B2-450D-AEFB-54C338CF2F19}"/>
                </a:ext>
              </a:extLst>
            </p:cNvPr>
            <p:cNvSpPr txBox="1">
              <a:spLocks noChangeArrowheads="1"/>
            </p:cNvSpPr>
            <p:nvPr/>
          </p:nvSpPr>
          <p:spPr bwMode="auto">
            <a:xfrm>
              <a:off x="1307" y="1324"/>
              <a:ext cx="43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Tx/>
                <a:buFontTx/>
                <a:buNone/>
              </a:pPr>
              <a:r>
                <a:rPr lang="en-US" altLang="zh-CN" sz="2800" b="1" dirty="0">
                  <a:latin typeface="Arial" panose="020B0604020202020204" pitchFamily="34" charset="0"/>
                </a:rPr>
                <a:t>3</a:t>
              </a:r>
            </a:p>
          </p:txBody>
        </p:sp>
        <p:sp>
          <p:nvSpPr>
            <p:cNvPr id="13" name="Text Box 13">
              <a:extLst>
                <a:ext uri="{FF2B5EF4-FFF2-40B4-BE49-F238E27FC236}">
                  <a16:creationId xmlns:a16="http://schemas.microsoft.com/office/drawing/2014/main" id="{4F945F75-00E2-45F2-810B-68EA3E03A5E7}"/>
                </a:ext>
              </a:extLst>
            </p:cNvPr>
            <p:cNvSpPr txBox="1">
              <a:spLocks noChangeArrowheads="1"/>
            </p:cNvSpPr>
            <p:nvPr/>
          </p:nvSpPr>
          <p:spPr bwMode="auto">
            <a:xfrm>
              <a:off x="1248" y="1564"/>
              <a:ext cx="43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Tx/>
                <a:buFontTx/>
                <a:buNone/>
              </a:pPr>
              <a:r>
                <a:rPr lang="en-US" altLang="zh-CN" sz="2800" b="1">
                  <a:latin typeface="Arial" panose="020B0604020202020204" pitchFamily="34" charset="0"/>
                </a:rPr>
                <a:t>13</a:t>
              </a:r>
            </a:p>
          </p:txBody>
        </p:sp>
        <p:sp>
          <p:nvSpPr>
            <p:cNvPr id="14" name="Text Box 14">
              <a:extLst>
                <a:ext uri="{FF2B5EF4-FFF2-40B4-BE49-F238E27FC236}">
                  <a16:creationId xmlns:a16="http://schemas.microsoft.com/office/drawing/2014/main" id="{88CC415F-31AF-4950-AA7A-DF3CD9617DEC}"/>
                </a:ext>
              </a:extLst>
            </p:cNvPr>
            <p:cNvSpPr txBox="1">
              <a:spLocks noChangeArrowheads="1"/>
            </p:cNvSpPr>
            <p:nvPr/>
          </p:nvSpPr>
          <p:spPr bwMode="auto">
            <a:xfrm>
              <a:off x="1296" y="1808"/>
              <a:ext cx="43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Tx/>
                <a:buFontTx/>
                <a:buNone/>
              </a:pPr>
              <a:r>
                <a:rPr lang="en-US" altLang="zh-CN" sz="2800" b="1">
                  <a:latin typeface="Arial" panose="020B0604020202020204" pitchFamily="34" charset="0"/>
                </a:rPr>
                <a:t>7</a:t>
              </a:r>
            </a:p>
          </p:txBody>
        </p:sp>
        <p:sp>
          <p:nvSpPr>
            <p:cNvPr id="15" name="Text Box 15">
              <a:extLst>
                <a:ext uri="{FF2B5EF4-FFF2-40B4-BE49-F238E27FC236}">
                  <a16:creationId xmlns:a16="http://schemas.microsoft.com/office/drawing/2014/main" id="{81977021-3F13-4825-8A78-ADE08B270C0D}"/>
                </a:ext>
              </a:extLst>
            </p:cNvPr>
            <p:cNvSpPr txBox="1">
              <a:spLocks noChangeArrowheads="1"/>
            </p:cNvSpPr>
            <p:nvPr/>
          </p:nvSpPr>
          <p:spPr bwMode="auto">
            <a:xfrm>
              <a:off x="1307" y="2044"/>
              <a:ext cx="43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Tx/>
                <a:buFontTx/>
                <a:buNone/>
              </a:pPr>
              <a:r>
                <a:rPr lang="en-US" altLang="zh-CN" sz="2800" b="1">
                  <a:latin typeface="Arial" panose="020B0604020202020204" pitchFamily="34" charset="0"/>
                </a:rPr>
                <a:t>9</a:t>
              </a:r>
            </a:p>
          </p:txBody>
        </p:sp>
        <p:sp>
          <p:nvSpPr>
            <p:cNvPr id="16" name="Text Box 28">
              <a:extLst>
                <a:ext uri="{FF2B5EF4-FFF2-40B4-BE49-F238E27FC236}">
                  <a16:creationId xmlns:a16="http://schemas.microsoft.com/office/drawing/2014/main" id="{1AC7E639-4843-40F0-AEB7-8F209C55623B}"/>
                </a:ext>
              </a:extLst>
            </p:cNvPr>
            <p:cNvSpPr txBox="1">
              <a:spLocks noChangeArrowheads="1"/>
            </p:cNvSpPr>
            <p:nvPr/>
          </p:nvSpPr>
          <p:spPr bwMode="auto">
            <a:xfrm>
              <a:off x="1248" y="1056"/>
              <a:ext cx="384"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800" b="1" i="1" dirty="0">
                  <a:latin typeface="Arial" panose="020B0604020202020204" pitchFamily="34" charset="0"/>
                </a:rPr>
                <a:t>L</a:t>
              </a:r>
              <a:r>
                <a:rPr lang="en-US" altLang="zh-CN" sz="2800" b="1" i="1" baseline="-25000" dirty="0">
                  <a:latin typeface="Arial" panose="020B0604020202020204" pitchFamily="34" charset="0"/>
                </a:rPr>
                <a:t>A</a:t>
              </a:r>
            </a:p>
          </p:txBody>
        </p:sp>
      </p:grpSp>
      <p:grpSp>
        <p:nvGrpSpPr>
          <p:cNvPr id="17" name="Group 44">
            <a:extLst>
              <a:ext uri="{FF2B5EF4-FFF2-40B4-BE49-F238E27FC236}">
                <a16:creationId xmlns:a16="http://schemas.microsoft.com/office/drawing/2014/main" id="{09695FD6-3895-48C7-9341-5E77B0BB4D66}"/>
              </a:ext>
            </a:extLst>
          </p:cNvPr>
          <p:cNvGrpSpPr>
            <a:grpSpLocks/>
          </p:cNvGrpSpPr>
          <p:nvPr/>
        </p:nvGrpSpPr>
        <p:grpSpPr bwMode="auto">
          <a:xfrm>
            <a:off x="3490911" y="1675471"/>
            <a:ext cx="931863" cy="2700309"/>
            <a:chOff x="2160" y="1064"/>
            <a:chExt cx="587" cy="1151"/>
          </a:xfrm>
        </p:grpSpPr>
        <p:sp>
          <p:nvSpPr>
            <p:cNvPr id="18" name="Line 17">
              <a:extLst>
                <a:ext uri="{FF2B5EF4-FFF2-40B4-BE49-F238E27FC236}">
                  <a16:creationId xmlns:a16="http://schemas.microsoft.com/office/drawing/2014/main" id="{48950500-2F42-45A7-8B47-0DEE59E316BB}"/>
                </a:ext>
              </a:extLst>
            </p:cNvPr>
            <p:cNvSpPr>
              <a:spLocks noChangeShapeType="1"/>
            </p:cNvSpPr>
            <p:nvPr/>
          </p:nvSpPr>
          <p:spPr bwMode="auto">
            <a:xfrm>
              <a:off x="2160" y="1392"/>
              <a:ext cx="0" cy="7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8">
              <a:extLst>
                <a:ext uri="{FF2B5EF4-FFF2-40B4-BE49-F238E27FC236}">
                  <a16:creationId xmlns:a16="http://schemas.microsoft.com/office/drawing/2014/main" id="{4119D621-8FC7-4774-AF92-9ABE199E0F4A}"/>
                </a:ext>
              </a:extLst>
            </p:cNvPr>
            <p:cNvSpPr>
              <a:spLocks noChangeShapeType="1"/>
            </p:cNvSpPr>
            <p:nvPr/>
          </p:nvSpPr>
          <p:spPr bwMode="auto">
            <a:xfrm>
              <a:off x="2688" y="1392"/>
              <a:ext cx="0" cy="7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9">
              <a:extLst>
                <a:ext uri="{FF2B5EF4-FFF2-40B4-BE49-F238E27FC236}">
                  <a16:creationId xmlns:a16="http://schemas.microsoft.com/office/drawing/2014/main" id="{9CAF8E61-FD18-4E7E-85C4-EB8C970A8091}"/>
                </a:ext>
              </a:extLst>
            </p:cNvPr>
            <p:cNvSpPr>
              <a:spLocks noChangeShapeType="1"/>
            </p:cNvSpPr>
            <p:nvPr/>
          </p:nvSpPr>
          <p:spPr bwMode="auto">
            <a:xfrm>
              <a:off x="2160" y="139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0">
              <a:extLst>
                <a:ext uri="{FF2B5EF4-FFF2-40B4-BE49-F238E27FC236}">
                  <a16:creationId xmlns:a16="http://schemas.microsoft.com/office/drawing/2014/main" id="{AA8DDBBA-C479-4118-9844-5532717DB1DC}"/>
                </a:ext>
              </a:extLst>
            </p:cNvPr>
            <p:cNvSpPr>
              <a:spLocks noChangeShapeType="1"/>
            </p:cNvSpPr>
            <p:nvPr/>
          </p:nvSpPr>
          <p:spPr bwMode="auto">
            <a:xfrm>
              <a:off x="2160" y="163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1">
              <a:extLst>
                <a:ext uri="{FF2B5EF4-FFF2-40B4-BE49-F238E27FC236}">
                  <a16:creationId xmlns:a16="http://schemas.microsoft.com/office/drawing/2014/main" id="{FA3009A3-7C16-4875-9E4D-D8445F9EC1DF}"/>
                </a:ext>
              </a:extLst>
            </p:cNvPr>
            <p:cNvSpPr>
              <a:spLocks noChangeShapeType="1"/>
            </p:cNvSpPr>
            <p:nvPr/>
          </p:nvSpPr>
          <p:spPr bwMode="auto">
            <a:xfrm>
              <a:off x="2160" y="187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2">
              <a:extLst>
                <a:ext uri="{FF2B5EF4-FFF2-40B4-BE49-F238E27FC236}">
                  <a16:creationId xmlns:a16="http://schemas.microsoft.com/office/drawing/2014/main" id="{2DA91E03-FCD3-4B12-B4C1-F9E325AADCDF}"/>
                </a:ext>
              </a:extLst>
            </p:cNvPr>
            <p:cNvSpPr>
              <a:spLocks noChangeShapeType="1"/>
            </p:cNvSpPr>
            <p:nvPr/>
          </p:nvSpPr>
          <p:spPr bwMode="auto">
            <a:xfrm>
              <a:off x="2160" y="211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 Box 24">
              <a:extLst>
                <a:ext uri="{FF2B5EF4-FFF2-40B4-BE49-F238E27FC236}">
                  <a16:creationId xmlns:a16="http://schemas.microsoft.com/office/drawing/2014/main" id="{7002AD48-083F-4256-8AFC-9A309DE6C251}"/>
                </a:ext>
              </a:extLst>
            </p:cNvPr>
            <p:cNvSpPr txBox="1">
              <a:spLocks noChangeArrowheads="1"/>
            </p:cNvSpPr>
            <p:nvPr/>
          </p:nvSpPr>
          <p:spPr bwMode="auto">
            <a:xfrm>
              <a:off x="2315" y="1396"/>
              <a:ext cx="43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800" b="1" dirty="0">
                  <a:latin typeface="Arial" panose="020B0604020202020204" pitchFamily="34" charset="0"/>
                </a:rPr>
                <a:t>5</a:t>
              </a:r>
            </a:p>
          </p:txBody>
        </p:sp>
        <p:sp>
          <p:nvSpPr>
            <p:cNvPr id="25" name="Text Box 25">
              <a:extLst>
                <a:ext uri="{FF2B5EF4-FFF2-40B4-BE49-F238E27FC236}">
                  <a16:creationId xmlns:a16="http://schemas.microsoft.com/office/drawing/2014/main" id="{47BB8C41-313F-4FE1-B1CD-305BE3FA738F}"/>
                </a:ext>
              </a:extLst>
            </p:cNvPr>
            <p:cNvSpPr txBox="1">
              <a:spLocks noChangeArrowheads="1"/>
            </p:cNvSpPr>
            <p:nvPr/>
          </p:nvSpPr>
          <p:spPr bwMode="auto">
            <a:xfrm>
              <a:off x="2304" y="1649"/>
              <a:ext cx="43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800" b="1">
                  <a:latin typeface="Arial" panose="020B0604020202020204" pitchFamily="34" charset="0"/>
                </a:rPr>
                <a:t>7</a:t>
              </a:r>
            </a:p>
          </p:txBody>
        </p:sp>
        <p:sp>
          <p:nvSpPr>
            <p:cNvPr id="26" name="Text Box 26">
              <a:extLst>
                <a:ext uri="{FF2B5EF4-FFF2-40B4-BE49-F238E27FC236}">
                  <a16:creationId xmlns:a16="http://schemas.microsoft.com/office/drawing/2014/main" id="{8A1B715F-F9A0-4A47-871E-0C4DC31D0F3B}"/>
                </a:ext>
              </a:extLst>
            </p:cNvPr>
            <p:cNvSpPr txBox="1">
              <a:spLocks noChangeArrowheads="1"/>
            </p:cNvSpPr>
            <p:nvPr/>
          </p:nvSpPr>
          <p:spPr bwMode="auto">
            <a:xfrm>
              <a:off x="2256" y="1885"/>
              <a:ext cx="43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800" b="1" dirty="0">
                  <a:latin typeface="Arial" panose="020B0604020202020204" pitchFamily="34" charset="0"/>
                </a:rPr>
                <a:t>10</a:t>
              </a:r>
            </a:p>
          </p:txBody>
        </p:sp>
        <p:sp>
          <p:nvSpPr>
            <p:cNvPr id="27" name="Text Box 29">
              <a:extLst>
                <a:ext uri="{FF2B5EF4-FFF2-40B4-BE49-F238E27FC236}">
                  <a16:creationId xmlns:a16="http://schemas.microsoft.com/office/drawing/2014/main" id="{8126F078-6E2D-4B3F-BF87-B1C3A753CD6A}"/>
                </a:ext>
              </a:extLst>
            </p:cNvPr>
            <p:cNvSpPr txBox="1">
              <a:spLocks noChangeArrowheads="1"/>
            </p:cNvSpPr>
            <p:nvPr/>
          </p:nvSpPr>
          <p:spPr bwMode="auto">
            <a:xfrm>
              <a:off x="2256" y="1064"/>
              <a:ext cx="38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800" b="1" i="1" dirty="0">
                  <a:latin typeface="Arial" panose="020B0604020202020204" pitchFamily="34" charset="0"/>
                </a:rPr>
                <a:t>L</a:t>
              </a:r>
              <a:r>
                <a:rPr lang="en-US" altLang="zh-CN" sz="2800" b="1" i="1" baseline="-25000" dirty="0">
                  <a:latin typeface="Arial" panose="020B0604020202020204" pitchFamily="34" charset="0"/>
                </a:rPr>
                <a:t>B</a:t>
              </a:r>
            </a:p>
          </p:txBody>
        </p:sp>
      </p:grpSp>
      <p:sp>
        <p:nvSpPr>
          <p:cNvPr id="28" name="Line 30">
            <a:extLst>
              <a:ext uri="{FF2B5EF4-FFF2-40B4-BE49-F238E27FC236}">
                <a16:creationId xmlns:a16="http://schemas.microsoft.com/office/drawing/2014/main" id="{A0F6CCEA-7C2D-402B-A933-E1DD6D925C0B}"/>
              </a:ext>
            </a:extLst>
          </p:cNvPr>
          <p:cNvSpPr>
            <a:spLocks noChangeShapeType="1"/>
          </p:cNvSpPr>
          <p:nvPr/>
        </p:nvSpPr>
        <p:spPr bwMode="auto">
          <a:xfrm flipH="1">
            <a:off x="4343400" y="2719418"/>
            <a:ext cx="38100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31">
            <a:extLst>
              <a:ext uri="{FF2B5EF4-FFF2-40B4-BE49-F238E27FC236}">
                <a16:creationId xmlns:a16="http://schemas.microsoft.com/office/drawing/2014/main" id="{46F80C5A-2F5C-4D29-9378-64F706C1CA77}"/>
              </a:ext>
            </a:extLst>
          </p:cNvPr>
          <p:cNvSpPr>
            <a:spLocks noChangeShapeType="1"/>
          </p:cNvSpPr>
          <p:nvPr/>
        </p:nvSpPr>
        <p:spPr bwMode="auto">
          <a:xfrm flipH="1">
            <a:off x="4355690" y="3283471"/>
            <a:ext cx="38100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32">
            <a:extLst>
              <a:ext uri="{FF2B5EF4-FFF2-40B4-BE49-F238E27FC236}">
                <a16:creationId xmlns:a16="http://schemas.microsoft.com/office/drawing/2014/main" id="{37DD03B4-FD53-4DA2-BF09-E2AACB291D89}"/>
              </a:ext>
            </a:extLst>
          </p:cNvPr>
          <p:cNvSpPr>
            <a:spLocks noChangeShapeType="1"/>
          </p:cNvSpPr>
          <p:nvPr/>
        </p:nvSpPr>
        <p:spPr bwMode="auto">
          <a:xfrm flipH="1">
            <a:off x="4355690" y="3839814"/>
            <a:ext cx="38100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nvGrpSpPr>
          <p:cNvPr id="40" name="组合 39">
            <a:extLst>
              <a:ext uri="{FF2B5EF4-FFF2-40B4-BE49-F238E27FC236}">
                <a16:creationId xmlns:a16="http://schemas.microsoft.com/office/drawing/2014/main" id="{3F958166-5EF2-4498-A6CB-3DA0D1DCCC36}"/>
              </a:ext>
            </a:extLst>
          </p:cNvPr>
          <p:cNvGrpSpPr/>
          <p:nvPr/>
        </p:nvGrpSpPr>
        <p:grpSpPr>
          <a:xfrm>
            <a:off x="1829056" y="4653136"/>
            <a:ext cx="914400" cy="682355"/>
            <a:chOff x="1829056" y="4653136"/>
            <a:chExt cx="914400" cy="682355"/>
          </a:xfrm>
        </p:grpSpPr>
        <p:sp>
          <p:nvSpPr>
            <p:cNvPr id="32" name="Rectangle 16">
              <a:extLst>
                <a:ext uri="{FF2B5EF4-FFF2-40B4-BE49-F238E27FC236}">
                  <a16:creationId xmlns:a16="http://schemas.microsoft.com/office/drawing/2014/main" id="{D593C2DC-2FC5-43FD-8481-70A778B7DDF0}"/>
                </a:ext>
              </a:extLst>
            </p:cNvPr>
            <p:cNvSpPr>
              <a:spLocks noChangeArrowheads="1"/>
            </p:cNvSpPr>
            <p:nvPr/>
          </p:nvSpPr>
          <p:spPr bwMode="auto">
            <a:xfrm>
              <a:off x="1829056" y="4728789"/>
              <a:ext cx="838200" cy="60670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Tx/>
                <a:buFontTx/>
                <a:buNone/>
              </a:pPr>
              <a:endParaRPr lang="zh-CN" altLang="en-US" sz="2800" b="1">
                <a:latin typeface="Arial" panose="020B0604020202020204" pitchFamily="34" charset="0"/>
              </a:endParaRPr>
            </a:p>
          </p:txBody>
        </p:sp>
        <p:sp>
          <p:nvSpPr>
            <p:cNvPr id="33" name="Text Box 33">
              <a:extLst>
                <a:ext uri="{FF2B5EF4-FFF2-40B4-BE49-F238E27FC236}">
                  <a16:creationId xmlns:a16="http://schemas.microsoft.com/office/drawing/2014/main" id="{B2B2A581-0FFE-4DB5-BD13-0B4944A0B6F3}"/>
                </a:ext>
              </a:extLst>
            </p:cNvPr>
            <p:cNvSpPr txBox="1">
              <a:spLocks noChangeArrowheads="1"/>
            </p:cNvSpPr>
            <p:nvPr/>
          </p:nvSpPr>
          <p:spPr bwMode="auto">
            <a:xfrm>
              <a:off x="2057656" y="4653136"/>
              <a:ext cx="685800" cy="65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Tx/>
                <a:buFontTx/>
                <a:buNone/>
              </a:pPr>
              <a:r>
                <a:rPr lang="en-US" altLang="zh-CN" sz="2800" b="1" dirty="0">
                  <a:latin typeface="Arial" panose="020B0604020202020204" pitchFamily="34" charset="0"/>
                </a:rPr>
                <a:t>5</a:t>
              </a:r>
            </a:p>
          </p:txBody>
        </p:sp>
      </p:grpSp>
      <p:sp>
        <p:nvSpPr>
          <p:cNvPr id="34" name="Text Box 38">
            <a:extLst>
              <a:ext uri="{FF2B5EF4-FFF2-40B4-BE49-F238E27FC236}">
                <a16:creationId xmlns:a16="http://schemas.microsoft.com/office/drawing/2014/main" id="{F0840C18-1F1B-4ABB-9BBE-3A0363BEDB2B}"/>
              </a:ext>
            </a:extLst>
          </p:cNvPr>
          <p:cNvSpPr txBox="1">
            <a:spLocks noChangeArrowheads="1"/>
          </p:cNvSpPr>
          <p:nvPr/>
        </p:nvSpPr>
        <p:spPr bwMode="auto">
          <a:xfrm>
            <a:off x="4938712" y="2457808"/>
            <a:ext cx="3952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None/>
            </a:pPr>
            <a:r>
              <a:rPr lang="zh-CN" altLang="en-US" sz="2800" dirty="0">
                <a:solidFill>
                  <a:srgbClr val="663300"/>
                </a:solidFill>
                <a:latin typeface="Arial" panose="020B0604020202020204" pitchFamily="34" charset="0"/>
              </a:rPr>
              <a:t>在</a:t>
            </a:r>
            <a:r>
              <a:rPr lang="en-US" altLang="zh-CN" sz="2800" b="1" i="1" dirty="0">
                <a:latin typeface="Arial" panose="020B0604020202020204" pitchFamily="34" charset="0"/>
              </a:rPr>
              <a:t>L</a:t>
            </a:r>
            <a:r>
              <a:rPr lang="en-US" altLang="zh-CN" sz="2800" b="1" i="1" baseline="-25000" dirty="0">
                <a:latin typeface="Arial" panose="020B0604020202020204" pitchFamily="34" charset="0"/>
              </a:rPr>
              <a:t>A</a:t>
            </a:r>
            <a:r>
              <a:rPr lang="zh-CN" altLang="en-US" sz="2800" dirty="0">
                <a:solidFill>
                  <a:srgbClr val="663300"/>
                </a:solidFill>
                <a:latin typeface="Arial" panose="020B0604020202020204" pitchFamily="34" charset="0"/>
              </a:rPr>
              <a:t>中查找，</a:t>
            </a:r>
            <a:r>
              <a:rPr lang="zh-CN" altLang="en-US" sz="2800" dirty="0">
                <a:solidFill>
                  <a:srgbClr val="FF0000"/>
                </a:solidFill>
                <a:latin typeface="Arial" panose="020B0604020202020204" pitchFamily="34" charset="0"/>
              </a:rPr>
              <a:t>未找到</a:t>
            </a:r>
          </a:p>
        </p:txBody>
      </p:sp>
      <p:sp>
        <p:nvSpPr>
          <p:cNvPr id="35" name="Text Box 39">
            <a:extLst>
              <a:ext uri="{FF2B5EF4-FFF2-40B4-BE49-F238E27FC236}">
                <a16:creationId xmlns:a16="http://schemas.microsoft.com/office/drawing/2014/main" id="{F49E74E9-3BD3-4C48-964D-275B4F7D9FBE}"/>
              </a:ext>
            </a:extLst>
          </p:cNvPr>
          <p:cNvSpPr txBox="1">
            <a:spLocks noChangeArrowheads="1"/>
          </p:cNvSpPr>
          <p:nvPr/>
        </p:nvSpPr>
        <p:spPr bwMode="auto">
          <a:xfrm>
            <a:off x="4938711" y="3047863"/>
            <a:ext cx="36640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None/>
            </a:pPr>
            <a:r>
              <a:rPr lang="zh-CN" altLang="en-US" sz="2800" dirty="0">
                <a:solidFill>
                  <a:srgbClr val="663300"/>
                </a:solidFill>
                <a:latin typeface="Arial" panose="020B0604020202020204" pitchFamily="34" charset="0"/>
              </a:rPr>
              <a:t>在</a:t>
            </a:r>
            <a:r>
              <a:rPr lang="en-US" altLang="zh-CN" sz="2800" b="1" i="1" dirty="0">
                <a:latin typeface="Arial" panose="020B0604020202020204" pitchFamily="34" charset="0"/>
              </a:rPr>
              <a:t>L</a:t>
            </a:r>
            <a:r>
              <a:rPr lang="en-US" altLang="zh-CN" sz="2800" b="1" i="1" baseline="-25000" dirty="0">
                <a:latin typeface="Arial" panose="020B0604020202020204" pitchFamily="34" charset="0"/>
              </a:rPr>
              <a:t>A</a:t>
            </a:r>
            <a:r>
              <a:rPr lang="zh-CN" altLang="en-US" sz="2800" dirty="0">
                <a:solidFill>
                  <a:srgbClr val="663300"/>
                </a:solidFill>
                <a:latin typeface="Arial" panose="020B0604020202020204" pitchFamily="34" charset="0"/>
              </a:rPr>
              <a:t>中查找，</a:t>
            </a:r>
            <a:r>
              <a:rPr lang="zh-CN" altLang="en-US" sz="2800" dirty="0">
                <a:solidFill>
                  <a:srgbClr val="FF0000"/>
                </a:solidFill>
                <a:latin typeface="Arial" panose="020B0604020202020204" pitchFamily="34" charset="0"/>
              </a:rPr>
              <a:t>找到</a:t>
            </a:r>
          </a:p>
        </p:txBody>
      </p:sp>
      <p:sp>
        <p:nvSpPr>
          <p:cNvPr id="36" name="Text Box 40">
            <a:extLst>
              <a:ext uri="{FF2B5EF4-FFF2-40B4-BE49-F238E27FC236}">
                <a16:creationId xmlns:a16="http://schemas.microsoft.com/office/drawing/2014/main" id="{8D5B0ABF-E847-4C5B-9076-C74D2623BCA7}"/>
              </a:ext>
            </a:extLst>
          </p:cNvPr>
          <p:cNvSpPr txBox="1">
            <a:spLocks noChangeArrowheads="1"/>
          </p:cNvSpPr>
          <p:nvPr/>
        </p:nvSpPr>
        <p:spPr bwMode="auto">
          <a:xfrm>
            <a:off x="4938712" y="3621972"/>
            <a:ext cx="35920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None/>
            </a:pPr>
            <a:r>
              <a:rPr lang="zh-CN" altLang="en-US" sz="2800" dirty="0">
                <a:solidFill>
                  <a:srgbClr val="663300"/>
                </a:solidFill>
                <a:latin typeface="Arial" panose="020B0604020202020204" pitchFamily="34" charset="0"/>
              </a:rPr>
              <a:t>在</a:t>
            </a:r>
            <a:r>
              <a:rPr lang="en-US" altLang="zh-CN" sz="2800" b="1" i="1" dirty="0">
                <a:latin typeface="Arial" panose="020B0604020202020204" pitchFamily="34" charset="0"/>
              </a:rPr>
              <a:t>L</a:t>
            </a:r>
            <a:r>
              <a:rPr lang="en-US" altLang="zh-CN" sz="2800" b="1" i="1" baseline="-25000" dirty="0">
                <a:latin typeface="Arial" panose="020B0604020202020204" pitchFamily="34" charset="0"/>
              </a:rPr>
              <a:t>A</a:t>
            </a:r>
            <a:r>
              <a:rPr lang="zh-CN" altLang="en-US" sz="2800" dirty="0">
                <a:solidFill>
                  <a:srgbClr val="663300"/>
                </a:solidFill>
                <a:latin typeface="Arial" panose="020B0604020202020204" pitchFamily="34" charset="0"/>
              </a:rPr>
              <a:t>中查找，</a:t>
            </a:r>
            <a:r>
              <a:rPr lang="zh-CN" altLang="en-US" sz="2800" dirty="0">
                <a:solidFill>
                  <a:srgbClr val="FF0000"/>
                </a:solidFill>
                <a:latin typeface="Arial" panose="020B0604020202020204" pitchFamily="34" charset="0"/>
              </a:rPr>
              <a:t>未找到</a:t>
            </a:r>
          </a:p>
        </p:txBody>
      </p:sp>
      <p:grpSp>
        <p:nvGrpSpPr>
          <p:cNvPr id="41" name="组合 40">
            <a:extLst>
              <a:ext uri="{FF2B5EF4-FFF2-40B4-BE49-F238E27FC236}">
                <a16:creationId xmlns:a16="http://schemas.microsoft.com/office/drawing/2014/main" id="{64A60BB6-ECF1-4AA4-B2CB-FE478A6A54EB}"/>
              </a:ext>
            </a:extLst>
          </p:cNvPr>
          <p:cNvGrpSpPr/>
          <p:nvPr/>
        </p:nvGrpSpPr>
        <p:grpSpPr>
          <a:xfrm>
            <a:off x="1828800" y="5301208"/>
            <a:ext cx="838200" cy="659407"/>
            <a:chOff x="1828800" y="5301208"/>
            <a:chExt cx="838200" cy="659407"/>
          </a:xfrm>
        </p:grpSpPr>
        <p:sp>
          <p:nvSpPr>
            <p:cNvPr id="38" name="Text Box 35">
              <a:extLst>
                <a:ext uri="{FF2B5EF4-FFF2-40B4-BE49-F238E27FC236}">
                  <a16:creationId xmlns:a16="http://schemas.microsoft.com/office/drawing/2014/main" id="{4D150D84-EF45-46E3-A207-51A843B97E11}"/>
                </a:ext>
              </a:extLst>
            </p:cNvPr>
            <p:cNvSpPr txBox="1">
              <a:spLocks noChangeArrowheads="1"/>
            </p:cNvSpPr>
            <p:nvPr/>
          </p:nvSpPr>
          <p:spPr bwMode="auto">
            <a:xfrm>
              <a:off x="1981200" y="5301208"/>
              <a:ext cx="685800" cy="65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Tx/>
                <a:buFontTx/>
                <a:buNone/>
              </a:pPr>
              <a:r>
                <a:rPr lang="en-US" altLang="zh-CN" sz="2800" b="1" dirty="0">
                  <a:latin typeface="Arial" panose="020B0604020202020204" pitchFamily="34" charset="0"/>
                </a:rPr>
                <a:t>10</a:t>
              </a:r>
            </a:p>
          </p:txBody>
        </p:sp>
        <p:sp>
          <p:nvSpPr>
            <p:cNvPr id="39" name="Rectangle 41">
              <a:extLst>
                <a:ext uri="{FF2B5EF4-FFF2-40B4-BE49-F238E27FC236}">
                  <a16:creationId xmlns:a16="http://schemas.microsoft.com/office/drawing/2014/main" id="{94710F00-C235-40C2-8314-1F3B21B129F2}"/>
                </a:ext>
              </a:extLst>
            </p:cNvPr>
            <p:cNvSpPr>
              <a:spLocks noChangeArrowheads="1"/>
            </p:cNvSpPr>
            <p:nvPr/>
          </p:nvSpPr>
          <p:spPr bwMode="auto">
            <a:xfrm>
              <a:off x="1828800" y="5336243"/>
              <a:ext cx="838200" cy="609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Tx/>
                <a:buFontTx/>
                <a:buNone/>
              </a:pPr>
              <a:endParaRPr lang="zh-CN" altLang="en-US" sz="2800" b="1">
                <a:latin typeface="Arial" panose="020B0604020202020204" pitchFamily="34" charset="0"/>
              </a:endParaRPr>
            </a:p>
          </p:txBody>
        </p:sp>
      </p:grpSp>
    </p:spTree>
    <p:extLst>
      <p:ext uri="{BB962C8B-B14F-4D97-AF65-F5344CB8AC3E}">
        <p14:creationId xmlns:p14="http://schemas.microsoft.com/office/powerpoint/2010/main" val="201011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36"/>
                                        </p:tgtEl>
                                        <p:attrNameLst>
                                          <p:attrName>style.visibility</p:attrName>
                                        </p:attrNameLst>
                                      </p:cBhvr>
                                      <p:to>
                                        <p:strVal val="visible"/>
                                      </p:to>
                                    </p:se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fill="hold"/>
                                        <p:tgtEl>
                                          <p:spTgt spid="41"/>
                                        </p:tgtEl>
                                        <p:attrNameLst>
                                          <p:attrName>ppt_x</p:attrName>
                                        </p:attrNameLst>
                                      </p:cBhvr>
                                      <p:tavLst>
                                        <p:tav tm="0">
                                          <p:val>
                                            <p:strVal val="#ppt_x"/>
                                          </p:val>
                                        </p:tav>
                                        <p:tav tm="100000">
                                          <p:val>
                                            <p:strVal val="#ppt_x"/>
                                          </p:val>
                                        </p:tav>
                                      </p:tavLst>
                                    </p:anim>
                                    <p:anim calcmode="lin" valueType="num">
                                      <p:cBhvr additive="base">
                                        <p:cTn id="3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P spid="35" grpId="0" autoUpdateAnimBg="0"/>
      <p:bldP spid="3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5B6533-980F-4188-AC8F-ABD64C11FEA1}"/>
              </a:ext>
            </a:extLst>
          </p:cNvPr>
          <p:cNvSpPr>
            <a:spLocks noGrp="1"/>
          </p:cNvSpPr>
          <p:nvPr>
            <p:ph type="title"/>
          </p:nvPr>
        </p:nvSpPr>
        <p:spPr/>
        <p:txBody>
          <a:bodyPr/>
          <a:lstStyle/>
          <a:p>
            <a:r>
              <a:rPr lang="zh-CN" altLang="en-US" dirty="0"/>
              <a:t>例</a:t>
            </a:r>
            <a:r>
              <a:rPr lang="en-US" altLang="zh-CN" dirty="0"/>
              <a:t>2-1 </a:t>
            </a:r>
            <a:r>
              <a:rPr lang="zh-CN" altLang="en-US" dirty="0"/>
              <a:t>集合的并运算</a:t>
            </a:r>
          </a:p>
        </p:txBody>
      </p:sp>
      <p:sp>
        <p:nvSpPr>
          <p:cNvPr id="3" name="Text Box 2">
            <a:extLst>
              <a:ext uri="{FF2B5EF4-FFF2-40B4-BE49-F238E27FC236}">
                <a16:creationId xmlns:a16="http://schemas.microsoft.com/office/drawing/2014/main" id="{A9AB5564-9F61-4734-B02A-3BB2F7AAF3C4}"/>
              </a:ext>
            </a:extLst>
          </p:cNvPr>
          <p:cNvSpPr txBox="1">
            <a:spLocks noChangeArrowheads="1"/>
          </p:cNvSpPr>
          <p:nvPr/>
        </p:nvSpPr>
        <p:spPr bwMode="auto">
          <a:xfrm>
            <a:off x="376808" y="1823358"/>
            <a:ext cx="74671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dirty="0">
                <a:latin typeface="华文新魏" panose="02010800040101010101" pitchFamily="2" charset="-122"/>
                <a:ea typeface="华文新魏" panose="02010800040101010101" pitchFamily="2" charset="-122"/>
              </a:rPr>
              <a:t>1</a:t>
            </a:r>
            <a:r>
              <a:rPr lang="zh-CN" altLang="en-US" dirty="0">
                <a:latin typeface="华文新魏" panose="02010800040101010101" pitchFamily="2" charset="-122"/>
                <a:ea typeface="华文新魏" panose="02010800040101010101" pitchFamily="2" charset="-122"/>
              </a:rPr>
              <a:t>．在线性表</a:t>
            </a:r>
            <a:r>
              <a:rPr lang="en-US" altLang="zh-CN" i="1" dirty="0">
                <a:latin typeface="华文新魏" panose="02010800040101010101" pitchFamily="2" charset="-122"/>
                <a:ea typeface="华文新魏" panose="02010800040101010101" pitchFamily="2" charset="-122"/>
              </a:rPr>
              <a:t>L</a:t>
            </a:r>
            <a:r>
              <a:rPr lang="en-US" altLang="zh-CN" i="1" baseline="-25000" dirty="0">
                <a:latin typeface="华文新魏" panose="02010800040101010101" pitchFamily="2" charset="-122"/>
                <a:ea typeface="华文新魏" panose="02010800040101010101" pitchFamily="2" charset="-122"/>
              </a:rPr>
              <a:t>B</a:t>
            </a:r>
            <a:r>
              <a:rPr lang="zh-CN" altLang="en-US" dirty="0">
                <a:latin typeface="华文新魏" panose="02010800040101010101" pitchFamily="2" charset="-122"/>
                <a:ea typeface="华文新魏" panose="02010800040101010101" pitchFamily="2" charset="-122"/>
              </a:rPr>
              <a:t>中依次察看每个数据元素</a:t>
            </a:r>
            <a:r>
              <a:rPr lang="en-US" altLang="zh-CN" dirty="0">
                <a:latin typeface="华文新魏" panose="02010800040101010101" pitchFamily="2" charset="-122"/>
                <a:ea typeface="华文新魏" panose="02010800040101010101" pitchFamily="2" charset="-122"/>
              </a:rPr>
              <a:t>;</a:t>
            </a:r>
          </a:p>
        </p:txBody>
      </p:sp>
      <p:sp>
        <p:nvSpPr>
          <p:cNvPr id="4" name="Text Box 3">
            <a:extLst>
              <a:ext uri="{FF2B5EF4-FFF2-40B4-BE49-F238E27FC236}">
                <a16:creationId xmlns:a16="http://schemas.microsoft.com/office/drawing/2014/main" id="{E92883E6-6D23-4DDC-8118-9AB480859F4C}"/>
              </a:ext>
            </a:extLst>
          </p:cNvPr>
          <p:cNvSpPr txBox="1">
            <a:spLocks noChangeArrowheads="1"/>
          </p:cNvSpPr>
          <p:nvPr/>
        </p:nvSpPr>
        <p:spPr bwMode="auto">
          <a:xfrm>
            <a:off x="376808" y="3382858"/>
            <a:ext cx="60789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．依值在线性表</a:t>
            </a:r>
            <a:r>
              <a:rPr lang="en-US" altLang="zh-CN" dirty="0">
                <a:latin typeface="华文新魏" panose="02010800040101010101" pitchFamily="2" charset="-122"/>
                <a:ea typeface="华文新魏" panose="02010800040101010101" pitchFamily="2" charset="-122"/>
              </a:rPr>
              <a:t>L</a:t>
            </a:r>
            <a:r>
              <a:rPr lang="en-US" altLang="zh-CN" baseline="-25000" dirty="0">
                <a:latin typeface="华文新魏" panose="02010800040101010101" pitchFamily="2" charset="-122"/>
                <a:ea typeface="华文新魏" panose="02010800040101010101" pitchFamily="2" charset="-122"/>
              </a:rPr>
              <a:t>A</a:t>
            </a:r>
            <a:r>
              <a:rPr lang="zh-CN" altLang="en-US" dirty="0">
                <a:latin typeface="华文新魏" panose="02010800040101010101" pitchFamily="2" charset="-122"/>
                <a:ea typeface="华文新魏" panose="02010800040101010101" pitchFamily="2" charset="-122"/>
              </a:rPr>
              <a:t>中进行查访</a:t>
            </a:r>
            <a:r>
              <a:rPr lang="en-US" altLang="zh-CN" dirty="0">
                <a:latin typeface="华文新魏" panose="02010800040101010101" pitchFamily="2" charset="-122"/>
                <a:ea typeface="华文新魏" panose="02010800040101010101" pitchFamily="2" charset="-122"/>
              </a:rPr>
              <a:t>; </a:t>
            </a:r>
          </a:p>
        </p:txBody>
      </p:sp>
      <p:sp>
        <p:nvSpPr>
          <p:cNvPr id="5" name="Text Box 4">
            <a:extLst>
              <a:ext uri="{FF2B5EF4-FFF2-40B4-BE49-F238E27FC236}">
                <a16:creationId xmlns:a16="http://schemas.microsoft.com/office/drawing/2014/main" id="{611E88CB-4889-4EF9-94CE-98A41BE6C8E2}"/>
              </a:ext>
            </a:extLst>
          </p:cNvPr>
          <p:cNvSpPr txBox="1">
            <a:spLocks noChangeArrowheads="1"/>
          </p:cNvSpPr>
          <p:nvPr/>
        </p:nvSpPr>
        <p:spPr bwMode="auto">
          <a:xfrm>
            <a:off x="376808" y="5091008"/>
            <a:ext cx="49055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a:latin typeface="华文新魏" panose="02010800040101010101" pitchFamily="2" charset="-122"/>
                <a:ea typeface="华文新魏" panose="02010800040101010101" pitchFamily="2" charset="-122"/>
              </a:rPr>
              <a:t>3</a:t>
            </a:r>
            <a:r>
              <a:rPr lang="zh-CN" altLang="en-US">
                <a:latin typeface="华文新魏" panose="02010800040101010101" pitchFamily="2" charset="-122"/>
                <a:ea typeface="华文新魏" panose="02010800040101010101" pitchFamily="2" charset="-122"/>
              </a:rPr>
              <a:t>．若不存在，则插入之。</a:t>
            </a:r>
            <a:endParaRPr lang="zh-CN" altLang="en-US" sz="2000">
              <a:latin typeface="华文新魏" panose="02010800040101010101" pitchFamily="2" charset="-122"/>
              <a:ea typeface="华文新魏" panose="02010800040101010101" pitchFamily="2" charset="-122"/>
            </a:endParaRPr>
          </a:p>
        </p:txBody>
      </p:sp>
      <p:sp>
        <p:nvSpPr>
          <p:cNvPr id="6" name="Text Box 5">
            <a:extLst>
              <a:ext uri="{FF2B5EF4-FFF2-40B4-BE49-F238E27FC236}">
                <a16:creationId xmlns:a16="http://schemas.microsoft.com/office/drawing/2014/main" id="{F533BE2B-BAB9-4AA3-A9E4-94F8AC71C461}"/>
              </a:ext>
            </a:extLst>
          </p:cNvPr>
          <p:cNvSpPr txBox="1">
            <a:spLocks noChangeArrowheads="1"/>
          </p:cNvSpPr>
          <p:nvPr/>
        </p:nvSpPr>
        <p:spPr bwMode="auto">
          <a:xfrm>
            <a:off x="1561083" y="2408133"/>
            <a:ext cx="34724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dirty="0" err="1">
                <a:solidFill>
                  <a:srgbClr val="0000FF"/>
                </a:solidFill>
                <a:latin typeface="华文新魏" panose="02010800040101010101" pitchFamily="2" charset="-122"/>
                <a:ea typeface="华文新魏" panose="02010800040101010101" pitchFamily="2" charset="-122"/>
              </a:rPr>
              <a:t>GetElem</a:t>
            </a:r>
            <a:r>
              <a:rPr lang="en-US" altLang="zh-CN" dirty="0">
                <a:solidFill>
                  <a:srgbClr val="0000FF"/>
                </a:solidFill>
                <a:latin typeface="华文新魏" panose="02010800040101010101" pitchFamily="2" charset="-122"/>
                <a:ea typeface="华文新魏" panose="02010800040101010101" pitchFamily="2" charset="-122"/>
              </a:rPr>
              <a:t>(</a:t>
            </a:r>
            <a:r>
              <a:rPr lang="en-US" altLang="zh-CN" i="1" dirty="0">
                <a:solidFill>
                  <a:srgbClr val="0000FF"/>
                </a:solidFill>
                <a:latin typeface="华文新魏" panose="02010800040101010101" pitchFamily="2" charset="-122"/>
                <a:ea typeface="华文新魏" panose="02010800040101010101" pitchFamily="2" charset="-122"/>
              </a:rPr>
              <a:t>L</a:t>
            </a:r>
            <a:r>
              <a:rPr lang="en-US" altLang="zh-CN" i="1" baseline="-25000" dirty="0">
                <a:solidFill>
                  <a:srgbClr val="0000FF"/>
                </a:solidFill>
                <a:latin typeface="华文新魏" panose="02010800040101010101" pitchFamily="2" charset="-122"/>
                <a:ea typeface="华文新魏" panose="02010800040101010101" pitchFamily="2" charset="-122"/>
              </a:rPr>
              <a:t>B</a:t>
            </a:r>
            <a:r>
              <a:rPr lang="en-US" altLang="zh-CN" dirty="0">
                <a:solidFill>
                  <a:srgbClr val="0000FF"/>
                </a:solidFill>
                <a:latin typeface="华文新魏" panose="02010800040101010101" pitchFamily="2" charset="-122"/>
                <a:ea typeface="华文新魏" panose="02010800040101010101" pitchFamily="2" charset="-122"/>
              </a:rPr>
              <a:t>, </a:t>
            </a:r>
            <a:r>
              <a:rPr lang="en-US" altLang="zh-CN" dirty="0" err="1">
                <a:solidFill>
                  <a:srgbClr val="0000FF"/>
                </a:solidFill>
                <a:latin typeface="华文新魏" panose="02010800040101010101" pitchFamily="2" charset="-122"/>
                <a:ea typeface="华文新魏" panose="02010800040101010101" pitchFamily="2" charset="-122"/>
              </a:rPr>
              <a:t>i</a:t>
            </a:r>
            <a:r>
              <a:rPr lang="en-US" altLang="zh-CN" dirty="0">
                <a:solidFill>
                  <a:srgbClr val="0000FF"/>
                </a:solidFill>
                <a:latin typeface="华文新魏" panose="02010800040101010101" pitchFamily="2" charset="-122"/>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 </a:t>
            </a:r>
            <a:r>
              <a:rPr lang="en-US" altLang="zh-CN" dirty="0">
                <a:solidFill>
                  <a:srgbClr val="0000FF"/>
                </a:solidFill>
                <a:latin typeface="华文新魏" panose="02010800040101010101" pitchFamily="2" charset="-122"/>
                <a:ea typeface="华文新魏" panose="02010800040101010101" pitchFamily="2" charset="-122"/>
              </a:rPr>
              <a:t>&amp;e</a:t>
            </a:r>
            <a:r>
              <a:rPr lang="zh-CN" altLang="en-US" dirty="0">
                <a:solidFill>
                  <a:srgbClr val="0000FF"/>
                </a:solidFill>
                <a:latin typeface="华文新魏" panose="02010800040101010101" pitchFamily="2" charset="-122"/>
                <a:ea typeface="华文新魏" panose="02010800040101010101" pitchFamily="2" charset="-122"/>
              </a:rPr>
              <a:t> </a:t>
            </a:r>
            <a:r>
              <a:rPr lang="en-US" altLang="zh-CN" dirty="0">
                <a:solidFill>
                  <a:srgbClr val="0000FF"/>
                </a:solidFill>
                <a:latin typeface="华文新魏" panose="02010800040101010101" pitchFamily="2" charset="-122"/>
                <a:ea typeface="华文新魏" panose="02010800040101010101" pitchFamily="2" charset="-122"/>
              </a:rPr>
              <a:t>)</a:t>
            </a:r>
            <a:endParaRPr lang="en-US" altLang="zh-CN" sz="2000" dirty="0">
              <a:solidFill>
                <a:srgbClr val="0000FF"/>
              </a:solidFill>
              <a:latin typeface="华文新魏" panose="02010800040101010101" pitchFamily="2" charset="-122"/>
              <a:ea typeface="华文新魏" panose="02010800040101010101" pitchFamily="2" charset="-122"/>
            </a:endParaRPr>
          </a:p>
        </p:txBody>
      </p:sp>
      <p:sp>
        <p:nvSpPr>
          <p:cNvPr id="7" name="Text Box 6">
            <a:extLst>
              <a:ext uri="{FF2B5EF4-FFF2-40B4-BE49-F238E27FC236}">
                <a16:creationId xmlns:a16="http://schemas.microsoft.com/office/drawing/2014/main" id="{C1F49C1F-B338-42E1-A1BC-6AFA3700F1A8}"/>
              </a:ext>
            </a:extLst>
          </p:cNvPr>
          <p:cNvSpPr txBox="1">
            <a:spLocks noChangeArrowheads="1"/>
          </p:cNvSpPr>
          <p:nvPr/>
        </p:nvSpPr>
        <p:spPr bwMode="auto">
          <a:xfrm>
            <a:off x="1519808" y="4008333"/>
            <a:ext cx="5003293"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dirty="0">
                <a:latin typeface="华文新魏" panose="02010800040101010101" pitchFamily="2" charset="-122"/>
                <a:ea typeface="华文新魏" panose="02010800040101010101" pitchFamily="2" charset="-122"/>
              </a:rPr>
              <a:t> </a:t>
            </a:r>
            <a:r>
              <a:rPr lang="en-US" altLang="zh-CN" dirty="0" err="1">
                <a:solidFill>
                  <a:srgbClr val="0000FF"/>
                </a:solidFill>
                <a:latin typeface="华文新魏" panose="02010800040101010101" pitchFamily="2" charset="-122"/>
                <a:ea typeface="华文新魏" panose="02010800040101010101" pitchFamily="2" charset="-122"/>
              </a:rPr>
              <a:t>LocateElem</a:t>
            </a:r>
            <a:r>
              <a:rPr lang="en-US" altLang="zh-CN" dirty="0">
                <a:solidFill>
                  <a:srgbClr val="0000FF"/>
                </a:solidFill>
                <a:latin typeface="华文新魏" panose="02010800040101010101" pitchFamily="2" charset="-122"/>
                <a:ea typeface="华文新魏" panose="02010800040101010101" pitchFamily="2" charset="-122"/>
              </a:rPr>
              <a:t>(</a:t>
            </a:r>
            <a:r>
              <a:rPr lang="en-US" altLang="zh-CN" i="1" dirty="0">
                <a:solidFill>
                  <a:srgbClr val="0000FF"/>
                </a:solidFill>
                <a:latin typeface="华文新魏" panose="02010800040101010101" pitchFamily="2" charset="-122"/>
                <a:ea typeface="华文新魏" panose="02010800040101010101" pitchFamily="2" charset="-122"/>
              </a:rPr>
              <a:t>L</a:t>
            </a:r>
            <a:r>
              <a:rPr lang="en-US" altLang="zh-CN" i="1" baseline="-25000" dirty="0">
                <a:solidFill>
                  <a:srgbClr val="0000FF"/>
                </a:solidFill>
                <a:latin typeface="华文新魏" panose="02010800040101010101" pitchFamily="2" charset="-122"/>
                <a:ea typeface="华文新魏" panose="02010800040101010101" pitchFamily="2" charset="-122"/>
              </a:rPr>
              <a:t>A </a:t>
            </a:r>
            <a:r>
              <a:rPr lang="en-US" altLang="zh-CN" dirty="0">
                <a:solidFill>
                  <a:srgbClr val="0000FF"/>
                </a:solidFill>
                <a:latin typeface="华文新魏" panose="02010800040101010101" pitchFamily="2" charset="-122"/>
                <a:ea typeface="华文新魏" panose="02010800040101010101" pitchFamily="2" charset="-122"/>
              </a:rPr>
              <a:t>, e, equal( ))</a:t>
            </a:r>
            <a:endParaRPr lang="en-US" altLang="zh-CN" sz="2000" dirty="0">
              <a:solidFill>
                <a:srgbClr val="0000FF"/>
              </a:solidFill>
              <a:latin typeface="华文新魏" panose="02010800040101010101" pitchFamily="2" charset="-122"/>
              <a:ea typeface="华文新魏" panose="02010800040101010101" pitchFamily="2" charset="-122"/>
            </a:endParaRPr>
          </a:p>
          <a:p>
            <a:pPr eaLnBrk="1" hangingPunct="1">
              <a:spcBef>
                <a:spcPct val="0"/>
              </a:spcBef>
              <a:buClrTx/>
              <a:buFontTx/>
              <a:buNone/>
            </a:pPr>
            <a:endParaRPr lang="en-US" altLang="zh-CN" sz="2000" dirty="0">
              <a:latin typeface="华文新魏" panose="02010800040101010101" pitchFamily="2" charset="-122"/>
              <a:ea typeface="华文新魏" panose="02010800040101010101" pitchFamily="2" charset="-122"/>
            </a:endParaRPr>
          </a:p>
        </p:txBody>
      </p:sp>
      <p:sp>
        <p:nvSpPr>
          <p:cNvPr id="8" name="Text Box 7">
            <a:extLst>
              <a:ext uri="{FF2B5EF4-FFF2-40B4-BE49-F238E27FC236}">
                <a16:creationId xmlns:a16="http://schemas.microsoft.com/office/drawing/2014/main" id="{3749871F-8EC9-4741-A1A1-2B8956D9E5F3}"/>
              </a:ext>
            </a:extLst>
          </p:cNvPr>
          <p:cNvSpPr txBox="1">
            <a:spLocks noChangeArrowheads="1"/>
          </p:cNvSpPr>
          <p:nvPr/>
        </p:nvSpPr>
        <p:spPr bwMode="auto">
          <a:xfrm>
            <a:off x="1519808" y="5776808"/>
            <a:ext cx="377379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dirty="0">
                <a:solidFill>
                  <a:srgbClr val="0000FF"/>
                </a:solidFill>
                <a:latin typeface="华文新魏" panose="02010800040101010101" pitchFamily="2" charset="-122"/>
                <a:ea typeface="华文新魏" panose="02010800040101010101" pitchFamily="2" charset="-122"/>
              </a:rPr>
              <a:t> </a:t>
            </a:r>
            <a:r>
              <a:rPr lang="en-US" altLang="zh-CN" dirty="0" err="1">
                <a:solidFill>
                  <a:srgbClr val="0000FF"/>
                </a:solidFill>
                <a:latin typeface="华文新魏" panose="02010800040101010101" pitchFamily="2" charset="-122"/>
                <a:ea typeface="华文新魏" panose="02010800040101010101" pitchFamily="2" charset="-122"/>
              </a:rPr>
              <a:t>ListInsert</a:t>
            </a:r>
            <a:r>
              <a:rPr lang="en-US" altLang="zh-CN" dirty="0">
                <a:solidFill>
                  <a:srgbClr val="0000FF"/>
                </a:solidFill>
                <a:latin typeface="华文新魏" panose="02010800040101010101" pitchFamily="2" charset="-122"/>
                <a:ea typeface="华文新魏" panose="02010800040101010101" pitchFamily="2" charset="-122"/>
              </a:rPr>
              <a:t>(</a:t>
            </a:r>
            <a:r>
              <a:rPr lang="en-US" altLang="zh-CN" i="1" dirty="0">
                <a:solidFill>
                  <a:srgbClr val="0000FF"/>
                </a:solidFill>
                <a:latin typeface="华文新魏" panose="02010800040101010101" pitchFamily="2" charset="-122"/>
                <a:ea typeface="华文新魏" panose="02010800040101010101" pitchFamily="2" charset="-122"/>
              </a:rPr>
              <a:t>L</a:t>
            </a:r>
            <a:r>
              <a:rPr lang="en-US" altLang="zh-CN" i="1" baseline="-25000" dirty="0">
                <a:solidFill>
                  <a:srgbClr val="0000FF"/>
                </a:solidFill>
                <a:latin typeface="华文新魏" panose="02010800040101010101" pitchFamily="2" charset="-122"/>
                <a:ea typeface="华文新魏" panose="02010800040101010101" pitchFamily="2" charset="-122"/>
              </a:rPr>
              <a:t>A</a:t>
            </a:r>
            <a:r>
              <a:rPr lang="en-US" altLang="zh-CN" dirty="0">
                <a:solidFill>
                  <a:srgbClr val="0000FF"/>
                </a:solidFill>
                <a:latin typeface="华文新魏" panose="02010800040101010101" pitchFamily="2" charset="-122"/>
                <a:ea typeface="华文新魏" panose="02010800040101010101" pitchFamily="2" charset="-122"/>
              </a:rPr>
              <a:t>, n+1, e)</a:t>
            </a:r>
            <a:endParaRPr lang="en-US" altLang="zh-CN" sz="2000" dirty="0">
              <a:solidFill>
                <a:srgbClr val="0000FF"/>
              </a:solidFill>
              <a:latin typeface="华文新魏" panose="02010800040101010101" pitchFamily="2" charset="-122"/>
              <a:ea typeface="华文新魏" panose="02010800040101010101" pitchFamily="2" charset="-122"/>
            </a:endParaRPr>
          </a:p>
        </p:txBody>
      </p:sp>
      <p:sp>
        <p:nvSpPr>
          <p:cNvPr id="9" name="Text Box 8">
            <a:extLst>
              <a:ext uri="{FF2B5EF4-FFF2-40B4-BE49-F238E27FC236}">
                <a16:creationId xmlns:a16="http://schemas.microsoft.com/office/drawing/2014/main" id="{2106ED4F-5AFB-45E8-A09A-D502BCC3BC80}"/>
              </a:ext>
            </a:extLst>
          </p:cNvPr>
          <p:cNvSpPr txBox="1">
            <a:spLocks noChangeArrowheads="1"/>
          </p:cNvSpPr>
          <p:nvPr/>
        </p:nvSpPr>
        <p:spPr bwMode="auto">
          <a:xfrm>
            <a:off x="179512" y="1012830"/>
            <a:ext cx="250100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dirty="0">
                <a:latin typeface="华文新魏" panose="02010800040101010101" pitchFamily="2" charset="-122"/>
                <a:ea typeface="华文新魏" panose="02010800040101010101" pitchFamily="2" charset="-122"/>
              </a:rPr>
              <a:t>操作步骤：</a:t>
            </a:r>
            <a:endParaRPr lang="zh-CN" altLang="en-US" sz="2000" dirty="0">
              <a:latin typeface="华文新魏" panose="02010800040101010101" pitchFamily="2" charset="-122"/>
              <a:ea typeface="华文新魏" panose="02010800040101010101" pitchFamily="2" charset="-122"/>
            </a:endParaRPr>
          </a:p>
        </p:txBody>
      </p:sp>
      <p:sp>
        <p:nvSpPr>
          <p:cNvPr id="10" name="文本框 9">
            <a:extLst>
              <a:ext uri="{FF2B5EF4-FFF2-40B4-BE49-F238E27FC236}">
                <a16:creationId xmlns:a16="http://schemas.microsoft.com/office/drawing/2014/main" id="{F6070B99-E707-493B-982B-D0159E9571BA}"/>
              </a:ext>
            </a:extLst>
          </p:cNvPr>
          <p:cNvSpPr txBox="1"/>
          <p:nvPr/>
        </p:nvSpPr>
        <p:spPr>
          <a:xfrm>
            <a:off x="4716016" y="4517276"/>
            <a:ext cx="3773790" cy="523220"/>
          </a:xfrm>
          <a:prstGeom prst="rect">
            <a:avLst/>
          </a:prstGeom>
          <a:noFill/>
        </p:spPr>
        <p:txBody>
          <a:bodyPr wrap="square" rtlCol="0">
            <a:spAutoFit/>
          </a:bodyPr>
          <a:lstStyle/>
          <a:p>
            <a:r>
              <a:rPr lang="en-US" altLang="zh-CN" sz="2800" dirty="0">
                <a:solidFill>
                  <a:srgbClr val="00B050"/>
                </a:solidFill>
                <a:latin typeface="华文新魏" panose="02010800040101010101" pitchFamily="2" charset="-122"/>
                <a:ea typeface="华文新魏" panose="02010800040101010101" pitchFamily="2" charset="-122"/>
              </a:rPr>
              <a:t>// equal()</a:t>
            </a:r>
            <a:r>
              <a:rPr lang="zh-CN" altLang="en-US" sz="2800" dirty="0">
                <a:solidFill>
                  <a:srgbClr val="00B050"/>
                </a:solidFill>
                <a:latin typeface="华文新魏" panose="02010800040101010101" pitchFamily="2" charset="-122"/>
                <a:ea typeface="华文新魏" panose="02010800040101010101" pitchFamily="2" charset="-122"/>
              </a:rPr>
              <a:t>是函数指针</a:t>
            </a:r>
          </a:p>
        </p:txBody>
      </p:sp>
    </p:spTree>
    <p:extLst>
      <p:ext uri="{BB962C8B-B14F-4D97-AF65-F5344CB8AC3E}">
        <p14:creationId xmlns:p14="http://schemas.microsoft.com/office/powerpoint/2010/main" val="2863238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6325C3-DE18-42F3-A118-4662A6C78791}"/>
              </a:ext>
            </a:extLst>
          </p:cNvPr>
          <p:cNvSpPr>
            <a:spLocks noGrp="1"/>
          </p:cNvSpPr>
          <p:nvPr>
            <p:ph type="title"/>
          </p:nvPr>
        </p:nvSpPr>
        <p:spPr/>
        <p:txBody>
          <a:bodyPr/>
          <a:lstStyle/>
          <a:p>
            <a:r>
              <a:rPr lang="zh-CN" altLang="en-US" dirty="0"/>
              <a:t>例</a:t>
            </a:r>
            <a:r>
              <a:rPr lang="en-US" altLang="zh-CN" dirty="0"/>
              <a:t>2-1 </a:t>
            </a:r>
            <a:r>
              <a:rPr lang="zh-CN" altLang="en-US" dirty="0"/>
              <a:t>集合的并运算</a:t>
            </a:r>
          </a:p>
        </p:txBody>
      </p:sp>
      <p:sp>
        <p:nvSpPr>
          <p:cNvPr id="4" name="Text Box 2">
            <a:extLst>
              <a:ext uri="{FF2B5EF4-FFF2-40B4-BE49-F238E27FC236}">
                <a16:creationId xmlns:a16="http://schemas.microsoft.com/office/drawing/2014/main" id="{82BC2921-F467-4290-8F16-9903E5D8B094}"/>
              </a:ext>
            </a:extLst>
          </p:cNvPr>
          <p:cNvSpPr txBox="1">
            <a:spLocks noChangeArrowheads="1"/>
          </p:cNvSpPr>
          <p:nvPr/>
        </p:nvSpPr>
        <p:spPr bwMode="auto">
          <a:xfrm>
            <a:off x="1039615" y="3076982"/>
            <a:ext cx="7502375" cy="2566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en-US" altLang="zh-CN" sz="2800" dirty="0">
                <a:latin typeface="+mn-lt"/>
                <a:ea typeface="楷体_GB2312" pitchFamily="49" charset="-122"/>
              </a:rPr>
              <a:t>    </a:t>
            </a:r>
            <a:r>
              <a:rPr lang="en-US" altLang="zh-CN" sz="2800" dirty="0" err="1">
                <a:latin typeface="+mn-lt"/>
                <a:ea typeface="楷体_GB2312" pitchFamily="49" charset="-122"/>
              </a:rPr>
              <a:t>GetElem</a:t>
            </a:r>
            <a:r>
              <a:rPr lang="en-US" altLang="zh-CN" sz="2800" dirty="0">
                <a:latin typeface="+mn-lt"/>
                <a:ea typeface="楷体_GB2312" pitchFamily="49" charset="-122"/>
              </a:rPr>
              <a:t>(</a:t>
            </a:r>
            <a:r>
              <a:rPr lang="en-US" altLang="zh-CN" sz="2800" i="1" dirty="0">
                <a:ea typeface="楷体_GB2312" pitchFamily="49" charset="-122"/>
              </a:rPr>
              <a:t>L</a:t>
            </a:r>
            <a:r>
              <a:rPr lang="en-US" altLang="zh-CN" sz="2800" i="1" baseline="-25000" dirty="0">
                <a:ea typeface="楷体_GB2312" pitchFamily="49" charset="-122"/>
              </a:rPr>
              <a:t>B</a:t>
            </a:r>
            <a:r>
              <a:rPr lang="en-US" altLang="zh-CN" sz="2800" dirty="0">
                <a:latin typeface="+mn-lt"/>
                <a:ea typeface="楷体_GB2312" pitchFamily="49" charset="-122"/>
              </a:rPr>
              <a:t>, </a:t>
            </a:r>
            <a:r>
              <a:rPr lang="en-US" altLang="zh-CN" sz="2800" dirty="0" err="1">
                <a:latin typeface="+mn-lt"/>
                <a:ea typeface="楷体_GB2312" pitchFamily="49" charset="-122"/>
              </a:rPr>
              <a:t>i</a:t>
            </a:r>
            <a:r>
              <a:rPr lang="en-US" altLang="zh-CN" sz="2800" dirty="0">
                <a:latin typeface="+mn-lt"/>
                <a:ea typeface="楷体_GB2312" pitchFamily="49" charset="-122"/>
              </a:rPr>
              <a:t>, e);</a:t>
            </a:r>
            <a:r>
              <a:rPr lang="en-US" altLang="zh-CN" sz="2400" dirty="0">
                <a:latin typeface="+mn-lt"/>
                <a:ea typeface="楷体_GB2312" pitchFamily="49" charset="-122"/>
              </a:rPr>
              <a:t>    </a:t>
            </a:r>
            <a:r>
              <a:rPr lang="en-US" altLang="zh-CN" sz="2400" dirty="0">
                <a:solidFill>
                  <a:srgbClr val="00B050"/>
                </a:solidFill>
                <a:latin typeface="+mn-lt"/>
                <a:ea typeface="楷体_GB2312" pitchFamily="49" charset="-122"/>
              </a:rPr>
              <a:t>// </a:t>
            </a:r>
            <a:r>
              <a:rPr lang="zh-CN" altLang="en-US" sz="2400" dirty="0">
                <a:solidFill>
                  <a:srgbClr val="00B050"/>
                </a:solidFill>
                <a:latin typeface="+mn-lt"/>
                <a:ea typeface="楷体_GB2312" pitchFamily="49" charset="-122"/>
              </a:rPr>
              <a:t>取</a:t>
            </a:r>
            <a:r>
              <a:rPr lang="en-US" altLang="zh-CN" sz="2400" i="1" dirty="0">
                <a:solidFill>
                  <a:srgbClr val="00B050"/>
                </a:solidFill>
                <a:ea typeface="楷体_GB2312" pitchFamily="49" charset="-122"/>
              </a:rPr>
              <a:t>L</a:t>
            </a:r>
            <a:r>
              <a:rPr lang="en-US" altLang="zh-CN" sz="2400" i="1" baseline="-25000" dirty="0">
                <a:solidFill>
                  <a:srgbClr val="00B050"/>
                </a:solidFill>
                <a:ea typeface="楷体_GB2312" pitchFamily="49" charset="-122"/>
              </a:rPr>
              <a:t>B</a:t>
            </a:r>
            <a:r>
              <a:rPr lang="zh-CN" altLang="en-US" sz="2400" dirty="0">
                <a:solidFill>
                  <a:srgbClr val="00B050"/>
                </a:solidFill>
                <a:latin typeface="+mn-lt"/>
                <a:ea typeface="楷体_GB2312" pitchFamily="49" charset="-122"/>
              </a:rPr>
              <a:t>中第 </a:t>
            </a:r>
            <a:r>
              <a:rPr lang="en-US" altLang="zh-CN" sz="2400" dirty="0" err="1">
                <a:solidFill>
                  <a:srgbClr val="00B050"/>
                </a:solidFill>
                <a:latin typeface="+mn-lt"/>
                <a:ea typeface="楷体_GB2312" pitchFamily="49" charset="-122"/>
              </a:rPr>
              <a:t>i</a:t>
            </a:r>
            <a:r>
              <a:rPr lang="en-US" altLang="zh-CN" sz="2400" dirty="0">
                <a:solidFill>
                  <a:srgbClr val="00B050"/>
                </a:solidFill>
                <a:latin typeface="+mn-lt"/>
                <a:ea typeface="楷体_GB2312" pitchFamily="49" charset="-122"/>
              </a:rPr>
              <a:t> </a:t>
            </a:r>
            <a:r>
              <a:rPr lang="zh-CN" altLang="en-US" sz="2400" dirty="0">
                <a:solidFill>
                  <a:srgbClr val="00B050"/>
                </a:solidFill>
                <a:latin typeface="+mn-lt"/>
                <a:ea typeface="楷体_GB2312" pitchFamily="49" charset="-122"/>
              </a:rPr>
              <a:t>个数据元素赋给 </a:t>
            </a:r>
            <a:r>
              <a:rPr lang="en-US" altLang="zh-CN" sz="2400" dirty="0">
                <a:solidFill>
                  <a:srgbClr val="00B050"/>
                </a:solidFill>
                <a:latin typeface="+mn-lt"/>
                <a:ea typeface="楷体_GB2312" pitchFamily="49" charset="-122"/>
              </a:rPr>
              <a:t>e</a:t>
            </a:r>
          </a:p>
          <a:p>
            <a:pPr eaLnBrk="1" hangingPunct="1">
              <a:lnSpc>
                <a:spcPct val="120000"/>
              </a:lnSpc>
              <a:spcBef>
                <a:spcPct val="0"/>
              </a:spcBef>
              <a:buClrTx/>
              <a:buFontTx/>
              <a:buNone/>
            </a:pPr>
            <a:r>
              <a:rPr lang="en-US" altLang="zh-CN" sz="2800" dirty="0">
                <a:latin typeface="+mn-lt"/>
                <a:ea typeface="楷体_GB2312" pitchFamily="49" charset="-122"/>
              </a:rPr>
              <a:t>    index = </a:t>
            </a:r>
            <a:r>
              <a:rPr lang="en-US" altLang="zh-CN" sz="2800" dirty="0" err="1">
                <a:ea typeface="楷体_GB2312" pitchFamily="49" charset="-122"/>
              </a:rPr>
              <a:t>LocateElem</a:t>
            </a:r>
            <a:r>
              <a:rPr lang="en-US" altLang="zh-CN" sz="2800" dirty="0">
                <a:ea typeface="楷体_GB2312" pitchFamily="49" charset="-122"/>
              </a:rPr>
              <a:t>(</a:t>
            </a:r>
            <a:r>
              <a:rPr lang="en-US" altLang="zh-CN" sz="2800" i="1" dirty="0">
                <a:ea typeface="楷体_GB2312" pitchFamily="49" charset="-122"/>
              </a:rPr>
              <a:t>L</a:t>
            </a:r>
            <a:r>
              <a:rPr lang="en-US" altLang="zh-CN" sz="2800" i="1" baseline="-25000" dirty="0">
                <a:ea typeface="楷体_GB2312" pitchFamily="49" charset="-122"/>
              </a:rPr>
              <a:t>A</a:t>
            </a:r>
            <a:r>
              <a:rPr lang="en-US" altLang="zh-CN" sz="2800" dirty="0">
                <a:ea typeface="楷体_GB2312" pitchFamily="49" charset="-122"/>
              </a:rPr>
              <a:t>, e, equal( ));</a:t>
            </a:r>
          </a:p>
          <a:p>
            <a:pPr eaLnBrk="1" hangingPunct="1">
              <a:lnSpc>
                <a:spcPct val="120000"/>
              </a:lnSpc>
              <a:spcBef>
                <a:spcPct val="0"/>
              </a:spcBef>
              <a:buClrTx/>
              <a:buFontTx/>
              <a:buNone/>
            </a:pPr>
            <a:r>
              <a:rPr lang="en-US" altLang="zh-CN" sz="2800" dirty="0">
                <a:ea typeface="楷体_GB2312" pitchFamily="49" charset="-122"/>
              </a:rPr>
              <a:t>    if (index == 0)</a:t>
            </a:r>
            <a:endParaRPr lang="en-US" altLang="zh-CN" sz="2800" dirty="0">
              <a:latin typeface="+mn-lt"/>
              <a:ea typeface="楷体_GB2312" pitchFamily="49" charset="-122"/>
            </a:endParaRPr>
          </a:p>
          <a:p>
            <a:pPr eaLnBrk="1" hangingPunct="1">
              <a:lnSpc>
                <a:spcPct val="120000"/>
              </a:lnSpc>
              <a:spcBef>
                <a:spcPct val="0"/>
              </a:spcBef>
              <a:buClrTx/>
              <a:buFontTx/>
              <a:buNone/>
            </a:pPr>
            <a:r>
              <a:rPr lang="en-US" altLang="zh-CN" sz="2800" dirty="0">
                <a:latin typeface="+mn-lt"/>
                <a:ea typeface="楷体_GB2312" pitchFamily="49" charset="-122"/>
              </a:rPr>
              <a:t>        </a:t>
            </a:r>
            <a:r>
              <a:rPr lang="en-US" altLang="zh-CN" sz="2800" dirty="0" err="1">
                <a:latin typeface="+mn-lt"/>
                <a:ea typeface="楷体_GB2312" pitchFamily="49" charset="-122"/>
              </a:rPr>
              <a:t>ListInsert</a:t>
            </a:r>
            <a:r>
              <a:rPr lang="en-US" altLang="zh-CN" sz="2800" dirty="0">
                <a:latin typeface="+mn-lt"/>
                <a:ea typeface="楷体_GB2312" pitchFamily="49" charset="-122"/>
              </a:rPr>
              <a:t>(</a:t>
            </a:r>
            <a:r>
              <a:rPr lang="en-US" altLang="zh-CN" sz="2800" i="1" dirty="0">
                <a:ea typeface="楷体_GB2312" pitchFamily="49" charset="-122"/>
              </a:rPr>
              <a:t>L</a:t>
            </a:r>
            <a:r>
              <a:rPr lang="en-US" altLang="zh-CN" sz="2800" i="1" baseline="-25000" dirty="0">
                <a:ea typeface="楷体_GB2312" pitchFamily="49" charset="-122"/>
              </a:rPr>
              <a:t>A</a:t>
            </a:r>
            <a:r>
              <a:rPr lang="en-US" altLang="zh-CN" sz="2800" dirty="0">
                <a:latin typeface="+mn-lt"/>
                <a:ea typeface="楷体_GB2312" pitchFamily="49" charset="-122"/>
              </a:rPr>
              <a:t>, ++</a:t>
            </a:r>
            <a:r>
              <a:rPr lang="en-US" altLang="zh-CN" sz="2800" i="1" dirty="0">
                <a:ea typeface="楷体_GB2312" pitchFamily="49" charset="-122"/>
              </a:rPr>
              <a:t> L</a:t>
            </a:r>
            <a:r>
              <a:rPr lang="en-US" altLang="zh-CN" sz="2800" i="1" baseline="-25000" dirty="0">
                <a:ea typeface="楷体_GB2312" pitchFamily="49" charset="-122"/>
              </a:rPr>
              <a:t>A </a:t>
            </a:r>
            <a:r>
              <a:rPr lang="en-US" altLang="zh-CN" sz="2800" dirty="0">
                <a:latin typeface="+mn-lt"/>
                <a:ea typeface="楷体_GB2312" pitchFamily="49" charset="-122"/>
              </a:rPr>
              <a:t>_</a:t>
            </a:r>
            <a:r>
              <a:rPr lang="en-US" altLang="zh-CN" sz="2800" dirty="0" err="1">
                <a:latin typeface="+mn-lt"/>
                <a:ea typeface="楷体_GB2312" pitchFamily="49" charset="-122"/>
              </a:rPr>
              <a:t>len</a:t>
            </a:r>
            <a:r>
              <a:rPr lang="en-US" altLang="zh-CN" sz="2800" dirty="0">
                <a:latin typeface="+mn-lt"/>
                <a:ea typeface="楷体_GB2312" pitchFamily="49" charset="-122"/>
              </a:rPr>
              <a:t>, e);</a:t>
            </a:r>
          </a:p>
          <a:p>
            <a:pPr eaLnBrk="1" hangingPunct="1">
              <a:lnSpc>
                <a:spcPct val="120000"/>
              </a:lnSpc>
              <a:spcBef>
                <a:spcPct val="0"/>
              </a:spcBef>
              <a:buClrTx/>
              <a:buFontTx/>
              <a:buNone/>
            </a:pPr>
            <a:r>
              <a:rPr lang="en-US" altLang="zh-CN" sz="2400" dirty="0">
                <a:solidFill>
                  <a:srgbClr val="00B050"/>
                </a:solidFill>
                <a:latin typeface="+mn-lt"/>
                <a:ea typeface="楷体_GB2312" pitchFamily="49" charset="-122"/>
              </a:rPr>
              <a:t>     // </a:t>
            </a:r>
            <a:r>
              <a:rPr lang="en-US" altLang="zh-CN" sz="2400" i="1" dirty="0">
                <a:solidFill>
                  <a:srgbClr val="00B050"/>
                </a:solidFill>
                <a:ea typeface="楷体_GB2312" pitchFamily="49" charset="-122"/>
              </a:rPr>
              <a:t>L</a:t>
            </a:r>
            <a:r>
              <a:rPr lang="en-US" altLang="zh-CN" sz="2400" i="1" baseline="-25000" dirty="0">
                <a:solidFill>
                  <a:srgbClr val="00B050"/>
                </a:solidFill>
                <a:ea typeface="楷体_GB2312" pitchFamily="49" charset="-122"/>
              </a:rPr>
              <a:t>A</a:t>
            </a:r>
            <a:r>
              <a:rPr lang="zh-CN" altLang="en-US" sz="2400" dirty="0">
                <a:solidFill>
                  <a:srgbClr val="00B050"/>
                </a:solidFill>
                <a:latin typeface="+mn-lt"/>
                <a:ea typeface="楷体_GB2312" pitchFamily="49" charset="-122"/>
              </a:rPr>
              <a:t>中不存在和 </a:t>
            </a:r>
            <a:r>
              <a:rPr lang="en-US" altLang="zh-CN" sz="2400" dirty="0">
                <a:solidFill>
                  <a:srgbClr val="00B050"/>
                </a:solidFill>
                <a:latin typeface="+mn-lt"/>
                <a:ea typeface="楷体_GB2312" pitchFamily="49" charset="-122"/>
              </a:rPr>
              <a:t>e </a:t>
            </a:r>
            <a:r>
              <a:rPr lang="zh-CN" altLang="en-US" sz="2400" dirty="0">
                <a:solidFill>
                  <a:srgbClr val="00B050"/>
                </a:solidFill>
                <a:latin typeface="+mn-lt"/>
                <a:ea typeface="楷体_GB2312" pitchFamily="49" charset="-122"/>
              </a:rPr>
              <a:t>相同的数据元素，则插入之</a:t>
            </a:r>
            <a:endParaRPr lang="zh-CN" altLang="en-US" sz="2400" dirty="0">
              <a:solidFill>
                <a:srgbClr val="00B050"/>
              </a:solidFill>
              <a:latin typeface="+mn-lt"/>
            </a:endParaRPr>
          </a:p>
        </p:txBody>
      </p:sp>
      <p:sp>
        <p:nvSpPr>
          <p:cNvPr id="5" name="Text Box 3">
            <a:extLst>
              <a:ext uri="{FF2B5EF4-FFF2-40B4-BE49-F238E27FC236}">
                <a16:creationId xmlns:a16="http://schemas.microsoft.com/office/drawing/2014/main" id="{BF632B9D-9344-4030-BB58-BBE47081C0C9}"/>
              </a:ext>
            </a:extLst>
          </p:cNvPr>
          <p:cNvSpPr txBox="1">
            <a:spLocks noChangeArrowheads="1"/>
          </p:cNvSpPr>
          <p:nvPr/>
        </p:nvSpPr>
        <p:spPr bwMode="auto">
          <a:xfrm>
            <a:off x="728663" y="773029"/>
            <a:ext cx="6964279" cy="159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en-US" altLang="zh-CN" sz="2800" b="1" dirty="0">
                <a:latin typeface="+mn-lt"/>
                <a:ea typeface="楷体_GB2312" pitchFamily="49" charset="-122"/>
              </a:rPr>
              <a:t>void</a:t>
            </a:r>
            <a:r>
              <a:rPr lang="en-US" altLang="zh-CN" sz="2800" dirty="0">
                <a:latin typeface="+mn-lt"/>
                <a:ea typeface="楷体_GB2312" pitchFamily="49" charset="-122"/>
              </a:rPr>
              <a:t> union(List </a:t>
            </a:r>
            <a:r>
              <a:rPr lang="en-US" altLang="zh-CN" sz="2800" b="1" dirty="0">
                <a:latin typeface="+mn-lt"/>
                <a:ea typeface="楷体_GB2312" pitchFamily="49" charset="-122"/>
              </a:rPr>
              <a:t>&amp;</a:t>
            </a:r>
            <a:r>
              <a:rPr lang="en-US" altLang="zh-CN" sz="2800" i="1" dirty="0">
                <a:latin typeface="+mn-lt"/>
                <a:ea typeface="楷体_GB2312" pitchFamily="49" charset="-122"/>
              </a:rPr>
              <a:t>L</a:t>
            </a:r>
            <a:r>
              <a:rPr lang="en-US" altLang="zh-CN" sz="2800" i="1" baseline="-25000" dirty="0">
                <a:latin typeface="+mn-lt"/>
                <a:ea typeface="楷体_GB2312" pitchFamily="49" charset="-122"/>
              </a:rPr>
              <a:t>A</a:t>
            </a:r>
            <a:r>
              <a:rPr lang="en-US" altLang="zh-CN" sz="2800" dirty="0">
                <a:latin typeface="+mn-lt"/>
                <a:ea typeface="楷体_GB2312" pitchFamily="49" charset="-122"/>
              </a:rPr>
              <a:t>, List </a:t>
            </a:r>
            <a:r>
              <a:rPr lang="en-US" altLang="zh-CN" sz="2800" i="1" dirty="0">
                <a:latin typeface="+mn-lt"/>
                <a:ea typeface="楷体_GB2312" pitchFamily="49" charset="-122"/>
              </a:rPr>
              <a:t>L</a:t>
            </a:r>
            <a:r>
              <a:rPr lang="en-US" altLang="zh-CN" sz="2800" i="1" baseline="-25000" dirty="0">
                <a:latin typeface="+mn-lt"/>
                <a:ea typeface="楷体_GB2312" pitchFamily="49" charset="-122"/>
              </a:rPr>
              <a:t>B</a:t>
            </a:r>
            <a:r>
              <a:rPr lang="en-US" altLang="zh-CN" sz="2800" dirty="0">
                <a:latin typeface="+mn-lt"/>
                <a:ea typeface="楷体_GB2312" pitchFamily="49" charset="-122"/>
              </a:rPr>
              <a:t>) </a:t>
            </a:r>
            <a:r>
              <a:rPr lang="en-US" altLang="zh-CN" sz="2800" b="1" dirty="0">
                <a:latin typeface="+mn-lt"/>
                <a:ea typeface="楷体_GB2312" pitchFamily="49" charset="-122"/>
              </a:rPr>
              <a:t>{</a:t>
            </a:r>
            <a:endParaRPr lang="en-US" altLang="zh-CN" sz="2800" dirty="0">
              <a:latin typeface="+mn-lt"/>
              <a:ea typeface="楷体_GB2312" pitchFamily="49" charset="-122"/>
            </a:endParaRPr>
          </a:p>
          <a:p>
            <a:pPr eaLnBrk="1" hangingPunct="1">
              <a:lnSpc>
                <a:spcPct val="120000"/>
              </a:lnSpc>
              <a:spcBef>
                <a:spcPct val="0"/>
              </a:spcBef>
              <a:buClrTx/>
              <a:buFontTx/>
              <a:buNone/>
            </a:pPr>
            <a:r>
              <a:rPr lang="en-US" altLang="zh-CN" sz="2800" dirty="0">
                <a:latin typeface="+mn-lt"/>
                <a:ea typeface="楷体_GB2312" pitchFamily="49" charset="-122"/>
              </a:rPr>
              <a:t>    </a:t>
            </a:r>
            <a:r>
              <a:rPr lang="en-US" altLang="zh-CN" sz="2800" i="1" dirty="0">
                <a:latin typeface="+mn-lt"/>
                <a:ea typeface="楷体_GB2312" pitchFamily="49" charset="-122"/>
              </a:rPr>
              <a:t>L</a:t>
            </a:r>
            <a:r>
              <a:rPr lang="en-US" altLang="zh-CN" sz="2800" i="1" baseline="-25000" dirty="0">
                <a:latin typeface="+mn-lt"/>
                <a:ea typeface="楷体_GB2312" pitchFamily="49" charset="-122"/>
              </a:rPr>
              <a:t>A </a:t>
            </a:r>
            <a:r>
              <a:rPr lang="en-US" altLang="zh-CN" sz="2800" dirty="0">
                <a:latin typeface="+mn-lt"/>
                <a:ea typeface="楷体_GB2312" pitchFamily="49" charset="-122"/>
              </a:rPr>
              <a:t>_</a:t>
            </a:r>
            <a:r>
              <a:rPr lang="en-US" altLang="zh-CN" sz="2800" dirty="0" err="1">
                <a:latin typeface="+mn-lt"/>
                <a:ea typeface="楷体_GB2312" pitchFamily="49" charset="-122"/>
              </a:rPr>
              <a:t>len</a:t>
            </a:r>
            <a:r>
              <a:rPr lang="en-US" altLang="zh-CN" sz="2800" dirty="0">
                <a:latin typeface="+mn-lt"/>
                <a:ea typeface="楷体_GB2312" pitchFamily="49" charset="-122"/>
              </a:rPr>
              <a:t> = </a:t>
            </a:r>
            <a:r>
              <a:rPr lang="en-US" altLang="zh-CN" sz="2800" dirty="0" err="1">
                <a:latin typeface="+mn-lt"/>
                <a:ea typeface="楷体_GB2312" pitchFamily="49" charset="-122"/>
              </a:rPr>
              <a:t>ListLength</a:t>
            </a:r>
            <a:r>
              <a:rPr lang="en-US" altLang="zh-CN" sz="2800" dirty="0">
                <a:latin typeface="+mn-lt"/>
                <a:ea typeface="楷体_GB2312" pitchFamily="49" charset="-122"/>
              </a:rPr>
              <a:t>(</a:t>
            </a:r>
            <a:r>
              <a:rPr lang="en-US" altLang="zh-CN" sz="2800" i="1" dirty="0">
                <a:latin typeface="+mn-lt"/>
                <a:ea typeface="楷体_GB2312" pitchFamily="49" charset="-122"/>
              </a:rPr>
              <a:t>L</a:t>
            </a:r>
            <a:r>
              <a:rPr lang="en-US" altLang="zh-CN" sz="2800" i="1" baseline="-25000" dirty="0">
                <a:latin typeface="+mn-lt"/>
                <a:ea typeface="楷体_GB2312" pitchFamily="49" charset="-122"/>
              </a:rPr>
              <a:t>A</a:t>
            </a:r>
            <a:r>
              <a:rPr lang="en-US" altLang="zh-CN" sz="2800" dirty="0">
                <a:latin typeface="+mn-lt"/>
                <a:ea typeface="楷体_GB2312" pitchFamily="49" charset="-122"/>
              </a:rPr>
              <a:t>);</a:t>
            </a:r>
            <a:r>
              <a:rPr lang="en-US" altLang="zh-CN" sz="2400" dirty="0">
                <a:latin typeface="+mn-lt"/>
                <a:ea typeface="楷体_GB2312" pitchFamily="49" charset="-122"/>
              </a:rPr>
              <a:t>    </a:t>
            </a:r>
            <a:r>
              <a:rPr lang="en-US" altLang="zh-CN" sz="2400" dirty="0">
                <a:solidFill>
                  <a:srgbClr val="00B050"/>
                </a:solidFill>
                <a:latin typeface="+mn-lt"/>
                <a:ea typeface="楷体_GB2312" pitchFamily="49" charset="-122"/>
              </a:rPr>
              <a:t>// </a:t>
            </a:r>
            <a:r>
              <a:rPr lang="zh-CN" altLang="en-US" sz="2400" dirty="0">
                <a:solidFill>
                  <a:srgbClr val="00B050"/>
                </a:solidFill>
                <a:latin typeface="+mn-lt"/>
                <a:ea typeface="楷体_GB2312" pitchFamily="49" charset="-122"/>
              </a:rPr>
              <a:t>求线性表的长度</a:t>
            </a:r>
          </a:p>
          <a:p>
            <a:pPr eaLnBrk="1" hangingPunct="1">
              <a:lnSpc>
                <a:spcPct val="120000"/>
              </a:lnSpc>
              <a:spcBef>
                <a:spcPct val="0"/>
              </a:spcBef>
              <a:buClrTx/>
              <a:buFontTx/>
              <a:buNone/>
            </a:pPr>
            <a:r>
              <a:rPr lang="zh-CN" altLang="en-US" sz="2800" dirty="0">
                <a:latin typeface="+mn-lt"/>
                <a:ea typeface="楷体_GB2312" pitchFamily="49" charset="-122"/>
              </a:rPr>
              <a:t>    </a:t>
            </a:r>
            <a:r>
              <a:rPr lang="en-US" altLang="zh-CN" sz="2800" i="1" dirty="0">
                <a:latin typeface="+mn-lt"/>
                <a:ea typeface="楷体_GB2312" pitchFamily="49" charset="-122"/>
              </a:rPr>
              <a:t>L</a:t>
            </a:r>
            <a:r>
              <a:rPr lang="en-US" altLang="zh-CN" sz="2800" i="1" baseline="-25000" dirty="0">
                <a:latin typeface="+mn-lt"/>
                <a:ea typeface="楷体_GB2312" pitchFamily="49" charset="-122"/>
              </a:rPr>
              <a:t>B </a:t>
            </a:r>
            <a:r>
              <a:rPr lang="en-US" altLang="zh-CN" sz="2800" dirty="0">
                <a:latin typeface="+mn-lt"/>
                <a:ea typeface="楷体_GB2312" pitchFamily="49" charset="-122"/>
              </a:rPr>
              <a:t>_</a:t>
            </a:r>
            <a:r>
              <a:rPr lang="en-US" altLang="zh-CN" sz="2800" dirty="0" err="1">
                <a:latin typeface="+mn-lt"/>
                <a:ea typeface="楷体_GB2312" pitchFamily="49" charset="-122"/>
              </a:rPr>
              <a:t>len</a:t>
            </a:r>
            <a:r>
              <a:rPr lang="en-US" altLang="zh-CN" sz="2800" dirty="0">
                <a:latin typeface="+mn-lt"/>
                <a:ea typeface="楷体_GB2312" pitchFamily="49" charset="-122"/>
              </a:rPr>
              <a:t> = </a:t>
            </a:r>
            <a:r>
              <a:rPr lang="en-US" altLang="zh-CN" sz="2800" dirty="0" err="1">
                <a:latin typeface="+mn-lt"/>
                <a:ea typeface="楷体_GB2312" pitchFamily="49" charset="-122"/>
              </a:rPr>
              <a:t>ListLength</a:t>
            </a:r>
            <a:r>
              <a:rPr lang="en-US" altLang="zh-CN" sz="2800" dirty="0">
                <a:latin typeface="+mn-lt"/>
                <a:ea typeface="楷体_GB2312" pitchFamily="49" charset="-122"/>
              </a:rPr>
              <a:t>(</a:t>
            </a:r>
            <a:r>
              <a:rPr lang="en-US" altLang="zh-CN" sz="2800" i="1" dirty="0">
                <a:latin typeface="+mn-lt"/>
                <a:ea typeface="楷体_GB2312" pitchFamily="49" charset="-122"/>
              </a:rPr>
              <a:t>L</a:t>
            </a:r>
            <a:r>
              <a:rPr lang="en-US" altLang="zh-CN" sz="2800" i="1" baseline="-25000" dirty="0">
                <a:latin typeface="+mn-lt"/>
                <a:ea typeface="楷体_GB2312" pitchFamily="49" charset="-122"/>
              </a:rPr>
              <a:t>B</a:t>
            </a:r>
            <a:r>
              <a:rPr lang="en-US" altLang="zh-CN" sz="2800" dirty="0">
                <a:latin typeface="+mn-lt"/>
                <a:ea typeface="楷体_GB2312" pitchFamily="49" charset="-122"/>
              </a:rPr>
              <a:t>);   </a:t>
            </a:r>
          </a:p>
        </p:txBody>
      </p:sp>
      <p:sp>
        <p:nvSpPr>
          <p:cNvPr id="6" name="Text Box 4">
            <a:extLst>
              <a:ext uri="{FF2B5EF4-FFF2-40B4-BE49-F238E27FC236}">
                <a16:creationId xmlns:a16="http://schemas.microsoft.com/office/drawing/2014/main" id="{8386C2DC-6B61-4B03-B2DF-D7F856AF1BDE}"/>
              </a:ext>
            </a:extLst>
          </p:cNvPr>
          <p:cNvSpPr txBox="1">
            <a:spLocks noChangeArrowheads="1"/>
          </p:cNvSpPr>
          <p:nvPr/>
        </p:nvSpPr>
        <p:spPr bwMode="auto">
          <a:xfrm>
            <a:off x="1099940" y="2473732"/>
            <a:ext cx="4572085"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en-US" altLang="zh-CN" sz="2800" b="1" dirty="0">
                <a:latin typeface="+mn-lt"/>
                <a:ea typeface="楷体_GB2312" pitchFamily="49" charset="-122"/>
              </a:rPr>
              <a:t>for</a:t>
            </a:r>
            <a:r>
              <a:rPr lang="en-US" altLang="zh-CN" sz="2800" dirty="0">
                <a:latin typeface="+mn-lt"/>
                <a:ea typeface="楷体_GB2312" pitchFamily="49" charset="-122"/>
              </a:rPr>
              <a:t> (</a:t>
            </a:r>
            <a:r>
              <a:rPr lang="en-US" altLang="zh-CN" sz="2800" dirty="0" err="1">
                <a:latin typeface="+mn-lt"/>
                <a:ea typeface="楷体_GB2312" pitchFamily="49" charset="-122"/>
              </a:rPr>
              <a:t>i</a:t>
            </a:r>
            <a:r>
              <a:rPr lang="en-US" altLang="zh-CN" sz="2800" dirty="0">
                <a:latin typeface="+mn-lt"/>
                <a:ea typeface="楷体_GB2312" pitchFamily="49" charset="-122"/>
              </a:rPr>
              <a:t> = 1;  </a:t>
            </a:r>
            <a:r>
              <a:rPr lang="en-US" altLang="zh-CN" sz="2800" dirty="0" err="1">
                <a:latin typeface="+mn-lt"/>
                <a:ea typeface="楷体_GB2312" pitchFamily="49" charset="-122"/>
              </a:rPr>
              <a:t>i</a:t>
            </a:r>
            <a:r>
              <a:rPr lang="en-US" altLang="zh-CN" sz="2800" dirty="0">
                <a:latin typeface="+mn-lt"/>
                <a:ea typeface="楷体_GB2312" pitchFamily="49" charset="-122"/>
              </a:rPr>
              <a:t> &lt;= </a:t>
            </a:r>
            <a:r>
              <a:rPr lang="en-US" altLang="zh-CN" sz="2800" i="1" dirty="0" err="1">
                <a:latin typeface="+mn-lt"/>
                <a:ea typeface="楷体_GB2312" pitchFamily="49" charset="-122"/>
              </a:rPr>
              <a:t>L</a:t>
            </a:r>
            <a:r>
              <a:rPr lang="en-US" altLang="zh-CN" sz="2800" i="1" baseline="-25000" dirty="0" err="1">
                <a:latin typeface="+mn-lt"/>
                <a:ea typeface="楷体_GB2312" pitchFamily="49" charset="-122"/>
              </a:rPr>
              <a:t>B</a:t>
            </a:r>
            <a:r>
              <a:rPr lang="en-US" altLang="zh-CN" sz="2800" dirty="0" err="1">
                <a:latin typeface="+mn-lt"/>
                <a:ea typeface="楷体_GB2312" pitchFamily="49" charset="-122"/>
              </a:rPr>
              <a:t>_len</a:t>
            </a:r>
            <a:r>
              <a:rPr lang="en-US" altLang="zh-CN" sz="2800" dirty="0">
                <a:latin typeface="+mn-lt"/>
                <a:ea typeface="楷体_GB2312" pitchFamily="49" charset="-122"/>
              </a:rPr>
              <a:t>;  </a:t>
            </a:r>
            <a:r>
              <a:rPr lang="en-US" altLang="zh-CN" sz="2800" dirty="0" err="1">
                <a:latin typeface="+mn-lt"/>
                <a:ea typeface="楷体_GB2312" pitchFamily="49" charset="-122"/>
              </a:rPr>
              <a:t>i</a:t>
            </a:r>
            <a:r>
              <a:rPr lang="en-US" altLang="zh-CN" sz="2800" dirty="0">
                <a:latin typeface="+mn-lt"/>
                <a:ea typeface="楷体_GB2312" pitchFamily="49" charset="-122"/>
              </a:rPr>
              <a:t>++)</a:t>
            </a:r>
            <a:r>
              <a:rPr lang="en-US" altLang="zh-CN" sz="2800" b="1" dirty="0">
                <a:latin typeface="+mn-lt"/>
                <a:ea typeface="楷体_GB2312" pitchFamily="49" charset="-122"/>
              </a:rPr>
              <a:t> {</a:t>
            </a:r>
            <a:endParaRPr lang="en-US" altLang="zh-CN" sz="1800" dirty="0">
              <a:latin typeface="+mn-lt"/>
            </a:endParaRPr>
          </a:p>
        </p:txBody>
      </p:sp>
      <p:sp>
        <p:nvSpPr>
          <p:cNvPr id="7" name="Text Box 5">
            <a:extLst>
              <a:ext uri="{FF2B5EF4-FFF2-40B4-BE49-F238E27FC236}">
                <a16:creationId xmlns:a16="http://schemas.microsoft.com/office/drawing/2014/main" id="{10104ED0-1FD1-4ADE-B5FC-1391665F848C}"/>
              </a:ext>
            </a:extLst>
          </p:cNvPr>
          <p:cNvSpPr txBox="1">
            <a:spLocks noChangeArrowheads="1"/>
          </p:cNvSpPr>
          <p:nvPr/>
        </p:nvSpPr>
        <p:spPr bwMode="auto">
          <a:xfrm>
            <a:off x="1099940" y="5486642"/>
            <a:ext cx="325730"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en-US" altLang="zh-CN" sz="2800" b="1" dirty="0">
                <a:latin typeface="+mn-lt"/>
                <a:ea typeface="楷体_GB2312" pitchFamily="49" charset="-122"/>
              </a:rPr>
              <a:t>}</a:t>
            </a:r>
            <a:endParaRPr lang="en-US" altLang="zh-CN" sz="2800" dirty="0">
              <a:latin typeface="+mn-lt"/>
              <a:ea typeface="楷体_GB2312" pitchFamily="49" charset="-122"/>
            </a:endParaRPr>
          </a:p>
        </p:txBody>
      </p:sp>
      <p:sp>
        <p:nvSpPr>
          <p:cNvPr id="8" name="Text Box 6">
            <a:extLst>
              <a:ext uri="{FF2B5EF4-FFF2-40B4-BE49-F238E27FC236}">
                <a16:creationId xmlns:a16="http://schemas.microsoft.com/office/drawing/2014/main" id="{0FFB92CF-E27C-4B3D-B175-9B4E0CA7FEFD}"/>
              </a:ext>
            </a:extLst>
          </p:cNvPr>
          <p:cNvSpPr txBox="1">
            <a:spLocks noChangeArrowheads="1"/>
          </p:cNvSpPr>
          <p:nvPr/>
        </p:nvSpPr>
        <p:spPr bwMode="auto">
          <a:xfrm>
            <a:off x="728663" y="6074132"/>
            <a:ext cx="15215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800" b="1" dirty="0">
                <a:latin typeface="+mn-lt"/>
                <a:ea typeface="楷体_GB2312" pitchFamily="49" charset="-122"/>
              </a:rPr>
              <a:t>}</a:t>
            </a:r>
            <a:r>
              <a:rPr lang="en-US" altLang="zh-CN" sz="2800" dirty="0">
                <a:latin typeface="+mn-lt"/>
                <a:ea typeface="楷体_GB2312" pitchFamily="49" charset="-122"/>
              </a:rPr>
              <a:t> </a:t>
            </a:r>
            <a:r>
              <a:rPr lang="en-US" altLang="zh-CN" sz="2800" dirty="0">
                <a:solidFill>
                  <a:srgbClr val="00B050"/>
                </a:solidFill>
                <a:latin typeface="+mn-lt"/>
                <a:ea typeface="楷体_GB2312" pitchFamily="49" charset="-122"/>
              </a:rPr>
              <a:t>// union</a:t>
            </a:r>
          </a:p>
        </p:txBody>
      </p:sp>
      <p:sp>
        <p:nvSpPr>
          <p:cNvPr id="9" name="矩形 8">
            <a:extLst>
              <a:ext uri="{FF2B5EF4-FFF2-40B4-BE49-F238E27FC236}">
                <a16:creationId xmlns:a16="http://schemas.microsoft.com/office/drawing/2014/main" id="{12921510-2505-44CC-8ACB-47F53231E29E}"/>
              </a:ext>
            </a:extLst>
          </p:cNvPr>
          <p:cNvSpPr/>
          <p:nvPr/>
        </p:nvSpPr>
        <p:spPr>
          <a:xfrm>
            <a:off x="6963125" y="5890967"/>
            <a:ext cx="1620957" cy="523220"/>
          </a:xfrm>
          <a:prstGeom prst="rect">
            <a:avLst/>
          </a:prstGeom>
        </p:spPr>
        <p:txBody>
          <a:bodyPr wrap="none">
            <a:spAutoFit/>
          </a:bodyPr>
          <a:lstStyle/>
          <a:p>
            <a:r>
              <a:rPr lang="zh-CN" altLang="en-US" b="1" dirty="0">
                <a:solidFill>
                  <a:srgbClr val="FF0000"/>
                </a:solidFill>
                <a:latin typeface="+mn-ea"/>
                <a:ea typeface="+mn-ea"/>
              </a:rPr>
              <a:t>复杂度？</a:t>
            </a:r>
            <a:endParaRPr lang="zh-CN" altLang="en-US" dirty="0">
              <a:solidFill>
                <a:srgbClr val="FF0000"/>
              </a:solidFill>
              <a:latin typeface="+mn-ea"/>
              <a:ea typeface="+mn-ea"/>
            </a:endParaRPr>
          </a:p>
        </p:txBody>
      </p:sp>
    </p:spTree>
    <p:extLst>
      <p:ext uri="{BB962C8B-B14F-4D97-AF65-F5344CB8AC3E}">
        <p14:creationId xmlns:p14="http://schemas.microsoft.com/office/powerpoint/2010/main" val="409616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2" presetClass="entr" presetSubtype="8" fill="hold" grpId="0" nodeType="afterEffect">
                                  <p:stCondLst>
                                    <p:cond delay="0"/>
                                  </p:stCondLst>
                                  <p:iterate type="wd">
                                    <p:tmPct val="100000"/>
                                  </p:iterate>
                                  <p:childTnLst>
                                    <p:set>
                                      <p:cBhvr>
                                        <p:cTn id="23" dur="1" fill="hold">
                                          <p:stCondLst>
                                            <p:cond delay="0"/>
                                          </p:stCondLst>
                                        </p:cTn>
                                        <p:tgtEl>
                                          <p:spTgt spid="7"/>
                                        </p:tgtEl>
                                        <p:attrNameLst>
                                          <p:attrName>style.visibility</p:attrName>
                                        </p:attrNameLst>
                                      </p:cBhvr>
                                      <p:to>
                                        <p:strVal val="visible"/>
                                      </p:to>
                                    </p:set>
                                    <p:animEffect transition="in" filter="wipe(left)">
                                      <p:cBhvr>
                                        <p:cTn id="24" dur="3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autoUpdateAnimBg="0"/>
      <p:bldP spid="6" grpId="0" build="p" autoUpdateAnimBg="0"/>
      <p:bldP spid="7" grpId="0" autoUpdateAnimBg="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A1343F-0815-4DCC-9DB1-09D3EF0F08D8}"/>
              </a:ext>
            </a:extLst>
          </p:cNvPr>
          <p:cNvSpPr>
            <a:spLocks noGrp="1"/>
          </p:cNvSpPr>
          <p:nvPr>
            <p:ph type="title"/>
          </p:nvPr>
        </p:nvSpPr>
        <p:spPr/>
        <p:txBody>
          <a:bodyPr/>
          <a:lstStyle/>
          <a:p>
            <a:r>
              <a:rPr lang="zh-CN" altLang="en-US" dirty="0"/>
              <a:t>例</a:t>
            </a:r>
            <a:r>
              <a:rPr lang="en-US" altLang="zh-CN" dirty="0"/>
              <a:t>2-2 </a:t>
            </a:r>
            <a:r>
              <a:rPr lang="zh-CN" altLang="en-US" dirty="0"/>
              <a:t>用有序表实现集合的并运算</a:t>
            </a:r>
          </a:p>
        </p:txBody>
      </p:sp>
      <p:sp>
        <p:nvSpPr>
          <p:cNvPr id="3" name="内容占位符 2">
            <a:extLst>
              <a:ext uri="{FF2B5EF4-FFF2-40B4-BE49-F238E27FC236}">
                <a16:creationId xmlns:a16="http://schemas.microsoft.com/office/drawing/2014/main" id="{3D73F40A-98C6-44D1-A000-DB9724F0CC0F}"/>
              </a:ext>
            </a:extLst>
          </p:cNvPr>
          <p:cNvSpPr>
            <a:spLocks noGrp="1"/>
          </p:cNvSpPr>
          <p:nvPr>
            <p:ph idx="1"/>
          </p:nvPr>
        </p:nvSpPr>
        <p:spPr>
          <a:xfrm>
            <a:off x="343198" y="880227"/>
            <a:ext cx="8457604" cy="4132949"/>
          </a:xfrm>
        </p:spPr>
        <p:txBody>
          <a:bodyPr/>
          <a:lstStyle/>
          <a:p>
            <a:r>
              <a:rPr lang="zh-CN" altLang="en-US" dirty="0">
                <a:latin typeface="+mn-ea"/>
                <a:ea typeface="+mn-ea"/>
              </a:rPr>
              <a:t>若线性表中的数据元素之间可以相互比较，并且数据元素在线性表中</a:t>
            </a:r>
            <a:r>
              <a:rPr lang="zh-CN" altLang="en-US" dirty="0">
                <a:solidFill>
                  <a:srgbClr val="0000FF"/>
                </a:solidFill>
                <a:latin typeface="+mn-ea"/>
                <a:ea typeface="+mn-ea"/>
              </a:rPr>
              <a:t>依值</a:t>
            </a:r>
            <a:r>
              <a:rPr lang="zh-CN" altLang="en-US" dirty="0">
                <a:latin typeface="+mn-ea"/>
                <a:ea typeface="+mn-ea"/>
              </a:rPr>
              <a:t>非递减或非递增地</a:t>
            </a:r>
            <a:r>
              <a:rPr lang="zh-CN" altLang="en-US" dirty="0">
                <a:solidFill>
                  <a:srgbClr val="0000FF"/>
                </a:solidFill>
                <a:latin typeface="+mn-ea"/>
                <a:ea typeface="+mn-ea"/>
              </a:rPr>
              <a:t>有序排列</a:t>
            </a:r>
            <a:r>
              <a:rPr lang="zh-CN" altLang="en-US" dirty="0">
                <a:latin typeface="+mn-ea"/>
                <a:ea typeface="+mn-ea"/>
              </a:rPr>
              <a:t>，即 </a:t>
            </a:r>
          </a:p>
          <a:p>
            <a:r>
              <a:rPr lang="en-US" altLang="zh-CN" dirty="0">
                <a:latin typeface="+mn-ea"/>
                <a:ea typeface="+mn-ea"/>
              </a:rPr>
              <a:t>a</a:t>
            </a:r>
            <a:r>
              <a:rPr lang="en-US" altLang="zh-CN" baseline="-25000" dirty="0">
                <a:latin typeface="+mn-ea"/>
                <a:ea typeface="+mn-ea"/>
              </a:rPr>
              <a:t>i</a:t>
            </a:r>
            <a:r>
              <a:rPr lang="en-US" altLang="zh-CN" dirty="0">
                <a:latin typeface="+mn-ea"/>
                <a:ea typeface="+mn-ea"/>
              </a:rPr>
              <a:t>≥a</a:t>
            </a:r>
            <a:r>
              <a:rPr lang="en-US" altLang="zh-CN" baseline="-25000" dirty="0">
                <a:latin typeface="+mn-ea"/>
                <a:ea typeface="+mn-ea"/>
              </a:rPr>
              <a:t>i-1</a:t>
            </a:r>
            <a:r>
              <a:rPr lang="en-US" altLang="zh-CN" dirty="0">
                <a:latin typeface="+mn-ea"/>
                <a:ea typeface="+mn-ea"/>
              </a:rPr>
              <a:t> </a:t>
            </a:r>
            <a:r>
              <a:rPr lang="zh-CN" altLang="en-US" dirty="0">
                <a:latin typeface="+mn-ea"/>
                <a:ea typeface="+mn-ea"/>
              </a:rPr>
              <a:t>或 </a:t>
            </a:r>
            <a:r>
              <a:rPr lang="en-US" altLang="zh-CN" dirty="0">
                <a:latin typeface="+mn-ea"/>
                <a:ea typeface="+mn-ea"/>
              </a:rPr>
              <a:t>a</a:t>
            </a:r>
            <a:r>
              <a:rPr lang="en-US" altLang="zh-CN" baseline="-25000" dirty="0">
                <a:latin typeface="+mn-ea"/>
                <a:ea typeface="+mn-ea"/>
              </a:rPr>
              <a:t>i</a:t>
            </a:r>
            <a:r>
              <a:rPr lang="en-US" altLang="zh-CN" dirty="0">
                <a:latin typeface="+mn-ea"/>
                <a:ea typeface="+mn-ea"/>
              </a:rPr>
              <a:t>≤a</a:t>
            </a:r>
            <a:r>
              <a:rPr lang="en-US" altLang="zh-CN" baseline="-25000" dirty="0">
                <a:latin typeface="+mn-ea"/>
                <a:ea typeface="+mn-ea"/>
              </a:rPr>
              <a:t>i-1</a:t>
            </a:r>
            <a:r>
              <a:rPr lang="en-US" altLang="zh-CN" dirty="0">
                <a:latin typeface="+mn-ea"/>
                <a:ea typeface="+mn-ea"/>
              </a:rPr>
              <a:t> (</a:t>
            </a:r>
            <a:r>
              <a:rPr lang="en-US" altLang="zh-CN" dirty="0" err="1">
                <a:latin typeface="+mn-ea"/>
                <a:ea typeface="+mn-ea"/>
              </a:rPr>
              <a:t>i</a:t>
            </a:r>
            <a:r>
              <a:rPr lang="en-US" altLang="zh-CN" dirty="0">
                <a:latin typeface="+mn-ea"/>
                <a:ea typeface="+mn-ea"/>
              </a:rPr>
              <a:t> = 2, 3, …, n)</a:t>
            </a:r>
            <a:r>
              <a:rPr lang="zh-CN" altLang="en-US" dirty="0">
                <a:latin typeface="+mn-ea"/>
                <a:ea typeface="+mn-ea"/>
              </a:rPr>
              <a:t>，则称该线性表为</a:t>
            </a:r>
            <a:r>
              <a:rPr lang="zh-CN" altLang="en-US" b="1" dirty="0">
                <a:solidFill>
                  <a:srgbClr val="FF0000"/>
                </a:solidFill>
                <a:latin typeface="+mn-ea"/>
                <a:ea typeface="+mn-ea"/>
              </a:rPr>
              <a:t>有序表</a:t>
            </a:r>
            <a:r>
              <a:rPr lang="zh-CN" altLang="en-US" dirty="0">
                <a:latin typeface="+mn-ea"/>
                <a:ea typeface="+mn-ea"/>
              </a:rPr>
              <a:t>（</a:t>
            </a:r>
            <a:r>
              <a:rPr lang="en-US" altLang="zh-CN" dirty="0">
                <a:latin typeface="+mn-ea"/>
                <a:ea typeface="+mn-ea"/>
              </a:rPr>
              <a:t>Ordered List</a:t>
            </a:r>
            <a:r>
              <a:rPr lang="zh-CN" altLang="en-US" dirty="0">
                <a:latin typeface="+mn-ea"/>
                <a:ea typeface="+mn-ea"/>
              </a:rPr>
              <a:t>）。</a:t>
            </a:r>
          </a:p>
          <a:p>
            <a:endParaRPr lang="en-US" altLang="zh-CN" dirty="0">
              <a:latin typeface="+mn-ea"/>
              <a:ea typeface="+mn-ea"/>
            </a:endParaRPr>
          </a:p>
          <a:p>
            <a:r>
              <a:rPr lang="zh-CN" altLang="en-US" dirty="0">
                <a:latin typeface="+mn-ea"/>
                <a:ea typeface="+mn-ea"/>
              </a:rPr>
              <a:t>例如：（</a:t>
            </a:r>
            <a:r>
              <a:rPr lang="en-US" altLang="zh-CN" dirty="0">
                <a:latin typeface="+mn-ea"/>
                <a:ea typeface="+mn-ea"/>
              </a:rPr>
              <a:t>2</a:t>
            </a:r>
            <a:r>
              <a:rPr lang="zh-CN" altLang="en-US" dirty="0">
                <a:latin typeface="+mn-ea"/>
                <a:ea typeface="+mn-ea"/>
              </a:rPr>
              <a:t>，</a:t>
            </a:r>
            <a:r>
              <a:rPr lang="en-US" altLang="zh-CN" dirty="0">
                <a:latin typeface="+mn-ea"/>
                <a:ea typeface="+mn-ea"/>
              </a:rPr>
              <a:t>3</a:t>
            </a:r>
            <a:r>
              <a:rPr lang="zh-CN" altLang="en-US" dirty="0">
                <a:latin typeface="+mn-ea"/>
                <a:ea typeface="+mn-ea"/>
              </a:rPr>
              <a:t>，</a:t>
            </a:r>
            <a:r>
              <a:rPr lang="en-US" altLang="zh-CN" dirty="0">
                <a:latin typeface="+mn-ea"/>
                <a:ea typeface="+mn-ea"/>
              </a:rPr>
              <a:t>3</a:t>
            </a:r>
            <a:r>
              <a:rPr lang="zh-CN" altLang="en-US" dirty="0">
                <a:latin typeface="+mn-ea"/>
                <a:ea typeface="+mn-ea"/>
              </a:rPr>
              <a:t>，</a:t>
            </a:r>
            <a:r>
              <a:rPr lang="en-US" altLang="zh-CN" dirty="0">
                <a:latin typeface="+mn-ea"/>
                <a:ea typeface="+mn-ea"/>
              </a:rPr>
              <a:t>5</a:t>
            </a:r>
            <a:r>
              <a:rPr lang="zh-CN" altLang="en-US" dirty="0">
                <a:latin typeface="+mn-ea"/>
                <a:ea typeface="+mn-ea"/>
              </a:rPr>
              <a:t>，</a:t>
            </a:r>
            <a:r>
              <a:rPr lang="en-US" altLang="zh-CN" dirty="0">
                <a:latin typeface="+mn-ea"/>
                <a:ea typeface="+mn-ea"/>
              </a:rPr>
              <a:t>6</a:t>
            </a:r>
            <a:r>
              <a:rPr lang="zh-CN" altLang="en-US" dirty="0">
                <a:latin typeface="+mn-ea"/>
                <a:ea typeface="+mn-ea"/>
              </a:rPr>
              <a:t>，</a:t>
            </a:r>
            <a:r>
              <a:rPr lang="en-US" altLang="zh-CN" dirty="0">
                <a:latin typeface="+mn-ea"/>
                <a:ea typeface="+mn-ea"/>
              </a:rPr>
              <a:t>6</a:t>
            </a:r>
            <a:r>
              <a:rPr lang="zh-CN" altLang="en-US" dirty="0">
                <a:latin typeface="+mn-ea"/>
                <a:ea typeface="+mn-ea"/>
              </a:rPr>
              <a:t>，</a:t>
            </a:r>
            <a:r>
              <a:rPr lang="en-US" altLang="zh-CN" dirty="0">
                <a:latin typeface="+mn-ea"/>
                <a:ea typeface="+mn-ea"/>
              </a:rPr>
              <a:t>6</a:t>
            </a:r>
            <a:r>
              <a:rPr lang="zh-CN" altLang="en-US" dirty="0">
                <a:latin typeface="+mn-ea"/>
                <a:ea typeface="+mn-ea"/>
              </a:rPr>
              <a:t>，</a:t>
            </a:r>
            <a:r>
              <a:rPr lang="en-US" altLang="zh-CN" dirty="0">
                <a:latin typeface="+mn-ea"/>
                <a:ea typeface="+mn-ea"/>
              </a:rPr>
              <a:t>8</a:t>
            </a:r>
            <a:r>
              <a:rPr lang="zh-CN" altLang="en-US" dirty="0">
                <a:latin typeface="+mn-ea"/>
                <a:ea typeface="+mn-ea"/>
              </a:rPr>
              <a:t>，</a:t>
            </a:r>
            <a:r>
              <a:rPr lang="en-US" altLang="zh-CN" dirty="0">
                <a:latin typeface="+mn-ea"/>
                <a:ea typeface="+mn-ea"/>
              </a:rPr>
              <a:t>12</a:t>
            </a:r>
            <a:r>
              <a:rPr lang="zh-CN" altLang="en-US" dirty="0">
                <a:latin typeface="+mn-ea"/>
                <a:ea typeface="+mn-ea"/>
              </a:rPr>
              <a:t>）</a:t>
            </a:r>
          </a:p>
          <a:p>
            <a:endParaRPr lang="zh-CN" altLang="en-US" dirty="0">
              <a:latin typeface="+mn-ea"/>
              <a:ea typeface="+mn-ea"/>
            </a:endParaRPr>
          </a:p>
        </p:txBody>
      </p:sp>
      <p:sp>
        <p:nvSpPr>
          <p:cNvPr id="4" name="Text Box 2">
            <a:extLst>
              <a:ext uri="{FF2B5EF4-FFF2-40B4-BE49-F238E27FC236}">
                <a16:creationId xmlns:a16="http://schemas.microsoft.com/office/drawing/2014/main" id="{33FEE544-2FD3-43BB-A1E7-FC2621846A33}"/>
              </a:ext>
            </a:extLst>
          </p:cNvPr>
          <p:cNvSpPr txBox="1">
            <a:spLocks noChangeArrowheads="1"/>
          </p:cNvSpPr>
          <p:nvPr/>
        </p:nvSpPr>
        <p:spPr bwMode="auto">
          <a:xfrm>
            <a:off x="323850" y="5373216"/>
            <a:ext cx="8572500" cy="72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40000"/>
              </a:lnSpc>
              <a:spcBef>
                <a:spcPct val="0"/>
              </a:spcBef>
              <a:buClrTx/>
              <a:buFontTx/>
              <a:buNone/>
            </a:pPr>
            <a:r>
              <a:rPr lang="zh-CN" altLang="en-US" dirty="0">
                <a:solidFill>
                  <a:srgbClr val="0000FF"/>
                </a:solidFill>
                <a:latin typeface="华文新魏" panose="02010800040101010101" pitchFamily="2" charset="-122"/>
                <a:ea typeface="华文新魏" panose="02010800040101010101" pitchFamily="2" charset="-122"/>
              </a:rPr>
              <a:t>有序表是数据的逻辑结构还是存储结构？</a:t>
            </a:r>
            <a:endParaRPr lang="zh-CN" altLang="en-US" sz="3600" dirty="0">
              <a:solidFill>
                <a:srgbClr val="0000FF"/>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394822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E9815A-A915-41F2-A1C9-D24AF22A5D9F}"/>
              </a:ext>
            </a:extLst>
          </p:cNvPr>
          <p:cNvSpPr>
            <a:spLocks noGrp="1"/>
          </p:cNvSpPr>
          <p:nvPr>
            <p:ph type="title"/>
          </p:nvPr>
        </p:nvSpPr>
        <p:spPr/>
        <p:txBody>
          <a:bodyPr/>
          <a:lstStyle/>
          <a:p>
            <a:r>
              <a:rPr lang="zh-CN" altLang="en-US" dirty="0"/>
              <a:t>例</a:t>
            </a:r>
            <a:r>
              <a:rPr lang="en-US" altLang="zh-CN" dirty="0"/>
              <a:t>2-2 </a:t>
            </a:r>
            <a:r>
              <a:rPr lang="zh-CN" altLang="en-US" dirty="0"/>
              <a:t>用有序表实现集合的并运算</a:t>
            </a:r>
          </a:p>
        </p:txBody>
      </p:sp>
      <p:sp>
        <p:nvSpPr>
          <p:cNvPr id="3" name="Text Box 2">
            <a:extLst>
              <a:ext uri="{FF2B5EF4-FFF2-40B4-BE49-F238E27FC236}">
                <a16:creationId xmlns:a16="http://schemas.microsoft.com/office/drawing/2014/main" id="{16626125-E485-411E-A612-CEC00352D787}"/>
              </a:ext>
            </a:extLst>
          </p:cNvPr>
          <p:cNvSpPr txBox="1">
            <a:spLocks noChangeArrowheads="1"/>
          </p:cNvSpPr>
          <p:nvPr/>
        </p:nvSpPr>
        <p:spPr bwMode="auto">
          <a:xfrm>
            <a:off x="285750" y="971641"/>
            <a:ext cx="8001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ClrTx/>
              <a:buFontTx/>
              <a:buNone/>
            </a:pPr>
            <a:r>
              <a:rPr lang="zh-CN" altLang="en-US" sz="2800" dirty="0">
                <a:latin typeface="+mn-ea"/>
                <a:ea typeface="+mn-ea"/>
              </a:rPr>
              <a:t>例，</a:t>
            </a:r>
            <a:r>
              <a:rPr lang="en-US" altLang="zh-CN" sz="2800" i="1" dirty="0">
                <a:latin typeface="+mn-ea"/>
                <a:ea typeface="+mn-ea"/>
              </a:rPr>
              <a:t>L</a:t>
            </a:r>
            <a:r>
              <a:rPr lang="en-US" altLang="zh-CN" sz="2800" i="1" baseline="-25000" dirty="0">
                <a:latin typeface="+mn-ea"/>
                <a:ea typeface="+mn-ea"/>
              </a:rPr>
              <a:t>A</a:t>
            </a:r>
            <a:r>
              <a:rPr lang="en-US" altLang="zh-CN" sz="2800" dirty="0">
                <a:latin typeface="+mn-ea"/>
                <a:ea typeface="+mn-ea"/>
              </a:rPr>
              <a:t> = ( 3, 5, 8 )</a:t>
            </a:r>
            <a:r>
              <a:rPr lang="zh-CN" altLang="en-US" sz="2800" dirty="0">
                <a:latin typeface="+mn-ea"/>
                <a:ea typeface="+mn-ea"/>
              </a:rPr>
              <a:t>，</a:t>
            </a:r>
            <a:r>
              <a:rPr lang="en-US" altLang="zh-CN" sz="2800" i="1" dirty="0">
                <a:latin typeface="+mn-ea"/>
                <a:ea typeface="+mn-ea"/>
              </a:rPr>
              <a:t>L</a:t>
            </a:r>
            <a:r>
              <a:rPr lang="en-US" altLang="zh-CN" sz="2800" i="1" baseline="-25000" dirty="0">
                <a:latin typeface="+mn-ea"/>
                <a:ea typeface="+mn-ea"/>
              </a:rPr>
              <a:t>B</a:t>
            </a:r>
            <a:r>
              <a:rPr lang="en-US" altLang="zh-CN" sz="2800" dirty="0">
                <a:latin typeface="+mn-ea"/>
                <a:ea typeface="+mn-ea"/>
              </a:rPr>
              <a:t> = ( 2, 6, 8, 9, 15 )</a:t>
            </a:r>
          </a:p>
        </p:txBody>
      </p:sp>
      <p:sp>
        <p:nvSpPr>
          <p:cNvPr id="4" name="Text Box 3">
            <a:extLst>
              <a:ext uri="{FF2B5EF4-FFF2-40B4-BE49-F238E27FC236}">
                <a16:creationId xmlns:a16="http://schemas.microsoft.com/office/drawing/2014/main" id="{A1A29553-FE3E-46C7-8762-DCBE8C7EA11B}"/>
              </a:ext>
            </a:extLst>
          </p:cNvPr>
          <p:cNvSpPr txBox="1">
            <a:spLocks noChangeArrowheads="1"/>
          </p:cNvSpPr>
          <p:nvPr/>
        </p:nvSpPr>
        <p:spPr bwMode="auto">
          <a:xfrm>
            <a:off x="1066800" y="1789113"/>
            <a:ext cx="6858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zh-CN" altLang="en-US" sz="2800" dirty="0">
                <a:latin typeface="+mn-ea"/>
                <a:ea typeface="+mn-ea"/>
              </a:rPr>
              <a:t>合并为 </a:t>
            </a:r>
            <a:r>
              <a:rPr lang="en-US" altLang="zh-CN" sz="2800" i="1" dirty="0">
                <a:latin typeface="+mn-ea"/>
                <a:ea typeface="+mn-ea"/>
              </a:rPr>
              <a:t>L</a:t>
            </a:r>
            <a:r>
              <a:rPr lang="en-US" altLang="zh-CN" sz="2800" i="1" baseline="-25000" dirty="0">
                <a:latin typeface="+mn-ea"/>
                <a:ea typeface="+mn-ea"/>
              </a:rPr>
              <a:t>C</a:t>
            </a:r>
            <a:r>
              <a:rPr lang="en-US" altLang="zh-CN" sz="2800" dirty="0">
                <a:latin typeface="+mn-ea"/>
                <a:ea typeface="+mn-ea"/>
              </a:rPr>
              <a:t> = ( 2, 3, 5, 6, 8, 8, 9, 15 )</a:t>
            </a:r>
          </a:p>
        </p:txBody>
      </p:sp>
      <p:grpSp>
        <p:nvGrpSpPr>
          <p:cNvPr id="5" name="Group 41">
            <a:extLst>
              <a:ext uri="{FF2B5EF4-FFF2-40B4-BE49-F238E27FC236}">
                <a16:creationId xmlns:a16="http://schemas.microsoft.com/office/drawing/2014/main" id="{68E89F58-FB3E-4013-B438-F02D79F9A8E5}"/>
              </a:ext>
            </a:extLst>
          </p:cNvPr>
          <p:cNvGrpSpPr>
            <a:grpSpLocks/>
          </p:cNvGrpSpPr>
          <p:nvPr/>
        </p:nvGrpSpPr>
        <p:grpSpPr bwMode="auto">
          <a:xfrm>
            <a:off x="2057400" y="2564904"/>
            <a:ext cx="1084263" cy="1676400"/>
            <a:chOff x="1056" y="1104"/>
            <a:chExt cx="683" cy="1056"/>
          </a:xfrm>
        </p:grpSpPr>
        <p:sp>
          <p:nvSpPr>
            <p:cNvPr id="6" name="Line 31">
              <a:extLst>
                <a:ext uri="{FF2B5EF4-FFF2-40B4-BE49-F238E27FC236}">
                  <a16:creationId xmlns:a16="http://schemas.microsoft.com/office/drawing/2014/main" id="{983103D2-1D20-4CF2-9DE1-C99C90FFCA3B}"/>
                </a:ext>
              </a:extLst>
            </p:cNvPr>
            <p:cNvSpPr>
              <a:spLocks noChangeShapeType="1"/>
            </p:cNvSpPr>
            <p:nvPr/>
          </p:nvSpPr>
          <p:spPr bwMode="auto">
            <a:xfrm>
              <a:off x="1056" y="1440"/>
              <a:ext cx="0" cy="7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7" name="Line 32">
              <a:extLst>
                <a:ext uri="{FF2B5EF4-FFF2-40B4-BE49-F238E27FC236}">
                  <a16:creationId xmlns:a16="http://schemas.microsoft.com/office/drawing/2014/main" id="{A2C28874-0744-4FDA-89B0-E8ECEB93F8AB}"/>
                </a:ext>
              </a:extLst>
            </p:cNvPr>
            <p:cNvSpPr>
              <a:spLocks noChangeShapeType="1"/>
            </p:cNvSpPr>
            <p:nvPr/>
          </p:nvSpPr>
          <p:spPr bwMode="auto">
            <a:xfrm>
              <a:off x="1584" y="1440"/>
              <a:ext cx="0" cy="7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8" name="Line 33">
              <a:extLst>
                <a:ext uri="{FF2B5EF4-FFF2-40B4-BE49-F238E27FC236}">
                  <a16:creationId xmlns:a16="http://schemas.microsoft.com/office/drawing/2014/main" id="{6F66D786-4D01-405C-B088-F6325B445A2C}"/>
                </a:ext>
              </a:extLst>
            </p:cNvPr>
            <p:cNvSpPr>
              <a:spLocks noChangeShapeType="1"/>
            </p:cNvSpPr>
            <p:nvPr/>
          </p:nvSpPr>
          <p:spPr bwMode="auto">
            <a:xfrm>
              <a:off x="1056" y="1440"/>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9" name="Line 34">
              <a:extLst>
                <a:ext uri="{FF2B5EF4-FFF2-40B4-BE49-F238E27FC236}">
                  <a16:creationId xmlns:a16="http://schemas.microsoft.com/office/drawing/2014/main" id="{38842705-FB3D-471E-9899-D38A3B02C002}"/>
                </a:ext>
              </a:extLst>
            </p:cNvPr>
            <p:cNvSpPr>
              <a:spLocks noChangeShapeType="1"/>
            </p:cNvSpPr>
            <p:nvPr/>
          </p:nvSpPr>
          <p:spPr bwMode="auto">
            <a:xfrm>
              <a:off x="1056" y="1680"/>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10" name="Line 35">
              <a:extLst>
                <a:ext uri="{FF2B5EF4-FFF2-40B4-BE49-F238E27FC236}">
                  <a16:creationId xmlns:a16="http://schemas.microsoft.com/office/drawing/2014/main" id="{E9D3EE02-A706-4186-BC70-6255A52AFD4B}"/>
                </a:ext>
              </a:extLst>
            </p:cNvPr>
            <p:cNvSpPr>
              <a:spLocks noChangeShapeType="1"/>
            </p:cNvSpPr>
            <p:nvPr/>
          </p:nvSpPr>
          <p:spPr bwMode="auto">
            <a:xfrm>
              <a:off x="1056" y="1920"/>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11" name="Line 36">
              <a:extLst>
                <a:ext uri="{FF2B5EF4-FFF2-40B4-BE49-F238E27FC236}">
                  <a16:creationId xmlns:a16="http://schemas.microsoft.com/office/drawing/2014/main" id="{E482703D-7593-4F10-847B-C6FA78BB8C7A}"/>
                </a:ext>
              </a:extLst>
            </p:cNvPr>
            <p:cNvSpPr>
              <a:spLocks noChangeShapeType="1"/>
            </p:cNvSpPr>
            <p:nvPr/>
          </p:nvSpPr>
          <p:spPr bwMode="auto">
            <a:xfrm>
              <a:off x="1056" y="2160"/>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12" name="Text Box 37">
              <a:extLst>
                <a:ext uri="{FF2B5EF4-FFF2-40B4-BE49-F238E27FC236}">
                  <a16:creationId xmlns:a16="http://schemas.microsoft.com/office/drawing/2014/main" id="{0C4F3156-4C77-4F75-AA19-88F99C88450B}"/>
                </a:ext>
              </a:extLst>
            </p:cNvPr>
            <p:cNvSpPr txBox="1">
              <a:spLocks noChangeArrowheads="1"/>
            </p:cNvSpPr>
            <p:nvPr/>
          </p:nvSpPr>
          <p:spPr bwMode="auto">
            <a:xfrm>
              <a:off x="1211" y="140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dirty="0">
                  <a:latin typeface="Arial" panose="020B0604020202020204" pitchFamily="34" charset="0"/>
                </a:rPr>
                <a:t>3</a:t>
              </a:r>
            </a:p>
          </p:txBody>
        </p:sp>
        <p:sp>
          <p:nvSpPr>
            <p:cNvPr id="13" name="Text Box 38">
              <a:extLst>
                <a:ext uri="{FF2B5EF4-FFF2-40B4-BE49-F238E27FC236}">
                  <a16:creationId xmlns:a16="http://schemas.microsoft.com/office/drawing/2014/main" id="{119A1E74-1AB1-473D-B401-453EE47513CB}"/>
                </a:ext>
              </a:extLst>
            </p:cNvPr>
            <p:cNvSpPr txBox="1">
              <a:spLocks noChangeArrowheads="1"/>
            </p:cNvSpPr>
            <p:nvPr/>
          </p:nvSpPr>
          <p:spPr bwMode="auto">
            <a:xfrm>
              <a:off x="1211" y="1654"/>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5</a:t>
              </a:r>
            </a:p>
          </p:txBody>
        </p:sp>
        <p:sp>
          <p:nvSpPr>
            <p:cNvPr id="14" name="Text Box 39">
              <a:extLst>
                <a:ext uri="{FF2B5EF4-FFF2-40B4-BE49-F238E27FC236}">
                  <a16:creationId xmlns:a16="http://schemas.microsoft.com/office/drawing/2014/main" id="{FAC69BAD-4703-4133-A022-DB08DBA52D8B}"/>
                </a:ext>
              </a:extLst>
            </p:cNvPr>
            <p:cNvSpPr txBox="1">
              <a:spLocks noChangeArrowheads="1"/>
            </p:cNvSpPr>
            <p:nvPr/>
          </p:nvSpPr>
          <p:spPr bwMode="auto">
            <a:xfrm>
              <a:off x="1211" y="188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8</a:t>
              </a:r>
            </a:p>
          </p:txBody>
        </p:sp>
        <p:sp>
          <p:nvSpPr>
            <p:cNvPr id="15" name="Text Box 40">
              <a:extLst>
                <a:ext uri="{FF2B5EF4-FFF2-40B4-BE49-F238E27FC236}">
                  <a16:creationId xmlns:a16="http://schemas.microsoft.com/office/drawing/2014/main" id="{E271A04B-8B8D-42AD-8898-666BFCF3E238}"/>
                </a:ext>
              </a:extLst>
            </p:cNvPr>
            <p:cNvSpPr txBox="1">
              <a:spLocks noChangeArrowheads="1"/>
            </p:cNvSpPr>
            <p:nvPr/>
          </p:nvSpPr>
          <p:spPr bwMode="auto">
            <a:xfrm>
              <a:off x="1152" y="1104"/>
              <a:ext cx="5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i="1" dirty="0">
                  <a:latin typeface="Comic Sans MS" panose="030F0702030302020204" pitchFamily="66" charset="0"/>
                  <a:ea typeface="楷体_GB2312" pitchFamily="49" charset="-122"/>
                </a:rPr>
                <a:t>L</a:t>
              </a:r>
              <a:r>
                <a:rPr lang="en-US" altLang="zh-CN" sz="2000" i="1" baseline="-25000" dirty="0">
                  <a:latin typeface="Comic Sans MS" panose="030F0702030302020204" pitchFamily="66" charset="0"/>
                  <a:ea typeface="楷体_GB2312" pitchFamily="49" charset="-122"/>
                </a:rPr>
                <a:t>A</a:t>
              </a:r>
              <a:endParaRPr lang="en-US" altLang="zh-CN" sz="2000" b="1" dirty="0">
                <a:latin typeface="Arial" panose="020B0604020202020204" pitchFamily="34" charset="0"/>
              </a:endParaRPr>
            </a:p>
          </p:txBody>
        </p:sp>
      </p:grpSp>
      <p:grpSp>
        <p:nvGrpSpPr>
          <p:cNvPr id="16" name="Group 106">
            <a:extLst>
              <a:ext uri="{FF2B5EF4-FFF2-40B4-BE49-F238E27FC236}">
                <a16:creationId xmlns:a16="http://schemas.microsoft.com/office/drawing/2014/main" id="{71E88C4E-DE50-45E5-90EE-B1EF65C114F3}"/>
              </a:ext>
            </a:extLst>
          </p:cNvPr>
          <p:cNvGrpSpPr>
            <a:grpSpLocks/>
          </p:cNvGrpSpPr>
          <p:nvPr/>
        </p:nvGrpSpPr>
        <p:grpSpPr bwMode="auto">
          <a:xfrm>
            <a:off x="3335338" y="2564904"/>
            <a:ext cx="1101725" cy="2438400"/>
            <a:chOff x="1957" y="1536"/>
            <a:chExt cx="694" cy="1536"/>
          </a:xfrm>
        </p:grpSpPr>
        <p:sp>
          <p:nvSpPr>
            <p:cNvPr id="17" name="Line 43">
              <a:extLst>
                <a:ext uri="{FF2B5EF4-FFF2-40B4-BE49-F238E27FC236}">
                  <a16:creationId xmlns:a16="http://schemas.microsoft.com/office/drawing/2014/main" id="{BAA2E4AD-1562-4D26-8EB0-A1935C644B1A}"/>
                </a:ext>
              </a:extLst>
            </p:cNvPr>
            <p:cNvSpPr>
              <a:spLocks noChangeShapeType="1"/>
            </p:cNvSpPr>
            <p:nvPr/>
          </p:nvSpPr>
          <p:spPr bwMode="auto">
            <a:xfrm>
              <a:off x="1957" y="1872"/>
              <a:ext cx="11" cy="1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18" name="Line 44">
              <a:extLst>
                <a:ext uri="{FF2B5EF4-FFF2-40B4-BE49-F238E27FC236}">
                  <a16:creationId xmlns:a16="http://schemas.microsoft.com/office/drawing/2014/main" id="{736EC457-CF2D-4BA0-94FC-3F5484088BF4}"/>
                </a:ext>
              </a:extLst>
            </p:cNvPr>
            <p:cNvSpPr>
              <a:spLocks noChangeShapeType="1"/>
            </p:cNvSpPr>
            <p:nvPr/>
          </p:nvSpPr>
          <p:spPr bwMode="auto">
            <a:xfrm>
              <a:off x="2496" y="1872"/>
              <a:ext cx="11" cy="1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19" name="Line 45">
              <a:extLst>
                <a:ext uri="{FF2B5EF4-FFF2-40B4-BE49-F238E27FC236}">
                  <a16:creationId xmlns:a16="http://schemas.microsoft.com/office/drawing/2014/main" id="{188DC4F4-03AD-46DC-82F0-BD15C86E627B}"/>
                </a:ext>
              </a:extLst>
            </p:cNvPr>
            <p:cNvSpPr>
              <a:spLocks noChangeShapeType="1"/>
            </p:cNvSpPr>
            <p:nvPr/>
          </p:nvSpPr>
          <p:spPr bwMode="auto">
            <a:xfrm>
              <a:off x="1968" y="187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0" name="Line 46">
              <a:extLst>
                <a:ext uri="{FF2B5EF4-FFF2-40B4-BE49-F238E27FC236}">
                  <a16:creationId xmlns:a16="http://schemas.microsoft.com/office/drawing/2014/main" id="{062564D6-B987-4DD3-A331-5120BCA3AFDE}"/>
                </a:ext>
              </a:extLst>
            </p:cNvPr>
            <p:cNvSpPr>
              <a:spLocks noChangeShapeType="1"/>
            </p:cNvSpPr>
            <p:nvPr/>
          </p:nvSpPr>
          <p:spPr bwMode="auto">
            <a:xfrm>
              <a:off x="1968" y="211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1" name="Line 47">
              <a:extLst>
                <a:ext uri="{FF2B5EF4-FFF2-40B4-BE49-F238E27FC236}">
                  <a16:creationId xmlns:a16="http://schemas.microsoft.com/office/drawing/2014/main" id="{F58FFB99-16F5-4E7E-BF2B-2C3453E1A643}"/>
                </a:ext>
              </a:extLst>
            </p:cNvPr>
            <p:cNvSpPr>
              <a:spLocks noChangeShapeType="1"/>
            </p:cNvSpPr>
            <p:nvPr/>
          </p:nvSpPr>
          <p:spPr bwMode="auto">
            <a:xfrm>
              <a:off x="1968" y="235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2" name="Line 48">
              <a:extLst>
                <a:ext uri="{FF2B5EF4-FFF2-40B4-BE49-F238E27FC236}">
                  <a16:creationId xmlns:a16="http://schemas.microsoft.com/office/drawing/2014/main" id="{EDEEDDE1-9D3F-4847-860C-EA7F53FD0C80}"/>
                </a:ext>
              </a:extLst>
            </p:cNvPr>
            <p:cNvSpPr>
              <a:spLocks noChangeShapeType="1"/>
            </p:cNvSpPr>
            <p:nvPr/>
          </p:nvSpPr>
          <p:spPr bwMode="auto">
            <a:xfrm>
              <a:off x="1968" y="259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3" name="Text Box 49">
              <a:extLst>
                <a:ext uri="{FF2B5EF4-FFF2-40B4-BE49-F238E27FC236}">
                  <a16:creationId xmlns:a16="http://schemas.microsoft.com/office/drawing/2014/main" id="{B96C3B19-FA1D-43E4-9479-E62BBFD8C660}"/>
                </a:ext>
              </a:extLst>
            </p:cNvPr>
            <p:cNvSpPr txBox="1">
              <a:spLocks noChangeArrowheads="1"/>
            </p:cNvSpPr>
            <p:nvPr/>
          </p:nvSpPr>
          <p:spPr bwMode="auto">
            <a:xfrm>
              <a:off x="2123" y="1835"/>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2</a:t>
              </a:r>
            </a:p>
          </p:txBody>
        </p:sp>
        <p:sp>
          <p:nvSpPr>
            <p:cNvPr id="24" name="Text Box 50">
              <a:extLst>
                <a:ext uri="{FF2B5EF4-FFF2-40B4-BE49-F238E27FC236}">
                  <a16:creationId xmlns:a16="http://schemas.microsoft.com/office/drawing/2014/main" id="{80D3E007-7789-4D32-B237-6502318F1DFD}"/>
                </a:ext>
              </a:extLst>
            </p:cNvPr>
            <p:cNvSpPr txBox="1">
              <a:spLocks noChangeArrowheads="1"/>
            </p:cNvSpPr>
            <p:nvPr/>
          </p:nvSpPr>
          <p:spPr bwMode="auto">
            <a:xfrm>
              <a:off x="2123" y="2086"/>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6</a:t>
              </a:r>
            </a:p>
          </p:txBody>
        </p:sp>
        <p:sp>
          <p:nvSpPr>
            <p:cNvPr id="25" name="Text Box 51">
              <a:extLst>
                <a:ext uri="{FF2B5EF4-FFF2-40B4-BE49-F238E27FC236}">
                  <a16:creationId xmlns:a16="http://schemas.microsoft.com/office/drawing/2014/main" id="{0B6C0697-8ED3-400F-8509-88A1196374BD}"/>
                </a:ext>
              </a:extLst>
            </p:cNvPr>
            <p:cNvSpPr txBox="1">
              <a:spLocks noChangeArrowheads="1"/>
            </p:cNvSpPr>
            <p:nvPr/>
          </p:nvSpPr>
          <p:spPr bwMode="auto">
            <a:xfrm>
              <a:off x="2123" y="2315"/>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8</a:t>
              </a:r>
            </a:p>
          </p:txBody>
        </p:sp>
        <p:sp>
          <p:nvSpPr>
            <p:cNvPr id="26" name="Text Box 52">
              <a:extLst>
                <a:ext uri="{FF2B5EF4-FFF2-40B4-BE49-F238E27FC236}">
                  <a16:creationId xmlns:a16="http://schemas.microsoft.com/office/drawing/2014/main" id="{883AE26C-750C-41F8-9D82-4343B5460827}"/>
                </a:ext>
              </a:extLst>
            </p:cNvPr>
            <p:cNvSpPr txBox="1">
              <a:spLocks noChangeArrowheads="1"/>
            </p:cNvSpPr>
            <p:nvPr/>
          </p:nvSpPr>
          <p:spPr bwMode="auto">
            <a:xfrm>
              <a:off x="2064" y="1536"/>
              <a:ext cx="5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i="1" dirty="0">
                  <a:latin typeface="Comic Sans MS" panose="030F0702030302020204" pitchFamily="66" charset="0"/>
                  <a:ea typeface="楷体_GB2312" pitchFamily="49" charset="-122"/>
                </a:rPr>
                <a:t>L</a:t>
              </a:r>
              <a:r>
                <a:rPr lang="en-US" altLang="zh-CN" sz="2000" i="1" baseline="-25000" dirty="0">
                  <a:latin typeface="Comic Sans MS" panose="030F0702030302020204" pitchFamily="66" charset="0"/>
                  <a:ea typeface="楷体_GB2312" pitchFamily="49" charset="-122"/>
                </a:rPr>
                <a:t>B</a:t>
              </a:r>
              <a:endParaRPr lang="en-US" altLang="zh-CN" sz="2000" b="1" dirty="0">
                <a:latin typeface="Arial" panose="020B0604020202020204" pitchFamily="34" charset="0"/>
              </a:endParaRPr>
            </a:p>
          </p:txBody>
        </p:sp>
        <p:sp>
          <p:nvSpPr>
            <p:cNvPr id="27" name="Line 53">
              <a:extLst>
                <a:ext uri="{FF2B5EF4-FFF2-40B4-BE49-F238E27FC236}">
                  <a16:creationId xmlns:a16="http://schemas.microsoft.com/office/drawing/2014/main" id="{DC6C6AEE-AB70-4B4A-B95A-1C4F9FE9A1F9}"/>
                </a:ext>
              </a:extLst>
            </p:cNvPr>
            <p:cNvSpPr>
              <a:spLocks noChangeShapeType="1"/>
            </p:cNvSpPr>
            <p:nvPr/>
          </p:nvSpPr>
          <p:spPr bwMode="auto">
            <a:xfrm>
              <a:off x="1979" y="283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8" name="Line 54">
              <a:extLst>
                <a:ext uri="{FF2B5EF4-FFF2-40B4-BE49-F238E27FC236}">
                  <a16:creationId xmlns:a16="http://schemas.microsoft.com/office/drawing/2014/main" id="{84E3A607-2FEA-462D-873F-C3C6B37F346D}"/>
                </a:ext>
              </a:extLst>
            </p:cNvPr>
            <p:cNvSpPr>
              <a:spLocks noChangeShapeType="1"/>
            </p:cNvSpPr>
            <p:nvPr/>
          </p:nvSpPr>
          <p:spPr bwMode="auto">
            <a:xfrm>
              <a:off x="1979" y="307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sp>
          <p:nvSpPr>
            <p:cNvPr id="29" name="Text Box 55">
              <a:extLst>
                <a:ext uri="{FF2B5EF4-FFF2-40B4-BE49-F238E27FC236}">
                  <a16:creationId xmlns:a16="http://schemas.microsoft.com/office/drawing/2014/main" id="{9E17E80F-93F3-44E2-8766-252AA296D611}"/>
                </a:ext>
              </a:extLst>
            </p:cNvPr>
            <p:cNvSpPr txBox="1">
              <a:spLocks noChangeArrowheads="1"/>
            </p:cNvSpPr>
            <p:nvPr/>
          </p:nvSpPr>
          <p:spPr bwMode="auto">
            <a:xfrm>
              <a:off x="2123" y="2555"/>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9</a:t>
              </a:r>
            </a:p>
          </p:txBody>
        </p:sp>
        <p:sp>
          <p:nvSpPr>
            <p:cNvPr id="30" name="Text Box 56">
              <a:extLst>
                <a:ext uri="{FF2B5EF4-FFF2-40B4-BE49-F238E27FC236}">
                  <a16:creationId xmlns:a16="http://schemas.microsoft.com/office/drawing/2014/main" id="{75B2E74A-9372-49E9-8A29-FB0EFE29402D}"/>
                </a:ext>
              </a:extLst>
            </p:cNvPr>
            <p:cNvSpPr txBox="1">
              <a:spLocks noChangeArrowheads="1"/>
            </p:cNvSpPr>
            <p:nvPr/>
          </p:nvSpPr>
          <p:spPr bwMode="auto">
            <a:xfrm>
              <a:off x="2064" y="2795"/>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15</a:t>
              </a:r>
            </a:p>
          </p:txBody>
        </p:sp>
      </p:grpSp>
      <p:sp>
        <p:nvSpPr>
          <p:cNvPr id="31" name="Text Box 58">
            <a:extLst>
              <a:ext uri="{FF2B5EF4-FFF2-40B4-BE49-F238E27FC236}">
                <a16:creationId xmlns:a16="http://schemas.microsoft.com/office/drawing/2014/main" id="{AE24A1D4-B610-4A06-B5AB-173BA8F2CE3D}"/>
              </a:ext>
            </a:extLst>
          </p:cNvPr>
          <p:cNvSpPr txBox="1">
            <a:spLocks noChangeArrowheads="1"/>
          </p:cNvSpPr>
          <p:nvPr/>
        </p:nvSpPr>
        <p:spPr bwMode="auto">
          <a:xfrm>
            <a:off x="6019800" y="2564904"/>
            <a:ext cx="12954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i="1" dirty="0">
                <a:latin typeface="Comic Sans MS" panose="030F0702030302020204" pitchFamily="66" charset="0"/>
                <a:ea typeface="楷体_GB2312" pitchFamily="49" charset="-122"/>
              </a:rPr>
              <a:t>L</a:t>
            </a:r>
            <a:r>
              <a:rPr lang="en-US" altLang="zh-CN" sz="2000" i="1" baseline="-25000" dirty="0">
                <a:latin typeface="Comic Sans MS" panose="030F0702030302020204" pitchFamily="66" charset="0"/>
                <a:ea typeface="楷体_GB2312" pitchFamily="49" charset="-122"/>
              </a:rPr>
              <a:t>C</a:t>
            </a:r>
          </a:p>
          <a:p>
            <a:pPr eaLnBrk="1" hangingPunct="1">
              <a:spcBef>
                <a:spcPct val="50000"/>
              </a:spcBef>
              <a:buClrTx/>
              <a:buFontTx/>
              <a:buNone/>
            </a:pPr>
            <a:endParaRPr lang="en-US" altLang="zh-CN" sz="2000" b="1" dirty="0">
              <a:latin typeface="Arial" panose="020B0604020202020204" pitchFamily="34" charset="0"/>
            </a:endParaRPr>
          </a:p>
        </p:txBody>
      </p:sp>
      <p:grpSp>
        <p:nvGrpSpPr>
          <p:cNvPr id="32" name="Group 80">
            <a:extLst>
              <a:ext uri="{FF2B5EF4-FFF2-40B4-BE49-F238E27FC236}">
                <a16:creationId xmlns:a16="http://schemas.microsoft.com/office/drawing/2014/main" id="{A20F58AC-6159-4FCE-912A-2DC7287906F3}"/>
              </a:ext>
            </a:extLst>
          </p:cNvPr>
          <p:cNvGrpSpPr>
            <a:grpSpLocks/>
          </p:cNvGrpSpPr>
          <p:nvPr/>
        </p:nvGrpSpPr>
        <p:grpSpPr bwMode="auto">
          <a:xfrm>
            <a:off x="1371600" y="3039566"/>
            <a:ext cx="5597525" cy="455613"/>
            <a:chOff x="720" y="1835"/>
            <a:chExt cx="3526" cy="287"/>
          </a:xfrm>
        </p:grpSpPr>
        <p:grpSp>
          <p:nvGrpSpPr>
            <p:cNvPr id="33" name="Group 61">
              <a:extLst>
                <a:ext uri="{FF2B5EF4-FFF2-40B4-BE49-F238E27FC236}">
                  <a16:creationId xmlns:a16="http://schemas.microsoft.com/office/drawing/2014/main" id="{802EE8E5-D183-4776-9557-C06D78A60EFF}"/>
                </a:ext>
              </a:extLst>
            </p:cNvPr>
            <p:cNvGrpSpPr>
              <a:grpSpLocks/>
            </p:cNvGrpSpPr>
            <p:nvPr/>
          </p:nvGrpSpPr>
          <p:grpSpPr bwMode="auto">
            <a:xfrm>
              <a:off x="720" y="1861"/>
              <a:ext cx="384" cy="250"/>
              <a:chOff x="624" y="1429"/>
              <a:chExt cx="384" cy="250"/>
            </a:xfrm>
          </p:grpSpPr>
          <p:sp>
            <p:nvSpPr>
              <p:cNvPr id="40" name="Text Box 59">
                <a:extLst>
                  <a:ext uri="{FF2B5EF4-FFF2-40B4-BE49-F238E27FC236}">
                    <a16:creationId xmlns:a16="http://schemas.microsoft.com/office/drawing/2014/main" id="{B2DB8812-E6B3-4AF3-BF20-7FDEEE0333E7}"/>
                  </a:ext>
                </a:extLst>
              </p:cNvPr>
              <p:cNvSpPr txBox="1">
                <a:spLocks noChangeArrowheads="1"/>
              </p:cNvSpPr>
              <p:nvPr/>
            </p:nvSpPr>
            <p:spPr bwMode="auto">
              <a:xfrm>
                <a:off x="624" y="1429"/>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i</a:t>
                </a:r>
              </a:p>
            </p:txBody>
          </p:sp>
          <p:sp>
            <p:nvSpPr>
              <p:cNvPr id="41" name="Line 60">
                <a:extLst>
                  <a:ext uri="{FF2B5EF4-FFF2-40B4-BE49-F238E27FC236}">
                    <a16:creationId xmlns:a16="http://schemas.microsoft.com/office/drawing/2014/main" id="{9A9B42A2-97A1-4154-8FFD-49B1640B3C70}"/>
                  </a:ext>
                </a:extLst>
              </p:cNvPr>
              <p:cNvSpPr>
                <a:spLocks noChangeShapeType="1"/>
              </p:cNvSpPr>
              <p:nvPr/>
            </p:nvSpPr>
            <p:spPr bwMode="auto">
              <a:xfrm>
                <a:off x="768" y="1562"/>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34" name="Group 65">
              <a:extLst>
                <a:ext uri="{FF2B5EF4-FFF2-40B4-BE49-F238E27FC236}">
                  <a16:creationId xmlns:a16="http://schemas.microsoft.com/office/drawing/2014/main" id="{4CC72A02-FA66-4E5B-B690-6B90CF6A536F}"/>
                </a:ext>
              </a:extLst>
            </p:cNvPr>
            <p:cNvGrpSpPr>
              <a:grpSpLocks/>
            </p:cNvGrpSpPr>
            <p:nvPr/>
          </p:nvGrpSpPr>
          <p:grpSpPr bwMode="auto">
            <a:xfrm>
              <a:off x="2544" y="1872"/>
              <a:ext cx="528" cy="250"/>
              <a:chOff x="2592" y="1440"/>
              <a:chExt cx="528" cy="250"/>
            </a:xfrm>
          </p:grpSpPr>
          <p:sp>
            <p:nvSpPr>
              <p:cNvPr id="38" name="Text Box 63">
                <a:extLst>
                  <a:ext uri="{FF2B5EF4-FFF2-40B4-BE49-F238E27FC236}">
                    <a16:creationId xmlns:a16="http://schemas.microsoft.com/office/drawing/2014/main" id="{58DCC8E8-61E2-40DB-8818-990128E63B5B}"/>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39" name="Line 64">
                <a:extLst>
                  <a:ext uri="{FF2B5EF4-FFF2-40B4-BE49-F238E27FC236}">
                    <a16:creationId xmlns:a16="http://schemas.microsoft.com/office/drawing/2014/main" id="{D47CA878-08D1-4CA1-B0AF-6C06CDB0D658}"/>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35" name="Group 68">
              <a:extLst>
                <a:ext uri="{FF2B5EF4-FFF2-40B4-BE49-F238E27FC236}">
                  <a16:creationId xmlns:a16="http://schemas.microsoft.com/office/drawing/2014/main" id="{CBD0320F-26D9-42CB-A142-0A29809FD586}"/>
                </a:ext>
              </a:extLst>
            </p:cNvPr>
            <p:cNvGrpSpPr>
              <a:grpSpLocks/>
            </p:cNvGrpSpPr>
            <p:nvPr/>
          </p:nvGrpSpPr>
          <p:grpSpPr bwMode="auto">
            <a:xfrm>
              <a:off x="3552" y="1835"/>
              <a:ext cx="694" cy="266"/>
              <a:chOff x="3552" y="1403"/>
              <a:chExt cx="694" cy="266"/>
            </a:xfrm>
          </p:grpSpPr>
          <p:sp>
            <p:nvSpPr>
              <p:cNvPr id="36" name="Rectangle 66">
                <a:extLst>
                  <a:ext uri="{FF2B5EF4-FFF2-40B4-BE49-F238E27FC236}">
                    <a16:creationId xmlns:a16="http://schemas.microsoft.com/office/drawing/2014/main" id="{810A5525-4D99-44E8-B3E4-D7B96DB7FA53}"/>
                  </a:ext>
                </a:extLst>
              </p:cNvPr>
              <p:cNvSpPr>
                <a:spLocks noChangeArrowheads="1"/>
              </p:cNvSpPr>
              <p:nvPr/>
            </p:nvSpPr>
            <p:spPr bwMode="auto">
              <a:xfrm>
                <a:off x="3552" y="1429"/>
                <a:ext cx="528" cy="24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sp>
            <p:nvSpPr>
              <p:cNvPr id="37" name="Text Box 67">
                <a:extLst>
                  <a:ext uri="{FF2B5EF4-FFF2-40B4-BE49-F238E27FC236}">
                    <a16:creationId xmlns:a16="http://schemas.microsoft.com/office/drawing/2014/main" id="{013AFEF9-D387-474E-9B2C-0911384DC5E5}"/>
                  </a:ext>
                </a:extLst>
              </p:cNvPr>
              <p:cNvSpPr txBox="1">
                <a:spLocks noChangeArrowheads="1"/>
              </p:cNvSpPr>
              <p:nvPr/>
            </p:nvSpPr>
            <p:spPr bwMode="auto">
              <a:xfrm>
                <a:off x="3718" y="140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2</a:t>
                </a:r>
              </a:p>
            </p:txBody>
          </p:sp>
        </p:grpSp>
      </p:grpSp>
      <p:grpSp>
        <p:nvGrpSpPr>
          <p:cNvPr id="43" name="Group 93">
            <a:extLst>
              <a:ext uri="{FF2B5EF4-FFF2-40B4-BE49-F238E27FC236}">
                <a16:creationId xmlns:a16="http://schemas.microsoft.com/office/drawing/2014/main" id="{CCFE215D-992D-4E90-8B8A-D832A2FD483A}"/>
              </a:ext>
            </a:extLst>
          </p:cNvPr>
          <p:cNvGrpSpPr>
            <a:grpSpLocks/>
          </p:cNvGrpSpPr>
          <p:nvPr/>
        </p:nvGrpSpPr>
        <p:grpSpPr bwMode="auto">
          <a:xfrm>
            <a:off x="1371600" y="3080841"/>
            <a:ext cx="5597525" cy="779463"/>
            <a:chOff x="720" y="1861"/>
            <a:chExt cx="3526" cy="491"/>
          </a:xfrm>
        </p:grpSpPr>
        <p:grpSp>
          <p:nvGrpSpPr>
            <p:cNvPr id="44" name="Group 91">
              <a:extLst>
                <a:ext uri="{FF2B5EF4-FFF2-40B4-BE49-F238E27FC236}">
                  <a16:creationId xmlns:a16="http://schemas.microsoft.com/office/drawing/2014/main" id="{7740912E-D5AB-41DC-800C-2361F24F6BDA}"/>
                </a:ext>
              </a:extLst>
            </p:cNvPr>
            <p:cNvGrpSpPr>
              <a:grpSpLocks/>
            </p:cNvGrpSpPr>
            <p:nvPr/>
          </p:nvGrpSpPr>
          <p:grpSpPr bwMode="auto">
            <a:xfrm>
              <a:off x="720" y="1861"/>
              <a:ext cx="3526" cy="491"/>
              <a:chOff x="720" y="2160"/>
              <a:chExt cx="3526" cy="491"/>
            </a:xfrm>
          </p:grpSpPr>
          <p:grpSp>
            <p:nvGrpSpPr>
              <p:cNvPr id="46" name="Group 69">
                <a:extLst>
                  <a:ext uri="{FF2B5EF4-FFF2-40B4-BE49-F238E27FC236}">
                    <a16:creationId xmlns:a16="http://schemas.microsoft.com/office/drawing/2014/main" id="{BEA96215-DD11-438F-9C9B-5F479E3941A1}"/>
                  </a:ext>
                </a:extLst>
              </p:cNvPr>
              <p:cNvGrpSpPr>
                <a:grpSpLocks/>
              </p:cNvGrpSpPr>
              <p:nvPr/>
            </p:nvGrpSpPr>
            <p:grpSpPr bwMode="auto">
              <a:xfrm>
                <a:off x="3552" y="2374"/>
                <a:ext cx="694" cy="266"/>
                <a:chOff x="3552" y="1403"/>
                <a:chExt cx="694" cy="266"/>
              </a:xfrm>
            </p:grpSpPr>
            <p:sp>
              <p:nvSpPr>
                <p:cNvPr id="53" name="Rectangle 70">
                  <a:extLst>
                    <a:ext uri="{FF2B5EF4-FFF2-40B4-BE49-F238E27FC236}">
                      <a16:creationId xmlns:a16="http://schemas.microsoft.com/office/drawing/2014/main" id="{F26958C2-FB69-41F5-9CE9-F9DA1CA58615}"/>
                    </a:ext>
                  </a:extLst>
                </p:cNvPr>
                <p:cNvSpPr>
                  <a:spLocks noChangeArrowheads="1"/>
                </p:cNvSpPr>
                <p:nvPr/>
              </p:nvSpPr>
              <p:spPr bwMode="auto">
                <a:xfrm>
                  <a:off x="3552" y="1429"/>
                  <a:ext cx="528" cy="24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sp>
              <p:nvSpPr>
                <p:cNvPr id="54" name="Text Box 71">
                  <a:extLst>
                    <a:ext uri="{FF2B5EF4-FFF2-40B4-BE49-F238E27FC236}">
                      <a16:creationId xmlns:a16="http://schemas.microsoft.com/office/drawing/2014/main" id="{92A7227B-D44B-4DC8-BD13-5438E2AB7A07}"/>
                    </a:ext>
                  </a:extLst>
                </p:cNvPr>
                <p:cNvSpPr txBox="1">
                  <a:spLocks noChangeArrowheads="1"/>
                </p:cNvSpPr>
                <p:nvPr/>
              </p:nvSpPr>
              <p:spPr bwMode="auto">
                <a:xfrm>
                  <a:off x="3718" y="140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3</a:t>
                  </a:r>
                </a:p>
              </p:txBody>
            </p:sp>
          </p:grpSp>
          <p:grpSp>
            <p:nvGrpSpPr>
              <p:cNvPr id="47" name="Group 72">
                <a:extLst>
                  <a:ext uri="{FF2B5EF4-FFF2-40B4-BE49-F238E27FC236}">
                    <a16:creationId xmlns:a16="http://schemas.microsoft.com/office/drawing/2014/main" id="{1D3D4F3B-1EBB-49EB-84B5-5D7370B55CFA}"/>
                  </a:ext>
                </a:extLst>
              </p:cNvPr>
              <p:cNvGrpSpPr>
                <a:grpSpLocks/>
              </p:cNvGrpSpPr>
              <p:nvPr/>
            </p:nvGrpSpPr>
            <p:grpSpPr bwMode="auto">
              <a:xfrm>
                <a:off x="720" y="2160"/>
                <a:ext cx="384" cy="250"/>
                <a:chOff x="624" y="1429"/>
                <a:chExt cx="384" cy="250"/>
              </a:xfrm>
            </p:grpSpPr>
            <p:sp>
              <p:nvSpPr>
                <p:cNvPr id="51" name="Text Box 73">
                  <a:extLst>
                    <a:ext uri="{FF2B5EF4-FFF2-40B4-BE49-F238E27FC236}">
                      <a16:creationId xmlns:a16="http://schemas.microsoft.com/office/drawing/2014/main" id="{B4787CAE-5C43-49E7-8B39-53C238C2E73C}"/>
                    </a:ext>
                  </a:extLst>
                </p:cNvPr>
                <p:cNvSpPr txBox="1">
                  <a:spLocks noChangeArrowheads="1"/>
                </p:cNvSpPr>
                <p:nvPr/>
              </p:nvSpPr>
              <p:spPr bwMode="auto">
                <a:xfrm>
                  <a:off x="624" y="1429"/>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i</a:t>
                  </a:r>
                </a:p>
              </p:txBody>
            </p:sp>
            <p:sp>
              <p:nvSpPr>
                <p:cNvPr id="52" name="Line 74">
                  <a:extLst>
                    <a:ext uri="{FF2B5EF4-FFF2-40B4-BE49-F238E27FC236}">
                      <a16:creationId xmlns:a16="http://schemas.microsoft.com/office/drawing/2014/main" id="{3E5B54AC-DAB1-4CEA-83D3-0B1BEE97B1D0}"/>
                    </a:ext>
                  </a:extLst>
                </p:cNvPr>
                <p:cNvSpPr>
                  <a:spLocks noChangeShapeType="1"/>
                </p:cNvSpPr>
                <p:nvPr/>
              </p:nvSpPr>
              <p:spPr bwMode="auto">
                <a:xfrm>
                  <a:off x="768" y="1562"/>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48" name="Group 75">
                <a:extLst>
                  <a:ext uri="{FF2B5EF4-FFF2-40B4-BE49-F238E27FC236}">
                    <a16:creationId xmlns:a16="http://schemas.microsoft.com/office/drawing/2014/main" id="{79E20A1F-3316-4538-93CE-7258A75D0E49}"/>
                  </a:ext>
                </a:extLst>
              </p:cNvPr>
              <p:cNvGrpSpPr>
                <a:grpSpLocks/>
              </p:cNvGrpSpPr>
              <p:nvPr/>
            </p:nvGrpSpPr>
            <p:grpSpPr bwMode="auto">
              <a:xfrm>
                <a:off x="2544" y="2401"/>
                <a:ext cx="528" cy="250"/>
                <a:chOff x="2592" y="1440"/>
                <a:chExt cx="528" cy="250"/>
              </a:xfrm>
            </p:grpSpPr>
            <p:sp>
              <p:nvSpPr>
                <p:cNvPr id="49" name="Text Box 76">
                  <a:extLst>
                    <a:ext uri="{FF2B5EF4-FFF2-40B4-BE49-F238E27FC236}">
                      <a16:creationId xmlns:a16="http://schemas.microsoft.com/office/drawing/2014/main" id="{B7BA97D1-ECB3-4463-B51C-10509A60FD59}"/>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50" name="Line 77">
                  <a:extLst>
                    <a:ext uri="{FF2B5EF4-FFF2-40B4-BE49-F238E27FC236}">
                      <a16:creationId xmlns:a16="http://schemas.microsoft.com/office/drawing/2014/main" id="{4E3ED396-AFC4-436A-AF0F-C597A61EDE1E}"/>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sp>
          <p:nvSpPr>
            <p:cNvPr id="45" name="Rectangle 92">
              <a:extLst>
                <a:ext uri="{FF2B5EF4-FFF2-40B4-BE49-F238E27FC236}">
                  <a16:creationId xmlns:a16="http://schemas.microsoft.com/office/drawing/2014/main" id="{CED02337-3FAE-4A57-AE16-145E976E671B}"/>
                </a:ext>
              </a:extLst>
            </p:cNvPr>
            <p:cNvSpPr>
              <a:spLocks noChangeArrowheads="1"/>
            </p:cNvSpPr>
            <p:nvPr/>
          </p:nvSpPr>
          <p:spPr bwMode="auto">
            <a:xfrm>
              <a:off x="2548" y="1872"/>
              <a:ext cx="480"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grpSp>
        <p:nvGrpSpPr>
          <p:cNvPr id="55" name="Group 105">
            <a:extLst>
              <a:ext uri="{FF2B5EF4-FFF2-40B4-BE49-F238E27FC236}">
                <a16:creationId xmlns:a16="http://schemas.microsoft.com/office/drawing/2014/main" id="{D4AE4BD2-9ECB-41EA-B097-DAE75EAF5449}"/>
              </a:ext>
            </a:extLst>
          </p:cNvPr>
          <p:cNvGrpSpPr>
            <a:grpSpLocks/>
          </p:cNvGrpSpPr>
          <p:nvPr/>
        </p:nvGrpSpPr>
        <p:grpSpPr bwMode="auto">
          <a:xfrm>
            <a:off x="1295400" y="3057031"/>
            <a:ext cx="5673725" cy="1166813"/>
            <a:chOff x="672" y="1846"/>
            <a:chExt cx="3574" cy="735"/>
          </a:xfrm>
        </p:grpSpPr>
        <p:grpSp>
          <p:nvGrpSpPr>
            <p:cNvPr id="56" name="Group 103">
              <a:extLst>
                <a:ext uri="{FF2B5EF4-FFF2-40B4-BE49-F238E27FC236}">
                  <a16:creationId xmlns:a16="http://schemas.microsoft.com/office/drawing/2014/main" id="{D228441D-9415-4A4C-964E-07645A0BDAF3}"/>
                </a:ext>
              </a:extLst>
            </p:cNvPr>
            <p:cNvGrpSpPr>
              <a:grpSpLocks/>
            </p:cNvGrpSpPr>
            <p:nvPr/>
          </p:nvGrpSpPr>
          <p:grpSpPr bwMode="auto">
            <a:xfrm>
              <a:off x="720" y="2101"/>
              <a:ext cx="3526" cy="480"/>
              <a:chOff x="720" y="2101"/>
              <a:chExt cx="3526" cy="480"/>
            </a:xfrm>
          </p:grpSpPr>
          <p:grpSp>
            <p:nvGrpSpPr>
              <p:cNvPr id="58" name="Group 81">
                <a:extLst>
                  <a:ext uri="{FF2B5EF4-FFF2-40B4-BE49-F238E27FC236}">
                    <a16:creationId xmlns:a16="http://schemas.microsoft.com/office/drawing/2014/main" id="{847E78FD-E7A5-4443-AB1D-FF8426F38440}"/>
                  </a:ext>
                </a:extLst>
              </p:cNvPr>
              <p:cNvGrpSpPr>
                <a:grpSpLocks/>
              </p:cNvGrpSpPr>
              <p:nvPr/>
            </p:nvGrpSpPr>
            <p:grpSpPr bwMode="auto">
              <a:xfrm>
                <a:off x="720" y="2102"/>
                <a:ext cx="384" cy="250"/>
                <a:chOff x="624" y="1429"/>
                <a:chExt cx="384" cy="250"/>
              </a:xfrm>
            </p:grpSpPr>
            <p:sp>
              <p:nvSpPr>
                <p:cNvPr id="65" name="Text Box 82">
                  <a:extLst>
                    <a:ext uri="{FF2B5EF4-FFF2-40B4-BE49-F238E27FC236}">
                      <a16:creationId xmlns:a16="http://schemas.microsoft.com/office/drawing/2014/main" id="{DC520A56-872A-4747-8C20-EF4A3A9D5C7B}"/>
                    </a:ext>
                  </a:extLst>
                </p:cNvPr>
                <p:cNvSpPr txBox="1">
                  <a:spLocks noChangeArrowheads="1"/>
                </p:cNvSpPr>
                <p:nvPr/>
              </p:nvSpPr>
              <p:spPr bwMode="auto">
                <a:xfrm>
                  <a:off x="624" y="1429"/>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i</a:t>
                  </a:r>
                </a:p>
              </p:txBody>
            </p:sp>
            <p:sp>
              <p:nvSpPr>
                <p:cNvPr id="66" name="Line 83">
                  <a:extLst>
                    <a:ext uri="{FF2B5EF4-FFF2-40B4-BE49-F238E27FC236}">
                      <a16:creationId xmlns:a16="http://schemas.microsoft.com/office/drawing/2014/main" id="{73D40E53-A283-43D3-9F69-EB7B17A04DEE}"/>
                    </a:ext>
                  </a:extLst>
                </p:cNvPr>
                <p:cNvSpPr>
                  <a:spLocks noChangeShapeType="1"/>
                </p:cNvSpPr>
                <p:nvPr/>
              </p:nvSpPr>
              <p:spPr bwMode="auto">
                <a:xfrm>
                  <a:off x="768" y="1562"/>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59" name="Group 84">
                <a:extLst>
                  <a:ext uri="{FF2B5EF4-FFF2-40B4-BE49-F238E27FC236}">
                    <a16:creationId xmlns:a16="http://schemas.microsoft.com/office/drawing/2014/main" id="{BD145122-48BF-431B-A484-75A1E2A3FF5D}"/>
                  </a:ext>
                </a:extLst>
              </p:cNvPr>
              <p:cNvGrpSpPr>
                <a:grpSpLocks/>
              </p:cNvGrpSpPr>
              <p:nvPr/>
            </p:nvGrpSpPr>
            <p:grpSpPr bwMode="auto">
              <a:xfrm>
                <a:off x="2544" y="2101"/>
                <a:ext cx="528" cy="250"/>
                <a:chOff x="2592" y="1440"/>
                <a:chExt cx="528" cy="250"/>
              </a:xfrm>
            </p:grpSpPr>
            <p:sp>
              <p:nvSpPr>
                <p:cNvPr id="63" name="Text Box 85">
                  <a:extLst>
                    <a:ext uri="{FF2B5EF4-FFF2-40B4-BE49-F238E27FC236}">
                      <a16:creationId xmlns:a16="http://schemas.microsoft.com/office/drawing/2014/main" id="{24C6034B-A061-42E6-9F45-B2669EE77F5C}"/>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64" name="Line 86">
                  <a:extLst>
                    <a:ext uri="{FF2B5EF4-FFF2-40B4-BE49-F238E27FC236}">
                      <a16:creationId xmlns:a16="http://schemas.microsoft.com/office/drawing/2014/main" id="{08A4FDF8-BF70-476F-825A-8BB5CBB60961}"/>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60" name="Group 87">
                <a:extLst>
                  <a:ext uri="{FF2B5EF4-FFF2-40B4-BE49-F238E27FC236}">
                    <a16:creationId xmlns:a16="http://schemas.microsoft.com/office/drawing/2014/main" id="{EB735A9A-1194-4C48-90CA-3DA49BD85FBA}"/>
                  </a:ext>
                </a:extLst>
              </p:cNvPr>
              <p:cNvGrpSpPr>
                <a:grpSpLocks/>
              </p:cNvGrpSpPr>
              <p:nvPr/>
            </p:nvGrpSpPr>
            <p:grpSpPr bwMode="auto">
              <a:xfrm>
                <a:off x="3552" y="2315"/>
                <a:ext cx="694" cy="266"/>
                <a:chOff x="3552" y="1403"/>
                <a:chExt cx="694" cy="266"/>
              </a:xfrm>
            </p:grpSpPr>
            <p:sp>
              <p:nvSpPr>
                <p:cNvPr id="61" name="Rectangle 88">
                  <a:extLst>
                    <a:ext uri="{FF2B5EF4-FFF2-40B4-BE49-F238E27FC236}">
                      <a16:creationId xmlns:a16="http://schemas.microsoft.com/office/drawing/2014/main" id="{8E7EC177-BBCA-48D3-ACEA-0BB67EC8D17D}"/>
                    </a:ext>
                  </a:extLst>
                </p:cNvPr>
                <p:cNvSpPr>
                  <a:spLocks noChangeArrowheads="1"/>
                </p:cNvSpPr>
                <p:nvPr/>
              </p:nvSpPr>
              <p:spPr bwMode="auto">
                <a:xfrm>
                  <a:off x="3552" y="1429"/>
                  <a:ext cx="528" cy="24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sp>
              <p:nvSpPr>
                <p:cNvPr id="62" name="Text Box 89">
                  <a:extLst>
                    <a:ext uri="{FF2B5EF4-FFF2-40B4-BE49-F238E27FC236}">
                      <a16:creationId xmlns:a16="http://schemas.microsoft.com/office/drawing/2014/main" id="{AE05E355-4DF2-4C79-8064-93971EDA0BBC}"/>
                    </a:ext>
                  </a:extLst>
                </p:cNvPr>
                <p:cNvSpPr txBox="1">
                  <a:spLocks noChangeArrowheads="1"/>
                </p:cNvSpPr>
                <p:nvPr/>
              </p:nvSpPr>
              <p:spPr bwMode="auto">
                <a:xfrm>
                  <a:off x="3718" y="140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5</a:t>
                  </a:r>
                </a:p>
              </p:txBody>
            </p:sp>
          </p:grpSp>
        </p:grpSp>
        <p:sp>
          <p:nvSpPr>
            <p:cNvPr id="57" name="Rectangle 104">
              <a:extLst>
                <a:ext uri="{FF2B5EF4-FFF2-40B4-BE49-F238E27FC236}">
                  <a16:creationId xmlns:a16="http://schemas.microsoft.com/office/drawing/2014/main" id="{5817A3C2-43D4-4CA7-AAD1-7B25AE957404}"/>
                </a:ext>
              </a:extLst>
            </p:cNvPr>
            <p:cNvSpPr>
              <a:spLocks noChangeArrowheads="1"/>
            </p:cNvSpPr>
            <p:nvPr/>
          </p:nvSpPr>
          <p:spPr bwMode="auto">
            <a:xfrm>
              <a:off x="672" y="1846"/>
              <a:ext cx="43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grpSp>
        <p:nvGrpSpPr>
          <p:cNvPr id="67" name="Group 118">
            <a:extLst>
              <a:ext uri="{FF2B5EF4-FFF2-40B4-BE49-F238E27FC236}">
                <a16:creationId xmlns:a16="http://schemas.microsoft.com/office/drawing/2014/main" id="{B1DAF1EA-0026-469E-82C6-36D9BE215659}"/>
              </a:ext>
            </a:extLst>
          </p:cNvPr>
          <p:cNvGrpSpPr>
            <a:grpSpLocks/>
          </p:cNvGrpSpPr>
          <p:nvPr/>
        </p:nvGrpSpPr>
        <p:grpSpPr bwMode="auto">
          <a:xfrm>
            <a:off x="1295400" y="3461841"/>
            <a:ext cx="5673725" cy="1143000"/>
            <a:chOff x="672" y="2101"/>
            <a:chExt cx="3574" cy="720"/>
          </a:xfrm>
        </p:grpSpPr>
        <p:grpSp>
          <p:nvGrpSpPr>
            <p:cNvPr id="68" name="Group 116">
              <a:extLst>
                <a:ext uri="{FF2B5EF4-FFF2-40B4-BE49-F238E27FC236}">
                  <a16:creationId xmlns:a16="http://schemas.microsoft.com/office/drawing/2014/main" id="{4A9102A9-C25B-4630-BF87-0DB1A5BCE5C0}"/>
                </a:ext>
              </a:extLst>
            </p:cNvPr>
            <p:cNvGrpSpPr>
              <a:grpSpLocks/>
            </p:cNvGrpSpPr>
            <p:nvPr/>
          </p:nvGrpSpPr>
          <p:grpSpPr bwMode="auto">
            <a:xfrm>
              <a:off x="720" y="2101"/>
              <a:ext cx="3526" cy="720"/>
              <a:chOff x="720" y="2101"/>
              <a:chExt cx="3526" cy="720"/>
            </a:xfrm>
          </p:grpSpPr>
          <p:grpSp>
            <p:nvGrpSpPr>
              <p:cNvPr id="70" name="Group 94">
                <a:extLst>
                  <a:ext uri="{FF2B5EF4-FFF2-40B4-BE49-F238E27FC236}">
                    <a16:creationId xmlns:a16="http://schemas.microsoft.com/office/drawing/2014/main" id="{86AB0CE8-50A6-4616-AD45-BFFB4094EB84}"/>
                  </a:ext>
                </a:extLst>
              </p:cNvPr>
              <p:cNvGrpSpPr>
                <a:grpSpLocks/>
              </p:cNvGrpSpPr>
              <p:nvPr/>
            </p:nvGrpSpPr>
            <p:grpSpPr bwMode="auto">
              <a:xfrm>
                <a:off x="720" y="2342"/>
                <a:ext cx="384" cy="250"/>
                <a:chOff x="624" y="1429"/>
                <a:chExt cx="384" cy="250"/>
              </a:xfrm>
            </p:grpSpPr>
            <p:sp>
              <p:nvSpPr>
                <p:cNvPr id="77" name="Text Box 95">
                  <a:extLst>
                    <a:ext uri="{FF2B5EF4-FFF2-40B4-BE49-F238E27FC236}">
                      <a16:creationId xmlns:a16="http://schemas.microsoft.com/office/drawing/2014/main" id="{A97518BA-5A27-4303-9C91-BB2BEC49E9CD}"/>
                    </a:ext>
                  </a:extLst>
                </p:cNvPr>
                <p:cNvSpPr txBox="1">
                  <a:spLocks noChangeArrowheads="1"/>
                </p:cNvSpPr>
                <p:nvPr/>
              </p:nvSpPr>
              <p:spPr bwMode="auto">
                <a:xfrm>
                  <a:off x="624" y="1429"/>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i</a:t>
                  </a:r>
                </a:p>
              </p:txBody>
            </p:sp>
            <p:sp>
              <p:nvSpPr>
                <p:cNvPr id="78" name="Line 96">
                  <a:extLst>
                    <a:ext uri="{FF2B5EF4-FFF2-40B4-BE49-F238E27FC236}">
                      <a16:creationId xmlns:a16="http://schemas.microsoft.com/office/drawing/2014/main" id="{D12B111B-A14B-4D58-95C6-FC803BA4AD63}"/>
                    </a:ext>
                  </a:extLst>
                </p:cNvPr>
                <p:cNvSpPr>
                  <a:spLocks noChangeShapeType="1"/>
                </p:cNvSpPr>
                <p:nvPr/>
              </p:nvSpPr>
              <p:spPr bwMode="auto">
                <a:xfrm>
                  <a:off x="768" y="1562"/>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71" name="Group 97">
                <a:extLst>
                  <a:ext uri="{FF2B5EF4-FFF2-40B4-BE49-F238E27FC236}">
                    <a16:creationId xmlns:a16="http://schemas.microsoft.com/office/drawing/2014/main" id="{D4980743-DE50-4D9C-AD5E-D9B9AF44DC56}"/>
                  </a:ext>
                </a:extLst>
              </p:cNvPr>
              <p:cNvGrpSpPr>
                <a:grpSpLocks/>
              </p:cNvGrpSpPr>
              <p:nvPr/>
            </p:nvGrpSpPr>
            <p:grpSpPr bwMode="auto">
              <a:xfrm>
                <a:off x="2544" y="2101"/>
                <a:ext cx="528" cy="250"/>
                <a:chOff x="2592" y="1440"/>
                <a:chExt cx="528" cy="250"/>
              </a:xfrm>
            </p:grpSpPr>
            <p:sp>
              <p:nvSpPr>
                <p:cNvPr id="75" name="Text Box 98">
                  <a:extLst>
                    <a:ext uri="{FF2B5EF4-FFF2-40B4-BE49-F238E27FC236}">
                      <a16:creationId xmlns:a16="http://schemas.microsoft.com/office/drawing/2014/main" id="{A5A6D5D2-661E-4DED-ADD5-C1DD26210F0C}"/>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76" name="Line 99">
                  <a:extLst>
                    <a:ext uri="{FF2B5EF4-FFF2-40B4-BE49-F238E27FC236}">
                      <a16:creationId xmlns:a16="http://schemas.microsoft.com/office/drawing/2014/main" id="{F28A3C72-3DFB-4461-8658-467848F3EF32}"/>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72" name="Group 100">
                <a:extLst>
                  <a:ext uri="{FF2B5EF4-FFF2-40B4-BE49-F238E27FC236}">
                    <a16:creationId xmlns:a16="http://schemas.microsoft.com/office/drawing/2014/main" id="{BCF5E333-A065-44C0-9DDE-55209963B38F}"/>
                  </a:ext>
                </a:extLst>
              </p:cNvPr>
              <p:cNvGrpSpPr>
                <a:grpSpLocks/>
              </p:cNvGrpSpPr>
              <p:nvPr/>
            </p:nvGrpSpPr>
            <p:grpSpPr bwMode="auto">
              <a:xfrm>
                <a:off x="3552" y="2555"/>
                <a:ext cx="694" cy="266"/>
                <a:chOff x="3552" y="1403"/>
                <a:chExt cx="694" cy="266"/>
              </a:xfrm>
            </p:grpSpPr>
            <p:sp>
              <p:nvSpPr>
                <p:cNvPr id="73" name="Rectangle 101">
                  <a:extLst>
                    <a:ext uri="{FF2B5EF4-FFF2-40B4-BE49-F238E27FC236}">
                      <a16:creationId xmlns:a16="http://schemas.microsoft.com/office/drawing/2014/main" id="{3CE94B88-F4A4-49F3-8A7E-13110DE41E3F}"/>
                    </a:ext>
                  </a:extLst>
                </p:cNvPr>
                <p:cNvSpPr>
                  <a:spLocks noChangeArrowheads="1"/>
                </p:cNvSpPr>
                <p:nvPr/>
              </p:nvSpPr>
              <p:spPr bwMode="auto">
                <a:xfrm>
                  <a:off x="3552" y="1429"/>
                  <a:ext cx="528" cy="24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sp>
              <p:nvSpPr>
                <p:cNvPr id="74" name="Text Box 102">
                  <a:extLst>
                    <a:ext uri="{FF2B5EF4-FFF2-40B4-BE49-F238E27FC236}">
                      <a16:creationId xmlns:a16="http://schemas.microsoft.com/office/drawing/2014/main" id="{3E9EF47D-0179-4508-A6B0-AC3D280F4FD0}"/>
                    </a:ext>
                  </a:extLst>
                </p:cNvPr>
                <p:cNvSpPr txBox="1">
                  <a:spLocks noChangeArrowheads="1"/>
                </p:cNvSpPr>
                <p:nvPr/>
              </p:nvSpPr>
              <p:spPr bwMode="auto">
                <a:xfrm>
                  <a:off x="3718" y="140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6</a:t>
                  </a:r>
                </a:p>
              </p:txBody>
            </p:sp>
          </p:grpSp>
        </p:grpSp>
        <p:sp>
          <p:nvSpPr>
            <p:cNvPr id="69" name="Rectangle 117">
              <a:extLst>
                <a:ext uri="{FF2B5EF4-FFF2-40B4-BE49-F238E27FC236}">
                  <a16:creationId xmlns:a16="http://schemas.microsoft.com/office/drawing/2014/main" id="{41EE8FC1-8604-4BD5-A7A7-FE55A0D2FB3F}"/>
                </a:ext>
              </a:extLst>
            </p:cNvPr>
            <p:cNvSpPr>
              <a:spLocks noChangeArrowheads="1"/>
            </p:cNvSpPr>
            <p:nvPr/>
          </p:nvSpPr>
          <p:spPr bwMode="auto">
            <a:xfrm>
              <a:off x="672" y="2112"/>
              <a:ext cx="43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grpSp>
        <p:nvGrpSpPr>
          <p:cNvPr id="79" name="Group 130">
            <a:extLst>
              <a:ext uri="{FF2B5EF4-FFF2-40B4-BE49-F238E27FC236}">
                <a16:creationId xmlns:a16="http://schemas.microsoft.com/office/drawing/2014/main" id="{207FA611-9612-4939-8D43-1926E6C29B1D}"/>
              </a:ext>
            </a:extLst>
          </p:cNvPr>
          <p:cNvGrpSpPr>
            <a:grpSpLocks/>
          </p:cNvGrpSpPr>
          <p:nvPr/>
        </p:nvGrpSpPr>
        <p:grpSpPr bwMode="auto">
          <a:xfrm>
            <a:off x="1371600" y="3479304"/>
            <a:ext cx="5597525" cy="1506537"/>
            <a:chOff x="720" y="2112"/>
            <a:chExt cx="3526" cy="949"/>
          </a:xfrm>
        </p:grpSpPr>
        <p:grpSp>
          <p:nvGrpSpPr>
            <p:cNvPr id="80" name="Group 128">
              <a:extLst>
                <a:ext uri="{FF2B5EF4-FFF2-40B4-BE49-F238E27FC236}">
                  <a16:creationId xmlns:a16="http://schemas.microsoft.com/office/drawing/2014/main" id="{557BD542-81B2-4CAC-940E-4C670D41E92F}"/>
                </a:ext>
              </a:extLst>
            </p:cNvPr>
            <p:cNvGrpSpPr>
              <a:grpSpLocks/>
            </p:cNvGrpSpPr>
            <p:nvPr/>
          </p:nvGrpSpPr>
          <p:grpSpPr bwMode="auto">
            <a:xfrm>
              <a:off x="720" y="2341"/>
              <a:ext cx="3526" cy="720"/>
              <a:chOff x="720" y="2341"/>
              <a:chExt cx="3526" cy="720"/>
            </a:xfrm>
          </p:grpSpPr>
          <p:grpSp>
            <p:nvGrpSpPr>
              <p:cNvPr id="82" name="Group 119">
                <a:extLst>
                  <a:ext uri="{FF2B5EF4-FFF2-40B4-BE49-F238E27FC236}">
                    <a16:creationId xmlns:a16="http://schemas.microsoft.com/office/drawing/2014/main" id="{C7868875-7B9E-4002-AF38-571773511F0E}"/>
                  </a:ext>
                </a:extLst>
              </p:cNvPr>
              <p:cNvGrpSpPr>
                <a:grpSpLocks/>
              </p:cNvGrpSpPr>
              <p:nvPr/>
            </p:nvGrpSpPr>
            <p:grpSpPr bwMode="auto">
              <a:xfrm>
                <a:off x="720" y="2341"/>
                <a:ext cx="384" cy="250"/>
                <a:chOff x="624" y="1429"/>
                <a:chExt cx="384" cy="250"/>
              </a:xfrm>
            </p:grpSpPr>
            <p:sp>
              <p:nvSpPr>
                <p:cNvPr id="89" name="Text Box 120">
                  <a:extLst>
                    <a:ext uri="{FF2B5EF4-FFF2-40B4-BE49-F238E27FC236}">
                      <a16:creationId xmlns:a16="http://schemas.microsoft.com/office/drawing/2014/main" id="{C4176B97-C3A3-4AD7-88F9-EA8D68699B2C}"/>
                    </a:ext>
                  </a:extLst>
                </p:cNvPr>
                <p:cNvSpPr txBox="1">
                  <a:spLocks noChangeArrowheads="1"/>
                </p:cNvSpPr>
                <p:nvPr/>
              </p:nvSpPr>
              <p:spPr bwMode="auto">
                <a:xfrm>
                  <a:off x="624" y="1429"/>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i</a:t>
                  </a:r>
                </a:p>
              </p:txBody>
            </p:sp>
            <p:sp>
              <p:nvSpPr>
                <p:cNvPr id="90" name="Line 121">
                  <a:extLst>
                    <a:ext uri="{FF2B5EF4-FFF2-40B4-BE49-F238E27FC236}">
                      <a16:creationId xmlns:a16="http://schemas.microsoft.com/office/drawing/2014/main" id="{83F4891D-3425-4BEF-B8D3-006CE1A895DE}"/>
                    </a:ext>
                  </a:extLst>
                </p:cNvPr>
                <p:cNvSpPr>
                  <a:spLocks noChangeShapeType="1"/>
                </p:cNvSpPr>
                <p:nvPr/>
              </p:nvSpPr>
              <p:spPr bwMode="auto">
                <a:xfrm>
                  <a:off x="768" y="1562"/>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83" name="Group 122">
                <a:extLst>
                  <a:ext uri="{FF2B5EF4-FFF2-40B4-BE49-F238E27FC236}">
                    <a16:creationId xmlns:a16="http://schemas.microsoft.com/office/drawing/2014/main" id="{DE79845D-8BA7-454B-A639-CB5044B366FA}"/>
                  </a:ext>
                </a:extLst>
              </p:cNvPr>
              <p:cNvGrpSpPr>
                <a:grpSpLocks/>
              </p:cNvGrpSpPr>
              <p:nvPr/>
            </p:nvGrpSpPr>
            <p:grpSpPr bwMode="auto">
              <a:xfrm>
                <a:off x="2544" y="2342"/>
                <a:ext cx="528" cy="250"/>
                <a:chOff x="2592" y="1440"/>
                <a:chExt cx="528" cy="250"/>
              </a:xfrm>
            </p:grpSpPr>
            <p:sp>
              <p:nvSpPr>
                <p:cNvPr id="87" name="Text Box 123">
                  <a:extLst>
                    <a:ext uri="{FF2B5EF4-FFF2-40B4-BE49-F238E27FC236}">
                      <a16:creationId xmlns:a16="http://schemas.microsoft.com/office/drawing/2014/main" id="{40927450-2B58-4321-96B6-C6F0DE7EFF82}"/>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88" name="Line 124">
                  <a:extLst>
                    <a:ext uri="{FF2B5EF4-FFF2-40B4-BE49-F238E27FC236}">
                      <a16:creationId xmlns:a16="http://schemas.microsoft.com/office/drawing/2014/main" id="{95CF02B0-6FFF-419D-80A2-0EAD4EFE1F63}"/>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84" name="Group 125">
                <a:extLst>
                  <a:ext uri="{FF2B5EF4-FFF2-40B4-BE49-F238E27FC236}">
                    <a16:creationId xmlns:a16="http://schemas.microsoft.com/office/drawing/2014/main" id="{862C902A-4049-40D6-9030-5499DE82FCEF}"/>
                  </a:ext>
                </a:extLst>
              </p:cNvPr>
              <p:cNvGrpSpPr>
                <a:grpSpLocks/>
              </p:cNvGrpSpPr>
              <p:nvPr/>
            </p:nvGrpSpPr>
            <p:grpSpPr bwMode="auto">
              <a:xfrm>
                <a:off x="3552" y="2795"/>
                <a:ext cx="694" cy="266"/>
                <a:chOff x="3552" y="1403"/>
                <a:chExt cx="694" cy="266"/>
              </a:xfrm>
            </p:grpSpPr>
            <p:sp>
              <p:nvSpPr>
                <p:cNvPr id="85" name="Rectangle 126">
                  <a:extLst>
                    <a:ext uri="{FF2B5EF4-FFF2-40B4-BE49-F238E27FC236}">
                      <a16:creationId xmlns:a16="http://schemas.microsoft.com/office/drawing/2014/main" id="{F0F96D18-C6D2-483D-90DC-4BED52961E4E}"/>
                    </a:ext>
                  </a:extLst>
                </p:cNvPr>
                <p:cNvSpPr>
                  <a:spLocks noChangeArrowheads="1"/>
                </p:cNvSpPr>
                <p:nvPr/>
              </p:nvSpPr>
              <p:spPr bwMode="auto">
                <a:xfrm>
                  <a:off x="3552" y="1429"/>
                  <a:ext cx="528" cy="24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sp>
              <p:nvSpPr>
                <p:cNvPr id="86" name="Text Box 127">
                  <a:extLst>
                    <a:ext uri="{FF2B5EF4-FFF2-40B4-BE49-F238E27FC236}">
                      <a16:creationId xmlns:a16="http://schemas.microsoft.com/office/drawing/2014/main" id="{36715038-3961-4241-82FF-5255112443D9}"/>
                    </a:ext>
                  </a:extLst>
                </p:cNvPr>
                <p:cNvSpPr txBox="1">
                  <a:spLocks noChangeArrowheads="1"/>
                </p:cNvSpPr>
                <p:nvPr/>
              </p:nvSpPr>
              <p:spPr bwMode="auto">
                <a:xfrm>
                  <a:off x="3718" y="140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8</a:t>
                  </a:r>
                </a:p>
              </p:txBody>
            </p:sp>
          </p:grpSp>
        </p:grpSp>
        <p:sp>
          <p:nvSpPr>
            <p:cNvPr id="81" name="Rectangle 129">
              <a:extLst>
                <a:ext uri="{FF2B5EF4-FFF2-40B4-BE49-F238E27FC236}">
                  <a16:creationId xmlns:a16="http://schemas.microsoft.com/office/drawing/2014/main" id="{E2445EFC-A0C4-4F87-844F-72CF84B1C574}"/>
                </a:ext>
              </a:extLst>
            </p:cNvPr>
            <p:cNvSpPr>
              <a:spLocks noChangeArrowheads="1"/>
            </p:cNvSpPr>
            <p:nvPr/>
          </p:nvSpPr>
          <p:spPr bwMode="auto">
            <a:xfrm>
              <a:off x="2544" y="2112"/>
              <a:ext cx="480"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grpSp>
        <p:nvGrpSpPr>
          <p:cNvPr id="91" name="Group 151">
            <a:extLst>
              <a:ext uri="{FF2B5EF4-FFF2-40B4-BE49-F238E27FC236}">
                <a16:creationId xmlns:a16="http://schemas.microsoft.com/office/drawing/2014/main" id="{2A02E83B-6674-4BFF-A4CC-4BC5D97B2BA7}"/>
              </a:ext>
            </a:extLst>
          </p:cNvPr>
          <p:cNvGrpSpPr>
            <a:grpSpLocks/>
          </p:cNvGrpSpPr>
          <p:nvPr/>
        </p:nvGrpSpPr>
        <p:grpSpPr bwMode="auto">
          <a:xfrm>
            <a:off x="1295400" y="3836491"/>
            <a:ext cx="5673725" cy="1530350"/>
            <a:chOff x="672" y="2337"/>
            <a:chExt cx="3574" cy="964"/>
          </a:xfrm>
        </p:grpSpPr>
        <p:grpSp>
          <p:nvGrpSpPr>
            <p:cNvPr id="92" name="Group 113">
              <a:extLst>
                <a:ext uri="{FF2B5EF4-FFF2-40B4-BE49-F238E27FC236}">
                  <a16:creationId xmlns:a16="http://schemas.microsoft.com/office/drawing/2014/main" id="{B86E53CB-12F7-4FC8-A65F-2EDC9FEADCFD}"/>
                </a:ext>
              </a:extLst>
            </p:cNvPr>
            <p:cNvGrpSpPr>
              <a:grpSpLocks/>
            </p:cNvGrpSpPr>
            <p:nvPr/>
          </p:nvGrpSpPr>
          <p:grpSpPr bwMode="auto">
            <a:xfrm>
              <a:off x="3552" y="3035"/>
              <a:ext cx="694" cy="266"/>
              <a:chOff x="3552" y="1403"/>
              <a:chExt cx="694" cy="266"/>
            </a:xfrm>
          </p:grpSpPr>
          <p:sp>
            <p:nvSpPr>
              <p:cNvPr id="102" name="Rectangle 114">
                <a:extLst>
                  <a:ext uri="{FF2B5EF4-FFF2-40B4-BE49-F238E27FC236}">
                    <a16:creationId xmlns:a16="http://schemas.microsoft.com/office/drawing/2014/main" id="{F79C9D86-A46B-4BB6-BCF1-D346C15FF6FB}"/>
                  </a:ext>
                </a:extLst>
              </p:cNvPr>
              <p:cNvSpPr>
                <a:spLocks noChangeArrowheads="1"/>
              </p:cNvSpPr>
              <p:nvPr/>
            </p:nvSpPr>
            <p:spPr bwMode="auto">
              <a:xfrm>
                <a:off x="3552" y="1429"/>
                <a:ext cx="528" cy="24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sp>
            <p:nvSpPr>
              <p:cNvPr id="103" name="Text Box 115">
                <a:extLst>
                  <a:ext uri="{FF2B5EF4-FFF2-40B4-BE49-F238E27FC236}">
                    <a16:creationId xmlns:a16="http://schemas.microsoft.com/office/drawing/2014/main" id="{6AD19EC9-DD02-43F6-B538-8DE65F219453}"/>
                  </a:ext>
                </a:extLst>
              </p:cNvPr>
              <p:cNvSpPr txBox="1">
                <a:spLocks noChangeArrowheads="1"/>
              </p:cNvSpPr>
              <p:nvPr/>
            </p:nvSpPr>
            <p:spPr bwMode="auto">
              <a:xfrm>
                <a:off x="3718" y="140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8</a:t>
                </a:r>
              </a:p>
            </p:txBody>
          </p:sp>
        </p:grpSp>
        <p:grpSp>
          <p:nvGrpSpPr>
            <p:cNvPr id="93" name="Group 135">
              <a:extLst>
                <a:ext uri="{FF2B5EF4-FFF2-40B4-BE49-F238E27FC236}">
                  <a16:creationId xmlns:a16="http://schemas.microsoft.com/office/drawing/2014/main" id="{DDF2EC71-F07B-433F-BBC7-FD3F332EA2E5}"/>
                </a:ext>
              </a:extLst>
            </p:cNvPr>
            <p:cNvGrpSpPr>
              <a:grpSpLocks/>
            </p:cNvGrpSpPr>
            <p:nvPr/>
          </p:nvGrpSpPr>
          <p:grpSpPr bwMode="auto">
            <a:xfrm>
              <a:off x="672" y="2337"/>
              <a:ext cx="2400" cy="457"/>
              <a:chOff x="672" y="2337"/>
              <a:chExt cx="2400" cy="457"/>
            </a:xfrm>
          </p:grpSpPr>
          <p:grpSp>
            <p:nvGrpSpPr>
              <p:cNvPr id="94" name="Group 110">
                <a:extLst>
                  <a:ext uri="{FF2B5EF4-FFF2-40B4-BE49-F238E27FC236}">
                    <a16:creationId xmlns:a16="http://schemas.microsoft.com/office/drawing/2014/main" id="{12C88A0F-CFB8-44AA-A62B-EE7124B07428}"/>
                  </a:ext>
                </a:extLst>
              </p:cNvPr>
              <p:cNvGrpSpPr>
                <a:grpSpLocks/>
              </p:cNvGrpSpPr>
              <p:nvPr/>
            </p:nvGrpSpPr>
            <p:grpSpPr bwMode="auto">
              <a:xfrm>
                <a:off x="2544" y="2342"/>
                <a:ext cx="528" cy="250"/>
                <a:chOff x="2592" y="1440"/>
                <a:chExt cx="528" cy="250"/>
              </a:xfrm>
            </p:grpSpPr>
            <p:sp>
              <p:nvSpPr>
                <p:cNvPr id="100" name="Text Box 111">
                  <a:extLst>
                    <a:ext uri="{FF2B5EF4-FFF2-40B4-BE49-F238E27FC236}">
                      <a16:creationId xmlns:a16="http://schemas.microsoft.com/office/drawing/2014/main" id="{E0CC3018-7737-42CC-8B48-75C50A62C897}"/>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101" name="Line 112">
                  <a:extLst>
                    <a:ext uri="{FF2B5EF4-FFF2-40B4-BE49-F238E27FC236}">
                      <a16:creationId xmlns:a16="http://schemas.microsoft.com/office/drawing/2014/main" id="{C6F7BB6C-092D-4AE3-9302-A76C00F0826C}"/>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95" name="Group 132">
                <a:extLst>
                  <a:ext uri="{FF2B5EF4-FFF2-40B4-BE49-F238E27FC236}">
                    <a16:creationId xmlns:a16="http://schemas.microsoft.com/office/drawing/2014/main" id="{2657B18A-48A9-4303-BEE5-DE2678B0626C}"/>
                  </a:ext>
                </a:extLst>
              </p:cNvPr>
              <p:cNvGrpSpPr>
                <a:grpSpLocks/>
              </p:cNvGrpSpPr>
              <p:nvPr/>
            </p:nvGrpSpPr>
            <p:grpSpPr bwMode="auto">
              <a:xfrm>
                <a:off x="672" y="2337"/>
                <a:ext cx="432" cy="457"/>
                <a:chOff x="672" y="2337"/>
                <a:chExt cx="432" cy="457"/>
              </a:xfrm>
            </p:grpSpPr>
            <p:grpSp>
              <p:nvGrpSpPr>
                <p:cNvPr id="96" name="Group 107">
                  <a:extLst>
                    <a:ext uri="{FF2B5EF4-FFF2-40B4-BE49-F238E27FC236}">
                      <a16:creationId xmlns:a16="http://schemas.microsoft.com/office/drawing/2014/main" id="{6BA4639A-2E99-4405-A1CF-2A203CFCC5F3}"/>
                    </a:ext>
                  </a:extLst>
                </p:cNvPr>
                <p:cNvGrpSpPr>
                  <a:grpSpLocks/>
                </p:cNvGrpSpPr>
                <p:nvPr/>
              </p:nvGrpSpPr>
              <p:grpSpPr bwMode="auto">
                <a:xfrm>
                  <a:off x="720" y="2544"/>
                  <a:ext cx="384" cy="250"/>
                  <a:chOff x="624" y="1429"/>
                  <a:chExt cx="384" cy="250"/>
                </a:xfrm>
              </p:grpSpPr>
              <p:sp>
                <p:nvSpPr>
                  <p:cNvPr id="98" name="Text Box 108">
                    <a:extLst>
                      <a:ext uri="{FF2B5EF4-FFF2-40B4-BE49-F238E27FC236}">
                        <a16:creationId xmlns:a16="http://schemas.microsoft.com/office/drawing/2014/main" id="{1DD0133A-D5CE-46E6-91D5-E2DC9EE7E4E4}"/>
                      </a:ext>
                    </a:extLst>
                  </p:cNvPr>
                  <p:cNvSpPr txBox="1">
                    <a:spLocks noChangeArrowheads="1"/>
                  </p:cNvSpPr>
                  <p:nvPr/>
                </p:nvSpPr>
                <p:spPr bwMode="auto">
                  <a:xfrm>
                    <a:off x="624" y="1429"/>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i</a:t>
                    </a:r>
                  </a:p>
                </p:txBody>
              </p:sp>
              <p:sp>
                <p:nvSpPr>
                  <p:cNvPr id="99" name="Line 109">
                    <a:extLst>
                      <a:ext uri="{FF2B5EF4-FFF2-40B4-BE49-F238E27FC236}">
                        <a16:creationId xmlns:a16="http://schemas.microsoft.com/office/drawing/2014/main" id="{E7D3CC56-DCA2-4B45-BD40-3721EAF3B50D}"/>
                      </a:ext>
                    </a:extLst>
                  </p:cNvPr>
                  <p:cNvSpPr>
                    <a:spLocks noChangeShapeType="1"/>
                  </p:cNvSpPr>
                  <p:nvPr/>
                </p:nvSpPr>
                <p:spPr bwMode="auto">
                  <a:xfrm>
                    <a:off x="768" y="1562"/>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97" name="Rectangle 131">
                  <a:extLst>
                    <a:ext uri="{FF2B5EF4-FFF2-40B4-BE49-F238E27FC236}">
                      <a16:creationId xmlns:a16="http://schemas.microsoft.com/office/drawing/2014/main" id="{0831942D-4764-4952-8FC5-063303A01E70}"/>
                    </a:ext>
                  </a:extLst>
                </p:cNvPr>
                <p:cNvSpPr>
                  <a:spLocks noChangeArrowheads="1"/>
                </p:cNvSpPr>
                <p:nvPr/>
              </p:nvSpPr>
              <p:spPr bwMode="auto">
                <a:xfrm>
                  <a:off x="672" y="2337"/>
                  <a:ext cx="43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grpSp>
      </p:grpSp>
      <p:grpSp>
        <p:nvGrpSpPr>
          <p:cNvPr id="104" name="Group 158">
            <a:extLst>
              <a:ext uri="{FF2B5EF4-FFF2-40B4-BE49-F238E27FC236}">
                <a16:creationId xmlns:a16="http://schemas.microsoft.com/office/drawing/2014/main" id="{241BD238-F9A8-46BF-A35E-F468E38013F5}"/>
              </a:ext>
            </a:extLst>
          </p:cNvPr>
          <p:cNvGrpSpPr>
            <a:grpSpLocks/>
          </p:cNvGrpSpPr>
          <p:nvPr/>
        </p:nvGrpSpPr>
        <p:grpSpPr bwMode="auto">
          <a:xfrm>
            <a:off x="1312863" y="3860304"/>
            <a:ext cx="5656262" cy="1887537"/>
            <a:chOff x="683" y="2352"/>
            <a:chExt cx="3563" cy="1189"/>
          </a:xfrm>
        </p:grpSpPr>
        <p:grpSp>
          <p:nvGrpSpPr>
            <p:cNvPr id="105" name="Group 156">
              <a:extLst>
                <a:ext uri="{FF2B5EF4-FFF2-40B4-BE49-F238E27FC236}">
                  <a16:creationId xmlns:a16="http://schemas.microsoft.com/office/drawing/2014/main" id="{23E101EA-BFEE-429C-9C01-7E3D5C4AA153}"/>
                </a:ext>
              </a:extLst>
            </p:cNvPr>
            <p:cNvGrpSpPr>
              <a:grpSpLocks/>
            </p:cNvGrpSpPr>
            <p:nvPr/>
          </p:nvGrpSpPr>
          <p:grpSpPr bwMode="auto">
            <a:xfrm>
              <a:off x="683" y="2544"/>
              <a:ext cx="3563" cy="997"/>
              <a:chOff x="683" y="2544"/>
              <a:chExt cx="3563" cy="997"/>
            </a:xfrm>
          </p:grpSpPr>
          <p:grpSp>
            <p:nvGrpSpPr>
              <p:cNvPr id="107" name="Group 137">
                <a:extLst>
                  <a:ext uri="{FF2B5EF4-FFF2-40B4-BE49-F238E27FC236}">
                    <a16:creationId xmlns:a16="http://schemas.microsoft.com/office/drawing/2014/main" id="{DB0D633D-8594-4116-9A68-E218FCE16EFD}"/>
                  </a:ext>
                </a:extLst>
              </p:cNvPr>
              <p:cNvGrpSpPr>
                <a:grpSpLocks/>
              </p:cNvGrpSpPr>
              <p:nvPr/>
            </p:nvGrpSpPr>
            <p:grpSpPr bwMode="auto">
              <a:xfrm>
                <a:off x="2544" y="2592"/>
                <a:ext cx="528" cy="250"/>
                <a:chOff x="2592" y="1440"/>
                <a:chExt cx="528" cy="250"/>
              </a:xfrm>
            </p:grpSpPr>
            <p:sp>
              <p:nvSpPr>
                <p:cNvPr id="112" name="Text Box 138">
                  <a:extLst>
                    <a:ext uri="{FF2B5EF4-FFF2-40B4-BE49-F238E27FC236}">
                      <a16:creationId xmlns:a16="http://schemas.microsoft.com/office/drawing/2014/main" id="{7EA88FFD-7828-42B9-B7D0-0F911BC410A8}"/>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113" name="Line 139">
                  <a:extLst>
                    <a:ext uri="{FF2B5EF4-FFF2-40B4-BE49-F238E27FC236}">
                      <a16:creationId xmlns:a16="http://schemas.microsoft.com/office/drawing/2014/main" id="{B2550AAE-8923-4F19-BCEE-7BC457A94F01}"/>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108" name="Group 148">
                <a:extLst>
                  <a:ext uri="{FF2B5EF4-FFF2-40B4-BE49-F238E27FC236}">
                    <a16:creationId xmlns:a16="http://schemas.microsoft.com/office/drawing/2014/main" id="{2FA7883B-0BE0-4993-99FB-778E5369A6F8}"/>
                  </a:ext>
                </a:extLst>
              </p:cNvPr>
              <p:cNvGrpSpPr>
                <a:grpSpLocks/>
              </p:cNvGrpSpPr>
              <p:nvPr/>
            </p:nvGrpSpPr>
            <p:grpSpPr bwMode="auto">
              <a:xfrm>
                <a:off x="3552" y="3275"/>
                <a:ext cx="694" cy="266"/>
                <a:chOff x="3552" y="1403"/>
                <a:chExt cx="694" cy="266"/>
              </a:xfrm>
            </p:grpSpPr>
            <p:sp>
              <p:nvSpPr>
                <p:cNvPr id="110" name="Rectangle 149">
                  <a:extLst>
                    <a:ext uri="{FF2B5EF4-FFF2-40B4-BE49-F238E27FC236}">
                      <a16:creationId xmlns:a16="http://schemas.microsoft.com/office/drawing/2014/main" id="{A19491FF-728D-4727-8B02-7D46A9719E8C}"/>
                    </a:ext>
                  </a:extLst>
                </p:cNvPr>
                <p:cNvSpPr>
                  <a:spLocks noChangeArrowheads="1"/>
                </p:cNvSpPr>
                <p:nvPr/>
              </p:nvSpPr>
              <p:spPr bwMode="auto">
                <a:xfrm>
                  <a:off x="3552" y="1429"/>
                  <a:ext cx="528" cy="24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sp>
              <p:nvSpPr>
                <p:cNvPr id="111" name="Text Box 150">
                  <a:extLst>
                    <a:ext uri="{FF2B5EF4-FFF2-40B4-BE49-F238E27FC236}">
                      <a16:creationId xmlns:a16="http://schemas.microsoft.com/office/drawing/2014/main" id="{D7B0C088-AA94-4958-BC3D-BE186CE0C3A0}"/>
                    </a:ext>
                  </a:extLst>
                </p:cNvPr>
                <p:cNvSpPr txBox="1">
                  <a:spLocks noChangeArrowheads="1"/>
                </p:cNvSpPr>
                <p:nvPr/>
              </p:nvSpPr>
              <p:spPr bwMode="auto">
                <a:xfrm>
                  <a:off x="3718" y="1403"/>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9</a:t>
                  </a:r>
                </a:p>
              </p:txBody>
            </p:sp>
          </p:grpSp>
          <p:sp>
            <p:nvSpPr>
              <p:cNvPr id="109" name="Rectangle 155">
                <a:extLst>
                  <a:ext uri="{FF2B5EF4-FFF2-40B4-BE49-F238E27FC236}">
                    <a16:creationId xmlns:a16="http://schemas.microsoft.com/office/drawing/2014/main" id="{32E7A7BC-0DCF-4F13-BC34-66AA5F73F8D2}"/>
                  </a:ext>
                </a:extLst>
              </p:cNvPr>
              <p:cNvSpPr>
                <a:spLocks noChangeArrowheads="1"/>
              </p:cNvSpPr>
              <p:nvPr/>
            </p:nvSpPr>
            <p:spPr bwMode="auto">
              <a:xfrm>
                <a:off x="683" y="2544"/>
                <a:ext cx="43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sp>
          <p:nvSpPr>
            <p:cNvPr id="106" name="Rectangle 157">
              <a:extLst>
                <a:ext uri="{FF2B5EF4-FFF2-40B4-BE49-F238E27FC236}">
                  <a16:creationId xmlns:a16="http://schemas.microsoft.com/office/drawing/2014/main" id="{122508A1-86CA-4BB7-8AB4-7FCF3E675E50}"/>
                </a:ext>
              </a:extLst>
            </p:cNvPr>
            <p:cNvSpPr>
              <a:spLocks noChangeArrowheads="1"/>
            </p:cNvSpPr>
            <p:nvPr/>
          </p:nvSpPr>
          <p:spPr bwMode="auto">
            <a:xfrm>
              <a:off x="2544" y="2352"/>
              <a:ext cx="43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grpSp>
        <p:nvGrpSpPr>
          <p:cNvPr id="114" name="Group 161">
            <a:extLst>
              <a:ext uri="{FF2B5EF4-FFF2-40B4-BE49-F238E27FC236}">
                <a16:creationId xmlns:a16="http://schemas.microsoft.com/office/drawing/2014/main" id="{E4EDF0B3-B46B-4DF0-A6A7-AE6F46EA2A59}"/>
              </a:ext>
            </a:extLst>
          </p:cNvPr>
          <p:cNvGrpSpPr>
            <a:grpSpLocks/>
          </p:cNvGrpSpPr>
          <p:nvPr/>
        </p:nvGrpSpPr>
        <p:grpSpPr bwMode="auto">
          <a:xfrm>
            <a:off x="4267200" y="4241304"/>
            <a:ext cx="2590800" cy="1887537"/>
            <a:chOff x="2544" y="2592"/>
            <a:chExt cx="1632" cy="1189"/>
          </a:xfrm>
        </p:grpSpPr>
        <p:grpSp>
          <p:nvGrpSpPr>
            <p:cNvPr id="115" name="Group 145">
              <a:extLst>
                <a:ext uri="{FF2B5EF4-FFF2-40B4-BE49-F238E27FC236}">
                  <a16:creationId xmlns:a16="http://schemas.microsoft.com/office/drawing/2014/main" id="{F93F1E52-DCBB-4EC9-9398-92EE595674A0}"/>
                </a:ext>
              </a:extLst>
            </p:cNvPr>
            <p:cNvGrpSpPr>
              <a:grpSpLocks/>
            </p:cNvGrpSpPr>
            <p:nvPr/>
          </p:nvGrpSpPr>
          <p:grpSpPr bwMode="auto">
            <a:xfrm>
              <a:off x="2544" y="2832"/>
              <a:ext cx="528" cy="250"/>
              <a:chOff x="2592" y="1440"/>
              <a:chExt cx="528" cy="250"/>
            </a:xfrm>
          </p:grpSpPr>
          <p:sp>
            <p:nvSpPr>
              <p:cNvPr id="120" name="Text Box 146">
                <a:extLst>
                  <a:ext uri="{FF2B5EF4-FFF2-40B4-BE49-F238E27FC236}">
                    <a16:creationId xmlns:a16="http://schemas.microsoft.com/office/drawing/2014/main" id="{A5667E92-82A7-48FD-A8A9-7778AF4A6664}"/>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121" name="Line 147">
                <a:extLst>
                  <a:ext uri="{FF2B5EF4-FFF2-40B4-BE49-F238E27FC236}">
                    <a16:creationId xmlns:a16="http://schemas.microsoft.com/office/drawing/2014/main" id="{7DD96ED9-7691-49B2-A067-E54B18F88BB4}"/>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grpSp>
          <p:nvGrpSpPr>
            <p:cNvPr id="116" name="Group 159">
              <a:extLst>
                <a:ext uri="{FF2B5EF4-FFF2-40B4-BE49-F238E27FC236}">
                  <a16:creationId xmlns:a16="http://schemas.microsoft.com/office/drawing/2014/main" id="{41BC0C95-F73A-46F9-BDB4-DD0E2E2C3337}"/>
                </a:ext>
              </a:extLst>
            </p:cNvPr>
            <p:cNvGrpSpPr>
              <a:grpSpLocks/>
            </p:cNvGrpSpPr>
            <p:nvPr/>
          </p:nvGrpSpPr>
          <p:grpSpPr bwMode="auto">
            <a:xfrm>
              <a:off x="3552" y="3515"/>
              <a:ext cx="624" cy="266"/>
              <a:chOff x="3552" y="3515"/>
              <a:chExt cx="624" cy="266"/>
            </a:xfrm>
          </p:grpSpPr>
          <p:sp>
            <p:nvSpPr>
              <p:cNvPr id="118" name="Rectangle 153">
                <a:extLst>
                  <a:ext uri="{FF2B5EF4-FFF2-40B4-BE49-F238E27FC236}">
                    <a16:creationId xmlns:a16="http://schemas.microsoft.com/office/drawing/2014/main" id="{F00EFDE4-5816-481D-B402-0E50A4B2EF62}"/>
                  </a:ext>
                </a:extLst>
              </p:cNvPr>
              <p:cNvSpPr>
                <a:spLocks noChangeArrowheads="1"/>
              </p:cNvSpPr>
              <p:nvPr/>
            </p:nvSpPr>
            <p:spPr bwMode="auto">
              <a:xfrm>
                <a:off x="3552" y="3541"/>
                <a:ext cx="528" cy="24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sp>
            <p:nvSpPr>
              <p:cNvPr id="119" name="Text Box 154">
                <a:extLst>
                  <a:ext uri="{FF2B5EF4-FFF2-40B4-BE49-F238E27FC236}">
                    <a16:creationId xmlns:a16="http://schemas.microsoft.com/office/drawing/2014/main" id="{52D996BE-0601-4566-A8A6-CFAA7C9288AF}"/>
                  </a:ext>
                </a:extLst>
              </p:cNvPr>
              <p:cNvSpPr txBox="1">
                <a:spLocks noChangeArrowheads="1"/>
              </p:cNvSpPr>
              <p:nvPr/>
            </p:nvSpPr>
            <p:spPr bwMode="auto">
              <a:xfrm>
                <a:off x="3648" y="3515"/>
                <a:ext cx="5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15</a:t>
                </a:r>
              </a:p>
            </p:txBody>
          </p:sp>
        </p:grpSp>
        <p:sp>
          <p:nvSpPr>
            <p:cNvPr id="117" name="Rectangle 160">
              <a:extLst>
                <a:ext uri="{FF2B5EF4-FFF2-40B4-BE49-F238E27FC236}">
                  <a16:creationId xmlns:a16="http://schemas.microsoft.com/office/drawing/2014/main" id="{6253EF30-26C0-439D-8F22-6D50047F0E81}"/>
                </a:ext>
              </a:extLst>
            </p:cNvPr>
            <p:cNvSpPr>
              <a:spLocks noChangeArrowheads="1"/>
            </p:cNvSpPr>
            <p:nvPr/>
          </p:nvSpPr>
          <p:spPr bwMode="auto">
            <a:xfrm>
              <a:off x="2544" y="2592"/>
              <a:ext cx="480"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grpSp>
        <p:nvGrpSpPr>
          <p:cNvPr id="122" name="Group 173">
            <a:extLst>
              <a:ext uri="{FF2B5EF4-FFF2-40B4-BE49-F238E27FC236}">
                <a16:creationId xmlns:a16="http://schemas.microsoft.com/office/drawing/2014/main" id="{032C5333-2708-47A3-BEE2-5992AC6F0535}"/>
              </a:ext>
            </a:extLst>
          </p:cNvPr>
          <p:cNvGrpSpPr>
            <a:grpSpLocks/>
          </p:cNvGrpSpPr>
          <p:nvPr/>
        </p:nvGrpSpPr>
        <p:grpSpPr bwMode="auto">
          <a:xfrm>
            <a:off x="4017963" y="4622306"/>
            <a:ext cx="1447800" cy="1316038"/>
            <a:chOff x="2387" y="2832"/>
            <a:chExt cx="912" cy="829"/>
          </a:xfrm>
        </p:grpSpPr>
        <p:grpSp>
          <p:nvGrpSpPr>
            <p:cNvPr id="123" name="Group 163">
              <a:extLst>
                <a:ext uri="{FF2B5EF4-FFF2-40B4-BE49-F238E27FC236}">
                  <a16:creationId xmlns:a16="http://schemas.microsoft.com/office/drawing/2014/main" id="{91F9BFE0-7083-40A7-9140-D033487456C4}"/>
                </a:ext>
              </a:extLst>
            </p:cNvPr>
            <p:cNvGrpSpPr>
              <a:grpSpLocks/>
            </p:cNvGrpSpPr>
            <p:nvPr/>
          </p:nvGrpSpPr>
          <p:grpSpPr bwMode="auto">
            <a:xfrm>
              <a:off x="2544" y="3062"/>
              <a:ext cx="528" cy="250"/>
              <a:chOff x="2592" y="1440"/>
              <a:chExt cx="528" cy="250"/>
            </a:xfrm>
          </p:grpSpPr>
          <p:sp>
            <p:nvSpPr>
              <p:cNvPr id="126" name="Text Box 164">
                <a:extLst>
                  <a:ext uri="{FF2B5EF4-FFF2-40B4-BE49-F238E27FC236}">
                    <a16:creationId xmlns:a16="http://schemas.microsoft.com/office/drawing/2014/main" id="{861C86B6-6EF5-4011-96C1-C46AA08C7672}"/>
                  </a:ext>
                </a:extLst>
              </p:cNvPr>
              <p:cNvSpPr txBox="1">
                <a:spLocks noChangeArrowheads="1"/>
              </p:cNvSpPr>
              <p:nvPr/>
            </p:nvSpPr>
            <p:spPr bwMode="auto">
              <a:xfrm>
                <a:off x="2832" y="144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1">
                    <a:latin typeface="Arial" panose="020B0604020202020204" pitchFamily="34" charset="0"/>
                  </a:rPr>
                  <a:t>j</a:t>
                </a:r>
              </a:p>
            </p:txBody>
          </p:sp>
          <p:sp>
            <p:nvSpPr>
              <p:cNvPr id="127" name="Line 165">
                <a:extLst>
                  <a:ext uri="{FF2B5EF4-FFF2-40B4-BE49-F238E27FC236}">
                    <a16:creationId xmlns:a16="http://schemas.microsoft.com/office/drawing/2014/main" id="{5BF49DFD-C2C3-4241-B473-CA146D471616}"/>
                  </a:ext>
                </a:extLst>
              </p:cNvPr>
              <p:cNvSpPr>
                <a:spLocks noChangeShapeType="1"/>
              </p:cNvSpPr>
              <p:nvPr/>
            </p:nvSpPr>
            <p:spPr bwMode="auto">
              <a:xfrm flipH="1">
                <a:off x="2592" y="1573"/>
                <a:ext cx="240" cy="0"/>
              </a:xfrm>
              <a:prstGeom prst="line">
                <a:avLst/>
              </a:prstGeom>
              <a:noFill/>
              <a:ln w="28575">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124" name="Text Box 170">
              <a:extLst>
                <a:ext uri="{FF2B5EF4-FFF2-40B4-BE49-F238E27FC236}">
                  <a16:creationId xmlns:a16="http://schemas.microsoft.com/office/drawing/2014/main" id="{1B4C5532-DAD5-4B6F-96C6-B3F8BB04FC81}"/>
                </a:ext>
              </a:extLst>
            </p:cNvPr>
            <p:cNvSpPr txBox="1">
              <a:spLocks noChangeArrowheads="1"/>
            </p:cNvSpPr>
            <p:nvPr/>
          </p:nvSpPr>
          <p:spPr bwMode="auto">
            <a:xfrm>
              <a:off x="2387" y="3370"/>
              <a:ext cx="9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b="1" dirty="0">
                  <a:latin typeface="Arial" panose="020B0604020202020204" pitchFamily="34" charset="0"/>
                </a:rPr>
                <a:t>算法结束！</a:t>
              </a:r>
            </a:p>
          </p:txBody>
        </p:sp>
        <p:sp>
          <p:nvSpPr>
            <p:cNvPr id="125" name="Rectangle 172">
              <a:extLst>
                <a:ext uri="{FF2B5EF4-FFF2-40B4-BE49-F238E27FC236}">
                  <a16:creationId xmlns:a16="http://schemas.microsoft.com/office/drawing/2014/main" id="{179EBC2F-4F6C-40C2-862E-A5633305212B}"/>
                </a:ext>
              </a:extLst>
            </p:cNvPr>
            <p:cNvSpPr>
              <a:spLocks noChangeArrowheads="1"/>
            </p:cNvSpPr>
            <p:nvPr/>
          </p:nvSpPr>
          <p:spPr bwMode="auto">
            <a:xfrm>
              <a:off x="2544" y="2832"/>
              <a:ext cx="480"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en-US" sz="2000" b="1">
                <a:latin typeface="Arial" panose="020B0604020202020204" pitchFamily="34" charset="0"/>
              </a:endParaRPr>
            </a:p>
          </p:txBody>
        </p:sp>
      </p:grpSp>
    </p:spTree>
    <p:extLst>
      <p:ext uri="{BB962C8B-B14F-4D97-AF65-F5344CB8AC3E}">
        <p14:creationId xmlns:p14="http://schemas.microsoft.com/office/powerpoint/2010/main" val="286864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7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9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0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1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utoUpdateAnimBg="0"/>
      <p:bldP spid="31"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3DD91D2-E5D9-41B2-A55D-744AAC08AB6C}"/>
              </a:ext>
            </a:extLst>
          </p:cNvPr>
          <p:cNvSpPr txBox="1">
            <a:spLocks noChangeArrowheads="1"/>
          </p:cNvSpPr>
          <p:nvPr/>
        </p:nvSpPr>
        <p:spPr bwMode="auto">
          <a:xfrm>
            <a:off x="304800" y="-27384"/>
            <a:ext cx="8534400" cy="698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0"/>
              </a:spcBef>
              <a:buClrTx/>
              <a:buFontTx/>
              <a:buNone/>
            </a:pPr>
            <a:r>
              <a:rPr lang="en-US" altLang="zh-CN" sz="2400" b="1" dirty="0">
                <a:latin typeface="+mn-lt"/>
                <a:ea typeface="楷体_GB2312" pitchFamily="49" charset="-122"/>
              </a:rPr>
              <a:t>void</a:t>
            </a:r>
            <a:r>
              <a:rPr lang="en-US" altLang="zh-CN" sz="2400" dirty="0">
                <a:latin typeface="+mn-lt"/>
                <a:ea typeface="楷体_GB2312" pitchFamily="49" charset="-122"/>
              </a:rPr>
              <a:t> </a:t>
            </a:r>
            <a:r>
              <a:rPr lang="en-US" altLang="zh-CN" sz="2400" dirty="0" err="1">
                <a:latin typeface="+mn-lt"/>
                <a:ea typeface="楷体_GB2312" pitchFamily="49" charset="-122"/>
              </a:rPr>
              <a:t>MergeList</a:t>
            </a:r>
            <a:r>
              <a:rPr lang="en-US" altLang="zh-CN" sz="2400" dirty="0">
                <a:latin typeface="+mn-lt"/>
                <a:ea typeface="楷体_GB2312" pitchFamily="49" charset="-122"/>
              </a:rPr>
              <a:t>(List </a:t>
            </a:r>
            <a:r>
              <a:rPr lang="en-US" altLang="zh-CN" sz="2400" i="1" dirty="0">
                <a:latin typeface="+mn-lt"/>
                <a:ea typeface="楷体_GB2312" pitchFamily="49" charset="-122"/>
              </a:rPr>
              <a:t>L</a:t>
            </a:r>
            <a:r>
              <a:rPr lang="en-US" altLang="zh-CN" sz="2400" i="1" baseline="-25000" dirty="0">
                <a:latin typeface="+mn-lt"/>
                <a:ea typeface="楷体_GB2312" pitchFamily="49" charset="-122"/>
              </a:rPr>
              <a:t>A</a:t>
            </a:r>
            <a:r>
              <a:rPr lang="en-US" altLang="zh-CN" sz="2400" dirty="0">
                <a:latin typeface="+mn-lt"/>
                <a:ea typeface="楷体_GB2312" pitchFamily="49" charset="-122"/>
              </a:rPr>
              <a:t>, List </a:t>
            </a:r>
            <a:r>
              <a:rPr lang="en-US" altLang="zh-CN" sz="2400" i="1" dirty="0">
                <a:latin typeface="+mn-lt"/>
                <a:ea typeface="楷体_GB2312" pitchFamily="49" charset="-122"/>
              </a:rPr>
              <a:t>L</a:t>
            </a:r>
            <a:r>
              <a:rPr lang="en-US" altLang="zh-CN" sz="2400" i="1" baseline="-25000" dirty="0">
                <a:latin typeface="+mn-lt"/>
                <a:ea typeface="楷体_GB2312" pitchFamily="49" charset="-122"/>
              </a:rPr>
              <a:t>B </a:t>
            </a:r>
            <a:r>
              <a:rPr lang="en-US" altLang="zh-CN" sz="2400" dirty="0">
                <a:latin typeface="+mn-lt"/>
                <a:ea typeface="楷体_GB2312" pitchFamily="49" charset="-122"/>
              </a:rPr>
              <a:t>, List </a:t>
            </a:r>
            <a:r>
              <a:rPr lang="en-US" altLang="zh-CN" sz="2400" b="1" dirty="0">
                <a:latin typeface="+mn-lt"/>
                <a:ea typeface="楷体_GB2312" pitchFamily="49" charset="-122"/>
              </a:rPr>
              <a:t>&amp;</a:t>
            </a:r>
            <a:r>
              <a:rPr lang="en-US" altLang="zh-CN" sz="2400" i="1" dirty="0">
                <a:latin typeface="+mn-lt"/>
                <a:ea typeface="楷体_GB2312" pitchFamily="49" charset="-122"/>
              </a:rPr>
              <a:t> L</a:t>
            </a:r>
            <a:r>
              <a:rPr lang="en-US" altLang="zh-CN" sz="2400" i="1" baseline="-25000" dirty="0">
                <a:latin typeface="+mn-lt"/>
                <a:ea typeface="楷体_GB2312" pitchFamily="49" charset="-122"/>
              </a:rPr>
              <a:t>C</a:t>
            </a:r>
            <a:r>
              <a:rPr lang="en-US" altLang="zh-CN" sz="2400" dirty="0">
                <a:latin typeface="+mn-lt"/>
                <a:ea typeface="楷体_GB2312" pitchFamily="49" charset="-122"/>
              </a:rPr>
              <a:t>) </a:t>
            </a:r>
            <a:r>
              <a:rPr lang="en-US" altLang="zh-CN" sz="2400" b="1" dirty="0">
                <a:latin typeface="+mn-lt"/>
                <a:ea typeface="楷体_GB2312" pitchFamily="49" charset="-122"/>
              </a:rPr>
              <a:t>{</a:t>
            </a: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endParaRPr lang="en-US" altLang="zh-CN" sz="2400" b="1" dirty="0">
              <a:latin typeface="+mn-lt"/>
              <a:ea typeface="楷体_GB2312" pitchFamily="49" charset="-122"/>
            </a:endParaRPr>
          </a:p>
          <a:p>
            <a:pPr eaLnBrk="1" hangingPunct="1">
              <a:lnSpc>
                <a:spcPct val="110000"/>
              </a:lnSpc>
              <a:spcBef>
                <a:spcPct val="0"/>
              </a:spcBef>
              <a:buClrTx/>
              <a:buFontTx/>
              <a:buNone/>
            </a:pPr>
            <a:r>
              <a:rPr lang="en-US" altLang="zh-CN" sz="2400" b="1" dirty="0">
                <a:latin typeface="+mn-lt"/>
                <a:ea typeface="楷体_GB2312" pitchFamily="49" charset="-122"/>
              </a:rPr>
              <a:t>}</a:t>
            </a:r>
            <a:r>
              <a:rPr lang="en-US" altLang="zh-CN" sz="2400" dirty="0">
                <a:latin typeface="+mn-lt"/>
                <a:ea typeface="楷体_GB2312" pitchFamily="49" charset="-122"/>
              </a:rPr>
              <a:t> </a:t>
            </a:r>
            <a:r>
              <a:rPr lang="en-US" altLang="zh-CN" sz="2400" dirty="0">
                <a:solidFill>
                  <a:srgbClr val="00B050"/>
                </a:solidFill>
                <a:latin typeface="+mn-lt"/>
                <a:ea typeface="楷体_GB2312" pitchFamily="49" charset="-122"/>
              </a:rPr>
              <a:t>// </a:t>
            </a:r>
            <a:r>
              <a:rPr lang="en-US" altLang="zh-CN" sz="2400" dirty="0" err="1">
                <a:solidFill>
                  <a:srgbClr val="00B050"/>
                </a:solidFill>
                <a:latin typeface="+mn-lt"/>
                <a:ea typeface="楷体_GB2312" pitchFamily="49" charset="-122"/>
              </a:rPr>
              <a:t>MergeList</a:t>
            </a:r>
            <a:endParaRPr lang="en-US" altLang="zh-CN" sz="2400" dirty="0">
              <a:solidFill>
                <a:srgbClr val="00B050"/>
              </a:solidFill>
              <a:latin typeface="+mn-lt"/>
              <a:ea typeface="楷体_GB2312" pitchFamily="49" charset="-122"/>
            </a:endParaRPr>
          </a:p>
        </p:txBody>
      </p:sp>
      <p:sp>
        <p:nvSpPr>
          <p:cNvPr id="5" name="Rectangle 3">
            <a:hlinkClick r:id="" action="ppaction://hlinkshowjump?jump=nextslide"/>
            <a:extLst>
              <a:ext uri="{FF2B5EF4-FFF2-40B4-BE49-F238E27FC236}">
                <a16:creationId xmlns:a16="http://schemas.microsoft.com/office/drawing/2014/main" id="{92E1A174-B1E3-4B73-A0E4-167D46F00852}"/>
              </a:ext>
            </a:extLst>
          </p:cNvPr>
          <p:cNvSpPr>
            <a:spLocks noChangeArrowheads="1"/>
          </p:cNvSpPr>
          <p:nvPr/>
        </p:nvSpPr>
        <p:spPr bwMode="auto">
          <a:xfrm>
            <a:off x="762000" y="1459176"/>
            <a:ext cx="7986464" cy="5011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b="1" dirty="0">
                <a:latin typeface="+mn-lt"/>
                <a:ea typeface="楷体_GB2312" pitchFamily="49" charset="-122"/>
              </a:rPr>
              <a:t>while</a:t>
            </a:r>
            <a:r>
              <a:rPr lang="en-US" altLang="zh-CN" sz="2400" dirty="0">
                <a:latin typeface="+mn-lt"/>
                <a:ea typeface="楷体_GB2312" pitchFamily="49" charset="-122"/>
              </a:rPr>
              <a:t> ((</a:t>
            </a:r>
            <a:r>
              <a:rPr lang="en-US" altLang="zh-CN" sz="2400" dirty="0" err="1">
                <a:latin typeface="+mn-lt"/>
                <a:ea typeface="楷体_GB2312" pitchFamily="49" charset="-122"/>
              </a:rPr>
              <a:t>i</a:t>
            </a:r>
            <a:r>
              <a:rPr lang="en-US" altLang="zh-CN" sz="2400" dirty="0">
                <a:latin typeface="+mn-lt"/>
                <a:ea typeface="楷体_GB2312" pitchFamily="49" charset="-122"/>
              </a:rPr>
              <a:t> &lt;= </a:t>
            </a:r>
            <a:r>
              <a:rPr lang="en-US" altLang="zh-CN" sz="2400" i="1" dirty="0">
                <a:latin typeface="+mn-lt"/>
                <a:ea typeface="楷体_GB2312" pitchFamily="49" charset="-122"/>
              </a:rPr>
              <a:t>L</a:t>
            </a:r>
            <a:r>
              <a:rPr lang="en-US" altLang="zh-CN" sz="2400" i="1" baseline="-25000" dirty="0">
                <a:latin typeface="+mn-lt"/>
                <a:ea typeface="楷体_GB2312" pitchFamily="49" charset="-122"/>
              </a:rPr>
              <a:t>A </a:t>
            </a:r>
            <a:r>
              <a:rPr lang="en-US" altLang="zh-CN" sz="2400" dirty="0">
                <a:latin typeface="+mn-lt"/>
                <a:ea typeface="楷体_GB2312" pitchFamily="49" charset="-122"/>
              </a:rPr>
              <a:t>_</a:t>
            </a:r>
            <a:r>
              <a:rPr lang="en-US" altLang="zh-CN" sz="2400" dirty="0" err="1">
                <a:latin typeface="+mn-lt"/>
                <a:ea typeface="楷体_GB2312" pitchFamily="49" charset="-122"/>
              </a:rPr>
              <a:t>len</a:t>
            </a:r>
            <a:r>
              <a:rPr lang="en-US" altLang="zh-CN" sz="2400" dirty="0">
                <a:latin typeface="+mn-lt"/>
                <a:ea typeface="楷体_GB2312" pitchFamily="49" charset="-122"/>
              </a:rPr>
              <a:t>) </a:t>
            </a:r>
            <a:r>
              <a:rPr lang="en-US" altLang="zh-CN" sz="2400" b="1" dirty="0">
                <a:latin typeface="+mn-lt"/>
                <a:ea typeface="楷体_GB2312" pitchFamily="49" charset="-122"/>
              </a:rPr>
              <a:t>&amp;&amp;</a:t>
            </a:r>
            <a:r>
              <a:rPr lang="en-US" altLang="zh-CN" sz="2400" dirty="0">
                <a:latin typeface="+mn-lt"/>
                <a:ea typeface="楷体_GB2312" pitchFamily="49" charset="-122"/>
              </a:rPr>
              <a:t> (j &lt;= </a:t>
            </a:r>
            <a:r>
              <a:rPr lang="en-US" altLang="zh-CN" sz="2400" i="1" dirty="0" err="1">
                <a:latin typeface="+mn-lt"/>
                <a:ea typeface="楷体_GB2312" pitchFamily="49" charset="-122"/>
              </a:rPr>
              <a:t>L</a:t>
            </a:r>
            <a:r>
              <a:rPr lang="en-US" altLang="zh-CN" sz="2400" i="1" baseline="-25000" dirty="0" err="1">
                <a:latin typeface="+mn-lt"/>
                <a:ea typeface="楷体_GB2312" pitchFamily="49" charset="-122"/>
              </a:rPr>
              <a:t>B</a:t>
            </a:r>
            <a:r>
              <a:rPr lang="en-US" altLang="zh-CN" sz="2400" dirty="0" err="1">
                <a:latin typeface="+mn-lt"/>
                <a:ea typeface="楷体_GB2312" pitchFamily="49" charset="-122"/>
              </a:rPr>
              <a:t>_len</a:t>
            </a:r>
            <a:r>
              <a:rPr lang="en-US" altLang="zh-CN" sz="2400" dirty="0">
                <a:latin typeface="+mn-lt"/>
                <a:ea typeface="楷体_GB2312" pitchFamily="49" charset="-122"/>
              </a:rPr>
              <a:t>)) </a:t>
            </a:r>
            <a:r>
              <a:rPr lang="en-US" altLang="zh-CN" sz="2400" b="1" dirty="0">
                <a:latin typeface="+mn-lt"/>
                <a:ea typeface="楷体_GB2312" pitchFamily="49" charset="-122"/>
              </a:rPr>
              <a:t>{</a:t>
            </a:r>
            <a:r>
              <a:rPr lang="en-US" altLang="zh-CN" sz="2400" dirty="0">
                <a:latin typeface="+mn-lt"/>
                <a:ea typeface="楷体_GB2312" pitchFamily="49" charset="-122"/>
              </a:rPr>
              <a:t>  </a:t>
            </a:r>
            <a:r>
              <a:rPr lang="en-US" altLang="zh-CN" sz="2400" b="1" dirty="0">
                <a:solidFill>
                  <a:srgbClr val="00B050"/>
                </a:solidFill>
                <a:ea typeface="楷体_GB2312" pitchFamily="49" charset="-122"/>
              </a:rPr>
              <a:t>// </a:t>
            </a:r>
            <a:r>
              <a:rPr lang="en-US" altLang="zh-CN" sz="2400" i="1" dirty="0">
                <a:solidFill>
                  <a:srgbClr val="00B050"/>
                </a:solidFill>
                <a:ea typeface="楷体_GB2312" pitchFamily="49" charset="-122"/>
              </a:rPr>
              <a:t>L</a:t>
            </a:r>
            <a:r>
              <a:rPr lang="en-US" altLang="zh-CN" sz="2400" i="1" baseline="-25000" dirty="0">
                <a:solidFill>
                  <a:srgbClr val="00B050"/>
                </a:solidFill>
                <a:ea typeface="楷体_GB2312" pitchFamily="49" charset="-122"/>
              </a:rPr>
              <a:t>A</a:t>
            </a:r>
            <a:r>
              <a:rPr lang="zh-CN" altLang="en-US" sz="2400" dirty="0">
                <a:solidFill>
                  <a:srgbClr val="00B050"/>
                </a:solidFill>
                <a:ea typeface="楷体_GB2312" pitchFamily="49" charset="-122"/>
              </a:rPr>
              <a:t>和 </a:t>
            </a:r>
            <a:r>
              <a:rPr lang="en-US" altLang="zh-CN" sz="2400" i="1" dirty="0">
                <a:solidFill>
                  <a:srgbClr val="00B050"/>
                </a:solidFill>
                <a:ea typeface="楷体_GB2312" pitchFamily="49" charset="-122"/>
              </a:rPr>
              <a:t>L</a:t>
            </a:r>
            <a:r>
              <a:rPr lang="en-US" altLang="zh-CN" sz="2400" i="1" baseline="-25000" dirty="0">
                <a:solidFill>
                  <a:srgbClr val="00B050"/>
                </a:solidFill>
                <a:ea typeface="楷体_GB2312" pitchFamily="49" charset="-122"/>
              </a:rPr>
              <a:t>B</a:t>
            </a:r>
            <a:r>
              <a:rPr lang="en-US" altLang="zh-CN" sz="2400" dirty="0">
                <a:solidFill>
                  <a:srgbClr val="00B050"/>
                </a:solidFill>
                <a:ea typeface="楷体_GB2312" pitchFamily="49" charset="-122"/>
              </a:rPr>
              <a:t> </a:t>
            </a:r>
            <a:r>
              <a:rPr lang="zh-CN" altLang="en-US" sz="2400" dirty="0">
                <a:solidFill>
                  <a:srgbClr val="00B050"/>
                </a:solidFill>
                <a:ea typeface="楷体_GB2312" pitchFamily="49" charset="-122"/>
              </a:rPr>
              <a:t>均不空 </a:t>
            </a:r>
            <a:endParaRPr lang="en-US" altLang="zh-CN" sz="2400" dirty="0">
              <a:solidFill>
                <a:srgbClr val="00B050"/>
              </a:solidFill>
              <a:latin typeface="+mn-lt"/>
              <a:ea typeface="楷体_GB2312" pitchFamily="49" charset="-122"/>
            </a:endParaRPr>
          </a:p>
          <a:p>
            <a:pPr eaLnBrk="1" hangingPunct="1">
              <a:lnSpc>
                <a:spcPct val="150000"/>
              </a:lnSpc>
              <a:spcBef>
                <a:spcPct val="0"/>
              </a:spcBef>
              <a:buClrTx/>
              <a:buFontTx/>
              <a:buNone/>
            </a:pPr>
            <a:r>
              <a:rPr lang="en-US" altLang="zh-CN" sz="2400" dirty="0">
                <a:ea typeface="楷体_GB2312" pitchFamily="49" charset="-122"/>
              </a:rPr>
              <a:t>    </a:t>
            </a:r>
            <a:r>
              <a:rPr lang="en-US" altLang="zh-CN" sz="2400" dirty="0" err="1">
                <a:ea typeface="楷体_GB2312" pitchFamily="49" charset="-122"/>
              </a:rPr>
              <a:t>GetElem</a:t>
            </a:r>
            <a:r>
              <a:rPr lang="en-US" altLang="zh-CN" sz="2400" dirty="0">
                <a:ea typeface="楷体_GB2312" pitchFamily="49" charset="-122"/>
              </a:rPr>
              <a:t>(</a:t>
            </a:r>
            <a:r>
              <a:rPr lang="en-US" altLang="zh-CN" sz="2400" i="1" dirty="0">
                <a:ea typeface="楷体_GB2312" pitchFamily="49" charset="-122"/>
              </a:rPr>
              <a:t>L</a:t>
            </a:r>
            <a:r>
              <a:rPr lang="en-US" altLang="zh-CN" sz="2400" i="1" baseline="-25000" dirty="0">
                <a:ea typeface="楷体_GB2312" pitchFamily="49" charset="-122"/>
              </a:rPr>
              <a:t>A</a:t>
            </a:r>
            <a:r>
              <a:rPr lang="en-US" altLang="zh-CN" sz="2400" dirty="0">
                <a:ea typeface="楷体_GB2312" pitchFamily="49" charset="-122"/>
              </a:rPr>
              <a:t>, </a:t>
            </a:r>
            <a:r>
              <a:rPr lang="en-US" altLang="zh-CN" sz="2400" dirty="0" err="1">
                <a:ea typeface="楷体_GB2312" pitchFamily="49" charset="-122"/>
              </a:rPr>
              <a:t>i</a:t>
            </a:r>
            <a:r>
              <a:rPr lang="en-US" altLang="zh-CN" sz="2400" dirty="0">
                <a:ea typeface="楷体_GB2312" pitchFamily="49" charset="-122"/>
              </a:rPr>
              <a:t>, </a:t>
            </a:r>
            <a:r>
              <a:rPr lang="en-US" altLang="zh-CN" sz="2400" i="1" dirty="0">
                <a:ea typeface="楷体_GB2312" pitchFamily="49" charset="-122"/>
              </a:rPr>
              <a:t>a</a:t>
            </a:r>
            <a:r>
              <a:rPr lang="en-US" altLang="zh-CN" sz="2400" i="1" baseline="-25000" dirty="0">
                <a:ea typeface="楷体_GB2312" pitchFamily="49" charset="-122"/>
              </a:rPr>
              <a:t>i</a:t>
            </a:r>
            <a:r>
              <a:rPr lang="en-US" altLang="zh-CN" sz="2400" dirty="0">
                <a:ea typeface="楷体_GB2312" pitchFamily="49" charset="-122"/>
              </a:rPr>
              <a:t>);    </a:t>
            </a:r>
            <a:r>
              <a:rPr lang="en-US" altLang="zh-CN" sz="2400" dirty="0" err="1">
                <a:ea typeface="楷体_GB2312" pitchFamily="49" charset="-122"/>
              </a:rPr>
              <a:t>GetElem</a:t>
            </a:r>
            <a:r>
              <a:rPr lang="en-US" altLang="zh-CN" sz="2400" dirty="0">
                <a:ea typeface="楷体_GB2312" pitchFamily="49" charset="-122"/>
              </a:rPr>
              <a:t>(</a:t>
            </a:r>
            <a:r>
              <a:rPr lang="en-US" altLang="zh-CN" sz="2400" i="1" dirty="0">
                <a:ea typeface="楷体_GB2312" pitchFamily="49" charset="-122"/>
              </a:rPr>
              <a:t>L</a:t>
            </a:r>
            <a:r>
              <a:rPr lang="en-US" altLang="zh-CN" sz="2400" i="1" baseline="-25000" dirty="0">
                <a:ea typeface="楷体_GB2312" pitchFamily="49" charset="-122"/>
              </a:rPr>
              <a:t>B</a:t>
            </a:r>
            <a:r>
              <a:rPr lang="en-US" altLang="zh-CN" sz="2400" dirty="0">
                <a:ea typeface="楷体_GB2312" pitchFamily="49" charset="-122"/>
              </a:rPr>
              <a:t>, j, </a:t>
            </a:r>
            <a:r>
              <a:rPr lang="en-US" altLang="zh-CN" sz="2400" i="1" dirty="0" err="1">
                <a:ea typeface="楷体_GB2312" pitchFamily="49" charset="-122"/>
              </a:rPr>
              <a:t>b</a:t>
            </a:r>
            <a:r>
              <a:rPr lang="en-US" altLang="zh-CN" sz="2400" i="1" baseline="-25000" dirty="0" err="1">
                <a:ea typeface="楷体_GB2312" pitchFamily="49" charset="-122"/>
              </a:rPr>
              <a:t>j</a:t>
            </a:r>
            <a:r>
              <a:rPr lang="en-US" altLang="zh-CN" sz="2400" dirty="0">
                <a:ea typeface="楷体_GB2312" pitchFamily="49" charset="-122"/>
              </a:rPr>
              <a:t>);</a:t>
            </a:r>
          </a:p>
          <a:p>
            <a:pPr eaLnBrk="1" hangingPunct="1">
              <a:lnSpc>
                <a:spcPct val="150000"/>
              </a:lnSpc>
              <a:spcBef>
                <a:spcPct val="0"/>
              </a:spcBef>
              <a:buClrTx/>
              <a:buFontTx/>
              <a:buNone/>
            </a:pPr>
            <a:r>
              <a:rPr lang="en-US" altLang="zh-CN" sz="2400" dirty="0">
                <a:ea typeface="楷体_GB2312" pitchFamily="49" charset="-122"/>
              </a:rPr>
              <a:t>    </a:t>
            </a:r>
            <a:r>
              <a:rPr lang="en-US" altLang="zh-CN" sz="2400" b="1" dirty="0">
                <a:ea typeface="楷体_GB2312" pitchFamily="49" charset="-122"/>
              </a:rPr>
              <a:t>if</a:t>
            </a:r>
            <a:r>
              <a:rPr lang="en-US" altLang="zh-CN" sz="2400" dirty="0">
                <a:ea typeface="楷体_GB2312" pitchFamily="49" charset="-122"/>
              </a:rPr>
              <a:t> (</a:t>
            </a:r>
            <a:r>
              <a:rPr lang="en-US" altLang="zh-CN" sz="2400" i="1" dirty="0">
                <a:ea typeface="楷体_GB2312" pitchFamily="49" charset="-122"/>
              </a:rPr>
              <a:t>a</a:t>
            </a:r>
            <a:r>
              <a:rPr lang="en-US" altLang="zh-CN" sz="2400" i="1" baseline="-25000" dirty="0">
                <a:ea typeface="楷体_GB2312" pitchFamily="49" charset="-122"/>
              </a:rPr>
              <a:t>i</a:t>
            </a:r>
            <a:r>
              <a:rPr lang="en-US" altLang="zh-CN" sz="2400" dirty="0">
                <a:ea typeface="楷体_GB2312" pitchFamily="49" charset="-122"/>
              </a:rPr>
              <a:t> &lt;= </a:t>
            </a:r>
            <a:r>
              <a:rPr lang="en-US" altLang="zh-CN" sz="2400" i="1" dirty="0" err="1">
                <a:ea typeface="楷体_GB2312" pitchFamily="49" charset="-122"/>
              </a:rPr>
              <a:t>b</a:t>
            </a:r>
            <a:r>
              <a:rPr lang="en-US" altLang="zh-CN" sz="2400" i="1" baseline="-25000" dirty="0" err="1">
                <a:ea typeface="楷体_GB2312" pitchFamily="49" charset="-122"/>
              </a:rPr>
              <a:t>j</a:t>
            </a:r>
            <a:r>
              <a:rPr lang="en-US" altLang="zh-CN" sz="2400" dirty="0">
                <a:ea typeface="楷体_GB2312" pitchFamily="49" charset="-122"/>
              </a:rPr>
              <a:t>) </a:t>
            </a:r>
            <a:r>
              <a:rPr lang="en-US" altLang="zh-CN" sz="2400" b="1" dirty="0">
                <a:ea typeface="楷体_GB2312" pitchFamily="49" charset="-122"/>
              </a:rPr>
              <a:t>{ </a:t>
            </a:r>
            <a:r>
              <a:rPr lang="en-US" altLang="zh-CN" sz="2400" dirty="0" err="1">
                <a:ea typeface="楷体_GB2312" pitchFamily="49" charset="-122"/>
              </a:rPr>
              <a:t>ListInsert</a:t>
            </a:r>
            <a:r>
              <a:rPr lang="en-US" altLang="zh-CN" sz="2400" dirty="0">
                <a:ea typeface="楷体_GB2312" pitchFamily="49" charset="-122"/>
              </a:rPr>
              <a:t>(</a:t>
            </a:r>
            <a:r>
              <a:rPr lang="en-US" altLang="zh-CN" sz="2400" i="1" dirty="0">
                <a:ea typeface="楷体_GB2312" pitchFamily="49" charset="-122"/>
              </a:rPr>
              <a:t>L</a:t>
            </a:r>
            <a:r>
              <a:rPr lang="en-US" altLang="zh-CN" sz="2400" i="1" baseline="-25000" dirty="0">
                <a:ea typeface="楷体_GB2312" pitchFamily="49" charset="-122"/>
              </a:rPr>
              <a:t>C</a:t>
            </a:r>
            <a:r>
              <a:rPr lang="en-US" altLang="zh-CN" sz="2400" dirty="0">
                <a:ea typeface="楷体_GB2312" pitchFamily="49" charset="-122"/>
              </a:rPr>
              <a:t>, ++k, </a:t>
            </a:r>
            <a:r>
              <a:rPr lang="en-US" altLang="zh-CN" sz="2400" i="1" dirty="0">
                <a:ea typeface="楷体_GB2312" pitchFamily="49" charset="-122"/>
              </a:rPr>
              <a:t>a</a:t>
            </a:r>
            <a:r>
              <a:rPr lang="en-US" altLang="zh-CN" sz="2400" i="1" baseline="-25000" dirty="0">
                <a:ea typeface="楷体_GB2312" pitchFamily="49" charset="-122"/>
              </a:rPr>
              <a:t>i</a:t>
            </a:r>
            <a:r>
              <a:rPr lang="en-US" altLang="zh-CN" sz="2400" dirty="0">
                <a:ea typeface="楷体_GB2312" pitchFamily="49" charset="-122"/>
              </a:rPr>
              <a:t>);  ++</a:t>
            </a:r>
            <a:r>
              <a:rPr lang="en-US" altLang="zh-CN" sz="2400" dirty="0" err="1">
                <a:ea typeface="楷体_GB2312" pitchFamily="49" charset="-122"/>
              </a:rPr>
              <a:t>i</a:t>
            </a:r>
            <a:r>
              <a:rPr lang="en-US" altLang="zh-CN" sz="2400" dirty="0">
                <a:ea typeface="楷体_GB2312" pitchFamily="49" charset="-122"/>
              </a:rPr>
              <a:t>; </a:t>
            </a:r>
            <a:r>
              <a:rPr lang="en-US" altLang="zh-CN" sz="2400" b="1" dirty="0">
                <a:ea typeface="楷体_GB2312" pitchFamily="49" charset="-122"/>
              </a:rPr>
              <a:t>}</a:t>
            </a:r>
            <a:endParaRPr lang="en-US" altLang="zh-CN" sz="2400" dirty="0">
              <a:ea typeface="楷体_GB2312" pitchFamily="49" charset="-122"/>
            </a:endParaRPr>
          </a:p>
          <a:p>
            <a:pPr eaLnBrk="1" hangingPunct="1">
              <a:lnSpc>
                <a:spcPct val="150000"/>
              </a:lnSpc>
              <a:spcBef>
                <a:spcPct val="0"/>
              </a:spcBef>
              <a:buClrTx/>
              <a:buFontTx/>
              <a:buNone/>
            </a:pPr>
            <a:r>
              <a:rPr lang="en-US" altLang="zh-CN" sz="2400" b="1" dirty="0">
                <a:ea typeface="楷体_GB2312" pitchFamily="49" charset="-122"/>
              </a:rPr>
              <a:t>    else {</a:t>
            </a:r>
            <a:r>
              <a:rPr lang="en-US" altLang="zh-CN" sz="2400" dirty="0">
                <a:ea typeface="楷体_GB2312" pitchFamily="49" charset="-122"/>
              </a:rPr>
              <a:t> </a:t>
            </a:r>
            <a:r>
              <a:rPr lang="en-US" altLang="zh-CN" sz="2400" dirty="0" err="1">
                <a:ea typeface="楷体_GB2312" pitchFamily="49" charset="-122"/>
              </a:rPr>
              <a:t>ListInsert</a:t>
            </a:r>
            <a:r>
              <a:rPr lang="en-US" altLang="zh-CN" sz="2400" dirty="0">
                <a:ea typeface="楷体_GB2312" pitchFamily="49" charset="-122"/>
              </a:rPr>
              <a:t>(</a:t>
            </a:r>
            <a:r>
              <a:rPr lang="en-US" altLang="zh-CN" sz="2400" i="1" dirty="0">
                <a:ea typeface="楷体_GB2312" pitchFamily="49" charset="-122"/>
              </a:rPr>
              <a:t>L</a:t>
            </a:r>
            <a:r>
              <a:rPr lang="en-US" altLang="zh-CN" sz="2400" i="1" baseline="-25000" dirty="0">
                <a:ea typeface="楷体_GB2312" pitchFamily="49" charset="-122"/>
              </a:rPr>
              <a:t>C</a:t>
            </a:r>
            <a:r>
              <a:rPr lang="en-US" altLang="zh-CN" sz="2400" dirty="0">
                <a:ea typeface="楷体_GB2312" pitchFamily="49" charset="-122"/>
              </a:rPr>
              <a:t> , ++k, </a:t>
            </a:r>
            <a:r>
              <a:rPr lang="en-US" altLang="zh-CN" sz="2400" i="1" dirty="0" err="1">
                <a:ea typeface="楷体_GB2312" pitchFamily="49" charset="-122"/>
              </a:rPr>
              <a:t>b</a:t>
            </a:r>
            <a:r>
              <a:rPr lang="en-US" altLang="zh-CN" sz="2400" i="1" baseline="-25000" dirty="0" err="1">
                <a:ea typeface="楷体_GB2312" pitchFamily="49" charset="-122"/>
              </a:rPr>
              <a:t>j</a:t>
            </a:r>
            <a:r>
              <a:rPr lang="en-US" altLang="zh-CN" sz="2400" dirty="0">
                <a:ea typeface="楷体_GB2312" pitchFamily="49" charset="-122"/>
              </a:rPr>
              <a:t>);  ++j; </a:t>
            </a:r>
            <a:r>
              <a:rPr lang="en-US" altLang="zh-CN" sz="2400" b="1" dirty="0">
                <a:ea typeface="楷体_GB2312" pitchFamily="49" charset="-122"/>
              </a:rPr>
              <a:t>}</a:t>
            </a:r>
            <a:endParaRPr lang="en-US" altLang="zh-CN" sz="2400" b="1" dirty="0">
              <a:latin typeface="+mn-lt"/>
              <a:ea typeface="楷体_GB2312" pitchFamily="49" charset="-122"/>
            </a:endParaRPr>
          </a:p>
          <a:p>
            <a:pPr eaLnBrk="1" hangingPunct="1">
              <a:lnSpc>
                <a:spcPct val="150000"/>
              </a:lnSpc>
              <a:spcBef>
                <a:spcPct val="0"/>
              </a:spcBef>
              <a:buClrTx/>
              <a:buFontTx/>
              <a:buNone/>
            </a:pPr>
            <a:r>
              <a:rPr lang="en-US" altLang="zh-CN" sz="2400" b="1" dirty="0">
                <a:latin typeface="+mn-lt"/>
                <a:ea typeface="楷体_GB2312" pitchFamily="49" charset="-122"/>
              </a:rPr>
              <a:t>}</a:t>
            </a:r>
          </a:p>
          <a:p>
            <a:pPr eaLnBrk="1" hangingPunct="1">
              <a:lnSpc>
                <a:spcPct val="150000"/>
              </a:lnSpc>
              <a:spcBef>
                <a:spcPct val="0"/>
              </a:spcBef>
              <a:buClrTx/>
              <a:buFontTx/>
              <a:buNone/>
            </a:pPr>
            <a:r>
              <a:rPr lang="en-US" altLang="zh-CN" sz="2400" b="1" dirty="0">
                <a:latin typeface="+mn-lt"/>
                <a:ea typeface="楷体_GB2312" pitchFamily="49" charset="-122"/>
              </a:rPr>
              <a:t>while </a:t>
            </a:r>
            <a:r>
              <a:rPr lang="en-US" altLang="zh-CN" sz="2400" dirty="0">
                <a:latin typeface="+mn-lt"/>
                <a:ea typeface="楷体_GB2312" pitchFamily="49" charset="-122"/>
              </a:rPr>
              <a:t>(</a:t>
            </a:r>
            <a:r>
              <a:rPr lang="en-US" altLang="zh-CN" sz="2400" dirty="0" err="1">
                <a:latin typeface="+mn-lt"/>
                <a:ea typeface="楷体_GB2312" pitchFamily="49" charset="-122"/>
              </a:rPr>
              <a:t>i</a:t>
            </a:r>
            <a:r>
              <a:rPr lang="en-US" altLang="zh-CN" sz="2400" dirty="0">
                <a:latin typeface="+mn-lt"/>
                <a:ea typeface="楷体_GB2312" pitchFamily="49" charset="-122"/>
              </a:rPr>
              <a:t>&lt;=</a:t>
            </a:r>
            <a:r>
              <a:rPr lang="en-US" altLang="zh-CN" sz="2400" i="1" dirty="0">
                <a:latin typeface="+mn-lt"/>
                <a:ea typeface="楷体_GB2312" pitchFamily="49" charset="-122"/>
              </a:rPr>
              <a:t> </a:t>
            </a:r>
            <a:r>
              <a:rPr lang="en-US" altLang="zh-CN" sz="2400" i="1" dirty="0" err="1">
                <a:latin typeface="+mn-lt"/>
                <a:ea typeface="楷体_GB2312" pitchFamily="49" charset="-122"/>
              </a:rPr>
              <a:t>L</a:t>
            </a:r>
            <a:r>
              <a:rPr lang="en-US" altLang="zh-CN" sz="2400" i="1" baseline="-25000" dirty="0" err="1">
                <a:latin typeface="+mn-lt"/>
                <a:ea typeface="楷体_GB2312" pitchFamily="49" charset="-122"/>
              </a:rPr>
              <a:t>A</a:t>
            </a:r>
            <a:r>
              <a:rPr lang="en-US" altLang="zh-CN" sz="2400" dirty="0" err="1">
                <a:latin typeface="+mn-lt"/>
                <a:ea typeface="楷体_GB2312" pitchFamily="49" charset="-122"/>
              </a:rPr>
              <a:t>_len</a:t>
            </a:r>
            <a:r>
              <a:rPr lang="en-US" altLang="zh-CN" sz="2400" dirty="0">
                <a:latin typeface="+mn-lt"/>
                <a:ea typeface="楷体_GB2312" pitchFamily="49" charset="-122"/>
              </a:rPr>
              <a:t>) </a:t>
            </a:r>
            <a:r>
              <a:rPr lang="en-US" altLang="zh-CN" sz="2400" b="1" dirty="0">
                <a:latin typeface="+mn-lt"/>
                <a:ea typeface="楷体_GB2312" pitchFamily="49" charset="-122"/>
              </a:rPr>
              <a:t>{  </a:t>
            </a:r>
            <a:r>
              <a:rPr lang="en-US" altLang="zh-CN" sz="2400" b="1" dirty="0">
                <a:solidFill>
                  <a:srgbClr val="00B050"/>
                </a:solidFill>
                <a:latin typeface="+mn-lt"/>
                <a:ea typeface="楷体_GB2312" pitchFamily="49" charset="-122"/>
              </a:rPr>
              <a:t>// </a:t>
            </a:r>
            <a:r>
              <a:rPr lang="zh-CN" altLang="en-US" sz="2400" dirty="0">
                <a:solidFill>
                  <a:srgbClr val="00B050"/>
                </a:solidFill>
                <a:latin typeface="+mn-lt"/>
                <a:ea typeface="楷体_GB2312" pitchFamily="49" charset="-122"/>
              </a:rPr>
              <a:t>若 </a:t>
            </a:r>
            <a:r>
              <a:rPr lang="en-US" altLang="zh-CN" sz="2400" i="1" dirty="0">
                <a:solidFill>
                  <a:srgbClr val="00B050"/>
                </a:solidFill>
                <a:latin typeface="+mn-lt"/>
                <a:ea typeface="楷体_GB2312" pitchFamily="49" charset="-122"/>
              </a:rPr>
              <a:t>L</a:t>
            </a:r>
            <a:r>
              <a:rPr lang="en-US" altLang="zh-CN" sz="2400" i="1" baseline="-25000" dirty="0">
                <a:solidFill>
                  <a:srgbClr val="00B050"/>
                </a:solidFill>
                <a:latin typeface="+mn-lt"/>
                <a:ea typeface="楷体_GB2312" pitchFamily="49" charset="-122"/>
              </a:rPr>
              <a:t>A</a:t>
            </a:r>
            <a:r>
              <a:rPr lang="en-US" altLang="zh-CN" sz="2400" dirty="0">
                <a:solidFill>
                  <a:srgbClr val="00B050"/>
                </a:solidFill>
                <a:latin typeface="+mn-lt"/>
                <a:ea typeface="楷体_GB2312" pitchFamily="49" charset="-122"/>
              </a:rPr>
              <a:t> </a:t>
            </a:r>
            <a:r>
              <a:rPr lang="zh-CN" altLang="en-US" sz="2400" dirty="0">
                <a:solidFill>
                  <a:srgbClr val="00B050"/>
                </a:solidFill>
                <a:latin typeface="+mn-lt"/>
                <a:ea typeface="楷体_GB2312" pitchFamily="49" charset="-122"/>
              </a:rPr>
              <a:t>不空</a:t>
            </a:r>
            <a:endParaRPr lang="en-US" altLang="zh-CN" sz="2400" dirty="0">
              <a:solidFill>
                <a:srgbClr val="00B050"/>
              </a:solidFill>
              <a:latin typeface="+mn-lt"/>
              <a:ea typeface="楷体_GB2312" pitchFamily="49" charset="-122"/>
            </a:endParaRPr>
          </a:p>
          <a:p>
            <a:pPr eaLnBrk="1" hangingPunct="1">
              <a:lnSpc>
                <a:spcPct val="150000"/>
              </a:lnSpc>
              <a:spcBef>
                <a:spcPct val="0"/>
              </a:spcBef>
              <a:buClrTx/>
              <a:buFontTx/>
              <a:buNone/>
            </a:pPr>
            <a:r>
              <a:rPr lang="zh-CN" altLang="en-US" sz="2400" dirty="0">
                <a:ea typeface="楷体_GB2312" pitchFamily="49" charset="-122"/>
              </a:rPr>
              <a:t>    </a:t>
            </a:r>
            <a:r>
              <a:rPr lang="en-US" altLang="zh-CN" sz="2400" dirty="0" err="1">
                <a:ea typeface="楷体_GB2312" pitchFamily="49" charset="-122"/>
              </a:rPr>
              <a:t>GetElem</a:t>
            </a:r>
            <a:r>
              <a:rPr lang="en-US" altLang="zh-CN" sz="2400" dirty="0">
                <a:ea typeface="楷体_GB2312" pitchFamily="49" charset="-122"/>
              </a:rPr>
              <a:t>(</a:t>
            </a:r>
            <a:r>
              <a:rPr lang="en-US" altLang="zh-CN" sz="2400" i="1" dirty="0">
                <a:ea typeface="楷体_GB2312" pitchFamily="49" charset="-122"/>
              </a:rPr>
              <a:t>L</a:t>
            </a:r>
            <a:r>
              <a:rPr lang="en-US" altLang="zh-CN" sz="2400" i="1" baseline="-25000" dirty="0">
                <a:ea typeface="楷体_GB2312" pitchFamily="49" charset="-122"/>
              </a:rPr>
              <a:t>A</a:t>
            </a:r>
            <a:r>
              <a:rPr lang="en-US" altLang="zh-CN" sz="2400" dirty="0">
                <a:ea typeface="楷体_GB2312" pitchFamily="49" charset="-122"/>
              </a:rPr>
              <a:t>, </a:t>
            </a:r>
            <a:r>
              <a:rPr lang="en-US" altLang="zh-CN" sz="2400" dirty="0" err="1">
                <a:ea typeface="楷体_GB2312" pitchFamily="49" charset="-122"/>
              </a:rPr>
              <a:t>i</a:t>
            </a:r>
            <a:r>
              <a:rPr lang="en-US" altLang="zh-CN" sz="2400" dirty="0">
                <a:ea typeface="楷体_GB2312" pitchFamily="49" charset="-122"/>
              </a:rPr>
              <a:t>++, </a:t>
            </a:r>
            <a:r>
              <a:rPr lang="en-US" altLang="zh-CN" sz="2400" i="1" dirty="0">
                <a:ea typeface="楷体_GB2312" pitchFamily="49" charset="-122"/>
              </a:rPr>
              <a:t>a</a:t>
            </a:r>
            <a:r>
              <a:rPr lang="en-US" altLang="zh-CN" sz="2400" i="1" baseline="-25000" dirty="0">
                <a:ea typeface="楷体_GB2312" pitchFamily="49" charset="-122"/>
              </a:rPr>
              <a:t>i</a:t>
            </a:r>
            <a:r>
              <a:rPr lang="en-US" altLang="zh-CN" sz="2400" dirty="0">
                <a:ea typeface="楷体_GB2312" pitchFamily="49" charset="-122"/>
              </a:rPr>
              <a:t>);   </a:t>
            </a:r>
            <a:r>
              <a:rPr lang="en-US" altLang="zh-CN" sz="2400" dirty="0" err="1">
                <a:ea typeface="楷体_GB2312" pitchFamily="49" charset="-122"/>
              </a:rPr>
              <a:t>ListInsert</a:t>
            </a:r>
            <a:r>
              <a:rPr lang="en-US" altLang="zh-CN" sz="2400" dirty="0">
                <a:ea typeface="楷体_GB2312" pitchFamily="49" charset="-122"/>
              </a:rPr>
              <a:t>(</a:t>
            </a:r>
            <a:r>
              <a:rPr lang="en-US" altLang="zh-CN" sz="2400" i="1" dirty="0">
                <a:ea typeface="楷体_GB2312" pitchFamily="49" charset="-122"/>
              </a:rPr>
              <a:t>L</a:t>
            </a:r>
            <a:r>
              <a:rPr lang="en-US" altLang="zh-CN" sz="2400" i="1" baseline="-25000" dirty="0">
                <a:ea typeface="楷体_GB2312" pitchFamily="49" charset="-122"/>
              </a:rPr>
              <a:t>C</a:t>
            </a:r>
            <a:r>
              <a:rPr lang="en-US" altLang="zh-CN" sz="2400" dirty="0">
                <a:ea typeface="楷体_GB2312" pitchFamily="49" charset="-122"/>
              </a:rPr>
              <a:t>, ++k, </a:t>
            </a:r>
            <a:r>
              <a:rPr lang="en-US" altLang="zh-CN" sz="2400" i="1" dirty="0">
                <a:ea typeface="楷体_GB2312" pitchFamily="49" charset="-122"/>
              </a:rPr>
              <a:t>a</a:t>
            </a:r>
            <a:r>
              <a:rPr lang="en-US" altLang="zh-CN" sz="2400" i="1" baseline="-25000" dirty="0">
                <a:ea typeface="楷体_GB2312" pitchFamily="49" charset="-122"/>
              </a:rPr>
              <a:t>i </a:t>
            </a:r>
            <a:r>
              <a:rPr lang="en-US" altLang="zh-CN" sz="2400" dirty="0">
                <a:ea typeface="楷体_GB2312" pitchFamily="49" charset="-122"/>
              </a:rPr>
              <a:t>);  </a:t>
            </a:r>
            <a:r>
              <a:rPr lang="en-US" altLang="zh-CN" sz="2400" b="1" dirty="0">
                <a:latin typeface="+mn-lt"/>
                <a:ea typeface="楷体_GB2312" pitchFamily="49" charset="-122"/>
              </a:rPr>
              <a:t>}</a:t>
            </a:r>
            <a:endParaRPr lang="zh-CN" altLang="en-US" sz="2400" b="1" dirty="0">
              <a:latin typeface="+mn-lt"/>
              <a:ea typeface="楷体_GB2312" pitchFamily="49" charset="-122"/>
            </a:endParaRPr>
          </a:p>
          <a:p>
            <a:pPr eaLnBrk="1" hangingPunct="1">
              <a:lnSpc>
                <a:spcPct val="150000"/>
              </a:lnSpc>
              <a:spcBef>
                <a:spcPct val="0"/>
              </a:spcBef>
              <a:buClrTx/>
              <a:buFontTx/>
              <a:buNone/>
            </a:pPr>
            <a:r>
              <a:rPr lang="en-US" altLang="zh-CN" sz="2400" b="1" dirty="0">
                <a:latin typeface="+mn-lt"/>
                <a:ea typeface="楷体_GB2312" pitchFamily="49" charset="-122"/>
              </a:rPr>
              <a:t>while</a:t>
            </a:r>
            <a:r>
              <a:rPr lang="en-US" altLang="zh-CN" sz="2400" dirty="0">
                <a:latin typeface="+mn-lt"/>
                <a:ea typeface="楷体_GB2312" pitchFamily="49" charset="-122"/>
              </a:rPr>
              <a:t> (j&lt;=</a:t>
            </a:r>
            <a:r>
              <a:rPr lang="en-US" altLang="zh-CN" sz="2400" i="1" dirty="0">
                <a:latin typeface="+mn-lt"/>
                <a:ea typeface="楷体_GB2312" pitchFamily="49" charset="-122"/>
              </a:rPr>
              <a:t> </a:t>
            </a:r>
            <a:r>
              <a:rPr lang="en-US" altLang="zh-CN" sz="2400" i="1" dirty="0" err="1">
                <a:latin typeface="+mn-lt"/>
                <a:ea typeface="楷体_GB2312" pitchFamily="49" charset="-122"/>
              </a:rPr>
              <a:t>L</a:t>
            </a:r>
            <a:r>
              <a:rPr lang="en-US" altLang="zh-CN" sz="2400" i="1" baseline="-25000" dirty="0" err="1">
                <a:latin typeface="+mn-lt"/>
                <a:ea typeface="楷体_GB2312" pitchFamily="49" charset="-122"/>
              </a:rPr>
              <a:t>B</a:t>
            </a:r>
            <a:r>
              <a:rPr lang="en-US" altLang="zh-CN" sz="2400" dirty="0" err="1">
                <a:latin typeface="+mn-lt"/>
                <a:ea typeface="楷体_GB2312" pitchFamily="49" charset="-122"/>
              </a:rPr>
              <a:t>_len</a:t>
            </a:r>
            <a:r>
              <a:rPr lang="en-US" altLang="zh-CN" sz="2400" dirty="0">
                <a:latin typeface="+mn-lt"/>
                <a:ea typeface="楷体_GB2312" pitchFamily="49" charset="-122"/>
              </a:rPr>
              <a:t>)  </a:t>
            </a:r>
            <a:r>
              <a:rPr lang="en-US" altLang="zh-CN" sz="2400" b="1" dirty="0">
                <a:latin typeface="+mn-lt"/>
                <a:ea typeface="楷体_GB2312" pitchFamily="49" charset="-122"/>
              </a:rPr>
              <a:t>{</a:t>
            </a:r>
            <a:r>
              <a:rPr lang="en-US" altLang="zh-CN" sz="2400" dirty="0">
                <a:latin typeface="+mn-lt"/>
                <a:ea typeface="楷体_GB2312" pitchFamily="49" charset="-122"/>
              </a:rPr>
              <a:t>  </a:t>
            </a:r>
            <a:r>
              <a:rPr lang="en-US" altLang="zh-CN" sz="2400" b="1" dirty="0">
                <a:solidFill>
                  <a:srgbClr val="00B050"/>
                </a:solidFill>
                <a:latin typeface="+mn-lt"/>
                <a:ea typeface="楷体_GB2312" pitchFamily="49" charset="-122"/>
              </a:rPr>
              <a:t>// </a:t>
            </a:r>
            <a:r>
              <a:rPr lang="zh-CN" altLang="en-US" sz="2400" dirty="0">
                <a:solidFill>
                  <a:srgbClr val="00B050"/>
                </a:solidFill>
                <a:latin typeface="+mn-lt"/>
                <a:ea typeface="楷体_GB2312" pitchFamily="49" charset="-122"/>
              </a:rPr>
              <a:t>若 </a:t>
            </a:r>
            <a:r>
              <a:rPr lang="en-US" altLang="zh-CN" sz="2400" i="1" dirty="0">
                <a:solidFill>
                  <a:srgbClr val="00B050"/>
                </a:solidFill>
                <a:latin typeface="+mn-lt"/>
                <a:ea typeface="楷体_GB2312" pitchFamily="49" charset="-122"/>
              </a:rPr>
              <a:t>L</a:t>
            </a:r>
            <a:r>
              <a:rPr lang="en-US" altLang="zh-CN" sz="2400" i="1" baseline="-25000" dirty="0">
                <a:solidFill>
                  <a:srgbClr val="00B050"/>
                </a:solidFill>
                <a:latin typeface="+mn-lt"/>
                <a:ea typeface="楷体_GB2312" pitchFamily="49" charset="-122"/>
              </a:rPr>
              <a:t>B</a:t>
            </a:r>
            <a:r>
              <a:rPr lang="en-US" altLang="zh-CN" sz="2400" dirty="0">
                <a:solidFill>
                  <a:srgbClr val="00B050"/>
                </a:solidFill>
                <a:latin typeface="+mn-lt"/>
                <a:ea typeface="楷体_GB2312" pitchFamily="49" charset="-122"/>
              </a:rPr>
              <a:t> </a:t>
            </a:r>
            <a:r>
              <a:rPr lang="zh-CN" altLang="en-US" sz="2400" dirty="0">
                <a:solidFill>
                  <a:srgbClr val="00B050"/>
                </a:solidFill>
                <a:latin typeface="+mn-lt"/>
                <a:ea typeface="楷体_GB2312" pitchFamily="49" charset="-122"/>
              </a:rPr>
              <a:t>不空</a:t>
            </a:r>
            <a:endParaRPr lang="en-US" altLang="zh-CN" sz="2400" dirty="0">
              <a:solidFill>
                <a:srgbClr val="00B050"/>
              </a:solidFill>
              <a:latin typeface="+mn-lt"/>
              <a:ea typeface="楷体_GB2312" pitchFamily="49" charset="-122"/>
            </a:endParaRPr>
          </a:p>
          <a:p>
            <a:pPr eaLnBrk="1" hangingPunct="1">
              <a:lnSpc>
                <a:spcPct val="150000"/>
              </a:lnSpc>
              <a:spcBef>
                <a:spcPct val="0"/>
              </a:spcBef>
              <a:buClrTx/>
              <a:buFontTx/>
              <a:buNone/>
            </a:pPr>
            <a:r>
              <a:rPr lang="zh-CN" altLang="en-US" sz="2400" dirty="0">
                <a:ea typeface="楷体_GB2312" pitchFamily="49" charset="-122"/>
              </a:rPr>
              <a:t>    </a:t>
            </a:r>
            <a:r>
              <a:rPr lang="en-US" altLang="zh-CN" sz="2400" dirty="0" err="1">
                <a:ea typeface="楷体_GB2312" pitchFamily="49" charset="-122"/>
              </a:rPr>
              <a:t>GetElem</a:t>
            </a:r>
            <a:r>
              <a:rPr lang="en-US" altLang="zh-CN" sz="2400" dirty="0">
                <a:ea typeface="楷体_GB2312" pitchFamily="49" charset="-122"/>
              </a:rPr>
              <a:t>(</a:t>
            </a:r>
            <a:r>
              <a:rPr lang="en-US" altLang="zh-CN" sz="2400" i="1" dirty="0">
                <a:ea typeface="楷体_GB2312" pitchFamily="49" charset="-122"/>
              </a:rPr>
              <a:t>L</a:t>
            </a:r>
            <a:r>
              <a:rPr lang="en-US" altLang="zh-CN" sz="2400" i="1" baseline="-25000" dirty="0">
                <a:ea typeface="楷体_GB2312" pitchFamily="49" charset="-122"/>
              </a:rPr>
              <a:t>B</a:t>
            </a:r>
            <a:r>
              <a:rPr lang="en-US" altLang="zh-CN" sz="2400" dirty="0">
                <a:ea typeface="楷体_GB2312" pitchFamily="49" charset="-122"/>
              </a:rPr>
              <a:t>, </a:t>
            </a:r>
            <a:r>
              <a:rPr lang="en-US" altLang="zh-CN" sz="2400" dirty="0" err="1">
                <a:ea typeface="楷体_GB2312" pitchFamily="49" charset="-122"/>
              </a:rPr>
              <a:t>j++</a:t>
            </a:r>
            <a:r>
              <a:rPr lang="en-US" altLang="zh-CN" sz="2400" dirty="0">
                <a:ea typeface="楷体_GB2312" pitchFamily="49" charset="-122"/>
              </a:rPr>
              <a:t>, </a:t>
            </a:r>
            <a:r>
              <a:rPr lang="en-US" altLang="zh-CN" sz="2400" i="1" dirty="0" err="1">
                <a:ea typeface="楷体_GB2312" pitchFamily="49" charset="-122"/>
              </a:rPr>
              <a:t>b</a:t>
            </a:r>
            <a:r>
              <a:rPr lang="en-US" altLang="zh-CN" sz="2400" i="1" baseline="-25000" dirty="0" err="1">
                <a:ea typeface="楷体_GB2312" pitchFamily="49" charset="-122"/>
              </a:rPr>
              <a:t>j</a:t>
            </a:r>
            <a:r>
              <a:rPr lang="en-US" altLang="zh-CN" sz="2400" dirty="0">
                <a:ea typeface="楷体_GB2312" pitchFamily="49" charset="-122"/>
              </a:rPr>
              <a:t>);   </a:t>
            </a:r>
            <a:r>
              <a:rPr lang="en-US" altLang="zh-CN" sz="2400" dirty="0" err="1">
                <a:ea typeface="楷体_GB2312" pitchFamily="49" charset="-122"/>
              </a:rPr>
              <a:t>ListInsert</a:t>
            </a:r>
            <a:r>
              <a:rPr lang="en-US" altLang="zh-CN" sz="2400" dirty="0">
                <a:ea typeface="楷体_GB2312" pitchFamily="49" charset="-122"/>
              </a:rPr>
              <a:t>(</a:t>
            </a:r>
            <a:r>
              <a:rPr lang="en-US" altLang="zh-CN" sz="2400" i="1" dirty="0">
                <a:ea typeface="楷体_GB2312" pitchFamily="49" charset="-122"/>
              </a:rPr>
              <a:t>L</a:t>
            </a:r>
            <a:r>
              <a:rPr lang="en-US" altLang="zh-CN" sz="2400" i="1" baseline="-25000" dirty="0">
                <a:ea typeface="楷体_GB2312" pitchFamily="49" charset="-122"/>
              </a:rPr>
              <a:t>C</a:t>
            </a:r>
            <a:r>
              <a:rPr lang="en-US" altLang="zh-CN" sz="2400" dirty="0">
                <a:ea typeface="楷体_GB2312" pitchFamily="49" charset="-122"/>
              </a:rPr>
              <a:t>, ++k, </a:t>
            </a:r>
            <a:r>
              <a:rPr lang="en-US" altLang="zh-CN" sz="2400" i="1" dirty="0" err="1">
                <a:ea typeface="楷体_GB2312" pitchFamily="49" charset="-122"/>
              </a:rPr>
              <a:t>b</a:t>
            </a:r>
            <a:r>
              <a:rPr lang="en-US" altLang="zh-CN" sz="2400" i="1" baseline="-25000" dirty="0" err="1">
                <a:ea typeface="楷体_GB2312" pitchFamily="49" charset="-122"/>
              </a:rPr>
              <a:t>j</a:t>
            </a:r>
            <a:r>
              <a:rPr lang="en-US" altLang="zh-CN" sz="2400" i="1" baseline="-25000" dirty="0">
                <a:ea typeface="楷体_GB2312" pitchFamily="49" charset="-122"/>
              </a:rPr>
              <a:t> </a:t>
            </a:r>
            <a:r>
              <a:rPr lang="en-US" altLang="zh-CN" sz="2400" dirty="0">
                <a:ea typeface="楷体_GB2312" pitchFamily="49" charset="-122"/>
              </a:rPr>
              <a:t>);  </a:t>
            </a:r>
            <a:r>
              <a:rPr lang="en-US" altLang="zh-CN" sz="2400" b="1" dirty="0">
                <a:ea typeface="楷体_GB2312" pitchFamily="49" charset="-122"/>
              </a:rPr>
              <a:t>}</a:t>
            </a:r>
            <a:endParaRPr lang="zh-CN" altLang="en-US" sz="2400" dirty="0">
              <a:solidFill>
                <a:srgbClr val="FF0000"/>
              </a:solidFill>
              <a:latin typeface="+mn-lt"/>
              <a:ea typeface="楷体_GB2312" pitchFamily="49" charset="-122"/>
            </a:endParaRPr>
          </a:p>
        </p:txBody>
      </p:sp>
      <p:sp>
        <p:nvSpPr>
          <p:cNvPr id="6" name="Rectangle 4">
            <a:extLst>
              <a:ext uri="{FF2B5EF4-FFF2-40B4-BE49-F238E27FC236}">
                <a16:creationId xmlns:a16="http://schemas.microsoft.com/office/drawing/2014/main" id="{6225C7FF-3213-408A-9FA6-338148D86AA2}"/>
              </a:ext>
            </a:extLst>
          </p:cNvPr>
          <p:cNvSpPr>
            <a:spLocks noChangeArrowheads="1"/>
          </p:cNvSpPr>
          <p:nvPr/>
        </p:nvSpPr>
        <p:spPr bwMode="auto">
          <a:xfrm>
            <a:off x="762000" y="332656"/>
            <a:ext cx="6690320" cy="11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err="1">
                <a:latin typeface="+mn-lt"/>
                <a:ea typeface="楷体_GB2312" pitchFamily="49" charset="-122"/>
              </a:rPr>
              <a:t>InitList</a:t>
            </a:r>
            <a:r>
              <a:rPr lang="en-US" altLang="zh-CN" sz="2400" dirty="0">
                <a:latin typeface="+mn-lt"/>
                <a:ea typeface="楷体_GB2312" pitchFamily="49" charset="-122"/>
              </a:rPr>
              <a:t>(</a:t>
            </a:r>
            <a:r>
              <a:rPr lang="en-US" altLang="zh-CN" sz="2400" i="1" dirty="0">
                <a:latin typeface="+mn-lt"/>
                <a:ea typeface="楷体_GB2312" pitchFamily="49" charset="-122"/>
              </a:rPr>
              <a:t>L</a:t>
            </a:r>
            <a:r>
              <a:rPr lang="en-US" altLang="zh-CN" sz="2400" i="1" baseline="-25000" dirty="0">
                <a:latin typeface="+mn-lt"/>
                <a:ea typeface="楷体_GB2312" pitchFamily="49" charset="-122"/>
              </a:rPr>
              <a:t>C</a:t>
            </a:r>
            <a:r>
              <a:rPr lang="en-US" altLang="zh-CN" sz="2400" dirty="0">
                <a:latin typeface="+mn-lt"/>
                <a:ea typeface="楷体_GB2312" pitchFamily="49" charset="-122"/>
              </a:rPr>
              <a:t>);  </a:t>
            </a:r>
            <a:r>
              <a:rPr lang="en-US" altLang="zh-CN" sz="2400" dirty="0" err="1">
                <a:latin typeface="+mn-lt"/>
                <a:ea typeface="楷体_GB2312" pitchFamily="49" charset="-122"/>
              </a:rPr>
              <a:t>i</a:t>
            </a:r>
            <a:r>
              <a:rPr lang="en-US" altLang="zh-CN" sz="2400" dirty="0">
                <a:latin typeface="+mn-lt"/>
                <a:ea typeface="楷体_GB2312" pitchFamily="49" charset="-122"/>
              </a:rPr>
              <a:t> = j = 1;  k = 0;</a:t>
            </a:r>
          </a:p>
          <a:p>
            <a:pPr eaLnBrk="1" hangingPunct="1">
              <a:lnSpc>
                <a:spcPct val="150000"/>
              </a:lnSpc>
              <a:spcBef>
                <a:spcPct val="0"/>
              </a:spcBef>
              <a:buClrTx/>
              <a:buFontTx/>
              <a:buNone/>
            </a:pPr>
            <a:r>
              <a:rPr lang="en-US" altLang="zh-CN" sz="2400" i="1" dirty="0" err="1">
                <a:latin typeface="+mn-lt"/>
                <a:ea typeface="楷体_GB2312" pitchFamily="49" charset="-122"/>
              </a:rPr>
              <a:t>L</a:t>
            </a:r>
            <a:r>
              <a:rPr lang="en-US" altLang="zh-CN" sz="2400" i="1" baseline="-25000" dirty="0" err="1">
                <a:latin typeface="+mn-lt"/>
                <a:ea typeface="楷体_GB2312" pitchFamily="49" charset="-122"/>
              </a:rPr>
              <a:t>A</a:t>
            </a:r>
            <a:r>
              <a:rPr lang="en-US" altLang="zh-CN" sz="2400" dirty="0" err="1">
                <a:latin typeface="+mn-lt"/>
                <a:ea typeface="楷体_GB2312" pitchFamily="49" charset="-122"/>
              </a:rPr>
              <a:t>_len</a:t>
            </a:r>
            <a:r>
              <a:rPr lang="en-US" altLang="zh-CN" sz="2400" dirty="0">
                <a:latin typeface="+mn-lt"/>
                <a:ea typeface="楷体_GB2312" pitchFamily="49" charset="-122"/>
              </a:rPr>
              <a:t> = </a:t>
            </a:r>
            <a:r>
              <a:rPr lang="en-US" altLang="zh-CN" sz="2400" dirty="0" err="1">
                <a:latin typeface="+mn-lt"/>
                <a:ea typeface="楷体_GB2312" pitchFamily="49" charset="-122"/>
              </a:rPr>
              <a:t>ListLength</a:t>
            </a:r>
            <a:r>
              <a:rPr lang="en-US" altLang="zh-CN" sz="2400" dirty="0">
                <a:latin typeface="+mn-lt"/>
                <a:ea typeface="楷体_GB2312" pitchFamily="49" charset="-122"/>
              </a:rPr>
              <a:t>(</a:t>
            </a:r>
            <a:r>
              <a:rPr lang="en-US" altLang="zh-CN" sz="2400" i="1" dirty="0">
                <a:latin typeface="+mn-lt"/>
                <a:ea typeface="楷体_GB2312" pitchFamily="49" charset="-122"/>
              </a:rPr>
              <a:t>L</a:t>
            </a:r>
            <a:r>
              <a:rPr lang="en-US" altLang="zh-CN" sz="2400" i="1" baseline="-25000" dirty="0">
                <a:latin typeface="+mn-lt"/>
                <a:ea typeface="楷体_GB2312" pitchFamily="49" charset="-122"/>
              </a:rPr>
              <a:t>A</a:t>
            </a:r>
            <a:r>
              <a:rPr lang="en-US" altLang="zh-CN" sz="2400" dirty="0">
                <a:latin typeface="+mn-lt"/>
                <a:ea typeface="楷体_GB2312" pitchFamily="49" charset="-122"/>
              </a:rPr>
              <a:t>);   </a:t>
            </a:r>
            <a:r>
              <a:rPr lang="en-US" altLang="zh-CN" sz="2400" i="1" dirty="0" err="1">
                <a:latin typeface="+mn-lt"/>
                <a:ea typeface="楷体_GB2312" pitchFamily="49" charset="-122"/>
              </a:rPr>
              <a:t>L</a:t>
            </a:r>
            <a:r>
              <a:rPr lang="en-US" altLang="zh-CN" sz="2400" i="1" baseline="-25000" dirty="0" err="1">
                <a:latin typeface="+mn-lt"/>
                <a:ea typeface="楷体_GB2312" pitchFamily="49" charset="-122"/>
              </a:rPr>
              <a:t>B</a:t>
            </a:r>
            <a:r>
              <a:rPr lang="en-US" altLang="zh-CN" sz="2400" dirty="0" err="1">
                <a:latin typeface="+mn-lt"/>
                <a:ea typeface="楷体_GB2312" pitchFamily="49" charset="-122"/>
              </a:rPr>
              <a:t>_len</a:t>
            </a:r>
            <a:r>
              <a:rPr lang="en-US" altLang="zh-CN" sz="2400" dirty="0">
                <a:latin typeface="+mn-lt"/>
                <a:ea typeface="楷体_GB2312" pitchFamily="49" charset="-122"/>
              </a:rPr>
              <a:t> = </a:t>
            </a:r>
            <a:r>
              <a:rPr lang="en-US" altLang="zh-CN" sz="2400" dirty="0" err="1">
                <a:latin typeface="+mn-lt"/>
                <a:ea typeface="楷体_GB2312" pitchFamily="49" charset="-122"/>
              </a:rPr>
              <a:t>ListLength</a:t>
            </a:r>
            <a:r>
              <a:rPr lang="en-US" altLang="zh-CN" sz="2400" dirty="0">
                <a:latin typeface="+mn-lt"/>
                <a:ea typeface="楷体_GB2312" pitchFamily="49" charset="-122"/>
              </a:rPr>
              <a:t>(</a:t>
            </a:r>
            <a:r>
              <a:rPr lang="en-US" altLang="zh-CN" sz="2400" i="1" dirty="0">
                <a:latin typeface="+mn-lt"/>
                <a:ea typeface="楷体_GB2312" pitchFamily="49" charset="-122"/>
              </a:rPr>
              <a:t>L</a:t>
            </a:r>
            <a:r>
              <a:rPr lang="en-US" altLang="zh-CN" sz="2400" i="1" baseline="-25000" dirty="0">
                <a:latin typeface="+mn-lt"/>
                <a:ea typeface="楷体_GB2312" pitchFamily="49" charset="-122"/>
              </a:rPr>
              <a:t>B</a:t>
            </a:r>
            <a:r>
              <a:rPr lang="en-US" altLang="zh-CN" sz="2400" dirty="0">
                <a:latin typeface="+mn-lt"/>
                <a:ea typeface="楷体_GB2312" pitchFamily="49" charset="-122"/>
              </a:rPr>
              <a:t>);</a:t>
            </a:r>
          </a:p>
        </p:txBody>
      </p:sp>
      <p:sp>
        <p:nvSpPr>
          <p:cNvPr id="7" name="矩形 6">
            <a:extLst>
              <a:ext uri="{FF2B5EF4-FFF2-40B4-BE49-F238E27FC236}">
                <a16:creationId xmlns:a16="http://schemas.microsoft.com/office/drawing/2014/main" id="{73020010-89D7-4F70-A0A6-F43D50A3E2C9}"/>
              </a:ext>
            </a:extLst>
          </p:cNvPr>
          <p:cNvSpPr/>
          <p:nvPr/>
        </p:nvSpPr>
        <p:spPr>
          <a:xfrm>
            <a:off x="7308304" y="5733256"/>
            <a:ext cx="1620957" cy="523220"/>
          </a:xfrm>
          <a:prstGeom prst="rect">
            <a:avLst/>
          </a:prstGeom>
        </p:spPr>
        <p:txBody>
          <a:bodyPr wrap="none">
            <a:spAutoFit/>
          </a:bodyPr>
          <a:lstStyle/>
          <a:p>
            <a:r>
              <a:rPr lang="zh-CN" altLang="en-US" b="1" dirty="0">
                <a:solidFill>
                  <a:srgbClr val="FF0000"/>
                </a:solidFill>
                <a:latin typeface="+mn-ea"/>
                <a:ea typeface="+mn-ea"/>
              </a:rPr>
              <a:t>复杂度？</a:t>
            </a:r>
            <a:endParaRPr lang="zh-CN" altLang="en-US" dirty="0">
              <a:solidFill>
                <a:srgbClr val="FF0000"/>
              </a:solidFill>
              <a:latin typeface="+mn-ea"/>
              <a:ea typeface="+mn-ea"/>
            </a:endParaRPr>
          </a:p>
        </p:txBody>
      </p:sp>
    </p:spTree>
    <p:extLst>
      <p:ext uri="{BB962C8B-B14F-4D97-AF65-F5344CB8AC3E}">
        <p14:creationId xmlns:p14="http://schemas.microsoft.com/office/powerpoint/2010/main" val="79278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subTnLst>
                                    <p:audio>
                                      <p:cMediaNode mute="1">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subTnLst>
                                    <p:audio>
                                      <p:cMediaNode mute="1">
                                        <p:cTn display="0" masterRel="sameClick">
                                          <p:stCondLst>
                                            <p:cond evt="begin" delay="0">
                                              <p:tn val="9"/>
                                            </p:cond>
                                          </p:stCondLst>
                                          <p:endCondLst>
                                            <p:cond evt="onStopAudio" delay="0">
                                              <p:tgtEl>
                                                <p:sldTgt/>
                                              </p:tgtEl>
                                            </p:cond>
                                          </p:endCondLst>
                                        </p:cTn>
                                        <p:tgtEl>
                                          <p:sndTgt r:embed="rId2" name="carbrake.wav"/>
                                        </p:tgtEl>
                                      </p:cMediaNode>
                                    </p:audio>
                                  </p:sub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anim calcmode="lin" valueType="num">
                                      <p:cBhvr additive="base">
                                        <p:cTn id="4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 calcmode="lin" valueType="num">
                                      <p:cBhvr additive="base">
                                        <p:cTn id="4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7" end="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
                                            <p:txEl>
                                              <p:pRg st="8" end="8"/>
                                            </p:txEl>
                                          </p:spTgt>
                                        </p:tgtEl>
                                        <p:attrNameLst>
                                          <p:attrName>style.visibility</p:attrName>
                                        </p:attrNameLst>
                                      </p:cBhvr>
                                      <p:to>
                                        <p:strVal val="visible"/>
                                      </p:to>
                                    </p:set>
                                    <p:anim calcmode="lin" valueType="num">
                                      <p:cBhvr additive="base">
                                        <p:cTn id="5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additive="base">
                                        <p:cTn id="57" dur="500" fill="hold"/>
                                        <p:tgtEl>
                                          <p:spTgt spid="7"/>
                                        </p:tgtEl>
                                        <p:attrNameLst>
                                          <p:attrName>ppt_x</p:attrName>
                                        </p:attrNameLst>
                                      </p:cBhvr>
                                      <p:tavLst>
                                        <p:tav tm="0">
                                          <p:val>
                                            <p:strVal val="#ppt_x"/>
                                          </p:val>
                                        </p:tav>
                                        <p:tav tm="100000">
                                          <p:val>
                                            <p:strVal val="#ppt_x"/>
                                          </p:val>
                                        </p:tav>
                                      </p:tavLst>
                                    </p:anim>
                                    <p:anim calcmode="lin" valueType="num">
                                      <p:cBhvr additive="base">
                                        <p:cTn id="5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utoUpdateAnimBg="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8F7FE-ED8D-42E6-B513-3C60ABC4577E}"/>
              </a:ext>
            </a:extLst>
          </p:cNvPr>
          <p:cNvSpPr>
            <a:spLocks noGrp="1"/>
          </p:cNvSpPr>
          <p:nvPr>
            <p:ph type="title"/>
          </p:nvPr>
        </p:nvSpPr>
        <p:spPr/>
        <p:txBody>
          <a:bodyPr/>
          <a:lstStyle/>
          <a:p>
            <a:r>
              <a:rPr lang="zh-CN" altLang="en-US" dirty="0"/>
              <a:t>算法时间复杂度分析</a:t>
            </a:r>
          </a:p>
        </p:txBody>
      </p:sp>
      <p:sp>
        <p:nvSpPr>
          <p:cNvPr id="3" name="内容占位符 2">
            <a:extLst>
              <a:ext uri="{FF2B5EF4-FFF2-40B4-BE49-F238E27FC236}">
                <a16:creationId xmlns:a16="http://schemas.microsoft.com/office/drawing/2014/main" id="{55D4F754-B4C9-41B5-BAFD-BFBD15DE6DAD}"/>
              </a:ext>
            </a:extLst>
          </p:cNvPr>
          <p:cNvSpPr>
            <a:spLocks noGrp="1"/>
          </p:cNvSpPr>
          <p:nvPr>
            <p:ph idx="1"/>
          </p:nvPr>
        </p:nvSpPr>
        <p:spPr>
          <a:xfrm>
            <a:off x="328445" y="818018"/>
            <a:ext cx="8487109" cy="2736304"/>
          </a:xfrm>
        </p:spPr>
        <p:txBody>
          <a:bodyPr/>
          <a:lstStyle/>
          <a:p>
            <a:r>
              <a:rPr lang="zh-CN" altLang="en-US" dirty="0">
                <a:latin typeface="+mn-ea"/>
                <a:ea typeface="+mn-ea"/>
              </a:rPr>
              <a:t>上述两个算法的时间复杂度取决于抽象数据类型 </a:t>
            </a:r>
            <a:r>
              <a:rPr lang="en-US" altLang="zh-CN" dirty="0">
                <a:latin typeface="+mn-ea"/>
                <a:ea typeface="+mn-ea"/>
              </a:rPr>
              <a:t>List</a:t>
            </a:r>
            <a:r>
              <a:rPr lang="zh-CN" altLang="en-US" dirty="0">
                <a:latin typeface="+mn-ea"/>
                <a:ea typeface="+mn-ea"/>
              </a:rPr>
              <a:t>定义中基本操作的执行时间。</a:t>
            </a:r>
            <a:endParaRPr lang="en-US" altLang="zh-CN" dirty="0">
              <a:latin typeface="+mn-ea"/>
              <a:ea typeface="+mn-ea"/>
            </a:endParaRPr>
          </a:p>
          <a:p>
            <a:r>
              <a:rPr lang="zh-CN" altLang="en-US" dirty="0">
                <a:latin typeface="+mn-ea"/>
                <a:ea typeface="+mn-ea"/>
              </a:rPr>
              <a:t>假如 </a:t>
            </a:r>
            <a:r>
              <a:rPr lang="en-US" altLang="zh-CN" dirty="0" err="1">
                <a:latin typeface="+mn-ea"/>
                <a:ea typeface="+mn-ea"/>
              </a:rPr>
              <a:t>GetElem</a:t>
            </a:r>
            <a:r>
              <a:rPr lang="en-US" altLang="zh-CN" dirty="0">
                <a:latin typeface="+mn-ea"/>
                <a:ea typeface="+mn-ea"/>
              </a:rPr>
              <a:t>() </a:t>
            </a:r>
            <a:r>
              <a:rPr lang="zh-CN" altLang="en-US" dirty="0">
                <a:latin typeface="+mn-ea"/>
                <a:ea typeface="+mn-ea"/>
              </a:rPr>
              <a:t>和 </a:t>
            </a:r>
            <a:r>
              <a:rPr lang="en-US" altLang="zh-CN" dirty="0" err="1">
                <a:latin typeface="+mn-ea"/>
                <a:ea typeface="+mn-ea"/>
              </a:rPr>
              <a:t>ListInsert</a:t>
            </a:r>
            <a:r>
              <a:rPr lang="en-US" altLang="zh-CN" dirty="0">
                <a:latin typeface="+mn-ea"/>
                <a:ea typeface="+mn-ea"/>
              </a:rPr>
              <a:t>() </a:t>
            </a:r>
            <a:r>
              <a:rPr lang="zh-CN" altLang="en-US" dirty="0">
                <a:latin typeface="+mn-ea"/>
                <a:ea typeface="+mn-ea"/>
              </a:rPr>
              <a:t>的执行时间与表长无关，</a:t>
            </a:r>
            <a:r>
              <a:rPr lang="en-US" altLang="zh-CN" dirty="0" err="1">
                <a:latin typeface="+mn-ea"/>
                <a:ea typeface="+mn-ea"/>
              </a:rPr>
              <a:t>LocateElem</a:t>
            </a:r>
            <a:r>
              <a:rPr lang="en-US" altLang="zh-CN" dirty="0">
                <a:latin typeface="+mn-ea"/>
                <a:ea typeface="+mn-ea"/>
              </a:rPr>
              <a:t>() </a:t>
            </a:r>
            <a:r>
              <a:rPr lang="zh-CN" altLang="en-US" dirty="0">
                <a:latin typeface="+mn-ea"/>
                <a:ea typeface="+mn-ea"/>
              </a:rPr>
              <a:t>的执行时间与表长成正比，则</a:t>
            </a:r>
          </a:p>
        </p:txBody>
      </p:sp>
      <p:sp>
        <p:nvSpPr>
          <p:cNvPr id="6" name="Text Box 5">
            <a:extLst>
              <a:ext uri="{FF2B5EF4-FFF2-40B4-BE49-F238E27FC236}">
                <a16:creationId xmlns:a16="http://schemas.microsoft.com/office/drawing/2014/main" id="{2E3D66C7-B3F9-4DC9-A80E-A5B54AA2226E}"/>
              </a:ext>
            </a:extLst>
          </p:cNvPr>
          <p:cNvSpPr txBox="1">
            <a:spLocks noChangeArrowheads="1"/>
          </p:cNvSpPr>
          <p:nvPr/>
        </p:nvSpPr>
        <p:spPr bwMode="auto">
          <a:xfrm>
            <a:off x="925962" y="3704538"/>
            <a:ext cx="73806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dirty="0">
                <a:latin typeface="Arial" panose="020B0604020202020204" pitchFamily="34" charset="0"/>
              </a:rPr>
              <a:t>例</a:t>
            </a:r>
            <a:r>
              <a:rPr lang="en-US" altLang="zh-CN" sz="2800" dirty="0">
                <a:latin typeface="Arial" panose="020B0604020202020204" pitchFamily="34" charset="0"/>
              </a:rPr>
              <a:t>2-1</a:t>
            </a:r>
            <a:r>
              <a:rPr lang="zh-CN" altLang="en-US" sz="2800" dirty="0">
                <a:latin typeface="Arial" panose="020B0604020202020204" pitchFamily="34" charset="0"/>
              </a:rPr>
              <a:t>：</a:t>
            </a:r>
            <a:r>
              <a:rPr lang="en-US" altLang="zh-CN" sz="2800" b="1" i="1" dirty="0">
                <a:solidFill>
                  <a:srgbClr val="663300"/>
                </a:solidFill>
                <a:latin typeface="Arial" panose="020B0604020202020204" pitchFamily="34" charset="0"/>
              </a:rPr>
              <a:t>O</a:t>
            </a:r>
            <a:r>
              <a:rPr lang="en-US" altLang="zh-CN" sz="2800" b="1" dirty="0">
                <a:solidFill>
                  <a:srgbClr val="663300"/>
                </a:solidFill>
                <a:latin typeface="Arial" panose="020B0604020202020204" pitchFamily="34" charset="0"/>
              </a:rPr>
              <a:t>( </a:t>
            </a:r>
            <a:r>
              <a:rPr lang="en-US" altLang="zh-CN" sz="2800" b="1" dirty="0" err="1">
                <a:solidFill>
                  <a:srgbClr val="FF0000"/>
                </a:solidFill>
                <a:latin typeface="Arial" panose="020B0604020202020204" pitchFamily="34" charset="0"/>
              </a:rPr>
              <a:t>ListLength</a:t>
            </a:r>
            <a:r>
              <a:rPr lang="en-US" altLang="zh-CN" sz="2800" b="1" dirty="0">
                <a:solidFill>
                  <a:srgbClr val="663300"/>
                </a:solidFill>
                <a:latin typeface="Arial" panose="020B0604020202020204" pitchFamily="34" charset="0"/>
              </a:rPr>
              <a:t>(</a:t>
            </a:r>
            <a:r>
              <a:rPr lang="en-US" altLang="zh-CN" sz="2800" i="1" dirty="0">
                <a:latin typeface="Comic Sans MS" panose="030F0702030302020204" pitchFamily="66" charset="0"/>
                <a:ea typeface="楷体_GB2312" pitchFamily="49" charset="-122"/>
              </a:rPr>
              <a:t>L</a:t>
            </a:r>
            <a:r>
              <a:rPr lang="en-US" altLang="zh-CN" sz="2800" i="1" baseline="-25000" dirty="0">
                <a:latin typeface="Comic Sans MS" panose="030F0702030302020204" pitchFamily="66" charset="0"/>
                <a:ea typeface="楷体_GB2312" pitchFamily="49" charset="-122"/>
              </a:rPr>
              <a:t>A</a:t>
            </a:r>
            <a:r>
              <a:rPr lang="en-US" altLang="zh-CN" sz="2800" b="1" dirty="0">
                <a:solidFill>
                  <a:srgbClr val="663300"/>
                </a:solidFill>
                <a:latin typeface="Arial" panose="020B0604020202020204" pitchFamily="34" charset="0"/>
              </a:rPr>
              <a:t>)</a:t>
            </a:r>
            <a:r>
              <a:rPr lang="en-US" altLang="zh-CN" sz="2800" b="1" dirty="0">
                <a:solidFill>
                  <a:srgbClr val="FF0000"/>
                </a:solidFill>
                <a:latin typeface="Arial" panose="020B0604020202020204" pitchFamily="34" charset="0"/>
              </a:rPr>
              <a:t>×</a:t>
            </a:r>
            <a:r>
              <a:rPr lang="en-US" altLang="zh-CN" sz="2800" b="1" dirty="0" err="1">
                <a:solidFill>
                  <a:srgbClr val="FF0000"/>
                </a:solidFill>
                <a:latin typeface="Arial" panose="020B0604020202020204" pitchFamily="34" charset="0"/>
              </a:rPr>
              <a:t>ListLength</a:t>
            </a:r>
            <a:r>
              <a:rPr lang="en-US" altLang="zh-CN" sz="2800" b="1" dirty="0">
                <a:solidFill>
                  <a:srgbClr val="663300"/>
                </a:solidFill>
                <a:latin typeface="Arial" panose="020B0604020202020204" pitchFamily="34" charset="0"/>
              </a:rPr>
              <a:t>(</a:t>
            </a:r>
            <a:r>
              <a:rPr lang="en-US" altLang="zh-CN" sz="2800" i="1" dirty="0">
                <a:latin typeface="Comic Sans MS" panose="030F0702030302020204" pitchFamily="66" charset="0"/>
                <a:ea typeface="楷体_GB2312" pitchFamily="49" charset="-122"/>
              </a:rPr>
              <a:t>L</a:t>
            </a:r>
            <a:r>
              <a:rPr lang="en-US" altLang="zh-CN" sz="2800" i="1" baseline="-25000" dirty="0">
                <a:latin typeface="Comic Sans MS" panose="030F0702030302020204" pitchFamily="66" charset="0"/>
                <a:ea typeface="楷体_GB2312" pitchFamily="49" charset="-122"/>
              </a:rPr>
              <a:t>B</a:t>
            </a:r>
            <a:r>
              <a:rPr lang="en-US" altLang="zh-CN" sz="2800" b="1" dirty="0">
                <a:solidFill>
                  <a:srgbClr val="663300"/>
                </a:solidFill>
                <a:latin typeface="Arial" panose="020B0604020202020204" pitchFamily="34" charset="0"/>
              </a:rPr>
              <a:t>) )</a:t>
            </a:r>
          </a:p>
        </p:txBody>
      </p:sp>
      <p:sp>
        <p:nvSpPr>
          <p:cNvPr id="7" name="Text Box 6">
            <a:extLst>
              <a:ext uri="{FF2B5EF4-FFF2-40B4-BE49-F238E27FC236}">
                <a16:creationId xmlns:a16="http://schemas.microsoft.com/office/drawing/2014/main" id="{31DABD69-EBA7-4C07-8043-EF8F530E2C35}"/>
              </a:ext>
            </a:extLst>
          </p:cNvPr>
          <p:cNvSpPr txBox="1">
            <a:spLocks noChangeArrowheads="1"/>
          </p:cNvSpPr>
          <p:nvPr/>
        </p:nvSpPr>
        <p:spPr bwMode="auto">
          <a:xfrm>
            <a:off x="925962" y="4594254"/>
            <a:ext cx="75442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dirty="0">
                <a:latin typeface="Arial" panose="020B0604020202020204" pitchFamily="34" charset="0"/>
              </a:rPr>
              <a:t>例</a:t>
            </a:r>
            <a:r>
              <a:rPr lang="en-US" altLang="zh-CN" sz="2800" dirty="0">
                <a:latin typeface="Arial" panose="020B0604020202020204" pitchFamily="34" charset="0"/>
              </a:rPr>
              <a:t>2-2</a:t>
            </a:r>
            <a:r>
              <a:rPr lang="zh-CN" altLang="en-US" sz="2800" dirty="0">
                <a:latin typeface="Arial" panose="020B0604020202020204" pitchFamily="34" charset="0"/>
              </a:rPr>
              <a:t>：</a:t>
            </a:r>
            <a:r>
              <a:rPr lang="en-US" altLang="zh-CN" sz="2800" b="1" i="1" dirty="0">
                <a:solidFill>
                  <a:srgbClr val="663300"/>
                </a:solidFill>
                <a:latin typeface="Arial" panose="020B0604020202020204" pitchFamily="34" charset="0"/>
              </a:rPr>
              <a:t>O</a:t>
            </a:r>
            <a:r>
              <a:rPr lang="en-US" altLang="zh-CN" sz="2800" b="1" dirty="0">
                <a:solidFill>
                  <a:srgbClr val="663300"/>
                </a:solidFill>
                <a:latin typeface="Arial" panose="020B0604020202020204" pitchFamily="34" charset="0"/>
              </a:rPr>
              <a:t>( </a:t>
            </a:r>
            <a:r>
              <a:rPr lang="en-US" altLang="zh-CN" sz="2800" b="1" dirty="0" err="1">
                <a:solidFill>
                  <a:srgbClr val="FF0000"/>
                </a:solidFill>
                <a:latin typeface="Arial" panose="020B0604020202020204" pitchFamily="34" charset="0"/>
              </a:rPr>
              <a:t>ListLength</a:t>
            </a:r>
            <a:r>
              <a:rPr lang="en-US" altLang="zh-CN" sz="2800" b="1" dirty="0">
                <a:solidFill>
                  <a:srgbClr val="663300"/>
                </a:solidFill>
                <a:latin typeface="Arial" panose="020B0604020202020204" pitchFamily="34" charset="0"/>
              </a:rPr>
              <a:t>(</a:t>
            </a:r>
            <a:r>
              <a:rPr lang="en-US" altLang="zh-CN" sz="2800" i="1" dirty="0">
                <a:latin typeface="Comic Sans MS" panose="030F0702030302020204" pitchFamily="66" charset="0"/>
                <a:ea typeface="楷体_GB2312" pitchFamily="49" charset="-122"/>
              </a:rPr>
              <a:t>L</a:t>
            </a:r>
            <a:r>
              <a:rPr lang="en-US" altLang="zh-CN" sz="2800" i="1" baseline="-25000" dirty="0">
                <a:latin typeface="Comic Sans MS" panose="030F0702030302020204" pitchFamily="66" charset="0"/>
                <a:ea typeface="楷体_GB2312" pitchFamily="49" charset="-122"/>
              </a:rPr>
              <a:t>A</a:t>
            </a:r>
            <a:r>
              <a:rPr lang="en-US" altLang="zh-CN" sz="2800" b="1" dirty="0">
                <a:solidFill>
                  <a:srgbClr val="663300"/>
                </a:solidFill>
                <a:latin typeface="Arial" panose="020B0604020202020204" pitchFamily="34" charset="0"/>
              </a:rPr>
              <a:t>) </a:t>
            </a:r>
            <a:r>
              <a:rPr lang="en-US" altLang="zh-CN" sz="2800" b="1" dirty="0">
                <a:solidFill>
                  <a:srgbClr val="FF0000"/>
                </a:solidFill>
                <a:latin typeface="Arial" panose="020B0604020202020204" pitchFamily="34" charset="0"/>
              </a:rPr>
              <a:t>+ </a:t>
            </a:r>
            <a:r>
              <a:rPr lang="en-US" altLang="zh-CN" sz="2800" b="1" dirty="0" err="1">
                <a:solidFill>
                  <a:srgbClr val="FF0000"/>
                </a:solidFill>
                <a:latin typeface="Arial" panose="020B0604020202020204" pitchFamily="34" charset="0"/>
              </a:rPr>
              <a:t>ListLength</a:t>
            </a:r>
            <a:r>
              <a:rPr lang="en-US" altLang="zh-CN" sz="2800" b="1" dirty="0">
                <a:solidFill>
                  <a:srgbClr val="663300"/>
                </a:solidFill>
                <a:latin typeface="Arial" panose="020B0604020202020204" pitchFamily="34" charset="0"/>
              </a:rPr>
              <a:t>(</a:t>
            </a:r>
            <a:r>
              <a:rPr lang="en-US" altLang="zh-CN" sz="2800" i="1" dirty="0">
                <a:latin typeface="Comic Sans MS" panose="030F0702030302020204" pitchFamily="66" charset="0"/>
                <a:ea typeface="楷体_GB2312" pitchFamily="49" charset="-122"/>
              </a:rPr>
              <a:t>L</a:t>
            </a:r>
            <a:r>
              <a:rPr lang="en-US" altLang="zh-CN" sz="2800" i="1" baseline="-25000" dirty="0">
                <a:latin typeface="Comic Sans MS" panose="030F0702030302020204" pitchFamily="66" charset="0"/>
                <a:ea typeface="楷体_GB2312" pitchFamily="49" charset="-122"/>
              </a:rPr>
              <a:t>B</a:t>
            </a:r>
            <a:r>
              <a:rPr lang="en-US" altLang="zh-CN" sz="2800" b="1" dirty="0">
                <a:solidFill>
                  <a:srgbClr val="663300"/>
                </a:solidFill>
                <a:latin typeface="Arial" panose="020B0604020202020204" pitchFamily="34" charset="0"/>
              </a:rPr>
              <a:t>) )</a:t>
            </a:r>
          </a:p>
        </p:txBody>
      </p:sp>
      <p:sp>
        <p:nvSpPr>
          <p:cNvPr id="10" name="Text Box 2">
            <a:extLst>
              <a:ext uri="{FF2B5EF4-FFF2-40B4-BE49-F238E27FC236}">
                <a16:creationId xmlns:a16="http://schemas.microsoft.com/office/drawing/2014/main" id="{49A2CD5B-FBF6-4C45-B0E5-122DDBB0CECF}"/>
              </a:ext>
            </a:extLst>
          </p:cNvPr>
          <p:cNvSpPr txBox="1">
            <a:spLocks noChangeArrowheads="1"/>
          </p:cNvSpPr>
          <p:nvPr/>
        </p:nvSpPr>
        <p:spPr bwMode="auto">
          <a:xfrm>
            <a:off x="964405" y="5767066"/>
            <a:ext cx="7215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dirty="0">
                <a:solidFill>
                  <a:srgbClr val="0000FF"/>
                </a:solidFill>
                <a:latin typeface="华文楷体" panose="02010600040101010101" pitchFamily="2" charset="-122"/>
                <a:ea typeface="华文楷体" panose="02010600040101010101" pitchFamily="2" charset="-122"/>
              </a:rPr>
              <a:t>逻辑结构不同，引起算法的时间复杂度不同！</a:t>
            </a:r>
          </a:p>
        </p:txBody>
      </p:sp>
    </p:spTree>
    <p:extLst>
      <p:ext uri="{BB962C8B-B14F-4D97-AF65-F5344CB8AC3E}">
        <p14:creationId xmlns:p14="http://schemas.microsoft.com/office/powerpoint/2010/main" val="157641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79F2C2-D2FA-4481-8664-04BB2AD9F4EE}"/>
              </a:ext>
            </a:extLst>
          </p:cNvPr>
          <p:cNvSpPr>
            <a:spLocks noGrp="1"/>
          </p:cNvSpPr>
          <p:nvPr>
            <p:ph type="title"/>
          </p:nvPr>
        </p:nvSpPr>
        <p:spPr/>
        <p:txBody>
          <a:bodyPr/>
          <a:lstStyle/>
          <a:p>
            <a:r>
              <a:rPr lang="zh-CN" altLang="en-US" dirty="0"/>
              <a:t>课堂练习 </a:t>
            </a:r>
            <a:r>
              <a:rPr lang="en-US" altLang="zh-CN" dirty="0"/>
              <a:t>1</a:t>
            </a:r>
            <a:endParaRPr lang="zh-CN" altLang="en-US" dirty="0"/>
          </a:p>
        </p:txBody>
      </p:sp>
      <p:sp>
        <p:nvSpPr>
          <p:cNvPr id="3" name="内容占位符 2">
            <a:extLst>
              <a:ext uri="{FF2B5EF4-FFF2-40B4-BE49-F238E27FC236}">
                <a16:creationId xmlns:a16="http://schemas.microsoft.com/office/drawing/2014/main" id="{C807F6F0-9DBD-460A-BAA4-4127AFD4EC40}"/>
              </a:ext>
            </a:extLst>
          </p:cNvPr>
          <p:cNvSpPr>
            <a:spLocks noGrp="1"/>
          </p:cNvSpPr>
          <p:nvPr>
            <p:ph idx="1"/>
          </p:nvPr>
        </p:nvSpPr>
        <p:spPr>
          <a:xfrm>
            <a:off x="261355" y="880227"/>
            <a:ext cx="8621290" cy="5741816"/>
          </a:xfrm>
        </p:spPr>
        <p:txBody>
          <a:bodyPr/>
          <a:lstStyle/>
          <a:p>
            <a:r>
              <a:rPr lang="zh-CN" altLang="en-US" dirty="0">
                <a:latin typeface="+mn-ea"/>
                <a:ea typeface="+mn-ea"/>
              </a:rPr>
              <a:t>有一个非递减的有序表 </a:t>
            </a:r>
            <a:r>
              <a:rPr lang="en-US" altLang="zh-CN" dirty="0">
                <a:latin typeface="+mn-ea"/>
                <a:ea typeface="+mn-ea"/>
              </a:rPr>
              <a:t>L</a:t>
            </a:r>
            <a:r>
              <a:rPr lang="en-US" altLang="zh-CN" baseline="-25000" dirty="0">
                <a:latin typeface="+mn-ea"/>
                <a:ea typeface="+mn-ea"/>
              </a:rPr>
              <a:t>A</a:t>
            </a:r>
            <a:r>
              <a:rPr lang="zh-CN" altLang="en-US" dirty="0">
                <a:latin typeface="+mn-ea"/>
                <a:ea typeface="+mn-ea"/>
              </a:rPr>
              <a:t>，其中元素均为整数。现给定一个整数 </a:t>
            </a:r>
            <a:r>
              <a:rPr lang="en-US" altLang="zh-CN" dirty="0">
                <a:latin typeface="+mn-ea"/>
                <a:ea typeface="+mn-ea"/>
              </a:rPr>
              <a:t>x</a:t>
            </a:r>
            <a:r>
              <a:rPr lang="zh-CN" altLang="en-US" dirty="0">
                <a:latin typeface="+mn-ea"/>
                <a:ea typeface="+mn-ea"/>
              </a:rPr>
              <a:t>，要求从 </a:t>
            </a:r>
            <a:r>
              <a:rPr lang="en-US" altLang="zh-CN" dirty="0">
                <a:latin typeface="+mn-ea"/>
                <a:ea typeface="+mn-ea"/>
              </a:rPr>
              <a:t>L</a:t>
            </a:r>
            <a:r>
              <a:rPr lang="en-US" altLang="zh-CN" baseline="-25000" dirty="0">
                <a:latin typeface="+mn-ea"/>
                <a:ea typeface="+mn-ea"/>
              </a:rPr>
              <a:t>A </a:t>
            </a:r>
            <a:r>
              <a:rPr lang="zh-CN" altLang="en-US" dirty="0">
                <a:latin typeface="+mn-ea"/>
                <a:ea typeface="+mn-ea"/>
              </a:rPr>
              <a:t>中删除在范围 </a:t>
            </a:r>
            <a:r>
              <a:rPr lang="en-US" altLang="zh-CN" dirty="0">
                <a:latin typeface="Consolas" panose="020B0609020204030204" pitchFamily="49" charset="0"/>
                <a:ea typeface="+mn-ea"/>
              </a:rPr>
              <a:t>[x-a</a:t>
            </a:r>
            <a:r>
              <a:rPr lang="zh-CN" altLang="en-US" dirty="0">
                <a:latin typeface="Consolas" panose="020B0609020204030204" pitchFamily="49" charset="0"/>
                <a:ea typeface="+mn-ea"/>
              </a:rPr>
              <a:t>，</a:t>
            </a:r>
            <a:r>
              <a:rPr lang="en-US" altLang="zh-CN" dirty="0" err="1">
                <a:latin typeface="Consolas" panose="020B0609020204030204" pitchFamily="49" charset="0"/>
                <a:ea typeface="+mn-ea"/>
              </a:rPr>
              <a:t>x+a</a:t>
            </a:r>
            <a:r>
              <a:rPr lang="en-US" altLang="zh-CN" dirty="0">
                <a:latin typeface="Consolas" panose="020B0609020204030204" pitchFamily="49" charset="0"/>
                <a:ea typeface="+mn-ea"/>
              </a:rPr>
              <a:t>] </a:t>
            </a:r>
            <a:r>
              <a:rPr lang="zh-CN" altLang="en-US" dirty="0">
                <a:latin typeface="+mn-ea"/>
                <a:ea typeface="+mn-ea"/>
              </a:rPr>
              <a:t>内的所有元素（</a:t>
            </a:r>
            <a:r>
              <a:rPr lang="en-US" altLang="zh-CN" dirty="0">
                <a:latin typeface="+mn-ea"/>
                <a:ea typeface="+mn-ea"/>
              </a:rPr>
              <a:t>a</a:t>
            </a:r>
            <a:r>
              <a:rPr lang="zh-CN" altLang="en-US" dirty="0">
                <a:latin typeface="+mn-ea"/>
                <a:ea typeface="+mn-ea"/>
              </a:rPr>
              <a:t>为常数）。</a:t>
            </a:r>
          </a:p>
          <a:p>
            <a:r>
              <a:rPr lang="zh-CN" altLang="en-US" dirty="0">
                <a:solidFill>
                  <a:srgbClr val="0000FF"/>
                </a:solidFill>
                <a:latin typeface="华文楷体" panose="02010600040101010101" pitchFamily="2" charset="-122"/>
                <a:ea typeface="华文楷体" panose="02010600040101010101" pitchFamily="2" charset="-122"/>
              </a:rPr>
              <a:t>请尽量采用线性表操作来实现。</a:t>
            </a:r>
          </a:p>
        </p:txBody>
      </p:sp>
    </p:spTree>
    <p:extLst>
      <p:ext uri="{BB962C8B-B14F-4D97-AF65-F5344CB8AC3E}">
        <p14:creationId xmlns:p14="http://schemas.microsoft.com/office/powerpoint/2010/main" val="2373221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线性表的类型定义</a:t>
            </a:r>
          </a:p>
          <a:p>
            <a:pPr>
              <a:lnSpc>
                <a:spcPct val="150000"/>
              </a:lnSpc>
            </a:pPr>
            <a:r>
              <a:rPr lang="zh-CN" altLang="en-US" sz="2800" dirty="0">
                <a:latin typeface="黑体" panose="02010609060101010101" pitchFamily="49" charset="-122"/>
                <a:ea typeface="黑体" panose="02010609060101010101" pitchFamily="49" charset="-122"/>
              </a:rPr>
              <a:t>线性表的顺序表示和实现</a:t>
            </a: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线性表的链式表示和实现</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线性链表</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循环链表</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双向链表</a:t>
            </a: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一元多项式的表示及相加</a:t>
            </a:r>
          </a:p>
        </p:txBody>
      </p:sp>
    </p:spTree>
    <p:extLst>
      <p:ext uri="{BB962C8B-B14F-4D97-AF65-F5344CB8AC3E}">
        <p14:creationId xmlns:p14="http://schemas.microsoft.com/office/powerpoint/2010/main" val="1453551912"/>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Rectangle 1038"/>
          <p:cNvSpPr>
            <a:spLocks noChangeArrowheads="1"/>
          </p:cNvSpPr>
          <p:nvPr/>
        </p:nvSpPr>
        <p:spPr bwMode="auto">
          <a:xfrm>
            <a:off x="484882" y="1007667"/>
            <a:ext cx="8225036"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线性表的顺序表示又称为</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顺序存储结构</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或</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顺序映像</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0" name="Rectangle 58"/>
          <p:cNvSpPr>
            <a:spLocks noChangeArrowheads="1"/>
          </p:cNvSpPr>
          <p:nvPr/>
        </p:nvSpPr>
        <p:spPr bwMode="auto">
          <a:xfrm>
            <a:off x="801688" y="1412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线性表的顺序表示和实现</a:t>
            </a:r>
          </a:p>
        </p:txBody>
      </p:sp>
      <p:grpSp>
        <p:nvGrpSpPr>
          <p:cNvPr id="11" name="组合 10"/>
          <p:cNvGrpSpPr/>
          <p:nvPr/>
        </p:nvGrpSpPr>
        <p:grpSpPr>
          <a:xfrm>
            <a:off x="679450" y="1912938"/>
            <a:ext cx="3521075" cy="4192587"/>
            <a:chOff x="1091444" y="1808820"/>
            <a:chExt cx="3771794" cy="4840379"/>
          </a:xfrm>
        </p:grpSpPr>
        <p:sp>
          <p:nvSpPr>
            <p:cNvPr id="12" name="íṩľíḍè-圆角矩形 61"/>
            <p:cNvSpPr/>
            <p:nvPr/>
          </p:nvSpPr>
          <p:spPr>
            <a:xfrm>
              <a:off x="1091444" y="1808820"/>
              <a:ext cx="3771794" cy="3698556"/>
            </a:xfrm>
            <a:prstGeom prst="roundRect">
              <a:avLst>
                <a:gd name="adj" fmla="val 3485"/>
              </a:avLst>
            </a:prstGeom>
            <a:solidFill>
              <a:srgbClr val="4F81BD"/>
            </a:solidFill>
            <a:ln w="25400" cap="flat" cmpd="sng" algn="ctr">
              <a:noFill/>
              <a:prstDash val="solid"/>
            </a:ln>
            <a:effectLst/>
          </p:spPr>
          <p:txBody>
            <a:bodyPr wrap="none" tIns="216000" b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13" name="íṩľíḍè-任意多边形 62"/>
            <p:cNvSpPr/>
            <p:nvPr/>
          </p:nvSpPr>
          <p:spPr>
            <a:xfrm>
              <a:off x="1091444" y="2734375"/>
              <a:ext cx="3771794" cy="3914824"/>
            </a:xfrm>
            <a:custGeom>
              <a:avLst/>
              <a:gdLst>
                <a:gd name="connsiteX0" fmla="*/ 0 w 3657600"/>
                <a:gd name="connsiteY0" fmla="*/ 0 h 5486400"/>
                <a:gd name="connsiteX1" fmla="*/ 127467 w 3657600"/>
                <a:gd name="connsiteY1" fmla="*/ 0 h 5486400"/>
                <a:gd name="connsiteX2" fmla="*/ 1072342 w 3657600"/>
                <a:gd name="connsiteY2" fmla="*/ 0 h 5486400"/>
                <a:gd name="connsiteX3" fmla="*/ 1828800 w 3657600"/>
                <a:gd name="connsiteY3" fmla="*/ 756458 h 5486400"/>
                <a:gd name="connsiteX4" fmla="*/ 2585258 w 3657600"/>
                <a:gd name="connsiteY4" fmla="*/ 0 h 5486400"/>
                <a:gd name="connsiteX5" fmla="*/ 3530133 w 3657600"/>
                <a:gd name="connsiteY5" fmla="*/ 0 h 5486400"/>
                <a:gd name="connsiteX6" fmla="*/ 3657600 w 3657600"/>
                <a:gd name="connsiteY6" fmla="*/ 0 h 5486400"/>
                <a:gd name="connsiteX7" fmla="*/ 3657600 w 3657600"/>
                <a:gd name="connsiteY7" fmla="*/ 127467 h 5486400"/>
                <a:gd name="connsiteX8" fmla="*/ 3657600 w 3657600"/>
                <a:gd name="connsiteY8" fmla="*/ 914400 h 5486400"/>
                <a:gd name="connsiteX9" fmla="*/ 3657600 w 3657600"/>
                <a:gd name="connsiteY9" fmla="*/ 5358933 h 5486400"/>
                <a:gd name="connsiteX10" fmla="*/ 3530133 w 3657600"/>
                <a:gd name="connsiteY10" fmla="*/ 5486400 h 5486400"/>
                <a:gd name="connsiteX11" fmla="*/ 127467 w 3657600"/>
                <a:gd name="connsiteY11" fmla="*/ 5486400 h 5486400"/>
                <a:gd name="connsiteX12" fmla="*/ 0 w 3657600"/>
                <a:gd name="connsiteY12" fmla="*/ 5358933 h 5486400"/>
                <a:gd name="connsiteX13" fmla="*/ 0 w 3657600"/>
                <a:gd name="connsiteY13" fmla="*/ 914400 h 5486400"/>
                <a:gd name="connsiteX14" fmla="*/ 0 w 3657600"/>
                <a:gd name="connsiteY14" fmla="*/ 127467 h 5486400"/>
                <a:gd name="connsiteX15" fmla="*/ 0 w 3657600"/>
                <a:gd name="connsiteY15"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57600" h="5486400">
                  <a:moveTo>
                    <a:pt x="0" y="0"/>
                  </a:moveTo>
                  <a:lnTo>
                    <a:pt x="127467" y="0"/>
                  </a:lnTo>
                  <a:lnTo>
                    <a:pt x="1072342" y="0"/>
                  </a:lnTo>
                  <a:cubicBezTo>
                    <a:pt x="1072342" y="417780"/>
                    <a:pt x="1411020" y="756458"/>
                    <a:pt x="1828800" y="756458"/>
                  </a:cubicBezTo>
                  <a:cubicBezTo>
                    <a:pt x="2246580" y="756458"/>
                    <a:pt x="2585258" y="417780"/>
                    <a:pt x="2585258" y="0"/>
                  </a:cubicBezTo>
                  <a:lnTo>
                    <a:pt x="3530133" y="0"/>
                  </a:lnTo>
                  <a:lnTo>
                    <a:pt x="3657600" y="0"/>
                  </a:lnTo>
                  <a:lnTo>
                    <a:pt x="3657600" y="127467"/>
                  </a:lnTo>
                  <a:lnTo>
                    <a:pt x="3657600" y="914400"/>
                  </a:lnTo>
                  <a:lnTo>
                    <a:pt x="3657600" y="5358933"/>
                  </a:lnTo>
                  <a:cubicBezTo>
                    <a:pt x="3657600" y="5429331"/>
                    <a:pt x="3600531" y="5486400"/>
                    <a:pt x="3530133" y="5486400"/>
                  </a:cubicBezTo>
                  <a:lnTo>
                    <a:pt x="127467" y="5486400"/>
                  </a:lnTo>
                  <a:cubicBezTo>
                    <a:pt x="57069" y="5486400"/>
                    <a:pt x="0" y="5429331"/>
                    <a:pt x="0" y="5358933"/>
                  </a:cubicBezTo>
                  <a:lnTo>
                    <a:pt x="0" y="914400"/>
                  </a:lnTo>
                  <a:lnTo>
                    <a:pt x="0" y="127467"/>
                  </a:lnTo>
                  <a:lnTo>
                    <a:pt x="0" y="0"/>
                  </a:lnTo>
                  <a:close/>
                </a:path>
              </a:pathLst>
            </a:custGeom>
            <a:solidFill>
              <a:sysClr val="window" lastClr="FFFFFF">
                <a:lumMod val="95000"/>
              </a:sysClr>
            </a:solidFill>
            <a:ln w="25400" cap="flat" cmpd="sng" algn="ctr">
              <a:noFill/>
              <a:prstDash val="solid"/>
            </a:ln>
            <a:effectLst>
              <a:outerShdw dist="25400" dir="16200000" sx="101000" sy="101000" rotWithShape="0">
                <a:prstClr val="black">
                  <a:alpha val="1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4" name="íṩľíḍè-文本框 63"/>
            <p:cNvSpPr txBox="1"/>
            <p:nvPr/>
          </p:nvSpPr>
          <p:spPr>
            <a:xfrm>
              <a:off x="2596130" y="2453960"/>
              <a:ext cx="755092" cy="707454"/>
            </a:xfrm>
            <a:prstGeom prst="rect">
              <a:avLst/>
            </a:prstGeom>
            <a:noFill/>
          </p:spPr>
          <p:txBody>
            <a:bodyPr wrap="none">
              <a:noAutofit/>
            </a:bodyPr>
            <a:lstStyle/>
            <a:p>
              <a:pPr marR="0" algn="ctr" defTabSz="914400" eaLnBrk="1" fontAlgn="auto" hangingPunct="1">
                <a:spcBef>
                  <a:spcPts val="0"/>
                </a:spcBef>
                <a:spcAft>
                  <a:spcPts val="0"/>
                </a:spcAft>
                <a:buClrTx/>
                <a:buSzTx/>
                <a:buFontTx/>
                <a:buNone/>
                <a:defRPr/>
              </a:pPr>
              <a:r>
                <a:rPr kumimoji="0" lang="en-US" sz="3600" kern="0" cap="none" spc="0" normalizeH="0" baseline="0" noProof="0" dirty="0">
                  <a:solidFill>
                    <a:srgbClr val="EEECE1"/>
                  </a:solidFill>
                  <a:latin typeface="+mn-lt"/>
                  <a:ea typeface="+mn-ea"/>
                  <a:cs typeface="+mn-ea"/>
                  <a:sym typeface="+mn-lt"/>
                </a:rPr>
                <a:t>01</a:t>
              </a:r>
            </a:p>
          </p:txBody>
        </p:sp>
      </p:grpSp>
      <p:grpSp>
        <p:nvGrpSpPr>
          <p:cNvPr id="17" name="组合 16"/>
          <p:cNvGrpSpPr/>
          <p:nvPr/>
        </p:nvGrpSpPr>
        <p:grpSpPr>
          <a:xfrm>
            <a:off x="4795838" y="1916113"/>
            <a:ext cx="3521075" cy="4189412"/>
            <a:chOff x="8988321" y="1808820"/>
            <a:chExt cx="4294550" cy="4835431"/>
          </a:xfrm>
        </p:grpSpPr>
        <p:sp>
          <p:nvSpPr>
            <p:cNvPr id="18" name="íślíḋè-圆角矩形 46"/>
            <p:cNvSpPr/>
            <p:nvPr/>
          </p:nvSpPr>
          <p:spPr>
            <a:xfrm>
              <a:off x="8988321" y="1808820"/>
              <a:ext cx="4294550" cy="3699407"/>
            </a:xfrm>
            <a:prstGeom prst="roundRect">
              <a:avLst>
                <a:gd name="adj" fmla="val 3485"/>
              </a:avLst>
            </a:prstGeom>
            <a:solidFill>
              <a:srgbClr val="8064A2"/>
            </a:solidFill>
            <a:ln w="25400" cap="flat" cmpd="sng" algn="ctr">
              <a:noFill/>
              <a:prstDash val="solid"/>
            </a:ln>
            <a:effectLst/>
          </p:spPr>
          <p:txBody>
            <a:bodyPr wrap="none" tIns="216000" b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19" name="íślíḋè-任意多边形 47"/>
            <p:cNvSpPr/>
            <p:nvPr/>
          </p:nvSpPr>
          <p:spPr>
            <a:xfrm>
              <a:off x="8988321" y="2734129"/>
              <a:ext cx="4294550" cy="3910122"/>
            </a:xfrm>
            <a:custGeom>
              <a:avLst/>
              <a:gdLst>
                <a:gd name="connsiteX0" fmla="*/ 0 w 3657600"/>
                <a:gd name="connsiteY0" fmla="*/ 0 h 5486400"/>
                <a:gd name="connsiteX1" fmla="*/ 127467 w 3657600"/>
                <a:gd name="connsiteY1" fmla="*/ 0 h 5486400"/>
                <a:gd name="connsiteX2" fmla="*/ 1072342 w 3657600"/>
                <a:gd name="connsiteY2" fmla="*/ 0 h 5486400"/>
                <a:gd name="connsiteX3" fmla="*/ 1828800 w 3657600"/>
                <a:gd name="connsiteY3" fmla="*/ 756458 h 5486400"/>
                <a:gd name="connsiteX4" fmla="*/ 2585258 w 3657600"/>
                <a:gd name="connsiteY4" fmla="*/ 0 h 5486400"/>
                <a:gd name="connsiteX5" fmla="*/ 3530133 w 3657600"/>
                <a:gd name="connsiteY5" fmla="*/ 0 h 5486400"/>
                <a:gd name="connsiteX6" fmla="*/ 3657600 w 3657600"/>
                <a:gd name="connsiteY6" fmla="*/ 0 h 5486400"/>
                <a:gd name="connsiteX7" fmla="*/ 3657600 w 3657600"/>
                <a:gd name="connsiteY7" fmla="*/ 127467 h 5486400"/>
                <a:gd name="connsiteX8" fmla="*/ 3657600 w 3657600"/>
                <a:gd name="connsiteY8" fmla="*/ 914400 h 5486400"/>
                <a:gd name="connsiteX9" fmla="*/ 3657600 w 3657600"/>
                <a:gd name="connsiteY9" fmla="*/ 5358933 h 5486400"/>
                <a:gd name="connsiteX10" fmla="*/ 3530133 w 3657600"/>
                <a:gd name="connsiteY10" fmla="*/ 5486400 h 5486400"/>
                <a:gd name="connsiteX11" fmla="*/ 127467 w 3657600"/>
                <a:gd name="connsiteY11" fmla="*/ 5486400 h 5486400"/>
                <a:gd name="connsiteX12" fmla="*/ 0 w 3657600"/>
                <a:gd name="connsiteY12" fmla="*/ 5358933 h 5486400"/>
                <a:gd name="connsiteX13" fmla="*/ 0 w 3657600"/>
                <a:gd name="connsiteY13" fmla="*/ 914400 h 5486400"/>
                <a:gd name="connsiteX14" fmla="*/ 0 w 3657600"/>
                <a:gd name="connsiteY14" fmla="*/ 127467 h 5486400"/>
                <a:gd name="connsiteX15" fmla="*/ 0 w 3657600"/>
                <a:gd name="connsiteY15" fmla="*/ 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57600" h="5486400">
                  <a:moveTo>
                    <a:pt x="0" y="0"/>
                  </a:moveTo>
                  <a:lnTo>
                    <a:pt x="127467" y="0"/>
                  </a:lnTo>
                  <a:lnTo>
                    <a:pt x="1072342" y="0"/>
                  </a:lnTo>
                  <a:cubicBezTo>
                    <a:pt x="1072342" y="417780"/>
                    <a:pt x="1411020" y="756458"/>
                    <a:pt x="1828800" y="756458"/>
                  </a:cubicBezTo>
                  <a:cubicBezTo>
                    <a:pt x="2246580" y="756458"/>
                    <a:pt x="2585258" y="417780"/>
                    <a:pt x="2585258" y="0"/>
                  </a:cubicBezTo>
                  <a:lnTo>
                    <a:pt x="3530133" y="0"/>
                  </a:lnTo>
                  <a:lnTo>
                    <a:pt x="3657600" y="0"/>
                  </a:lnTo>
                  <a:lnTo>
                    <a:pt x="3657600" y="127467"/>
                  </a:lnTo>
                  <a:lnTo>
                    <a:pt x="3657600" y="914400"/>
                  </a:lnTo>
                  <a:lnTo>
                    <a:pt x="3657600" y="5358933"/>
                  </a:lnTo>
                  <a:cubicBezTo>
                    <a:pt x="3657600" y="5429331"/>
                    <a:pt x="3600531" y="5486400"/>
                    <a:pt x="3530133" y="5486400"/>
                  </a:cubicBezTo>
                  <a:lnTo>
                    <a:pt x="127467" y="5486400"/>
                  </a:lnTo>
                  <a:cubicBezTo>
                    <a:pt x="57069" y="5486400"/>
                    <a:pt x="0" y="5429331"/>
                    <a:pt x="0" y="5358933"/>
                  </a:cubicBezTo>
                  <a:lnTo>
                    <a:pt x="0" y="914400"/>
                  </a:lnTo>
                  <a:lnTo>
                    <a:pt x="0" y="127467"/>
                  </a:lnTo>
                  <a:lnTo>
                    <a:pt x="0" y="0"/>
                  </a:lnTo>
                  <a:close/>
                </a:path>
              </a:pathLst>
            </a:custGeom>
            <a:solidFill>
              <a:sysClr val="window" lastClr="FFFFFF">
                <a:lumMod val="95000"/>
              </a:sysClr>
            </a:solidFill>
            <a:ln w="25400" cap="flat" cmpd="sng" algn="ctr">
              <a:noFill/>
              <a:prstDash val="solid"/>
            </a:ln>
            <a:effectLst>
              <a:outerShdw dist="25400" dir="16200000" sx="101000" sy="101000" rotWithShape="0">
                <a:prstClr val="black">
                  <a:alpha val="1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20" name="íślíḋè-文本框 48"/>
            <p:cNvSpPr txBox="1"/>
            <p:nvPr/>
          </p:nvSpPr>
          <p:spPr>
            <a:xfrm>
              <a:off x="10757097" y="2453789"/>
              <a:ext cx="756999" cy="707267"/>
            </a:xfrm>
            <a:prstGeom prst="rect">
              <a:avLst/>
            </a:prstGeom>
            <a:noFill/>
          </p:spPr>
          <p:txBody>
            <a:bodyPr wrap="none">
              <a:noAutofit/>
            </a:bodyPr>
            <a:lstStyle/>
            <a:p>
              <a:pPr marR="0" algn="ctr" defTabSz="914400" eaLnBrk="1" fontAlgn="auto" hangingPunct="1">
                <a:spcBef>
                  <a:spcPts val="0"/>
                </a:spcBef>
                <a:spcAft>
                  <a:spcPts val="0"/>
                </a:spcAft>
                <a:buClrTx/>
                <a:buSzTx/>
                <a:buFontTx/>
                <a:buNone/>
                <a:defRPr/>
              </a:pPr>
              <a:r>
                <a:rPr kumimoji="0" lang="en-US" sz="3600" kern="0" cap="none" spc="0" normalizeH="0" baseline="0" noProof="0" dirty="0">
                  <a:solidFill>
                    <a:srgbClr val="EEECE1"/>
                  </a:solidFill>
                  <a:latin typeface="+mn-lt"/>
                  <a:ea typeface="+mn-ea"/>
                  <a:cs typeface="+mn-ea"/>
                  <a:sym typeface="+mn-lt"/>
                </a:rPr>
                <a:t>02</a:t>
              </a:r>
            </a:p>
          </p:txBody>
        </p:sp>
      </p:grpSp>
      <p:sp>
        <p:nvSpPr>
          <p:cNvPr id="373780" name="Rectangle 1044"/>
          <p:cNvSpPr>
            <a:spLocks noChangeArrowheads="1"/>
          </p:cNvSpPr>
          <p:nvPr/>
        </p:nvSpPr>
        <p:spPr bwMode="auto">
          <a:xfrm>
            <a:off x="1248321" y="1959785"/>
            <a:ext cx="2376488" cy="597664"/>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顺序存储定义</a:t>
            </a:r>
          </a:p>
        </p:txBody>
      </p:sp>
      <p:sp>
        <p:nvSpPr>
          <p:cNvPr id="23" name="Rectangle 1044"/>
          <p:cNvSpPr>
            <a:spLocks noChangeArrowheads="1"/>
          </p:cNvSpPr>
          <p:nvPr/>
        </p:nvSpPr>
        <p:spPr bwMode="auto">
          <a:xfrm>
            <a:off x="801687" y="3241689"/>
            <a:ext cx="3256997" cy="1688860"/>
          </a:xfrm>
          <a:prstGeom prst="rect">
            <a:avLst/>
          </a:prstGeom>
          <a:no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5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把逻辑上相邻的数据元素存储在物理上相邻的存储单元中的存储结构。</a:t>
            </a:r>
          </a:p>
        </p:txBody>
      </p:sp>
      <p:sp>
        <p:nvSpPr>
          <p:cNvPr id="373777" name="Rectangle 1041"/>
          <p:cNvSpPr>
            <a:spLocks noChangeArrowheads="1"/>
          </p:cNvSpPr>
          <p:nvPr/>
        </p:nvSpPr>
        <p:spPr bwMode="auto">
          <a:xfrm>
            <a:off x="781096" y="5411277"/>
            <a:ext cx="3256997" cy="525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30000"/>
              </a:lnSpc>
              <a:spcBef>
                <a:spcPct val="5000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逻辑相邻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=&gt; </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物理相邻</a:t>
            </a:r>
          </a:p>
        </p:txBody>
      </p:sp>
      <p:sp>
        <p:nvSpPr>
          <p:cNvPr id="373779" name="Rectangle 1043"/>
          <p:cNvSpPr>
            <a:spLocks noChangeArrowheads="1"/>
          </p:cNvSpPr>
          <p:nvPr/>
        </p:nvSpPr>
        <p:spPr bwMode="auto">
          <a:xfrm>
            <a:off x="5344178" y="1942311"/>
            <a:ext cx="2592388" cy="597664"/>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顺序存储方法</a:t>
            </a:r>
          </a:p>
        </p:txBody>
      </p:sp>
      <p:sp>
        <p:nvSpPr>
          <p:cNvPr id="24" name="Rectangle 1043"/>
          <p:cNvSpPr>
            <a:spLocks noChangeArrowheads="1"/>
          </p:cNvSpPr>
          <p:nvPr/>
        </p:nvSpPr>
        <p:spPr bwMode="auto">
          <a:xfrm>
            <a:off x="4899818" y="3271069"/>
            <a:ext cx="3313113" cy="2796856"/>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50000"/>
              </a:lnSpc>
              <a:spcBef>
                <a:spcPts val="0"/>
              </a:spcBef>
              <a:spcAft>
                <a:spcPct val="0"/>
              </a:spcAft>
              <a:buClrTx/>
              <a:buSzTx/>
              <a:buFontTx/>
              <a:buNone/>
              <a:defRPr/>
            </a:pP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用一组</a:t>
            </a:r>
            <a:r>
              <a:rPr kumimoji="0" lang="zh-CN" altLang="en-US" sz="2400" b="1" i="0" u="none" strike="noStrike" kern="1200" cap="none" spc="0" normalizeH="0" baseline="0" noProof="0" dirty="0">
                <a:ln>
                  <a:noFill/>
                </a:ln>
                <a:solidFill>
                  <a:srgbClr val="0000FF"/>
                </a:solidFill>
                <a:effectLst/>
                <a:uLnTx/>
                <a:uFillTx/>
                <a:latin typeface="+mn-lt"/>
                <a:ea typeface="+mn-ea"/>
                <a:cs typeface="+mn-ea"/>
                <a:sym typeface="+mn-lt"/>
              </a:rPr>
              <a:t>地址连续</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的存储单元依次存储线性表的数据元素</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lang="zh-CN" altLang="en-US" dirty="0">
                <a:latin typeface="+mn-lt"/>
                <a:ea typeface="+mn-ea"/>
                <a:cs typeface="+mn-ea"/>
                <a:sym typeface="+mn-lt"/>
              </a:rPr>
              <a:t>即构成</a:t>
            </a:r>
            <a:r>
              <a:rPr lang="zh-CN" altLang="en-US" b="1" dirty="0">
                <a:solidFill>
                  <a:srgbClr val="FF0000"/>
                </a:solidFill>
                <a:latin typeface="+mn-lt"/>
                <a:ea typeface="+mn-ea"/>
                <a:cs typeface="+mn-ea"/>
                <a:sym typeface="+mn-lt"/>
              </a:rPr>
              <a:t>顺序表</a:t>
            </a:r>
            <a:r>
              <a:rPr lang="zh-CN" altLang="en-US" dirty="0">
                <a:latin typeface="+mn-lt"/>
                <a:ea typeface="+mn-ea"/>
                <a:cs typeface="+mn-ea"/>
                <a:sym typeface="+mn-lt"/>
              </a:rPr>
              <a:t>。</a:t>
            </a:r>
            <a:endParaRPr lang="en-US" altLang="zh-CN" dirty="0">
              <a:latin typeface="+mn-lt"/>
              <a:ea typeface="+mn-ea"/>
              <a:cs typeface="+mn-ea"/>
              <a:sym typeface="+mn-lt"/>
            </a:endParaRPr>
          </a:p>
          <a:p>
            <a:pPr marL="0" marR="0" lvl="0" indent="0" algn="l" defTabSz="914400" rtl="0" eaLnBrk="1" fontAlgn="base" latinLnBrk="0" hangingPunct="1">
              <a:lnSpc>
                <a:spcPct val="150000"/>
              </a:lnSpc>
              <a:spcBef>
                <a:spcPts val="0"/>
              </a:spcBef>
              <a:spcAft>
                <a:spcPct val="0"/>
              </a:spcAft>
              <a:buClrTx/>
              <a:buSzTx/>
              <a:buFontTx/>
              <a:buNone/>
              <a:defRPr/>
            </a:pPr>
            <a:r>
              <a:rPr kumimoji="0" lang="zh-CN" altLang="en-US" sz="2400" b="0" i="0" u="none" strike="noStrike" kern="1200" cap="none" spc="0" normalizeH="0" baseline="0" noProof="0" dirty="0">
                <a:ln>
                  <a:noFill/>
                </a:ln>
                <a:effectLst/>
                <a:uLnTx/>
                <a:uFillTx/>
                <a:latin typeface="+mn-lt"/>
                <a:ea typeface="+mn-ea"/>
                <a:cs typeface="+mn-ea"/>
                <a:sym typeface="+mn-lt"/>
              </a:rPr>
              <a:t>可通过</a:t>
            </a:r>
            <a:r>
              <a:rPr lang="zh-CN" altLang="en-US" dirty="0">
                <a:latin typeface="+mn-lt"/>
                <a:ea typeface="+mn-ea"/>
                <a:cs typeface="+mn-ea"/>
                <a:sym typeface="+mn-lt"/>
              </a:rPr>
              <a:t>一维</a:t>
            </a:r>
            <a:r>
              <a:rPr kumimoji="0" lang="zh-CN" altLang="en-US" sz="2400" b="0" i="0" u="none" strike="noStrike" kern="1200" cap="none" spc="0" normalizeH="0" baseline="0" noProof="0" dirty="0">
                <a:ln>
                  <a:noFill/>
                </a:ln>
                <a:effectLst/>
                <a:uLnTx/>
                <a:uFillTx/>
                <a:latin typeface="+mn-lt"/>
                <a:ea typeface="+mn-ea"/>
                <a:cs typeface="+mn-ea"/>
                <a:sym typeface="+mn-lt"/>
              </a:rPr>
              <a:t>数组来实现</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4" presetClass="entr" presetSubtype="16" fill="hold" grpId="0" nodeType="withEffect">
                                  <p:stCondLst>
                                    <p:cond delay="0"/>
                                  </p:stCondLst>
                                  <p:childTnLst>
                                    <p:set>
                                      <p:cBhvr>
                                        <p:cTn id="10" dur="1" fill="hold">
                                          <p:stCondLst>
                                            <p:cond delay="0"/>
                                          </p:stCondLst>
                                        </p:cTn>
                                        <p:tgtEl>
                                          <p:spTgt spid="373780"/>
                                        </p:tgtEl>
                                        <p:attrNameLst>
                                          <p:attrName>style.visibility</p:attrName>
                                        </p:attrNameLst>
                                      </p:cBhvr>
                                      <p:to>
                                        <p:strVal val="visible"/>
                                      </p:to>
                                    </p:set>
                                    <p:animEffect transition="in" filter="box(in)">
                                      <p:cBhvr>
                                        <p:cTn id="11" dur="500"/>
                                        <p:tgtEl>
                                          <p:spTgt spid="37378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73777"/>
                                        </p:tgtEl>
                                        <p:attrNameLst>
                                          <p:attrName>style.visibility</p:attrName>
                                        </p:attrNameLst>
                                      </p:cBhvr>
                                      <p:to>
                                        <p:strVal val="visible"/>
                                      </p:to>
                                    </p:set>
                                    <p:animEffect transition="in" filter="box(in)">
                                      <p:cBhvr>
                                        <p:cTn id="20" dur="500"/>
                                        <p:tgtEl>
                                          <p:spTgt spid="37377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par>
                                <p:cTn id="27" presetID="5" presetClass="entr" presetSubtype="10" fill="hold" grpId="0" nodeType="withEffect">
                                  <p:stCondLst>
                                    <p:cond delay="0"/>
                                  </p:stCondLst>
                                  <p:childTnLst>
                                    <p:set>
                                      <p:cBhvr>
                                        <p:cTn id="28" dur="1" fill="hold">
                                          <p:stCondLst>
                                            <p:cond delay="0"/>
                                          </p:stCondLst>
                                        </p:cTn>
                                        <p:tgtEl>
                                          <p:spTgt spid="373779"/>
                                        </p:tgtEl>
                                        <p:attrNameLst>
                                          <p:attrName>style.visibility</p:attrName>
                                        </p:attrNameLst>
                                      </p:cBhvr>
                                      <p:to>
                                        <p:strVal val="visible"/>
                                      </p:to>
                                    </p:set>
                                    <p:animEffect transition="in" filter="checkerboard(across)">
                                      <p:cBhvr>
                                        <p:cTn id="29" dur="500"/>
                                        <p:tgtEl>
                                          <p:spTgt spid="37377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80" grpId="0"/>
      <p:bldP spid="23" grpId="0"/>
      <p:bldP spid="373777" grpId="0"/>
      <p:bldP spid="373779"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58"/>
          <p:cNvSpPr>
            <a:spLocks noChangeArrowheads="1"/>
          </p:cNvSpPr>
          <p:nvPr/>
        </p:nvSpPr>
        <p:spPr bwMode="auto">
          <a:xfrm>
            <a:off x="801688" y="1412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线性表的顺序表示</a:t>
            </a:r>
            <a:endParaRPr kumimoji="0" lang="zh-CN" altLang="en-US" sz="28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nvGrpSpPr>
          <p:cNvPr id="67" name="Group 37">
            <a:extLst>
              <a:ext uri="{FF2B5EF4-FFF2-40B4-BE49-F238E27FC236}">
                <a16:creationId xmlns:a16="http://schemas.microsoft.com/office/drawing/2014/main" id="{B75690D4-638A-4086-A277-0CF5C228437E}"/>
              </a:ext>
            </a:extLst>
          </p:cNvPr>
          <p:cNvGrpSpPr>
            <a:grpSpLocks/>
          </p:cNvGrpSpPr>
          <p:nvPr/>
        </p:nvGrpSpPr>
        <p:grpSpPr bwMode="auto">
          <a:xfrm>
            <a:off x="1332171" y="4392049"/>
            <a:ext cx="7092950" cy="1330325"/>
            <a:chOff x="703" y="2928"/>
            <a:chExt cx="4468" cy="838"/>
          </a:xfrm>
        </p:grpSpPr>
        <p:sp>
          <p:nvSpPr>
            <p:cNvPr id="68" name="AutoShape 26">
              <a:extLst>
                <a:ext uri="{FF2B5EF4-FFF2-40B4-BE49-F238E27FC236}">
                  <a16:creationId xmlns:a16="http://schemas.microsoft.com/office/drawing/2014/main" id="{3FEA3AA4-DEB8-4D7A-A89F-87B14E309D58}"/>
                </a:ext>
              </a:extLst>
            </p:cNvPr>
            <p:cNvSpPr>
              <a:spLocks/>
            </p:cNvSpPr>
            <p:nvPr/>
          </p:nvSpPr>
          <p:spPr bwMode="auto">
            <a:xfrm>
              <a:off x="1927" y="3118"/>
              <a:ext cx="91" cy="539"/>
            </a:xfrm>
            <a:prstGeom prst="leftBrace">
              <a:avLst>
                <a:gd name="adj1" fmla="val 49359"/>
                <a:gd name="adj2" fmla="val 50000"/>
              </a:avLst>
            </a:prstGeom>
            <a:noFill/>
            <a:ln w="28575">
              <a:solidFill>
                <a:srgbClr val="CC00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algn="ctr" eaLnBrk="1" hangingPunct="1"/>
              <a:endParaRPr kumimoji="1" lang="zh-CN" altLang="en-US" sz="3600" b="1">
                <a:solidFill>
                  <a:srgbClr val="0033CC"/>
                </a:solidFill>
                <a:ea typeface="宋体" panose="02010600030101010101" pitchFamily="2" charset="-122"/>
              </a:endParaRPr>
            </a:p>
          </p:txBody>
        </p:sp>
        <p:sp>
          <p:nvSpPr>
            <p:cNvPr id="69" name="Rectangle 27">
              <a:extLst>
                <a:ext uri="{FF2B5EF4-FFF2-40B4-BE49-F238E27FC236}">
                  <a16:creationId xmlns:a16="http://schemas.microsoft.com/office/drawing/2014/main" id="{8756AF65-CCCD-4BE9-8585-EF56BD37CD63}"/>
                </a:ext>
              </a:extLst>
            </p:cNvPr>
            <p:cNvSpPr>
              <a:spLocks noChangeArrowheads="1"/>
            </p:cNvSpPr>
            <p:nvPr/>
          </p:nvSpPr>
          <p:spPr bwMode="auto">
            <a:xfrm>
              <a:off x="703" y="3203"/>
              <a:ext cx="1296" cy="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r>
                <a:rPr kumimoji="1" lang="en-US" altLang="zh-CN" sz="3200" b="1" i="1">
                  <a:solidFill>
                    <a:srgbClr val="CC0066"/>
                  </a:solidFill>
                  <a:ea typeface="宋体" panose="02010600030101010101" pitchFamily="2" charset="-122"/>
                </a:rPr>
                <a:t>LOC</a:t>
              </a:r>
              <a:r>
                <a:rPr kumimoji="1" lang="en-US" altLang="zh-CN" sz="3200" b="1">
                  <a:solidFill>
                    <a:srgbClr val="CC0066"/>
                  </a:solidFill>
                  <a:ea typeface="宋体" panose="02010600030101010101" pitchFamily="2" charset="-122"/>
                </a:rPr>
                <a:t>(</a:t>
              </a:r>
              <a:r>
                <a:rPr kumimoji="1" lang="en-US" altLang="zh-CN" sz="3200" b="1" i="1">
                  <a:solidFill>
                    <a:srgbClr val="CC0066"/>
                  </a:solidFill>
                  <a:ea typeface="宋体" panose="02010600030101010101" pitchFamily="2" charset="-122"/>
                </a:rPr>
                <a:t>i</a:t>
              </a:r>
              <a:r>
                <a:rPr kumimoji="1" lang="en-US" altLang="zh-CN" sz="3200" b="1">
                  <a:solidFill>
                    <a:srgbClr val="CC0066"/>
                  </a:solidFill>
                  <a:ea typeface="宋体" panose="02010600030101010101" pitchFamily="2" charset="-122"/>
                </a:rPr>
                <a:t>) =</a:t>
              </a:r>
              <a:r>
                <a:rPr kumimoji="1" lang="en-US" altLang="zh-CN" sz="3200" b="1">
                  <a:solidFill>
                    <a:srgbClr val="0033CC"/>
                  </a:solidFill>
                  <a:ea typeface="宋体" panose="02010600030101010101" pitchFamily="2" charset="-122"/>
                </a:rPr>
                <a:t> </a:t>
              </a:r>
              <a:endParaRPr kumimoji="1" lang="en-US" altLang="zh-CN" sz="3200">
                <a:solidFill>
                  <a:srgbClr val="000099"/>
                </a:solidFill>
                <a:ea typeface="宋体" panose="02010600030101010101" pitchFamily="2" charset="-122"/>
              </a:endParaRPr>
            </a:p>
          </p:txBody>
        </p:sp>
        <p:sp>
          <p:nvSpPr>
            <p:cNvPr id="70" name="Rectangle 28">
              <a:extLst>
                <a:ext uri="{FF2B5EF4-FFF2-40B4-BE49-F238E27FC236}">
                  <a16:creationId xmlns:a16="http://schemas.microsoft.com/office/drawing/2014/main" id="{D5D126F3-CFB2-4D3B-83CF-FCA379C066F4}"/>
                </a:ext>
              </a:extLst>
            </p:cNvPr>
            <p:cNvSpPr>
              <a:spLocks noChangeArrowheads="1"/>
            </p:cNvSpPr>
            <p:nvPr/>
          </p:nvSpPr>
          <p:spPr bwMode="auto">
            <a:xfrm>
              <a:off x="2064" y="3362"/>
              <a:ext cx="3107" cy="4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r>
                <a:rPr kumimoji="1" lang="en-US" altLang="zh-CN" sz="3200" b="1" i="1" dirty="0">
                  <a:solidFill>
                    <a:srgbClr val="CC0066"/>
                  </a:solidFill>
                  <a:ea typeface="宋体" panose="02010600030101010101" pitchFamily="2" charset="-122"/>
                </a:rPr>
                <a:t>LOC</a:t>
              </a:r>
              <a:r>
                <a:rPr kumimoji="1" lang="en-US" altLang="zh-CN" sz="3200" b="1" dirty="0">
                  <a:solidFill>
                    <a:srgbClr val="CC0066"/>
                  </a:solidFill>
                  <a:ea typeface="宋体" panose="02010600030101010101" pitchFamily="2" charset="-122"/>
                </a:rPr>
                <a:t>(</a:t>
              </a:r>
              <a:r>
                <a:rPr kumimoji="1" lang="en-US" altLang="zh-CN" sz="3200" b="1" i="1" dirty="0">
                  <a:solidFill>
                    <a:srgbClr val="CC0066"/>
                  </a:solidFill>
                  <a:ea typeface="宋体" panose="02010600030101010101" pitchFamily="2" charset="-122"/>
                </a:rPr>
                <a:t>i</a:t>
              </a:r>
              <a:r>
                <a:rPr kumimoji="1" lang="en-US" altLang="zh-CN" sz="3200" dirty="0">
                  <a:solidFill>
                    <a:srgbClr val="CC0000"/>
                  </a:solidFill>
                  <a:latin typeface="Courier New" panose="02070309020205020404" pitchFamily="49" charset="0"/>
                  <a:ea typeface="楷体_GB2312" pitchFamily="49" charset="-122"/>
                </a:rPr>
                <a:t>-</a:t>
              </a:r>
              <a:r>
                <a:rPr kumimoji="1" lang="en-US" altLang="zh-CN" sz="3200" b="1" dirty="0">
                  <a:solidFill>
                    <a:srgbClr val="CC0066"/>
                  </a:solidFill>
                  <a:ea typeface="宋体" panose="02010600030101010101" pitchFamily="2" charset="-122"/>
                </a:rPr>
                <a:t>1)+</a:t>
              </a:r>
              <a:r>
                <a:rPr kumimoji="1" lang="en-US" altLang="zh-CN" sz="3200" b="1" i="1" dirty="0">
                  <a:solidFill>
                    <a:srgbClr val="CC0066"/>
                  </a:solidFill>
                  <a:ea typeface="宋体" panose="02010600030101010101" pitchFamily="2" charset="-122"/>
                </a:rPr>
                <a:t>l</a:t>
              </a:r>
              <a:r>
                <a:rPr kumimoji="1" lang="en-US" altLang="zh-CN" sz="3200" b="1" dirty="0">
                  <a:solidFill>
                    <a:srgbClr val="CC0066"/>
                  </a:solidFill>
                  <a:ea typeface="宋体" panose="02010600030101010101" pitchFamily="2" charset="-122"/>
                </a:rPr>
                <a:t> = </a:t>
              </a:r>
              <a:r>
                <a:rPr kumimoji="1" lang="en-US" altLang="zh-CN" sz="3200" b="1" i="1" dirty="0">
                  <a:solidFill>
                    <a:srgbClr val="CC0066"/>
                  </a:solidFill>
                  <a:ea typeface="宋体" panose="02010600030101010101" pitchFamily="2" charset="-122"/>
                </a:rPr>
                <a:t>a </a:t>
              </a:r>
              <a:r>
                <a:rPr kumimoji="1" lang="en-US" altLang="zh-CN" sz="3200" b="1" dirty="0">
                  <a:solidFill>
                    <a:srgbClr val="CC0066"/>
                  </a:solidFill>
                  <a:ea typeface="宋体" panose="02010600030101010101" pitchFamily="2" charset="-122"/>
                </a:rPr>
                <a:t>+ </a:t>
              </a:r>
              <a:r>
                <a:rPr kumimoji="1" lang="en-US" altLang="zh-CN" sz="3200" b="1" i="1" dirty="0" err="1">
                  <a:solidFill>
                    <a:srgbClr val="CC0066"/>
                  </a:solidFill>
                  <a:ea typeface="宋体" panose="02010600030101010101" pitchFamily="2" charset="-122"/>
                </a:rPr>
                <a:t>i</a:t>
              </a:r>
              <a:r>
                <a:rPr kumimoji="1" lang="en-US" altLang="zh-CN" sz="3200" b="1" dirty="0">
                  <a:solidFill>
                    <a:srgbClr val="CC0066"/>
                  </a:solidFill>
                  <a:ea typeface="宋体" panose="02010600030101010101" pitchFamily="2" charset="-122"/>
                </a:rPr>
                <a:t>*</a:t>
              </a:r>
              <a:r>
                <a:rPr kumimoji="1" lang="en-US" altLang="zh-CN" sz="3200" b="1" i="1" dirty="0">
                  <a:solidFill>
                    <a:srgbClr val="CC0066"/>
                  </a:solidFill>
                  <a:ea typeface="宋体" panose="02010600030101010101" pitchFamily="2" charset="-122"/>
                </a:rPr>
                <a:t>l,  </a:t>
              </a:r>
              <a:r>
                <a:rPr kumimoji="1" lang="en-US" altLang="zh-CN" sz="3200" b="1" i="1" dirty="0" err="1">
                  <a:solidFill>
                    <a:srgbClr val="CC0066"/>
                  </a:solidFill>
                  <a:ea typeface="宋体" panose="02010600030101010101" pitchFamily="2" charset="-122"/>
                </a:rPr>
                <a:t>i</a:t>
              </a:r>
              <a:r>
                <a:rPr kumimoji="1" lang="en-US" altLang="zh-CN" sz="3200" b="1" i="1" dirty="0">
                  <a:solidFill>
                    <a:srgbClr val="CC0066"/>
                  </a:solidFill>
                  <a:ea typeface="宋体" panose="02010600030101010101" pitchFamily="2" charset="-122"/>
                </a:rPr>
                <a:t> &gt; </a:t>
              </a:r>
              <a:r>
                <a:rPr kumimoji="1" lang="en-US" altLang="zh-CN" sz="3200" b="1" dirty="0">
                  <a:solidFill>
                    <a:srgbClr val="CC0066"/>
                  </a:solidFill>
                  <a:ea typeface="宋体" panose="02010600030101010101" pitchFamily="2" charset="-122"/>
                </a:rPr>
                <a:t>0</a:t>
              </a:r>
              <a:r>
                <a:rPr kumimoji="1" lang="en-US" altLang="zh-CN" sz="3600" b="1" i="1" dirty="0">
                  <a:solidFill>
                    <a:srgbClr val="0033CC"/>
                  </a:solidFill>
                  <a:ea typeface="宋体" panose="02010600030101010101" pitchFamily="2" charset="-122"/>
                </a:rPr>
                <a:t> </a:t>
              </a:r>
            </a:p>
          </p:txBody>
        </p:sp>
        <p:sp>
          <p:nvSpPr>
            <p:cNvPr id="71" name="Text Box 29">
              <a:extLst>
                <a:ext uri="{FF2B5EF4-FFF2-40B4-BE49-F238E27FC236}">
                  <a16:creationId xmlns:a16="http://schemas.microsoft.com/office/drawing/2014/main" id="{55CD9B05-E871-46F8-9140-71B003273281}"/>
                </a:ext>
              </a:extLst>
            </p:cNvPr>
            <p:cNvSpPr txBox="1">
              <a:spLocks noChangeArrowheads="1"/>
            </p:cNvSpPr>
            <p:nvPr/>
          </p:nvSpPr>
          <p:spPr bwMode="auto">
            <a:xfrm>
              <a:off x="2064" y="2928"/>
              <a:ext cx="1717" cy="4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1" hangingPunct="1"/>
              <a:r>
                <a:rPr kumimoji="1" lang="en-US" altLang="zh-CN" sz="3200" b="1" i="1" dirty="0">
                  <a:solidFill>
                    <a:srgbClr val="CC0066"/>
                  </a:solidFill>
                  <a:ea typeface="宋体" panose="02010600030101010101" pitchFamily="2" charset="-122"/>
                </a:rPr>
                <a:t>a,         </a:t>
              </a:r>
              <a:r>
                <a:rPr kumimoji="1" lang="en-US" altLang="zh-CN" sz="3200" b="1" i="1" dirty="0" err="1">
                  <a:solidFill>
                    <a:srgbClr val="CC0066"/>
                  </a:solidFill>
                  <a:ea typeface="宋体" panose="02010600030101010101" pitchFamily="2" charset="-122"/>
                </a:rPr>
                <a:t>i</a:t>
              </a:r>
              <a:r>
                <a:rPr kumimoji="1" lang="en-US" altLang="zh-CN" sz="3200" b="1" i="1" dirty="0">
                  <a:solidFill>
                    <a:srgbClr val="CC0066"/>
                  </a:solidFill>
                  <a:ea typeface="宋体" panose="02010600030101010101" pitchFamily="2" charset="-122"/>
                </a:rPr>
                <a:t> </a:t>
              </a:r>
              <a:r>
                <a:rPr kumimoji="1" lang="en-US" altLang="zh-CN" sz="3200" b="1" dirty="0">
                  <a:solidFill>
                    <a:srgbClr val="CC0066"/>
                  </a:solidFill>
                  <a:ea typeface="宋体" panose="02010600030101010101" pitchFamily="2" charset="-122"/>
                </a:rPr>
                <a:t>= 0</a:t>
              </a:r>
              <a:r>
                <a:rPr kumimoji="1" lang="en-US" altLang="zh-CN" sz="3600" i="1" dirty="0">
                  <a:solidFill>
                    <a:srgbClr val="3333CC"/>
                  </a:solidFill>
                  <a:ea typeface="宋体" panose="02010600030101010101" pitchFamily="2" charset="-122"/>
                </a:rPr>
                <a:t>     </a:t>
              </a:r>
              <a:endParaRPr kumimoji="1" lang="en-US" altLang="zh-CN" sz="3600" dirty="0">
                <a:solidFill>
                  <a:srgbClr val="000099"/>
                </a:solidFill>
                <a:ea typeface="宋体" panose="02010600030101010101" pitchFamily="2" charset="-122"/>
              </a:endParaRPr>
            </a:p>
          </p:txBody>
        </p:sp>
      </p:grpSp>
      <p:sp>
        <p:nvSpPr>
          <p:cNvPr id="74" name="Text Box 3">
            <a:extLst>
              <a:ext uri="{FF2B5EF4-FFF2-40B4-BE49-F238E27FC236}">
                <a16:creationId xmlns:a16="http://schemas.microsoft.com/office/drawing/2014/main" id="{660D97E7-593E-45D3-80AD-4DF35395EADC}"/>
              </a:ext>
            </a:extLst>
          </p:cNvPr>
          <p:cNvSpPr txBox="1">
            <a:spLocks noChangeArrowheads="1"/>
          </p:cNvSpPr>
          <p:nvPr/>
        </p:nvSpPr>
        <p:spPr bwMode="auto">
          <a:xfrm>
            <a:off x="1485901" y="2159743"/>
            <a:ext cx="6872288" cy="523875"/>
          </a:xfrm>
          <a:prstGeom prst="rect">
            <a:avLst/>
          </a:prstGeom>
          <a:solidFill>
            <a:srgbClr val="FFFF66"/>
          </a:solidFill>
          <a:ln w="28575">
            <a:solidFill>
              <a:srgbClr val="003366"/>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b="0" i="0" u="none" strike="noStrike" kern="0" cap="none" spc="0" normalizeH="0" baseline="0" noProof="0">
                <a:ln>
                  <a:noFill/>
                </a:ln>
                <a:solidFill>
                  <a:srgbClr val="003366"/>
                </a:solidFill>
                <a:effectLst/>
                <a:uLnTx/>
                <a:uFillTx/>
                <a:latin typeface="Arial" panose="020B0604020202020204" pitchFamily="34" charset="0"/>
              </a:rPr>
              <a:t>35   27   49   18   60   54   77   83   41   02</a:t>
            </a:r>
            <a:endParaRPr kumimoji="1" lang="en-US" altLang="zh-CN"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grpSp>
        <p:nvGrpSpPr>
          <p:cNvPr id="75" name="Group 33">
            <a:extLst>
              <a:ext uri="{FF2B5EF4-FFF2-40B4-BE49-F238E27FC236}">
                <a16:creationId xmlns:a16="http://schemas.microsoft.com/office/drawing/2014/main" id="{6F9958EC-F8F7-4789-B471-E8D7010D8ED0}"/>
              </a:ext>
            </a:extLst>
          </p:cNvPr>
          <p:cNvGrpSpPr>
            <a:grpSpLocks/>
          </p:cNvGrpSpPr>
          <p:nvPr/>
        </p:nvGrpSpPr>
        <p:grpSpPr bwMode="auto">
          <a:xfrm>
            <a:off x="2116139" y="2159743"/>
            <a:ext cx="5486400" cy="546100"/>
            <a:chOff x="1248" y="1680"/>
            <a:chExt cx="3456" cy="384"/>
          </a:xfrm>
        </p:grpSpPr>
        <p:sp>
          <p:nvSpPr>
            <p:cNvPr id="91" name="Line 4">
              <a:extLst>
                <a:ext uri="{FF2B5EF4-FFF2-40B4-BE49-F238E27FC236}">
                  <a16:creationId xmlns:a16="http://schemas.microsoft.com/office/drawing/2014/main" id="{73EEBD8C-F4D5-4F4A-A511-0028D90DE6C4}"/>
                </a:ext>
              </a:extLst>
            </p:cNvPr>
            <p:cNvSpPr>
              <a:spLocks noChangeShapeType="1"/>
            </p:cNvSpPr>
            <p:nvPr/>
          </p:nvSpPr>
          <p:spPr bwMode="auto">
            <a:xfrm>
              <a:off x="1248"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2" name="Line 5">
              <a:extLst>
                <a:ext uri="{FF2B5EF4-FFF2-40B4-BE49-F238E27FC236}">
                  <a16:creationId xmlns:a16="http://schemas.microsoft.com/office/drawing/2014/main" id="{DDFDD591-72C3-42BA-B572-3BB7F2D1E33B}"/>
                </a:ext>
              </a:extLst>
            </p:cNvPr>
            <p:cNvSpPr>
              <a:spLocks noChangeShapeType="1"/>
            </p:cNvSpPr>
            <p:nvPr/>
          </p:nvSpPr>
          <p:spPr bwMode="auto">
            <a:xfrm>
              <a:off x="1680"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3" name="Line 6">
              <a:extLst>
                <a:ext uri="{FF2B5EF4-FFF2-40B4-BE49-F238E27FC236}">
                  <a16:creationId xmlns:a16="http://schemas.microsoft.com/office/drawing/2014/main" id="{A13E5FD2-C2B9-4D46-AC71-422863121633}"/>
                </a:ext>
              </a:extLst>
            </p:cNvPr>
            <p:cNvSpPr>
              <a:spLocks noChangeShapeType="1"/>
            </p:cNvSpPr>
            <p:nvPr/>
          </p:nvSpPr>
          <p:spPr bwMode="auto">
            <a:xfrm>
              <a:off x="2112"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4" name="Line 7">
              <a:extLst>
                <a:ext uri="{FF2B5EF4-FFF2-40B4-BE49-F238E27FC236}">
                  <a16:creationId xmlns:a16="http://schemas.microsoft.com/office/drawing/2014/main" id="{2FB884FD-2EDF-40A1-ACCD-B78B8DEB0FC3}"/>
                </a:ext>
              </a:extLst>
            </p:cNvPr>
            <p:cNvSpPr>
              <a:spLocks noChangeShapeType="1"/>
            </p:cNvSpPr>
            <p:nvPr/>
          </p:nvSpPr>
          <p:spPr bwMode="auto">
            <a:xfrm>
              <a:off x="2544"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5" name="Line 8">
              <a:extLst>
                <a:ext uri="{FF2B5EF4-FFF2-40B4-BE49-F238E27FC236}">
                  <a16:creationId xmlns:a16="http://schemas.microsoft.com/office/drawing/2014/main" id="{D6D6E21A-687D-4D2A-BBAA-72524BC20BCE}"/>
                </a:ext>
              </a:extLst>
            </p:cNvPr>
            <p:cNvSpPr>
              <a:spLocks noChangeShapeType="1"/>
            </p:cNvSpPr>
            <p:nvPr/>
          </p:nvSpPr>
          <p:spPr bwMode="auto">
            <a:xfrm>
              <a:off x="2976"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6" name="Line 9">
              <a:extLst>
                <a:ext uri="{FF2B5EF4-FFF2-40B4-BE49-F238E27FC236}">
                  <a16:creationId xmlns:a16="http://schemas.microsoft.com/office/drawing/2014/main" id="{6BC564B8-5EBD-48C0-B9EE-AF2019291D87}"/>
                </a:ext>
              </a:extLst>
            </p:cNvPr>
            <p:cNvSpPr>
              <a:spLocks noChangeShapeType="1"/>
            </p:cNvSpPr>
            <p:nvPr/>
          </p:nvSpPr>
          <p:spPr bwMode="auto">
            <a:xfrm>
              <a:off x="3408"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7" name="Line 10">
              <a:extLst>
                <a:ext uri="{FF2B5EF4-FFF2-40B4-BE49-F238E27FC236}">
                  <a16:creationId xmlns:a16="http://schemas.microsoft.com/office/drawing/2014/main" id="{B52F328F-7A31-4432-BF69-A60F2E1AC3B5}"/>
                </a:ext>
              </a:extLst>
            </p:cNvPr>
            <p:cNvSpPr>
              <a:spLocks noChangeShapeType="1"/>
            </p:cNvSpPr>
            <p:nvPr/>
          </p:nvSpPr>
          <p:spPr bwMode="auto">
            <a:xfrm>
              <a:off x="3840"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8" name="Line 11">
              <a:extLst>
                <a:ext uri="{FF2B5EF4-FFF2-40B4-BE49-F238E27FC236}">
                  <a16:creationId xmlns:a16="http://schemas.microsoft.com/office/drawing/2014/main" id="{07F4CDF1-E3E5-4602-B923-2103B63594F0}"/>
                </a:ext>
              </a:extLst>
            </p:cNvPr>
            <p:cNvSpPr>
              <a:spLocks noChangeShapeType="1"/>
            </p:cNvSpPr>
            <p:nvPr/>
          </p:nvSpPr>
          <p:spPr bwMode="auto">
            <a:xfrm>
              <a:off x="4272"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9" name="Line 12">
              <a:extLst>
                <a:ext uri="{FF2B5EF4-FFF2-40B4-BE49-F238E27FC236}">
                  <a16:creationId xmlns:a16="http://schemas.microsoft.com/office/drawing/2014/main" id="{84DA1C86-F457-46AD-8744-8A3099D8F22D}"/>
                </a:ext>
              </a:extLst>
            </p:cNvPr>
            <p:cNvSpPr>
              <a:spLocks noChangeShapeType="1"/>
            </p:cNvSpPr>
            <p:nvPr/>
          </p:nvSpPr>
          <p:spPr bwMode="auto">
            <a:xfrm>
              <a:off x="4704" y="1680"/>
              <a:ext cx="0" cy="384"/>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76" name="Text Box 13">
            <a:extLst>
              <a:ext uri="{FF2B5EF4-FFF2-40B4-BE49-F238E27FC236}">
                <a16:creationId xmlns:a16="http://schemas.microsoft.com/office/drawing/2014/main" id="{41BAE813-10D7-445F-89E3-7F00ECDE7FB2}"/>
              </a:ext>
            </a:extLst>
          </p:cNvPr>
          <p:cNvSpPr txBox="1">
            <a:spLocks noChangeArrowheads="1"/>
          </p:cNvSpPr>
          <p:nvPr/>
        </p:nvSpPr>
        <p:spPr bwMode="auto">
          <a:xfrm>
            <a:off x="1485901" y="1550143"/>
            <a:ext cx="6827838"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3333CC"/>
                </a:solidFill>
                <a:effectLst/>
                <a:uLnTx/>
                <a:uFillTx/>
                <a:ea typeface="宋体" panose="02010600030101010101" pitchFamily="2" charset="-122"/>
              </a:rPr>
              <a:t>  </a:t>
            </a:r>
            <a:r>
              <a:rPr kumimoji="1" lang="en-US" altLang="zh-CN" b="1" i="0" u="none" strike="noStrike" kern="0" cap="none" spc="0" normalizeH="0" baseline="0" noProof="0" dirty="0">
                <a:ln>
                  <a:noFill/>
                </a:ln>
                <a:solidFill>
                  <a:srgbClr val="3333CC"/>
                </a:solidFill>
                <a:effectLst/>
                <a:uLnTx/>
                <a:uFillTx/>
                <a:ea typeface="宋体" panose="02010600030101010101" pitchFamily="2" charset="-122"/>
              </a:rPr>
              <a:t>0     1      2     3      4      5      6     7      8      9 </a:t>
            </a:r>
          </a:p>
        </p:txBody>
      </p:sp>
      <p:grpSp>
        <p:nvGrpSpPr>
          <p:cNvPr id="77" name="Group 35">
            <a:extLst>
              <a:ext uri="{FF2B5EF4-FFF2-40B4-BE49-F238E27FC236}">
                <a16:creationId xmlns:a16="http://schemas.microsoft.com/office/drawing/2014/main" id="{998B44DB-7A75-44D3-B536-7C42989357D1}"/>
              </a:ext>
            </a:extLst>
          </p:cNvPr>
          <p:cNvGrpSpPr>
            <a:grpSpLocks/>
          </p:cNvGrpSpPr>
          <p:nvPr/>
        </p:nvGrpSpPr>
        <p:grpSpPr bwMode="auto">
          <a:xfrm>
            <a:off x="1433514" y="2850305"/>
            <a:ext cx="6853238" cy="142875"/>
            <a:chOff x="831" y="2115"/>
            <a:chExt cx="4317" cy="90"/>
          </a:xfrm>
        </p:grpSpPr>
        <p:sp>
          <p:nvSpPr>
            <p:cNvPr id="81" name="AutoShape 14">
              <a:extLst>
                <a:ext uri="{FF2B5EF4-FFF2-40B4-BE49-F238E27FC236}">
                  <a16:creationId xmlns:a16="http://schemas.microsoft.com/office/drawing/2014/main" id="{55F3A9B9-17E2-448D-8F19-61DAE852AE1A}"/>
                </a:ext>
              </a:extLst>
            </p:cNvPr>
            <p:cNvSpPr>
              <a:spLocks/>
            </p:cNvSpPr>
            <p:nvPr/>
          </p:nvSpPr>
          <p:spPr bwMode="auto">
            <a:xfrm rot="-5400000">
              <a:off x="1001" y="1945"/>
              <a:ext cx="90" cy="430"/>
            </a:xfrm>
            <a:prstGeom prst="leftBrace">
              <a:avLst>
                <a:gd name="adj1" fmla="val 39815"/>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2" name="AutoShape 15">
              <a:extLst>
                <a:ext uri="{FF2B5EF4-FFF2-40B4-BE49-F238E27FC236}">
                  <a16:creationId xmlns:a16="http://schemas.microsoft.com/office/drawing/2014/main" id="{4222C3E1-047A-4B23-8D64-2F74B2BFAB62}"/>
                </a:ext>
              </a:extLst>
            </p:cNvPr>
            <p:cNvSpPr>
              <a:spLocks/>
            </p:cNvSpPr>
            <p:nvPr/>
          </p:nvSpPr>
          <p:spPr bwMode="auto">
            <a:xfrm rot="-5400000">
              <a:off x="1431" y="1945"/>
              <a:ext cx="90" cy="429"/>
            </a:xfrm>
            <a:prstGeom prst="leftBrace">
              <a:avLst>
                <a:gd name="adj1" fmla="val 39722"/>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3" name="AutoShape 16">
              <a:extLst>
                <a:ext uri="{FF2B5EF4-FFF2-40B4-BE49-F238E27FC236}">
                  <a16:creationId xmlns:a16="http://schemas.microsoft.com/office/drawing/2014/main" id="{0316FBF0-851B-416A-816A-9705CDDD95E9}"/>
                </a:ext>
              </a:extLst>
            </p:cNvPr>
            <p:cNvSpPr>
              <a:spLocks/>
            </p:cNvSpPr>
            <p:nvPr/>
          </p:nvSpPr>
          <p:spPr bwMode="auto">
            <a:xfrm rot="-5400000">
              <a:off x="1860" y="1945"/>
              <a:ext cx="90" cy="430"/>
            </a:xfrm>
            <a:prstGeom prst="leftBrace">
              <a:avLst>
                <a:gd name="adj1" fmla="val 39815"/>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4" name="AutoShape 17">
              <a:extLst>
                <a:ext uri="{FF2B5EF4-FFF2-40B4-BE49-F238E27FC236}">
                  <a16:creationId xmlns:a16="http://schemas.microsoft.com/office/drawing/2014/main" id="{039EF27E-E1AA-4815-AEDE-AA81039F7932}"/>
                </a:ext>
              </a:extLst>
            </p:cNvPr>
            <p:cNvSpPr>
              <a:spLocks/>
            </p:cNvSpPr>
            <p:nvPr/>
          </p:nvSpPr>
          <p:spPr bwMode="auto">
            <a:xfrm rot="-5400000">
              <a:off x="2290" y="1945"/>
              <a:ext cx="90" cy="430"/>
            </a:xfrm>
            <a:prstGeom prst="leftBrace">
              <a:avLst>
                <a:gd name="adj1" fmla="val 39815"/>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5" name="AutoShape 18">
              <a:extLst>
                <a:ext uri="{FF2B5EF4-FFF2-40B4-BE49-F238E27FC236}">
                  <a16:creationId xmlns:a16="http://schemas.microsoft.com/office/drawing/2014/main" id="{46F4ABDF-B95E-440A-9BE7-3523F817B9A4}"/>
                </a:ext>
              </a:extLst>
            </p:cNvPr>
            <p:cNvSpPr>
              <a:spLocks/>
            </p:cNvSpPr>
            <p:nvPr/>
          </p:nvSpPr>
          <p:spPr bwMode="auto">
            <a:xfrm rot="-5400000">
              <a:off x="2720" y="1945"/>
              <a:ext cx="90" cy="429"/>
            </a:xfrm>
            <a:prstGeom prst="leftBrace">
              <a:avLst>
                <a:gd name="adj1" fmla="val 39722"/>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6" name="AutoShape 19">
              <a:extLst>
                <a:ext uri="{FF2B5EF4-FFF2-40B4-BE49-F238E27FC236}">
                  <a16:creationId xmlns:a16="http://schemas.microsoft.com/office/drawing/2014/main" id="{3B64EA80-ED70-4A8C-BA3A-455F3DAF61AE}"/>
                </a:ext>
              </a:extLst>
            </p:cNvPr>
            <p:cNvSpPr>
              <a:spLocks/>
            </p:cNvSpPr>
            <p:nvPr/>
          </p:nvSpPr>
          <p:spPr bwMode="auto">
            <a:xfrm rot="-5400000">
              <a:off x="3149" y="1945"/>
              <a:ext cx="90" cy="430"/>
            </a:xfrm>
            <a:prstGeom prst="leftBrace">
              <a:avLst>
                <a:gd name="adj1" fmla="val 39815"/>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7" name="AutoShape 20">
              <a:extLst>
                <a:ext uri="{FF2B5EF4-FFF2-40B4-BE49-F238E27FC236}">
                  <a16:creationId xmlns:a16="http://schemas.microsoft.com/office/drawing/2014/main" id="{2678E23C-F6ED-4BF5-8294-842781DFEC4A}"/>
                </a:ext>
              </a:extLst>
            </p:cNvPr>
            <p:cNvSpPr>
              <a:spLocks/>
            </p:cNvSpPr>
            <p:nvPr/>
          </p:nvSpPr>
          <p:spPr bwMode="auto">
            <a:xfrm rot="-5400000">
              <a:off x="3579" y="1945"/>
              <a:ext cx="90" cy="430"/>
            </a:xfrm>
            <a:prstGeom prst="leftBrace">
              <a:avLst>
                <a:gd name="adj1" fmla="val 39815"/>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8" name="AutoShape 21">
              <a:extLst>
                <a:ext uri="{FF2B5EF4-FFF2-40B4-BE49-F238E27FC236}">
                  <a16:creationId xmlns:a16="http://schemas.microsoft.com/office/drawing/2014/main" id="{8005EAB3-87D6-49B0-82E7-E225AD32FAB3}"/>
                </a:ext>
              </a:extLst>
            </p:cNvPr>
            <p:cNvSpPr>
              <a:spLocks/>
            </p:cNvSpPr>
            <p:nvPr/>
          </p:nvSpPr>
          <p:spPr bwMode="auto">
            <a:xfrm rot="-5400000">
              <a:off x="4009" y="1945"/>
              <a:ext cx="90" cy="429"/>
            </a:xfrm>
            <a:prstGeom prst="leftBrace">
              <a:avLst>
                <a:gd name="adj1" fmla="val 39722"/>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9" name="AutoShape 22">
              <a:extLst>
                <a:ext uri="{FF2B5EF4-FFF2-40B4-BE49-F238E27FC236}">
                  <a16:creationId xmlns:a16="http://schemas.microsoft.com/office/drawing/2014/main" id="{F6BA3344-EEF5-4225-8659-869FD71889A7}"/>
                </a:ext>
              </a:extLst>
            </p:cNvPr>
            <p:cNvSpPr>
              <a:spLocks/>
            </p:cNvSpPr>
            <p:nvPr/>
          </p:nvSpPr>
          <p:spPr bwMode="auto">
            <a:xfrm rot="-5400000">
              <a:off x="4459" y="1945"/>
              <a:ext cx="90" cy="429"/>
            </a:xfrm>
            <a:prstGeom prst="leftBrace">
              <a:avLst>
                <a:gd name="adj1" fmla="val 39722"/>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0" name="AutoShape 23">
              <a:extLst>
                <a:ext uri="{FF2B5EF4-FFF2-40B4-BE49-F238E27FC236}">
                  <a16:creationId xmlns:a16="http://schemas.microsoft.com/office/drawing/2014/main" id="{273D55AA-62FF-44B4-B4D4-4D6B2BB3BD6A}"/>
                </a:ext>
              </a:extLst>
            </p:cNvPr>
            <p:cNvSpPr>
              <a:spLocks/>
            </p:cNvSpPr>
            <p:nvPr/>
          </p:nvSpPr>
          <p:spPr bwMode="auto">
            <a:xfrm rot="-5400000">
              <a:off x="4888" y="1945"/>
              <a:ext cx="90" cy="430"/>
            </a:xfrm>
            <a:prstGeom prst="leftBrace">
              <a:avLst>
                <a:gd name="adj1" fmla="val 39815"/>
                <a:gd name="adj2" fmla="val 49699"/>
              </a:avLst>
            </a:prstGeom>
            <a:noFill/>
            <a:ln w="28575">
              <a:solidFill>
                <a:srgbClr val="003366"/>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78" name="Text Box 24">
            <a:extLst>
              <a:ext uri="{FF2B5EF4-FFF2-40B4-BE49-F238E27FC236}">
                <a16:creationId xmlns:a16="http://schemas.microsoft.com/office/drawing/2014/main" id="{67CE30EA-975C-4FC5-A5A6-87C3B749C6F3}"/>
              </a:ext>
            </a:extLst>
          </p:cNvPr>
          <p:cNvSpPr txBox="1">
            <a:spLocks noChangeArrowheads="1"/>
          </p:cNvSpPr>
          <p:nvPr/>
        </p:nvSpPr>
        <p:spPr bwMode="auto">
          <a:xfrm>
            <a:off x="1554164" y="2955080"/>
            <a:ext cx="66548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l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CC0066"/>
                </a:solidFill>
                <a:effectLst/>
                <a:uLnTx/>
                <a:uFillTx/>
                <a:ea typeface="宋体" panose="02010600030101010101" pitchFamily="2" charset="-122"/>
              </a:rPr>
              <a:t>      </a:t>
            </a:r>
            <a:r>
              <a:rPr kumimoji="1" lang="en-US" altLang="zh-CN" b="1" i="1" u="none" strike="noStrike" kern="0" cap="none" spc="0" normalizeH="0" baseline="0" noProof="0" dirty="0" err="1">
                <a:ln>
                  <a:noFill/>
                </a:ln>
                <a:solidFill>
                  <a:srgbClr val="CC0066"/>
                </a:solidFill>
                <a:effectLst/>
                <a:uLnTx/>
                <a:uFillTx/>
                <a:ea typeface="宋体" panose="02010600030101010101" pitchFamily="2" charset="-122"/>
              </a:rPr>
              <a:t>l</a:t>
            </a:r>
            <a:r>
              <a:rPr kumimoji="1" lang="en-US" altLang="zh-CN" b="1" i="1" u="none" strike="noStrike" kern="0" cap="none" spc="0" normalizeH="0" baseline="0" noProof="0" dirty="0">
                <a:ln>
                  <a:noFill/>
                </a:ln>
                <a:solidFill>
                  <a:srgbClr val="000099"/>
                </a:solidFill>
                <a:effectLst/>
                <a:uLnTx/>
                <a:uFillTx/>
                <a:ea typeface="宋体" panose="02010600030101010101" pitchFamily="2" charset="-122"/>
              </a:rPr>
              <a:t>  </a:t>
            </a:r>
            <a:endParaRPr kumimoji="1" lang="en-US" altLang="zh-CN" b="0" i="0" u="none" strike="noStrike" kern="0" cap="none" spc="0" normalizeH="0" baseline="0" noProof="0" dirty="0">
              <a:ln>
                <a:noFill/>
              </a:ln>
              <a:solidFill>
                <a:srgbClr val="000099"/>
              </a:solidFill>
              <a:effectLst/>
              <a:uLnTx/>
              <a:uFillTx/>
              <a:ea typeface="宋体" panose="02010600030101010101" pitchFamily="2" charset="-122"/>
            </a:endParaRPr>
          </a:p>
        </p:txBody>
      </p:sp>
      <p:sp>
        <p:nvSpPr>
          <p:cNvPr id="79" name="Line 30">
            <a:extLst>
              <a:ext uri="{FF2B5EF4-FFF2-40B4-BE49-F238E27FC236}">
                <a16:creationId xmlns:a16="http://schemas.microsoft.com/office/drawing/2014/main" id="{FD33F4E0-5D6D-485F-B6A7-9FBF8C6665F3}"/>
              </a:ext>
            </a:extLst>
          </p:cNvPr>
          <p:cNvSpPr>
            <a:spLocks noChangeShapeType="1"/>
          </p:cNvSpPr>
          <p:nvPr/>
        </p:nvSpPr>
        <p:spPr bwMode="auto">
          <a:xfrm flipV="1">
            <a:off x="4859339" y="2993180"/>
            <a:ext cx="0" cy="838200"/>
          </a:xfrm>
          <a:prstGeom prst="line">
            <a:avLst/>
          </a:prstGeom>
          <a:noFill/>
          <a:ln w="38100">
            <a:solidFill>
              <a:srgbClr val="CC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80" name="Text Box 32">
            <a:extLst>
              <a:ext uri="{FF2B5EF4-FFF2-40B4-BE49-F238E27FC236}">
                <a16:creationId xmlns:a16="http://schemas.microsoft.com/office/drawing/2014/main" id="{04FB04CA-21A1-4C52-BF25-B02B7DD2C4CA}"/>
              </a:ext>
            </a:extLst>
          </p:cNvPr>
          <p:cNvSpPr txBox="1">
            <a:spLocks noChangeArrowheads="1"/>
          </p:cNvSpPr>
          <p:nvPr/>
        </p:nvSpPr>
        <p:spPr bwMode="auto">
          <a:xfrm>
            <a:off x="920751" y="2051793"/>
            <a:ext cx="3905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1" u="none" strike="noStrike" kern="0" cap="none" spc="0" normalizeH="0" baseline="0" noProof="0" dirty="0">
                <a:ln>
                  <a:noFill/>
                </a:ln>
                <a:solidFill>
                  <a:srgbClr val="000099"/>
                </a:solidFill>
                <a:effectLst/>
                <a:uLnTx/>
                <a:uFillTx/>
                <a:ea typeface="宋体" panose="02010600030101010101" pitchFamily="2" charset="-122"/>
              </a:rPr>
              <a:t>a</a:t>
            </a:r>
            <a:endParaRPr kumimoji="1" lang="en-US" altLang="zh-CN" sz="3200" b="0" i="0" u="none" strike="noStrike" kern="0" cap="none" spc="0" normalizeH="0" baseline="0" noProof="0" dirty="0">
              <a:ln>
                <a:noFill/>
              </a:ln>
              <a:solidFill>
                <a:srgbClr val="000099"/>
              </a:solidFill>
              <a:effectLst/>
              <a:uLnTx/>
              <a:uFillTx/>
              <a:ea typeface="宋体" panose="02010600030101010101" pitchFamily="2" charset="-122"/>
            </a:endParaRPr>
          </a:p>
        </p:txBody>
      </p:sp>
      <p:sp>
        <p:nvSpPr>
          <p:cNvPr id="100" name="Text Box 31">
            <a:extLst>
              <a:ext uri="{FF2B5EF4-FFF2-40B4-BE49-F238E27FC236}">
                <a16:creationId xmlns:a16="http://schemas.microsoft.com/office/drawing/2014/main" id="{FD5C8597-0577-46C4-B23B-D2D54A42EEDE}"/>
              </a:ext>
            </a:extLst>
          </p:cNvPr>
          <p:cNvSpPr txBox="1">
            <a:spLocks noChangeArrowheads="1"/>
          </p:cNvSpPr>
          <p:nvPr/>
        </p:nvSpPr>
        <p:spPr bwMode="auto">
          <a:xfrm>
            <a:off x="4878646" y="3615710"/>
            <a:ext cx="1047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i="1" dirty="0" err="1">
                <a:solidFill>
                  <a:schemeClr val="accent2"/>
                </a:solidFill>
                <a:latin typeface="Times New Roman" panose="02020603050405020304" pitchFamily="18" charset="0"/>
              </a:rPr>
              <a:t>a+i</a:t>
            </a:r>
            <a:r>
              <a:rPr kumimoji="1" lang="en-US" altLang="zh-CN" sz="3200" b="1" dirty="0">
                <a:solidFill>
                  <a:schemeClr val="accent2"/>
                </a:solidFill>
                <a:latin typeface="Times New Roman" panose="02020603050405020304" pitchFamily="18" charset="0"/>
              </a:rPr>
              <a:t>*</a:t>
            </a:r>
            <a:r>
              <a:rPr kumimoji="1" lang="en-US" altLang="zh-CN" sz="3200" b="1" i="1" dirty="0">
                <a:solidFill>
                  <a:schemeClr val="accent2"/>
                </a:solidFill>
                <a:latin typeface="Times New Roman" panose="02020603050405020304" pitchFamily="18" charset="0"/>
              </a:rPr>
              <a:t>l</a:t>
            </a:r>
            <a:endParaRPr kumimoji="1" lang="en-US" altLang="zh-CN" sz="2400" dirty="0">
              <a:latin typeface="Times New Roman" panose="02020603050405020304" pitchFamily="18" charset="0"/>
            </a:endParaRPr>
          </a:p>
        </p:txBody>
      </p:sp>
      <p:sp>
        <p:nvSpPr>
          <p:cNvPr id="2" name="文本框 1">
            <a:extLst>
              <a:ext uri="{FF2B5EF4-FFF2-40B4-BE49-F238E27FC236}">
                <a16:creationId xmlns:a16="http://schemas.microsoft.com/office/drawing/2014/main" id="{EF831B22-F82B-482C-9580-4ADF2C6EEC97}"/>
              </a:ext>
            </a:extLst>
          </p:cNvPr>
          <p:cNvSpPr txBox="1"/>
          <p:nvPr/>
        </p:nvSpPr>
        <p:spPr>
          <a:xfrm>
            <a:off x="1607086" y="6079644"/>
            <a:ext cx="5929828" cy="523220"/>
          </a:xfrm>
          <a:prstGeom prst="rect">
            <a:avLst/>
          </a:prstGeom>
          <a:noFill/>
        </p:spPr>
        <p:txBody>
          <a:bodyPr wrap="none" rtlCol="0">
            <a:spAutoFit/>
          </a:bodyPr>
          <a:lstStyle/>
          <a:p>
            <a:r>
              <a:rPr lang="zh-CN" altLang="en-US" dirty="0">
                <a:latin typeface="+mn-ea"/>
                <a:ea typeface="+mn-ea"/>
              </a:rPr>
              <a:t>顺序表是一种</a:t>
            </a:r>
            <a:r>
              <a:rPr lang="zh-CN" altLang="en-US" b="1" dirty="0">
                <a:solidFill>
                  <a:srgbClr val="FF0000"/>
                </a:solidFill>
                <a:latin typeface="+mn-ea"/>
                <a:ea typeface="+mn-ea"/>
              </a:rPr>
              <a:t>随机存取</a:t>
            </a:r>
            <a:r>
              <a:rPr lang="zh-CN" altLang="en-US" dirty="0">
                <a:latin typeface="+mn-ea"/>
                <a:ea typeface="+mn-ea"/>
              </a:rPr>
              <a:t>的存储结构。</a:t>
            </a:r>
          </a:p>
        </p:txBody>
      </p:sp>
      <p:sp>
        <p:nvSpPr>
          <p:cNvPr id="101" name="Text Box 5">
            <a:extLst>
              <a:ext uri="{FF2B5EF4-FFF2-40B4-BE49-F238E27FC236}">
                <a16:creationId xmlns:a16="http://schemas.microsoft.com/office/drawing/2014/main" id="{81013AAB-5922-4492-9813-0B97169A614F}"/>
              </a:ext>
            </a:extLst>
          </p:cNvPr>
          <p:cNvSpPr txBox="1">
            <a:spLocks noChangeArrowheads="1"/>
          </p:cNvSpPr>
          <p:nvPr/>
        </p:nvSpPr>
        <p:spPr bwMode="auto">
          <a:xfrm>
            <a:off x="38359" y="3476138"/>
            <a:ext cx="2646878" cy="94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zh-CN" altLang="en-US" sz="2400" dirty="0">
                <a:latin typeface="+mn-ea"/>
                <a:ea typeface="+mn-ea"/>
              </a:rPr>
              <a:t>线性表的起始地址</a:t>
            </a:r>
          </a:p>
          <a:p>
            <a:pPr eaLnBrk="1" hangingPunct="1">
              <a:lnSpc>
                <a:spcPct val="120000"/>
              </a:lnSpc>
              <a:spcBef>
                <a:spcPct val="0"/>
              </a:spcBef>
              <a:buClrTx/>
              <a:buFontTx/>
              <a:buNone/>
            </a:pPr>
            <a:r>
              <a:rPr lang="zh-CN" altLang="en-US" sz="2400" dirty="0">
                <a:latin typeface="+mn-ea"/>
                <a:ea typeface="+mn-ea"/>
              </a:rPr>
              <a:t>或</a:t>
            </a:r>
            <a:r>
              <a:rPr lang="zh-CN" altLang="en-US" sz="2400" dirty="0">
                <a:solidFill>
                  <a:srgbClr val="0000FF"/>
                </a:solidFill>
                <a:latin typeface="+mn-ea"/>
                <a:ea typeface="+mn-ea"/>
              </a:rPr>
              <a:t>基地址</a:t>
            </a:r>
          </a:p>
        </p:txBody>
      </p:sp>
      <p:sp>
        <p:nvSpPr>
          <p:cNvPr id="102" name="Line 17">
            <a:extLst>
              <a:ext uri="{FF2B5EF4-FFF2-40B4-BE49-F238E27FC236}">
                <a16:creationId xmlns:a16="http://schemas.microsoft.com/office/drawing/2014/main" id="{16658FFA-E458-4FBD-B901-40BA864749DE}"/>
              </a:ext>
            </a:extLst>
          </p:cNvPr>
          <p:cNvSpPr>
            <a:spLocks noChangeShapeType="1"/>
          </p:cNvSpPr>
          <p:nvPr/>
        </p:nvSpPr>
        <p:spPr bwMode="auto">
          <a:xfrm flipV="1">
            <a:off x="728882" y="2596676"/>
            <a:ext cx="345125" cy="793007"/>
          </a:xfrm>
          <a:prstGeom prst="line">
            <a:avLst/>
          </a:prstGeom>
          <a:noFill/>
          <a:ln w="31750">
            <a:solidFill>
              <a:srgbClr val="660033"/>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文本框 2">
            <a:extLst>
              <a:ext uri="{FF2B5EF4-FFF2-40B4-BE49-F238E27FC236}">
                <a16:creationId xmlns:a16="http://schemas.microsoft.com/office/drawing/2014/main" id="{C56C288D-A036-4F11-8996-E5CC722B77F4}"/>
              </a:ext>
            </a:extLst>
          </p:cNvPr>
          <p:cNvSpPr txBox="1"/>
          <p:nvPr/>
        </p:nvSpPr>
        <p:spPr>
          <a:xfrm>
            <a:off x="443065" y="911227"/>
            <a:ext cx="1415772" cy="584775"/>
          </a:xfrm>
          <a:prstGeom prst="rect">
            <a:avLst/>
          </a:prstGeom>
          <a:noFill/>
        </p:spPr>
        <p:txBody>
          <a:bodyPr wrap="none" rtlCol="0">
            <a:spAutoFit/>
          </a:bodyPr>
          <a:lstStyle/>
          <a:p>
            <a:r>
              <a:rPr lang="zh-CN" altLang="en-US" sz="3200" b="1" dirty="0">
                <a:solidFill>
                  <a:srgbClr val="FF0000"/>
                </a:solidFill>
                <a:latin typeface="+mn-ea"/>
                <a:ea typeface="+mn-ea"/>
              </a:rPr>
              <a:t>顺序表</a:t>
            </a:r>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500"/>
                                        <p:tgtEl>
                                          <p:spTgt spid="1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500"/>
                                        <p:tgtEl>
                                          <p:spTgt spid="1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fade">
                                      <p:cBhvr>
                                        <p:cTn id="15" dur="500"/>
                                        <p:tgtEl>
                                          <p:spTgt spid="7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0"/>
                                        </p:tgtEl>
                                        <p:attrNameLst>
                                          <p:attrName>style.visibility</p:attrName>
                                        </p:attrNameLst>
                                      </p:cBhvr>
                                      <p:to>
                                        <p:strVal val="visible"/>
                                      </p:to>
                                    </p:set>
                                    <p:animEffect transition="in" filter="fade">
                                      <p:cBhvr>
                                        <p:cTn id="18" dur="500"/>
                                        <p:tgtEl>
                                          <p:spTgt spid="100"/>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1000"/>
                                        <p:tgtEl>
                                          <p:spTgt spid="67"/>
                                        </p:tgtEl>
                                      </p:cBhvr>
                                    </p:animEffect>
                                    <p:anim calcmode="lin" valueType="num">
                                      <p:cBhvr>
                                        <p:cTn id="24" dur="1000" fill="hold"/>
                                        <p:tgtEl>
                                          <p:spTgt spid="67"/>
                                        </p:tgtEl>
                                        <p:attrNameLst>
                                          <p:attrName>ppt_x</p:attrName>
                                        </p:attrNameLst>
                                      </p:cBhvr>
                                      <p:tavLst>
                                        <p:tav tm="0">
                                          <p:val>
                                            <p:strVal val="#ppt_x"/>
                                          </p:val>
                                        </p:tav>
                                        <p:tav tm="100000">
                                          <p:val>
                                            <p:strVal val="#ppt_x"/>
                                          </p:val>
                                        </p:tav>
                                      </p:tavLst>
                                    </p:anim>
                                    <p:anim calcmode="lin" valueType="num">
                                      <p:cBhvr>
                                        <p:cTn id="25"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barn(inVertical)">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100" grpId="0"/>
      <p:bldP spid="2" grpId="0"/>
      <p:bldP spid="101" grpId="0"/>
      <p:bldP spid="10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
          <p:cNvSpPr>
            <a:spLocks noChangeArrowheads="1"/>
          </p:cNvSpPr>
          <p:nvPr/>
        </p:nvSpPr>
        <p:spPr bwMode="auto">
          <a:xfrm>
            <a:off x="-11112" y="1196752"/>
            <a:ext cx="9144000" cy="4572000"/>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14" name="Rectangle 4"/>
          <p:cNvSpPr>
            <a:spLocks noChangeArrowheads="1"/>
          </p:cNvSpPr>
          <p:nvPr/>
        </p:nvSpPr>
        <p:spPr bwMode="auto">
          <a:xfrm>
            <a:off x="467544" y="1280790"/>
            <a:ext cx="8136904" cy="432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#define MAXSIZE 10000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最大允许长度</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int </a:t>
            </a:r>
            <a:r>
              <a:rPr kumimoji="0" lang="en-US" altLang="zh-CN" sz="2800" b="0" i="0" u="none" strike="noStrike" kern="1200" cap="none" spc="0" normalizeH="0" baseline="0" noProof="0" dirty="0" err="1">
                <a:ln>
                  <a:noFill/>
                </a:ln>
                <a:solidFill>
                  <a:srgbClr val="0000FF"/>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元素的数据类型</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struct {</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0000FF"/>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[MAXSIZE];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静态数组</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length;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当前表中元素个数</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SqList</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a:t>
            </a:r>
          </a:p>
        </p:txBody>
      </p:sp>
      <p:sp>
        <p:nvSpPr>
          <p:cNvPr id="37891" name="Rectangle 5"/>
          <p:cNvSpPr>
            <a:spLocks noChangeArrowheads="1"/>
          </p:cNvSpPr>
          <p:nvPr/>
        </p:nvSpPr>
        <p:spPr bwMode="auto">
          <a:xfrm>
            <a:off x="827584" y="189706"/>
            <a:ext cx="57959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顺序表的静态结构定义</a:t>
            </a:r>
          </a:p>
        </p:txBody>
      </p:sp>
      <p:sp>
        <p:nvSpPr>
          <p:cNvPr id="2" name="爆炸形: 14 pt  1">
            <a:extLst>
              <a:ext uri="{FF2B5EF4-FFF2-40B4-BE49-F238E27FC236}">
                <a16:creationId xmlns:a16="http://schemas.microsoft.com/office/drawing/2014/main" id="{71198AC6-BFAF-4BCE-B116-8980C5E55620}"/>
              </a:ext>
            </a:extLst>
          </p:cNvPr>
          <p:cNvSpPr/>
          <p:nvPr/>
        </p:nvSpPr>
        <p:spPr bwMode="auto">
          <a:xfrm>
            <a:off x="4775036" y="4832276"/>
            <a:ext cx="4032448" cy="1969327"/>
          </a:xfrm>
          <a:prstGeom prst="irregularSeal2">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R="0" algn="l" defTabSz="914400" rtl="0" eaLnBrk="0" fontAlgn="base" latinLnBrk="0" hangingPunct="0">
              <a:lnSpc>
                <a:spcPct val="100000"/>
              </a:lnSpc>
              <a:spcBef>
                <a:spcPts val="0"/>
              </a:spcBef>
              <a:spcAft>
                <a:spcPct val="0"/>
              </a:spcAft>
              <a:buClrTx/>
              <a:buSzTx/>
              <a:buFontTx/>
              <a:buNone/>
            </a:pPr>
            <a:r>
              <a:rPr kumimoji="1" lang="zh-CN" altLang="en-US" sz="2400" dirty="0">
                <a:latin typeface="+mn-ea"/>
                <a:ea typeface="+mn-ea"/>
              </a:rPr>
              <a:t>一旦装满，无法扩充！</a:t>
            </a:r>
            <a:endParaRPr kumimoji="1" lang="zh-CN" altLang="en-US" sz="2400" b="0" i="0" u="none" strike="noStrike" cap="none" normalizeH="0" baseline="0" dirty="0">
              <a:ln>
                <a:noFill/>
              </a:ln>
              <a:solidFill>
                <a:schemeClr val="tx1"/>
              </a:solidFill>
              <a:effectLst/>
              <a:latin typeface="+mn-ea"/>
              <a:ea typeface="+mn-ea"/>
            </a:endParaRPr>
          </a:p>
        </p:txBody>
      </p:sp>
    </p:spTree>
    <p:extLst>
      <p:ext uri="{BB962C8B-B14F-4D97-AF65-F5344CB8AC3E}">
        <p14:creationId xmlns:p14="http://schemas.microsoft.com/office/powerpoint/2010/main" val="180313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
          <p:cNvSpPr>
            <a:spLocks noChangeArrowheads="1"/>
          </p:cNvSpPr>
          <p:nvPr/>
        </p:nvSpPr>
        <p:spPr bwMode="auto">
          <a:xfrm>
            <a:off x="0" y="908720"/>
            <a:ext cx="9144000" cy="5759574"/>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14" name="Rectangle 4"/>
          <p:cNvSpPr>
            <a:spLocks noChangeArrowheads="1"/>
          </p:cNvSpPr>
          <p:nvPr/>
        </p:nvSpPr>
        <p:spPr bwMode="auto">
          <a:xfrm>
            <a:off x="323528" y="886575"/>
            <a:ext cx="8820472" cy="5788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#define LIST_INIT_SIZE 100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存储空间的初始分配量</a:t>
            </a:r>
            <a:endPar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endParaRPr>
          </a:p>
          <a:p>
            <a:pPr marL="342900" marR="0" lvl="0" indent="-342900" algn="l" defTabSz="914400" rtl="0" eaLnBrk="0" fontAlgn="base" latinLnBrk="0" hangingPunct="0">
              <a:lnSpc>
                <a:spcPct val="150000"/>
              </a:lnSpc>
              <a:spcBef>
                <a:spcPct val="20000"/>
              </a:spcBef>
              <a:spcAft>
                <a:spcPct val="0"/>
              </a:spcAft>
              <a:buClrTx/>
              <a:buSzTx/>
              <a:buFontTx/>
              <a:buNone/>
              <a:defRPr/>
            </a:pPr>
            <a:r>
              <a:rPr lang="en-US" altLang="zh-CN" sz="2800" dirty="0">
                <a:latin typeface="+mn-lt"/>
                <a:ea typeface="+mn-ea"/>
                <a:cs typeface="+mn-ea"/>
                <a:sym typeface="+mn-lt"/>
              </a:rPr>
              <a:t>#define LISTINCREMENT 10   </a:t>
            </a:r>
            <a:r>
              <a:rPr lang="en-US" altLang="zh-CN" sz="2800" dirty="0">
                <a:solidFill>
                  <a:srgbClr val="00B050"/>
                </a:solidFill>
                <a:latin typeface="+mn-lt"/>
                <a:ea typeface="+mn-ea"/>
                <a:cs typeface="+mn-ea"/>
                <a:sym typeface="+mn-lt"/>
              </a:rPr>
              <a:t>// </a:t>
            </a:r>
            <a:r>
              <a:rPr lang="zh-CN" altLang="en-US" sz="2800" dirty="0">
                <a:solidFill>
                  <a:srgbClr val="00B050"/>
                </a:solidFill>
                <a:latin typeface="+mn-lt"/>
                <a:ea typeface="+mn-ea"/>
                <a:cs typeface="+mn-ea"/>
                <a:sym typeface="+mn-lt"/>
              </a:rPr>
              <a:t>存储空间的分配增量</a:t>
            </a:r>
            <a:endPar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endParaRP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int </a:t>
            </a:r>
            <a:r>
              <a:rPr kumimoji="0" lang="en-US" altLang="zh-CN" sz="2800" b="0" i="0" u="none" strike="noStrike" kern="1200" cap="none" spc="0" normalizeH="0" baseline="0" noProof="0" dirty="0" err="1">
                <a:ln>
                  <a:noFill/>
                </a:ln>
                <a:solidFill>
                  <a:srgbClr val="0000FF"/>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元素的数据类型</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struct {</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0000FF"/>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存储空间基址</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length;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当前表</a:t>
            </a:r>
            <a:r>
              <a:rPr lang="zh-CN" altLang="en-US" sz="2800" dirty="0">
                <a:solidFill>
                  <a:srgbClr val="00B050"/>
                </a:solidFill>
                <a:latin typeface="+mn-lt"/>
                <a:ea typeface="+mn-ea"/>
                <a:cs typeface="+mn-ea"/>
                <a:sym typeface="+mn-lt"/>
              </a:rPr>
              <a:t>中</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元素个数</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listsize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当前表可达到的最大长度</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SqList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37891" name="Rectangle 5"/>
          <p:cNvSpPr>
            <a:spLocks noChangeArrowheads="1"/>
          </p:cNvSpPr>
          <p:nvPr/>
        </p:nvSpPr>
        <p:spPr bwMode="auto">
          <a:xfrm>
            <a:off x="827584" y="189706"/>
            <a:ext cx="57959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顺序表的动态结构定义</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2">
            <a:extLst>
              <a:ext uri="{FF2B5EF4-FFF2-40B4-BE49-F238E27FC236}">
                <a16:creationId xmlns:a16="http://schemas.microsoft.com/office/drawing/2014/main" id="{5A958DE9-DF2D-4781-A4D1-4A9034E94001}"/>
              </a:ext>
            </a:extLst>
          </p:cNvPr>
          <p:cNvGrpSpPr>
            <a:grpSpLocks/>
          </p:cNvGrpSpPr>
          <p:nvPr/>
        </p:nvGrpSpPr>
        <p:grpSpPr bwMode="auto">
          <a:xfrm>
            <a:off x="251520" y="2771667"/>
            <a:ext cx="8892479" cy="719373"/>
            <a:chOff x="96" y="2304"/>
            <a:chExt cx="5874" cy="493"/>
          </a:xfrm>
        </p:grpSpPr>
        <p:sp>
          <p:nvSpPr>
            <p:cNvPr id="10" name="Text Box 13">
              <a:extLst>
                <a:ext uri="{FF2B5EF4-FFF2-40B4-BE49-F238E27FC236}">
                  <a16:creationId xmlns:a16="http://schemas.microsoft.com/office/drawing/2014/main" id="{5B5B7CD4-5086-4CA6-A1F0-EA05F4F9E9BC}"/>
                </a:ext>
              </a:extLst>
            </p:cNvPr>
            <p:cNvSpPr txBox="1">
              <a:spLocks noChangeArrowheads="1"/>
            </p:cNvSpPr>
            <p:nvPr/>
          </p:nvSpPr>
          <p:spPr bwMode="auto">
            <a:xfrm>
              <a:off x="162" y="2329"/>
              <a:ext cx="5808"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dirty="0">
                  <a:latin typeface="Comic Sans MS" panose="030F0702030302020204" pitchFamily="66" charset="0"/>
                  <a:ea typeface="楷体_GB2312" pitchFamily="49" charset="-122"/>
                </a:rPr>
                <a:t> a</a:t>
              </a:r>
              <a:r>
                <a:rPr lang="en-US" altLang="zh-CN" baseline="-25000" dirty="0">
                  <a:latin typeface="Comic Sans MS" panose="030F0702030302020204" pitchFamily="66" charset="0"/>
                  <a:ea typeface="楷体_GB2312" pitchFamily="49" charset="-122"/>
                </a:rPr>
                <a:t>1</a:t>
              </a:r>
              <a:r>
                <a:rPr lang="en-US" altLang="zh-CN" dirty="0">
                  <a:latin typeface="Comic Sans MS" panose="030F0702030302020204" pitchFamily="66" charset="0"/>
                  <a:ea typeface="楷体_GB2312" pitchFamily="49" charset="-122"/>
                </a:rPr>
                <a:t>    a</a:t>
              </a:r>
              <a:r>
                <a:rPr lang="en-US" altLang="zh-CN" baseline="-25000" dirty="0">
                  <a:latin typeface="Comic Sans MS" panose="030F0702030302020204" pitchFamily="66" charset="0"/>
                  <a:ea typeface="楷体_GB2312" pitchFamily="49" charset="-122"/>
                </a:rPr>
                <a:t>2</a:t>
              </a:r>
              <a:r>
                <a:rPr lang="en-US" altLang="zh-CN" dirty="0">
                  <a:latin typeface="Comic Sans MS" panose="030F0702030302020204" pitchFamily="66" charset="0"/>
                  <a:ea typeface="楷体_GB2312" pitchFamily="49" charset="-122"/>
                </a:rPr>
                <a:t>      </a:t>
              </a:r>
              <a:r>
                <a:rPr lang="en-US" altLang="zh-CN" b="1" dirty="0">
                  <a:latin typeface="Comic Sans MS" panose="030F0702030302020204" pitchFamily="66" charset="0"/>
                  <a:ea typeface="楷体_GB2312" pitchFamily="49" charset="-122"/>
                </a:rPr>
                <a:t>…</a:t>
              </a:r>
              <a:r>
                <a:rPr lang="en-US" altLang="zh-CN" dirty="0">
                  <a:latin typeface="Comic Sans MS" panose="030F0702030302020204" pitchFamily="66" charset="0"/>
                  <a:ea typeface="楷体_GB2312" pitchFamily="49" charset="-122"/>
                </a:rPr>
                <a:t>       a</a:t>
              </a:r>
              <a:r>
                <a:rPr lang="en-US" altLang="zh-CN" baseline="-25000" dirty="0">
                  <a:latin typeface="Comic Sans MS" panose="030F0702030302020204" pitchFamily="66" charset="0"/>
                  <a:ea typeface="楷体_GB2312" pitchFamily="49" charset="-122"/>
                </a:rPr>
                <a:t>i        </a:t>
              </a:r>
              <a:r>
                <a:rPr lang="en-US" altLang="zh-CN" b="1" dirty="0">
                  <a:latin typeface="Comic Sans MS" panose="030F0702030302020204" pitchFamily="66" charset="0"/>
                  <a:ea typeface="楷体_GB2312" pitchFamily="49" charset="-122"/>
                </a:rPr>
                <a:t>…</a:t>
              </a:r>
              <a:r>
                <a:rPr lang="en-US" altLang="zh-CN" dirty="0">
                  <a:latin typeface="Comic Sans MS" panose="030F0702030302020204" pitchFamily="66" charset="0"/>
                  <a:ea typeface="楷体_GB2312" pitchFamily="49" charset="-122"/>
                </a:rPr>
                <a:t>       a</a:t>
              </a:r>
              <a:r>
                <a:rPr lang="en-US" altLang="zh-CN" baseline="-25000" dirty="0">
                  <a:latin typeface="Comic Sans MS" panose="030F0702030302020204" pitchFamily="66" charset="0"/>
                  <a:ea typeface="楷体_GB2312" pitchFamily="49" charset="-122"/>
                </a:rPr>
                <a:t>n</a:t>
              </a:r>
              <a:r>
                <a:rPr kumimoji="0" lang="en-US" altLang="zh-CN" sz="2800" b="1" i="0" u="none" strike="noStrike" kern="1200" cap="none" spc="0" normalizeH="0" baseline="0" noProof="0" dirty="0">
                  <a:ln>
                    <a:noFill/>
                  </a:ln>
                  <a:solidFill>
                    <a:srgbClr val="000000"/>
                  </a:solidFill>
                  <a:effectLst/>
                  <a:uLnTx/>
                  <a:uFillTx/>
                  <a:latin typeface="Comic Sans MS" panose="030F0702030302020204" pitchFamily="66" charset="0"/>
                  <a:ea typeface="楷体_GB2312" pitchFamily="49" charset="-122"/>
                  <a:cs typeface="+mn-cs"/>
                </a:rPr>
                <a:t>      …</a:t>
              </a:r>
              <a:endParaRPr lang="en-US" altLang="zh-CN" baseline="-25000" dirty="0">
                <a:latin typeface="Comic Sans MS" panose="030F0702030302020204" pitchFamily="66" charset="0"/>
                <a:ea typeface="楷体_GB2312" pitchFamily="49" charset="-122"/>
              </a:endParaRPr>
            </a:p>
          </p:txBody>
        </p:sp>
        <p:sp>
          <p:nvSpPr>
            <p:cNvPr id="11" name="Line 14">
              <a:extLst>
                <a:ext uri="{FF2B5EF4-FFF2-40B4-BE49-F238E27FC236}">
                  <a16:creationId xmlns:a16="http://schemas.microsoft.com/office/drawing/2014/main" id="{60944327-0BCE-40F3-9AFF-1490D333A616}"/>
                </a:ext>
              </a:extLst>
            </p:cNvPr>
            <p:cNvSpPr>
              <a:spLocks noChangeShapeType="1"/>
            </p:cNvSpPr>
            <p:nvPr/>
          </p:nvSpPr>
          <p:spPr bwMode="auto">
            <a:xfrm>
              <a:off x="2141" y="230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5">
              <a:extLst>
                <a:ext uri="{FF2B5EF4-FFF2-40B4-BE49-F238E27FC236}">
                  <a16:creationId xmlns:a16="http://schemas.microsoft.com/office/drawing/2014/main" id="{B32E8636-4AF5-4361-B1CA-52F0FFDF18F4}"/>
                </a:ext>
              </a:extLst>
            </p:cNvPr>
            <p:cNvSpPr>
              <a:spLocks noChangeShapeType="1"/>
            </p:cNvSpPr>
            <p:nvPr/>
          </p:nvSpPr>
          <p:spPr bwMode="auto">
            <a:xfrm>
              <a:off x="2712" y="2317"/>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6">
              <a:extLst>
                <a:ext uri="{FF2B5EF4-FFF2-40B4-BE49-F238E27FC236}">
                  <a16:creationId xmlns:a16="http://schemas.microsoft.com/office/drawing/2014/main" id="{E91FDB93-2B62-4909-A4AE-210286396C80}"/>
                </a:ext>
              </a:extLst>
            </p:cNvPr>
            <p:cNvSpPr>
              <a:spLocks noChangeShapeType="1"/>
            </p:cNvSpPr>
            <p:nvPr/>
          </p:nvSpPr>
          <p:spPr bwMode="auto">
            <a:xfrm>
              <a:off x="3521" y="2317"/>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7">
              <a:extLst>
                <a:ext uri="{FF2B5EF4-FFF2-40B4-BE49-F238E27FC236}">
                  <a16:creationId xmlns:a16="http://schemas.microsoft.com/office/drawing/2014/main" id="{026980CD-7ECF-4558-8D2F-4E4FE6C8C588}"/>
                </a:ext>
              </a:extLst>
            </p:cNvPr>
            <p:cNvSpPr>
              <a:spLocks noChangeShapeType="1"/>
            </p:cNvSpPr>
            <p:nvPr/>
          </p:nvSpPr>
          <p:spPr bwMode="auto">
            <a:xfrm>
              <a:off x="5264" y="230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8">
              <a:extLst>
                <a:ext uri="{FF2B5EF4-FFF2-40B4-BE49-F238E27FC236}">
                  <a16:creationId xmlns:a16="http://schemas.microsoft.com/office/drawing/2014/main" id="{F4ECEB1D-97A7-4572-80CE-E382533B11A9}"/>
                </a:ext>
              </a:extLst>
            </p:cNvPr>
            <p:cNvSpPr>
              <a:spLocks noChangeShapeType="1"/>
            </p:cNvSpPr>
            <p:nvPr/>
          </p:nvSpPr>
          <p:spPr bwMode="auto">
            <a:xfrm>
              <a:off x="632" y="230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9">
              <a:extLst>
                <a:ext uri="{FF2B5EF4-FFF2-40B4-BE49-F238E27FC236}">
                  <a16:creationId xmlns:a16="http://schemas.microsoft.com/office/drawing/2014/main" id="{36553681-A3FD-4376-A74D-E538C317478C}"/>
                </a:ext>
              </a:extLst>
            </p:cNvPr>
            <p:cNvSpPr>
              <a:spLocks noChangeShapeType="1"/>
            </p:cNvSpPr>
            <p:nvPr/>
          </p:nvSpPr>
          <p:spPr bwMode="auto">
            <a:xfrm>
              <a:off x="1217" y="230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0">
              <a:extLst>
                <a:ext uri="{FF2B5EF4-FFF2-40B4-BE49-F238E27FC236}">
                  <a16:creationId xmlns:a16="http://schemas.microsoft.com/office/drawing/2014/main" id="{5A24A48A-9D2F-4DC2-99C9-62A1385F456C}"/>
                </a:ext>
              </a:extLst>
            </p:cNvPr>
            <p:cNvSpPr>
              <a:spLocks noChangeShapeType="1"/>
            </p:cNvSpPr>
            <p:nvPr/>
          </p:nvSpPr>
          <p:spPr bwMode="auto">
            <a:xfrm>
              <a:off x="4091" y="2304"/>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Rectangle 21">
              <a:extLst>
                <a:ext uri="{FF2B5EF4-FFF2-40B4-BE49-F238E27FC236}">
                  <a16:creationId xmlns:a16="http://schemas.microsoft.com/office/drawing/2014/main" id="{38A31796-5783-464D-B09E-BC9A258CDB3A}"/>
                </a:ext>
              </a:extLst>
            </p:cNvPr>
            <p:cNvSpPr>
              <a:spLocks noChangeArrowheads="1"/>
            </p:cNvSpPr>
            <p:nvPr/>
          </p:nvSpPr>
          <p:spPr bwMode="auto">
            <a:xfrm>
              <a:off x="96" y="2304"/>
              <a:ext cx="5664"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endParaRPr lang="zh-CN" altLang="en-US" sz="2800">
                <a:solidFill>
                  <a:srgbClr val="663300"/>
                </a:solidFill>
                <a:latin typeface="Arial" panose="020B0604020202020204" pitchFamily="34" charset="0"/>
              </a:endParaRPr>
            </a:p>
          </p:txBody>
        </p:sp>
      </p:grpSp>
      <p:sp>
        <p:nvSpPr>
          <p:cNvPr id="19" name="Text Box 22">
            <a:extLst>
              <a:ext uri="{FF2B5EF4-FFF2-40B4-BE49-F238E27FC236}">
                <a16:creationId xmlns:a16="http://schemas.microsoft.com/office/drawing/2014/main" id="{3C7B93ED-90CE-41D7-AD51-EA73B69B1D11}"/>
              </a:ext>
            </a:extLst>
          </p:cNvPr>
          <p:cNvSpPr txBox="1">
            <a:spLocks noChangeArrowheads="1"/>
          </p:cNvSpPr>
          <p:nvPr/>
        </p:nvSpPr>
        <p:spPr bwMode="auto">
          <a:xfrm>
            <a:off x="239609" y="1480220"/>
            <a:ext cx="1447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dirty="0" err="1">
                <a:solidFill>
                  <a:srgbClr val="CC3300"/>
                </a:solidFill>
              </a:rPr>
              <a:t>L.elem</a:t>
            </a:r>
            <a:endParaRPr lang="en-US" altLang="zh-CN" dirty="0">
              <a:solidFill>
                <a:srgbClr val="CC3300"/>
              </a:solidFill>
            </a:endParaRPr>
          </a:p>
        </p:txBody>
      </p:sp>
      <p:sp>
        <p:nvSpPr>
          <p:cNvPr id="20" name="Text Box 23">
            <a:extLst>
              <a:ext uri="{FF2B5EF4-FFF2-40B4-BE49-F238E27FC236}">
                <a16:creationId xmlns:a16="http://schemas.microsoft.com/office/drawing/2014/main" id="{66288ECC-9E5F-432E-9610-CE28EDDD83FD}"/>
              </a:ext>
            </a:extLst>
          </p:cNvPr>
          <p:cNvSpPr txBox="1">
            <a:spLocks noChangeArrowheads="1"/>
          </p:cNvSpPr>
          <p:nvPr/>
        </p:nvSpPr>
        <p:spPr bwMode="auto">
          <a:xfrm>
            <a:off x="5076056" y="3717032"/>
            <a:ext cx="1752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sz="2800" dirty="0">
                <a:solidFill>
                  <a:srgbClr val="C00000"/>
                </a:solidFill>
              </a:rPr>
              <a:t>L.length</a:t>
            </a:r>
            <a:r>
              <a:rPr lang="en-US" altLang="zh-CN" sz="2800" dirty="0">
                <a:solidFill>
                  <a:srgbClr val="0000FF"/>
                </a:solidFill>
              </a:rPr>
              <a:t>-1</a:t>
            </a:r>
          </a:p>
        </p:txBody>
      </p:sp>
      <p:sp>
        <p:nvSpPr>
          <p:cNvPr id="23" name="Text Box 26">
            <a:extLst>
              <a:ext uri="{FF2B5EF4-FFF2-40B4-BE49-F238E27FC236}">
                <a16:creationId xmlns:a16="http://schemas.microsoft.com/office/drawing/2014/main" id="{0643ECFA-E65C-457D-BC96-E863A5FD6538}"/>
              </a:ext>
            </a:extLst>
          </p:cNvPr>
          <p:cNvSpPr txBox="1">
            <a:spLocks noChangeArrowheads="1"/>
          </p:cNvSpPr>
          <p:nvPr/>
        </p:nvSpPr>
        <p:spPr bwMode="auto">
          <a:xfrm>
            <a:off x="7452320" y="3717032"/>
            <a:ext cx="18246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en-US" altLang="zh-CN" sz="2800" dirty="0">
                <a:solidFill>
                  <a:srgbClr val="C00000"/>
                </a:solidFill>
              </a:rPr>
              <a:t>L.listsize</a:t>
            </a:r>
            <a:r>
              <a:rPr lang="en-US" altLang="zh-CN" sz="2800" dirty="0">
                <a:solidFill>
                  <a:srgbClr val="0000FF"/>
                </a:solidFill>
              </a:rPr>
              <a:t>-1</a:t>
            </a:r>
          </a:p>
        </p:txBody>
      </p:sp>
      <p:sp>
        <p:nvSpPr>
          <p:cNvPr id="24" name="Rectangle 5">
            <a:extLst>
              <a:ext uri="{FF2B5EF4-FFF2-40B4-BE49-F238E27FC236}">
                <a16:creationId xmlns:a16="http://schemas.microsoft.com/office/drawing/2014/main" id="{7F7F9001-F283-4321-BCD6-90B136EBA112}"/>
              </a:ext>
            </a:extLst>
          </p:cNvPr>
          <p:cNvSpPr>
            <a:spLocks noChangeArrowheads="1"/>
          </p:cNvSpPr>
          <p:nvPr/>
        </p:nvSpPr>
        <p:spPr bwMode="auto">
          <a:xfrm>
            <a:off x="827584" y="189706"/>
            <a:ext cx="57959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顺序表的动态结构定义</a:t>
            </a:r>
          </a:p>
        </p:txBody>
      </p:sp>
      <p:cxnSp>
        <p:nvCxnSpPr>
          <p:cNvPr id="25" name="直接箭头连接符 24">
            <a:extLst>
              <a:ext uri="{FF2B5EF4-FFF2-40B4-BE49-F238E27FC236}">
                <a16:creationId xmlns:a16="http://schemas.microsoft.com/office/drawing/2014/main" id="{69660929-BE24-4DC7-9032-2FC19EE69218}"/>
              </a:ext>
            </a:extLst>
          </p:cNvPr>
          <p:cNvCxnSpPr>
            <a:cxnSpLocks/>
          </p:cNvCxnSpPr>
          <p:nvPr/>
        </p:nvCxnSpPr>
        <p:spPr bwMode="auto">
          <a:xfrm flipH="1">
            <a:off x="312076" y="2003440"/>
            <a:ext cx="299484" cy="725911"/>
          </a:xfrm>
          <a:prstGeom prst="straightConnector1">
            <a:avLst/>
          </a:prstGeom>
          <a:solidFill>
            <a:schemeClr val="accent1"/>
          </a:solidFill>
          <a:ln w="28575" cap="flat" cmpd="sng" algn="ctr">
            <a:solidFill>
              <a:srgbClr val="7030A0"/>
            </a:solidFill>
            <a:prstDash val="solid"/>
            <a:round/>
            <a:headEnd type="none" w="med" len="med"/>
            <a:tailEnd type="triangle"/>
          </a:ln>
        </p:spPr>
      </p:cxnSp>
      <p:sp>
        <p:nvSpPr>
          <p:cNvPr id="28" name="文本框 27">
            <a:extLst>
              <a:ext uri="{FF2B5EF4-FFF2-40B4-BE49-F238E27FC236}">
                <a16:creationId xmlns:a16="http://schemas.microsoft.com/office/drawing/2014/main" id="{7943B2C1-F8A5-48B4-82F8-4F3C84A607FA}"/>
              </a:ext>
            </a:extLst>
          </p:cNvPr>
          <p:cNvSpPr txBox="1"/>
          <p:nvPr/>
        </p:nvSpPr>
        <p:spPr>
          <a:xfrm>
            <a:off x="537592" y="3717032"/>
            <a:ext cx="362000" cy="523220"/>
          </a:xfrm>
          <a:prstGeom prst="rect">
            <a:avLst/>
          </a:prstGeom>
          <a:noFill/>
        </p:spPr>
        <p:txBody>
          <a:bodyPr wrap="square" rtlCol="0">
            <a:spAutoFit/>
          </a:bodyPr>
          <a:lstStyle/>
          <a:p>
            <a:r>
              <a:rPr lang="en-US" altLang="zh-CN" dirty="0">
                <a:solidFill>
                  <a:srgbClr val="0000FF"/>
                </a:solidFill>
              </a:rPr>
              <a:t>0</a:t>
            </a:r>
            <a:endParaRPr lang="zh-CN" altLang="en-US" dirty="0">
              <a:solidFill>
                <a:srgbClr val="0000FF"/>
              </a:solidFill>
            </a:endParaRPr>
          </a:p>
        </p:txBody>
      </p:sp>
      <p:sp>
        <p:nvSpPr>
          <p:cNvPr id="30" name="文本框 29">
            <a:extLst>
              <a:ext uri="{FF2B5EF4-FFF2-40B4-BE49-F238E27FC236}">
                <a16:creationId xmlns:a16="http://schemas.microsoft.com/office/drawing/2014/main" id="{810D60CC-C76E-4870-9031-B51F2F20FBD5}"/>
              </a:ext>
            </a:extLst>
          </p:cNvPr>
          <p:cNvSpPr txBox="1"/>
          <p:nvPr/>
        </p:nvSpPr>
        <p:spPr>
          <a:xfrm>
            <a:off x="1329680" y="3717032"/>
            <a:ext cx="362000" cy="523220"/>
          </a:xfrm>
          <a:prstGeom prst="rect">
            <a:avLst/>
          </a:prstGeom>
          <a:noFill/>
        </p:spPr>
        <p:txBody>
          <a:bodyPr wrap="square" rtlCol="0">
            <a:spAutoFit/>
          </a:bodyPr>
          <a:lstStyle/>
          <a:p>
            <a:r>
              <a:rPr lang="en-US" altLang="zh-CN" dirty="0">
                <a:solidFill>
                  <a:srgbClr val="0000FF"/>
                </a:solidFill>
              </a:rPr>
              <a:t>1</a:t>
            </a:r>
            <a:endParaRPr lang="zh-CN" altLang="en-US" dirty="0">
              <a:solidFill>
                <a:srgbClr val="0000FF"/>
              </a:solidFill>
            </a:endParaRPr>
          </a:p>
        </p:txBody>
      </p:sp>
      <p:sp>
        <p:nvSpPr>
          <p:cNvPr id="31" name="文本框 30">
            <a:extLst>
              <a:ext uri="{FF2B5EF4-FFF2-40B4-BE49-F238E27FC236}">
                <a16:creationId xmlns:a16="http://schemas.microsoft.com/office/drawing/2014/main" id="{BE114FB5-ED0B-4285-9C4B-718CEC5BF296}"/>
              </a:ext>
            </a:extLst>
          </p:cNvPr>
          <p:cNvSpPr txBox="1"/>
          <p:nvPr/>
        </p:nvSpPr>
        <p:spPr>
          <a:xfrm>
            <a:off x="3544565" y="3717032"/>
            <a:ext cx="667242" cy="523220"/>
          </a:xfrm>
          <a:prstGeom prst="rect">
            <a:avLst/>
          </a:prstGeom>
          <a:noFill/>
        </p:spPr>
        <p:txBody>
          <a:bodyPr wrap="square" rtlCol="0">
            <a:spAutoFit/>
          </a:bodyPr>
          <a:lstStyle/>
          <a:p>
            <a:r>
              <a:rPr lang="en-US" altLang="zh-CN" dirty="0">
                <a:solidFill>
                  <a:srgbClr val="0000FF"/>
                </a:solidFill>
              </a:rPr>
              <a:t>i-1</a:t>
            </a:r>
            <a:endParaRPr lang="zh-CN" altLang="en-US" dirty="0">
              <a:solidFill>
                <a:srgbClr val="0000FF"/>
              </a:solidFill>
            </a:endParaRPr>
          </a:p>
        </p:txBody>
      </p:sp>
      <p:cxnSp>
        <p:nvCxnSpPr>
          <p:cNvPr id="32" name="直接箭头连接符 31">
            <a:extLst>
              <a:ext uri="{FF2B5EF4-FFF2-40B4-BE49-F238E27FC236}">
                <a16:creationId xmlns:a16="http://schemas.microsoft.com/office/drawing/2014/main" id="{CAFD5B03-5C43-48F9-812B-D2263198E9CD}"/>
              </a:ext>
            </a:extLst>
          </p:cNvPr>
          <p:cNvCxnSpPr>
            <a:cxnSpLocks/>
          </p:cNvCxnSpPr>
          <p:nvPr/>
        </p:nvCxnSpPr>
        <p:spPr bwMode="auto">
          <a:xfrm flipV="1">
            <a:off x="5868144" y="3472072"/>
            <a:ext cx="0" cy="244960"/>
          </a:xfrm>
          <a:prstGeom prst="straightConnector1">
            <a:avLst/>
          </a:prstGeom>
          <a:ln>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35" name="直接箭头连接符 34">
            <a:extLst>
              <a:ext uri="{FF2B5EF4-FFF2-40B4-BE49-F238E27FC236}">
                <a16:creationId xmlns:a16="http://schemas.microsoft.com/office/drawing/2014/main" id="{5B31AB9C-6CB2-476D-8E34-37E416C690FB}"/>
              </a:ext>
            </a:extLst>
          </p:cNvPr>
          <p:cNvCxnSpPr>
            <a:cxnSpLocks/>
          </p:cNvCxnSpPr>
          <p:nvPr/>
        </p:nvCxnSpPr>
        <p:spPr bwMode="auto">
          <a:xfrm flipV="1">
            <a:off x="8460432" y="3472072"/>
            <a:ext cx="0" cy="244960"/>
          </a:xfrm>
          <a:prstGeom prst="straightConnector1">
            <a:avLst/>
          </a:prstGeom>
          <a:ln>
            <a:headEnd type="none" w="med" len="med"/>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0" grpId="0" autoUpdateAnimBg="0"/>
      <p:bldP spid="2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5"/>
          <p:cNvSpPr>
            <a:spLocks noChangeArrowheads="1"/>
          </p:cNvSpPr>
          <p:nvPr/>
        </p:nvSpPr>
        <p:spPr bwMode="auto">
          <a:xfrm>
            <a:off x="827088" y="11113"/>
            <a:ext cx="8839200"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C</a:t>
            </a:r>
            <a:r>
              <a:rPr lang="zh-CN" altLang="en-US" dirty="0">
                <a:solidFill>
                  <a:schemeClr val="bg1"/>
                </a:solidFill>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的动态分配函数（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&lt;</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stdlib.h</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&gt;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nvGrpSpPr>
          <p:cNvPr id="38" name="组合 37"/>
          <p:cNvGrpSpPr/>
          <p:nvPr/>
        </p:nvGrpSpPr>
        <p:grpSpPr>
          <a:xfrm>
            <a:off x="322263" y="1183372"/>
            <a:ext cx="8498209" cy="4909923"/>
            <a:chOff x="243525" y="1859480"/>
            <a:chExt cx="8497915" cy="4348714"/>
          </a:xfrm>
        </p:grpSpPr>
        <p:grpSp>
          <p:nvGrpSpPr>
            <p:cNvPr id="43012" name="组合 15"/>
            <p:cNvGrpSpPr/>
            <p:nvPr/>
          </p:nvGrpSpPr>
          <p:grpSpPr>
            <a:xfrm>
              <a:off x="6034479" y="1859480"/>
              <a:ext cx="2643142" cy="4348713"/>
              <a:chOff x="7824470" y="1879598"/>
              <a:chExt cx="3087091" cy="5079132"/>
            </a:xfrm>
          </p:grpSpPr>
          <p:sp>
            <p:nvSpPr>
              <p:cNvPr id="17" name="íślíḋè-Rectangle 11"/>
              <p:cNvSpPr/>
              <p:nvPr/>
            </p:nvSpPr>
            <p:spPr>
              <a:xfrm>
                <a:off x="7837448" y="1879598"/>
                <a:ext cx="3074113" cy="5079132"/>
              </a:xfrm>
              <a:prstGeom prst="rect">
                <a:avLst/>
              </a:prstGeom>
              <a:noFill/>
              <a:ln w="19050" cap="flat" cmpd="sng" algn="ctr">
                <a:solidFill>
                  <a:schemeClr val="accent1">
                    <a:lumMod val="60000"/>
                    <a:lumOff val="40000"/>
                  </a:schemeClr>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18" name="íślíḋè-Arrow: Pentagon 12"/>
              <p:cNvSpPr/>
              <p:nvPr/>
            </p:nvSpPr>
            <p:spPr>
              <a:xfrm rot="5400000">
                <a:off x="8242785" y="1461285"/>
                <a:ext cx="2237481" cy="3074112"/>
              </a:xfrm>
              <a:prstGeom prst="homePlate">
                <a:avLst/>
              </a:prstGeom>
              <a:solidFill>
                <a:srgbClr val="00B050"/>
              </a:solidFill>
              <a:ln w="25400" cap="flat" cmpd="sng" algn="ctr">
                <a:noFill/>
                <a:prstDash val="solid"/>
              </a:ln>
              <a:effectLst/>
            </p:spPr>
            <p:txBody>
              <a:bodyPr vert="vert270" wrap="none" lIns="216000" tIns="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19" name="íślíḋè-Freeform: Shape 19"/>
              <p:cNvSpPr/>
              <p:nvPr/>
            </p:nvSpPr>
            <p:spPr bwMode="auto">
              <a:xfrm>
                <a:off x="9010178" y="2861804"/>
                <a:ext cx="728653" cy="672063"/>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43013" name="组合 19"/>
            <p:cNvGrpSpPr/>
            <p:nvPr/>
          </p:nvGrpSpPr>
          <p:grpSpPr>
            <a:xfrm>
              <a:off x="243525" y="1859480"/>
              <a:ext cx="2743812" cy="4348714"/>
              <a:chOff x="1267463" y="1879598"/>
              <a:chExt cx="3204670" cy="5079133"/>
            </a:xfrm>
          </p:grpSpPr>
          <p:sp>
            <p:nvSpPr>
              <p:cNvPr id="21" name="íślíḋè-Rectangle 1"/>
              <p:cNvSpPr/>
              <p:nvPr/>
            </p:nvSpPr>
            <p:spPr>
              <a:xfrm>
                <a:off x="1280442" y="1879598"/>
                <a:ext cx="3191691" cy="5079133"/>
              </a:xfrm>
              <a:prstGeom prst="rect">
                <a:avLst/>
              </a:prstGeom>
              <a:noFill/>
              <a:ln w="19050" cap="flat" cmpd="sng" algn="ctr">
                <a:solidFill>
                  <a:srgbClr val="4F81BD"/>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22" name="íślíḋè-Arrow: Pentagon 2"/>
              <p:cNvSpPr/>
              <p:nvPr/>
            </p:nvSpPr>
            <p:spPr>
              <a:xfrm rot="5400000">
                <a:off x="1749202" y="1407130"/>
                <a:ext cx="2228213" cy="3191691"/>
              </a:xfrm>
              <a:prstGeom prst="homePlate">
                <a:avLst/>
              </a:prstGeom>
              <a:solidFill>
                <a:srgbClr val="4F81BD"/>
              </a:solidFill>
              <a:ln w="25400" cap="flat" cmpd="sng" algn="ctr">
                <a:noFill/>
                <a:prstDash val="solid"/>
              </a:ln>
              <a:effectLst/>
            </p:spPr>
            <p:txBody>
              <a:bodyPr vert="vert270" wrap="none" l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23" name="íślíḋè-Freeform: Shape 20"/>
              <p:cNvSpPr/>
              <p:nvPr/>
            </p:nvSpPr>
            <p:spPr bwMode="auto">
              <a:xfrm>
                <a:off x="2498982" y="2861804"/>
                <a:ext cx="728652" cy="675052"/>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prstClr val="black"/>
                  </a:solidFill>
                  <a:effectLst/>
                  <a:uLnTx/>
                  <a:uFillTx/>
                  <a:latin typeface="+mn-lt"/>
                  <a:ea typeface="+mn-ea"/>
                  <a:cs typeface="+mn-ea"/>
                  <a:sym typeface="+mn-lt"/>
                </a:endParaRPr>
              </a:p>
            </p:txBody>
          </p:sp>
        </p:grpSp>
        <p:grpSp>
          <p:nvGrpSpPr>
            <p:cNvPr id="43014" name="组合 23"/>
            <p:cNvGrpSpPr/>
            <p:nvPr/>
          </p:nvGrpSpPr>
          <p:grpSpPr>
            <a:xfrm>
              <a:off x="3253321" y="1859481"/>
              <a:ext cx="2484351" cy="4348713"/>
              <a:chOff x="4644604" y="1879599"/>
              <a:chExt cx="2901629" cy="5079131"/>
            </a:xfrm>
          </p:grpSpPr>
          <p:sp>
            <p:nvSpPr>
              <p:cNvPr id="25" name="íślíḋè-Rectangle 6"/>
              <p:cNvSpPr/>
              <p:nvPr/>
            </p:nvSpPr>
            <p:spPr>
              <a:xfrm>
                <a:off x="4657582" y="1879599"/>
                <a:ext cx="2888651" cy="5079131"/>
              </a:xfrm>
              <a:prstGeom prst="rect">
                <a:avLst/>
              </a:prstGeom>
              <a:noFill/>
              <a:ln w="19050" cap="flat" cmpd="sng" algn="ctr">
                <a:solidFill>
                  <a:srgbClr val="C0504D"/>
                </a:solidFill>
                <a:prstDash val="solid"/>
              </a:ln>
              <a:effectLst/>
            </p:spPr>
            <p:txBody>
              <a:bodyPr tIns="2160000" anchorCtr="1">
                <a:normAutofit/>
              </a:body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solidFill>
                  <a:effectLst/>
                  <a:uLnTx/>
                  <a:uFillTx/>
                  <a:latin typeface="+mn-lt"/>
                  <a:ea typeface="+mn-ea"/>
                  <a:cs typeface="+mn-ea"/>
                  <a:sym typeface="+mn-lt"/>
                </a:endParaRPr>
              </a:p>
            </p:txBody>
          </p:sp>
          <p:sp>
            <p:nvSpPr>
              <p:cNvPr id="26" name="íślíḋè-Arrow: Pentagon 7"/>
              <p:cNvSpPr/>
              <p:nvPr/>
            </p:nvSpPr>
            <p:spPr>
              <a:xfrm rot="5400000">
                <a:off x="4976678" y="1547525"/>
                <a:ext cx="2237481" cy="2901629"/>
              </a:xfrm>
              <a:prstGeom prst="homePlate">
                <a:avLst/>
              </a:prstGeom>
              <a:solidFill>
                <a:srgbClr val="C0504D"/>
              </a:solidFill>
              <a:ln w="25400" cap="flat" cmpd="sng" algn="ctr">
                <a:noFill/>
                <a:prstDash val="solid"/>
              </a:ln>
              <a:effectLst/>
            </p:spPr>
            <p:txBody>
              <a:bodyPr vert="vert270" wrap="none" lIns="216000"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mn-lt"/>
                  <a:ea typeface="+mn-ea"/>
                  <a:cs typeface="+mn-ea"/>
                  <a:sym typeface="+mn-lt"/>
                </a:endParaRPr>
              </a:p>
            </p:txBody>
          </p:sp>
          <p:sp>
            <p:nvSpPr>
              <p:cNvPr id="27" name="íślíḋè-Freeform: Shape 21"/>
              <p:cNvSpPr/>
              <p:nvPr/>
            </p:nvSpPr>
            <p:spPr bwMode="auto">
              <a:xfrm>
                <a:off x="5744070" y="2861804"/>
                <a:ext cx="728653" cy="675052"/>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sp>
          <p:nvSpPr>
            <p:cNvPr id="522244" name="Rectangle 4"/>
            <p:cNvSpPr>
              <a:spLocks noChangeArrowheads="1"/>
            </p:cNvSpPr>
            <p:nvPr/>
          </p:nvSpPr>
          <p:spPr bwMode="auto">
            <a:xfrm>
              <a:off x="721699" y="1965822"/>
              <a:ext cx="1776351" cy="815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3000" b="0" i="0" u="none" strike="noStrike" kern="1200" cap="none" spc="0" normalizeH="0" baseline="0" noProof="0" dirty="0">
                  <a:ln>
                    <a:noFill/>
                  </a:ln>
                  <a:solidFill>
                    <a:schemeClr val="bg1"/>
                  </a:solidFill>
                  <a:effectLst/>
                  <a:uLnTx/>
                  <a:uFillTx/>
                  <a:latin typeface="+mn-lt"/>
                  <a:ea typeface="+mn-ea"/>
                  <a:cs typeface="+mn-ea"/>
                  <a:sym typeface="+mn-lt"/>
                </a:rPr>
                <a:t>malloc(m)</a:t>
              </a:r>
              <a:endParaRPr kumimoji="0" lang="zh-CN" altLang="en-US" sz="30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29" name="Rectangle 4"/>
            <p:cNvSpPr>
              <a:spLocks noChangeArrowheads="1"/>
            </p:cNvSpPr>
            <p:nvPr/>
          </p:nvSpPr>
          <p:spPr bwMode="auto">
            <a:xfrm>
              <a:off x="321310" y="3897408"/>
              <a:ext cx="2732700" cy="2310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分配 </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m</a:t>
              </a:r>
              <a:r>
                <a:rPr kumimoji="0" lang="zh-CN" altLang="en-US" sz="2800" b="0" i="0" u="none" strike="noStrike" kern="1200" cap="none" spc="0" normalizeH="0" baseline="0" noProof="0" dirty="0">
                  <a:ln>
                    <a:noFill/>
                  </a:ln>
                  <a:effectLst/>
                  <a:uLnTx/>
                  <a:uFillTx/>
                  <a:latin typeface="+mn-lt"/>
                  <a:ea typeface="+mn-ea"/>
                  <a:cs typeface="+mn-ea"/>
                  <a:sym typeface="+mn-lt"/>
                </a:rPr>
                <a:t>个</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字节长度的</a:t>
              </a:r>
              <a:r>
                <a:rPr lang="zh-CN" altLang="en-US" sz="2800" dirty="0">
                  <a:latin typeface="+mn-lt"/>
                  <a:ea typeface="+mn-ea"/>
                  <a:cs typeface="+mn-ea"/>
                  <a:sym typeface="+mn-lt"/>
                </a:rPr>
                <a:t>存储</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空间，并返回这段空间的首地址。</a:t>
              </a:r>
            </a:p>
            <a:p>
              <a:pPr marL="2286000" marR="0" lvl="0" indent="0" algn="l" defTabSz="914400" rtl="0" eaLnBrk="0" fontAlgn="base" latinLnBrk="0" hangingPunct="0">
                <a:lnSpc>
                  <a:spcPct val="15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0" name="Rectangle 4"/>
            <p:cNvSpPr>
              <a:spLocks noChangeArrowheads="1"/>
            </p:cNvSpPr>
            <p:nvPr/>
          </p:nvSpPr>
          <p:spPr bwMode="auto">
            <a:xfrm>
              <a:off x="3739786" y="1886463"/>
              <a:ext cx="1787463" cy="745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3000" b="0" i="0" u="none" strike="noStrike" kern="1200" cap="none" spc="0" normalizeH="0" baseline="0" noProof="0" dirty="0" err="1">
                  <a:ln>
                    <a:noFill/>
                  </a:ln>
                  <a:solidFill>
                    <a:schemeClr val="bg1"/>
                  </a:solidFill>
                  <a:effectLst/>
                  <a:uLnTx/>
                  <a:uFillTx/>
                  <a:latin typeface="+mn-lt"/>
                  <a:ea typeface="+mn-ea"/>
                  <a:cs typeface="+mn-ea"/>
                  <a:sym typeface="+mn-lt"/>
                </a:rPr>
                <a:t>sizeof</a:t>
              </a:r>
              <a:r>
                <a:rPr kumimoji="0" lang="en-US" altLang="zh-CN" sz="3000" b="0" i="0" u="none" strike="noStrike" kern="1200" cap="none" spc="0" normalizeH="0" baseline="0" noProof="0" dirty="0">
                  <a:ln>
                    <a:noFill/>
                  </a:ln>
                  <a:solidFill>
                    <a:schemeClr val="bg1"/>
                  </a:solidFill>
                  <a:effectLst/>
                  <a:uLnTx/>
                  <a:uFillTx/>
                  <a:latin typeface="+mn-lt"/>
                  <a:ea typeface="+mn-ea"/>
                  <a:cs typeface="+mn-ea"/>
                  <a:sym typeface="+mn-lt"/>
                </a:rPr>
                <a:t>(x)</a:t>
              </a:r>
              <a:endParaRPr kumimoji="0" lang="zh-CN" altLang="en-US" sz="30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31" name="Rectangle 4"/>
            <p:cNvSpPr>
              <a:spLocks noChangeArrowheads="1"/>
            </p:cNvSpPr>
            <p:nvPr/>
          </p:nvSpPr>
          <p:spPr bwMode="auto">
            <a:xfrm>
              <a:off x="3298516" y="3927564"/>
              <a:ext cx="2406567" cy="1387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计算变量 </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x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的长度。</a:t>
              </a:r>
            </a:p>
          </p:txBody>
        </p:sp>
        <p:sp>
          <p:nvSpPr>
            <p:cNvPr id="32" name="Rectangle 4"/>
            <p:cNvSpPr>
              <a:spLocks noChangeArrowheads="1"/>
            </p:cNvSpPr>
            <p:nvPr/>
          </p:nvSpPr>
          <p:spPr bwMode="auto">
            <a:xfrm>
              <a:off x="6797291" y="1888051"/>
              <a:ext cx="1655705" cy="744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3000" b="0" i="0" u="none" strike="noStrike" kern="1200" cap="none" spc="0" normalizeH="0" baseline="0" noProof="0" dirty="0">
                  <a:ln>
                    <a:noFill/>
                  </a:ln>
                  <a:solidFill>
                    <a:schemeClr val="bg1"/>
                  </a:solidFill>
                  <a:effectLst/>
                  <a:uLnTx/>
                  <a:uFillTx/>
                  <a:latin typeface="+mn-lt"/>
                  <a:ea typeface="+mn-ea"/>
                  <a:cs typeface="+mn-ea"/>
                  <a:sym typeface="+mn-lt"/>
                </a:rPr>
                <a:t>free(p)</a:t>
              </a:r>
              <a:endParaRPr kumimoji="0" lang="zh-CN" altLang="en-US" sz="30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33" name="Rectangle 4"/>
            <p:cNvSpPr>
              <a:spLocks noChangeArrowheads="1"/>
            </p:cNvSpPr>
            <p:nvPr/>
          </p:nvSpPr>
          <p:spPr bwMode="auto">
            <a:xfrm>
              <a:off x="6056283" y="3863283"/>
              <a:ext cx="2685157" cy="234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0" indent="-22860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释放指针 </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p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所指的存储空间。</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43" name="Rectangle 7"/>
          <p:cNvSpPr>
            <a:spLocks noChangeArrowheads="1"/>
          </p:cNvSpPr>
          <p:nvPr/>
        </p:nvSpPr>
        <p:spPr bwMode="auto">
          <a:xfrm>
            <a:off x="126998" y="5294312"/>
            <a:ext cx="8886721" cy="1245393"/>
          </a:xfrm>
          <a:prstGeom prst="rect">
            <a:avLst/>
          </a:prstGeom>
          <a:solidFill>
            <a:schemeClr val="bg2">
              <a:lumMod val="20000"/>
              <a:lumOff val="80000"/>
            </a:schemeClr>
          </a:solidFill>
          <a:ln>
            <a:solidFill>
              <a:srgbClr val="9476B6"/>
            </a:solidFill>
          </a:ln>
        </p:spPr>
        <p:txBody>
          <a:bodyPr lIns="92075" tIns="46038" rIns="92075" bIns="46038"/>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功能：</a:t>
            </a:r>
          </a:p>
          <a:p>
            <a:pPr marL="742950" marR="0" lvl="1" indent="-28575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释放指针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所指向的内存。</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必须是</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new</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操作的返回值</a:t>
            </a:r>
          </a:p>
        </p:txBody>
      </p:sp>
      <p:sp>
        <p:nvSpPr>
          <p:cNvPr id="9" name="矩形: 圆角 16"/>
          <p:cNvSpPr>
            <a:spLocks noChangeArrowheads="1"/>
          </p:cNvSpPr>
          <p:nvPr/>
        </p:nvSpPr>
        <p:spPr bwMode="auto">
          <a:xfrm>
            <a:off x="130174" y="4748213"/>
            <a:ext cx="8886825" cy="546100"/>
          </a:xfrm>
          <a:prstGeom prst="roundRect">
            <a:avLst>
              <a:gd name="adj" fmla="val 16667"/>
            </a:avLst>
          </a:prstGeom>
          <a:solidFill>
            <a:srgbClr val="7030A0"/>
          </a:solidFill>
          <a:ln>
            <a:noFill/>
          </a:ln>
        </p:spPr>
        <p:txBody>
          <a:bodyPr anchor="ct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delete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指针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p</a:t>
            </a:r>
          </a:p>
        </p:txBody>
      </p:sp>
      <p:sp>
        <p:nvSpPr>
          <p:cNvPr id="7" name="矩形: 圆角 16"/>
          <p:cNvSpPr>
            <a:spLocks noChangeArrowheads="1"/>
          </p:cNvSpPr>
          <p:nvPr/>
        </p:nvSpPr>
        <p:spPr bwMode="auto">
          <a:xfrm>
            <a:off x="130175" y="981075"/>
            <a:ext cx="8915400" cy="546100"/>
          </a:xfrm>
          <a:prstGeom prst="roundRect">
            <a:avLst>
              <a:gd name="adj" fmla="val 16667"/>
            </a:avLst>
          </a:prstGeom>
          <a:solidFill>
            <a:srgbClr val="7030A0"/>
          </a:solidFill>
          <a:ln>
            <a:noFill/>
          </a:ln>
        </p:spPr>
        <p:txBody>
          <a:bodyPr anchor="ct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new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类型名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（初始化列表）</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41986" name="Rectangle 5"/>
          <p:cNvSpPr>
            <a:spLocks noChangeArrowheads="1"/>
          </p:cNvSpPr>
          <p:nvPr/>
        </p:nvSpPr>
        <p:spPr bwMode="auto">
          <a:xfrm>
            <a:off x="130175" y="1543099"/>
            <a:ext cx="8915400" cy="2894013"/>
          </a:xfrm>
          <a:prstGeom prst="rect">
            <a:avLst/>
          </a:prstGeom>
          <a:solidFill>
            <a:schemeClr val="bg2">
              <a:lumMod val="20000"/>
              <a:lumOff val="80000"/>
            </a:schemeClr>
          </a:solidFill>
          <a:ln>
            <a:noFill/>
          </a:ln>
        </p:spPr>
        <p:txBody>
          <a:bodyPr lIns="92075" tIns="46038" rIns="92075" bIns="46038"/>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功能：</a:t>
            </a:r>
          </a:p>
          <a:p>
            <a:pPr marL="742950" marR="0" lvl="1" indent="-28575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申请用于存放 </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T </a:t>
            </a: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类型对象的内存空间，并依初值列表赋以初值</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zh-CN" sz="2400" b="0" i="0" u="none" strike="noStrike" kern="1200" cap="none" spc="0" normalizeH="0" baseline="0" noProof="0" dirty="0">
                <a:ln>
                  <a:noFill/>
                </a:ln>
                <a:solidFill>
                  <a:srgbClr val="0000FF"/>
                </a:solidFill>
                <a:effectLst/>
                <a:uLnTx/>
                <a:uFillTx/>
                <a:latin typeface="+mn-lt"/>
                <a:ea typeface="+mn-ea"/>
                <a:cs typeface="+mn-ea"/>
                <a:sym typeface="+mn-lt"/>
              </a:rPr>
              <a:t>结果值：</a:t>
            </a:r>
            <a:endPar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endParaRPr>
          </a:p>
          <a:p>
            <a:pPr marL="742950" marR="0" lvl="1" indent="-28575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成功：</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T </a:t>
            </a: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类型的指针，指向新分配的内存</a:t>
            </a:r>
            <a:endPar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endParaRPr>
          </a:p>
          <a:p>
            <a:pPr marL="742950" marR="0" lvl="1" indent="-28575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失败：0（</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NULL</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26342" name="Rectangle 6"/>
          <p:cNvSpPr>
            <a:spLocks noChangeArrowheads="1"/>
          </p:cNvSpPr>
          <p:nvPr/>
        </p:nvSpPr>
        <p:spPr bwMode="auto">
          <a:xfrm>
            <a:off x="5880243" y="3302035"/>
            <a:ext cx="3270447" cy="1134862"/>
          </a:xfrm>
          <a:prstGeom prst="rect">
            <a:avLst/>
          </a:prstGeom>
          <a:solidFill>
            <a:schemeClr val="bg1">
              <a:lumMod val="90000"/>
            </a:schemeClr>
          </a:solidFill>
          <a:ln>
            <a:noFill/>
          </a:ln>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ct val="20000"/>
              </a:spcBef>
              <a:spcAft>
                <a:spcPct val="0"/>
              </a:spcAft>
              <a:buClr>
                <a:schemeClr val="tx1"/>
              </a:buClr>
              <a:buSzTx/>
              <a:buFontTx/>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int *p1= new int;</a:t>
            </a:r>
            <a:b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b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int *p1 = new int(10);</a:t>
            </a:r>
          </a:p>
        </p:txBody>
      </p:sp>
      <p:sp>
        <p:nvSpPr>
          <p:cNvPr id="526344" name="Rectangle 8"/>
          <p:cNvSpPr>
            <a:spLocks noChangeArrowheads="1"/>
          </p:cNvSpPr>
          <p:nvPr/>
        </p:nvSpPr>
        <p:spPr bwMode="auto">
          <a:xfrm>
            <a:off x="7798417" y="5294097"/>
            <a:ext cx="1385888" cy="423863"/>
          </a:xfrm>
          <a:prstGeom prst="rect">
            <a:avLst/>
          </a:prstGeom>
          <a:solidFill>
            <a:schemeClr val="bg1">
              <a:lumMod val="90000"/>
            </a:schemeClr>
          </a:solidFill>
          <a:ln>
            <a:noFill/>
          </a:ln>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90000"/>
              </a:lnSpc>
              <a:spcBef>
                <a:spcPct val="20000"/>
              </a:spcBef>
              <a:spcAft>
                <a:spcPct val="0"/>
              </a:spcAft>
              <a:buClr>
                <a:schemeClr val="tx1"/>
              </a:buClr>
              <a:buSzTx/>
              <a:buFontTx/>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delete p1;</a:t>
            </a:r>
          </a:p>
        </p:txBody>
      </p:sp>
      <p:sp>
        <p:nvSpPr>
          <p:cNvPr id="41990" name="Rectangle 9"/>
          <p:cNvSpPr>
            <a:spLocks noChangeArrowheads="1"/>
          </p:cNvSpPr>
          <p:nvPr/>
        </p:nvSpPr>
        <p:spPr bwMode="auto">
          <a:xfrm>
            <a:off x="801688" y="186581"/>
            <a:ext cx="68040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C++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的动态存储分配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6342"/>
                                        </p:tgtEl>
                                        <p:attrNameLst>
                                          <p:attrName>style.visibility</p:attrName>
                                        </p:attrNameLst>
                                      </p:cBhvr>
                                      <p:to>
                                        <p:strVal val="visible"/>
                                      </p:to>
                                    </p:set>
                                    <p:anim calcmode="lin" valueType="num">
                                      <p:cBhvr additive="base">
                                        <p:cTn id="7" dur="500" fill="hold"/>
                                        <p:tgtEl>
                                          <p:spTgt spid="526342"/>
                                        </p:tgtEl>
                                        <p:attrNameLst>
                                          <p:attrName>ppt_x</p:attrName>
                                        </p:attrNameLst>
                                      </p:cBhvr>
                                      <p:tavLst>
                                        <p:tav tm="0">
                                          <p:val>
                                            <p:strVal val="0-#ppt_w/2"/>
                                          </p:val>
                                        </p:tav>
                                        <p:tav tm="100000">
                                          <p:val>
                                            <p:strVal val="#ppt_x"/>
                                          </p:val>
                                        </p:tav>
                                      </p:tavLst>
                                    </p:anim>
                                    <p:anim calcmode="lin" valueType="num">
                                      <p:cBhvr additive="base">
                                        <p:cTn id="8" dur="500" fill="hold"/>
                                        <p:tgtEl>
                                          <p:spTgt spid="5263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26343"/>
                                        </p:tgtEl>
                                        <p:attrNameLst>
                                          <p:attrName>style.visibility</p:attrName>
                                        </p:attrNameLst>
                                      </p:cBhvr>
                                      <p:to>
                                        <p:strVal val="visible"/>
                                      </p:to>
                                    </p:set>
                                    <p:anim calcmode="lin" valueType="num">
                                      <p:cBhvr additive="base">
                                        <p:cTn id="13" dur="500" fill="hold"/>
                                        <p:tgtEl>
                                          <p:spTgt spid="526343"/>
                                        </p:tgtEl>
                                        <p:attrNameLst>
                                          <p:attrName>ppt_x</p:attrName>
                                        </p:attrNameLst>
                                      </p:cBhvr>
                                      <p:tavLst>
                                        <p:tav tm="0">
                                          <p:val>
                                            <p:strVal val="0-#ppt_w/2"/>
                                          </p:val>
                                        </p:tav>
                                        <p:tav tm="100000">
                                          <p:val>
                                            <p:strVal val="#ppt_x"/>
                                          </p:val>
                                        </p:tav>
                                      </p:tavLst>
                                    </p:anim>
                                    <p:anim calcmode="lin" valueType="num">
                                      <p:cBhvr additive="base">
                                        <p:cTn id="14" dur="500" fill="hold"/>
                                        <p:tgtEl>
                                          <p:spTgt spid="526343"/>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26344"/>
                                        </p:tgtEl>
                                        <p:attrNameLst>
                                          <p:attrName>style.visibility</p:attrName>
                                        </p:attrNameLst>
                                      </p:cBhvr>
                                      <p:to>
                                        <p:strVal val="visible"/>
                                      </p:to>
                                    </p:set>
                                    <p:anim calcmode="lin" valueType="num">
                                      <p:cBhvr additive="base">
                                        <p:cTn id="23" dur="500" fill="hold"/>
                                        <p:tgtEl>
                                          <p:spTgt spid="526344"/>
                                        </p:tgtEl>
                                        <p:attrNameLst>
                                          <p:attrName>ppt_x</p:attrName>
                                        </p:attrNameLst>
                                      </p:cBhvr>
                                      <p:tavLst>
                                        <p:tav tm="0">
                                          <p:val>
                                            <p:strVal val="0-#ppt_w/2"/>
                                          </p:val>
                                        </p:tav>
                                        <p:tav tm="100000">
                                          <p:val>
                                            <p:strVal val="#ppt_x"/>
                                          </p:val>
                                        </p:tav>
                                      </p:tavLst>
                                    </p:anim>
                                    <p:anim calcmode="lin" valueType="num">
                                      <p:cBhvr additive="base">
                                        <p:cTn id="24" dur="500" fill="hold"/>
                                        <p:tgtEl>
                                          <p:spTgt spid="5263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43" grpId="0" animBg="1"/>
      <p:bldP spid="9" grpId="0" animBg="1"/>
      <p:bldP spid="526342" grpId="0" animBg="1"/>
      <p:bldP spid="52634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5"/>
          <p:cNvSpPr>
            <a:spLocks noGrp="1" noChangeArrowheads="1"/>
          </p:cNvSpPr>
          <p:nvPr>
            <p:ph idx="1" hasCustomPrompt="1"/>
          </p:nvPr>
        </p:nvSpPr>
        <p:spPr>
          <a:xfrm>
            <a:off x="627063" y="220663"/>
            <a:ext cx="4559300" cy="552450"/>
          </a:xfrm>
        </p:spPr>
        <p:txBody>
          <a:bodyPr vert="horz" wrap="square" lIns="91440" tIns="45720" rIns="91440" bIns="45720" numCol="1" anchor="ctr" anchorCtr="0" compatLnSpc="1"/>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4" name="Freeform 5"/>
          <p:cNvSpPr/>
          <p:nvPr/>
        </p:nvSpPr>
        <p:spPr bwMode="auto">
          <a:xfrm>
            <a:off x="4887913" y="1541463"/>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008188" y="2287588"/>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697163" y="3906838"/>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624138" y="1941513"/>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792413" y="3978275"/>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146300" y="2389188"/>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887913" y="1657350"/>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230813" y="3522663"/>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00550" y="4562475"/>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490913" y="2805113"/>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652838" y="4183063"/>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616325" y="3343275"/>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4979988" y="3089275"/>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241925" y="3773488"/>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603750" y="4491038"/>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846513" y="3160713"/>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762750" y="1462088"/>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856288" y="4011613"/>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219575" y="5383213"/>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373938" y="1433513"/>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032625" y="4740275"/>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884363" y="4616450"/>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168775" y="5884863"/>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884613" y="3440113"/>
            <a:ext cx="1204913" cy="861809"/>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473950" y="1246188"/>
            <a:ext cx="1439863" cy="554038"/>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300" normalizeH="0" baseline="0" noProof="0" dirty="0">
                <a:ln>
                  <a:noFill/>
                </a:ln>
                <a:solidFill>
                  <a:srgbClr val="FF0000"/>
                </a:solidFill>
                <a:effectLst/>
                <a:uLnTx/>
                <a:uFillTx/>
                <a:latin typeface="+mn-lt"/>
                <a:ea typeface="+mn-ea"/>
                <a:cs typeface="+mn-ea"/>
                <a:sym typeface="+mn-lt"/>
              </a:rPr>
              <a:t>初始化</a:t>
            </a:r>
          </a:p>
        </p:txBody>
      </p:sp>
      <p:sp>
        <p:nvSpPr>
          <p:cNvPr id="69" name="TextBox 200"/>
          <p:cNvSpPr txBox="1"/>
          <p:nvPr/>
        </p:nvSpPr>
        <p:spPr bwMode="auto">
          <a:xfrm>
            <a:off x="3005942" y="574516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查找</a:t>
            </a:r>
          </a:p>
        </p:txBody>
      </p:sp>
      <p:sp>
        <p:nvSpPr>
          <p:cNvPr id="70" name="TextBox 202"/>
          <p:cNvSpPr txBox="1"/>
          <p:nvPr/>
        </p:nvSpPr>
        <p:spPr bwMode="auto">
          <a:xfrm>
            <a:off x="701685" y="444976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插入</a:t>
            </a:r>
          </a:p>
        </p:txBody>
      </p:sp>
      <p:sp>
        <p:nvSpPr>
          <p:cNvPr id="71" name="TextBox 204"/>
          <p:cNvSpPr txBox="1"/>
          <p:nvPr/>
        </p:nvSpPr>
        <p:spPr bwMode="auto">
          <a:xfrm>
            <a:off x="7384267" y="4592638"/>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取值</a:t>
            </a:r>
          </a:p>
        </p:txBody>
      </p:sp>
      <p:sp>
        <p:nvSpPr>
          <p:cNvPr id="72" name="TextBox 206"/>
          <p:cNvSpPr txBox="1"/>
          <p:nvPr/>
        </p:nvSpPr>
        <p:spPr bwMode="auto">
          <a:xfrm>
            <a:off x="199242" y="2406650"/>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删除</a:t>
            </a:r>
          </a:p>
        </p:txBody>
      </p:sp>
      <p:sp>
        <p:nvSpPr>
          <p:cNvPr id="73" name="TextBox 210"/>
          <p:cNvSpPr txBox="1"/>
          <p:nvPr/>
        </p:nvSpPr>
        <p:spPr bwMode="auto">
          <a:xfrm>
            <a:off x="5534025" y="218281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657475" y="290671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057525" y="424021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619625" y="465931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495925" y="3649663"/>
            <a:ext cx="488950" cy="615950"/>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1952625" y="4673600"/>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485900" y="2652713"/>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433513" y="2622550"/>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012545"/>
            <a:ext cx="9144000" cy="4467769"/>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50000"/>
              </a:lnSpc>
              <a:spcBef>
                <a:spcPct val="20000"/>
              </a:spcBef>
              <a:spcAft>
                <a:spcPct val="0"/>
              </a:spcAft>
              <a:buClrTx/>
              <a:buSzTx/>
              <a:buFontTx/>
              <a:buNone/>
              <a:defRPr/>
            </a:pPr>
            <a:endPar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5298" name="Rectangle 6"/>
          <p:cNvSpPr>
            <a:spLocks noChangeArrowheads="1"/>
          </p:cNvSpPr>
          <p:nvPr/>
        </p:nvSpPr>
        <p:spPr bwMode="auto">
          <a:xfrm>
            <a:off x="755650" y="188913"/>
            <a:ext cx="561657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初始化线性表</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L</a:t>
            </a:r>
            <a:endPar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55299" name="Rectangle 8"/>
          <p:cNvSpPr>
            <a:spLocks noChangeArrowheads="1"/>
          </p:cNvSpPr>
          <p:nvPr/>
        </p:nvSpPr>
        <p:spPr bwMode="auto">
          <a:xfrm>
            <a:off x="89756" y="1052736"/>
            <a:ext cx="8964488"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a:lnSpc>
                <a:spcPct val="150000"/>
              </a:lnSpc>
              <a:spcBef>
                <a:spcPct val="20000"/>
              </a:spcBef>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b="0" i="0" u="none" strike="noStrike" kern="1200" cap="none" spc="0" normalizeH="0" baseline="0" noProof="0" dirty="0" err="1">
                <a:ln>
                  <a:noFill/>
                </a:ln>
                <a:solidFill>
                  <a:srgbClr val="FF0000"/>
                </a:solidFill>
                <a:effectLst/>
                <a:uLnTx/>
                <a:uFillTx/>
                <a:latin typeface="+mn-lt"/>
                <a:ea typeface="+mn-ea"/>
                <a:cs typeface="+mn-ea"/>
                <a:sym typeface="+mn-lt"/>
              </a:rPr>
              <a:t>InitList_Sq</a:t>
            </a:r>
            <a:r>
              <a:rPr kumimoji="0" lang="en-US" altLang="zh-CN"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&amp;L) {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构造一个空的顺序表</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L</a:t>
            </a:r>
          </a:p>
          <a:p>
            <a:pPr marL="609600" marR="0" lvl="0" indent="-6096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err="1">
                <a:ln>
                  <a:noFill/>
                </a:ln>
                <a:solidFill>
                  <a:srgbClr val="0000FF"/>
                </a:solidFill>
                <a:effectLst/>
                <a:uLnTx/>
                <a:uFillTx/>
                <a:latin typeface="+mn-lt"/>
                <a:ea typeface="+mn-ea"/>
                <a:cs typeface="+mn-ea"/>
                <a:sym typeface="+mn-lt"/>
              </a:rPr>
              <a:t>L.elem</a:t>
            </a:r>
            <a:r>
              <a:rPr kumimoji="0" lang="en-US" altLang="zh-CN" b="0" i="0" u="none" strike="noStrike" kern="1200" cap="none" spc="0" normalizeH="0" baseline="0" noProof="0" dirty="0">
                <a:ln>
                  <a:noFill/>
                </a:ln>
                <a:solidFill>
                  <a:srgbClr val="0000FF"/>
                </a:solidFill>
                <a:effectLst/>
                <a:uLnTx/>
                <a:uFillTx/>
                <a:latin typeface="+mn-lt"/>
                <a:ea typeface="+mn-ea"/>
                <a:cs typeface="+mn-ea"/>
                <a:sym typeface="+mn-lt"/>
              </a:rPr>
              <a:t> = new </a:t>
            </a:r>
            <a:r>
              <a:rPr kumimoji="0" lang="en-US" altLang="zh-CN" b="0" i="0" u="none" strike="noStrike" kern="1200" cap="none" spc="0" normalizeH="0" baseline="0" noProof="0" dirty="0" err="1">
                <a:ln>
                  <a:noFill/>
                </a:ln>
                <a:solidFill>
                  <a:srgbClr val="0000FF"/>
                </a:solidFill>
                <a:effectLst/>
                <a:uLnTx/>
                <a:uFillTx/>
                <a:latin typeface="+mn-lt"/>
                <a:ea typeface="+mn-ea"/>
                <a:cs typeface="+mn-ea"/>
                <a:sym typeface="+mn-lt"/>
              </a:rPr>
              <a:t>ElemType</a:t>
            </a:r>
            <a:r>
              <a:rPr kumimoji="0" lang="en-US" altLang="zh-CN" b="0" i="0" u="none" strike="noStrike" kern="1200" cap="none" spc="0" normalizeH="0" baseline="0" noProof="0" dirty="0">
                <a:ln>
                  <a:noFill/>
                </a:ln>
                <a:solidFill>
                  <a:srgbClr val="0000FF"/>
                </a:solidFill>
                <a:effectLst/>
                <a:uLnTx/>
                <a:uFillTx/>
                <a:latin typeface="+mn-lt"/>
                <a:ea typeface="+mn-ea"/>
                <a:cs typeface="+mn-ea"/>
                <a:sym typeface="+mn-lt"/>
              </a:rPr>
              <a:t>[LIST_INIT_SIZE];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为顺序表分配空间</a:t>
            </a:r>
          </a:p>
          <a:p>
            <a:pPr marL="609600" marR="0" lvl="0" indent="-609600" algn="l" defTabSz="914400" rtl="0" eaLnBrk="0" fontAlgn="base" latinLnBrk="0" hangingPunct="0">
              <a:lnSpc>
                <a:spcPct val="150000"/>
              </a:lnSpc>
              <a:spcBef>
                <a:spcPct val="20000"/>
              </a:spcBef>
              <a:spcAft>
                <a:spcPct val="0"/>
              </a:spcAft>
              <a:buClrTx/>
              <a:buSzTx/>
              <a:buFontTx/>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if(!</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exit(OVERFLOW);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存储分配失败</a:t>
            </a:r>
          </a:p>
          <a:p>
            <a:pPr marL="609600" marR="0" lvl="0" indent="-609600" algn="l" defTabSz="914400" rtl="0" eaLnBrk="0" fontAlgn="base" latinLnBrk="0" hangingPunct="0">
              <a:lnSpc>
                <a:spcPct val="150000"/>
              </a:lnSpc>
              <a:spcBef>
                <a:spcPct val="20000"/>
              </a:spcBef>
              <a:spcAft>
                <a:spcPct val="0"/>
              </a:spcAft>
              <a:buClrTx/>
              <a:buSzTx/>
              <a:buFontTx/>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0;		</a:t>
            </a:r>
            <a:r>
              <a:rPr lang="en-US" altLang="zh-CN" dirty="0">
                <a:latin typeface="+mn-lt"/>
                <a:ea typeface="+mn-ea"/>
                <a:cs typeface="+mn-ea"/>
                <a:sym typeface="+mn-lt"/>
              </a:rPr>
              <a:t>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空表长度为</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0</a:t>
            </a:r>
          </a:p>
          <a:p>
            <a:pPr marL="609600" marR="0" lvl="0" indent="-6096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L.listsize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LIST_INIT_SIZE;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初始存储容量</a:t>
            </a:r>
            <a:endPar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endParaRPr>
          </a:p>
          <a:p>
            <a:pPr marL="609600" marR="0" lvl="0" indent="-6096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609600" marR="0" lvl="0" indent="-6096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3" name="文本框 2">
            <a:extLst>
              <a:ext uri="{FF2B5EF4-FFF2-40B4-BE49-F238E27FC236}">
                <a16:creationId xmlns:a16="http://schemas.microsoft.com/office/drawing/2014/main" id="{94301191-5E88-462A-8A4C-07E6E19D85E2}"/>
              </a:ext>
            </a:extLst>
          </p:cNvPr>
          <p:cNvSpPr txBox="1"/>
          <p:nvPr/>
        </p:nvSpPr>
        <p:spPr>
          <a:xfrm>
            <a:off x="161764" y="5589240"/>
            <a:ext cx="8820472" cy="961289"/>
          </a:xfrm>
          <a:prstGeom prst="rect">
            <a:avLst/>
          </a:prstGeom>
          <a:noFill/>
        </p:spPr>
        <p:txBody>
          <a:bodyPr wrap="square" rtlCol="0">
            <a:spAutoFit/>
          </a:bodyPr>
          <a:lstStyle/>
          <a:p>
            <a:pPr>
              <a:lnSpc>
                <a:spcPct val="150000"/>
              </a:lnSpc>
            </a:pPr>
            <a:r>
              <a:rPr lang="zh-CN" altLang="en-US" sz="2000" dirty="0">
                <a:latin typeface="+mn-ea"/>
                <a:ea typeface="+mn-ea"/>
              </a:rPr>
              <a:t>动态分配命令</a:t>
            </a:r>
            <a:r>
              <a:rPr lang="en-US" altLang="zh-CN" sz="2000" dirty="0">
                <a:solidFill>
                  <a:srgbClr val="FF0000"/>
                </a:solidFill>
                <a:latin typeface="+mn-ea"/>
                <a:ea typeface="+mn-ea"/>
              </a:rPr>
              <a:t>new</a:t>
            </a:r>
            <a:r>
              <a:rPr lang="zh-CN" altLang="en-US" sz="2000" dirty="0">
                <a:latin typeface="+mn-ea"/>
                <a:ea typeface="+mn-ea"/>
              </a:rPr>
              <a:t>是</a:t>
            </a:r>
            <a:r>
              <a:rPr lang="en-US" altLang="zh-CN" sz="2000" dirty="0">
                <a:latin typeface="+mn-ea"/>
                <a:ea typeface="+mn-ea"/>
              </a:rPr>
              <a:t>Pascal</a:t>
            </a:r>
            <a:r>
              <a:rPr lang="zh-CN" altLang="en-US" sz="2000" dirty="0">
                <a:latin typeface="+mn-ea"/>
                <a:ea typeface="+mn-ea"/>
              </a:rPr>
              <a:t>、</a:t>
            </a:r>
            <a:r>
              <a:rPr lang="en-US" altLang="zh-CN" sz="2000" dirty="0">
                <a:latin typeface="+mn-ea"/>
                <a:ea typeface="+mn-ea"/>
              </a:rPr>
              <a:t>C++</a:t>
            </a:r>
            <a:r>
              <a:rPr lang="zh-CN" altLang="en-US" sz="2000" dirty="0">
                <a:latin typeface="+mn-ea"/>
                <a:ea typeface="+mn-ea"/>
              </a:rPr>
              <a:t>、</a:t>
            </a:r>
            <a:r>
              <a:rPr lang="en-US" altLang="zh-CN" sz="2000" dirty="0">
                <a:latin typeface="+mn-ea"/>
                <a:ea typeface="+mn-ea"/>
              </a:rPr>
              <a:t>Java</a:t>
            </a:r>
            <a:r>
              <a:rPr lang="zh-CN" altLang="en-US" sz="2000" dirty="0">
                <a:latin typeface="+mn-ea"/>
                <a:ea typeface="+mn-ea"/>
              </a:rPr>
              <a:t>常用的语句。它的作用与</a:t>
            </a:r>
            <a:r>
              <a:rPr lang="en-US" altLang="zh-CN" sz="2000" dirty="0">
                <a:latin typeface="+mn-ea"/>
                <a:ea typeface="+mn-ea"/>
              </a:rPr>
              <a:t>C</a:t>
            </a:r>
            <a:r>
              <a:rPr lang="zh-CN" altLang="en-US" sz="2000" dirty="0">
                <a:latin typeface="+mn-ea"/>
                <a:ea typeface="+mn-ea"/>
              </a:rPr>
              <a:t>的</a:t>
            </a:r>
            <a:r>
              <a:rPr lang="en-US" altLang="zh-CN" sz="2000" dirty="0">
                <a:solidFill>
                  <a:srgbClr val="FF0000"/>
                </a:solidFill>
                <a:latin typeface="+mn-ea"/>
                <a:ea typeface="+mn-ea"/>
              </a:rPr>
              <a:t>malloc</a:t>
            </a:r>
            <a:r>
              <a:rPr lang="zh-CN" altLang="en-US" sz="2000" dirty="0">
                <a:latin typeface="+mn-ea"/>
                <a:ea typeface="+mn-ea"/>
              </a:rPr>
              <a:t>命令等效，但比</a:t>
            </a:r>
            <a:r>
              <a:rPr lang="en-US" altLang="zh-CN" sz="2000" dirty="0">
                <a:latin typeface="+mn-ea"/>
                <a:ea typeface="+mn-ea"/>
              </a:rPr>
              <a:t>malloc</a:t>
            </a:r>
            <a:r>
              <a:rPr lang="zh-CN" altLang="en-US" sz="2000" dirty="0">
                <a:latin typeface="+mn-ea"/>
                <a:ea typeface="+mn-ea"/>
              </a:rPr>
              <a:t>简洁。它</a:t>
            </a:r>
            <a:r>
              <a:rPr lang="zh-CN" altLang="en-US" sz="2000" dirty="0">
                <a:solidFill>
                  <a:srgbClr val="0000FF"/>
                </a:solidFill>
                <a:latin typeface="+mn-ea"/>
                <a:ea typeface="+mn-ea"/>
              </a:rPr>
              <a:t>不用计算分配字节数</a:t>
            </a:r>
            <a:r>
              <a:rPr lang="zh-CN" altLang="en-US" sz="2000" dirty="0">
                <a:latin typeface="+mn-ea"/>
                <a:ea typeface="+mn-ea"/>
              </a:rPr>
              <a:t>，</a:t>
            </a:r>
            <a:r>
              <a:rPr lang="zh-CN" altLang="en-US" sz="2000" dirty="0">
                <a:solidFill>
                  <a:srgbClr val="0000FF"/>
                </a:solidFill>
                <a:latin typeface="+mn-ea"/>
                <a:ea typeface="+mn-ea"/>
              </a:rPr>
              <a:t>不用做指针转换</a:t>
            </a:r>
            <a:r>
              <a:rPr lang="zh-CN" altLang="en-US" sz="2000" dirty="0">
                <a:latin typeface="+mn-ea"/>
                <a:ea typeface="+mn-ea"/>
              </a:rPr>
              <a:t>。</a:t>
            </a:r>
          </a:p>
        </p:txBody>
      </p:sp>
      <p:sp>
        <p:nvSpPr>
          <p:cNvPr id="6" name="AutoShape 52">
            <a:extLst>
              <a:ext uri="{FF2B5EF4-FFF2-40B4-BE49-F238E27FC236}">
                <a16:creationId xmlns:a16="http://schemas.microsoft.com/office/drawing/2014/main" id="{CA4EF7F3-8B70-4B9F-B20B-065A6F9E1EFC}"/>
              </a:ext>
            </a:extLst>
          </p:cNvPr>
          <p:cNvSpPr/>
          <p:nvPr/>
        </p:nvSpPr>
        <p:spPr>
          <a:xfrm flipV="1">
            <a:off x="375260" y="3377248"/>
            <a:ext cx="8748464" cy="658070"/>
          </a:xfrm>
          <a:prstGeom prst="wedgeRoundRectCallout">
            <a:avLst>
              <a:gd name="adj1" fmla="val -31966"/>
              <a:gd name="adj2" fmla="val 221091"/>
              <a:gd name="adj3" fmla="val 16667"/>
            </a:avLst>
          </a:prstGeom>
          <a:solidFill>
            <a:schemeClr val="bg1"/>
          </a:solidFill>
          <a:ln w="34925">
            <a:noFill/>
          </a:ln>
        </p:spPr>
        <p:txBody>
          <a:bodyPr rot="1080000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eaLnBrk="1" hangingPunct="1">
              <a:lnSpc>
                <a:spcPct val="150000"/>
              </a:lnSpc>
              <a:spcBef>
                <a:spcPct val="50000"/>
              </a:spcBef>
            </a:pPr>
            <a:r>
              <a:rPr lang="en-US" altLang="zh-CN" dirty="0" err="1">
                <a:solidFill>
                  <a:srgbClr val="0000FF"/>
                </a:solidFill>
                <a:sym typeface="+mn-lt"/>
              </a:rPr>
              <a:t>L.elem</a:t>
            </a:r>
            <a:r>
              <a:rPr lang="en-US" altLang="zh-CN" dirty="0">
                <a:solidFill>
                  <a:srgbClr val="0000FF"/>
                </a:solidFill>
                <a:sym typeface="+mn-lt"/>
              </a:rPr>
              <a:t> = (</a:t>
            </a:r>
            <a:r>
              <a:rPr lang="en-US" altLang="zh-CN" dirty="0" err="1">
                <a:solidFill>
                  <a:srgbClr val="0000FF"/>
                </a:solidFill>
                <a:sym typeface="+mn-lt"/>
              </a:rPr>
              <a:t>ElemType</a:t>
            </a:r>
            <a:r>
              <a:rPr lang="en-US" altLang="zh-CN" dirty="0">
                <a:solidFill>
                  <a:srgbClr val="0000FF"/>
                </a:solidFill>
                <a:sym typeface="+mn-lt"/>
              </a:rPr>
              <a:t>*) malloc (LIST_INIT_SIZE*</a:t>
            </a:r>
            <a:r>
              <a:rPr lang="en-US" altLang="zh-CN" dirty="0" err="1">
                <a:solidFill>
                  <a:srgbClr val="0000FF"/>
                </a:solidFill>
                <a:sym typeface="+mn-lt"/>
              </a:rPr>
              <a:t>sizeof</a:t>
            </a:r>
            <a:r>
              <a:rPr lang="en-US" altLang="zh-CN" dirty="0">
                <a:solidFill>
                  <a:srgbClr val="0000FF"/>
                </a:solidFill>
                <a:sym typeface="+mn-lt"/>
              </a:rPr>
              <a:t>(</a:t>
            </a:r>
            <a:r>
              <a:rPr lang="en-US" altLang="zh-CN" dirty="0" err="1">
                <a:solidFill>
                  <a:srgbClr val="0000FF"/>
                </a:solidFill>
                <a:sym typeface="+mn-lt"/>
              </a:rPr>
              <a:t>ElemType</a:t>
            </a:r>
            <a:r>
              <a:rPr lang="en-US" altLang="zh-CN" dirty="0">
                <a:solidFill>
                  <a:srgbClr val="0000FF"/>
                </a:solidFill>
                <a:sym typeface="+mn-lt"/>
              </a:rPr>
              <a:t>));</a:t>
            </a:r>
          </a:p>
        </p:txBody>
      </p:sp>
      <p:sp>
        <p:nvSpPr>
          <p:cNvPr id="4" name="文本框 3">
            <a:extLst>
              <a:ext uri="{FF2B5EF4-FFF2-40B4-BE49-F238E27FC236}">
                <a16:creationId xmlns:a16="http://schemas.microsoft.com/office/drawing/2014/main" id="{B6B53348-8A1F-4FC8-9A0C-03ACCA5B3790}"/>
              </a:ext>
            </a:extLst>
          </p:cNvPr>
          <p:cNvSpPr txBox="1"/>
          <p:nvPr/>
        </p:nvSpPr>
        <p:spPr>
          <a:xfrm>
            <a:off x="6516216" y="4605931"/>
            <a:ext cx="2646878" cy="584775"/>
          </a:xfrm>
          <a:prstGeom prst="rect">
            <a:avLst/>
          </a:prstGeom>
          <a:noFill/>
        </p:spPr>
        <p:txBody>
          <a:bodyPr wrap="none" rtlCol="0">
            <a:spAutoFit/>
          </a:bodyPr>
          <a:lstStyle/>
          <a:p>
            <a:r>
              <a:rPr lang="zh-CN" altLang="en-US" sz="3200" dirty="0">
                <a:solidFill>
                  <a:srgbClr val="FF0000"/>
                </a:solidFill>
                <a:latin typeface="华文新魏" panose="02010800040101010101" pitchFamily="2" charset="-122"/>
                <a:ea typeface="华文新魏" panose="02010800040101010101" pitchFamily="2" charset="-122"/>
              </a:rPr>
              <a:t>时间复杂度？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80">
                                          <p:stCondLst>
                                            <p:cond delay="0"/>
                                          </p:stCondLst>
                                        </p:cTn>
                                        <p:tgtEl>
                                          <p:spTgt spid="4"/>
                                        </p:tgtEl>
                                      </p:cBhvr>
                                    </p:animEffect>
                                    <p:anim calcmode="lin" valueType="num">
                                      <p:cBhvr>
                                        <p:cTn id="2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5" dur="26">
                                          <p:stCondLst>
                                            <p:cond delay="650"/>
                                          </p:stCondLst>
                                        </p:cTn>
                                        <p:tgtEl>
                                          <p:spTgt spid="4"/>
                                        </p:tgtEl>
                                      </p:cBhvr>
                                      <p:to x="100000" y="60000"/>
                                    </p:animScale>
                                    <p:animScale>
                                      <p:cBhvr>
                                        <p:cTn id="26" dur="166" decel="50000">
                                          <p:stCondLst>
                                            <p:cond delay="676"/>
                                          </p:stCondLst>
                                        </p:cTn>
                                        <p:tgtEl>
                                          <p:spTgt spid="4"/>
                                        </p:tgtEl>
                                      </p:cBhvr>
                                      <p:to x="100000" y="100000"/>
                                    </p:animScale>
                                    <p:animScale>
                                      <p:cBhvr>
                                        <p:cTn id="27" dur="26">
                                          <p:stCondLst>
                                            <p:cond delay="1312"/>
                                          </p:stCondLst>
                                        </p:cTn>
                                        <p:tgtEl>
                                          <p:spTgt spid="4"/>
                                        </p:tgtEl>
                                      </p:cBhvr>
                                      <p:to x="100000" y="80000"/>
                                    </p:animScale>
                                    <p:animScale>
                                      <p:cBhvr>
                                        <p:cTn id="28" dur="166" decel="50000">
                                          <p:stCondLst>
                                            <p:cond delay="1338"/>
                                          </p:stCondLst>
                                        </p:cTn>
                                        <p:tgtEl>
                                          <p:spTgt spid="4"/>
                                        </p:tgtEl>
                                      </p:cBhvr>
                                      <p:to x="100000" y="100000"/>
                                    </p:animScale>
                                    <p:animScale>
                                      <p:cBhvr>
                                        <p:cTn id="29" dur="26">
                                          <p:stCondLst>
                                            <p:cond delay="1642"/>
                                          </p:stCondLst>
                                        </p:cTn>
                                        <p:tgtEl>
                                          <p:spTgt spid="4"/>
                                        </p:tgtEl>
                                      </p:cBhvr>
                                      <p:to x="100000" y="90000"/>
                                    </p:animScale>
                                    <p:animScale>
                                      <p:cBhvr>
                                        <p:cTn id="30" dur="166" decel="50000">
                                          <p:stCondLst>
                                            <p:cond delay="1668"/>
                                          </p:stCondLst>
                                        </p:cTn>
                                        <p:tgtEl>
                                          <p:spTgt spid="4"/>
                                        </p:tgtEl>
                                      </p:cBhvr>
                                      <p:to x="100000" y="100000"/>
                                    </p:animScale>
                                    <p:animScale>
                                      <p:cBhvr>
                                        <p:cTn id="31" dur="26">
                                          <p:stCondLst>
                                            <p:cond delay="1808"/>
                                          </p:stCondLst>
                                        </p:cTn>
                                        <p:tgtEl>
                                          <p:spTgt spid="4"/>
                                        </p:tgtEl>
                                      </p:cBhvr>
                                      <p:to x="100000" y="95000"/>
                                    </p:animScale>
                                    <p:animScale>
                                      <p:cBhvr>
                                        <p:cTn id="32"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251521" y="2408660"/>
            <a:ext cx="4410968" cy="3289052"/>
          </a:xfrm>
          <a:prstGeom prst="rect">
            <a:avLst/>
          </a:prstGeom>
          <a:solidFill>
            <a:srgbClr val="E2D9EB"/>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DestroyList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&amp;L)</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delete []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释放存储空间</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458757" name="Rectangle 5"/>
          <p:cNvSpPr>
            <a:spLocks noChangeArrowheads="1"/>
          </p:cNvSpPr>
          <p:nvPr/>
        </p:nvSpPr>
        <p:spPr bwMode="auto">
          <a:xfrm>
            <a:off x="4897521" y="2451181"/>
            <a:ext cx="3994958" cy="3246530"/>
          </a:xfrm>
          <a:prstGeom prst="rect">
            <a:avLst/>
          </a:prstGeom>
          <a:solidFill>
            <a:srgbClr val="B8D4EC"/>
          </a:solidFill>
          <a:ln>
            <a:noFill/>
          </a:ln>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ClearList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&amp;L) </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0;               </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将线性表的长度置为</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0</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7348" name="Rectangle 6"/>
          <p:cNvSpPr>
            <a:spLocks noChangeArrowheads="1"/>
          </p:cNvSpPr>
          <p:nvPr/>
        </p:nvSpPr>
        <p:spPr bwMode="auto">
          <a:xfrm>
            <a:off x="842963" y="206375"/>
            <a:ext cx="742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sp>
        <p:nvSpPr>
          <p:cNvPr id="9" name="矩形: 圆角 16"/>
          <p:cNvSpPr>
            <a:spLocks noChangeArrowheads="1"/>
          </p:cNvSpPr>
          <p:nvPr/>
        </p:nvSpPr>
        <p:spPr bwMode="auto">
          <a:xfrm>
            <a:off x="251521" y="1726034"/>
            <a:ext cx="4410967"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 name="Rectangle 4"/>
          <p:cNvSpPr>
            <a:spLocks noChangeArrowheads="1"/>
          </p:cNvSpPr>
          <p:nvPr/>
        </p:nvSpPr>
        <p:spPr bwMode="auto">
          <a:xfrm>
            <a:off x="251521" y="1727287"/>
            <a:ext cx="4410967" cy="504825"/>
          </a:xfrm>
          <a:prstGeom prst="rect">
            <a:avLst/>
          </a:prstGeom>
          <a:noFill/>
          <a:ln>
            <a:noFill/>
          </a:ln>
        </p:spPr>
        <p:txBody>
          <a:bodyPr anchor="ct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ctr" defTabSz="914400" rtl="0" eaLnBrk="0" fontAlgn="base" latinLnBrk="0" hangingPunct="0">
              <a:lnSpc>
                <a:spcPct val="110000"/>
              </a:lnSpc>
              <a:spcBef>
                <a:spcPts val="300"/>
              </a:spcBef>
              <a:spcAft>
                <a:spcPct val="0"/>
              </a:spcAft>
              <a:buClrTx/>
              <a:buSzTx/>
              <a:buFontTx/>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销毁线性表</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grpSp>
        <p:nvGrpSpPr>
          <p:cNvPr id="2" name="组合 1"/>
          <p:cNvGrpSpPr/>
          <p:nvPr/>
        </p:nvGrpSpPr>
        <p:grpSpPr>
          <a:xfrm>
            <a:off x="4874960" y="1707639"/>
            <a:ext cx="3989512" cy="523220"/>
            <a:chOff x="4851400" y="1666875"/>
            <a:chExt cx="3773488" cy="523220"/>
          </a:xfrm>
        </p:grpSpPr>
        <p:sp>
          <p:nvSpPr>
            <p:cNvPr id="10" name="矩形: 圆角 16"/>
            <p:cNvSpPr>
              <a:spLocks noChangeArrowheads="1"/>
            </p:cNvSpPr>
            <p:nvPr/>
          </p:nvSpPr>
          <p:spPr bwMode="auto">
            <a:xfrm>
              <a:off x="4851400" y="1666875"/>
              <a:ext cx="377031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Tx/>
                <a:buNone/>
                <a:defRPr/>
              </a:pPr>
              <a:endParaRPr kumimoji="1" lang="zh-CN" altLang="en-US"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2" name="Rectangle 5"/>
            <p:cNvSpPr>
              <a:spLocks noChangeArrowheads="1"/>
            </p:cNvSpPr>
            <p:nvPr/>
          </p:nvSpPr>
          <p:spPr bwMode="auto">
            <a:xfrm>
              <a:off x="4879975" y="1666875"/>
              <a:ext cx="3744913" cy="523220"/>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ctr"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清空线性表</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8757"/>
                                        </p:tgtEl>
                                        <p:attrNameLst>
                                          <p:attrName>style.visibility</p:attrName>
                                        </p:attrNameLst>
                                      </p:cBhvr>
                                      <p:to>
                                        <p:strVal val="visible"/>
                                      </p:to>
                                    </p:set>
                                    <p:anim calcmode="lin" valueType="num">
                                      <p:cBhvr additive="base">
                                        <p:cTn id="13" dur="500" fill="hold"/>
                                        <p:tgtEl>
                                          <p:spTgt spid="458757"/>
                                        </p:tgtEl>
                                        <p:attrNameLst>
                                          <p:attrName>ppt_x</p:attrName>
                                        </p:attrNameLst>
                                      </p:cBhvr>
                                      <p:tavLst>
                                        <p:tav tm="0">
                                          <p:val>
                                            <p:strVal val="#ppt_x"/>
                                          </p:val>
                                        </p:tav>
                                        <p:tav tm="100000">
                                          <p:val>
                                            <p:strVal val="#ppt_x"/>
                                          </p:val>
                                        </p:tav>
                                      </p:tavLst>
                                    </p:anim>
                                    <p:anim calcmode="lin" valueType="num">
                                      <p:cBhvr additive="base">
                                        <p:cTn id="14" dur="500" fill="hold"/>
                                        <p:tgtEl>
                                          <p:spTgt spid="4587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6"/>
          <p:cNvSpPr>
            <a:spLocks noChangeArrowheads="1"/>
          </p:cNvSpPr>
          <p:nvPr/>
        </p:nvSpPr>
        <p:spPr bwMode="auto">
          <a:xfrm>
            <a:off x="827088" y="201613"/>
            <a:ext cx="74295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补充：几个简单基本操作的算法实现</a:t>
            </a:r>
          </a:p>
        </p:txBody>
      </p:sp>
      <p:sp>
        <p:nvSpPr>
          <p:cNvPr id="5" name="Rectangle 4"/>
          <p:cNvSpPr>
            <a:spLocks noChangeArrowheads="1"/>
          </p:cNvSpPr>
          <p:nvPr/>
        </p:nvSpPr>
        <p:spPr bwMode="auto">
          <a:xfrm>
            <a:off x="323528" y="2602198"/>
            <a:ext cx="4176713" cy="2597458"/>
          </a:xfrm>
          <a:prstGeom prst="rect">
            <a:avLst/>
          </a:prstGeom>
          <a:solidFill>
            <a:srgbClr val="E2D9EB"/>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ListLength</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L)</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 name="Rectangle 5"/>
          <p:cNvSpPr>
            <a:spLocks noChangeArrowheads="1"/>
          </p:cNvSpPr>
          <p:nvPr/>
        </p:nvSpPr>
        <p:spPr bwMode="auto">
          <a:xfrm>
            <a:off x="4787775" y="2599457"/>
            <a:ext cx="4176713" cy="2600199"/>
          </a:xfrm>
          <a:prstGeom prst="rect">
            <a:avLst/>
          </a:prstGeom>
          <a:solidFill>
            <a:srgbClr val="B8D4EC"/>
          </a:solidFill>
          <a:ln>
            <a:noFill/>
          </a:ln>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a:t>
            </a:r>
            <a:r>
              <a:rPr lang="en-US" altLang="zh-CN" sz="2800" dirty="0">
                <a:solidFill>
                  <a:srgbClr val="FF0000"/>
                </a:solidFill>
                <a:latin typeface="+mn-lt"/>
                <a:ea typeface="+mn-ea"/>
                <a:cs typeface="+mn-ea"/>
                <a:sym typeface="+mn-lt"/>
              </a:rPr>
              <a:t>List</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Empty</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L)</a:t>
            </a:r>
            <a:r>
              <a:rPr kumimoji="0" lang="en-US" altLang="zh-CN" sz="2800" b="0" i="0" u="none" strike="noStrike" kern="1200" cap="none" spc="0" normalizeH="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==0) return 1;      </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else return 0;</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 name="矩形: 圆角 16"/>
          <p:cNvSpPr>
            <a:spLocks noChangeArrowheads="1"/>
          </p:cNvSpPr>
          <p:nvPr/>
        </p:nvSpPr>
        <p:spPr bwMode="auto">
          <a:xfrm>
            <a:off x="347341" y="1919573"/>
            <a:ext cx="4152900"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 name="Rectangle 4"/>
          <p:cNvSpPr>
            <a:spLocks noChangeArrowheads="1"/>
          </p:cNvSpPr>
          <p:nvPr/>
        </p:nvSpPr>
        <p:spPr bwMode="auto">
          <a:xfrm>
            <a:off x="356865" y="1916832"/>
            <a:ext cx="4143376" cy="504825"/>
          </a:xfrm>
          <a:prstGeom prst="rect">
            <a:avLst/>
          </a:prstGeom>
          <a:no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ctr" defTabSz="914400" rtl="0" eaLnBrk="0" fontAlgn="base" latinLnBrk="0" hangingPunct="0">
              <a:lnSpc>
                <a:spcPct val="110000"/>
              </a:lnSpc>
              <a:spcBef>
                <a:spcPts val="3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求线性表的长度</a:t>
            </a:r>
          </a:p>
        </p:txBody>
      </p:sp>
      <p:grpSp>
        <p:nvGrpSpPr>
          <p:cNvPr id="2" name="组合 1"/>
          <p:cNvGrpSpPr/>
          <p:nvPr/>
        </p:nvGrpSpPr>
        <p:grpSpPr>
          <a:xfrm>
            <a:off x="4787775" y="1916832"/>
            <a:ext cx="4176713" cy="524808"/>
            <a:chOff x="4851400" y="2095500"/>
            <a:chExt cx="3773488" cy="524808"/>
          </a:xfrm>
        </p:grpSpPr>
        <p:sp>
          <p:nvSpPr>
            <p:cNvPr id="8" name="矩形: 圆角 16"/>
            <p:cNvSpPr>
              <a:spLocks noChangeArrowheads="1"/>
            </p:cNvSpPr>
            <p:nvPr/>
          </p:nvSpPr>
          <p:spPr bwMode="auto">
            <a:xfrm>
              <a:off x="4851400" y="2095500"/>
              <a:ext cx="377031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ctr" defTabSz="914400" rtl="0" eaLnBrk="0" fontAlgn="base" latinLnBrk="0" hangingPunct="0">
                <a:lnSpc>
                  <a:spcPct val="100000"/>
                </a:lnSpc>
                <a:spcBef>
                  <a:spcPct val="20000"/>
                </a:spcBef>
                <a:spcAft>
                  <a:spcPct val="0"/>
                </a:spcAft>
                <a:buClrTx/>
                <a:buSzTx/>
                <a:buFontTx/>
                <a:buNone/>
                <a:defRPr/>
              </a:pPr>
              <a:endParaRPr kumimoji="1"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 name="Rectangle 5"/>
            <p:cNvSpPr>
              <a:spLocks noChangeArrowheads="1"/>
            </p:cNvSpPr>
            <p:nvPr/>
          </p:nvSpPr>
          <p:spPr bwMode="auto">
            <a:xfrm>
              <a:off x="4879975" y="2097088"/>
              <a:ext cx="3744913" cy="523220"/>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ctr"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判断线性表是否为空</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5"/>
          <p:cNvSpPr>
            <a:spLocks noGrp="1" noChangeArrowheads="1"/>
          </p:cNvSpPr>
          <p:nvPr>
            <p:ph idx="1" hasCustomPrompt="1"/>
          </p:nvPr>
        </p:nvSpPr>
        <p:spPr>
          <a:xfrm>
            <a:off x="627063" y="220663"/>
            <a:ext cx="4559300" cy="552450"/>
          </a:xfrm>
        </p:spPr>
        <p:txBody>
          <a:bodyPr vert="horz" wrap="square" lIns="91440" tIns="45720" rIns="91440" bIns="45720" numCol="1" anchor="ctr" anchorCtr="0" compatLnSpc="1"/>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4" name="Freeform 5"/>
          <p:cNvSpPr/>
          <p:nvPr/>
        </p:nvSpPr>
        <p:spPr bwMode="auto">
          <a:xfrm>
            <a:off x="4984750" y="1636713"/>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105025" y="2382838"/>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794000" y="4002088"/>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720975" y="2036763"/>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889250" y="4073525"/>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243138" y="2484438"/>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984750" y="1752600"/>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327650" y="3617913"/>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97388" y="4657725"/>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587750" y="2900363"/>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749675" y="4278313"/>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713163" y="3438525"/>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5076825" y="3184525"/>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338763" y="3868738"/>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700588" y="4586288"/>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943350" y="3255963"/>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859588" y="1557338"/>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953125" y="4106863"/>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316413" y="5478463"/>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470775" y="1528763"/>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129463" y="4835525"/>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981200" y="4711700"/>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265613" y="5980113"/>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981450" y="3535363"/>
            <a:ext cx="1204913" cy="861809"/>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570464" y="1341438"/>
            <a:ext cx="1438924"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初始化</a:t>
            </a:r>
          </a:p>
        </p:txBody>
      </p:sp>
      <p:sp>
        <p:nvSpPr>
          <p:cNvPr id="69" name="TextBox 200"/>
          <p:cNvSpPr txBox="1"/>
          <p:nvPr/>
        </p:nvSpPr>
        <p:spPr bwMode="auto">
          <a:xfrm>
            <a:off x="3102780" y="584041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查找</a:t>
            </a:r>
          </a:p>
        </p:txBody>
      </p:sp>
      <p:sp>
        <p:nvSpPr>
          <p:cNvPr id="70" name="TextBox 202"/>
          <p:cNvSpPr txBox="1"/>
          <p:nvPr/>
        </p:nvSpPr>
        <p:spPr bwMode="auto">
          <a:xfrm>
            <a:off x="798523" y="454501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插入</a:t>
            </a:r>
          </a:p>
        </p:txBody>
      </p:sp>
      <p:sp>
        <p:nvSpPr>
          <p:cNvPr id="71" name="TextBox 204"/>
          <p:cNvSpPr txBox="1"/>
          <p:nvPr/>
        </p:nvSpPr>
        <p:spPr bwMode="auto">
          <a:xfrm>
            <a:off x="7481888" y="4687888"/>
            <a:ext cx="1039813" cy="554038"/>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300" normalizeH="0" baseline="0" noProof="0" dirty="0">
                <a:ln>
                  <a:noFill/>
                </a:ln>
                <a:solidFill>
                  <a:srgbClr val="FF0000"/>
                </a:solidFill>
                <a:effectLst/>
                <a:uLnTx/>
                <a:uFillTx/>
                <a:latin typeface="+mn-lt"/>
                <a:ea typeface="+mn-ea"/>
                <a:cs typeface="+mn-ea"/>
                <a:sym typeface="+mn-lt"/>
              </a:rPr>
              <a:t>取值</a:t>
            </a:r>
          </a:p>
        </p:txBody>
      </p:sp>
      <p:sp>
        <p:nvSpPr>
          <p:cNvPr id="72" name="TextBox 206"/>
          <p:cNvSpPr txBox="1"/>
          <p:nvPr/>
        </p:nvSpPr>
        <p:spPr bwMode="auto">
          <a:xfrm>
            <a:off x="296080" y="2501900"/>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删除</a:t>
            </a:r>
          </a:p>
        </p:txBody>
      </p:sp>
      <p:sp>
        <p:nvSpPr>
          <p:cNvPr id="73" name="TextBox 210"/>
          <p:cNvSpPr txBox="1"/>
          <p:nvPr/>
        </p:nvSpPr>
        <p:spPr bwMode="auto">
          <a:xfrm>
            <a:off x="5629275" y="22780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752725" y="30019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152775" y="43354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714875" y="47545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591175" y="374491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2049463" y="4768850"/>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582738" y="2747963"/>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530350" y="2717800"/>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124745"/>
            <a:ext cx="9144000" cy="393620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0418" name="Rectangle 4"/>
          <p:cNvSpPr>
            <a:spLocks noChangeArrowheads="1"/>
          </p:cNvSpPr>
          <p:nvPr/>
        </p:nvSpPr>
        <p:spPr bwMode="auto">
          <a:xfrm>
            <a:off x="573468" y="1126332"/>
            <a:ext cx="7993063"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just" defTabSz="914400" rtl="0" eaLnBrk="0" fontAlgn="base" latinLnBrk="0" hangingPunct="0">
              <a:lnSpc>
                <a:spcPct val="15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GetElem</a:t>
            </a:r>
            <a:r>
              <a:rPr lang="en-US" altLang="zh-CN" sz="2800" dirty="0">
                <a:solidFill>
                  <a:srgbClr val="FF0000"/>
                </a:solidFill>
                <a:latin typeface="+mn-lt"/>
                <a:ea typeface="+mn-ea"/>
                <a:cs typeface="+mn-ea"/>
                <a:sym typeface="+mn-lt"/>
              </a:rPr>
              <a:t>_Sq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L, </a:t>
            </a:r>
            <a:r>
              <a:rPr kumimoji="0" lang="en-US" altLang="zh-CN" sz="2800" b="0" i="0" u="none" strike="noStrike" kern="1200" cap="none" spc="0" normalizeH="0" baseline="0" noProof="0" dirty="0">
                <a:ln>
                  <a:noFill/>
                </a:ln>
                <a:effectLst/>
                <a:uLnTx/>
                <a:uFillTx/>
                <a:latin typeface="+mn-lt"/>
                <a:ea typeface="+mn-ea"/>
                <a:cs typeface="+mn-ea"/>
                <a:sym typeface="+mn-lt"/>
              </a:rPr>
              <a:t>int </a:t>
            </a:r>
            <a:r>
              <a:rPr kumimoji="0" lang="en-US" altLang="zh-CN" sz="2800" b="0" i="0" u="none" strike="noStrike" kern="1200" cap="none" spc="0" normalizeH="0" baseline="0" noProof="0" dirty="0" err="1">
                <a:ln>
                  <a:noFill/>
                </a:ln>
                <a:effectLst/>
                <a:uLnTx/>
                <a:uFillTx/>
                <a:latin typeface="+mn-lt"/>
                <a:ea typeface="+mn-ea"/>
                <a:cs typeface="+mn-ea"/>
                <a:sym typeface="+mn-lt"/>
              </a:rPr>
              <a:t>i</a:t>
            </a:r>
            <a:r>
              <a:rPr kumimoji="0" lang="en-US" altLang="zh-CN" sz="2800" b="0" i="0" u="none" strike="noStrike" kern="1200" cap="none" spc="0" normalizeH="0" baseline="0" noProof="0" dirty="0">
                <a:ln>
                  <a:noFill/>
                </a:ln>
                <a:effectLst/>
                <a:uLnTx/>
                <a:uFillTx/>
                <a:latin typeface="+mn-lt"/>
                <a:ea typeface="+mn-ea"/>
                <a:cs typeface="+mn-ea"/>
                <a:sym typeface="+mn-lt"/>
              </a:rPr>
              <a:t>, </a:t>
            </a:r>
            <a:r>
              <a:rPr kumimoji="0" lang="en-US" altLang="zh-CN" sz="2800" b="0" i="0" u="none" strike="noStrike" kern="1200" cap="none" spc="0" normalizeH="0" baseline="0" noProof="0" dirty="0" err="1">
                <a:ln>
                  <a:noFill/>
                </a:ln>
                <a:effectLst/>
                <a:uLnTx/>
                <a:uFillTx/>
                <a:latin typeface="+mn-lt"/>
                <a:ea typeface="+mn-ea"/>
                <a:cs typeface="+mn-ea"/>
                <a:sym typeface="+mn-lt"/>
              </a:rPr>
              <a:t>ElemType</a:t>
            </a:r>
            <a:r>
              <a:rPr kumimoji="0" lang="en-US" altLang="zh-CN" sz="2800" b="0" i="0" u="none" strike="noStrike" kern="1200" cap="none" spc="0" normalizeH="0" baseline="0" noProof="0" dirty="0">
                <a:ln>
                  <a:noFill/>
                </a:ln>
                <a:effectLst/>
                <a:uLnTx/>
                <a:uFillTx/>
                <a:latin typeface="+mn-lt"/>
                <a:ea typeface="+mn-ea"/>
                <a:cs typeface="+mn-ea"/>
                <a:sym typeface="+mn-lt"/>
              </a:rPr>
              <a:t> &amp;e)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50000"/>
              </a:lnSpc>
              <a:spcBef>
                <a:spcPct val="0"/>
              </a:spcBef>
              <a:spcAft>
                <a:spcPct val="0"/>
              </a:spcAft>
              <a:buClrTx/>
              <a:buSzTx/>
              <a:buFontTx/>
              <a:buNone/>
              <a:defRPr/>
            </a:pPr>
            <a:r>
              <a:rPr lang="en-US" altLang="zh-CN" sz="2800" dirty="0">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if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&lt;1 ||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&gt;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ERROR;</a:t>
            </a:r>
          </a:p>
          <a:p>
            <a:pPr marL="342900" marR="0" lvl="0" indent="-342900" algn="just" defTabSz="914400" rtl="0" eaLnBrk="0" fontAlgn="base" latinLnBrk="0" hangingPunct="0">
              <a:lnSpc>
                <a:spcPct val="150000"/>
              </a:lnSpc>
              <a:spcBef>
                <a:spcPct val="0"/>
              </a:spcBef>
              <a:spcAft>
                <a:spcPct val="0"/>
              </a:spcAft>
              <a:buClrTx/>
              <a:buSzTx/>
              <a:buFontTx/>
              <a:buNone/>
              <a:defRPr/>
            </a:pPr>
            <a:r>
              <a:rPr lang="en-US" altLang="zh-CN" sz="2800" dirty="0">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判断 </a:t>
            </a:r>
            <a:r>
              <a:rPr kumimoji="0" lang="en-US" altLang="zh-CN" sz="2800" b="0" i="0" u="none" strike="noStrike" kern="1200" cap="none" spc="0" normalizeH="0" baseline="0" noProof="0" dirty="0" err="1">
                <a:ln>
                  <a:noFill/>
                </a:ln>
                <a:solidFill>
                  <a:srgbClr val="00B050"/>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的值是否合理，若不合理，返回</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ERROR</a:t>
            </a:r>
          </a:p>
          <a:p>
            <a:pPr marL="342900" marR="0" lvl="0" indent="-342900" algn="just" defTabSz="914400" rtl="0" eaLnBrk="0" fontAlgn="base" latinLnBrk="0" hangingPunct="0">
              <a:lnSpc>
                <a:spcPct val="15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e = </a:t>
            </a:r>
            <a:r>
              <a:rPr kumimoji="0" lang="en-US" altLang="zh-CN" sz="2800" b="0" i="0" u="none" strike="noStrike" kern="1200" cap="none" spc="0" normalizeH="0" baseline="0" noProof="0" dirty="0" err="1">
                <a:ln>
                  <a:noFill/>
                </a:ln>
                <a:solidFill>
                  <a:srgbClr val="0000FF"/>
                </a:solidFill>
                <a:effectLst/>
                <a:uLnTx/>
                <a:uFillTx/>
                <a:latin typeface="+mn-lt"/>
                <a:ea typeface="+mn-ea"/>
                <a:cs typeface="+mn-ea"/>
                <a:sym typeface="+mn-lt"/>
              </a:rPr>
              <a:t>L.elem</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[i-1];</a:t>
            </a:r>
            <a:endPar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endParaRPr>
          </a:p>
          <a:p>
            <a:pPr marL="342900" marR="0" lvl="0" indent="-342900" algn="just" defTabSz="914400" rtl="0" eaLnBrk="0" fontAlgn="base" latinLnBrk="0" hangingPunct="0">
              <a:lnSpc>
                <a:spcPct val="15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return OK;</a:t>
            </a:r>
          </a:p>
          <a:p>
            <a:pPr marL="342900" marR="0" lvl="0" indent="-342900" algn="just" defTabSz="914400" rtl="0" eaLnBrk="0" fontAlgn="base" latinLnBrk="0" hangingPunct="0">
              <a:lnSpc>
                <a:spcPct val="15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 name="Rectangle 6"/>
          <p:cNvSpPr>
            <a:spLocks noChangeArrowheads="1"/>
          </p:cNvSpPr>
          <p:nvPr/>
        </p:nvSpPr>
        <p:spPr bwMode="auto">
          <a:xfrm>
            <a:off x="749300" y="188913"/>
            <a:ext cx="8647236"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3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取值（</a:t>
            </a:r>
            <a:r>
              <a:rPr lang="zh-CN" altLang="en-US" dirty="0">
                <a:solidFill>
                  <a:schemeClr val="bg1"/>
                </a:solidFill>
                <a:latin typeface="+mn-lt"/>
                <a:ea typeface="+mn-ea"/>
                <a:cs typeface="+mn-ea"/>
                <a:sym typeface="+mn-lt"/>
              </a:rPr>
              <a:t>按给定</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位置 </a:t>
            </a:r>
            <a:r>
              <a:rPr lang="en-US" altLang="zh-CN" dirty="0" err="1">
                <a:solidFill>
                  <a:schemeClr val="bg1"/>
                </a:solidFill>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获取数据元素的内容）</a:t>
            </a:r>
          </a:p>
        </p:txBody>
      </p:sp>
      <p:sp>
        <p:nvSpPr>
          <p:cNvPr id="7" name="云形标注 6"/>
          <p:cNvSpPr>
            <a:spLocks noChangeArrowheads="1"/>
          </p:cNvSpPr>
          <p:nvPr/>
        </p:nvSpPr>
        <p:spPr bwMode="auto">
          <a:xfrm>
            <a:off x="3275844" y="5040244"/>
            <a:ext cx="2714625" cy="785813"/>
          </a:xfrm>
          <a:prstGeom prst="cloudCallout">
            <a:avLst>
              <a:gd name="adj1" fmla="val -74042"/>
              <a:gd name="adj2" fmla="val -218128"/>
            </a:avLst>
          </a:prstGeom>
          <a:solidFill>
            <a:srgbClr val="FFC000"/>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ctr"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随机存取</a:t>
            </a:r>
          </a:p>
        </p:txBody>
      </p:sp>
      <p:sp>
        <p:nvSpPr>
          <p:cNvPr id="8" name="文本框 7">
            <a:extLst>
              <a:ext uri="{FF2B5EF4-FFF2-40B4-BE49-F238E27FC236}">
                <a16:creationId xmlns:a16="http://schemas.microsoft.com/office/drawing/2014/main" id="{B492912B-779A-407D-80B2-995D8E40023E}"/>
              </a:ext>
            </a:extLst>
          </p:cNvPr>
          <p:cNvSpPr txBox="1"/>
          <p:nvPr/>
        </p:nvSpPr>
        <p:spPr>
          <a:xfrm>
            <a:off x="6516216" y="4517024"/>
            <a:ext cx="2646878" cy="584775"/>
          </a:xfrm>
          <a:prstGeom prst="rect">
            <a:avLst/>
          </a:prstGeom>
          <a:noFill/>
        </p:spPr>
        <p:txBody>
          <a:bodyPr wrap="none" rtlCol="0">
            <a:spAutoFit/>
          </a:bodyPr>
          <a:lstStyle/>
          <a:p>
            <a:r>
              <a:rPr lang="zh-CN" altLang="en-US" sz="3200" dirty="0">
                <a:solidFill>
                  <a:srgbClr val="FF0000"/>
                </a:solidFill>
                <a:latin typeface="华文新魏" panose="02010800040101010101" pitchFamily="2" charset="-122"/>
                <a:ea typeface="华文新魏" panose="02010800040101010101" pitchFamily="2" charset="-122"/>
              </a:rPr>
              <a:t>时间复杂度？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80">
                                          <p:stCondLst>
                                            <p:cond delay="0"/>
                                          </p:stCondLst>
                                        </p:cTn>
                                        <p:tgtEl>
                                          <p:spTgt spid="8"/>
                                        </p:tgtEl>
                                      </p:cBhvr>
                                    </p:animEffect>
                                    <p:anim calcmode="lin" valueType="num">
                                      <p:cBhvr>
                                        <p:cTn id="1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7" dur="26">
                                          <p:stCondLst>
                                            <p:cond delay="650"/>
                                          </p:stCondLst>
                                        </p:cTn>
                                        <p:tgtEl>
                                          <p:spTgt spid="8"/>
                                        </p:tgtEl>
                                      </p:cBhvr>
                                      <p:to x="100000" y="60000"/>
                                    </p:animScale>
                                    <p:animScale>
                                      <p:cBhvr>
                                        <p:cTn id="18" dur="166" decel="50000">
                                          <p:stCondLst>
                                            <p:cond delay="676"/>
                                          </p:stCondLst>
                                        </p:cTn>
                                        <p:tgtEl>
                                          <p:spTgt spid="8"/>
                                        </p:tgtEl>
                                      </p:cBhvr>
                                      <p:to x="100000" y="100000"/>
                                    </p:animScale>
                                    <p:animScale>
                                      <p:cBhvr>
                                        <p:cTn id="19" dur="26">
                                          <p:stCondLst>
                                            <p:cond delay="1312"/>
                                          </p:stCondLst>
                                        </p:cTn>
                                        <p:tgtEl>
                                          <p:spTgt spid="8"/>
                                        </p:tgtEl>
                                      </p:cBhvr>
                                      <p:to x="100000" y="80000"/>
                                    </p:animScale>
                                    <p:animScale>
                                      <p:cBhvr>
                                        <p:cTn id="20" dur="166" decel="50000">
                                          <p:stCondLst>
                                            <p:cond delay="1338"/>
                                          </p:stCondLst>
                                        </p:cTn>
                                        <p:tgtEl>
                                          <p:spTgt spid="8"/>
                                        </p:tgtEl>
                                      </p:cBhvr>
                                      <p:to x="100000" y="100000"/>
                                    </p:animScale>
                                    <p:animScale>
                                      <p:cBhvr>
                                        <p:cTn id="21" dur="26">
                                          <p:stCondLst>
                                            <p:cond delay="1642"/>
                                          </p:stCondLst>
                                        </p:cTn>
                                        <p:tgtEl>
                                          <p:spTgt spid="8"/>
                                        </p:tgtEl>
                                      </p:cBhvr>
                                      <p:to x="100000" y="90000"/>
                                    </p:animScale>
                                    <p:animScale>
                                      <p:cBhvr>
                                        <p:cTn id="22" dur="166" decel="50000">
                                          <p:stCondLst>
                                            <p:cond delay="1668"/>
                                          </p:stCondLst>
                                        </p:cTn>
                                        <p:tgtEl>
                                          <p:spTgt spid="8"/>
                                        </p:tgtEl>
                                      </p:cBhvr>
                                      <p:to x="100000" y="100000"/>
                                    </p:animScale>
                                    <p:animScale>
                                      <p:cBhvr>
                                        <p:cTn id="23" dur="26">
                                          <p:stCondLst>
                                            <p:cond delay="1808"/>
                                          </p:stCondLst>
                                        </p:cTn>
                                        <p:tgtEl>
                                          <p:spTgt spid="8"/>
                                        </p:tgtEl>
                                      </p:cBhvr>
                                      <p:to x="100000" y="95000"/>
                                    </p:animScale>
                                    <p:animScale>
                                      <p:cBhvr>
                                        <p:cTn id="24"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5"/>
          <p:cNvSpPr>
            <a:spLocks noGrp="1" noChangeArrowheads="1"/>
          </p:cNvSpPr>
          <p:nvPr>
            <p:ph idx="1" hasCustomPrompt="1"/>
          </p:nvPr>
        </p:nvSpPr>
        <p:spPr>
          <a:xfrm>
            <a:off x="627063" y="220663"/>
            <a:ext cx="4559300" cy="552450"/>
          </a:xfrm>
        </p:spPr>
        <p:txBody>
          <a:bodyPr vert="horz" wrap="square" lIns="91440" tIns="45720" rIns="91440" bIns="45720" numCol="1" anchor="ctr" anchorCtr="0" compatLnSpc="1"/>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4" name="Freeform 5"/>
          <p:cNvSpPr/>
          <p:nvPr/>
        </p:nvSpPr>
        <p:spPr bwMode="auto">
          <a:xfrm>
            <a:off x="4984750" y="1636713"/>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105025" y="2382838"/>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794000" y="4002088"/>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720975" y="2036763"/>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889250" y="4073525"/>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243138" y="2484438"/>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984750" y="1752600"/>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327650" y="3617913"/>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97388" y="4657725"/>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587750" y="2900363"/>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749675" y="4278313"/>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713163" y="3438525"/>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5076825" y="3184525"/>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338763" y="3868738"/>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700588" y="4586288"/>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943350" y="3255963"/>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859588" y="1557338"/>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953125" y="4106863"/>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316413" y="5478463"/>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470775" y="1528763"/>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129463" y="4835525"/>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981200" y="4711700"/>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265613" y="5980113"/>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981450" y="3535363"/>
            <a:ext cx="1204913" cy="861809"/>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570464" y="1341438"/>
            <a:ext cx="1438924"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初始化</a:t>
            </a:r>
          </a:p>
        </p:txBody>
      </p:sp>
      <p:sp>
        <p:nvSpPr>
          <p:cNvPr id="69" name="TextBox 200"/>
          <p:cNvSpPr txBox="1"/>
          <p:nvPr/>
        </p:nvSpPr>
        <p:spPr bwMode="auto">
          <a:xfrm>
            <a:off x="3102780" y="584041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300" normalizeH="0" baseline="0" noProof="0" dirty="0">
                <a:ln>
                  <a:noFill/>
                </a:ln>
                <a:solidFill>
                  <a:srgbClr val="FF0000"/>
                </a:solidFill>
                <a:effectLst/>
                <a:uLnTx/>
                <a:uFillTx/>
                <a:latin typeface="+mn-lt"/>
                <a:ea typeface="+mn-ea"/>
                <a:cs typeface="+mn-ea"/>
                <a:sym typeface="+mn-lt"/>
              </a:rPr>
              <a:t>查找</a:t>
            </a:r>
          </a:p>
        </p:txBody>
      </p:sp>
      <p:sp>
        <p:nvSpPr>
          <p:cNvPr id="70" name="TextBox 202"/>
          <p:cNvSpPr txBox="1"/>
          <p:nvPr/>
        </p:nvSpPr>
        <p:spPr bwMode="auto">
          <a:xfrm>
            <a:off x="798523" y="454501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插入</a:t>
            </a:r>
          </a:p>
        </p:txBody>
      </p:sp>
      <p:sp>
        <p:nvSpPr>
          <p:cNvPr id="71" name="TextBox 204"/>
          <p:cNvSpPr txBox="1"/>
          <p:nvPr/>
        </p:nvSpPr>
        <p:spPr bwMode="auto">
          <a:xfrm>
            <a:off x="7481888" y="4687888"/>
            <a:ext cx="1039813" cy="554038"/>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0" cap="none" spc="300" normalizeH="0" baseline="0" noProof="0" dirty="0">
                <a:ln>
                  <a:noFill/>
                </a:ln>
                <a:solidFill>
                  <a:schemeClr val="tx1"/>
                </a:solidFill>
                <a:effectLst/>
                <a:uLnTx/>
                <a:uFillTx/>
                <a:latin typeface="+mn-lt"/>
                <a:ea typeface="+mn-ea"/>
                <a:cs typeface="+mn-ea"/>
                <a:sym typeface="+mn-lt"/>
              </a:rPr>
              <a:t>取值</a:t>
            </a:r>
          </a:p>
        </p:txBody>
      </p:sp>
      <p:sp>
        <p:nvSpPr>
          <p:cNvPr id="72" name="TextBox 206"/>
          <p:cNvSpPr txBox="1"/>
          <p:nvPr/>
        </p:nvSpPr>
        <p:spPr bwMode="auto">
          <a:xfrm>
            <a:off x="296080" y="2501900"/>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删除</a:t>
            </a:r>
          </a:p>
        </p:txBody>
      </p:sp>
      <p:sp>
        <p:nvSpPr>
          <p:cNvPr id="73" name="TextBox 210"/>
          <p:cNvSpPr txBox="1"/>
          <p:nvPr/>
        </p:nvSpPr>
        <p:spPr bwMode="auto">
          <a:xfrm>
            <a:off x="5629275" y="22780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752725" y="30019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152775" y="43354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714875" y="47545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591175" y="374491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2049463" y="4768850"/>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582738" y="2747963"/>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530350" y="2717800"/>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Tree>
    <p:extLst>
      <p:ext uri="{BB962C8B-B14F-4D97-AF65-F5344CB8AC3E}">
        <p14:creationId xmlns:p14="http://schemas.microsoft.com/office/powerpoint/2010/main" val="6109327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47" name="Rectangle 11"/>
          <p:cNvSpPr>
            <a:spLocks noChangeArrowheads="1"/>
          </p:cNvSpPr>
          <p:nvPr/>
        </p:nvSpPr>
        <p:spPr bwMode="auto">
          <a:xfrm>
            <a:off x="749300" y="225425"/>
            <a:ext cx="77104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查找（按</a:t>
            </a:r>
            <a:r>
              <a:rPr lang="zh-CN" altLang="en-US" dirty="0">
                <a:solidFill>
                  <a:schemeClr val="bg1"/>
                </a:solidFill>
                <a:latin typeface="+mn-lt"/>
                <a:ea typeface="+mn-ea"/>
                <a:cs typeface="+mn-ea"/>
                <a:sym typeface="+mn-lt"/>
              </a:rPr>
              <a:t>给定值</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获取数据所在的位置） </a:t>
            </a:r>
          </a:p>
        </p:txBody>
      </p:sp>
      <p:sp>
        <p:nvSpPr>
          <p:cNvPr id="449548" name="Rectangle 12"/>
          <p:cNvSpPr>
            <a:spLocks noChangeArrowheads="1"/>
          </p:cNvSpPr>
          <p:nvPr/>
        </p:nvSpPr>
        <p:spPr bwMode="auto">
          <a:xfrm>
            <a:off x="663575" y="919956"/>
            <a:ext cx="2016125" cy="762000"/>
          </a:xfrm>
          <a:prstGeom prst="rect">
            <a:avLst/>
          </a:prstGeom>
          <a:noFill/>
          <a:ln w="9525">
            <a:noFill/>
            <a:miter lim="800000"/>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b="0" i="0" u="none" strike="noStrike" kern="1200" cap="none" spc="0" normalizeH="0" baseline="0" noProof="0" dirty="0">
                <a:ln>
                  <a:noFill/>
                </a:ln>
                <a:solidFill>
                  <a:schemeClr val="tx1"/>
                </a:solidFill>
                <a:effectLst/>
                <a:uLnTx/>
                <a:uFillTx/>
                <a:latin typeface="+mn-lt"/>
                <a:ea typeface="+mn-ea"/>
                <a:cs typeface="+mn-ea"/>
                <a:sym typeface="+mn-lt"/>
              </a:rPr>
              <a:t>顺序查找：</a:t>
            </a:r>
          </a:p>
        </p:txBody>
      </p:sp>
      <p:sp>
        <p:nvSpPr>
          <p:cNvPr id="61444" name="Line 13"/>
          <p:cNvSpPr>
            <a:spLocks noChangeShapeType="1"/>
          </p:cNvSpPr>
          <p:nvPr/>
        </p:nvSpPr>
        <p:spPr bwMode="auto">
          <a:xfrm flipV="1">
            <a:off x="2914650" y="2846388"/>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45" name="Rectangle 14"/>
          <p:cNvSpPr>
            <a:spLocks noChangeArrowheads="1"/>
          </p:cNvSpPr>
          <p:nvPr/>
        </p:nvSpPr>
        <p:spPr bwMode="auto">
          <a:xfrm>
            <a:off x="2609850" y="2236788"/>
            <a:ext cx="41148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46" name="Text Box 15"/>
          <p:cNvSpPr txBox="1">
            <a:spLocks noChangeArrowheads="1"/>
          </p:cNvSpPr>
          <p:nvPr/>
        </p:nvSpPr>
        <p:spPr bwMode="auto">
          <a:xfrm>
            <a:off x="2686050" y="2268538"/>
            <a:ext cx="410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25    34      57     16     48     09 </a:t>
            </a:r>
          </a:p>
        </p:txBody>
      </p:sp>
      <p:sp>
        <p:nvSpPr>
          <p:cNvPr id="61447" name="Line 16"/>
          <p:cNvSpPr>
            <a:spLocks noChangeShapeType="1"/>
          </p:cNvSpPr>
          <p:nvPr/>
        </p:nvSpPr>
        <p:spPr bwMode="auto">
          <a:xfrm>
            <a:off x="32956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48" name="Line 17"/>
          <p:cNvSpPr>
            <a:spLocks noChangeShapeType="1"/>
          </p:cNvSpPr>
          <p:nvPr/>
        </p:nvSpPr>
        <p:spPr bwMode="auto">
          <a:xfrm>
            <a:off x="39814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49" name="Line 18"/>
          <p:cNvSpPr>
            <a:spLocks noChangeShapeType="1"/>
          </p:cNvSpPr>
          <p:nvPr/>
        </p:nvSpPr>
        <p:spPr bwMode="auto">
          <a:xfrm>
            <a:off x="46672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0" name="Line 19"/>
          <p:cNvSpPr>
            <a:spLocks noChangeShapeType="1"/>
          </p:cNvSpPr>
          <p:nvPr/>
        </p:nvSpPr>
        <p:spPr bwMode="auto">
          <a:xfrm>
            <a:off x="53530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1" name="Line 20"/>
          <p:cNvSpPr>
            <a:spLocks noChangeShapeType="1"/>
          </p:cNvSpPr>
          <p:nvPr/>
        </p:nvSpPr>
        <p:spPr bwMode="auto">
          <a:xfrm flipH="1">
            <a:off x="6038850" y="22367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2" name="Text Box 21"/>
          <p:cNvSpPr txBox="1">
            <a:spLocks noChangeArrowheads="1"/>
          </p:cNvSpPr>
          <p:nvPr/>
        </p:nvSpPr>
        <p:spPr bwMode="auto">
          <a:xfrm>
            <a:off x="2686050" y="1717675"/>
            <a:ext cx="3954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mn-lt"/>
                <a:ea typeface="+mn-ea"/>
                <a:cs typeface="+mn-ea"/>
                <a:sym typeface="+mn-lt"/>
              </a:rPr>
              <a:t>0        1       2        3      4       5 </a:t>
            </a:r>
            <a:endPar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endParaRPr>
          </a:p>
        </p:txBody>
      </p:sp>
      <p:sp>
        <p:nvSpPr>
          <p:cNvPr id="61454" name="Text Box 23"/>
          <p:cNvSpPr txBox="1">
            <a:spLocks noChangeArrowheads="1"/>
          </p:cNvSpPr>
          <p:nvPr/>
        </p:nvSpPr>
        <p:spPr bwMode="auto">
          <a:xfrm>
            <a:off x="971600" y="2179638"/>
            <a:ext cx="1253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ea"/>
                <a:ea typeface="+mn-ea"/>
                <a:cs typeface="+mn-ea"/>
                <a:sym typeface="+mn-lt"/>
              </a:rPr>
              <a:t>查找</a:t>
            </a:r>
            <a:r>
              <a:rPr kumimoji="0" lang="zh-CN" altLang="en-US" sz="2400" b="0" i="0" u="none" strike="noStrike" kern="1200" cap="none" spc="0" normalizeH="0" baseline="0" noProof="0" dirty="0">
                <a:ln>
                  <a:noFill/>
                </a:ln>
                <a:solidFill>
                  <a:srgbClr val="FF5050"/>
                </a:solidFill>
                <a:effectLst/>
                <a:uLnTx/>
                <a:uFillTx/>
                <a:latin typeface="+mn-ea"/>
                <a:ea typeface="+mn-ea"/>
                <a:cs typeface="+mn-ea"/>
                <a:sym typeface="+mn-lt"/>
              </a:rPr>
              <a:t> </a:t>
            </a:r>
            <a:r>
              <a:rPr kumimoji="0" lang="en-US" altLang="zh-CN" sz="2400" b="0" i="0" u="none" strike="noStrike" kern="1200" cap="none" spc="0" normalizeH="0" baseline="0" noProof="0" dirty="0">
                <a:ln>
                  <a:noFill/>
                </a:ln>
                <a:solidFill>
                  <a:srgbClr val="FF5050"/>
                </a:solidFill>
                <a:effectLst/>
                <a:uLnTx/>
                <a:uFillTx/>
                <a:latin typeface="+mn-ea"/>
                <a:ea typeface="+mn-ea"/>
                <a:cs typeface="+mn-ea"/>
                <a:sym typeface="+mn-lt"/>
              </a:rPr>
              <a:t>16</a:t>
            </a:r>
            <a:endParaRPr kumimoji="0" lang="en-US" altLang="zh-CN" sz="2400" b="0" i="0" u="none" strike="noStrike" kern="1200" cap="none" spc="0" normalizeH="0" baseline="0" noProof="0" dirty="0">
              <a:ln>
                <a:noFill/>
              </a:ln>
              <a:solidFill>
                <a:schemeClr val="tx1"/>
              </a:solidFill>
              <a:effectLst/>
              <a:uLnTx/>
              <a:uFillTx/>
              <a:latin typeface="+mn-ea"/>
              <a:ea typeface="+mn-ea"/>
              <a:cs typeface="+mn-ea"/>
              <a:sym typeface="+mn-lt"/>
            </a:endParaRPr>
          </a:p>
        </p:txBody>
      </p:sp>
      <p:sp>
        <p:nvSpPr>
          <p:cNvPr id="61455" name="Text Box 24"/>
          <p:cNvSpPr txBox="1">
            <a:spLocks noChangeArrowheads="1"/>
          </p:cNvSpPr>
          <p:nvPr/>
        </p:nvSpPr>
        <p:spPr bwMode="auto">
          <a:xfrm>
            <a:off x="2533650" y="2800350"/>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6" name="Line 25"/>
          <p:cNvSpPr>
            <a:spLocks noChangeShapeType="1"/>
          </p:cNvSpPr>
          <p:nvPr/>
        </p:nvSpPr>
        <p:spPr bwMode="auto">
          <a:xfrm flipV="1">
            <a:off x="3524250" y="3943350"/>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7" name="Rectangle 26"/>
          <p:cNvSpPr>
            <a:spLocks noChangeArrowheads="1"/>
          </p:cNvSpPr>
          <p:nvPr/>
        </p:nvSpPr>
        <p:spPr bwMode="auto">
          <a:xfrm>
            <a:off x="2609850" y="3333750"/>
            <a:ext cx="41148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58" name="Text Box 27"/>
          <p:cNvSpPr txBox="1">
            <a:spLocks noChangeArrowheads="1"/>
          </p:cNvSpPr>
          <p:nvPr/>
        </p:nvSpPr>
        <p:spPr bwMode="auto">
          <a:xfrm>
            <a:off x="2686050" y="3384550"/>
            <a:ext cx="410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25     34     57     16     48     09 </a:t>
            </a:r>
          </a:p>
        </p:txBody>
      </p:sp>
      <p:sp>
        <p:nvSpPr>
          <p:cNvPr id="61459" name="Line 28"/>
          <p:cNvSpPr>
            <a:spLocks noChangeShapeType="1"/>
          </p:cNvSpPr>
          <p:nvPr/>
        </p:nvSpPr>
        <p:spPr bwMode="auto">
          <a:xfrm>
            <a:off x="32956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0" name="Line 29"/>
          <p:cNvSpPr>
            <a:spLocks noChangeShapeType="1"/>
          </p:cNvSpPr>
          <p:nvPr/>
        </p:nvSpPr>
        <p:spPr bwMode="auto">
          <a:xfrm>
            <a:off x="39814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1" name="Line 30"/>
          <p:cNvSpPr>
            <a:spLocks noChangeShapeType="1"/>
          </p:cNvSpPr>
          <p:nvPr/>
        </p:nvSpPr>
        <p:spPr bwMode="auto">
          <a:xfrm>
            <a:off x="46672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2" name="Line 31"/>
          <p:cNvSpPr>
            <a:spLocks noChangeShapeType="1"/>
          </p:cNvSpPr>
          <p:nvPr/>
        </p:nvSpPr>
        <p:spPr bwMode="auto">
          <a:xfrm>
            <a:off x="53530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3" name="Line 32"/>
          <p:cNvSpPr>
            <a:spLocks noChangeShapeType="1"/>
          </p:cNvSpPr>
          <p:nvPr/>
        </p:nvSpPr>
        <p:spPr bwMode="auto">
          <a:xfrm flipH="1">
            <a:off x="6038850" y="33337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4" name="Text Box 33"/>
          <p:cNvSpPr txBox="1">
            <a:spLocks noChangeArrowheads="1"/>
          </p:cNvSpPr>
          <p:nvPr/>
        </p:nvSpPr>
        <p:spPr bwMode="auto">
          <a:xfrm>
            <a:off x="3143250" y="3867150"/>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5" name="Line 34"/>
          <p:cNvSpPr>
            <a:spLocks noChangeShapeType="1"/>
          </p:cNvSpPr>
          <p:nvPr/>
        </p:nvSpPr>
        <p:spPr bwMode="auto">
          <a:xfrm flipV="1">
            <a:off x="4210050" y="5056188"/>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6" name="Rectangle 35"/>
          <p:cNvSpPr>
            <a:spLocks noChangeArrowheads="1"/>
          </p:cNvSpPr>
          <p:nvPr/>
        </p:nvSpPr>
        <p:spPr bwMode="auto">
          <a:xfrm>
            <a:off x="2609850" y="4446588"/>
            <a:ext cx="41148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7" name="Text Box 36"/>
          <p:cNvSpPr txBox="1">
            <a:spLocks noChangeArrowheads="1"/>
          </p:cNvSpPr>
          <p:nvPr/>
        </p:nvSpPr>
        <p:spPr bwMode="auto">
          <a:xfrm>
            <a:off x="2686050" y="4484688"/>
            <a:ext cx="410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25    34      57     16     48    09 </a:t>
            </a:r>
          </a:p>
        </p:txBody>
      </p:sp>
      <p:sp>
        <p:nvSpPr>
          <p:cNvPr id="61468" name="Line 37"/>
          <p:cNvSpPr>
            <a:spLocks noChangeShapeType="1"/>
          </p:cNvSpPr>
          <p:nvPr/>
        </p:nvSpPr>
        <p:spPr bwMode="auto">
          <a:xfrm>
            <a:off x="32956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69" name="Line 38"/>
          <p:cNvSpPr>
            <a:spLocks noChangeShapeType="1"/>
          </p:cNvSpPr>
          <p:nvPr/>
        </p:nvSpPr>
        <p:spPr bwMode="auto">
          <a:xfrm>
            <a:off x="39814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0" name="Line 39"/>
          <p:cNvSpPr>
            <a:spLocks noChangeShapeType="1"/>
          </p:cNvSpPr>
          <p:nvPr/>
        </p:nvSpPr>
        <p:spPr bwMode="auto">
          <a:xfrm>
            <a:off x="46672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1" name="Line 40"/>
          <p:cNvSpPr>
            <a:spLocks noChangeShapeType="1"/>
          </p:cNvSpPr>
          <p:nvPr/>
        </p:nvSpPr>
        <p:spPr bwMode="auto">
          <a:xfrm>
            <a:off x="53530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2" name="Line 41"/>
          <p:cNvSpPr>
            <a:spLocks noChangeShapeType="1"/>
          </p:cNvSpPr>
          <p:nvPr/>
        </p:nvSpPr>
        <p:spPr bwMode="auto">
          <a:xfrm flipH="1">
            <a:off x="6038850" y="4446588"/>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3" name="Text Box 42"/>
          <p:cNvSpPr txBox="1">
            <a:spLocks noChangeArrowheads="1"/>
          </p:cNvSpPr>
          <p:nvPr/>
        </p:nvSpPr>
        <p:spPr bwMode="auto">
          <a:xfrm>
            <a:off x="3836988" y="4979988"/>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4" name="Line 43"/>
          <p:cNvSpPr>
            <a:spLocks noChangeShapeType="1"/>
          </p:cNvSpPr>
          <p:nvPr/>
        </p:nvSpPr>
        <p:spPr bwMode="auto">
          <a:xfrm flipV="1">
            <a:off x="4972050" y="6153150"/>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5" name="Rectangle 44"/>
          <p:cNvSpPr>
            <a:spLocks noChangeArrowheads="1"/>
          </p:cNvSpPr>
          <p:nvPr/>
        </p:nvSpPr>
        <p:spPr bwMode="auto">
          <a:xfrm>
            <a:off x="2619375" y="5543550"/>
            <a:ext cx="41148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6" name="Text Box 45"/>
          <p:cNvSpPr txBox="1">
            <a:spLocks noChangeArrowheads="1"/>
          </p:cNvSpPr>
          <p:nvPr/>
        </p:nvSpPr>
        <p:spPr bwMode="auto">
          <a:xfrm>
            <a:off x="2695575" y="5594350"/>
            <a:ext cx="4105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25     34     57     16     48    09 </a:t>
            </a:r>
          </a:p>
        </p:txBody>
      </p:sp>
      <p:sp>
        <p:nvSpPr>
          <p:cNvPr id="61477" name="Line 46"/>
          <p:cNvSpPr>
            <a:spLocks noChangeShapeType="1"/>
          </p:cNvSpPr>
          <p:nvPr/>
        </p:nvSpPr>
        <p:spPr bwMode="auto">
          <a:xfrm>
            <a:off x="33051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8" name="Line 47"/>
          <p:cNvSpPr>
            <a:spLocks noChangeShapeType="1"/>
          </p:cNvSpPr>
          <p:nvPr/>
        </p:nvSpPr>
        <p:spPr bwMode="auto">
          <a:xfrm>
            <a:off x="39909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79" name="Line 48"/>
          <p:cNvSpPr>
            <a:spLocks noChangeShapeType="1"/>
          </p:cNvSpPr>
          <p:nvPr/>
        </p:nvSpPr>
        <p:spPr bwMode="auto">
          <a:xfrm>
            <a:off x="46767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0" name="Line 49"/>
          <p:cNvSpPr>
            <a:spLocks noChangeShapeType="1"/>
          </p:cNvSpPr>
          <p:nvPr/>
        </p:nvSpPr>
        <p:spPr bwMode="auto">
          <a:xfrm>
            <a:off x="53625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1" name="Line 50"/>
          <p:cNvSpPr>
            <a:spLocks noChangeShapeType="1"/>
          </p:cNvSpPr>
          <p:nvPr/>
        </p:nvSpPr>
        <p:spPr bwMode="auto">
          <a:xfrm flipH="1">
            <a:off x="6048375" y="5543550"/>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2" name="Text Box 51"/>
          <p:cNvSpPr txBox="1">
            <a:spLocks noChangeArrowheads="1"/>
          </p:cNvSpPr>
          <p:nvPr/>
        </p:nvSpPr>
        <p:spPr bwMode="auto">
          <a:xfrm>
            <a:off x="4591050" y="6076950"/>
            <a:ext cx="269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err="1">
                <a:ln>
                  <a:noFill/>
                </a:ln>
                <a:solidFill>
                  <a:srgbClr val="FF5050"/>
                </a:solidFill>
                <a:effectLst/>
                <a:uLnTx/>
                <a:uFillTx/>
                <a:latin typeface="+mn-lt"/>
                <a:ea typeface="+mn-ea"/>
                <a:cs typeface="+mn-ea"/>
                <a:sym typeface="+mn-lt"/>
              </a:rPr>
              <a:t>i</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1483" name="AutoShape 52"/>
          <p:cNvSpPr>
            <a:spLocks noChangeArrowheads="1"/>
          </p:cNvSpPr>
          <p:nvPr/>
        </p:nvSpPr>
        <p:spPr bwMode="auto">
          <a:xfrm>
            <a:off x="3067050" y="2922588"/>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4" name="AutoShape 53"/>
          <p:cNvSpPr>
            <a:spLocks noChangeArrowheads="1"/>
          </p:cNvSpPr>
          <p:nvPr/>
        </p:nvSpPr>
        <p:spPr bwMode="auto">
          <a:xfrm>
            <a:off x="3676650" y="3989388"/>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5" name="AutoShape 54"/>
          <p:cNvSpPr>
            <a:spLocks noChangeArrowheads="1"/>
          </p:cNvSpPr>
          <p:nvPr/>
        </p:nvSpPr>
        <p:spPr bwMode="auto">
          <a:xfrm>
            <a:off x="4438650" y="5132388"/>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486" name="Text Box 55"/>
          <p:cNvSpPr txBox="1">
            <a:spLocks noChangeArrowheads="1"/>
          </p:cNvSpPr>
          <p:nvPr/>
        </p:nvSpPr>
        <p:spPr bwMode="auto">
          <a:xfrm>
            <a:off x="5070475" y="612775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查找成功</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Line 4"/>
          <p:cNvSpPr>
            <a:spLocks noChangeShapeType="1"/>
          </p:cNvSpPr>
          <p:nvPr/>
        </p:nvSpPr>
        <p:spPr bwMode="auto">
          <a:xfrm flipV="1">
            <a:off x="2987675" y="20351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67" name="Rectangle 5"/>
          <p:cNvSpPr>
            <a:spLocks noChangeArrowheads="1"/>
          </p:cNvSpPr>
          <p:nvPr/>
        </p:nvSpPr>
        <p:spPr bwMode="auto">
          <a:xfrm>
            <a:off x="2690813" y="1425575"/>
            <a:ext cx="34290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68" name="Text Box 6"/>
          <p:cNvSpPr txBox="1">
            <a:spLocks noChangeArrowheads="1"/>
          </p:cNvSpPr>
          <p:nvPr/>
        </p:nvSpPr>
        <p:spPr bwMode="auto">
          <a:xfrm>
            <a:off x="2703257" y="1433052"/>
            <a:ext cx="3429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469" name="Line 7"/>
          <p:cNvSpPr>
            <a:spLocks noChangeShapeType="1"/>
          </p:cNvSpPr>
          <p:nvPr/>
        </p:nvSpPr>
        <p:spPr bwMode="auto">
          <a:xfrm>
            <a:off x="3376613" y="14255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0" name="Line 8"/>
          <p:cNvSpPr>
            <a:spLocks noChangeShapeType="1"/>
          </p:cNvSpPr>
          <p:nvPr/>
        </p:nvSpPr>
        <p:spPr bwMode="auto">
          <a:xfrm>
            <a:off x="4062413" y="14255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1" name="Line 9"/>
          <p:cNvSpPr>
            <a:spLocks noChangeShapeType="1"/>
          </p:cNvSpPr>
          <p:nvPr/>
        </p:nvSpPr>
        <p:spPr bwMode="auto">
          <a:xfrm>
            <a:off x="4748213" y="14255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2" name="Line 10"/>
          <p:cNvSpPr>
            <a:spLocks noChangeShapeType="1"/>
          </p:cNvSpPr>
          <p:nvPr/>
        </p:nvSpPr>
        <p:spPr bwMode="auto">
          <a:xfrm>
            <a:off x="5434013" y="14255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3" name="Text Box 11"/>
          <p:cNvSpPr txBox="1">
            <a:spLocks noChangeArrowheads="1"/>
          </p:cNvSpPr>
          <p:nvPr/>
        </p:nvSpPr>
        <p:spPr bwMode="auto">
          <a:xfrm>
            <a:off x="2767013" y="982663"/>
            <a:ext cx="31854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  0      1       2       3       4</a:t>
            </a:r>
          </a:p>
        </p:txBody>
      </p:sp>
      <p:sp>
        <p:nvSpPr>
          <p:cNvPr id="62475" name="Text Box 13"/>
          <p:cNvSpPr txBox="1">
            <a:spLocks noChangeArrowheads="1"/>
          </p:cNvSpPr>
          <p:nvPr/>
        </p:nvSpPr>
        <p:spPr bwMode="auto">
          <a:xfrm>
            <a:off x="908179" y="1425575"/>
            <a:ext cx="1253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ea"/>
                <a:ea typeface="+mn-ea"/>
                <a:cs typeface="+mn-ea"/>
                <a:sym typeface="+mn-lt"/>
              </a:rPr>
              <a:t>查找 </a:t>
            </a:r>
            <a:r>
              <a:rPr kumimoji="0" lang="en-US" altLang="zh-CN" sz="2400" b="0" i="0" u="none" strike="noStrike" kern="1200" cap="none" spc="0" normalizeH="0" baseline="0" noProof="0" dirty="0">
                <a:ln>
                  <a:noFill/>
                </a:ln>
                <a:solidFill>
                  <a:srgbClr val="FF0000"/>
                </a:solidFill>
                <a:effectLst/>
                <a:uLnTx/>
                <a:uFillTx/>
                <a:latin typeface="+mn-ea"/>
                <a:ea typeface="+mn-ea"/>
                <a:cs typeface="+mn-ea"/>
                <a:sym typeface="+mn-lt"/>
              </a:rPr>
              <a:t>50</a:t>
            </a:r>
          </a:p>
        </p:txBody>
      </p:sp>
      <p:sp>
        <p:nvSpPr>
          <p:cNvPr id="62476" name="Text Box 14"/>
          <p:cNvSpPr txBox="1">
            <a:spLocks noChangeArrowheads="1"/>
          </p:cNvSpPr>
          <p:nvPr/>
        </p:nvSpPr>
        <p:spPr bwMode="auto">
          <a:xfrm>
            <a:off x="2614613" y="19589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err="1">
                <a:ln>
                  <a:noFill/>
                </a:ln>
                <a:solidFill>
                  <a:srgbClr val="FF5050"/>
                </a:solidFill>
                <a:effectLst/>
                <a:uLnTx/>
                <a:uFillTx/>
                <a:latin typeface="+mn-lt"/>
                <a:ea typeface="+mn-ea"/>
                <a:cs typeface="+mn-ea"/>
                <a:sym typeface="+mn-lt"/>
              </a:rPr>
              <a:t>i</a:t>
            </a:r>
            <a:endParaRPr kumimoji="0" lang="en-US" altLang="zh-CN" sz="2400" b="1" i="1"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2477" name="Line 15"/>
          <p:cNvSpPr>
            <a:spLocks noChangeShapeType="1"/>
          </p:cNvSpPr>
          <p:nvPr/>
        </p:nvSpPr>
        <p:spPr bwMode="auto">
          <a:xfrm flipV="1">
            <a:off x="3597275" y="31019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8" name="Rectangle 16"/>
          <p:cNvSpPr>
            <a:spLocks noChangeArrowheads="1"/>
          </p:cNvSpPr>
          <p:nvPr/>
        </p:nvSpPr>
        <p:spPr bwMode="auto">
          <a:xfrm>
            <a:off x="2690813" y="2492375"/>
            <a:ext cx="34290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79" name="Text Box 17"/>
          <p:cNvSpPr txBox="1">
            <a:spLocks noChangeArrowheads="1"/>
          </p:cNvSpPr>
          <p:nvPr/>
        </p:nvSpPr>
        <p:spPr bwMode="auto">
          <a:xfrm>
            <a:off x="2703257" y="2536577"/>
            <a:ext cx="341655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480" name="Line 18"/>
          <p:cNvSpPr>
            <a:spLocks noChangeShapeType="1"/>
          </p:cNvSpPr>
          <p:nvPr/>
        </p:nvSpPr>
        <p:spPr bwMode="auto">
          <a:xfrm>
            <a:off x="3376613" y="24923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1" name="Line 19"/>
          <p:cNvSpPr>
            <a:spLocks noChangeShapeType="1"/>
          </p:cNvSpPr>
          <p:nvPr/>
        </p:nvSpPr>
        <p:spPr bwMode="auto">
          <a:xfrm>
            <a:off x="4062413" y="24923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2" name="Line 20"/>
          <p:cNvSpPr>
            <a:spLocks noChangeShapeType="1"/>
          </p:cNvSpPr>
          <p:nvPr/>
        </p:nvSpPr>
        <p:spPr bwMode="auto">
          <a:xfrm>
            <a:off x="4748213" y="24923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3" name="Line 21"/>
          <p:cNvSpPr>
            <a:spLocks noChangeShapeType="1"/>
          </p:cNvSpPr>
          <p:nvPr/>
        </p:nvSpPr>
        <p:spPr bwMode="auto">
          <a:xfrm>
            <a:off x="5434013" y="24923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4" name="Text Box 22"/>
          <p:cNvSpPr txBox="1">
            <a:spLocks noChangeArrowheads="1"/>
          </p:cNvSpPr>
          <p:nvPr/>
        </p:nvSpPr>
        <p:spPr bwMode="auto">
          <a:xfrm>
            <a:off x="3224213" y="30257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1"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5" name="Line 23"/>
          <p:cNvSpPr>
            <a:spLocks noChangeShapeType="1"/>
          </p:cNvSpPr>
          <p:nvPr/>
        </p:nvSpPr>
        <p:spPr bwMode="auto">
          <a:xfrm flipV="1">
            <a:off x="4291013" y="41687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6" name="Rectangle 24"/>
          <p:cNvSpPr>
            <a:spLocks noChangeArrowheads="1"/>
          </p:cNvSpPr>
          <p:nvPr/>
        </p:nvSpPr>
        <p:spPr bwMode="auto">
          <a:xfrm>
            <a:off x="2690813" y="3559175"/>
            <a:ext cx="3429000"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7" name="Text Box 25"/>
          <p:cNvSpPr txBox="1">
            <a:spLocks noChangeArrowheads="1"/>
          </p:cNvSpPr>
          <p:nvPr/>
        </p:nvSpPr>
        <p:spPr bwMode="auto">
          <a:xfrm>
            <a:off x="2705100" y="3559175"/>
            <a:ext cx="3414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488" name="Line 26"/>
          <p:cNvSpPr>
            <a:spLocks noChangeShapeType="1"/>
          </p:cNvSpPr>
          <p:nvPr/>
        </p:nvSpPr>
        <p:spPr bwMode="auto">
          <a:xfrm>
            <a:off x="3376613" y="35591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89" name="Line 27"/>
          <p:cNvSpPr>
            <a:spLocks noChangeShapeType="1"/>
          </p:cNvSpPr>
          <p:nvPr/>
        </p:nvSpPr>
        <p:spPr bwMode="auto">
          <a:xfrm>
            <a:off x="4062413" y="35591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0" name="Line 28"/>
          <p:cNvSpPr>
            <a:spLocks noChangeShapeType="1"/>
          </p:cNvSpPr>
          <p:nvPr/>
        </p:nvSpPr>
        <p:spPr bwMode="auto">
          <a:xfrm>
            <a:off x="4748213" y="35591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1" name="Line 29"/>
          <p:cNvSpPr>
            <a:spLocks noChangeShapeType="1"/>
          </p:cNvSpPr>
          <p:nvPr/>
        </p:nvSpPr>
        <p:spPr bwMode="auto">
          <a:xfrm>
            <a:off x="5434013" y="35591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2" name="Text Box 30"/>
          <p:cNvSpPr txBox="1">
            <a:spLocks noChangeArrowheads="1"/>
          </p:cNvSpPr>
          <p:nvPr/>
        </p:nvSpPr>
        <p:spPr bwMode="auto">
          <a:xfrm>
            <a:off x="3917950" y="40925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1"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3" name="Line 31"/>
          <p:cNvSpPr>
            <a:spLocks noChangeShapeType="1"/>
          </p:cNvSpPr>
          <p:nvPr/>
        </p:nvSpPr>
        <p:spPr bwMode="auto">
          <a:xfrm flipV="1">
            <a:off x="5053013" y="52355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4" name="Rectangle 32"/>
          <p:cNvSpPr>
            <a:spLocks noChangeArrowheads="1"/>
          </p:cNvSpPr>
          <p:nvPr/>
        </p:nvSpPr>
        <p:spPr bwMode="auto">
          <a:xfrm>
            <a:off x="2700338" y="4625975"/>
            <a:ext cx="3419475"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5" name="Text Box 33"/>
          <p:cNvSpPr txBox="1">
            <a:spLocks noChangeArrowheads="1"/>
          </p:cNvSpPr>
          <p:nvPr/>
        </p:nvSpPr>
        <p:spPr bwMode="auto">
          <a:xfrm>
            <a:off x="2699792" y="4625975"/>
            <a:ext cx="341471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496" name="Line 34"/>
          <p:cNvSpPr>
            <a:spLocks noChangeShapeType="1"/>
          </p:cNvSpPr>
          <p:nvPr/>
        </p:nvSpPr>
        <p:spPr bwMode="auto">
          <a:xfrm>
            <a:off x="3386138" y="46259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7" name="Line 35"/>
          <p:cNvSpPr>
            <a:spLocks noChangeShapeType="1"/>
          </p:cNvSpPr>
          <p:nvPr/>
        </p:nvSpPr>
        <p:spPr bwMode="auto">
          <a:xfrm>
            <a:off x="4071938" y="46259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8" name="Line 36"/>
          <p:cNvSpPr>
            <a:spLocks noChangeShapeType="1"/>
          </p:cNvSpPr>
          <p:nvPr/>
        </p:nvSpPr>
        <p:spPr bwMode="auto">
          <a:xfrm>
            <a:off x="4757738" y="46259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499" name="Line 37"/>
          <p:cNvSpPr>
            <a:spLocks noChangeShapeType="1"/>
          </p:cNvSpPr>
          <p:nvPr/>
        </p:nvSpPr>
        <p:spPr bwMode="auto">
          <a:xfrm>
            <a:off x="5443538" y="46259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0" name="Text Box 38"/>
          <p:cNvSpPr txBox="1">
            <a:spLocks noChangeArrowheads="1"/>
          </p:cNvSpPr>
          <p:nvPr/>
        </p:nvSpPr>
        <p:spPr bwMode="auto">
          <a:xfrm>
            <a:off x="4672013" y="51593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1"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1" name="Line 39"/>
          <p:cNvSpPr>
            <a:spLocks noChangeShapeType="1"/>
          </p:cNvSpPr>
          <p:nvPr/>
        </p:nvSpPr>
        <p:spPr bwMode="auto">
          <a:xfrm flipV="1">
            <a:off x="5738813" y="6302375"/>
            <a:ext cx="0" cy="381000"/>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2" name="Rectangle 40"/>
          <p:cNvSpPr>
            <a:spLocks noChangeArrowheads="1"/>
          </p:cNvSpPr>
          <p:nvPr/>
        </p:nvSpPr>
        <p:spPr bwMode="auto">
          <a:xfrm>
            <a:off x="2700338" y="5692775"/>
            <a:ext cx="3419475" cy="533400"/>
          </a:xfrm>
          <a:prstGeom prst="rect">
            <a:avLst/>
          </a:prstGeom>
          <a:solidFill>
            <a:srgbClr val="9476B6"/>
          </a:solidFill>
          <a:ln w="9525">
            <a:solidFill>
              <a:schemeClr val="tx1"/>
            </a:solidFill>
            <a:miter lim="800000"/>
          </a:ln>
          <a:effec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3" name="Text Box 41"/>
          <p:cNvSpPr txBox="1">
            <a:spLocks noChangeArrowheads="1"/>
          </p:cNvSpPr>
          <p:nvPr/>
        </p:nvSpPr>
        <p:spPr bwMode="auto">
          <a:xfrm>
            <a:off x="2690814" y="5692775"/>
            <a:ext cx="344144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 25     34     57      16    48 </a:t>
            </a:r>
          </a:p>
        </p:txBody>
      </p:sp>
      <p:sp>
        <p:nvSpPr>
          <p:cNvPr id="62504" name="Line 42"/>
          <p:cNvSpPr>
            <a:spLocks noChangeShapeType="1"/>
          </p:cNvSpPr>
          <p:nvPr/>
        </p:nvSpPr>
        <p:spPr bwMode="auto">
          <a:xfrm>
            <a:off x="3386138" y="56927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5" name="Line 43"/>
          <p:cNvSpPr>
            <a:spLocks noChangeShapeType="1"/>
          </p:cNvSpPr>
          <p:nvPr/>
        </p:nvSpPr>
        <p:spPr bwMode="auto">
          <a:xfrm>
            <a:off x="4071938" y="56927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6" name="Line 44"/>
          <p:cNvSpPr>
            <a:spLocks noChangeShapeType="1"/>
          </p:cNvSpPr>
          <p:nvPr/>
        </p:nvSpPr>
        <p:spPr bwMode="auto">
          <a:xfrm>
            <a:off x="5443538" y="56927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7" name="Line 45"/>
          <p:cNvSpPr>
            <a:spLocks noChangeShapeType="1"/>
          </p:cNvSpPr>
          <p:nvPr/>
        </p:nvSpPr>
        <p:spPr bwMode="auto">
          <a:xfrm flipH="1">
            <a:off x="4824413" y="5692775"/>
            <a:ext cx="0" cy="533400"/>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8" name="Text Box 46"/>
          <p:cNvSpPr txBox="1">
            <a:spLocks noChangeArrowheads="1"/>
          </p:cNvSpPr>
          <p:nvPr/>
        </p:nvSpPr>
        <p:spPr bwMode="auto">
          <a:xfrm>
            <a:off x="5365750" y="6226175"/>
            <a:ext cx="26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5050"/>
                </a:solidFill>
                <a:effectLst/>
                <a:uLnTx/>
                <a:uFillTx/>
                <a:latin typeface="+mn-lt"/>
                <a:ea typeface="+mn-ea"/>
                <a:cs typeface="+mn-ea"/>
                <a:sym typeface="+mn-lt"/>
              </a:rPr>
              <a:t>i</a:t>
            </a:r>
            <a:endParaRPr kumimoji="0" lang="en-US" altLang="zh-CN" sz="2400" b="1"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09" name="AutoShape 47"/>
          <p:cNvSpPr>
            <a:spLocks noChangeArrowheads="1"/>
          </p:cNvSpPr>
          <p:nvPr/>
        </p:nvSpPr>
        <p:spPr bwMode="auto">
          <a:xfrm>
            <a:off x="3148013" y="21113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0" name="AutoShape 48"/>
          <p:cNvSpPr>
            <a:spLocks noChangeArrowheads="1"/>
          </p:cNvSpPr>
          <p:nvPr/>
        </p:nvSpPr>
        <p:spPr bwMode="auto">
          <a:xfrm>
            <a:off x="3757613" y="31781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1" name="AutoShape 49"/>
          <p:cNvSpPr>
            <a:spLocks noChangeArrowheads="1"/>
          </p:cNvSpPr>
          <p:nvPr/>
        </p:nvSpPr>
        <p:spPr bwMode="auto">
          <a:xfrm>
            <a:off x="4443413" y="42449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2" name="AutoShape 50"/>
          <p:cNvSpPr>
            <a:spLocks noChangeArrowheads="1"/>
          </p:cNvSpPr>
          <p:nvPr/>
        </p:nvSpPr>
        <p:spPr bwMode="auto">
          <a:xfrm>
            <a:off x="5205413" y="53117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3" name="AutoShape 51"/>
          <p:cNvSpPr>
            <a:spLocks noChangeArrowheads="1"/>
          </p:cNvSpPr>
          <p:nvPr/>
        </p:nvSpPr>
        <p:spPr bwMode="auto">
          <a:xfrm>
            <a:off x="5891213" y="6378575"/>
            <a:ext cx="533400" cy="152400"/>
          </a:xfrm>
          <a:prstGeom prst="curvedUpArrow">
            <a:avLst>
              <a:gd name="adj1" fmla="val 70000"/>
              <a:gd name="adj2" fmla="val 140000"/>
              <a:gd name="adj3" fmla="val 33324"/>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514" name="Text Box 52"/>
          <p:cNvSpPr txBox="1">
            <a:spLocks noChangeArrowheads="1"/>
          </p:cNvSpPr>
          <p:nvPr/>
        </p:nvSpPr>
        <p:spPr bwMode="auto">
          <a:xfrm>
            <a:off x="6577013" y="6103938"/>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ea"/>
                <a:sym typeface="+mn-lt"/>
              </a:rPr>
              <a:t>查找失败</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2" name="Rectangle 11"/>
          <p:cNvSpPr>
            <a:spLocks noChangeArrowheads="1"/>
          </p:cNvSpPr>
          <p:nvPr/>
        </p:nvSpPr>
        <p:spPr bwMode="auto">
          <a:xfrm>
            <a:off x="749300" y="225425"/>
            <a:ext cx="72866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查找（按</a:t>
            </a:r>
            <a:r>
              <a:rPr lang="zh-CN" altLang="en-US" dirty="0">
                <a:solidFill>
                  <a:schemeClr val="bg1"/>
                </a:solidFill>
                <a:latin typeface="+mn-lt"/>
                <a:ea typeface="+mn-ea"/>
                <a:cs typeface="+mn-ea"/>
                <a:sym typeface="+mn-lt"/>
              </a:rPr>
              <a:t>给定值获取</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数据所在的位置）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0" y="741363"/>
            <a:ext cx="9144000" cy="6116636"/>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3491" name="Rectangle 7"/>
          <p:cNvSpPr>
            <a:spLocks noChangeArrowheads="1"/>
          </p:cNvSpPr>
          <p:nvPr/>
        </p:nvSpPr>
        <p:spPr bwMode="auto">
          <a:xfrm>
            <a:off x="0" y="741364"/>
            <a:ext cx="9144000" cy="611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indent="0">
              <a:lnSpc>
                <a:spcPct val="150000"/>
              </a:lnSpc>
              <a:spcBef>
                <a:spcPts val="0"/>
              </a:spcBef>
              <a:defRPr/>
            </a:pP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在顺序表中查询第一个满足判定条件的数据元素，</a:t>
            </a:r>
          </a:p>
          <a:p>
            <a:pPr marL="0" indent="0">
              <a:lnSpc>
                <a:spcPct val="150000"/>
              </a:lnSpc>
              <a:spcBef>
                <a:spcPts val="0"/>
              </a:spcBef>
              <a:defRPr/>
            </a:pP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B050"/>
                </a:solidFill>
                <a:effectLst/>
                <a:uLnTx/>
                <a:uFillTx/>
                <a:latin typeface="+mn-lt"/>
                <a:ea typeface="+mn-ea"/>
                <a:cs typeface="+mn-ea"/>
                <a:sym typeface="+mn-lt"/>
              </a:rPr>
              <a:t>若存在，则返回它的位序，否则返回 </a:t>
            </a:r>
            <a:r>
              <a:rPr kumimoji="0" lang="en-US" altLang="zh-CN" sz="2800" b="0" i="0" u="none" strike="noStrike" kern="1200" cap="none" spc="0" normalizeH="0" baseline="0" noProof="0" dirty="0">
                <a:ln>
                  <a:noFill/>
                </a:ln>
                <a:solidFill>
                  <a:srgbClr val="00B050"/>
                </a:solidFill>
                <a:effectLst/>
                <a:uLnTx/>
                <a:uFillTx/>
                <a:latin typeface="+mn-lt"/>
                <a:ea typeface="+mn-ea"/>
                <a:cs typeface="+mn-ea"/>
                <a:sym typeface="+mn-lt"/>
              </a:rPr>
              <a:t>0</a:t>
            </a:r>
          </a:p>
          <a:p>
            <a:pPr marL="0" indent="0">
              <a:lnSpc>
                <a:spcPct val="150000"/>
              </a:lnSpc>
              <a:spcBef>
                <a:spcPts val="0"/>
              </a:spcBef>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LocateElem_Sq</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L,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 </a:t>
            </a:r>
          </a:p>
          <a:p>
            <a:pPr marL="0" indent="0">
              <a:lnSpc>
                <a:spcPct val="150000"/>
              </a:lnSpc>
              <a:spcBef>
                <a:spcPts val="0"/>
              </a:spcBef>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Status (*compare)(</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0" indent="0">
              <a:lnSpc>
                <a:spcPct val="150000"/>
              </a:lnSpc>
              <a:spcBef>
                <a:spcPts val="0"/>
              </a:spcBef>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lang="en-US" altLang="zh-CN" sz="2800" dirty="0">
                <a:latin typeface="+mn-lt"/>
                <a:ea typeface="+mn-ea"/>
                <a:cs typeface="+mn-ea"/>
                <a:sym typeface="+mn-lt"/>
              </a:rPr>
              <a:t> = 1;   p = </a:t>
            </a:r>
            <a:r>
              <a:rPr lang="en-US" altLang="zh-CN" sz="2800" dirty="0" err="1">
                <a:latin typeface="+mn-lt"/>
                <a:ea typeface="+mn-ea"/>
                <a:cs typeface="+mn-ea"/>
                <a:sym typeface="+mn-lt"/>
              </a:rPr>
              <a:t>L.elem</a:t>
            </a:r>
            <a:r>
              <a:rPr lang="en-US" altLang="zh-CN" sz="2800" dirty="0">
                <a:latin typeface="+mn-lt"/>
                <a:ea typeface="+mn-ea"/>
                <a:cs typeface="+mn-ea"/>
                <a:sym typeface="+mn-lt"/>
              </a:rPr>
              <a:t>; </a:t>
            </a:r>
          </a:p>
          <a:p>
            <a:pPr marL="0" indent="0">
              <a:lnSpc>
                <a:spcPct val="150000"/>
              </a:lnSpc>
              <a:spcBef>
                <a:spcPts val="0"/>
              </a:spcBef>
              <a:defRPr/>
            </a:pP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    while ( </a:t>
            </a:r>
            <a:r>
              <a:rPr kumimoji="0" lang="en-US" altLang="zh-CN" sz="2800" b="0" i="0" u="none" strike="noStrike" kern="1200" cap="none" spc="0" normalizeH="0" baseline="0" noProof="0" dirty="0" err="1">
                <a:ln>
                  <a:noFill/>
                </a:ln>
                <a:solidFill>
                  <a:srgbClr val="0000FF"/>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 &lt;= </a:t>
            </a:r>
            <a:r>
              <a:rPr kumimoji="0" lang="en-US" altLang="zh-CN" sz="2800" b="0" i="0" u="none" strike="noStrike" kern="1200" cap="none" spc="0" normalizeH="0" baseline="0" noProof="0" dirty="0" err="1">
                <a:ln>
                  <a:noFill/>
                </a:ln>
                <a:solidFill>
                  <a:srgbClr val="0000FF"/>
                </a:solidFill>
                <a:effectLst/>
                <a:uLnTx/>
                <a:uFillTx/>
                <a:latin typeface="+mn-lt"/>
                <a:ea typeface="+mn-ea"/>
                <a:cs typeface="+mn-ea"/>
                <a:sym typeface="+mn-lt"/>
              </a:rPr>
              <a:t>L.length</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 &amp;&amp; ! (*compare)(*p++, e) )  ++</a:t>
            </a:r>
            <a:r>
              <a:rPr kumimoji="0" lang="en-US" altLang="zh-CN" sz="2800" b="0" i="0" u="none" strike="noStrike" kern="1200" cap="none" spc="0" normalizeH="0" baseline="0" noProof="0" dirty="0" err="1">
                <a:ln>
                  <a:noFill/>
                </a:ln>
                <a:solidFill>
                  <a:srgbClr val="0000FF"/>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a:t>
            </a:r>
          </a:p>
          <a:p>
            <a:pPr marL="0" indent="0">
              <a:lnSpc>
                <a:spcPct val="150000"/>
              </a:lnSpc>
              <a:spcBef>
                <a:spcPts val="0"/>
              </a:spcBef>
              <a:defRPr/>
            </a:pPr>
            <a:r>
              <a:rPr lang="en-US" altLang="zh-CN" sz="2800" dirty="0">
                <a:latin typeface="+mn-lt"/>
                <a:ea typeface="+mn-ea"/>
                <a:cs typeface="+mn-ea"/>
                <a:sym typeface="+mn-lt"/>
              </a:rPr>
              <a:t>    if (</a:t>
            </a:r>
            <a:r>
              <a:rPr lang="en-US" altLang="zh-CN" sz="2800" dirty="0" err="1">
                <a:latin typeface="+mn-lt"/>
                <a:ea typeface="+mn-ea"/>
                <a:cs typeface="+mn-ea"/>
                <a:sym typeface="+mn-lt"/>
              </a:rPr>
              <a:t>i</a:t>
            </a:r>
            <a:r>
              <a:rPr lang="en-US" altLang="zh-CN" sz="2800" dirty="0">
                <a:latin typeface="+mn-lt"/>
                <a:ea typeface="+mn-ea"/>
                <a:cs typeface="+mn-ea"/>
                <a:sym typeface="+mn-lt"/>
              </a:rPr>
              <a:t> &lt;= </a:t>
            </a:r>
            <a:r>
              <a:rPr lang="en-US" altLang="zh-CN" sz="2800" dirty="0" err="1">
                <a:latin typeface="+mn-lt"/>
                <a:ea typeface="+mn-ea"/>
                <a:cs typeface="+mn-ea"/>
                <a:sym typeface="+mn-lt"/>
              </a:rPr>
              <a:t>L.length</a:t>
            </a:r>
            <a:r>
              <a:rPr lang="en-US" altLang="zh-CN" sz="2800" dirty="0">
                <a:latin typeface="+mn-lt"/>
                <a:ea typeface="+mn-ea"/>
                <a:cs typeface="+mn-ea"/>
                <a:sym typeface="+mn-lt"/>
              </a:rPr>
              <a:t>)  return </a:t>
            </a:r>
            <a:r>
              <a:rPr lang="en-US" altLang="zh-CN" sz="2800" dirty="0" err="1">
                <a:latin typeface="+mn-lt"/>
                <a:ea typeface="+mn-ea"/>
                <a:cs typeface="+mn-ea"/>
                <a:sym typeface="+mn-lt"/>
              </a:rPr>
              <a:t>i</a:t>
            </a:r>
            <a:r>
              <a:rPr lang="en-US" altLang="zh-CN" sz="2800" dirty="0">
                <a:latin typeface="+mn-lt"/>
                <a:ea typeface="+mn-ea"/>
                <a:cs typeface="+mn-ea"/>
                <a:sym typeface="+mn-lt"/>
              </a:rPr>
              <a:t>;</a:t>
            </a:r>
          </a:p>
          <a:p>
            <a:pPr marL="0" indent="0">
              <a:lnSpc>
                <a:spcPct val="150000"/>
              </a:lnSpc>
              <a:spcBef>
                <a:spcPts val="0"/>
              </a:spcBef>
              <a:defRPr/>
            </a:pPr>
            <a:r>
              <a:rPr lang="en-US" altLang="zh-CN" sz="2800" dirty="0">
                <a:latin typeface="+mn-lt"/>
                <a:ea typeface="+mn-ea"/>
                <a:cs typeface="+mn-ea"/>
                <a:sym typeface="+mn-lt"/>
              </a:rPr>
              <a:t>    else  return 0;</a:t>
            </a:r>
          </a:p>
          <a:p>
            <a:pPr marL="0" indent="0">
              <a:lnSpc>
                <a:spcPct val="150000"/>
              </a:lnSpc>
              <a:spcBef>
                <a:spcPts val="0"/>
              </a:spcBef>
              <a:defRPr/>
            </a:pPr>
            <a:r>
              <a:rPr lang="en-US" altLang="zh-CN" sz="2800" dirty="0">
                <a:latin typeface="+mn-lt"/>
                <a:ea typeface="+mn-ea"/>
                <a:cs typeface="+mn-ea"/>
                <a:sym typeface="+mn-lt"/>
              </a:rPr>
              <a:t>} </a:t>
            </a:r>
            <a:r>
              <a:rPr lang="en-US" altLang="zh-CN" sz="2800" dirty="0">
                <a:solidFill>
                  <a:srgbClr val="00B050"/>
                </a:solidFill>
                <a:latin typeface="+mn-lt"/>
                <a:ea typeface="+mn-ea"/>
                <a:cs typeface="+mn-ea"/>
                <a:sym typeface="+mn-lt"/>
              </a:rPr>
              <a:t>// </a:t>
            </a:r>
            <a:r>
              <a:rPr lang="en-US" altLang="zh-CN" sz="2800" dirty="0" err="1">
                <a:solidFill>
                  <a:srgbClr val="00B050"/>
                </a:solidFill>
                <a:latin typeface="+mn-lt"/>
                <a:ea typeface="+mn-ea"/>
                <a:cs typeface="+mn-ea"/>
                <a:sym typeface="+mn-lt"/>
              </a:rPr>
              <a:t>LocateElem_Sq</a:t>
            </a:r>
            <a:endParaRPr lang="en-US" altLang="zh-CN" sz="2800" dirty="0">
              <a:solidFill>
                <a:srgbClr val="00B050"/>
              </a:solidFill>
              <a:latin typeface="+mn-lt"/>
              <a:ea typeface="+mn-ea"/>
              <a:cs typeface="+mn-ea"/>
              <a:sym typeface="+mn-lt"/>
            </a:endParaRPr>
          </a:p>
          <a:p>
            <a:pPr marL="0" indent="0">
              <a:lnSpc>
                <a:spcPct val="150000"/>
              </a:lnSpc>
              <a:spcBef>
                <a:spcPts val="0"/>
              </a:spcBef>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indent="0">
              <a:lnSpc>
                <a:spcPct val="150000"/>
              </a:lnSpc>
              <a:spcBef>
                <a:spcPts val="0"/>
              </a:spcBef>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 name="Rectangle 11"/>
          <p:cNvSpPr>
            <a:spLocks noChangeArrowheads="1"/>
          </p:cNvSpPr>
          <p:nvPr/>
        </p:nvSpPr>
        <p:spPr bwMode="auto">
          <a:xfrm>
            <a:off x="749300" y="225425"/>
            <a:ext cx="72866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a:t>
            </a:r>
            <a:r>
              <a:rPr lang="zh-CN" altLang="en-US" dirty="0">
                <a:solidFill>
                  <a:schemeClr val="bg1"/>
                </a:solidFill>
                <a:latin typeface="+mn-lt"/>
                <a:ea typeface="+mn-ea"/>
                <a:cs typeface="+mn-ea"/>
                <a:sym typeface="+mn-lt"/>
              </a:rPr>
              <a:t>按给定值获取</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数据所在的位置） </a:t>
            </a:r>
          </a:p>
        </p:txBody>
      </p:sp>
      <p:sp>
        <p:nvSpPr>
          <p:cNvPr id="22" name="文本框 21">
            <a:extLst>
              <a:ext uri="{FF2B5EF4-FFF2-40B4-BE49-F238E27FC236}">
                <a16:creationId xmlns:a16="http://schemas.microsoft.com/office/drawing/2014/main" id="{79943928-B24F-416D-A044-F79204B11BC3}"/>
              </a:ext>
            </a:extLst>
          </p:cNvPr>
          <p:cNvSpPr txBox="1"/>
          <p:nvPr/>
        </p:nvSpPr>
        <p:spPr>
          <a:xfrm>
            <a:off x="6228184" y="5955358"/>
            <a:ext cx="2646878" cy="584775"/>
          </a:xfrm>
          <a:prstGeom prst="rect">
            <a:avLst/>
          </a:prstGeom>
          <a:noFill/>
        </p:spPr>
        <p:txBody>
          <a:bodyPr wrap="none" rtlCol="0">
            <a:spAutoFit/>
          </a:bodyPr>
          <a:lstStyle/>
          <a:p>
            <a:r>
              <a:rPr lang="zh-CN" altLang="en-US" sz="3200" dirty="0">
                <a:solidFill>
                  <a:srgbClr val="FF0000"/>
                </a:solidFill>
                <a:latin typeface="华文新魏" panose="02010800040101010101" pitchFamily="2" charset="-122"/>
                <a:ea typeface="华文新魏" panose="02010800040101010101" pitchFamily="2" charset="-122"/>
              </a:rPr>
              <a:t>时间复杂度？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80">
                                          <p:stCondLst>
                                            <p:cond delay="0"/>
                                          </p:stCondLst>
                                        </p:cTn>
                                        <p:tgtEl>
                                          <p:spTgt spid="22"/>
                                        </p:tgtEl>
                                      </p:cBhvr>
                                    </p:animEffect>
                                    <p:anim calcmode="lin" valueType="num">
                                      <p:cBhvr>
                                        <p:cTn id="8"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13" dur="26">
                                          <p:stCondLst>
                                            <p:cond delay="650"/>
                                          </p:stCondLst>
                                        </p:cTn>
                                        <p:tgtEl>
                                          <p:spTgt spid="22"/>
                                        </p:tgtEl>
                                      </p:cBhvr>
                                      <p:to x="100000" y="60000"/>
                                    </p:animScale>
                                    <p:animScale>
                                      <p:cBhvr>
                                        <p:cTn id="14" dur="166" decel="50000">
                                          <p:stCondLst>
                                            <p:cond delay="676"/>
                                          </p:stCondLst>
                                        </p:cTn>
                                        <p:tgtEl>
                                          <p:spTgt spid="22"/>
                                        </p:tgtEl>
                                      </p:cBhvr>
                                      <p:to x="100000" y="100000"/>
                                    </p:animScale>
                                    <p:animScale>
                                      <p:cBhvr>
                                        <p:cTn id="15" dur="26">
                                          <p:stCondLst>
                                            <p:cond delay="1312"/>
                                          </p:stCondLst>
                                        </p:cTn>
                                        <p:tgtEl>
                                          <p:spTgt spid="22"/>
                                        </p:tgtEl>
                                      </p:cBhvr>
                                      <p:to x="100000" y="80000"/>
                                    </p:animScale>
                                    <p:animScale>
                                      <p:cBhvr>
                                        <p:cTn id="16" dur="166" decel="50000">
                                          <p:stCondLst>
                                            <p:cond delay="1338"/>
                                          </p:stCondLst>
                                        </p:cTn>
                                        <p:tgtEl>
                                          <p:spTgt spid="22"/>
                                        </p:tgtEl>
                                      </p:cBhvr>
                                      <p:to x="100000" y="100000"/>
                                    </p:animScale>
                                    <p:animScale>
                                      <p:cBhvr>
                                        <p:cTn id="17" dur="26">
                                          <p:stCondLst>
                                            <p:cond delay="1642"/>
                                          </p:stCondLst>
                                        </p:cTn>
                                        <p:tgtEl>
                                          <p:spTgt spid="22"/>
                                        </p:tgtEl>
                                      </p:cBhvr>
                                      <p:to x="100000" y="90000"/>
                                    </p:animScale>
                                    <p:animScale>
                                      <p:cBhvr>
                                        <p:cTn id="18" dur="166" decel="50000">
                                          <p:stCondLst>
                                            <p:cond delay="1668"/>
                                          </p:stCondLst>
                                        </p:cTn>
                                        <p:tgtEl>
                                          <p:spTgt spid="22"/>
                                        </p:tgtEl>
                                      </p:cBhvr>
                                      <p:to x="100000" y="100000"/>
                                    </p:animScale>
                                    <p:animScale>
                                      <p:cBhvr>
                                        <p:cTn id="19" dur="26">
                                          <p:stCondLst>
                                            <p:cond delay="1808"/>
                                          </p:stCondLst>
                                        </p:cTn>
                                        <p:tgtEl>
                                          <p:spTgt spid="22"/>
                                        </p:tgtEl>
                                      </p:cBhvr>
                                      <p:to x="100000" y="95000"/>
                                    </p:animScale>
                                    <p:animScale>
                                      <p:cBhvr>
                                        <p:cTn id="20" dur="166" decel="50000">
                                          <p:stCondLst>
                                            <p:cond delay="1834"/>
                                          </p:stCondLst>
                                        </p:cTn>
                                        <p:tgtEl>
                                          <p:spTgt spid="2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749300" y="225425"/>
            <a:ext cx="72866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查找算法时间复杂度分析</a:t>
            </a:r>
          </a:p>
        </p:txBody>
      </p:sp>
      <p:sp>
        <p:nvSpPr>
          <p:cNvPr id="3" name="内容占位符 2">
            <a:extLst>
              <a:ext uri="{FF2B5EF4-FFF2-40B4-BE49-F238E27FC236}">
                <a16:creationId xmlns:a16="http://schemas.microsoft.com/office/drawing/2014/main" id="{2D8B5736-B977-43BF-BBE1-AD3C36E76571}"/>
              </a:ext>
            </a:extLst>
          </p:cNvPr>
          <p:cNvSpPr>
            <a:spLocks noGrp="1"/>
          </p:cNvSpPr>
          <p:nvPr>
            <p:ph idx="1"/>
          </p:nvPr>
        </p:nvSpPr>
        <p:spPr>
          <a:xfrm>
            <a:off x="341119" y="746519"/>
            <a:ext cx="8457604" cy="5741816"/>
          </a:xfrm>
        </p:spPr>
        <p:txBody>
          <a:bodyPr/>
          <a:lstStyle/>
          <a:p>
            <a:pPr marL="457200" indent="-457200">
              <a:buFont typeface="Arial" panose="020B0604020202020204" pitchFamily="34" charset="0"/>
              <a:buChar char="•"/>
            </a:pPr>
            <a:r>
              <a:rPr kumimoji="1" lang="zh-CN" altLang="en-US" dirty="0">
                <a:solidFill>
                  <a:schemeClr val="tx1"/>
                </a:solidFill>
                <a:latin typeface="+mn-ea"/>
                <a:ea typeface="+mn-ea"/>
              </a:rPr>
              <a:t>查找成功的平均比较次数：</a:t>
            </a:r>
            <a:br>
              <a:rPr kumimoji="1" lang="zh-CN" altLang="en-US" dirty="0">
                <a:solidFill>
                  <a:schemeClr val="tx1"/>
                </a:solidFill>
                <a:latin typeface="+mn-ea"/>
                <a:ea typeface="+mn-ea"/>
              </a:rPr>
            </a:br>
            <a:r>
              <a:rPr kumimoji="1" lang="en-US" altLang="zh-CN" dirty="0">
                <a:solidFill>
                  <a:schemeClr val="tx1"/>
                </a:solidFill>
                <a:latin typeface="+mn-ea"/>
                <a:ea typeface="+mn-ea"/>
              </a:rPr>
              <a:t>                                       </a:t>
            </a:r>
            <a:r>
              <a:rPr kumimoji="1" lang="en-US" altLang="zh-CN" i="1" dirty="0">
                <a:solidFill>
                  <a:srgbClr val="0000FF"/>
                </a:solidFill>
                <a:latin typeface="+mn-ea"/>
                <a:ea typeface="+mn-ea"/>
              </a:rPr>
              <a:t>p</a:t>
            </a:r>
            <a:r>
              <a:rPr kumimoji="1" lang="en-US" altLang="zh-CN" i="1" baseline="-25000" dirty="0">
                <a:solidFill>
                  <a:srgbClr val="0000FF"/>
                </a:solidFill>
                <a:latin typeface="+mn-ea"/>
                <a:ea typeface="+mn-ea"/>
              </a:rPr>
              <a:t>i</a:t>
            </a:r>
            <a:r>
              <a:rPr kumimoji="1" lang="en-US" altLang="zh-CN" dirty="0">
                <a:solidFill>
                  <a:srgbClr val="0000FF"/>
                </a:solidFill>
                <a:latin typeface="+mn-ea"/>
                <a:ea typeface="+mn-ea"/>
              </a:rPr>
              <a:t> </a:t>
            </a:r>
            <a:r>
              <a:rPr kumimoji="1" lang="zh-CN" altLang="en-US" dirty="0">
                <a:solidFill>
                  <a:srgbClr val="0000FF"/>
                </a:solidFill>
                <a:latin typeface="+mn-ea"/>
                <a:ea typeface="+mn-ea"/>
              </a:rPr>
              <a:t>是搜索第 </a:t>
            </a:r>
            <a:r>
              <a:rPr kumimoji="1" lang="en-US" altLang="zh-CN" dirty="0" err="1">
                <a:solidFill>
                  <a:srgbClr val="0000FF"/>
                </a:solidFill>
                <a:latin typeface="+mn-ea"/>
                <a:ea typeface="+mn-ea"/>
              </a:rPr>
              <a:t>i</a:t>
            </a:r>
            <a:r>
              <a:rPr kumimoji="1" lang="en-US" altLang="zh-CN" dirty="0">
                <a:solidFill>
                  <a:srgbClr val="0000FF"/>
                </a:solidFill>
                <a:latin typeface="+mn-ea"/>
                <a:ea typeface="+mn-ea"/>
              </a:rPr>
              <a:t> </a:t>
            </a:r>
            <a:r>
              <a:rPr kumimoji="1" lang="zh-CN" altLang="en-US" dirty="0">
                <a:solidFill>
                  <a:srgbClr val="0000FF"/>
                </a:solidFill>
                <a:latin typeface="+mn-ea"/>
                <a:ea typeface="+mn-ea"/>
              </a:rPr>
              <a:t>项的概率</a:t>
            </a:r>
          </a:p>
          <a:p>
            <a:r>
              <a:rPr kumimoji="1" lang="zh-CN" altLang="en-US" dirty="0">
                <a:solidFill>
                  <a:schemeClr val="tx1"/>
                </a:solidFill>
                <a:latin typeface="+mn-ea"/>
                <a:ea typeface="+mn-ea"/>
              </a:rPr>
              <a:t>					</a:t>
            </a:r>
            <a:r>
              <a:rPr kumimoji="1" lang="en-US" altLang="zh-CN" i="1" dirty="0">
                <a:solidFill>
                  <a:srgbClr val="0000FF"/>
                </a:solidFill>
                <a:latin typeface="+mn-ea"/>
                <a:ea typeface="+mn-ea"/>
              </a:rPr>
              <a:t>c</a:t>
            </a:r>
            <a:r>
              <a:rPr kumimoji="1" lang="en-US" altLang="zh-CN" i="1" baseline="-25000" dirty="0">
                <a:solidFill>
                  <a:srgbClr val="0000FF"/>
                </a:solidFill>
                <a:latin typeface="+mn-ea"/>
                <a:ea typeface="+mn-ea"/>
              </a:rPr>
              <a:t>i</a:t>
            </a:r>
            <a:r>
              <a:rPr kumimoji="1" lang="en-US" altLang="zh-CN" dirty="0">
                <a:solidFill>
                  <a:srgbClr val="0000FF"/>
                </a:solidFill>
                <a:latin typeface="+mn-ea"/>
                <a:ea typeface="+mn-ea"/>
              </a:rPr>
              <a:t> </a:t>
            </a:r>
            <a:r>
              <a:rPr kumimoji="1" lang="zh-CN" altLang="en-US" dirty="0">
                <a:solidFill>
                  <a:srgbClr val="0000FF"/>
                </a:solidFill>
                <a:latin typeface="+mn-ea"/>
                <a:ea typeface="+mn-ea"/>
              </a:rPr>
              <a:t>是找到时的比较次数</a:t>
            </a:r>
          </a:p>
          <a:p>
            <a:pPr marL="457200" indent="-457200">
              <a:buFont typeface="Arial" panose="020B0604020202020204" pitchFamily="34" charset="0"/>
              <a:buChar char="•"/>
            </a:pPr>
            <a:r>
              <a:rPr kumimoji="1" lang="zh-CN" altLang="en-US" dirty="0">
                <a:solidFill>
                  <a:schemeClr val="tx1"/>
                </a:solidFill>
                <a:latin typeface="+mn-ea"/>
                <a:ea typeface="+mn-ea"/>
              </a:rPr>
              <a:t>若查找概率相等，则</a:t>
            </a:r>
            <a:br>
              <a:rPr kumimoji="1" lang="zh-CN" altLang="en-US" dirty="0">
                <a:solidFill>
                  <a:schemeClr val="tx1"/>
                </a:solidFill>
                <a:latin typeface="+mn-ea"/>
                <a:ea typeface="+mn-ea"/>
              </a:rPr>
            </a:br>
            <a:br>
              <a:rPr kumimoji="1" lang="zh-CN" altLang="en-US" dirty="0">
                <a:solidFill>
                  <a:schemeClr val="tx1"/>
                </a:solidFill>
                <a:latin typeface="+mn-ea"/>
                <a:ea typeface="+mn-ea"/>
              </a:rPr>
            </a:br>
            <a:endParaRPr kumimoji="1" lang="zh-CN" altLang="en-US" dirty="0">
              <a:solidFill>
                <a:schemeClr val="tx1"/>
              </a:solidFill>
              <a:latin typeface="+mn-ea"/>
              <a:ea typeface="+mn-ea"/>
            </a:endParaRPr>
          </a:p>
          <a:p>
            <a:pPr marL="457200" indent="-457200">
              <a:buFont typeface="Arial" panose="020B0604020202020204" pitchFamily="34" charset="0"/>
              <a:buChar char="•"/>
            </a:pPr>
            <a:endParaRPr kumimoji="1" lang="zh-CN" altLang="en-US" dirty="0">
              <a:solidFill>
                <a:schemeClr val="tx1"/>
              </a:solidFill>
              <a:latin typeface="+mn-ea"/>
              <a:ea typeface="+mn-ea"/>
            </a:endParaRPr>
          </a:p>
          <a:p>
            <a:pPr marL="457200" indent="-457200">
              <a:buFont typeface="Arial" panose="020B0604020202020204" pitchFamily="34" charset="0"/>
              <a:buChar char="•"/>
            </a:pPr>
            <a:endParaRPr kumimoji="1" lang="zh-CN" altLang="en-US" dirty="0">
              <a:solidFill>
                <a:schemeClr val="tx1"/>
              </a:solidFill>
              <a:latin typeface="+mn-ea"/>
              <a:ea typeface="+mn-ea"/>
            </a:endParaRPr>
          </a:p>
          <a:p>
            <a:pPr marL="457200" indent="-457200">
              <a:buFont typeface="Arial" panose="020B0604020202020204" pitchFamily="34" charset="0"/>
              <a:buChar char="•"/>
            </a:pPr>
            <a:r>
              <a:rPr kumimoji="1" lang="zh-CN" altLang="en-US" dirty="0">
                <a:solidFill>
                  <a:schemeClr val="tx1"/>
                </a:solidFill>
                <a:latin typeface="+mn-ea"/>
                <a:ea typeface="+mn-ea"/>
              </a:rPr>
              <a:t>查找不成功：数据比较 </a:t>
            </a:r>
            <a:r>
              <a:rPr kumimoji="1" lang="en-US" altLang="zh-CN" dirty="0">
                <a:solidFill>
                  <a:schemeClr val="tx1"/>
                </a:solidFill>
                <a:latin typeface="+mn-ea"/>
                <a:ea typeface="+mn-ea"/>
              </a:rPr>
              <a:t>n </a:t>
            </a:r>
            <a:r>
              <a:rPr kumimoji="1" lang="zh-CN" altLang="en-US" dirty="0">
                <a:solidFill>
                  <a:schemeClr val="tx1"/>
                </a:solidFill>
                <a:latin typeface="+mn-ea"/>
                <a:ea typeface="+mn-ea"/>
              </a:rPr>
              <a:t>次。</a:t>
            </a:r>
            <a:endParaRPr lang="zh-CN" altLang="en-US" dirty="0">
              <a:latin typeface="+mn-ea"/>
              <a:ea typeface="+mn-ea"/>
            </a:endParaRPr>
          </a:p>
        </p:txBody>
      </p:sp>
      <p:graphicFrame>
        <p:nvGraphicFramePr>
          <p:cNvPr id="8" name="Object 3">
            <a:extLst>
              <a:ext uri="{FF2B5EF4-FFF2-40B4-BE49-F238E27FC236}">
                <a16:creationId xmlns:a16="http://schemas.microsoft.com/office/drawing/2014/main" id="{70D22CE0-479C-4775-98E5-BB7617A7187B}"/>
              </a:ext>
            </a:extLst>
          </p:cNvPr>
          <p:cNvGraphicFramePr>
            <a:graphicFrameLocks noChangeAspect="1"/>
          </p:cNvGraphicFramePr>
          <p:nvPr>
            <p:extLst>
              <p:ext uri="{D42A27DB-BD31-4B8C-83A1-F6EECF244321}">
                <p14:modId xmlns:p14="http://schemas.microsoft.com/office/powerpoint/2010/main" val="837269526"/>
              </p:ext>
            </p:extLst>
          </p:nvPr>
        </p:nvGraphicFramePr>
        <p:xfrm>
          <a:off x="1547663" y="1407433"/>
          <a:ext cx="2934383" cy="1290808"/>
        </p:xfrm>
        <a:graphic>
          <a:graphicData uri="http://schemas.openxmlformats.org/presentationml/2006/ole">
            <mc:AlternateContent xmlns:mc="http://schemas.openxmlformats.org/markup-compatibility/2006">
              <mc:Choice xmlns:v="urn:schemas-microsoft-com:vml" Requires="v">
                <p:oleObj spid="_x0000_s21666" name="公式" r:id="rId3" imgW="1054080" imgH="431640" progId="Equation.3">
                  <p:embed/>
                </p:oleObj>
              </mc:Choice>
              <mc:Fallback>
                <p:oleObj name="公式" r:id="rId3" imgW="1054080" imgH="431640" progId="Equation.3">
                  <p:embed/>
                  <p:pic>
                    <p:nvPicPr>
                      <p:cNvPr id="155651" name="Object 3">
                        <a:extLst>
                          <a:ext uri="{FF2B5EF4-FFF2-40B4-BE49-F238E27FC236}">
                            <a16:creationId xmlns:a16="http://schemas.microsoft.com/office/drawing/2014/main" id="{222C3699-6E0E-4C27-8002-9D89A57EF1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3" y="1407433"/>
                        <a:ext cx="2934383" cy="1290808"/>
                      </a:xfrm>
                      <a:prstGeom prst="rect">
                        <a:avLst/>
                      </a:prstGeom>
                      <a:noFill/>
                      <a:ln>
                        <a:noFill/>
                      </a:ln>
                    </p:spPr>
                  </p:pic>
                </p:oleObj>
              </mc:Fallback>
            </mc:AlternateContent>
          </a:graphicData>
        </a:graphic>
      </p:graphicFrame>
      <p:graphicFrame>
        <p:nvGraphicFramePr>
          <p:cNvPr id="9" name="Object 4">
            <a:extLst>
              <a:ext uri="{FF2B5EF4-FFF2-40B4-BE49-F238E27FC236}">
                <a16:creationId xmlns:a16="http://schemas.microsoft.com/office/drawing/2014/main" id="{F1C2238A-EA45-4F52-B963-77B7B256B08B}"/>
              </a:ext>
            </a:extLst>
          </p:cNvPr>
          <p:cNvGraphicFramePr>
            <a:graphicFrameLocks noChangeAspect="1"/>
          </p:cNvGraphicFramePr>
          <p:nvPr>
            <p:extLst>
              <p:ext uri="{D42A27DB-BD31-4B8C-83A1-F6EECF244321}">
                <p14:modId xmlns:p14="http://schemas.microsoft.com/office/powerpoint/2010/main" val="2386533958"/>
              </p:ext>
            </p:extLst>
          </p:nvPr>
        </p:nvGraphicFramePr>
        <p:xfrm>
          <a:off x="1026161" y="3453319"/>
          <a:ext cx="6282143" cy="2365349"/>
        </p:xfrm>
        <a:graphic>
          <a:graphicData uri="http://schemas.openxmlformats.org/presentationml/2006/ole">
            <mc:AlternateContent xmlns:mc="http://schemas.openxmlformats.org/markup-compatibility/2006">
              <mc:Choice xmlns:v="urn:schemas-microsoft-com:vml" Requires="v">
                <p:oleObj spid="_x0000_s21667" name="公式" r:id="rId5" imgW="2158920" imgH="838080" progId="Equation.3">
                  <p:embed/>
                </p:oleObj>
              </mc:Choice>
              <mc:Fallback>
                <p:oleObj name="公式" r:id="rId5" imgW="2158920" imgH="838080" progId="Equation.3">
                  <p:embed/>
                  <p:pic>
                    <p:nvPicPr>
                      <p:cNvPr id="155652" name="Object 4">
                        <a:extLst>
                          <a:ext uri="{FF2B5EF4-FFF2-40B4-BE49-F238E27FC236}">
                            <a16:creationId xmlns:a16="http://schemas.microsoft.com/office/drawing/2014/main" id="{A1B1AF8E-8967-43CF-9D3A-BC1BEE345A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161" y="3453319"/>
                        <a:ext cx="6282143" cy="236534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257877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5"/>
          <p:cNvSpPr>
            <a:spLocks noGrp="1" noChangeArrowheads="1"/>
          </p:cNvSpPr>
          <p:nvPr>
            <p:ph idx="1" hasCustomPrompt="1"/>
          </p:nvPr>
        </p:nvSpPr>
        <p:spPr>
          <a:xfrm>
            <a:off x="627063" y="220663"/>
            <a:ext cx="4559300" cy="552450"/>
          </a:xfrm>
        </p:spPr>
        <p:txBody>
          <a:bodyPr vert="horz" wrap="square" lIns="91440" tIns="45720" rIns="91440" bIns="45720" numCol="1" anchor="ctr" anchorCtr="0" compatLnSpc="1"/>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4" name="Freeform 5"/>
          <p:cNvSpPr/>
          <p:nvPr/>
        </p:nvSpPr>
        <p:spPr bwMode="auto">
          <a:xfrm>
            <a:off x="4984750" y="1636713"/>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105025" y="2382838"/>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794000" y="4002088"/>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720975" y="2036763"/>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889250" y="4073525"/>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243138" y="2484438"/>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984750" y="1752600"/>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327650" y="3617913"/>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97388" y="4657725"/>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587750" y="2900363"/>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749675" y="4278313"/>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713163" y="3438525"/>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5076825" y="3184525"/>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338763" y="3868738"/>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700588" y="4586288"/>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943350" y="3255963"/>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859588" y="1557338"/>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953125" y="4106863"/>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316413" y="5478463"/>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470775" y="1528763"/>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129463" y="4835525"/>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981200" y="4711700"/>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265613" y="5980113"/>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981450" y="3535363"/>
            <a:ext cx="1204913" cy="861809"/>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570464" y="1341438"/>
            <a:ext cx="1438924"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初始化</a:t>
            </a:r>
          </a:p>
        </p:txBody>
      </p:sp>
      <p:sp>
        <p:nvSpPr>
          <p:cNvPr id="69" name="TextBox 200"/>
          <p:cNvSpPr txBox="1"/>
          <p:nvPr/>
        </p:nvSpPr>
        <p:spPr bwMode="auto">
          <a:xfrm>
            <a:off x="3102780" y="584041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0" cap="none" spc="300" normalizeH="0" baseline="0" noProof="0" dirty="0">
                <a:ln>
                  <a:noFill/>
                </a:ln>
                <a:solidFill>
                  <a:schemeClr val="tx1"/>
                </a:solidFill>
                <a:effectLst/>
                <a:uLnTx/>
                <a:uFillTx/>
                <a:latin typeface="+mn-lt"/>
                <a:ea typeface="+mn-ea"/>
                <a:cs typeface="+mn-ea"/>
                <a:sym typeface="+mn-lt"/>
              </a:rPr>
              <a:t>查找</a:t>
            </a:r>
          </a:p>
        </p:txBody>
      </p:sp>
      <p:sp>
        <p:nvSpPr>
          <p:cNvPr id="70" name="TextBox 202"/>
          <p:cNvSpPr txBox="1"/>
          <p:nvPr/>
        </p:nvSpPr>
        <p:spPr bwMode="auto">
          <a:xfrm>
            <a:off x="798523" y="454501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300" normalizeH="0" baseline="0" noProof="0" dirty="0">
                <a:ln>
                  <a:noFill/>
                </a:ln>
                <a:solidFill>
                  <a:srgbClr val="FF0000"/>
                </a:solidFill>
                <a:effectLst/>
                <a:uLnTx/>
                <a:uFillTx/>
                <a:latin typeface="+mn-lt"/>
                <a:ea typeface="+mn-ea"/>
                <a:cs typeface="+mn-ea"/>
                <a:sym typeface="+mn-lt"/>
              </a:rPr>
              <a:t>插入</a:t>
            </a:r>
          </a:p>
        </p:txBody>
      </p:sp>
      <p:sp>
        <p:nvSpPr>
          <p:cNvPr id="71" name="TextBox 204"/>
          <p:cNvSpPr txBox="1"/>
          <p:nvPr/>
        </p:nvSpPr>
        <p:spPr bwMode="auto">
          <a:xfrm>
            <a:off x="7481888" y="4687888"/>
            <a:ext cx="1039813" cy="554038"/>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0" cap="none" spc="300" normalizeH="0" baseline="0" noProof="0" dirty="0">
                <a:ln>
                  <a:noFill/>
                </a:ln>
                <a:solidFill>
                  <a:schemeClr val="tx1"/>
                </a:solidFill>
                <a:effectLst/>
                <a:uLnTx/>
                <a:uFillTx/>
                <a:latin typeface="+mn-lt"/>
                <a:ea typeface="+mn-ea"/>
                <a:cs typeface="+mn-ea"/>
                <a:sym typeface="+mn-lt"/>
              </a:rPr>
              <a:t>取值</a:t>
            </a:r>
          </a:p>
        </p:txBody>
      </p:sp>
      <p:sp>
        <p:nvSpPr>
          <p:cNvPr id="72" name="TextBox 206"/>
          <p:cNvSpPr txBox="1"/>
          <p:nvPr/>
        </p:nvSpPr>
        <p:spPr bwMode="auto">
          <a:xfrm>
            <a:off x="296080" y="2501900"/>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schemeClr val="tx1"/>
                </a:solidFill>
                <a:effectLst/>
                <a:uLnTx/>
                <a:uFillTx/>
                <a:latin typeface="+mn-lt"/>
                <a:ea typeface="+mn-ea"/>
                <a:cs typeface="+mn-ea"/>
                <a:sym typeface="+mn-lt"/>
              </a:rPr>
              <a:t>删除</a:t>
            </a:r>
          </a:p>
        </p:txBody>
      </p:sp>
      <p:sp>
        <p:nvSpPr>
          <p:cNvPr id="73" name="TextBox 210"/>
          <p:cNvSpPr txBox="1"/>
          <p:nvPr/>
        </p:nvSpPr>
        <p:spPr bwMode="auto">
          <a:xfrm>
            <a:off x="5629275" y="22780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752725" y="30019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152775" y="43354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714875" y="47545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591175" y="374491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2049463" y="4768850"/>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582738" y="2747963"/>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530350" y="2717800"/>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Tree>
    <p:extLst>
      <p:ext uri="{BB962C8B-B14F-4D97-AF65-F5344CB8AC3E}">
        <p14:creationId xmlns:p14="http://schemas.microsoft.com/office/powerpoint/2010/main" val="30008422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04CB1BA-6CF0-410D-B033-557688F0A0C3}"/>
              </a:ext>
            </a:extLst>
          </p:cNvPr>
          <p:cNvGrpSpPr/>
          <p:nvPr/>
        </p:nvGrpSpPr>
        <p:grpSpPr>
          <a:xfrm>
            <a:off x="0" y="985267"/>
            <a:ext cx="8532439" cy="5684093"/>
            <a:chOff x="3476" y="1057275"/>
            <a:chExt cx="8362649" cy="4893647"/>
          </a:xfrm>
        </p:grpSpPr>
        <p:sp>
          <p:nvSpPr>
            <p:cNvPr id="64514" name="Rectangle 1037"/>
            <p:cNvSpPr>
              <a:spLocks noChangeArrowheads="1"/>
            </p:cNvSpPr>
            <p:nvPr/>
          </p:nvSpPr>
          <p:spPr bwMode="auto">
            <a:xfrm>
              <a:off x="15081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5" name="Line 1038"/>
            <p:cNvSpPr>
              <a:spLocks noChangeShapeType="1"/>
            </p:cNvSpPr>
            <p:nvPr/>
          </p:nvSpPr>
          <p:spPr bwMode="auto">
            <a:xfrm>
              <a:off x="15081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6" name="Line 1039"/>
            <p:cNvSpPr>
              <a:spLocks noChangeShapeType="1"/>
            </p:cNvSpPr>
            <p:nvPr/>
          </p:nvSpPr>
          <p:spPr bwMode="auto">
            <a:xfrm>
              <a:off x="15081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7" name="Line 1040"/>
            <p:cNvSpPr>
              <a:spLocks noChangeShapeType="1"/>
            </p:cNvSpPr>
            <p:nvPr/>
          </p:nvSpPr>
          <p:spPr bwMode="auto">
            <a:xfrm>
              <a:off x="15081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8" name="Line 1041"/>
            <p:cNvSpPr>
              <a:spLocks noChangeShapeType="1"/>
            </p:cNvSpPr>
            <p:nvPr/>
          </p:nvSpPr>
          <p:spPr bwMode="auto">
            <a:xfrm>
              <a:off x="15081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19" name="Line 1042"/>
            <p:cNvSpPr>
              <a:spLocks noChangeShapeType="1"/>
            </p:cNvSpPr>
            <p:nvPr/>
          </p:nvSpPr>
          <p:spPr bwMode="auto">
            <a:xfrm>
              <a:off x="15081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0" name="Line 1043"/>
            <p:cNvSpPr>
              <a:spLocks noChangeShapeType="1"/>
            </p:cNvSpPr>
            <p:nvPr/>
          </p:nvSpPr>
          <p:spPr bwMode="auto">
            <a:xfrm>
              <a:off x="15081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1" name="Line 1044"/>
            <p:cNvSpPr>
              <a:spLocks noChangeShapeType="1"/>
            </p:cNvSpPr>
            <p:nvPr/>
          </p:nvSpPr>
          <p:spPr bwMode="auto">
            <a:xfrm>
              <a:off x="15081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2" name="Line 1045"/>
            <p:cNvSpPr>
              <a:spLocks noChangeShapeType="1"/>
            </p:cNvSpPr>
            <p:nvPr/>
          </p:nvSpPr>
          <p:spPr bwMode="auto">
            <a:xfrm>
              <a:off x="15081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3" name="Text Box 1046"/>
            <p:cNvSpPr txBox="1">
              <a:spLocks noChangeArrowheads="1"/>
            </p:cNvSpPr>
            <p:nvPr/>
          </p:nvSpPr>
          <p:spPr bwMode="auto">
            <a:xfrm>
              <a:off x="1508125" y="1057275"/>
              <a:ext cx="76200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14</a:t>
              </a:r>
            </a:p>
          </p:txBody>
        </p:sp>
        <p:sp>
          <p:nvSpPr>
            <p:cNvPr id="64524" name="Text Box 1047"/>
            <p:cNvSpPr txBox="1">
              <a:spLocks noChangeArrowheads="1"/>
            </p:cNvSpPr>
            <p:nvPr/>
          </p:nvSpPr>
          <p:spPr bwMode="auto">
            <a:xfrm>
              <a:off x="974725" y="1057275"/>
              <a:ext cx="7620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4</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8</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64525" name="Rectangle 1048"/>
            <p:cNvSpPr>
              <a:spLocks noChangeArrowheads="1"/>
            </p:cNvSpPr>
            <p:nvPr/>
          </p:nvSpPr>
          <p:spPr bwMode="auto">
            <a:xfrm>
              <a:off x="75279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6" name="Line 1049"/>
            <p:cNvSpPr>
              <a:spLocks noChangeShapeType="1"/>
            </p:cNvSpPr>
            <p:nvPr/>
          </p:nvSpPr>
          <p:spPr bwMode="auto">
            <a:xfrm>
              <a:off x="75279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7" name="Line 1050"/>
            <p:cNvSpPr>
              <a:spLocks noChangeShapeType="1"/>
            </p:cNvSpPr>
            <p:nvPr/>
          </p:nvSpPr>
          <p:spPr bwMode="auto">
            <a:xfrm>
              <a:off x="75279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8" name="Line 1051"/>
            <p:cNvSpPr>
              <a:spLocks noChangeShapeType="1"/>
            </p:cNvSpPr>
            <p:nvPr/>
          </p:nvSpPr>
          <p:spPr bwMode="auto">
            <a:xfrm>
              <a:off x="75279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29" name="Line 1052"/>
            <p:cNvSpPr>
              <a:spLocks noChangeShapeType="1"/>
            </p:cNvSpPr>
            <p:nvPr/>
          </p:nvSpPr>
          <p:spPr bwMode="auto">
            <a:xfrm>
              <a:off x="75279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0" name="Line 1053"/>
            <p:cNvSpPr>
              <a:spLocks noChangeShapeType="1"/>
            </p:cNvSpPr>
            <p:nvPr/>
          </p:nvSpPr>
          <p:spPr bwMode="auto">
            <a:xfrm>
              <a:off x="75279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1" name="Line 1054"/>
            <p:cNvSpPr>
              <a:spLocks noChangeShapeType="1"/>
            </p:cNvSpPr>
            <p:nvPr/>
          </p:nvSpPr>
          <p:spPr bwMode="auto">
            <a:xfrm>
              <a:off x="75279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2" name="Line 1055"/>
            <p:cNvSpPr>
              <a:spLocks noChangeShapeType="1"/>
            </p:cNvSpPr>
            <p:nvPr/>
          </p:nvSpPr>
          <p:spPr bwMode="auto">
            <a:xfrm>
              <a:off x="75279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3" name="Line 1056"/>
            <p:cNvSpPr>
              <a:spLocks noChangeShapeType="1"/>
            </p:cNvSpPr>
            <p:nvPr/>
          </p:nvSpPr>
          <p:spPr bwMode="auto">
            <a:xfrm>
              <a:off x="75279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4" name="Text Box 1057"/>
            <p:cNvSpPr txBox="1">
              <a:spLocks noChangeArrowheads="1"/>
            </p:cNvSpPr>
            <p:nvPr/>
          </p:nvSpPr>
          <p:spPr bwMode="auto">
            <a:xfrm>
              <a:off x="7527925" y="1057275"/>
              <a:ext cx="762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rgbClr val="FF0000"/>
                  </a:solidFill>
                  <a:effectLst/>
                  <a:uLnTx/>
                  <a:uFillTx/>
                  <a:latin typeface="+mn-lt"/>
                  <a:ea typeface="+mn-ea"/>
                  <a:cs typeface="+mn-ea"/>
                  <a:sym typeface="+mn-lt"/>
                </a:rPr>
                <a:t>99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14</a:t>
              </a:r>
            </a:p>
          </p:txBody>
        </p:sp>
        <p:sp>
          <p:nvSpPr>
            <p:cNvPr id="64535" name="AutoShape 1058"/>
            <p:cNvSpPr>
              <a:spLocks noChangeArrowheads="1"/>
            </p:cNvSpPr>
            <p:nvPr/>
          </p:nvSpPr>
          <p:spPr bwMode="auto">
            <a:xfrm>
              <a:off x="532290" y="2352675"/>
              <a:ext cx="975834" cy="169199"/>
            </a:xfrm>
            <a:prstGeom prst="rightArrow">
              <a:avLst>
                <a:gd name="adj1" fmla="val 50000"/>
                <a:gd name="adj2" fmla="val 150000"/>
              </a:avLst>
            </a:prstGeom>
            <a:solidFill>
              <a:schemeClr val="accent1"/>
            </a:solidFill>
            <a:ln w="9525">
              <a:solidFill>
                <a:schemeClr val="accent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6" name="Text Box 1059"/>
            <p:cNvSpPr txBox="1">
              <a:spLocks noChangeArrowheads="1"/>
            </p:cNvSpPr>
            <p:nvPr/>
          </p:nvSpPr>
          <p:spPr bwMode="auto">
            <a:xfrm>
              <a:off x="3476" y="1922463"/>
              <a:ext cx="1390349" cy="450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99</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插入</a:t>
              </a:r>
            </a:p>
          </p:txBody>
        </p:sp>
        <p:sp>
          <p:nvSpPr>
            <p:cNvPr id="64537" name="Rectangle 1060"/>
            <p:cNvSpPr>
              <a:spLocks noChangeArrowheads="1"/>
            </p:cNvSpPr>
            <p:nvPr/>
          </p:nvSpPr>
          <p:spPr bwMode="auto">
            <a:xfrm>
              <a:off x="29559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8" name="Line 1061"/>
            <p:cNvSpPr>
              <a:spLocks noChangeShapeType="1"/>
            </p:cNvSpPr>
            <p:nvPr/>
          </p:nvSpPr>
          <p:spPr bwMode="auto">
            <a:xfrm>
              <a:off x="29559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39" name="Line 1062"/>
            <p:cNvSpPr>
              <a:spLocks noChangeShapeType="1"/>
            </p:cNvSpPr>
            <p:nvPr/>
          </p:nvSpPr>
          <p:spPr bwMode="auto">
            <a:xfrm>
              <a:off x="29559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0" name="Line 1063"/>
            <p:cNvSpPr>
              <a:spLocks noChangeShapeType="1"/>
            </p:cNvSpPr>
            <p:nvPr/>
          </p:nvSpPr>
          <p:spPr bwMode="auto">
            <a:xfrm>
              <a:off x="29559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1" name="Line 1064"/>
            <p:cNvSpPr>
              <a:spLocks noChangeShapeType="1"/>
            </p:cNvSpPr>
            <p:nvPr/>
          </p:nvSpPr>
          <p:spPr bwMode="auto">
            <a:xfrm>
              <a:off x="29559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2" name="Line 1065"/>
            <p:cNvSpPr>
              <a:spLocks noChangeShapeType="1"/>
            </p:cNvSpPr>
            <p:nvPr/>
          </p:nvSpPr>
          <p:spPr bwMode="auto">
            <a:xfrm>
              <a:off x="29559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3" name="Line 1066"/>
            <p:cNvSpPr>
              <a:spLocks noChangeShapeType="1"/>
            </p:cNvSpPr>
            <p:nvPr/>
          </p:nvSpPr>
          <p:spPr bwMode="auto">
            <a:xfrm>
              <a:off x="29559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4" name="Line 1067"/>
            <p:cNvSpPr>
              <a:spLocks noChangeShapeType="1"/>
            </p:cNvSpPr>
            <p:nvPr/>
          </p:nvSpPr>
          <p:spPr bwMode="auto">
            <a:xfrm>
              <a:off x="29559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5" name="Line 1068"/>
            <p:cNvSpPr>
              <a:spLocks noChangeShapeType="1"/>
            </p:cNvSpPr>
            <p:nvPr/>
          </p:nvSpPr>
          <p:spPr bwMode="auto">
            <a:xfrm>
              <a:off x="29559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6" name="Text Box 1069"/>
            <p:cNvSpPr txBox="1">
              <a:spLocks noChangeArrowheads="1"/>
            </p:cNvSpPr>
            <p:nvPr/>
          </p:nvSpPr>
          <p:spPr bwMode="auto">
            <a:xfrm>
              <a:off x="2955925" y="1057275"/>
              <a:ext cx="762000" cy="325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b="1"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rgbClr val="0000FF"/>
                  </a:solidFill>
                  <a:effectLst/>
                  <a:uLnTx/>
                  <a:uFillTx/>
                  <a:latin typeface="+mn-lt"/>
                  <a:ea typeface="+mn-ea"/>
                  <a:cs typeface="+mn-ea"/>
                  <a:sym typeface="+mn-lt"/>
                </a:rPr>
                <a:t>14</a:t>
              </a:r>
            </a:p>
          </p:txBody>
        </p:sp>
        <p:sp>
          <p:nvSpPr>
            <p:cNvPr id="64547" name="AutoShape 1070"/>
            <p:cNvSpPr>
              <a:spLocks noChangeArrowheads="1"/>
            </p:cNvSpPr>
            <p:nvPr/>
          </p:nvSpPr>
          <p:spPr bwMode="auto">
            <a:xfrm>
              <a:off x="3284720" y="3562956"/>
              <a:ext cx="135728" cy="389918"/>
            </a:xfrm>
            <a:prstGeom prst="downArrow">
              <a:avLst>
                <a:gd name="adj1" fmla="val 50000"/>
                <a:gd name="adj2" fmla="val 150000"/>
              </a:avLst>
            </a:prstGeom>
            <a:solidFill>
              <a:srgbClr val="0000FF"/>
            </a:solidFill>
            <a:ln w="9525">
              <a:solidFill>
                <a:schemeClr val="accent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8" name="Rectangle 1071"/>
            <p:cNvSpPr>
              <a:spLocks noChangeArrowheads="1"/>
            </p:cNvSpPr>
            <p:nvPr/>
          </p:nvSpPr>
          <p:spPr bwMode="auto">
            <a:xfrm>
              <a:off x="44037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49" name="Line 1072"/>
            <p:cNvSpPr>
              <a:spLocks noChangeShapeType="1"/>
            </p:cNvSpPr>
            <p:nvPr/>
          </p:nvSpPr>
          <p:spPr bwMode="auto">
            <a:xfrm>
              <a:off x="44037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0" name="Line 1073"/>
            <p:cNvSpPr>
              <a:spLocks noChangeShapeType="1"/>
            </p:cNvSpPr>
            <p:nvPr/>
          </p:nvSpPr>
          <p:spPr bwMode="auto">
            <a:xfrm>
              <a:off x="44037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1" name="Line 1074"/>
            <p:cNvSpPr>
              <a:spLocks noChangeShapeType="1"/>
            </p:cNvSpPr>
            <p:nvPr/>
          </p:nvSpPr>
          <p:spPr bwMode="auto">
            <a:xfrm>
              <a:off x="44037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2" name="Line 1075"/>
            <p:cNvSpPr>
              <a:spLocks noChangeShapeType="1"/>
            </p:cNvSpPr>
            <p:nvPr/>
          </p:nvSpPr>
          <p:spPr bwMode="auto">
            <a:xfrm>
              <a:off x="44037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3" name="Line 1076"/>
            <p:cNvSpPr>
              <a:spLocks noChangeShapeType="1"/>
            </p:cNvSpPr>
            <p:nvPr/>
          </p:nvSpPr>
          <p:spPr bwMode="auto">
            <a:xfrm>
              <a:off x="44037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4" name="Line 1077"/>
            <p:cNvSpPr>
              <a:spLocks noChangeShapeType="1"/>
            </p:cNvSpPr>
            <p:nvPr/>
          </p:nvSpPr>
          <p:spPr bwMode="auto">
            <a:xfrm>
              <a:off x="44037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5" name="Line 1078"/>
            <p:cNvSpPr>
              <a:spLocks noChangeShapeType="1"/>
            </p:cNvSpPr>
            <p:nvPr/>
          </p:nvSpPr>
          <p:spPr bwMode="auto">
            <a:xfrm>
              <a:off x="44037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6" name="Line 1079"/>
            <p:cNvSpPr>
              <a:spLocks noChangeShapeType="1"/>
            </p:cNvSpPr>
            <p:nvPr/>
          </p:nvSpPr>
          <p:spPr bwMode="auto">
            <a:xfrm>
              <a:off x="44037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57" name="Text Box 1080"/>
            <p:cNvSpPr txBox="1">
              <a:spLocks noChangeArrowheads="1"/>
            </p:cNvSpPr>
            <p:nvPr/>
          </p:nvSpPr>
          <p:spPr bwMode="auto">
            <a:xfrm>
              <a:off x="4403725" y="1057275"/>
              <a:ext cx="762000" cy="325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b="1"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rgbClr val="0000FF"/>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14</a:t>
              </a:r>
            </a:p>
          </p:txBody>
        </p:sp>
        <p:sp>
          <p:nvSpPr>
            <p:cNvPr id="64559" name="Rectangle 1082"/>
            <p:cNvSpPr>
              <a:spLocks noChangeArrowheads="1"/>
            </p:cNvSpPr>
            <p:nvPr/>
          </p:nvSpPr>
          <p:spPr bwMode="auto">
            <a:xfrm>
              <a:off x="5927725" y="1057275"/>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0" name="Line 1083"/>
            <p:cNvSpPr>
              <a:spLocks noChangeShapeType="1"/>
            </p:cNvSpPr>
            <p:nvPr/>
          </p:nvSpPr>
          <p:spPr bwMode="auto">
            <a:xfrm>
              <a:off x="5927725" y="1514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1" name="Line 1084"/>
            <p:cNvSpPr>
              <a:spLocks noChangeShapeType="1"/>
            </p:cNvSpPr>
            <p:nvPr/>
          </p:nvSpPr>
          <p:spPr bwMode="auto">
            <a:xfrm>
              <a:off x="5927725" y="1971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2" name="Line 1085"/>
            <p:cNvSpPr>
              <a:spLocks noChangeShapeType="1"/>
            </p:cNvSpPr>
            <p:nvPr/>
          </p:nvSpPr>
          <p:spPr bwMode="auto">
            <a:xfrm>
              <a:off x="5927725" y="2428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3" name="Line 1086"/>
            <p:cNvSpPr>
              <a:spLocks noChangeShapeType="1"/>
            </p:cNvSpPr>
            <p:nvPr/>
          </p:nvSpPr>
          <p:spPr bwMode="auto">
            <a:xfrm>
              <a:off x="5927725" y="28860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4" name="Line 1087"/>
            <p:cNvSpPr>
              <a:spLocks noChangeShapeType="1"/>
            </p:cNvSpPr>
            <p:nvPr/>
          </p:nvSpPr>
          <p:spPr bwMode="auto">
            <a:xfrm>
              <a:off x="5927725" y="33432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5" name="Line 1088"/>
            <p:cNvSpPr>
              <a:spLocks noChangeShapeType="1"/>
            </p:cNvSpPr>
            <p:nvPr/>
          </p:nvSpPr>
          <p:spPr bwMode="auto">
            <a:xfrm>
              <a:off x="5927725" y="38004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6" name="Line 1089"/>
            <p:cNvSpPr>
              <a:spLocks noChangeShapeType="1"/>
            </p:cNvSpPr>
            <p:nvPr/>
          </p:nvSpPr>
          <p:spPr bwMode="auto">
            <a:xfrm>
              <a:off x="5927725" y="42576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7" name="Line 1090"/>
            <p:cNvSpPr>
              <a:spLocks noChangeShapeType="1"/>
            </p:cNvSpPr>
            <p:nvPr/>
          </p:nvSpPr>
          <p:spPr bwMode="auto">
            <a:xfrm>
              <a:off x="5927725" y="4714875"/>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4568" name="Text Box 1091"/>
            <p:cNvSpPr txBox="1">
              <a:spLocks noChangeArrowheads="1"/>
            </p:cNvSpPr>
            <p:nvPr/>
          </p:nvSpPr>
          <p:spPr bwMode="auto">
            <a:xfrm>
              <a:off x="5927725" y="1057275"/>
              <a:ext cx="762000" cy="325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b="1"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rgbClr val="0000FF"/>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14</a:t>
              </a:r>
            </a:p>
          </p:txBody>
        </p:sp>
      </p:grpSp>
      <p:sp>
        <p:nvSpPr>
          <p:cNvPr id="395333" name="Rectangle 1093"/>
          <p:cNvSpPr>
            <a:spLocks noChangeArrowheads="1"/>
          </p:cNvSpPr>
          <p:nvPr/>
        </p:nvSpPr>
        <p:spPr bwMode="auto">
          <a:xfrm>
            <a:off x="0" y="5842337"/>
            <a:ext cx="9158288" cy="1015663"/>
          </a:xfrm>
          <a:prstGeom prst="rect">
            <a:avLst/>
          </a:prstGeom>
          <a:solidFill>
            <a:srgbClr val="D6D6F5"/>
          </a:solid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ea"/>
                <a:ea typeface="+mn-ea"/>
                <a:cs typeface="+mn-ea"/>
                <a:sym typeface="+mn-lt"/>
              </a:rPr>
              <a:t>插在第 </a:t>
            </a:r>
            <a:r>
              <a:rPr kumimoji="0" lang="en-US" altLang="zh-CN" sz="2400" b="0" i="0" u="none" strike="noStrike" kern="1200" cap="none" spc="0" normalizeH="0" baseline="0" noProof="0" dirty="0">
                <a:ln>
                  <a:noFill/>
                </a:ln>
                <a:solidFill>
                  <a:schemeClr val="tx1"/>
                </a:solidFill>
                <a:effectLst/>
                <a:uLnTx/>
                <a:uFillTx/>
                <a:latin typeface="+mn-ea"/>
                <a:ea typeface="+mn-ea"/>
                <a:cs typeface="+mn-ea"/>
                <a:sym typeface="+mn-lt"/>
              </a:rPr>
              <a:t>4 </a:t>
            </a:r>
            <a:r>
              <a:rPr kumimoji="0" lang="zh-CN" altLang="en-US" sz="2400" b="0" i="0" u="none" strike="noStrike" kern="1200" cap="none" spc="0" normalizeH="0" baseline="0" noProof="0" dirty="0">
                <a:ln>
                  <a:noFill/>
                </a:ln>
                <a:solidFill>
                  <a:schemeClr val="tx1"/>
                </a:solidFill>
                <a:effectLst/>
                <a:uLnTx/>
                <a:uFillTx/>
                <a:latin typeface="+mn-ea"/>
                <a:ea typeface="+mn-ea"/>
                <a:cs typeface="+mn-ea"/>
                <a:sym typeface="+mn-lt"/>
              </a:rPr>
              <a:t>个</a:t>
            </a:r>
            <a:r>
              <a:rPr lang="zh-CN" altLang="en-US" sz="2400" dirty="0">
                <a:latin typeface="+mn-ea"/>
                <a:ea typeface="+mn-ea"/>
                <a:cs typeface="+mn-ea"/>
                <a:sym typeface="+mn-lt"/>
              </a:rPr>
              <a:t>元素</a:t>
            </a:r>
            <a:r>
              <a:rPr kumimoji="0" lang="zh-CN" altLang="en-US" sz="2400" b="0" i="0" u="none" strike="noStrike" kern="1200" cap="none" spc="0" normalizeH="0" baseline="0" noProof="0" dirty="0">
                <a:ln>
                  <a:noFill/>
                </a:ln>
                <a:solidFill>
                  <a:schemeClr val="tx1"/>
                </a:solidFill>
                <a:effectLst/>
                <a:uLnTx/>
                <a:uFillTx/>
                <a:latin typeface="+mn-ea"/>
                <a:ea typeface="+mn-ea"/>
                <a:cs typeface="+mn-ea"/>
                <a:sym typeface="+mn-lt"/>
              </a:rPr>
              <a:t>之前，移动 </a:t>
            </a:r>
            <a:r>
              <a:rPr kumimoji="0" lang="en-US" altLang="zh-CN" sz="2400" b="0" i="0" u="none" strike="noStrike" kern="1200" cap="none" spc="0" normalizeH="0" baseline="0" noProof="0" dirty="0">
                <a:ln>
                  <a:noFill/>
                </a:ln>
                <a:solidFill>
                  <a:srgbClr val="FF0000"/>
                </a:solidFill>
                <a:effectLst/>
                <a:uLnTx/>
                <a:uFillTx/>
                <a:latin typeface="+mn-ea"/>
                <a:ea typeface="+mn-ea"/>
                <a:cs typeface="+mn-ea"/>
                <a:sym typeface="+mn-lt"/>
              </a:rPr>
              <a:t>6-4+1</a:t>
            </a:r>
            <a:r>
              <a:rPr kumimoji="0" lang="en-US" altLang="zh-CN" sz="2400" b="0" i="0" u="none" strike="noStrike" kern="1200" cap="none" spc="0" normalizeH="0" baseline="0" noProof="0" dirty="0">
                <a:ln>
                  <a:noFill/>
                </a:ln>
                <a:solidFill>
                  <a:schemeClr val="tx1"/>
                </a:solidFill>
                <a:effectLst/>
                <a:uLnTx/>
                <a:uFillTx/>
                <a:latin typeface="+mn-ea"/>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ea"/>
                <a:ea typeface="+mn-ea"/>
                <a:cs typeface="+mn-ea"/>
                <a:sym typeface="+mn-lt"/>
              </a:rPr>
              <a:t>次</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ea"/>
                <a:ea typeface="+mn-ea"/>
                <a:cs typeface="+mn-ea"/>
                <a:sym typeface="+mn-lt"/>
              </a:rPr>
              <a:t>插在第 </a:t>
            </a:r>
            <a:r>
              <a:rPr kumimoji="0" lang="en-US" altLang="zh-CN" sz="2400" b="0" i="0" u="none" strike="noStrike" kern="1200" cap="none" spc="0" normalizeH="0" baseline="0" noProof="0" dirty="0" err="1">
                <a:ln>
                  <a:noFill/>
                </a:ln>
                <a:solidFill>
                  <a:schemeClr val="tx1"/>
                </a:solidFill>
                <a:effectLst/>
                <a:uLnTx/>
                <a:uFillTx/>
                <a:latin typeface="+mn-ea"/>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ea"/>
                <a:ea typeface="+mn-ea"/>
                <a:cs typeface="+mn-ea"/>
                <a:sym typeface="+mn-lt"/>
              </a:rPr>
              <a:t> </a:t>
            </a:r>
            <a:r>
              <a:rPr kumimoji="0" lang="zh-CN" altLang="zh-CN" sz="2400" b="0" i="0" u="none" strike="noStrike" kern="1200" cap="none" spc="0" normalizeH="0" baseline="0" noProof="0" dirty="0">
                <a:ln>
                  <a:noFill/>
                </a:ln>
                <a:solidFill>
                  <a:schemeClr val="tx1"/>
                </a:solidFill>
                <a:effectLst/>
                <a:uLnTx/>
                <a:uFillTx/>
                <a:latin typeface="+mn-ea"/>
                <a:ea typeface="+mn-ea"/>
                <a:cs typeface="+mn-ea"/>
                <a:sym typeface="+mn-lt"/>
              </a:rPr>
              <a:t>个</a:t>
            </a:r>
            <a:r>
              <a:rPr lang="zh-CN" altLang="en-US" sz="2400" dirty="0">
                <a:latin typeface="+mn-ea"/>
                <a:ea typeface="+mn-ea"/>
                <a:cs typeface="+mn-ea"/>
                <a:sym typeface="+mn-lt"/>
              </a:rPr>
              <a:t>元素</a:t>
            </a:r>
            <a:r>
              <a:rPr kumimoji="0" lang="zh-CN" altLang="zh-CN" sz="2400" b="0" i="0" u="none" strike="noStrike" kern="1200" cap="none" spc="0" normalizeH="0" baseline="0" noProof="0" dirty="0">
                <a:ln>
                  <a:noFill/>
                </a:ln>
                <a:solidFill>
                  <a:schemeClr val="tx1"/>
                </a:solidFill>
                <a:effectLst/>
                <a:uLnTx/>
                <a:uFillTx/>
                <a:latin typeface="+mn-ea"/>
                <a:ea typeface="+mn-ea"/>
                <a:cs typeface="+mn-ea"/>
                <a:sym typeface="+mn-lt"/>
              </a:rPr>
              <a:t>之前，移动 </a:t>
            </a:r>
            <a:r>
              <a:rPr kumimoji="0" lang="en-US" altLang="zh-CN" sz="2400" b="0" i="0" u="none" strike="noStrike" kern="1200" cap="none" spc="0" normalizeH="0" baseline="0" noProof="0" dirty="0">
                <a:ln>
                  <a:noFill/>
                </a:ln>
                <a:solidFill>
                  <a:srgbClr val="FF0000"/>
                </a:solidFill>
                <a:effectLst/>
                <a:uLnTx/>
                <a:uFillTx/>
                <a:latin typeface="+mn-ea"/>
                <a:ea typeface="+mn-ea"/>
                <a:cs typeface="+mn-ea"/>
                <a:sym typeface="+mn-lt"/>
              </a:rPr>
              <a:t>n-i+1</a:t>
            </a:r>
            <a:r>
              <a:rPr kumimoji="0" lang="en-US" altLang="zh-CN" sz="2400" b="0" i="0" u="none" strike="noStrike" kern="1200" cap="none" spc="0" normalizeH="0" baseline="0" noProof="0" dirty="0">
                <a:ln>
                  <a:noFill/>
                </a:ln>
                <a:solidFill>
                  <a:schemeClr val="tx1"/>
                </a:solidFill>
                <a:effectLst/>
                <a:uLnTx/>
                <a:uFillTx/>
                <a:latin typeface="+mn-ea"/>
                <a:ea typeface="+mn-ea"/>
                <a:cs typeface="+mn-ea"/>
                <a:sym typeface="+mn-lt"/>
              </a:rPr>
              <a:t> </a:t>
            </a:r>
            <a:r>
              <a:rPr kumimoji="0" lang="zh-CN" altLang="zh-CN" sz="2400" b="0" i="0" u="none" strike="noStrike" kern="1200" cap="none" spc="0" normalizeH="0" baseline="0" noProof="0" dirty="0">
                <a:ln>
                  <a:noFill/>
                </a:ln>
                <a:solidFill>
                  <a:schemeClr val="tx1"/>
                </a:solidFill>
                <a:effectLst/>
                <a:uLnTx/>
                <a:uFillTx/>
                <a:latin typeface="+mn-ea"/>
                <a:ea typeface="+mn-ea"/>
                <a:cs typeface="+mn-ea"/>
                <a:sym typeface="+mn-lt"/>
              </a:rPr>
              <a:t>次</a:t>
            </a:r>
            <a:endParaRPr kumimoji="0" lang="en-US" altLang="zh-CN" sz="2400" b="0" i="0" u="none" strike="noStrike" kern="1200" cap="none" spc="0" normalizeH="0" baseline="0" noProof="0" dirty="0">
              <a:ln>
                <a:noFill/>
              </a:ln>
              <a:solidFill>
                <a:schemeClr val="tx1"/>
              </a:solidFill>
              <a:effectLst/>
              <a:uLnTx/>
              <a:uFillTx/>
              <a:latin typeface="+mn-ea"/>
              <a:ea typeface="+mn-ea"/>
              <a:cs typeface="+mn-ea"/>
              <a:sym typeface="+mn-lt"/>
            </a:endParaRPr>
          </a:p>
        </p:txBody>
      </p:sp>
      <p:sp>
        <p:nvSpPr>
          <p:cNvPr id="395334" name="Rectangle 1094"/>
          <p:cNvSpPr>
            <a:spLocks noChangeArrowheads="1"/>
          </p:cNvSpPr>
          <p:nvPr/>
        </p:nvSpPr>
        <p:spPr bwMode="auto">
          <a:xfrm>
            <a:off x="755650" y="223838"/>
            <a:ext cx="69215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插入（插在第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a:t>
            </a:r>
            <a:r>
              <a:rPr lang="zh-CN" altLang="en-US" dirty="0">
                <a:solidFill>
                  <a:schemeClr val="bg1"/>
                </a:solidFill>
                <a:latin typeface="+mn-lt"/>
                <a:ea typeface="+mn-ea"/>
                <a:cs typeface="+mn-ea"/>
                <a:sym typeface="+mn-lt"/>
              </a:rPr>
              <a:t>数据元素</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之前） </a:t>
            </a:r>
          </a:p>
        </p:txBody>
      </p:sp>
      <p:sp>
        <p:nvSpPr>
          <p:cNvPr id="61" name="AutoShape 1070">
            <a:extLst>
              <a:ext uri="{FF2B5EF4-FFF2-40B4-BE49-F238E27FC236}">
                <a16:creationId xmlns:a16="http://schemas.microsoft.com/office/drawing/2014/main" id="{914CA0B6-B6A0-4933-848B-30C61B1CF010}"/>
              </a:ext>
            </a:extLst>
          </p:cNvPr>
          <p:cNvSpPr>
            <a:spLocks noChangeArrowheads="1"/>
          </p:cNvSpPr>
          <p:nvPr/>
        </p:nvSpPr>
        <p:spPr bwMode="auto">
          <a:xfrm>
            <a:off x="4847956" y="3336349"/>
            <a:ext cx="138484" cy="452899"/>
          </a:xfrm>
          <a:prstGeom prst="downArrow">
            <a:avLst>
              <a:gd name="adj1" fmla="val 50000"/>
              <a:gd name="adj2" fmla="val 150000"/>
            </a:avLst>
          </a:prstGeom>
          <a:solidFill>
            <a:srgbClr val="0000FF"/>
          </a:solidFill>
          <a:ln w="9525">
            <a:solidFill>
              <a:schemeClr val="accent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2" name="AutoShape 1070">
            <a:extLst>
              <a:ext uri="{FF2B5EF4-FFF2-40B4-BE49-F238E27FC236}">
                <a16:creationId xmlns:a16="http://schemas.microsoft.com/office/drawing/2014/main" id="{195813B4-911F-434D-A706-BFC222B3BC7C}"/>
              </a:ext>
            </a:extLst>
          </p:cNvPr>
          <p:cNvSpPr>
            <a:spLocks noChangeArrowheads="1"/>
          </p:cNvSpPr>
          <p:nvPr/>
        </p:nvSpPr>
        <p:spPr bwMode="auto">
          <a:xfrm>
            <a:off x="6377732" y="2832085"/>
            <a:ext cx="138484" cy="452899"/>
          </a:xfrm>
          <a:prstGeom prst="downArrow">
            <a:avLst>
              <a:gd name="adj1" fmla="val 50000"/>
              <a:gd name="adj2" fmla="val 150000"/>
            </a:avLst>
          </a:prstGeom>
          <a:solidFill>
            <a:srgbClr val="0000FF"/>
          </a:solidFill>
          <a:ln w="9525">
            <a:solidFill>
              <a:schemeClr val="accent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33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95333">
                                            <p:txEl>
                                              <p:pRg st="0" end="0"/>
                                            </p:txEl>
                                          </p:spTgt>
                                        </p:tgtEl>
                                        <p:attrNameLst>
                                          <p:attrName>style.visibility</p:attrName>
                                        </p:attrNameLst>
                                      </p:cBhvr>
                                      <p:to>
                                        <p:strVal val="visible"/>
                                      </p:to>
                                    </p:set>
                                    <p:anim calcmode="lin" valueType="num">
                                      <p:cBhvr additive="base">
                                        <p:cTn id="11" dur="500" fill="hold"/>
                                        <p:tgtEl>
                                          <p:spTgt spid="39533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53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95333">
                                            <p:txEl>
                                              <p:pRg st="1" end="1"/>
                                            </p:txEl>
                                          </p:spTgt>
                                        </p:tgtEl>
                                        <p:attrNameLst>
                                          <p:attrName>style.visibility</p:attrName>
                                        </p:attrNameLst>
                                      </p:cBhvr>
                                      <p:to>
                                        <p:strVal val="visible"/>
                                      </p:to>
                                    </p:set>
                                    <p:anim calcmode="lin" valueType="num">
                                      <p:cBhvr additive="base">
                                        <p:cTn id="17" dur="500" fill="hold"/>
                                        <p:tgtEl>
                                          <p:spTgt spid="39533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9533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333" grpId="0" uiExpand="1" build="p" bldLvl="2"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auto">
          <a:xfrm>
            <a:off x="0" y="745575"/>
            <a:ext cx="9144000" cy="5563745"/>
          </a:xfrm>
          <a:prstGeom prst="roundRect">
            <a:avLst>
              <a:gd name="adj" fmla="val 2011"/>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66562" name="Rectangle 4"/>
          <p:cNvSpPr>
            <a:spLocks noChangeArrowheads="1"/>
          </p:cNvSpPr>
          <p:nvPr/>
        </p:nvSpPr>
        <p:spPr bwMode="auto">
          <a:xfrm>
            <a:off x="0" y="747687"/>
            <a:ext cx="9144000" cy="5616352"/>
          </a:xfrm>
          <a:prstGeom prst="rect">
            <a:avLst/>
          </a:prstGeom>
          <a:no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b="0" i="0" u="none" strike="noStrike" kern="1200" cap="none" spc="0" normalizeH="0" baseline="0" noProof="0" dirty="0" err="1">
                <a:ln>
                  <a:noFill/>
                </a:ln>
                <a:solidFill>
                  <a:srgbClr val="FF0000"/>
                </a:solidFill>
                <a:effectLst/>
                <a:uLnTx/>
                <a:uFillTx/>
                <a:latin typeface="+mn-lt"/>
                <a:ea typeface="+mn-ea"/>
                <a:cs typeface="+mn-ea"/>
                <a:sym typeface="+mn-lt"/>
              </a:rPr>
              <a:t>ListInsert_Sq</a:t>
            </a:r>
            <a:r>
              <a:rPr kumimoji="0" lang="en-US" altLang="zh-CN"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&amp;L, int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e) {</a:t>
            </a:r>
          </a:p>
          <a:p>
            <a:pPr marL="342900" marR="0" lvl="0" indent="-342900" algn="l" defTabSz="914400" rtl="0" eaLnBrk="0" fontAlgn="base" latinLnBrk="0" hangingPunct="0">
              <a:lnSpc>
                <a:spcPct val="150000"/>
              </a:lnSpc>
              <a:spcBef>
                <a:spcPct val="20000"/>
              </a:spcBef>
              <a:spcAft>
                <a:spcPct val="0"/>
              </a:spcAft>
              <a:buClrTx/>
              <a:buSzTx/>
              <a:buFontTx/>
              <a:buNone/>
              <a:defRPr/>
            </a:pPr>
            <a:r>
              <a:rPr lang="en-US" altLang="zh-CN" dirty="0">
                <a:latin typeface="+mn-lt"/>
                <a:ea typeface="+mn-ea"/>
                <a:cs typeface="+mn-ea"/>
                <a:sym typeface="+mn-lt"/>
              </a:rPr>
              <a:t>    </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if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&lt; 1 ||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&gt; L.length+1) return ERROR;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插入位置不合法</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if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&gt;=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L.listsize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当前存储空间已满，增加分配</a:t>
            </a:r>
          </a:p>
          <a:p>
            <a:pPr marL="342900" marR="0" lvl="0" indent="-342900" algn="l" defTabSz="914400" rtl="0" eaLnBrk="0" fontAlgn="base" latinLnBrk="0" hangingPunct="0">
              <a:lnSpc>
                <a:spcPct val="150000"/>
              </a:lnSpc>
              <a:spcBef>
                <a:spcPct val="20000"/>
              </a:spcBef>
              <a:spcAft>
                <a:spcPct val="0"/>
              </a:spcAft>
              <a:buClrTx/>
              <a:buSzTx/>
              <a:buFontTx/>
              <a:buNone/>
              <a:defRPr/>
            </a:pPr>
            <a:r>
              <a:rPr lang="zh-CN" altLang="en-US" dirty="0">
                <a:latin typeface="+mn-lt"/>
                <a:ea typeface="+mn-ea"/>
                <a:cs typeface="+mn-ea"/>
                <a:sym typeface="+mn-lt"/>
              </a:rPr>
              <a: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newbase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b="0" i="0" u="none" strike="noStrike" kern="1200" cap="none" spc="0" normalizeH="0" baseline="0" noProof="0" dirty="0" err="1">
                <a:ln>
                  <a:noFill/>
                </a:ln>
                <a:solidFill>
                  <a:srgbClr val="FF0000"/>
                </a:solidFill>
                <a:effectLst/>
                <a:uLnTx/>
                <a:uFillTx/>
                <a:latin typeface="+mn-lt"/>
                <a:ea typeface="+mn-ea"/>
                <a:cs typeface="+mn-ea"/>
                <a:sym typeface="+mn-lt"/>
              </a:rPr>
              <a:t>realloc</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en-US" altLang="zh-CN"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50000"/>
              </a:lnSpc>
              <a:spcBef>
                <a:spcPct val="20000"/>
              </a:spcBef>
              <a:spcAft>
                <a:spcPct val="0"/>
              </a:spcAft>
              <a:buClrTx/>
              <a:buSzTx/>
              <a:buFontTx/>
              <a:buNone/>
              <a:defRPr/>
            </a:pPr>
            <a:r>
              <a:rPr lang="en-US" altLang="zh-CN" dirty="0">
                <a:latin typeface="+mn-lt"/>
                <a:ea typeface="+mn-ea"/>
                <a:cs typeface="+mn-ea"/>
                <a:sym typeface="+mn-lt"/>
              </a:rPr>
              <a:t>                                </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L.listsize+LISTINCREMENT</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sizeof</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newbase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exit(OVERFLOW);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存储分配失败 </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newbase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新基址</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L.listsize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LISTINCREMENT;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增加存储容量</a:t>
            </a:r>
            <a:endPar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endParaRP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6563" name="Rectangle 5"/>
          <p:cNvSpPr>
            <a:spLocks noChangeArrowheads="1"/>
          </p:cNvSpPr>
          <p:nvPr/>
        </p:nvSpPr>
        <p:spPr bwMode="auto">
          <a:xfrm>
            <a:off x="827584" y="141262"/>
            <a:ext cx="612003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插入（插在第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a:t>
            </a:r>
            <a:r>
              <a:rPr lang="zh-CN" altLang="en-US" dirty="0">
                <a:solidFill>
                  <a:schemeClr val="bg1"/>
                </a:solidFill>
                <a:latin typeface="+mn-lt"/>
                <a:ea typeface="+mn-ea"/>
                <a:cs typeface="+mn-ea"/>
                <a:sym typeface="+mn-lt"/>
              </a:rPr>
              <a:t>数据元素</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之前） </a:t>
            </a:r>
          </a:p>
        </p:txBody>
      </p:sp>
      <p:sp>
        <p:nvSpPr>
          <p:cNvPr id="7" name="矩形 6">
            <a:extLst>
              <a:ext uri="{FF2B5EF4-FFF2-40B4-BE49-F238E27FC236}">
                <a16:creationId xmlns:a16="http://schemas.microsoft.com/office/drawing/2014/main" id="{7184E382-0721-47CC-8999-228BD2F13299}"/>
              </a:ext>
            </a:extLst>
          </p:cNvPr>
          <p:cNvSpPr>
            <a:spLocks noChangeArrowheads="1"/>
          </p:cNvSpPr>
          <p:nvPr/>
        </p:nvSpPr>
        <p:spPr bwMode="auto">
          <a:xfrm>
            <a:off x="3000960" y="6296498"/>
            <a:ext cx="292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dirty="0">
                <a:solidFill>
                  <a:srgbClr val="0000FF"/>
                </a:solidFill>
                <a:latin typeface="华文新魏" panose="02010800040101010101" pitchFamily="2" charset="-122"/>
                <a:ea typeface="华文新魏" panose="02010800040101010101" pitchFamily="2" charset="-122"/>
              </a:rPr>
              <a:t>注意 </a:t>
            </a:r>
            <a:r>
              <a:rPr lang="en-US" altLang="zh-CN" sz="2800" dirty="0" err="1">
                <a:solidFill>
                  <a:srgbClr val="0000FF"/>
                </a:solidFill>
                <a:latin typeface="华文新魏" panose="02010800040101010101" pitchFamily="2" charset="-122"/>
                <a:ea typeface="华文新魏" panose="02010800040101010101" pitchFamily="2" charset="-122"/>
              </a:rPr>
              <a:t>realloc</a:t>
            </a:r>
            <a:r>
              <a:rPr lang="en-US" altLang="zh-CN" sz="2800" dirty="0">
                <a:solidFill>
                  <a:srgbClr val="0000FF"/>
                </a:solidFill>
                <a:latin typeface="华文新魏" panose="02010800040101010101" pitchFamily="2" charset="-122"/>
                <a:ea typeface="华文新魏" panose="02010800040101010101" pitchFamily="2" charset="-122"/>
              </a:rPr>
              <a:t> </a:t>
            </a:r>
            <a:r>
              <a:rPr lang="zh-CN" altLang="en-US" sz="2800" dirty="0">
                <a:solidFill>
                  <a:srgbClr val="0000FF"/>
                </a:solidFill>
                <a:latin typeface="华文新魏" panose="02010800040101010101" pitchFamily="2" charset="-122"/>
                <a:ea typeface="华文新魏" panose="02010800040101010101" pitchFamily="2" charset="-122"/>
              </a:rPr>
              <a:t>用法 </a:t>
            </a:r>
            <a:endParaRPr lang="en-US" altLang="zh-CN" sz="2800"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auto">
          <a:xfrm>
            <a:off x="0" y="745575"/>
            <a:ext cx="9144000" cy="4987681"/>
          </a:xfrm>
          <a:prstGeom prst="roundRect">
            <a:avLst>
              <a:gd name="adj" fmla="val 2011"/>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66562" name="Rectangle 4"/>
          <p:cNvSpPr>
            <a:spLocks noChangeArrowheads="1"/>
          </p:cNvSpPr>
          <p:nvPr/>
        </p:nvSpPr>
        <p:spPr bwMode="auto">
          <a:xfrm>
            <a:off x="0" y="747687"/>
            <a:ext cx="9144000" cy="4985569"/>
          </a:xfrm>
          <a:prstGeom prst="rect">
            <a:avLst/>
          </a:prstGeom>
          <a:no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50000"/>
              </a:lnSpc>
              <a:spcBef>
                <a:spcPct val="20000"/>
              </a:spcBef>
              <a:spcAft>
                <a:spcPct val="0"/>
              </a:spcAft>
              <a:buClrTx/>
              <a:buSzTx/>
              <a:buFontTx/>
              <a:buNone/>
              <a:defRPr/>
            </a:pPr>
            <a:r>
              <a:rPr lang="zh-CN" altLang="en-US" dirty="0">
                <a:latin typeface="+mn-lt"/>
                <a:ea typeface="+mn-ea"/>
                <a:cs typeface="+mn-ea"/>
                <a:sym typeface="+mn-lt"/>
              </a:rPr>
              <a:t>（续前页）</a:t>
            </a:r>
            <a:endParaRPr lang="en-US" altLang="zh-CN" dirty="0">
              <a:latin typeface="+mn-lt"/>
              <a:ea typeface="+mn-ea"/>
              <a:cs typeface="+mn-ea"/>
              <a:sym typeface="+mn-lt"/>
            </a:endParaRP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q = &amp;(</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[i-1]);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q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指示插入位置</a:t>
            </a:r>
            <a:endParaRPr kumimoji="0" lang="en-US" altLang="zh-CN"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50000"/>
              </a:lnSpc>
              <a:spcBef>
                <a:spcPct val="20000"/>
              </a:spcBef>
              <a:spcAft>
                <a:spcPct val="0"/>
              </a:spcAft>
              <a:buClrTx/>
              <a:buSzTx/>
              <a:buFontTx/>
              <a:buNone/>
              <a:defRPr/>
            </a:pPr>
            <a:r>
              <a:rPr lang="en-US" altLang="zh-CN" dirty="0">
                <a:latin typeface="+mn-lt"/>
                <a:ea typeface="+mn-ea"/>
                <a:cs typeface="+mn-ea"/>
                <a:sym typeface="+mn-lt"/>
              </a:rPr>
              <a:t>    </a:t>
            </a:r>
            <a:r>
              <a:rPr kumimoji="0" lang="en-US" altLang="zh-CN" b="0" i="0" u="none" strike="noStrike" kern="1200" cap="none" spc="0" normalizeH="0" baseline="0" noProof="0" dirty="0">
                <a:ln>
                  <a:noFill/>
                </a:ln>
                <a:solidFill>
                  <a:srgbClr val="0000FF"/>
                </a:solidFill>
                <a:effectLst/>
                <a:uLnTx/>
                <a:uFillTx/>
                <a:latin typeface="+mn-lt"/>
                <a:ea typeface="+mn-ea"/>
                <a:cs typeface="+mn-ea"/>
                <a:sym typeface="+mn-lt"/>
              </a:rPr>
              <a:t>for (p = &amp;(</a:t>
            </a:r>
            <a:r>
              <a:rPr kumimoji="0" lang="en-US" altLang="zh-CN" b="0" i="0" u="none" strike="noStrike" kern="1200" cap="none" spc="0" normalizeH="0" baseline="0" noProof="0" dirty="0" err="1">
                <a:ln>
                  <a:noFill/>
                </a:ln>
                <a:solidFill>
                  <a:srgbClr val="0000FF"/>
                </a:solidFill>
                <a:effectLst/>
                <a:uLnTx/>
                <a:uFillTx/>
                <a:latin typeface="+mn-lt"/>
                <a:ea typeface="+mn-ea"/>
                <a:cs typeface="+mn-ea"/>
                <a:sym typeface="+mn-lt"/>
              </a:rPr>
              <a:t>L.elem</a:t>
            </a:r>
            <a:r>
              <a:rPr kumimoji="0" lang="en-US" altLang="zh-CN" b="0" i="0" u="none" strike="noStrike" kern="1200" cap="none" spc="0" normalizeH="0" baseline="0" noProof="0" dirty="0">
                <a:ln>
                  <a:noFill/>
                </a:ln>
                <a:solidFill>
                  <a:srgbClr val="0000FF"/>
                </a:solidFill>
                <a:effectLst/>
                <a:uLnTx/>
                <a:uFillTx/>
                <a:latin typeface="+mn-lt"/>
                <a:ea typeface="+mn-ea"/>
                <a:cs typeface="+mn-ea"/>
                <a:sym typeface="+mn-lt"/>
              </a:rPr>
              <a:t>[L.length-1]); p &gt;= q;  --p)</a:t>
            </a: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rgbClr val="0000FF"/>
                </a:solidFill>
                <a:effectLst/>
                <a:uLnTx/>
                <a:uFillTx/>
                <a:latin typeface="+mn-lt"/>
                <a:ea typeface="+mn-ea"/>
                <a:cs typeface="+mn-ea"/>
                <a:sym typeface="+mn-lt"/>
              </a:rPr>
              <a:t>        *(p+1) = *p;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 </a:t>
            </a:r>
            <a:r>
              <a:rPr kumimoji="0" lang="zh-CN" altLang="en-US" b="0" i="0" u="none" strike="noStrike" kern="1200" cap="none" spc="0" normalizeH="0" baseline="0" noProof="0" dirty="0">
                <a:ln>
                  <a:noFill/>
                </a:ln>
                <a:solidFill>
                  <a:srgbClr val="00B050"/>
                </a:solidFill>
                <a:effectLst/>
                <a:uLnTx/>
                <a:uFillTx/>
                <a:latin typeface="+mn-lt"/>
                <a:ea typeface="+mn-ea"/>
                <a:cs typeface="+mn-ea"/>
                <a:sym typeface="+mn-lt"/>
              </a:rPr>
              <a:t>插入位置及之后的元素右移</a:t>
            </a:r>
          </a:p>
          <a:p>
            <a:pPr marL="342900" marR="0" lvl="0" indent="-342900" algn="l" defTabSz="914400" rtl="0" eaLnBrk="0" fontAlgn="base" latinLnBrk="0" hangingPunct="0">
              <a:lnSpc>
                <a:spcPct val="150000"/>
              </a:lnSpc>
              <a:spcBef>
                <a:spcPct val="20000"/>
              </a:spcBef>
              <a:spcAft>
                <a:spcPct val="0"/>
              </a:spcAft>
              <a:buClrTx/>
              <a:buSzTx/>
              <a:buFontTx/>
              <a:buNone/>
              <a:defRPr/>
            </a:pPr>
            <a:r>
              <a:rPr lang="en-US" altLang="zh-CN" dirty="0">
                <a:latin typeface="+mn-lt"/>
                <a:ea typeface="+mn-ea"/>
                <a:cs typeface="+mn-ea"/>
                <a:sym typeface="+mn-lt"/>
              </a:rPr>
              <a:t>    *q = e;           </a:t>
            </a:r>
            <a:r>
              <a:rPr lang="en-US" altLang="zh-CN" dirty="0">
                <a:solidFill>
                  <a:srgbClr val="00B050"/>
                </a:solidFill>
                <a:latin typeface="+mn-lt"/>
                <a:ea typeface="+mn-ea"/>
                <a:cs typeface="+mn-ea"/>
                <a:sym typeface="+mn-lt"/>
              </a:rPr>
              <a:t>// </a:t>
            </a:r>
            <a:r>
              <a:rPr lang="zh-CN" altLang="en-US" dirty="0">
                <a:solidFill>
                  <a:srgbClr val="00B050"/>
                </a:solidFill>
                <a:latin typeface="+mn-lt"/>
                <a:ea typeface="+mn-ea"/>
                <a:cs typeface="+mn-ea"/>
                <a:sym typeface="+mn-lt"/>
              </a:rPr>
              <a:t>插入</a:t>
            </a:r>
            <a:r>
              <a:rPr lang="en-US" altLang="zh-CN" dirty="0">
                <a:solidFill>
                  <a:srgbClr val="00B050"/>
                </a:solidFill>
                <a:latin typeface="+mn-lt"/>
                <a:ea typeface="+mn-ea"/>
                <a:cs typeface="+mn-ea"/>
                <a:sym typeface="+mn-lt"/>
              </a:rPr>
              <a:t>e</a:t>
            </a:r>
          </a:p>
          <a:p>
            <a:pPr marL="342900" marR="0" lvl="0" indent="-342900" algn="l" defTabSz="914400" rtl="0" eaLnBrk="0" fontAlgn="base" latinLnBrk="0" hangingPunct="0">
              <a:lnSpc>
                <a:spcPct val="150000"/>
              </a:lnSpc>
              <a:spcBef>
                <a:spcPct val="20000"/>
              </a:spcBef>
              <a:spcAft>
                <a:spcPct val="0"/>
              </a:spcAft>
              <a:buClrTx/>
              <a:buSzTx/>
              <a:buFontTx/>
              <a:buNone/>
              <a:defRPr/>
            </a:pPr>
            <a:r>
              <a:rPr lang="en-US" altLang="zh-CN" dirty="0">
                <a:latin typeface="+mn-lt"/>
                <a:ea typeface="+mn-ea"/>
                <a:cs typeface="+mn-ea"/>
                <a:sym typeface="+mn-lt"/>
              </a:rPr>
              <a:t>    ++</a:t>
            </a:r>
            <a:r>
              <a:rPr lang="en-US" altLang="zh-CN" dirty="0" err="1">
                <a:latin typeface="+mn-lt"/>
                <a:ea typeface="+mn-ea"/>
                <a:cs typeface="+mn-ea"/>
                <a:sym typeface="+mn-lt"/>
              </a:rPr>
              <a:t>L.length</a:t>
            </a:r>
            <a:r>
              <a:rPr lang="en-US" altLang="zh-CN" dirty="0">
                <a:latin typeface="+mn-lt"/>
                <a:ea typeface="+mn-ea"/>
                <a:cs typeface="+mn-ea"/>
                <a:sym typeface="+mn-lt"/>
              </a:rPr>
              <a:t>;   </a:t>
            </a:r>
            <a:r>
              <a:rPr lang="en-US" altLang="zh-CN" dirty="0">
                <a:solidFill>
                  <a:srgbClr val="00B050"/>
                </a:solidFill>
                <a:latin typeface="+mn-lt"/>
                <a:ea typeface="+mn-ea"/>
                <a:cs typeface="+mn-ea"/>
                <a:sym typeface="+mn-lt"/>
              </a:rPr>
              <a:t>// </a:t>
            </a:r>
            <a:r>
              <a:rPr lang="zh-CN" altLang="en-US" dirty="0">
                <a:solidFill>
                  <a:srgbClr val="00B050"/>
                </a:solidFill>
                <a:latin typeface="+mn-lt"/>
                <a:ea typeface="+mn-ea"/>
                <a:cs typeface="+mn-ea"/>
                <a:sym typeface="+mn-lt"/>
              </a:rPr>
              <a:t>表长增</a:t>
            </a:r>
            <a:r>
              <a:rPr lang="en-US" altLang="zh-CN" dirty="0">
                <a:solidFill>
                  <a:srgbClr val="00B050"/>
                </a:solidFill>
                <a:latin typeface="+mn-lt"/>
                <a:ea typeface="+mn-ea"/>
                <a:cs typeface="+mn-ea"/>
                <a:sym typeface="+mn-lt"/>
              </a:rPr>
              <a:t>1</a:t>
            </a:r>
          </a:p>
          <a:p>
            <a:pPr marL="342900" marR="0" lvl="0" indent="-342900" algn="l" defTabSz="914400" rtl="0" eaLnBrk="0" fontAlgn="base" latinLnBrk="0" hangingPunct="0">
              <a:lnSpc>
                <a:spcPct val="150000"/>
              </a:lnSpc>
              <a:spcBef>
                <a:spcPct val="20000"/>
              </a:spcBef>
              <a:spcAft>
                <a:spcPct val="0"/>
              </a:spcAft>
              <a:buClrTx/>
              <a:buSzTx/>
              <a:buFontTx/>
              <a:buNone/>
              <a:defRPr/>
            </a:pPr>
            <a:r>
              <a:rPr lang="en-US" altLang="zh-CN" dirty="0">
                <a:latin typeface="+mn-lt"/>
                <a:ea typeface="+mn-ea"/>
                <a:cs typeface="+mn-ea"/>
                <a:sym typeface="+mn-lt"/>
              </a:rPr>
              <a:t>    return OK;</a:t>
            </a:r>
            <a:endPar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endParaRPr>
          </a:p>
          <a:p>
            <a:pPr marL="342900" marR="0" lvl="0" indent="-342900" algn="l" defTabSz="914400" rtl="0" eaLnBrk="0" fontAlgn="base" latinLnBrk="0" hangingPunct="0">
              <a:lnSpc>
                <a:spcPct val="150000"/>
              </a:lnSpc>
              <a:spcBef>
                <a:spcPct val="2000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en-US" altLang="zh-CN" b="0" i="0" u="none" strike="noStrike" kern="1200" cap="none" spc="0" normalizeH="0" baseline="0" noProof="0" dirty="0" err="1">
                <a:ln>
                  <a:noFill/>
                </a:ln>
                <a:solidFill>
                  <a:srgbClr val="00B050"/>
                </a:solidFill>
                <a:effectLst/>
                <a:uLnTx/>
                <a:uFillTx/>
                <a:latin typeface="+mn-lt"/>
                <a:ea typeface="+mn-ea"/>
                <a:cs typeface="+mn-ea"/>
                <a:sym typeface="+mn-lt"/>
              </a:rPr>
              <a:t>ListInsert_Sq</a:t>
            </a:r>
            <a:endParaRPr kumimoji="0" lang="en-US" altLang="zh-CN" b="0" i="0" u="none" strike="noStrike" kern="1200" cap="none" spc="0" normalizeH="0" baseline="0" noProof="0" dirty="0">
              <a:ln>
                <a:noFill/>
              </a:ln>
              <a:solidFill>
                <a:srgbClr val="00B050"/>
              </a:solidFill>
              <a:effectLst/>
              <a:uLnTx/>
              <a:uFillTx/>
              <a:latin typeface="+mn-lt"/>
              <a:ea typeface="+mn-ea"/>
              <a:cs typeface="+mn-ea"/>
              <a:sym typeface="+mn-lt"/>
            </a:endParaRPr>
          </a:p>
        </p:txBody>
      </p:sp>
      <p:sp>
        <p:nvSpPr>
          <p:cNvPr id="66563" name="Rectangle 5"/>
          <p:cNvSpPr>
            <a:spLocks noChangeArrowheads="1"/>
          </p:cNvSpPr>
          <p:nvPr/>
        </p:nvSpPr>
        <p:spPr bwMode="auto">
          <a:xfrm>
            <a:off x="827584" y="141262"/>
            <a:ext cx="612003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插入（插在第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a:t>
            </a:r>
            <a:r>
              <a:rPr lang="zh-CN" altLang="en-US" dirty="0">
                <a:solidFill>
                  <a:schemeClr val="bg1"/>
                </a:solidFill>
                <a:latin typeface="+mn-lt"/>
                <a:ea typeface="+mn-ea"/>
                <a:cs typeface="+mn-ea"/>
                <a:sym typeface="+mn-lt"/>
              </a:rPr>
              <a:t>数据元素</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之前） </a:t>
            </a:r>
          </a:p>
        </p:txBody>
      </p:sp>
    </p:spTree>
    <p:extLst>
      <p:ext uri="{BB962C8B-B14F-4D97-AF65-F5344CB8AC3E}">
        <p14:creationId xmlns:p14="http://schemas.microsoft.com/office/powerpoint/2010/main" val="22533209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3636" name="Object 4"/>
          <p:cNvGraphicFramePr/>
          <p:nvPr>
            <p:extLst>
              <p:ext uri="{D42A27DB-BD31-4B8C-83A1-F6EECF244321}">
                <p14:modId xmlns:p14="http://schemas.microsoft.com/office/powerpoint/2010/main" val="3708792122"/>
              </p:ext>
            </p:extLst>
          </p:nvPr>
        </p:nvGraphicFramePr>
        <p:xfrm>
          <a:off x="328960" y="4370387"/>
          <a:ext cx="8486080" cy="2311399"/>
        </p:xfrm>
        <a:graphic>
          <a:graphicData uri="http://schemas.openxmlformats.org/presentationml/2006/ole">
            <mc:AlternateContent xmlns:mc="http://schemas.openxmlformats.org/markup-compatibility/2006">
              <mc:Choice xmlns:v="urn:schemas-microsoft-com:vml" Requires="v">
                <p:oleObj spid="_x0000_s1161" r:id="rId3" imgW="2983230" imgH="862965" progId="Equation.3">
                  <p:embed/>
                </p:oleObj>
              </mc:Choice>
              <mc:Fallback>
                <p:oleObj r:id="rId3" imgW="2983230" imgH="862965" progId="Equation.3">
                  <p:embed/>
                  <p:pic>
                    <p:nvPicPr>
                      <p:cNvPr id="0" name="图片 3075"/>
                      <p:cNvPicPr/>
                      <p:nvPr/>
                    </p:nvPicPr>
                    <p:blipFill>
                      <a:blip r:embed="rId4"/>
                      <a:stretch>
                        <a:fillRect/>
                      </a:stretch>
                    </p:blipFill>
                    <p:spPr>
                      <a:xfrm>
                        <a:off x="328960" y="4370387"/>
                        <a:ext cx="8486080" cy="2311399"/>
                      </a:xfrm>
                      <a:prstGeom prst="rect">
                        <a:avLst/>
                      </a:prstGeom>
                      <a:solidFill>
                        <a:schemeClr val="bg1">
                          <a:lumMod val="90000"/>
                        </a:schemeClr>
                      </a:solidFill>
                      <a:ln w="38100">
                        <a:noFill/>
                        <a:miter/>
                      </a:ln>
                    </p:spPr>
                  </p:pic>
                </p:oleObj>
              </mc:Fallback>
            </mc:AlternateContent>
          </a:graphicData>
        </a:graphic>
      </p:graphicFrame>
      <p:sp>
        <p:nvSpPr>
          <p:cNvPr id="67588" name="Rectangle 6"/>
          <p:cNvSpPr>
            <a:spLocks noChangeArrowheads="1"/>
          </p:cNvSpPr>
          <p:nvPr/>
        </p:nvSpPr>
        <p:spPr bwMode="auto">
          <a:xfrm>
            <a:off x="328960" y="908720"/>
            <a:ext cx="8486080" cy="324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算法时间主要耗费在移动元素的操作上。</a:t>
            </a:r>
            <a:endPar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设表中有 </a:t>
            </a:r>
            <a:r>
              <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rPr>
              <a:t>n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项，在第 </a:t>
            </a:r>
            <a:r>
              <a:rPr kumimoji="0" lang="en-US" altLang="zh-CN" sz="2800" b="0" i="0" u="none" strike="noStrike" kern="1200" cap="none" spc="0" normalizeH="0" baseline="0" noProof="0" dirty="0" err="1">
                <a:ln>
                  <a:noFill/>
                </a:ln>
                <a:solidFill>
                  <a:schemeClr val="tx1"/>
                </a:solidFill>
                <a:effectLst/>
                <a:uLnTx/>
                <a:uFillTx/>
                <a:latin typeface="+mn-ea"/>
                <a:ea typeface="+mn-ea"/>
                <a:cs typeface="+mn-ea"/>
                <a:sym typeface="+mn-lt"/>
              </a:rPr>
              <a:t>i</a:t>
            </a:r>
            <a:r>
              <a:rPr lang="zh-CN" altLang="en-US" sz="2800" dirty="0">
                <a:latin typeface="+mn-ea"/>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个位置插入，从</a:t>
            </a:r>
            <a:r>
              <a:rPr lang="zh-CN" altLang="en-US" sz="2800" dirty="0">
                <a:latin typeface="+mn-ea"/>
                <a:ea typeface="+mn-ea"/>
                <a:cs typeface="+mn-ea"/>
                <a:sym typeface="+mn-lt"/>
              </a:rPr>
              <a:t>第 </a:t>
            </a:r>
            <a:r>
              <a:rPr lang="en-US" altLang="zh-CN" sz="2800" dirty="0" err="1">
                <a:latin typeface="+mn-ea"/>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到第 </a:t>
            </a:r>
            <a:r>
              <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rPr>
              <a:t>n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个元素成块后移，共移动 </a:t>
            </a:r>
            <a:r>
              <a:rPr kumimoji="0" lang="en-US" altLang="zh-CN" sz="2800" b="0" i="0" u="none" strike="noStrike" kern="1200" cap="none" spc="0" normalizeH="0" baseline="0" noProof="0" dirty="0">
                <a:ln>
                  <a:noFill/>
                </a:ln>
                <a:solidFill>
                  <a:srgbClr val="FF0000"/>
                </a:solidFill>
                <a:effectLst/>
                <a:uLnTx/>
                <a:uFillTx/>
                <a:latin typeface="+mn-ea"/>
                <a:ea typeface="+mn-ea"/>
                <a:cs typeface="+mn-ea"/>
                <a:sym typeface="+mn-lt"/>
              </a:rPr>
              <a:t>n-i+1</a:t>
            </a:r>
            <a:r>
              <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项。</a:t>
            </a: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考虑所有插入位置，各位置插入概率相等时，从 </a:t>
            </a:r>
            <a:r>
              <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rPr>
              <a:t>1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到 </a:t>
            </a:r>
            <a:r>
              <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rPr>
              <a:t>n+1</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，平均移动元素个数为</a:t>
            </a:r>
            <a:r>
              <a:rPr kumimoji="0" lang="en-US" altLang="zh-CN" sz="2800" b="0" i="0" u="none" strike="noStrike" kern="1200" cap="none" spc="0" normalizeH="0" baseline="0" noProof="0" dirty="0">
                <a:ln>
                  <a:noFill/>
                </a:ln>
                <a:solidFill>
                  <a:schemeClr val="tx1"/>
                </a:solidFill>
                <a:effectLst/>
                <a:uLnTx/>
                <a:uFillTx/>
                <a:latin typeface="+mn-ea"/>
                <a:ea typeface="+mn-ea"/>
                <a:cs typeface="+mn-ea"/>
                <a:sym typeface="+mn-lt"/>
              </a:rPr>
              <a:t>:</a:t>
            </a:r>
          </a:p>
        </p:txBody>
      </p:sp>
      <p:sp>
        <p:nvSpPr>
          <p:cNvPr id="67589" name="Rectangle 8"/>
          <p:cNvSpPr>
            <a:spLocks noChangeArrowheads="1"/>
          </p:cNvSpPr>
          <p:nvPr/>
        </p:nvSpPr>
        <p:spPr bwMode="auto">
          <a:xfrm>
            <a:off x="801241" y="176213"/>
            <a:ext cx="4922887"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lang="zh-CN" altLang="en-US" dirty="0">
                <a:solidFill>
                  <a:schemeClr val="bg1"/>
                </a:solidFill>
                <a:latin typeface="+mn-lt"/>
                <a:ea typeface="+mn-ea"/>
                <a:cs typeface="+mn-ea"/>
                <a:sym typeface="+mn-lt"/>
              </a:rPr>
              <a:t>插入</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算法时间复杂度分析</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53636"/>
                                        </p:tgtEl>
                                        <p:attrNameLst>
                                          <p:attrName>style.visibility</p:attrName>
                                        </p:attrNameLst>
                                      </p:cBhvr>
                                      <p:to>
                                        <p:strVal val="visible"/>
                                      </p:to>
                                    </p:set>
                                    <p:animEffect transition="in" filter="fade">
                                      <p:cBhvr>
                                        <p:cTn id="7" dur="1000"/>
                                        <p:tgtEl>
                                          <p:spTgt spid="453636"/>
                                        </p:tgtEl>
                                      </p:cBhvr>
                                    </p:animEffect>
                                    <p:anim calcmode="lin" valueType="num">
                                      <p:cBhvr>
                                        <p:cTn id="8" dur="1000" fill="hold"/>
                                        <p:tgtEl>
                                          <p:spTgt spid="453636"/>
                                        </p:tgtEl>
                                        <p:attrNameLst>
                                          <p:attrName>ppt_x</p:attrName>
                                        </p:attrNameLst>
                                      </p:cBhvr>
                                      <p:tavLst>
                                        <p:tav tm="0">
                                          <p:val>
                                            <p:strVal val="#ppt_x"/>
                                          </p:val>
                                        </p:tav>
                                        <p:tav tm="100000">
                                          <p:val>
                                            <p:strVal val="#ppt_x"/>
                                          </p:val>
                                        </p:tav>
                                      </p:tavLst>
                                    </p:anim>
                                    <p:anim calcmode="lin" valueType="num">
                                      <p:cBhvr>
                                        <p:cTn id="9" dur="1000" fill="hold"/>
                                        <p:tgtEl>
                                          <p:spTgt spid="4536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95"/>
          <p:cNvSpPr>
            <a:spLocks noGrp="1" noChangeArrowheads="1"/>
          </p:cNvSpPr>
          <p:nvPr>
            <p:ph idx="1" hasCustomPrompt="1"/>
          </p:nvPr>
        </p:nvSpPr>
        <p:spPr>
          <a:xfrm>
            <a:off x="627063" y="220663"/>
            <a:ext cx="4559300" cy="552450"/>
          </a:xfrm>
        </p:spPr>
        <p:txBody>
          <a:bodyPr vert="horz" wrap="square" lIns="91440" tIns="45720" rIns="91440" bIns="45720" numCol="1" anchor="ctr" anchorCtr="0" compatLnSpc="1"/>
          <a:lstStyle/>
          <a:p>
            <a:pPr marL="171450" marR="0" lvl="1"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线性表的重要基本操作</a:t>
            </a:r>
          </a:p>
        </p:txBody>
      </p:sp>
      <p:sp>
        <p:nvSpPr>
          <p:cNvPr id="44" name="Freeform 5"/>
          <p:cNvSpPr/>
          <p:nvPr/>
        </p:nvSpPr>
        <p:spPr bwMode="auto">
          <a:xfrm>
            <a:off x="4984750" y="1636713"/>
            <a:ext cx="1770063" cy="1785938"/>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5" name="Freeform 6"/>
          <p:cNvSpPr/>
          <p:nvPr/>
        </p:nvSpPr>
        <p:spPr bwMode="auto">
          <a:xfrm>
            <a:off x="2105025" y="2382838"/>
            <a:ext cx="1895475" cy="1744663"/>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6" name="Freeform 7"/>
          <p:cNvSpPr/>
          <p:nvPr/>
        </p:nvSpPr>
        <p:spPr bwMode="auto">
          <a:xfrm>
            <a:off x="2794000" y="4002088"/>
            <a:ext cx="1314450" cy="1268413"/>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47" name="Oval 8"/>
          <p:cNvSpPr>
            <a:spLocks noChangeArrowheads="1"/>
          </p:cNvSpPr>
          <p:nvPr/>
        </p:nvSpPr>
        <p:spPr bwMode="auto">
          <a:xfrm>
            <a:off x="2720975" y="2036763"/>
            <a:ext cx="3683000" cy="3679825"/>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24" name="Freeform 10"/>
          <p:cNvSpPr/>
          <p:nvPr/>
        </p:nvSpPr>
        <p:spPr bwMode="auto">
          <a:xfrm>
            <a:off x="2889250" y="4073525"/>
            <a:ext cx="1157288" cy="1104900"/>
          </a:xfrm>
          <a:custGeom>
            <a:avLst/>
            <a:gdLst>
              <a:gd name="T0" fmla="*/ 1040174 w 277"/>
              <a:gd name="T1" fmla="*/ 671541 h 265"/>
              <a:gd name="T2" fmla="*/ 430273 w 277"/>
              <a:gd name="T3" fmla="*/ 1038595 h 265"/>
              <a:gd name="T4" fmla="*/ 62661 w 277"/>
              <a:gd name="T5" fmla="*/ 433791 h 265"/>
              <a:gd name="T6" fmla="*/ 672562 w 277"/>
              <a:gd name="T7" fmla="*/ 66737 h 265"/>
              <a:gd name="T8" fmla="*/ 1157141 w 277"/>
              <a:gd name="T9" fmla="*/ 187698 h 265"/>
              <a:gd name="T10" fmla="*/ 1040174 w 277"/>
              <a:gd name="T11" fmla="*/ 671541 h 2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6C4C8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5" name="Freeform 11"/>
          <p:cNvSpPr/>
          <p:nvPr/>
        </p:nvSpPr>
        <p:spPr bwMode="auto">
          <a:xfrm>
            <a:off x="2243138" y="2484438"/>
            <a:ext cx="1724025" cy="1589088"/>
          </a:xfrm>
          <a:custGeom>
            <a:avLst/>
            <a:gdLst>
              <a:gd name="T0" fmla="*/ 1102170 w 413"/>
              <a:gd name="T1" fmla="*/ 1418127 h 381"/>
              <a:gd name="T2" fmla="*/ 171170 w 413"/>
              <a:gd name="T3" fmla="*/ 1101134 h 381"/>
              <a:gd name="T4" fmla="*/ 488462 w 413"/>
              <a:gd name="T5" fmla="*/ 171009 h 381"/>
              <a:gd name="T6" fmla="*/ 1419461 w 413"/>
              <a:gd name="T7" fmla="*/ 488002 h 381"/>
              <a:gd name="T8" fmla="*/ 1724228 w 413"/>
              <a:gd name="T9" fmla="*/ 1113646 h 381"/>
              <a:gd name="T10" fmla="*/ 1102170 w 413"/>
              <a:gd name="T11" fmla="*/ 1418127 h 3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0066FF"/>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Freeform 12"/>
          <p:cNvSpPr/>
          <p:nvPr/>
        </p:nvSpPr>
        <p:spPr bwMode="auto">
          <a:xfrm>
            <a:off x="4984750" y="1752600"/>
            <a:ext cx="1649413" cy="1665288"/>
          </a:xfrm>
          <a:custGeom>
            <a:avLst/>
            <a:gdLst>
              <a:gd name="T0" fmla="*/ 20864 w 395"/>
              <a:gd name="T1" fmla="*/ 859656 h 399"/>
              <a:gd name="T2" fmla="*/ 792835 w 395"/>
              <a:gd name="T3" fmla="*/ 20865 h 399"/>
              <a:gd name="T4" fmla="*/ 1631572 w 395"/>
              <a:gd name="T5" fmla="*/ 792886 h 399"/>
              <a:gd name="T6" fmla="*/ 859600 w 395"/>
              <a:gd name="T7" fmla="*/ 1631676 h 399"/>
              <a:gd name="T8" fmla="*/ 54247 w 395"/>
              <a:gd name="T9" fmla="*/ 1665061 h 399"/>
              <a:gd name="T10" fmla="*/ 20864 w 395"/>
              <a:gd name="T11" fmla="*/ 859656 h 3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FFC000"/>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1" name="Freeform 13"/>
          <p:cNvSpPr/>
          <p:nvPr/>
        </p:nvSpPr>
        <p:spPr bwMode="auto">
          <a:xfrm rot="20816061">
            <a:off x="5327650" y="3617913"/>
            <a:ext cx="915988" cy="846138"/>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28" name="Freeform 14"/>
          <p:cNvSpPr/>
          <p:nvPr/>
        </p:nvSpPr>
        <p:spPr bwMode="auto">
          <a:xfrm rot="-1148308">
            <a:off x="4497388" y="4657725"/>
            <a:ext cx="847725" cy="760413"/>
          </a:xfrm>
          <a:custGeom>
            <a:avLst/>
            <a:gdLst>
              <a:gd name="T0" fmla="*/ 679612 w 116"/>
              <a:gd name="T1" fmla="*/ 203409 h 131"/>
              <a:gd name="T2" fmla="*/ 701535 w 116"/>
              <a:gd name="T3" fmla="*/ 633473 h 131"/>
              <a:gd name="T4" fmla="*/ 168076 w 116"/>
              <a:gd name="T5" fmla="*/ 650908 h 131"/>
              <a:gd name="T6" fmla="*/ 146153 w 116"/>
              <a:gd name="T7" fmla="*/ 220844 h 131"/>
              <a:gd name="T8" fmla="*/ 401921 w 116"/>
              <a:gd name="T9" fmla="*/ 0 h 131"/>
              <a:gd name="T10" fmla="*/ 679612 w 116"/>
              <a:gd name="T11" fmla="*/ 203409 h 1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 name="Oval 16"/>
          <p:cNvSpPr>
            <a:spLocks noChangeArrowheads="1"/>
          </p:cNvSpPr>
          <p:nvPr/>
        </p:nvSpPr>
        <p:spPr bwMode="auto">
          <a:xfrm>
            <a:off x="3587750" y="2900363"/>
            <a:ext cx="1949450" cy="1949450"/>
          </a:xfrm>
          <a:prstGeom prst="ellipse">
            <a:avLst/>
          </a:prstGeom>
          <a:solidFill>
            <a:sysClr val="window" lastClr="FFFFFF">
              <a:lumMod val="85000"/>
            </a:sysClr>
          </a:solidFill>
          <a:ln w="12" cap="flat">
            <a:noFill/>
            <a:prstDash val="solid"/>
            <a:miter lim="800000"/>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mn-lt"/>
              <a:ea typeface="+mn-ea"/>
              <a:cs typeface="+mn-ea"/>
              <a:sym typeface="+mn-lt"/>
            </a:endParaRPr>
          </a:p>
        </p:txBody>
      </p:sp>
      <p:sp>
        <p:nvSpPr>
          <p:cNvPr id="34830" name="Freeform 17"/>
          <p:cNvSpPr/>
          <p:nvPr/>
        </p:nvSpPr>
        <p:spPr bwMode="auto">
          <a:xfrm>
            <a:off x="3749675" y="4278313"/>
            <a:ext cx="193675" cy="174625"/>
          </a:xfrm>
          <a:custGeom>
            <a:avLst/>
            <a:gdLst>
              <a:gd name="T0" fmla="*/ 0 w 109"/>
              <a:gd name="T1" fmla="*/ 21188 h 99"/>
              <a:gd name="T2" fmla="*/ 192563 w 109"/>
              <a:gd name="T3" fmla="*/ 0 h 99"/>
              <a:gd name="T4" fmla="*/ 113065 w 109"/>
              <a:gd name="T5" fmla="*/ 174804 h 99"/>
              <a:gd name="T6" fmla="*/ 104231 w 109"/>
              <a:gd name="T7" fmla="*/ 61799 h 99"/>
              <a:gd name="T8" fmla="*/ 0 w 109"/>
              <a:gd name="T9" fmla="*/ 21188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1" name="Freeform 18"/>
          <p:cNvSpPr/>
          <p:nvPr/>
        </p:nvSpPr>
        <p:spPr bwMode="auto">
          <a:xfrm>
            <a:off x="3713163" y="3438525"/>
            <a:ext cx="187325" cy="171450"/>
          </a:xfrm>
          <a:custGeom>
            <a:avLst/>
            <a:gdLst>
              <a:gd name="T0" fmla="*/ 74199 w 106"/>
              <a:gd name="T1" fmla="*/ 0 h 97"/>
              <a:gd name="T2" fmla="*/ 187263 w 106"/>
              <a:gd name="T3" fmla="*/ 150085 h 97"/>
              <a:gd name="T4" fmla="*/ 0 w 106"/>
              <a:gd name="T5" fmla="*/ 171273 h 97"/>
              <a:gd name="T6" fmla="*/ 91865 w 106"/>
              <a:gd name="T7" fmla="*/ 107708 h 97"/>
              <a:gd name="T8" fmla="*/ 74199 w 106"/>
              <a:gd name="T9" fmla="*/ 0 h 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Freeform 20"/>
          <p:cNvSpPr/>
          <p:nvPr/>
        </p:nvSpPr>
        <p:spPr bwMode="auto">
          <a:xfrm>
            <a:off x="5076825" y="3184525"/>
            <a:ext cx="180975" cy="187325"/>
          </a:xfrm>
          <a:custGeom>
            <a:avLst/>
            <a:gdLst>
              <a:gd name="T0" fmla="*/ 180196 w 102"/>
              <a:gd name="T1" fmla="*/ 125365 h 106"/>
              <a:gd name="T2" fmla="*/ 0 w 102"/>
              <a:gd name="T3" fmla="*/ 187165 h 106"/>
              <a:gd name="T4" fmla="*/ 38866 w 102"/>
              <a:gd name="T5" fmla="*/ 0 h 106"/>
              <a:gd name="T6" fmla="*/ 70665 w 102"/>
              <a:gd name="T7" fmla="*/ 104177 h 106"/>
              <a:gd name="T8" fmla="*/ 180196 w 102"/>
              <a:gd name="T9" fmla="*/ 12536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3" name="Freeform 21"/>
          <p:cNvSpPr/>
          <p:nvPr/>
        </p:nvSpPr>
        <p:spPr bwMode="auto">
          <a:xfrm rot="-1924636">
            <a:off x="5338763" y="3868738"/>
            <a:ext cx="182563" cy="179388"/>
          </a:xfrm>
          <a:custGeom>
            <a:avLst/>
            <a:gdLst>
              <a:gd name="T0" fmla="*/ 49466 w 103"/>
              <a:gd name="T1" fmla="*/ 178336 h 101"/>
              <a:gd name="T2" fmla="*/ 0 w 103"/>
              <a:gd name="T3" fmla="*/ 0 h 101"/>
              <a:gd name="T4" fmla="*/ 181963 w 103"/>
              <a:gd name="T5" fmla="*/ 45908 h 101"/>
              <a:gd name="T6" fmla="*/ 74199 w 103"/>
              <a:gd name="T7" fmla="*/ 74160 h 101"/>
              <a:gd name="T8" fmla="*/ 49466 w 103"/>
              <a:gd name="T9" fmla="*/ 178336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4" name="Freeform 22"/>
          <p:cNvSpPr/>
          <p:nvPr/>
        </p:nvSpPr>
        <p:spPr bwMode="auto">
          <a:xfrm rot="-997591">
            <a:off x="4700588" y="4586288"/>
            <a:ext cx="187325" cy="165100"/>
          </a:xfrm>
          <a:custGeom>
            <a:avLst/>
            <a:gdLst>
              <a:gd name="T0" fmla="*/ 0 w 106"/>
              <a:gd name="T1" fmla="*/ 165976 h 94"/>
              <a:gd name="T2" fmla="*/ 88332 w 106"/>
              <a:gd name="T3" fmla="*/ 0 h 94"/>
              <a:gd name="T4" fmla="*/ 187263 w 106"/>
              <a:gd name="T5" fmla="*/ 162445 h 94"/>
              <a:gd name="T6" fmla="*/ 91865 w 106"/>
              <a:gd name="T7" fmla="*/ 107708 h 94"/>
              <a:gd name="T8" fmla="*/ 0 w 106"/>
              <a:gd name="T9" fmla="*/ 165976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5" name="Oval 49"/>
          <p:cNvSpPr>
            <a:spLocks noChangeArrowheads="1"/>
          </p:cNvSpPr>
          <p:nvPr/>
        </p:nvSpPr>
        <p:spPr bwMode="auto">
          <a:xfrm>
            <a:off x="3943350" y="3255963"/>
            <a:ext cx="1243013" cy="1243013"/>
          </a:xfrm>
          <a:prstGeom prst="ellipse">
            <a:avLst/>
          </a:prstGeom>
          <a:noFill/>
          <a:ln w="10">
            <a:solidFill>
              <a:srgbClr val="4C6062"/>
            </a:solidFill>
            <a:miter lim="800000"/>
          </a:ln>
          <a:extLst>
            <a:ext uri="{909E8E84-426E-40DD-AFC4-6F175D3DCCD1}">
              <a14:hiddenFill xmlns:a14="http://schemas.microsoft.com/office/drawing/2010/main">
                <a:solidFill>
                  <a:srgbClr val="FFFFFF"/>
                </a:solidFill>
              </a14:hiddenFill>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36" name="Freeform 50"/>
          <p:cNvSpPr/>
          <p:nvPr/>
        </p:nvSpPr>
        <p:spPr bwMode="auto">
          <a:xfrm>
            <a:off x="6859588" y="1557338"/>
            <a:ext cx="684213" cy="871538"/>
          </a:xfrm>
          <a:custGeom>
            <a:avLst/>
            <a:gdLst>
              <a:gd name="T0" fmla="*/ 683685 w 387"/>
              <a:gd name="T1" fmla="*/ 872259 h 494"/>
              <a:gd name="T2" fmla="*/ 0 w 387"/>
              <a:gd name="T3" fmla="*/ 872259 h 494"/>
              <a:gd name="T4" fmla="*/ 0 w 387"/>
              <a:gd name="T5" fmla="*/ 856368 h 494"/>
              <a:gd name="T6" fmla="*/ 667785 w 387"/>
              <a:gd name="T7" fmla="*/ 856368 h 494"/>
              <a:gd name="T8" fmla="*/ 667785 w 387"/>
              <a:gd name="T9" fmla="*/ 0 h 494"/>
              <a:gd name="T10" fmla="*/ 683685 w 387"/>
              <a:gd name="T11" fmla="*/ 0 h 494"/>
              <a:gd name="T12" fmla="*/ 683685 w 387"/>
              <a:gd name="T13" fmla="*/ 872259 h 4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F0000"/>
          </a:solidFill>
          <a:ln w="19050">
            <a:solidFill>
              <a:srgbClr val="FF0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1" name="Freeform 51"/>
          <p:cNvSpPr/>
          <p:nvPr/>
        </p:nvSpPr>
        <p:spPr bwMode="auto">
          <a:xfrm flipV="1">
            <a:off x="5953125" y="4106863"/>
            <a:ext cx="1247775" cy="742950"/>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chemeClr val="accent2">
              <a:lumMod val="60000"/>
              <a:lumOff val="40000"/>
            </a:schemeClr>
          </a:solidFill>
          <a:ln w="19050">
            <a:solidFill>
              <a:srgbClr val="8585E0"/>
            </a:solid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38" name="Freeform 55"/>
          <p:cNvSpPr/>
          <p:nvPr/>
        </p:nvSpPr>
        <p:spPr bwMode="auto">
          <a:xfrm>
            <a:off x="4316413" y="5478463"/>
            <a:ext cx="608013" cy="584200"/>
          </a:xfrm>
          <a:custGeom>
            <a:avLst/>
            <a:gdLst>
              <a:gd name="T0" fmla="*/ 609487 w 345"/>
              <a:gd name="T1" fmla="*/ 584448 h 331"/>
              <a:gd name="T2" fmla="*/ 0 w 345"/>
              <a:gd name="T3" fmla="*/ 584448 h 331"/>
              <a:gd name="T4" fmla="*/ 0 w 345"/>
              <a:gd name="T5" fmla="*/ 568557 h 331"/>
              <a:gd name="T6" fmla="*/ 593587 w 345"/>
              <a:gd name="T7" fmla="*/ 568557 h 331"/>
              <a:gd name="T8" fmla="*/ 593587 w 345"/>
              <a:gd name="T9" fmla="*/ 0 h 331"/>
              <a:gd name="T10" fmla="*/ 609487 w 345"/>
              <a:gd name="T11" fmla="*/ 0 h 331"/>
              <a:gd name="T12" fmla="*/ 609487 w 345"/>
              <a:gd name="T13" fmla="*/ 584448 h 3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5" h="331">
                <a:moveTo>
                  <a:pt x="345" y="331"/>
                </a:moveTo>
                <a:lnTo>
                  <a:pt x="0" y="331"/>
                </a:lnTo>
                <a:lnTo>
                  <a:pt x="0" y="322"/>
                </a:lnTo>
                <a:lnTo>
                  <a:pt x="336" y="322"/>
                </a:lnTo>
                <a:lnTo>
                  <a:pt x="336" y="0"/>
                </a:lnTo>
                <a:lnTo>
                  <a:pt x="345" y="0"/>
                </a:lnTo>
                <a:lnTo>
                  <a:pt x="345" y="331"/>
                </a:lnTo>
                <a:close/>
              </a:path>
            </a:pathLst>
          </a:custGeom>
          <a:solidFill>
            <a:srgbClr val="FFC000"/>
          </a:solidFill>
          <a:ln w="19050">
            <a:solidFill>
              <a:srgbClr val="FFC000"/>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9" name="Oval 57"/>
          <p:cNvSpPr>
            <a:spLocks noChangeAspect="1" noChangeArrowheads="1"/>
          </p:cNvSpPr>
          <p:nvPr/>
        </p:nvSpPr>
        <p:spPr bwMode="auto">
          <a:xfrm>
            <a:off x="7470775" y="1528763"/>
            <a:ext cx="134938" cy="133350"/>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4" name="Oval 58"/>
          <p:cNvSpPr>
            <a:spLocks noChangeAspect="1" noChangeArrowheads="1"/>
          </p:cNvSpPr>
          <p:nvPr/>
        </p:nvSpPr>
        <p:spPr bwMode="auto">
          <a:xfrm>
            <a:off x="7129463" y="4835525"/>
            <a:ext cx="134938" cy="133350"/>
          </a:xfrm>
          <a:prstGeom prst="ellipse">
            <a:avLst/>
          </a:prstGeom>
          <a:solidFill>
            <a:schemeClr val="accent2">
              <a:lumMod val="60000"/>
              <a:lumOff val="40000"/>
            </a:schemeClr>
          </a:solidFill>
          <a:ln>
            <a:noFill/>
          </a:ln>
        </p:spPr>
        <p:txBody>
          <a:bodyPr lIns="121954" tIns="60977" rIns="121954" bIns="60977"/>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mn-lt"/>
              <a:ea typeface="+mn-ea"/>
              <a:cs typeface="+mn-ea"/>
              <a:sym typeface="+mn-lt"/>
            </a:endParaRPr>
          </a:p>
        </p:txBody>
      </p:sp>
      <p:sp>
        <p:nvSpPr>
          <p:cNvPr id="34841" name="Oval 59"/>
          <p:cNvSpPr>
            <a:spLocks noChangeAspect="1" noChangeArrowheads="1"/>
          </p:cNvSpPr>
          <p:nvPr/>
        </p:nvSpPr>
        <p:spPr bwMode="auto">
          <a:xfrm>
            <a:off x="1981200" y="4711700"/>
            <a:ext cx="141288" cy="130175"/>
          </a:xfrm>
          <a:prstGeom prst="ellipse">
            <a:avLst/>
          </a:prstGeom>
          <a:solidFill>
            <a:srgbClr val="CC00CC"/>
          </a:solidFill>
          <a:ln w="9525">
            <a:solidFill>
              <a:srgbClr val="CC00CC"/>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42" name="Oval 60"/>
          <p:cNvSpPr>
            <a:spLocks noChangeAspect="1" noChangeArrowheads="1"/>
          </p:cNvSpPr>
          <p:nvPr/>
        </p:nvSpPr>
        <p:spPr bwMode="auto">
          <a:xfrm>
            <a:off x="4265613" y="5980113"/>
            <a:ext cx="141288" cy="141288"/>
          </a:xfrm>
          <a:prstGeom prst="ellipse">
            <a:avLst/>
          </a:prstGeom>
          <a:solidFill>
            <a:srgbClr val="EBAC07"/>
          </a:solidFill>
          <a:ln>
            <a:noFill/>
          </a:ln>
          <a:extLst>
            <a:ext uri="{91240B29-F687-4F45-9708-019B960494DF}">
              <a14:hiddenLine xmlns:a14="http://schemas.microsoft.com/office/drawing/2010/main" w="9525">
                <a:solidFill>
                  <a:srgbClr val="000000"/>
                </a:solidFill>
                <a:round/>
              </a14:hiddenLine>
            </a:ext>
          </a:extLst>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7" name="TextBox 195"/>
          <p:cNvSpPr txBox="1"/>
          <p:nvPr/>
        </p:nvSpPr>
        <p:spPr bwMode="auto">
          <a:xfrm>
            <a:off x="3981450" y="3535363"/>
            <a:ext cx="1204913" cy="861809"/>
          </a:xfrm>
          <a:prstGeom prst="rect">
            <a:avLst/>
          </a:prstGeom>
          <a:noFill/>
        </p:spPr>
        <p:txBody>
          <a:bodyPr lIns="121954" tIns="60977" rIns="121954" bIns="60977">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基本操作</a:t>
            </a:r>
          </a:p>
        </p:txBody>
      </p:sp>
      <p:sp>
        <p:nvSpPr>
          <p:cNvPr id="68" name="TextBox 196"/>
          <p:cNvSpPr txBox="1"/>
          <p:nvPr/>
        </p:nvSpPr>
        <p:spPr bwMode="auto">
          <a:xfrm>
            <a:off x="7570464" y="1341438"/>
            <a:ext cx="1438924"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0" cap="none" spc="300" normalizeH="0" baseline="0" noProof="0" dirty="0">
                <a:ln>
                  <a:noFill/>
                </a:ln>
                <a:solidFill>
                  <a:prstClr val="black">
                    <a:lumMod val="95000"/>
                    <a:lumOff val="5000"/>
                  </a:prstClr>
                </a:solidFill>
                <a:effectLst/>
                <a:uLnTx/>
                <a:uFillTx/>
                <a:latin typeface="+mn-lt"/>
                <a:ea typeface="+mn-ea"/>
                <a:cs typeface="+mn-ea"/>
                <a:sym typeface="+mn-lt"/>
              </a:rPr>
              <a:t>初始化</a:t>
            </a:r>
          </a:p>
        </p:txBody>
      </p:sp>
      <p:sp>
        <p:nvSpPr>
          <p:cNvPr id="69" name="TextBox 200"/>
          <p:cNvSpPr txBox="1"/>
          <p:nvPr/>
        </p:nvSpPr>
        <p:spPr bwMode="auto">
          <a:xfrm>
            <a:off x="3102780" y="584041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0" cap="none" spc="300" normalizeH="0" baseline="0" noProof="0" dirty="0">
                <a:ln>
                  <a:noFill/>
                </a:ln>
                <a:solidFill>
                  <a:schemeClr val="tx1"/>
                </a:solidFill>
                <a:effectLst/>
                <a:uLnTx/>
                <a:uFillTx/>
                <a:latin typeface="+mn-lt"/>
                <a:ea typeface="+mn-ea"/>
                <a:cs typeface="+mn-ea"/>
                <a:sym typeface="+mn-lt"/>
              </a:rPr>
              <a:t>查找</a:t>
            </a:r>
          </a:p>
        </p:txBody>
      </p:sp>
      <p:sp>
        <p:nvSpPr>
          <p:cNvPr id="70" name="TextBox 202"/>
          <p:cNvSpPr txBox="1"/>
          <p:nvPr/>
        </p:nvSpPr>
        <p:spPr bwMode="auto">
          <a:xfrm>
            <a:off x="798523" y="4545013"/>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0" cap="none" spc="300" normalizeH="0" baseline="0" noProof="0" dirty="0">
                <a:ln>
                  <a:noFill/>
                </a:ln>
                <a:solidFill>
                  <a:schemeClr val="tx1"/>
                </a:solidFill>
                <a:effectLst/>
                <a:uLnTx/>
                <a:uFillTx/>
                <a:latin typeface="+mn-lt"/>
                <a:ea typeface="+mn-ea"/>
                <a:cs typeface="+mn-ea"/>
                <a:sym typeface="+mn-lt"/>
              </a:rPr>
              <a:t>插入</a:t>
            </a:r>
          </a:p>
        </p:txBody>
      </p:sp>
      <p:sp>
        <p:nvSpPr>
          <p:cNvPr id="71" name="TextBox 204"/>
          <p:cNvSpPr txBox="1"/>
          <p:nvPr/>
        </p:nvSpPr>
        <p:spPr bwMode="auto">
          <a:xfrm>
            <a:off x="7481888" y="4687888"/>
            <a:ext cx="1039813" cy="554038"/>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0" cap="none" spc="300" normalizeH="0" baseline="0" noProof="0" dirty="0">
                <a:ln>
                  <a:noFill/>
                </a:ln>
                <a:solidFill>
                  <a:schemeClr val="tx1"/>
                </a:solidFill>
                <a:effectLst/>
                <a:uLnTx/>
                <a:uFillTx/>
                <a:latin typeface="+mn-lt"/>
                <a:ea typeface="+mn-ea"/>
                <a:cs typeface="+mn-ea"/>
                <a:sym typeface="+mn-lt"/>
              </a:rPr>
              <a:t>取值</a:t>
            </a:r>
          </a:p>
        </p:txBody>
      </p:sp>
      <p:sp>
        <p:nvSpPr>
          <p:cNvPr id="72" name="TextBox 206"/>
          <p:cNvSpPr txBox="1"/>
          <p:nvPr/>
        </p:nvSpPr>
        <p:spPr bwMode="auto">
          <a:xfrm>
            <a:off x="296080" y="2501900"/>
            <a:ext cx="1041380" cy="554032"/>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300" normalizeH="0" baseline="0" noProof="0" dirty="0">
                <a:ln>
                  <a:noFill/>
                </a:ln>
                <a:solidFill>
                  <a:srgbClr val="FF0000"/>
                </a:solidFill>
                <a:effectLst/>
                <a:uLnTx/>
                <a:uFillTx/>
                <a:latin typeface="+mn-lt"/>
                <a:ea typeface="+mn-ea"/>
                <a:cs typeface="+mn-ea"/>
                <a:sym typeface="+mn-lt"/>
              </a:rPr>
              <a:t>删除</a:t>
            </a:r>
          </a:p>
        </p:txBody>
      </p:sp>
      <p:sp>
        <p:nvSpPr>
          <p:cNvPr id="73" name="TextBox 210"/>
          <p:cNvSpPr txBox="1"/>
          <p:nvPr/>
        </p:nvSpPr>
        <p:spPr bwMode="auto">
          <a:xfrm>
            <a:off x="5629275" y="22780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1</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4" name="TextBox 211"/>
          <p:cNvSpPr txBox="1"/>
          <p:nvPr/>
        </p:nvSpPr>
        <p:spPr bwMode="auto">
          <a:xfrm>
            <a:off x="2752725" y="30019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5</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5" name="TextBox 212"/>
          <p:cNvSpPr txBox="1"/>
          <p:nvPr/>
        </p:nvSpPr>
        <p:spPr bwMode="auto">
          <a:xfrm>
            <a:off x="3152775" y="43354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4</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6" name="TextBox 213"/>
          <p:cNvSpPr txBox="1"/>
          <p:nvPr/>
        </p:nvSpPr>
        <p:spPr bwMode="auto">
          <a:xfrm>
            <a:off x="4714875" y="475456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3</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77" name="TextBox 214"/>
          <p:cNvSpPr txBox="1"/>
          <p:nvPr/>
        </p:nvSpPr>
        <p:spPr bwMode="auto">
          <a:xfrm>
            <a:off x="5591175" y="3744913"/>
            <a:ext cx="490538" cy="614363"/>
          </a:xfrm>
          <a:prstGeom prst="rect">
            <a:avLst/>
          </a:prstGeom>
          <a:noFill/>
        </p:spPr>
        <p:txBody>
          <a:bodyPr wrap="none" lIns="121954" tIns="60977" rIns="121954" bIns="60977">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dirty="0">
                <a:ln>
                  <a:noFill/>
                </a:ln>
                <a:solidFill>
                  <a:prstClr val="white"/>
                </a:solidFill>
                <a:effectLst/>
                <a:uLnTx/>
                <a:uFillTx/>
                <a:latin typeface="+mn-lt"/>
                <a:ea typeface="+mn-ea"/>
                <a:cs typeface="+mn-ea"/>
                <a:sym typeface="+mn-lt"/>
              </a:rPr>
              <a:t>2</a:t>
            </a:r>
            <a:endParaRPr kumimoji="0" lang="zh-CN" altLang="en-US" sz="3200" b="0" i="0" u="none" strike="noStrike" kern="0" cap="none" spc="300" normalizeH="0" baseline="0" noProof="0" dirty="0">
              <a:ln>
                <a:noFill/>
              </a:ln>
              <a:solidFill>
                <a:prstClr val="white"/>
              </a:solidFill>
              <a:effectLst/>
              <a:uLnTx/>
              <a:uFillTx/>
              <a:latin typeface="+mn-lt"/>
              <a:ea typeface="+mn-ea"/>
              <a:cs typeface="+mn-ea"/>
              <a:sym typeface="+mn-lt"/>
            </a:endParaRPr>
          </a:p>
        </p:txBody>
      </p:sp>
      <p:sp>
        <p:nvSpPr>
          <p:cNvPr id="34854" name="Rectangle 53"/>
          <p:cNvSpPr>
            <a:spLocks noChangeArrowheads="1"/>
          </p:cNvSpPr>
          <p:nvPr/>
        </p:nvSpPr>
        <p:spPr bwMode="auto">
          <a:xfrm>
            <a:off x="2049463" y="4768850"/>
            <a:ext cx="704850" cy="15875"/>
          </a:xfrm>
          <a:prstGeom prst="rect">
            <a:avLst/>
          </a:prstGeom>
          <a:solidFill>
            <a:srgbClr val="6C4C8F"/>
          </a:solidFill>
          <a:ln w="9525">
            <a:solidFill>
              <a:srgbClr val="CC00CC"/>
            </a:solidFill>
            <a:miter lim="800000"/>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855" name="Freeform 54"/>
          <p:cNvSpPr/>
          <p:nvPr/>
        </p:nvSpPr>
        <p:spPr bwMode="auto">
          <a:xfrm>
            <a:off x="1582738" y="2747963"/>
            <a:ext cx="588963" cy="530225"/>
          </a:xfrm>
          <a:custGeom>
            <a:avLst/>
            <a:gdLst>
              <a:gd name="T0" fmla="*/ 588288 w 333"/>
              <a:gd name="T1" fmla="*/ 529712 h 300"/>
              <a:gd name="T2" fmla="*/ 0 w 333"/>
              <a:gd name="T3" fmla="*/ 529712 h 300"/>
              <a:gd name="T4" fmla="*/ 0 w 333"/>
              <a:gd name="T5" fmla="*/ 0 h 300"/>
              <a:gd name="T6" fmla="*/ 15900 w 333"/>
              <a:gd name="T7" fmla="*/ 0 h 300"/>
              <a:gd name="T8" fmla="*/ 15900 w 333"/>
              <a:gd name="T9" fmla="*/ 512055 h 300"/>
              <a:gd name="T10" fmla="*/ 588288 w 333"/>
              <a:gd name="T11" fmla="*/ 512055 h 300"/>
              <a:gd name="T12" fmla="*/ 588288 w 333"/>
              <a:gd name="T13" fmla="*/ 529712 h 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0066FF"/>
          </a:solidFill>
          <a:ln w="19050">
            <a:solidFill>
              <a:srgbClr val="0066FF"/>
            </a:solidFill>
            <a:round/>
          </a:ln>
        </p:spPr>
        <p:txBody>
          <a:bodyPr lIns="121954" tIns="60977" rIns="121954" bIns="60977"/>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56" name="Oval 60"/>
          <p:cNvSpPr>
            <a:spLocks noChangeAspect="1" noChangeArrowheads="1"/>
          </p:cNvSpPr>
          <p:nvPr/>
        </p:nvSpPr>
        <p:spPr bwMode="auto">
          <a:xfrm>
            <a:off x="1530350" y="2717800"/>
            <a:ext cx="141288" cy="141288"/>
          </a:xfrm>
          <a:prstGeom prst="ellipse">
            <a:avLst/>
          </a:prstGeom>
          <a:solidFill>
            <a:srgbClr val="0066FF"/>
          </a:solidFill>
          <a:ln w="9525">
            <a:solidFill>
              <a:srgbClr val="0066FF"/>
            </a:solidFill>
            <a:round/>
          </a:ln>
        </p:spPr>
        <p:txBody>
          <a:bodyPr lIns="121954" tIns="60977" rIns="121954" bIns="60977"/>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100" b="0" i="0" u="none" strike="noStrike" kern="1200" cap="none" spc="0" normalizeH="0" baseline="0" noProof="0">
              <a:ln>
                <a:noFill/>
              </a:ln>
              <a:solidFill>
                <a:srgbClr val="000000"/>
              </a:solidFill>
              <a:effectLst/>
              <a:uLnTx/>
              <a:uFillTx/>
              <a:latin typeface="+mn-lt"/>
              <a:ea typeface="+mn-ea"/>
              <a:cs typeface="+mn-ea"/>
              <a:sym typeface="+mn-lt"/>
            </a:endParaRPr>
          </a:p>
        </p:txBody>
      </p:sp>
    </p:spTree>
    <p:extLst>
      <p:ext uri="{BB962C8B-B14F-4D97-AF65-F5344CB8AC3E}">
        <p14:creationId xmlns:p14="http://schemas.microsoft.com/office/powerpoint/2010/main" val="34591390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FD384AC-3D96-4EA3-AE48-8E1CBF2D6E40}"/>
              </a:ext>
            </a:extLst>
          </p:cNvPr>
          <p:cNvGrpSpPr/>
          <p:nvPr/>
        </p:nvGrpSpPr>
        <p:grpSpPr>
          <a:xfrm>
            <a:off x="775647" y="764186"/>
            <a:ext cx="6943380" cy="5723085"/>
            <a:chOff x="923606" y="1143000"/>
            <a:chExt cx="6647182" cy="4893647"/>
          </a:xfrm>
        </p:grpSpPr>
        <p:sp>
          <p:nvSpPr>
            <p:cNvPr id="68610" name="Rectangle 7"/>
            <p:cNvSpPr>
              <a:spLocks noChangeArrowheads="1"/>
            </p:cNvSpPr>
            <p:nvPr/>
          </p:nvSpPr>
          <p:spPr bwMode="auto">
            <a:xfrm>
              <a:off x="2312988" y="1143000"/>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1" name="Line 8"/>
            <p:cNvSpPr>
              <a:spLocks noChangeShapeType="1"/>
            </p:cNvSpPr>
            <p:nvPr/>
          </p:nvSpPr>
          <p:spPr bwMode="auto">
            <a:xfrm>
              <a:off x="2312988" y="1600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2" name="Line 9"/>
            <p:cNvSpPr>
              <a:spLocks noChangeShapeType="1"/>
            </p:cNvSpPr>
            <p:nvPr/>
          </p:nvSpPr>
          <p:spPr bwMode="auto">
            <a:xfrm>
              <a:off x="2312988" y="2057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3" name="Line 10"/>
            <p:cNvSpPr>
              <a:spLocks noChangeShapeType="1"/>
            </p:cNvSpPr>
            <p:nvPr/>
          </p:nvSpPr>
          <p:spPr bwMode="auto">
            <a:xfrm>
              <a:off x="2312988" y="2514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4" name="Line 11"/>
            <p:cNvSpPr>
              <a:spLocks noChangeShapeType="1"/>
            </p:cNvSpPr>
            <p:nvPr/>
          </p:nvSpPr>
          <p:spPr bwMode="auto">
            <a:xfrm>
              <a:off x="2312988" y="29718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5" name="Line 12"/>
            <p:cNvSpPr>
              <a:spLocks noChangeShapeType="1"/>
            </p:cNvSpPr>
            <p:nvPr/>
          </p:nvSpPr>
          <p:spPr bwMode="auto">
            <a:xfrm>
              <a:off x="2312988" y="34290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6" name="Line 13"/>
            <p:cNvSpPr>
              <a:spLocks noChangeShapeType="1"/>
            </p:cNvSpPr>
            <p:nvPr/>
          </p:nvSpPr>
          <p:spPr bwMode="auto">
            <a:xfrm>
              <a:off x="2312988" y="3886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7" name="Line 14"/>
            <p:cNvSpPr>
              <a:spLocks noChangeShapeType="1"/>
            </p:cNvSpPr>
            <p:nvPr/>
          </p:nvSpPr>
          <p:spPr bwMode="auto">
            <a:xfrm>
              <a:off x="2312988" y="4343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8" name="Line 15"/>
            <p:cNvSpPr>
              <a:spLocks noChangeShapeType="1"/>
            </p:cNvSpPr>
            <p:nvPr/>
          </p:nvSpPr>
          <p:spPr bwMode="auto">
            <a:xfrm>
              <a:off x="2312988" y="4800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19" name="Text Box 16"/>
            <p:cNvSpPr txBox="1">
              <a:spLocks noChangeArrowheads="1"/>
            </p:cNvSpPr>
            <p:nvPr/>
          </p:nvSpPr>
          <p:spPr bwMode="auto">
            <a:xfrm>
              <a:off x="2312988" y="1143000"/>
              <a:ext cx="762000" cy="2763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rgbClr val="0000FF"/>
                  </a:solidFill>
                  <a:effectLst/>
                  <a:uLnTx/>
                  <a:uFillTx/>
                  <a:latin typeface="+mn-lt"/>
                  <a:ea typeface="+mn-ea"/>
                  <a:cs typeface="+mn-ea"/>
                  <a:sym typeface="+mn-lt"/>
                </a:rPr>
                <a:t>89</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14</a:t>
              </a:r>
            </a:p>
          </p:txBody>
        </p:sp>
        <p:sp>
          <p:nvSpPr>
            <p:cNvPr id="68620" name="Text Box 17"/>
            <p:cNvSpPr txBox="1">
              <a:spLocks noChangeArrowheads="1"/>
            </p:cNvSpPr>
            <p:nvPr/>
          </p:nvSpPr>
          <p:spPr bwMode="auto">
            <a:xfrm>
              <a:off x="1779588" y="1143000"/>
              <a:ext cx="7620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1</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3</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4</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8</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9</a:t>
              </a:r>
            </a:p>
          </p:txBody>
        </p:sp>
        <p:sp>
          <p:nvSpPr>
            <p:cNvPr id="68621" name="Rectangle 18"/>
            <p:cNvSpPr>
              <a:spLocks noChangeArrowheads="1"/>
            </p:cNvSpPr>
            <p:nvPr/>
          </p:nvSpPr>
          <p:spPr bwMode="auto">
            <a:xfrm>
              <a:off x="3760788" y="1143000"/>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2" name="Line 19"/>
            <p:cNvSpPr>
              <a:spLocks noChangeShapeType="1"/>
            </p:cNvSpPr>
            <p:nvPr/>
          </p:nvSpPr>
          <p:spPr bwMode="auto">
            <a:xfrm>
              <a:off x="3760788" y="1600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3" name="Line 20"/>
            <p:cNvSpPr>
              <a:spLocks noChangeShapeType="1"/>
            </p:cNvSpPr>
            <p:nvPr/>
          </p:nvSpPr>
          <p:spPr bwMode="auto">
            <a:xfrm>
              <a:off x="3760788" y="2057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4" name="Line 21"/>
            <p:cNvSpPr>
              <a:spLocks noChangeShapeType="1"/>
            </p:cNvSpPr>
            <p:nvPr/>
          </p:nvSpPr>
          <p:spPr bwMode="auto">
            <a:xfrm>
              <a:off x="3760788" y="2514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5" name="Line 22"/>
            <p:cNvSpPr>
              <a:spLocks noChangeShapeType="1"/>
            </p:cNvSpPr>
            <p:nvPr/>
          </p:nvSpPr>
          <p:spPr bwMode="auto">
            <a:xfrm>
              <a:off x="3760788" y="29718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6" name="Line 23"/>
            <p:cNvSpPr>
              <a:spLocks noChangeShapeType="1"/>
            </p:cNvSpPr>
            <p:nvPr/>
          </p:nvSpPr>
          <p:spPr bwMode="auto">
            <a:xfrm>
              <a:off x="3760788" y="34290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7" name="Line 24"/>
            <p:cNvSpPr>
              <a:spLocks noChangeShapeType="1"/>
            </p:cNvSpPr>
            <p:nvPr/>
          </p:nvSpPr>
          <p:spPr bwMode="auto">
            <a:xfrm>
              <a:off x="3760788" y="3886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8" name="Line 25"/>
            <p:cNvSpPr>
              <a:spLocks noChangeShapeType="1"/>
            </p:cNvSpPr>
            <p:nvPr/>
          </p:nvSpPr>
          <p:spPr bwMode="auto">
            <a:xfrm>
              <a:off x="3760788" y="4343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9" name="Line 26"/>
            <p:cNvSpPr>
              <a:spLocks noChangeShapeType="1"/>
            </p:cNvSpPr>
            <p:nvPr/>
          </p:nvSpPr>
          <p:spPr bwMode="auto">
            <a:xfrm>
              <a:off x="3760788" y="4800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0" name="Text Box 27"/>
            <p:cNvSpPr txBox="1">
              <a:spLocks noChangeArrowheads="1"/>
            </p:cNvSpPr>
            <p:nvPr/>
          </p:nvSpPr>
          <p:spPr bwMode="auto">
            <a:xfrm>
              <a:off x="3760788" y="1143000"/>
              <a:ext cx="762000" cy="2763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rgbClr val="FF0000"/>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b="1"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14</a:t>
              </a:r>
            </a:p>
          </p:txBody>
        </p:sp>
        <p:sp>
          <p:nvSpPr>
            <p:cNvPr id="68631" name="AutoShape 28"/>
            <p:cNvSpPr>
              <a:spLocks noChangeArrowheads="1"/>
            </p:cNvSpPr>
            <p:nvPr/>
          </p:nvSpPr>
          <p:spPr bwMode="auto">
            <a:xfrm rot="10896541">
              <a:off x="4105871" y="2851314"/>
              <a:ext cx="99803" cy="346684"/>
            </a:xfrm>
            <a:prstGeom prst="downArrow">
              <a:avLst>
                <a:gd name="adj1" fmla="val 50000"/>
                <a:gd name="adj2" fmla="val 150000"/>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2" name="Rectangle 29"/>
            <p:cNvSpPr>
              <a:spLocks noChangeArrowheads="1"/>
            </p:cNvSpPr>
            <p:nvPr/>
          </p:nvSpPr>
          <p:spPr bwMode="auto">
            <a:xfrm>
              <a:off x="5208588" y="1143000"/>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3" name="Line 30"/>
            <p:cNvSpPr>
              <a:spLocks noChangeShapeType="1"/>
            </p:cNvSpPr>
            <p:nvPr/>
          </p:nvSpPr>
          <p:spPr bwMode="auto">
            <a:xfrm>
              <a:off x="5208588" y="1600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4" name="Line 31"/>
            <p:cNvSpPr>
              <a:spLocks noChangeShapeType="1"/>
            </p:cNvSpPr>
            <p:nvPr/>
          </p:nvSpPr>
          <p:spPr bwMode="auto">
            <a:xfrm>
              <a:off x="5208588" y="2057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5" name="Line 32"/>
            <p:cNvSpPr>
              <a:spLocks noChangeShapeType="1"/>
            </p:cNvSpPr>
            <p:nvPr/>
          </p:nvSpPr>
          <p:spPr bwMode="auto">
            <a:xfrm>
              <a:off x="5208588" y="2514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6" name="Line 33"/>
            <p:cNvSpPr>
              <a:spLocks noChangeShapeType="1"/>
            </p:cNvSpPr>
            <p:nvPr/>
          </p:nvSpPr>
          <p:spPr bwMode="auto">
            <a:xfrm>
              <a:off x="5208588" y="29718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7" name="Line 34"/>
            <p:cNvSpPr>
              <a:spLocks noChangeShapeType="1"/>
            </p:cNvSpPr>
            <p:nvPr/>
          </p:nvSpPr>
          <p:spPr bwMode="auto">
            <a:xfrm>
              <a:off x="5208588" y="34290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8" name="Line 35"/>
            <p:cNvSpPr>
              <a:spLocks noChangeShapeType="1"/>
            </p:cNvSpPr>
            <p:nvPr/>
          </p:nvSpPr>
          <p:spPr bwMode="auto">
            <a:xfrm>
              <a:off x="5208588" y="3886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39" name="Line 36"/>
            <p:cNvSpPr>
              <a:spLocks noChangeShapeType="1"/>
            </p:cNvSpPr>
            <p:nvPr/>
          </p:nvSpPr>
          <p:spPr bwMode="auto">
            <a:xfrm>
              <a:off x="5208588" y="4343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0" name="Line 37"/>
            <p:cNvSpPr>
              <a:spLocks noChangeShapeType="1"/>
            </p:cNvSpPr>
            <p:nvPr/>
          </p:nvSpPr>
          <p:spPr bwMode="auto">
            <a:xfrm>
              <a:off x="5208588" y="4800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1" name="Text Box 38"/>
            <p:cNvSpPr txBox="1">
              <a:spLocks noChangeArrowheads="1"/>
            </p:cNvSpPr>
            <p:nvPr/>
          </p:nvSpPr>
          <p:spPr bwMode="auto">
            <a:xfrm>
              <a:off x="5208588" y="1143000"/>
              <a:ext cx="762000" cy="228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dirty="0">
                  <a:ln>
                    <a:noFill/>
                  </a:ln>
                  <a:solidFill>
                    <a:srgbClr val="FF0000"/>
                  </a:solidFill>
                  <a:effectLst/>
                  <a:uLnTx/>
                  <a:uFillTx/>
                  <a:latin typeface="+mn-lt"/>
                  <a:ea typeface="+mn-ea"/>
                  <a:cs typeface="+mn-ea"/>
                  <a:sym typeface="+mn-lt"/>
                </a:rPr>
                <a:t>14</a:t>
              </a:r>
            </a:p>
          </p:txBody>
        </p:sp>
        <p:sp>
          <p:nvSpPr>
            <p:cNvPr id="68642" name="Rectangle 39"/>
            <p:cNvSpPr>
              <a:spLocks noChangeArrowheads="1"/>
            </p:cNvSpPr>
            <p:nvPr/>
          </p:nvSpPr>
          <p:spPr bwMode="auto">
            <a:xfrm>
              <a:off x="6732588" y="1143000"/>
              <a:ext cx="838200" cy="4114800"/>
            </a:xfrm>
            <a:prstGeom prst="rect">
              <a:avLst/>
            </a:prstGeom>
            <a:solidFill>
              <a:srgbClr val="FFFFFF"/>
            </a:solidFill>
            <a:ln w="28575">
              <a:solidFill>
                <a:srgbClr val="00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3" name="Line 40"/>
            <p:cNvSpPr>
              <a:spLocks noChangeShapeType="1"/>
            </p:cNvSpPr>
            <p:nvPr/>
          </p:nvSpPr>
          <p:spPr bwMode="auto">
            <a:xfrm>
              <a:off x="6732588" y="1600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4" name="Line 41"/>
            <p:cNvSpPr>
              <a:spLocks noChangeShapeType="1"/>
            </p:cNvSpPr>
            <p:nvPr/>
          </p:nvSpPr>
          <p:spPr bwMode="auto">
            <a:xfrm>
              <a:off x="6732588" y="2057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5" name="Line 42"/>
            <p:cNvSpPr>
              <a:spLocks noChangeShapeType="1"/>
            </p:cNvSpPr>
            <p:nvPr/>
          </p:nvSpPr>
          <p:spPr bwMode="auto">
            <a:xfrm>
              <a:off x="6732588" y="2514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6" name="Line 43"/>
            <p:cNvSpPr>
              <a:spLocks noChangeShapeType="1"/>
            </p:cNvSpPr>
            <p:nvPr/>
          </p:nvSpPr>
          <p:spPr bwMode="auto">
            <a:xfrm>
              <a:off x="6732588" y="29718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7" name="Line 44"/>
            <p:cNvSpPr>
              <a:spLocks noChangeShapeType="1"/>
            </p:cNvSpPr>
            <p:nvPr/>
          </p:nvSpPr>
          <p:spPr bwMode="auto">
            <a:xfrm>
              <a:off x="6732588" y="34290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8" name="Line 45"/>
            <p:cNvSpPr>
              <a:spLocks noChangeShapeType="1"/>
            </p:cNvSpPr>
            <p:nvPr/>
          </p:nvSpPr>
          <p:spPr bwMode="auto">
            <a:xfrm>
              <a:off x="6732588" y="38862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49" name="Line 46"/>
            <p:cNvSpPr>
              <a:spLocks noChangeShapeType="1"/>
            </p:cNvSpPr>
            <p:nvPr/>
          </p:nvSpPr>
          <p:spPr bwMode="auto">
            <a:xfrm>
              <a:off x="6732588" y="43434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50" name="Line 47"/>
            <p:cNvSpPr>
              <a:spLocks noChangeShapeType="1"/>
            </p:cNvSpPr>
            <p:nvPr/>
          </p:nvSpPr>
          <p:spPr bwMode="auto">
            <a:xfrm>
              <a:off x="6732588" y="4800600"/>
              <a:ext cx="8382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51" name="Text Box 48"/>
            <p:cNvSpPr txBox="1">
              <a:spLocks noChangeArrowheads="1"/>
            </p:cNvSpPr>
            <p:nvPr/>
          </p:nvSpPr>
          <p:spPr bwMode="auto">
            <a:xfrm>
              <a:off x="6732588" y="1143000"/>
              <a:ext cx="762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25</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12</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47</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36</a:t>
              </a:r>
            </a:p>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b="1" i="0" u="none" strike="noStrike" kern="1200" cap="none" spc="0" normalizeH="0" baseline="0" noProof="0">
                  <a:ln>
                    <a:noFill/>
                  </a:ln>
                  <a:solidFill>
                    <a:schemeClr val="tx1"/>
                  </a:solidFill>
                  <a:effectLst/>
                  <a:uLnTx/>
                  <a:uFillTx/>
                  <a:latin typeface="+mn-lt"/>
                  <a:ea typeface="+mn-ea"/>
                  <a:cs typeface="+mn-ea"/>
                  <a:sym typeface="+mn-lt"/>
                </a:rPr>
                <a:t>14</a:t>
              </a:r>
            </a:p>
          </p:txBody>
        </p:sp>
        <p:sp>
          <p:nvSpPr>
            <p:cNvPr id="68652" name="AutoShape 50"/>
            <p:cNvSpPr>
              <a:spLocks noChangeArrowheads="1"/>
            </p:cNvSpPr>
            <p:nvPr/>
          </p:nvSpPr>
          <p:spPr bwMode="auto">
            <a:xfrm>
              <a:off x="1457006" y="2697163"/>
              <a:ext cx="557532" cy="152968"/>
            </a:xfrm>
            <a:prstGeom prst="rightArrow">
              <a:avLst>
                <a:gd name="adj1" fmla="val 50000"/>
                <a:gd name="adj2" fmla="val 150000"/>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53" name="Text Box 51"/>
            <p:cNvSpPr txBox="1">
              <a:spLocks noChangeArrowheads="1"/>
            </p:cNvSpPr>
            <p:nvPr/>
          </p:nvSpPr>
          <p:spPr bwMode="auto">
            <a:xfrm>
              <a:off x="923606" y="2235200"/>
              <a:ext cx="995681" cy="447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删除</a:t>
              </a:r>
            </a:p>
          </p:txBody>
        </p:sp>
        <p:sp>
          <p:nvSpPr>
            <p:cNvPr id="68654" name="AutoShape 52"/>
            <p:cNvSpPr>
              <a:spLocks noChangeArrowheads="1"/>
            </p:cNvSpPr>
            <p:nvPr/>
          </p:nvSpPr>
          <p:spPr bwMode="auto">
            <a:xfrm rot="10896541">
              <a:off x="5579412" y="3338812"/>
              <a:ext cx="97541" cy="296310"/>
            </a:xfrm>
            <a:prstGeom prst="downArrow">
              <a:avLst>
                <a:gd name="adj1" fmla="val 50000"/>
                <a:gd name="adj2" fmla="val 150000"/>
              </a:avLst>
            </a:prstGeom>
            <a:solidFill>
              <a:srgbClr val="FF0000"/>
            </a:solidFill>
            <a:ln w="9525">
              <a:solidFill>
                <a:srgbClr val="FF0000"/>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446517" name="Rectangle 53"/>
          <p:cNvSpPr>
            <a:spLocks noChangeArrowheads="1"/>
          </p:cNvSpPr>
          <p:nvPr/>
        </p:nvSpPr>
        <p:spPr bwMode="auto">
          <a:xfrm>
            <a:off x="900113" y="214313"/>
            <a:ext cx="71056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删除（删除第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个数据元素） </a:t>
            </a:r>
          </a:p>
        </p:txBody>
      </p:sp>
      <p:sp>
        <p:nvSpPr>
          <p:cNvPr id="446518" name="Rectangle 54"/>
          <p:cNvSpPr>
            <a:spLocks noChangeArrowheads="1"/>
          </p:cNvSpPr>
          <p:nvPr/>
        </p:nvSpPr>
        <p:spPr bwMode="auto">
          <a:xfrm>
            <a:off x="0" y="5842337"/>
            <a:ext cx="9144000" cy="1015663"/>
          </a:xfrm>
          <a:prstGeom prst="rect">
            <a:avLst/>
          </a:prstGeom>
          <a:solidFill>
            <a:srgbClr val="B8D4EC"/>
          </a:solid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删除第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4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个结点，移动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6-4</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次</a:t>
            </a:r>
          </a:p>
          <a:p>
            <a:pPr marL="457200" marR="0" lvl="1"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删除第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个结点，移动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n-</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次</a:t>
            </a:r>
            <a:endParaRPr kumimoji="0" lang="zh-CN" altLang="en-US" sz="2400" b="0" i="0" u="none" strike="noStrike" kern="1200" cap="none" spc="0" normalizeH="0" baseline="0" noProof="0" dirty="0">
              <a:ln>
                <a:noFill/>
              </a:ln>
              <a:solidFill>
                <a:schemeClr val="folHlink"/>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65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51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bwMode="auto">
          <a:xfrm>
            <a:off x="0" y="728489"/>
            <a:ext cx="9144000" cy="6129511"/>
          </a:xfrm>
          <a:prstGeom prst="roundRect">
            <a:avLst>
              <a:gd name="adj" fmla="val 2011"/>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0658" name="Rectangle 4"/>
          <p:cNvSpPr>
            <a:spLocks noChangeArrowheads="1"/>
          </p:cNvSpPr>
          <p:nvPr/>
        </p:nvSpPr>
        <p:spPr bwMode="auto">
          <a:xfrm>
            <a:off x="395536" y="761520"/>
            <a:ext cx="8424936" cy="609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indent="0">
              <a:lnSpc>
                <a:spcPct val="150000"/>
              </a:lnSpc>
              <a:spcBef>
                <a:spcPts val="0"/>
              </a:spcBef>
              <a:defRPr/>
            </a:pP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在顺序线性表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L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中删除第 </a:t>
            </a:r>
            <a:r>
              <a:rPr kumimoji="0" lang="en-US" altLang="zh-CN" sz="2400" b="0" i="0" u="none" strike="noStrike" kern="1200" cap="none" spc="0" normalizeH="0" baseline="0" noProof="0" dirty="0" err="1">
                <a:ln>
                  <a:noFill/>
                </a:ln>
                <a:solidFill>
                  <a:srgbClr val="00B050"/>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个元素，并用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e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返回其值</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ListDelete_Sq</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&amp;L, 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&amp;e) {</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&lt; 1) ||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&gt;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L.length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ERROR;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删除位置不合法</a:t>
            </a:r>
            <a:endPar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endParaRPr>
          </a:p>
          <a:p>
            <a:pPr marL="0" marR="0" lvl="0" indent="0" algn="l" defTabSz="914400" rtl="0" eaLnBrk="0" fontAlgn="base" latinLnBrk="0" hangingPunct="0">
              <a:lnSpc>
                <a:spcPct val="150000"/>
              </a:lnSpc>
              <a:spcBef>
                <a:spcPts val="0"/>
              </a:spcBef>
              <a:spcAft>
                <a:spcPct val="0"/>
              </a:spcAft>
              <a:buClrTx/>
              <a:buSzTx/>
              <a:buFontTx/>
              <a:buNone/>
              <a:defRPr/>
            </a:pPr>
            <a:r>
              <a:rPr lang="en-US" altLang="zh-CN" dirty="0">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 =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[i-1]);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p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为被删除元素的位置</a:t>
            </a:r>
            <a:endPar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 = *p;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被删除元素的值赋给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e</a:t>
            </a: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q =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L.elem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L.length-1</a:t>
            </a:r>
            <a:r>
              <a:rPr lang="en-US" altLang="zh-CN" dirty="0">
                <a:latin typeface="+mn-lt"/>
                <a:ea typeface="+mn-ea"/>
                <a:cs typeface="+mn-ea"/>
                <a:sym typeface="+mn-lt"/>
              </a:rPr>
              <a:t>;</a:t>
            </a:r>
            <a:r>
              <a:rPr lang="zh-CN" altLang="en-US" dirty="0">
                <a:latin typeface="+mn-lt"/>
                <a:ea typeface="+mn-ea"/>
                <a:cs typeface="+mn-ea"/>
                <a:sym typeface="+mn-lt"/>
              </a:rPr>
              <a:t>   </a:t>
            </a:r>
            <a:r>
              <a:rPr lang="en-US" altLang="zh-CN" dirty="0">
                <a:solidFill>
                  <a:srgbClr val="00B050"/>
                </a:solidFill>
                <a:latin typeface="+mn-lt"/>
                <a:ea typeface="+mn-ea"/>
                <a:cs typeface="+mn-ea"/>
                <a:sym typeface="+mn-lt"/>
              </a:rPr>
              <a:t>// q</a:t>
            </a:r>
            <a:r>
              <a:rPr lang="zh-CN" altLang="en-US" dirty="0">
                <a:solidFill>
                  <a:srgbClr val="00B050"/>
                </a:solidFill>
                <a:latin typeface="+mn-lt"/>
                <a:ea typeface="+mn-ea"/>
                <a:cs typeface="+mn-ea"/>
                <a:sym typeface="+mn-lt"/>
              </a:rPr>
              <a:t>为表尾元素的位置</a:t>
            </a:r>
            <a:endPar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for (++p; p &lt;= q; ++p)</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        *(p-1) = *p;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被删除元素之后的元素前移</a:t>
            </a:r>
            <a:endPar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1200" cap="none" spc="0" normalizeH="0" baseline="0" noProof="0" dirty="0">
                <a:ln>
                  <a:noFill/>
                </a:ln>
                <a:effectLst/>
                <a:uLnTx/>
                <a:uFillTx/>
                <a:latin typeface="+mn-lt"/>
                <a:ea typeface="+mn-ea"/>
                <a:cs typeface="+mn-ea"/>
                <a:sym typeface="+mn-lt"/>
              </a:rPr>
              <a:t>--</a:t>
            </a:r>
            <a:r>
              <a:rPr kumimoji="0" lang="en-US" altLang="zh-CN" sz="2400" b="0" i="0" u="none" strike="noStrike" kern="1200" cap="none" spc="0" normalizeH="0" baseline="0" noProof="0" dirty="0" err="1">
                <a:ln>
                  <a:noFill/>
                </a:ln>
                <a:effectLst/>
                <a:uLnTx/>
                <a:uFillTx/>
                <a:latin typeface="+mn-lt"/>
                <a:ea typeface="+mn-ea"/>
                <a:cs typeface="+mn-ea"/>
                <a:sym typeface="+mn-lt"/>
              </a:rPr>
              <a:t>L.length</a:t>
            </a:r>
            <a:r>
              <a:rPr kumimoji="0" lang="en-US" altLang="zh-CN" sz="2400" b="0" i="0" u="none" strike="noStrike" kern="1200" cap="none" spc="0" normalizeH="0" baseline="0" noProof="0" dirty="0">
                <a:ln>
                  <a:noFill/>
                </a:ln>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表长减</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1</a:t>
            </a:r>
          </a:p>
          <a:p>
            <a:pPr marL="0" marR="0" lvl="0" indent="0" algn="l" defTabSz="914400" rtl="0" eaLnBrk="0" fontAlgn="base" latinLnBrk="0" hangingPunct="0">
              <a:lnSpc>
                <a:spcPct val="150000"/>
              </a:lnSpc>
              <a:spcBef>
                <a:spcPts val="0"/>
              </a:spcBef>
              <a:spcAft>
                <a:spcPct val="0"/>
              </a:spcAft>
              <a:buClrTx/>
              <a:buSzTx/>
              <a:buFontTx/>
              <a:buNone/>
              <a:defRPr/>
            </a:pPr>
            <a:r>
              <a:rPr lang="en-US" altLang="zh-CN" dirty="0">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a:t>
            </a: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rgbClr val="00B050"/>
                </a:solidFill>
                <a:effectLst/>
                <a:uLnTx/>
                <a:uFillTx/>
                <a:latin typeface="+mn-lt"/>
                <a:ea typeface="+mn-ea"/>
                <a:cs typeface="+mn-ea"/>
                <a:sym typeface="+mn-lt"/>
              </a:rPr>
              <a:t>ListDelete_Sq</a:t>
            </a:r>
            <a:endPar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endParaRPr>
          </a:p>
        </p:txBody>
      </p:sp>
      <p:sp>
        <p:nvSpPr>
          <p:cNvPr id="70659" name="Rectangle 5"/>
          <p:cNvSpPr>
            <a:spLocks noChangeArrowheads="1"/>
          </p:cNvSpPr>
          <p:nvPr/>
        </p:nvSpPr>
        <p:spPr bwMode="auto">
          <a:xfrm>
            <a:off x="899592" y="146563"/>
            <a:ext cx="4968924"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删除（删除第 </a:t>
            </a:r>
            <a:r>
              <a:rPr kumimoji="0" lang="en-US" altLang="zh-CN" sz="2800" b="0" i="0" u="none" strike="noStrike" kern="1200" cap="none" spc="0" normalizeH="0" baseline="0" noProof="0" dirty="0" err="1">
                <a:ln>
                  <a:noFill/>
                </a:ln>
                <a:solidFill>
                  <a:schemeClr val="bg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个数据元素）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028" name="Object 20"/>
          <p:cNvGraphicFramePr>
            <a:graphicFrameLocks noGrp="1"/>
          </p:cNvGraphicFramePr>
          <p:nvPr>
            <p:ph/>
            <p:extLst>
              <p:ext uri="{D42A27DB-BD31-4B8C-83A1-F6EECF244321}">
                <p14:modId xmlns:p14="http://schemas.microsoft.com/office/powerpoint/2010/main" val="3612891593"/>
              </p:ext>
            </p:extLst>
          </p:nvPr>
        </p:nvGraphicFramePr>
        <p:xfrm>
          <a:off x="328711" y="4315760"/>
          <a:ext cx="8419753" cy="1062038"/>
        </p:xfrm>
        <a:graphic>
          <a:graphicData uri="http://schemas.openxmlformats.org/presentationml/2006/ole">
            <mc:AlternateContent xmlns:mc="http://schemas.openxmlformats.org/markup-compatibility/2006">
              <mc:Choice xmlns:v="urn:schemas-microsoft-com:vml" Requires="v">
                <p:oleObj spid="_x0000_s2185" r:id="rId4" imgW="2487930" imgH="431800" progId="Equation.3">
                  <p:embed/>
                </p:oleObj>
              </mc:Choice>
              <mc:Fallback>
                <p:oleObj r:id="rId4" imgW="2487930" imgH="431800" progId="Equation.3">
                  <p:embed/>
                  <p:pic>
                    <p:nvPicPr>
                      <p:cNvPr id="0" name="图片 3076"/>
                      <p:cNvPicPr/>
                      <p:nvPr/>
                    </p:nvPicPr>
                    <p:blipFill>
                      <a:blip r:embed="rId5"/>
                      <a:srcRect/>
                      <a:stretch>
                        <a:fillRect/>
                      </a:stretch>
                    </p:blipFill>
                    <p:spPr>
                      <a:xfrm>
                        <a:off x="328711" y="4315760"/>
                        <a:ext cx="8419753" cy="1062038"/>
                      </a:xfrm>
                      <a:prstGeom prst="rect">
                        <a:avLst/>
                      </a:prstGeom>
                      <a:solidFill>
                        <a:schemeClr val="bg1">
                          <a:lumMod val="90000"/>
                        </a:schemeClr>
                      </a:solidFill>
                      <a:ln w="38100">
                        <a:miter/>
                      </a:ln>
                    </p:spPr>
                  </p:pic>
                </p:oleObj>
              </mc:Fallback>
            </mc:AlternateContent>
          </a:graphicData>
        </a:graphic>
      </p:graphicFrame>
      <p:sp>
        <p:nvSpPr>
          <p:cNvPr id="71685" name="Rectangle 18"/>
          <p:cNvSpPr>
            <a:spLocks noChangeArrowheads="1"/>
          </p:cNvSpPr>
          <p:nvPr/>
        </p:nvSpPr>
        <p:spPr bwMode="auto">
          <a:xfrm>
            <a:off x="323529" y="908720"/>
            <a:ext cx="8496944" cy="3247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算法时间主要耗费在移动元素的操作上。</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删除第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个表项，需将第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i+1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项到第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n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项全部前移，则需前移的项数为</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n-</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i</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考虑表中所有可能的删除位置，删除概率相等时，平均移动元素个数为：</a:t>
            </a:r>
          </a:p>
        </p:txBody>
      </p:sp>
      <p:sp>
        <p:nvSpPr>
          <p:cNvPr id="71686" name="Rectangle 22"/>
          <p:cNvSpPr>
            <a:spLocks noChangeArrowheads="1"/>
          </p:cNvSpPr>
          <p:nvPr/>
        </p:nvSpPr>
        <p:spPr bwMode="auto">
          <a:xfrm>
            <a:off x="944563" y="142875"/>
            <a:ext cx="482490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lang="zh-CN" altLang="en-US" dirty="0">
                <a:solidFill>
                  <a:schemeClr val="bg1"/>
                </a:solidFill>
                <a:latin typeface="+mn-lt"/>
                <a:ea typeface="+mn-ea"/>
                <a:cs typeface="+mn-ea"/>
                <a:sym typeface="+mn-lt"/>
              </a:rPr>
              <a:t>删除算法时间复杂度分析</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2" name="文本框 1">
            <a:extLst>
              <a:ext uri="{FF2B5EF4-FFF2-40B4-BE49-F238E27FC236}">
                <a16:creationId xmlns:a16="http://schemas.microsoft.com/office/drawing/2014/main" id="{E96C8866-AC7C-449D-BB2E-3BF3D92F486F}"/>
              </a:ext>
            </a:extLst>
          </p:cNvPr>
          <p:cNvSpPr txBox="1"/>
          <p:nvPr/>
        </p:nvSpPr>
        <p:spPr>
          <a:xfrm>
            <a:off x="180807" y="5637907"/>
            <a:ext cx="8782385" cy="1077218"/>
          </a:xfrm>
          <a:prstGeom prst="rect">
            <a:avLst/>
          </a:prstGeom>
          <a:noFill/>
        </p:spPr>
        <p:txBody>
          <a:bodyPr wrap="square" rtlCol="0">
            <a:spAutoFit/>
          </a:bodyPr>
          <a:lstStyle/>
          <a:p>
            <a:r>
              <a:rPr lang="zh-CN" altLang="en-US" sz="3200" dirty="0">
                <a:solidFill>
                  <a:srgbClr val="FF0000"/>
                </a:solidFill>
                <a:latin typeface="华文新魏" panose="02010800040101010101" pitchFamily="2" charset="-122"/>
                <a:ea typeface="华文新魏" panose="02010800040101010101" pitchFamily="2" charset="-122"/>
              </a:rPr>
              <a:t>顺序表的查找、插入、删除算法的平均时间复杂度均为：</a:t>
            </a:r>
            <a:r>
              <a:rPr lang="en-US" altLang="zh-CN" sz="3200" b="1" dirty="0">
                <a:solidFill>
                  <a:srgbClr val="FF0000"/>
                </a:solidFill>
                <a:latin typeface="华文新魏" panose="02010800040101010101" pitchFamily="2" charset="-122"/>
                <a:ea typeface="华文新魏" panose="02010800040101010101" pitchFamily="2" charset="-122"/>
              </a:rPr>
              <a:t>O(n)</a:t>
            </a:r>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9028"/>
                                        </p:tgtEl>
                                        <p:attrNameLst>
                                          <p:attrName>style.visibility</p:attrName>
                                        </p:attrNameLst>
                                      </p:cBhvr>
                                      <p:to>
                                        <p:strVal val="visible"/>
                                      </p:to>
                                    </p:set>
                                    <p:animEffect transition="in" filter="blinds(horizontal)">
                                      <p:cBhvr>
                                        <p:cTn id="7" dur="500"/>
                                        <p:tgtEl>
                                          <p:spTgt spid="2990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900113" y="230188"/>
            <a:ext cx="4705350" cy="515938"/>
          </a:xfrm>
          <a:prstGeom prst="rect">
            <a:avLst/>
          </a:prstGeom>
          <a:noFill/>
          <a:ln>
            <a:noFill/>
          </a:ln>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EFFFF"/>
                </a:solidFill>
                <a:effectLst/>
                <a:uLnTx/>
                <a:uFillTx/>
                <a:latin typeface="Times New Roman"/>
                <a:ea typeface="Microsoft YaHei"/>
                <a:cs typeface="+mn-ea"/>
                <a:sym typeface="+mn-lt"/>
              </a:rPr>
              <a:t>顺序表的优缺点 </a:t>
            </a:r>
          </a:p>
        </p:txBody>
      </p:sp>
      <p:grpSp>
        <p:nvGrpSpPr>
          <p:cNvPr id="3" name="Group 13"/>
          <p:cNvGrpSpPr/>
          <p:nvPr/>
        </p:nvGrpSpPr>
        <p:grpSpPr>
          <a:xfrm>
            <a:off x="1547664" y="6033636"/>
            <a:ext cx="5539631" cy="707732"/>
            <a:chOff x="344" y="2957"/>
            <a:chExt cx="3665" cy="729"/>
          </a:xfrm>
        </p:grpSpPr>
        <p:grpSp>
          <p:nvGrpSpPr>
            <p:cNvPr id="11275" name="Group 10"/>
            <p:cNvGrpSpPr/>
            <p:nvPr/>
          </p:nvGrpSpPr>
          <p:grpSpPr>
            <a:xfrm>
              <a:off x="2387" y="2957"/>
              <a:ext cx="1622" cy="533"/>
              <a:chOff x="871" y="2247"/>
              <a:chExt cx="1622" cy="533"/>
            </a:xfrm>
          </p:grpSpPr>
          <p:sp>
            <p:nvSpPr>
              <p:cNvPr id="6" name="Rectangle 5"/>
              <p:cNvSpPr>
                <a:spLocks noChangeArrowheads="1"/>
              </p:cNvSpPr>
              <p:nvPr/>
            </p:nvSpPr>
            <p:spPr bwMode="auto">
              <a:xfrm>
                <a:off x="1746" y="2247"/>
                <a:ext cx="747" cy="376"/>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30000"/>
                  </a:lnSpc>
                  <a:spcBef>
                    <a:spcPct val="5000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Times New Roman"/>
                    <a:ea typeface="Microsoft YaHei"/>
                    <a:cs typeface="+mn-ea"/>
                    <a:sym typeface="+mn-lt"/>
                  </a:rPr>
                  <a:t>链表</a:t>
                </a:r>
              </a:p>
            </p:txBody>
          </p:sp>
          <p:sp>
            <p:nvSpPr>
              <p:cNvPr id="7" name="AutoShape 7"/>
              <p:cNvSpPr>
                <a:spLocks noChangeArrowheads="1"/>
              </p:cNvSpPr>
              <p:nvPr/>
            </p:nvSpPr>
            <p:spPr bwMode="auto">
              <a:xfrm>
                <a:off x="871" y="2433"/>
                <a:ext cx="632" cy="347"/>
              </a:xfrm>
              <a:prstGeom prst="notchedRightArrow">
                <a:avLst>
                  <a:gd name="adj1" fmla="val 50000"/>
                  <a:gd name="adj2" fmla="val 58714"/>
                </a:avLst>
              </a:prstGeom>
              <a:solidFill>
                <a:srgbClr val="0000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2000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a:ea typeface="Microsoft YaHei"/>
                  <a:cs typeface="+mn-ea"/>
                  <a:sym typeface="+mn-lt"/>
                </a:endParaRPr>
              </a:p>
            </p:txBody>
          </p:sp>
        </p:grpSp>
        <p:sp>
          <p:nvSpPr>
            <p:cNvPr id="5" name="Rectangle 12"/>
            <p:cNvSpPr>
              <a:spLocks noChangeArrowheads="1"/>
            </p:cNvSpPr>
            <p:nvPr/>
          </p:nvSpPr>
          <p:spPr bwMode="auto">
            <a:xfrm>
              <a:off x="344" y="2957"/>
              <a:ext cx="1860" cy="729"/>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Times New Roman"/>
                  <a:ea typeface="Microsoft YaHei"/>
                  <a:cs typeface="+mn-ea"/>
                  <a:sym typeface="+mn-lt"/>
                </a:rPr>
                <a:t>为克服这一缺点</a:t>
              </a:r>
            </a:p>
          </p:txBody>
        </p:sp>
      </p:grpSp>
      <p:sp>
        <p:nvSpPr>
          <p:cNvPr id="8" name="Rectangle 2"/>
          <p:cNvSpPr>
            <a:spLocks noChangeArrowheads="1"/>
          </p:cNvSpPr>
          <p:nvPr/>
        </p:nvSpPr>
        <p:spPr bwMode="auto">
          <a:xfrm>
            <a:off x="323528" y="1340768"/>
            <a:ext cx="8712968" cy="1954959"/>
          </a:xfrm>
          <a:prstGeom prst="rect">
            <a:avLst/>
          </a:prstGeom>
          <a:noFill/>
          <a:ln>
            <a:noFill/>
          </a:ln>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a:lnSpc>
                <a:spcPct val="150000"/>
              </a:lnSpc>
              <a:spcBef>
                <a:spcPts val="0"/>
              </a:spcBef>
              <a:buClr>
                <a:srgbClr val="6C4C8F"/>
              </a:buClr>
              <a:buFont typeface="Arial" panose="020B0604020202020204" pitchFamily="34" charset="0"/>
              <a:buChar char="•"/>
              <a:defRPr/>
            </a:pPr>
            <a:r>
              <a:rPr kumimoji="0" lang="zh-CN" altLang="en-US" sz="2800" b="0" i="0" u="none" strike="noStrike" kern="1200" cap="none" spc="0" normalizeH="0" baseline="0" noProof="0" dirty="0">
                <a:ln>
                  <a:noFill/>
                </a:ln>
                <a:solidFill>
                  <a:srgbClr val="000000"/>
                </a:solidFill>
                <a:effectLst/>
                <a:uLnTx/>
                <a:uFillTx/>
                <a:latin typeface="+mn-ea"/>
                <a:ea typeface="+mn-ea"/>
                <a:cs typeface="+mn-ea"/>
                <a:sym typeface="+mn-lt"/>
              </a:rPr>
              <a:t>时间：可以</a:t>
            </a:r>
            <a:r>
              <a:rPr kumimoji="0" lang="zh-CN" altLang="en-US" sz="2800" b="0" i="0" u="none" strike="noStrike" kern="1200" cap="none" spc="0" normalizeH="0" baseline="0" noProof="0" dirty="0">
                <a:ln>
                  <a:noFill/>
                </a:ln>
                <a:solidFill>
                  <a:srgbClr val="FF0000"/>
                </a:solidFill>
                <a:effectLst/>
                <a:uLnTx/>
                <a:uFillTx/>
                <a:latin typeface="+mn-ea"/>
                <a:ea typeface="+mn-ea"/>
                <a:cs typeface="+mn-ea"/>
                <a:sym typeface="+mn-lt"/>
              </a:rPr>
              <a:t>随机存取</a:t>
            </a:r>
            <a:r>
              <a:rPr kumimoji="0" lang="zh-CN" altLang="en-US" sz="2800" b="0" i="0" u="none" strike="noStrike" kern="1200" cap="none" spc="0" normalizeH="0" baseline="0" noProof="0" dirty="0">
                <a:ln>
                  <a:noFill/>
                </a:ln>
                <a:solidFill>
                  <a:srgbClr val="000000"/>
                </a:solidFill>
                <a:effectLst/>
                <a:uLnTx/>
                <a:uFillTx/>
                <a:latin typeface="+mn-ea"/>
                <a:ea typeface="+mn-ea"/>
                <a:cs typeface="+mn-ea"/>
                <a:sym typeface="+mn-lt"/>
              </a:rPr>
              <a:t>表中任一元素</a:t>
            </a:r>
            <a:endParaRPr kumimoji="0" lang="en-US" altLang="zh-CN" sz="2800" b="0" i="0" u="none" strike="noStrike" kern="1200" cap="none" spc="0" normalizeH="0" baseline="0" noProof="0" dirty="0">
              <a:ln>
                <a:noFill/>
              </a:ln>
              <a:solidFill>
                <a:srgbClr val="000000"/>
              </a:solidFill>
              <a:effectLst/>
              <a:uLnTx/>
              <a:uFillTx/>
              <a:latin typeface="+mn-ea"/>
              <a:ea typeface="+mn-ea"/>
              <a:cs typeface="+mn-ea"/>
              <a:sym typeface="+mn-lt"/>
            </a:endParaRPr>
          </a:p>
          <a:p>
            <a:pPr>
              <a:lnSpc>
                <a:spcPct val="150000"/>
              </a:lnSpc>
              <a:spcBef>
                <a:spcPts val="0"/>
              </a:spcBef>
              <a:buClr>
                <a:srgbClr val="6C4C8F"/>
              </a:buClr>
              <a:buFont typeface="Arial" panose="020B0604020202020204" pitchFamily="34" charset="0"/>
              <a:buChar char="•"/>
              <a:defRPr/>
            </a:pPr>
            <a:r>
              <a:rPr kumimoji="0" lang="zh-CN" altLang="en-US" sz="2800" b="0" i="0" u="none" strike="noStrike" kern="1200" cap="none" spc="0" normalizeH="0" baseline="0" noProof="0" dirty="0">
                <a:ln>
                  <a:noFill/>
                </a:ln>
                <a:solidFill>
                  <a:srgbClr val="000000"/>
                </a:solidFill>
                <a:effectLst/>
                <a:uLnTx/>
                <a:uFillTx/>
                <a:latin typeface="+mn-ea"/>
                <a:ea typeface="+mn-ea"/>
                <a:cs typeface="+mn-ea"/>
                <a:sym typeface="+mn-lt"/>
              </a:rPr>
              <a:t>空间：</a:t>
            </a:r>
            <a:r>
              <a:rPr kumimoji="0" lang="zh-CN" altLang="en-US" sz="2800" b="0" i="0" u="none" strike="noStrike" kern="1200" cap="none" spc="0" normalizeH="0" baseline="0" noProof="0" dirty="0">
                <a:ln>
                  <a:noFill/>
                </a:ln>
                <a:solidFill>
                  <a:srgbClr val="FF0000"/>
                </a:solidFill>
                <a:effectLst/>
                <a:uLnTx/>
                <a:uFillTx/>
                <a:latin typeface="+mn-ea"/>
                <a:ea typeface="+mn-ea"/>
                <a:cs typeface="+mn-ea"/>
                <a:sym typeface="+mn-lt"/>
              </a:rPr>
              <a:t>存储密度大</a:t>
            </a:r>
            <a:r>
              <a:rPr kumimoji="0" lang="zh-CN" altLang="en-US" sz="2800" b="0" i="0" u="none" strike="noStrike" kern="1200" cap="none" spc="0" normalizeH="0" baseline="0" noProof="0" dirty="0">
                <a:ln>
                  <a:noFill/>
                </a:ln>
                <a:solidFill>
                  <a:srgbClr val="000000"/>
                </a:solidFill>
                <a:effectLst/>
                <a:uLnTx/>
                <a:uFillTx/>
                <a:latin typeface="+mn-ea"/>
                <a:ea typeface="+mn-ea"/>
                <a:cs typeface="+mn-ea"/>
                <a:sym typeface="+mn-lt"/>
              </a:rPr>
              <a:t>（</a:t>
            </a:r>
            <a:r>
              <a:rPr kumimoji="0" lang="zh-CN" altLang="en-US" sz="2800" b="0" i="0" u="none" strike="noStrike" kern="1200" cap="none" spc="0" normalizeH="0" baseline="0" noProof="0" dirty="0">
                <a:ln>
                  <a:noFill/>
                </a:ln>
                <a:solidFill>
                  <a:srgbClr val="0000FF"/>
                </a:solidFill>
                <a:effectLst/>
                <a:uLnTx/>
                <a:uFillTx/>
                <a:latin typeface="+mn-ea"/>
                <a:ea typeface="+mn-ea"/>
                <a:cs typeface="+mn-ea"/>
                <a:sym typeface="+mn-lt"/>
              </a:rPr>
              <a:t>元素中</a:t>
            </a:r>
            <a:r>
              <a:rPr lang="zh-CN" altLang="en-US" sz="2800" dirty="0">
                <a:solidFill>
                  <a:srgbClr val="0000FF"/>
                </a:solidFill>
                <a:latin typeface="+mn-ea"/>
                <a:ea typeface="+mn-ea"/>
                <a:cs typeface="+mn-ea"/>
                <a:sym typeface="+mn-lt"/>
              </a:rPr>
              <a:t>数据</a:t>
            </a:r>
            <a:r>
              <a:rPr kumimoji="0" lang="zh-CN" altLang="en-US" sz="2800" b="0" i="0" u="none" strike="noStrike" kern="1200" cap="none" spc="0" normalizeH="0" baseline="0" noProof="0" dirty="0">
                <a:ln>
                  <a:noFill/>
                </a:ln>
                <a:solidFill>
                  <a:srgbClr val="0000FF"/>
                </a:solidFill>
                <a:effectLst/>
                <a:uLnTx/>
                <a:uFillTx/>
                <a:latin typeface="+mn-ea"/>
                <a:ea typeface="+mn-ea"/>
                <a:cs typeface="+mn-ea"/>
                <a:sym typeface="+mn-lt"/>
              </a:rPr>
              <a:t>所占存储量 </a:t>
            </a:r>
            <a:r>
              <a:rPr kumimoji="0" lang="en-US" altLang="zh-CN" sz="2800" b="0" i="0" u="none" strike="noStrike" kern="1200" cap="none" spc="0" normalizeH="0" baseline="0" noProof="0" dirty="0">
                <a:ln>
                  <a:noFill/>
                </a:ln>
                <a:solidFill>
                  <a:srgbClr val="0000FF"/>
                </a:solidFill>
                <a:effectLst/>
                <a:uLnTx/>
                <a:uFillTx/>
                <a:latin typeface="+mn-ea"/>
                <a:ea typeface="+mn-ea"/>
                <a:cs typeface="+mn-ea"/>
                <a:sym typeface="+mn-lt"/>
              </a:rPr>
              <a:t>/ </a:t>
            </a:r>
            <a:r>
              <a:rPr kumimoji="0" lang="zh-CN" altLang="en-US" sz="2800" b="0" i="0" u="none" strike="noStrike" kern="1200" cap="none" spc="0" normalizeH="0" baseline="0" noProof="0" dirty="0">
                <a:ln>
                  <a:noFill/>
                </a:ln>
                <a:solidFill>
                  <a:srgbClr val="0000FF"/>
                </a:solidFill>
                <a:effectLst/>
                <a:uLnTx/>
                <a:uFillTx/>
                <a:latin typeface="+mn-ea"/>
                <a:ea typeface="+mn-ea"/>
                <a:cs typeface="+mn-ea"/>
                <a:sym typeface="+mn-lt"/>
              </a:rPr>
              <a:t>元素所占总的存储量</a:t>
            </a:r>
            <a:r>
              <a:rPr kumimoji="0" lang="zh-CN" altLang="en-US" sz="2800" b="0" i="0" u="none" strike="noStrike" kern="1200" cap="none" spc="0" normalizeH="0" baseline="0" noProof="0" dirty="0">
                <a:ln>
                  <a:noFill/>
                </a:ln>
                <a:solidFill>
                  <a:srgbClr val="000000"/>
                </a:solidFill>
                <a:effectLst/>
                <a:uLnTx/>
                <a:uFillTx/>
                <a:latin typeface="+mn-ea"/>
                <a:ea typeface="+mn-ea"/>
                <a:cs typeface="+mn-ea"/>
                <a:sym typeface="+mn-lt"/>
              </a:rPr>
              <a:t>）</a:t>
            </a:r>
          </a:p>
        </p:txBody>
      </p:sp>
      <p:sp>
        <p:nvSpPr>
          <p:cNvPr id="9" name="圆角矩形 14"/>
          <p:cNvSpPr/>
          <p:nvPr/>
        </p:nvSpPr>
        <p:spPr>
          <a:xfrm>
            <a:off x="323528" y="809727"/>
            <a:ext cx="1468438" cy="557213"/>
          </a:xfrm>
          <a:custGeom>
            <a:avLst/>
            <a:gdLst/>
            <a:ahLst/>
            <a:cxnLst/>
            <a:rect l="l" t="t" r="r" b="b"/>
            <a:pathLst>
              <a:path w="3960440" h="648072">
                <a:moveTo>
                  <a:pt x="0" y="0"/>
                </a:moveTo>
                <a:lnTo>
                  <a:pt x="3636404" y="0"/>
                </a:lnTo>
                <a:cubicBezTo>
                  <a:pt x="3815364" y="0"/>
                  <a:pt x="3960440" y="145076"/>
                  <a:pt x="3960440" y="324036"/>
                </a:cubicBezTo>
                <a:cubicBezTo>
                  <a:pt x="3960440" y="502996"/>
                  <a:pt x="3815364" y="648072"/>
                  <a:pt x="3636404" y="648072"/>
                </a:cubicBezTo>
                <a:lnTo>
                  <a:pt x="0" y="648072"/>
                </a:lnTo>
                <a:close/>
              </a:path>
            </a:pathLst>
          </a:custGeom>
          <a:solidFill>
            <a:srgbClr val="9476B6"/>
          </a:solid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b="0" i="0" u="none" strike="noStrike" kern="0" cap="none" spc="0" normalizeH="0" baseline="0" noProof="0" dirty="0">
                <a:ln>
                  <a:noFill/>
                </a:ln>
                <a:solidFill>
                  <a:srgbClr val="FEFFFF"/>
                </a:solidFill>
                <a:effectLst/>
                <a:uLnTx/>
                <a:uFillTx/>
                <a:latin typeface="+mn-ea"/>
                <a:ea typeface="+mn-ea"/>
                <a:cs typeface="+mn-cs"/>
              </a:rPr>
              <a:t>优点：</a:t>
            </a:r>
          </a:p>
        </p:txBody>
      </p:sp>
      <p:sp>
        <p:nvSpPr>
          <p:cNvPr id="17" name="Rectangle 11"/>
          <p:cNvSpPr>
            <a:spLocks noChangeArrowheads="1"/>
          </p:cNvSpPr>
          <p:nvPr/>
        </p:nvSpPr>
        <p:spPr bwMode="auto">
          <a:xfrm>
            <a:off x="293402" y="3933056"/>
            <a:ext cx="8820472" cy="662554"/>
          </a:xfrm>
          <a:prstGeom prst="rect">
            <a:avLst/>
          </a:prstGeom>
          <a:noFill/>
          <a:ln>
            <a:noFill/>
          </a:ln>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R="0" lvl="0" algn="l" defTabSz="914400" rtl="0" eaLnBrk="0" fontAlgn="base" latinLnBrk="0" hangingPunct="0">
              <a:lnSpc>
                <a:spcPct val="150000"/>
              </a:lnSpc>
              <a:spcBef>
                <a:spcPts val="0"/>
              </a:spcBef>
              <a:spcAft>
                <a:spcPct val="0"/>
              </a:spcAft>
              <a:buClr>
                <a:srgbClr val="6C4C8F"/>
              </a:buClr>
              <a:buSzTx/>
              <a:buFont typeface="Arial" panose="020B0604020202020204" pitchFamily="34" charset="0"/>
              <a:buChar char="•"/>
              <a:tabLst/>
              <a:defRPr/>
            </a:pPr>
            <a:r>
              <a:rPr kumimoji="0" lang="zh-CN" altLang="en-US" sz="2800" b="0" i="0" u="none" strike="noStrike" kern="1200" cap="none" spc="0" normalizeH="0" baseline="0" noProof="0" dirty="0">
                <a:ln>
                  <a:noFill/>
                </a:ln>
                <a:solidFill>
                  <a:srgbClr val="000000"/>
                </a:solidFill>
                <a:effectLst/>
                <a:uLnTx/>
                <a:uFillTx/>
                <a:latin typeface="+mn-ea"/>
                <a:ea typeface="+mn-ea"/>
                <a:cs typeface="+mn-ea"/>
                <a:sym typeface="+mn-lt"/>
              </a:rPr>
              <a:t>时间：在插入、删除某一元素时，需要移动大量元素</a:t>
            </a:r>
            <a:endParaRPr kumimoji="0" lang="en-US" altLang="zh-CN" sz="2800" b="0" i="0" u="none" strike="noStrike" kern="1200" cap="none" spc="0" normalizeH="0" baseline="0" noProof="0" dirty="0">
              <a:ln>
                <a:noFill/>
              </a:ln>
              <a:solidFill>
                <a:srgbClr val="000000"/>
              </a:solidFill>
              <a:effectLst/>
              <a:uLnTx/>
              <a:uFillTx/>
              <a:latin typeface="+mn-ea"/>
              <a:ea typeface="+mn-ea"/>
              <a:cs typeface="+mn-ea"/>
              <a:sym typeface="+mn-lt"/>
            </a:endParaRPr>
          </a:p>
        </p:txBody>
      </p:sp>
      <p:grpSp>
        <p:nvGrpSpPr>
          <p:cNvPr id="4" name="组合 3">
            <a:extLst>
              <a:ext uri="{FF2B5EF4-FFF2-40B4-BE49-F238E27FC236}">
                <a16:creationId xmlns:a16="http://schemas.microsoft.com/office/drawing/2014/main" id="{2E7085DD-0D2F-48A6-BB0B-DE1E10ADD956}"/>
              </a:ext>
            </a:extLst>
          </p:cNvPr>
          <p:cNvGrpSpPr/>
          <p:nvPr/>
        </p:nvGrpSpPr>
        <p:grpSpPr>
          <a:xfrm>
            <a:off x="323528" y="3356992"/>
            <a:ext cx="1468438" cy="597664"/>
            <a:chOff x="323528" y="3623424"/>
            <a:chExt cx="1468438" cy="597664"/>
          </a:xfrm>
        </p:grpSpPr>
        <p:sp>
          <p:nvSpPr>
            <p:cNvPr id="10" name="圆角矩形 14"/>
            <p:cNvSpPr/>
            <p:nvPr/>
          </p:nvSpPr>
          <p:spPr>
            <a:xfrm>
              <a:off x="323528" y="3655930"/>
              <a:ext cx="1468438" cy="558800"/>
            </a:xfrm>
            <a:custGeom>
              <a:avLst/>
              <a:gdLst/>
              <a:ahLst/>
              <a:cxnLst/>
              <a:rect l="l" t="t" r="r" b="b"/>
              <a:pathLst>
                <a:path w="3960440" h="648072">
                  <a:moveTo>
                    <a:pt x="0" y="0"/>
                  </a:moveTo>
                  <a:lnTo>
                    <a:pt x="3636404" y="0"/>
                  </a:lnTo>
                  <a:cubicBezTo>
                    <a:pt x="3815364" y="0"/>
                    <a:pt x="3960440" y="145076"/>
                    <a:pt x="3960440" y="324036"/>
                  </a:cubicBezTo>
                  <a:cubicBezTo>
                    <a:pt x="3960440" y="502996"/>
                    <a:pt x="3815364" y="648072"/>
                    <a:pt x="3636404" y="648072"/>
                  </a:cubicBezTo>
                  <a:lnTo>
                    <a:pt x="0" y="648072"/>
                  </a:lnTo>
                  <a:close/>
                </a:path>
              </a:pathLst>
            </a:custGeom>
            <a:solidFill>
              <a:srgbClr val="9476B6"/>
            </a:solidFill>
            <a:ln w="25400" cap="flat" cmpd="sng" algn="ctr">
              <a:noFill/>
              <a:prstDash val="solid"/>
            </a:ln>
            <a:effectLst/>
          </p:spPr>
          <p:txBody>
            <a:bodyPr lIns="117226" tIns="58613" rIns="117226" bIns="58613"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b="1" i="0" u="none" strike="noStrike" kern="0" cap="none" spc="0" normalizeH="0" baseline="0" noProof="0" dirty="0">
                <a:ln>
                  <a:noFill/>
                </a:ln>
                <a:solidFill>
                  <a:srgbClr val="FEFFFF"/>
                </a:solidFill>
                <a:effectLst/>
                <a:uLnTx/>
                <a:uFillTx/>
                <a:latin typeface="+mn-ea"/>
                <a:ea typeface="+mn-ea"/>
                <a:cs typeface="+mn-cs"/>
              </a:endParaRPr>
            </a:p>
          </p:txBody>
        </p:sp>
        <p:sp>
          <p:nvSpPr>
            <p:cNvPr id="18" name="Rectangle 11"/>
            <p:cNvSpPr>
              <a:spLocks noChangeArrowheads="1"/>
            </p:cNvSpPr>
            <p:nvPr/>
          </p:nvSpPr>
          <p:spPr bwMode="auto">
            <a:xfrm>
              <a:off x="455291" y="3623424"/>
              <a:ext cx="1328738" cy="597664"/>
            </a:xfrm>
            <a:prstGeom prst="rect">
              <a:avLst/>
            </a:prstGeom>
            <a:noFill/>
            <a:ln>
              <a:noFill/>
            </a:ln>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30000"/>
                </a:lnSpc>
                <a:spcBef>
                  <a:spcPct val="20000"/>
                </a:spcBef>
                <a:spcAft>
                  <a:spcPct val="0"/>
                </a:spcAft>
                <a:buClrTx/>
                <a:buSzTx/>
                <a:buFontTx/>
                <a:buNone/>
                <a:tabLst/>
                <a:defRPr/>
              </a:pPr>
              <a:r>
                <a:rPr kumimoji="0" lang="zh-CN" altLang="en-US" sz="2800" b="0" i="0" u="none" strike="noStrike" kern="1200" cap="none" spc="0" normalizeH="0" baseline="0" noProof="0" dirty="0">
                  <a:ln>
                    <a:noFill/>
                  </a:ln>
                  <a:solidFill>
                    <a:srgbClr val="FEFFFF"/>
                  </a:solidFill>
                  <a:effectLst/>
                  <a:uLnTx/>
                  <a:uFillTx/>
                  <a:latin typeface="+mn-ea"/>
                  <a:ea typeface="+mn-ea"/>
                  <a:cs typeface="+mn-ea"/>
                  <a:sym typeface="+mn-lt"/>
                </a:rPr>
                <a:t>缺点：</a:t>
              </a:r>
            </a:p>
          </p:txBody>
        </p:sp>
      </p:grpSp>
      <p:cxnSp>
        <p:nvCxnSpPr>
          <p:cNvPr id="11274" name="直接连接符 4"/>
          <p:cNvCxnSpPr/>
          <p:nvPr/>
        </p:nvCxnSpPr>
        <p:spPr>
          <a:xfrm>
            <a:off x="0" y="6021288"/>
            <a:ext cx="9144000" cy="0"/>
          </a:xfrm>
          <a:prstGeom prst="line">
            <a:avLst/>
          </a:prstGeom>
          <a:ln w="57150" cap="flat" cmpd="sng">
            <a:solidFill>
              <a:srgbClr val="8585E0"/>
            </a:solidFill>
            <a:prstDash val="solid"/>
            <a:headEnd type="none" w="med" len="med"/>
            <a:tailEnd type="none" w="med" len="med"/>
          </a:ln>
        </p:spPr>
      </p:cxnSp>
      <p:sp>
        <p:nvSpPr>
          <p:cNvPr id="19" name="文本框 18">
            <a:extLst>
              <a:ext uri="{FF2B5EF4-FFF2-40B4-BE49-F238E27FC236}">
                <a16:creationId xmlns:a16="http://schemas.microsoft.com/office/drawing/2014/main" id="{2A9A3D98-531F-4B64-BDCD-DFEC08FBBDA3}"/>
              </a:ext>
            </a:extLst>
          </p:cNvPr>
          <p:cNvSpPr txBox="1"/>
          <p:nvPr/>
        </p:nvSpPr>
        <p:spPr>
          <a:xfrm>
            <a:off x="323527" y="4883590"/>
            <a:ext cx="8790347" cy="1077218"/>
          </a:xfrm>
          <a:prstGeom prst="rect">
            <a:avLst/>
          </a:prstGeom>
          <a:noFill/>
        </p:spPr>
        <p:txBody>
          <a:bodyPr wrap="square" rtlCol="0">
            <a:spAutoFit/>
          </a:bodyPr>
          <a:lstStyle/>
          <a:p>
            <a:r>
              <a:rPr lang="zh-CN" altLang="en-US" sz="3200" dirty="0">
                <a:solidFill>
                  <a:srgbClr val="0000FF"/>
                </a:solidFill>
                <a:latin typeface="华文新魏" panose="02010800040101010101" pitchFamily="2" charset="-122"/>
                <a:ea typeface="华文新魏" panose="02010800040101010101" pitchFamily="2" charset="-122"/>
              </a:rPr>
              <a:t>适用于随机访问和有序表的查找，不宜用在增、删频繁的各种应用中。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box(in)">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build="p"/>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C43542-8A63-434B-A630-3B5671F9F8D4}"/>
              </a:ext>
            </a:extLst>
          </p:cNvPr>
          <p:cNvSpPr>
            <a:spLocks noGrp="1"/>
          </p:cNvSpPr>
          <p:nvPr>
            <p:ph type="title"/>
          </p:nvPr>
        </p:nvSpPr>
        <p:spPr/>
        <p:txBody>
          <a:bodyPr/>
          <a:lstStyle/>
          <a:p>
            <a:r>
              <a:rPr lang="zh-CN" altLang="en-US" dirty="0"/>
              <a:t>课堂讨论 </a:t>
            </a:r>
            <a:r>
              <a:rPr lang="en-US" altLang="zh-CN" dirty="0"/>
              <a:t>2</a:t>
            </a:r>
            <a:endParaRPr lang="zh-CN" altLang="en-US" dirty="0"/>
          </a:p>
        </p:txBody>
      </p:sp>
      <p:sp>
        <p:nvSpPr>
          <p:cNvPr id="3" name="内容占位符 2">
            <a:extLst>
              <a:ext uri="{FF2B5EF4-FFF2-40B4-BE49-F238E27FC236}">
                <a16:creationId xmlns:a16="http://schemas.microsoft.com/office/drawing/2014/main" id="{3B858DD9-5CF4-4066-82CF-008FC5A19ADA}"/>
              </a:ext>
            </a:extLst>
          </p:cNvPr>
          <p:cNvSpPr>
            <a:spLocks noGrp="1"/>
          </p:cNvSpPr>
          <p:nvPr>
            <p:ph idx="1"/>
          </p:nvPr>
        </p:nvSpPr>
        <p:spPr>
          <a:xfrm>
            <a:off x="343198" y="764704"/>
            <a:ext cx="8457604" cy="3340861"/>
          </a:xfrm>
        </p:spPr>
        <p:txBody>
          <a:bodyPr/>
          <a:lstStyle/>
          <a:p>
            <a:r>
              <a:rPr lang="zh-CN" altLang="en-US" dirty="0"/>
              <a:t>有同学曾提出，采用数组实现线性表时，可以将被删除元素标记为已删除。</a:t>
            </a:r>
            <a:endParaRPr lang="en-US" altLang="zh-CN" dirty="0"/>
          </a:p>
          <a:p>
            <a:r>
              <a:rPr lang="zh-CN" altLang="en-US" dirty="0"/>
              <a:t>请分析：若采用这样的“逻辑删除”，以下各操作如何实现？算法复杂度是多少？这样的实现方式可能适合于什么样的场景？</a:t>
            </a:r>
          </a:p>
        </p:txBody>
      </p:sp>
      <p:sp>
        <p:nvSpPr>
          <p:cNvPr id="4" name="Text Box 5">
            <a:hlinkClick r:id="rId3" action="ppaction://hlinksldjump"/>
            <a:extLst>
              <a:ext uri="{FF2B5EF4-FFF2-40B4-BE49-F238E27FC236}">
                <a16:creationId xmlns:a16="http://schemas.microsoft.com/office/drawing/2014/main" id="{7E816A5E-C483-4C49-A46D-23E3DE0E32C2}"/>
              </a:ext>
            </a:extLst>
          </p:cNvPr>
          <p:cNvSpPr txBox="1">
            <a:spLocks noChangeArrowheads="1"/>
          </p:cNvSpPr>
          <p:nvPr/>
        </p:nvSpPr>
        <p:spPr bwMode="auto">
          <a:xfrm>
            <a:off x="554566" y="4797921"/>
            <a:ext cx="34531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b="1" dirty="0" err="1">
                <a:solidFill>
                  <a:srgbClr val="0000FF"/>
                </a:solidFill>
                <a:latin typeface="华文新魏" panose="02010800040101010101" pitchFamily="2" charset="-122"/>
                <a:ea typeface="华文新魏" panose="02010800040101010101" pitchFamily="2" charset="-122"/>
              </a:rPr>
              <a:t>ListInsert</a:t>
            </a:r>
            <a:r>
              <a:rPr lang="en-US" altLang="zh-CN" b="1" dirty="0">
                <a:solidFill>
                  <a:srgbClr val="0000FF"/>
                </a:solidFill>
                <a:latin typeface="华文新魏" panose="02010800040101010101" pitchFamily="2" charset="-122"/>
                <a:ea typeface="华文新魏" panose="02010800040101010101" pitchFamily="2" charset="-122"/>
              </a:rPr>
              <a:t>( &amp;L, </a:t>
            </a:r>
            <a:r>
              <a:rPr lang="en-US" altLang="zh-CN" b="1" dirty="0" err="1">
                <a:solidFill>
                  <a:srgbClr val="0000FF"/>
                </a:solidFill>
                <a:latin typeface="华文新魏" panose="02010800040101010101" pitchFamily="2" charset="-122"/>
                <a:ea typeface="华文新魏" panose="02010800040101010101" pitchFamily="2" charset="-122"/>
              </a:rPr>
              <a:t>i</a:t>
            </a:r>
            <a:r>
              <a:rPr lang="en-US" altLang="zh-CN" b="1" dirty="0">
                <a:solidFill>
                  <a:srgbClr val="0000FF"/>
                </a:solidFill>
                <a:latin typeface="华文新魏" panose="02010800040101010101" pitchFamily="2" charset="-122"/>
                <a:ea typeface="华文新魏" panose="02010800040101010101" pitchFamily="2" charset="-122"/>
              </a:rPr>
              <a:t>, e )</a:t>
            </a:r>
            <a:endParaRPr lang="en-US" altLang="zh-CN" dirty="0">
              <a:solidFill>
                <a:srgbClr val="0000FF"/>
              </a:solidFill>
              <a:latin typeface="华文新魏" panose="02010800040101010101" pitchFamily="2" charset="-122"/>
              <a:ea typeface="华文新魏" panose="02010800040101010101" pitchFamily="2" charset="-122"/>
            </a:endParaRPr>
          </a:p>
        </p:txBody>
      </p:sp>
      <p:sp>
        <p:nvSpPr>
          <p:cNvPr id="5" name="Text Box 6">
            <a:hlinkClick r:id="rId3" action="ppaction://hlinksldjump"/>
            <a:extLst>
              <a:ext uri="{FF2B5EF4-FFF2-40B4-BE49-F238E27FC236}">
                <a16:creationId xmlns:a16="http://schemas.microsoft.com/office/drawing/2014/main" id="{F814BD66-14F8-4A9E-AABD-41F74B18F9ED}"/>
              </a:ext>
            </a:extLst>
          </p:cNvPr>
          <p:cNvSpPr txBox="1">
            <a:spLocks noChangeArrowheads="1"/>
          </p:cNvSpPr>
          <p:nvPr/>
        </p:nvSpPr>
        <p:spPr bwMode="auto">
          <a:xfrm>
            <a:off x="539552" y="5490278"/>
            <a:ext cx="390683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b="1" dirty="0" err="1">
                <a:solidFill>
                  <a:srgbClr val="0000FF"/>
                </a:solidFill>
                <a:latin typeface="华文新魏" panose="02010800040101010101" pitchFamily="2" charset="-122"/>
                <a:ea typeface="华文新魏" panose="02010800040101010101" pitchFamily="2" charset="-122"/>
              </a:rPr>
              <a:t>ListDelete</a:t>
            </a:r>
            <a:r>
              <a:rPr lang="en-US" altLang="zh-CN" b="1" dirty="0">
                <a:solidFill>
                  <a:srgbClr val="0000FF"/>
                </a:solidFill>
                <a:latin typeface="华文新魏" panose="02010800040101010101" pitchFamily="2" charset="-122"/>
                <a:ea typeface="华文新魏" panose="02010800040101010101" pitchFamily="2" charset="-122"/>
              </a:rPr>
              <a:t>(&amp;L, </a:t>
            </a:r>
            <a:r>
              <a:rPr lang="en-US" altLang="zh-CN" b="1" dirty="0" err="1">
                <a:solidFill>
                  <a:srgbClr val="0000FF"/>
                </a:solidFill>
                <a:latin typeface="华文新魏" panose="02010800040101010101" pitchFamily="2" charset="-122"/>
                <a:ea typeface="华文新魏" panose="02010800040101010101" pitchFamily="2" charset="-122"/>
              </a:rPr>
              <a:t>i</a:t>
            </a:r>
            <a:r>
              <a:rPr lang="en-US" altLang="zh-CN" b="1" dirty="0">
                <a:solidFill>
                  <a:srgbClr val="0000FF"/>
                </a:solidFill>
                <a:latin typeface="华文新魏" panose="02010800040101010101" pitchFamily="2" charset="-122"/>
                <a:ea typeface="华文新魏" panose="02010800040101010101" pitchFamily="2" charset="-122"/>
              </a:rPr>
              <a:t>, &amp;e)</a:t>
            </a:r>
            <a:r>
              <a:rPr lang="en-US" altLang="zh-CN" dirty="0">
                <a:solidFill>
                  <a:srgbClr val="0000FF"/>
                </a:solidFill>
                <a:latin typeface="华文新魏" panose="02010800040101010101" pitchFamily="2" charset="-122"/>
                <a:ea typeface="华文新魏" panose="02010800040101010101" pitchFamily="2" charset="-122"/>
              </a:rPr>
              <a:t>  </a:t>
            </a:r>
          </a:p>
        </p:txBody>
      </p:sp>
      <p:sp>
        <p:nvSpPr>
          <p:cNvPr id="6" name="Text Box 2">
            <a:extLst>
              <a:ext uri="{FF2B5EF4-FFF2-40B4-BE49-F238E27FC236}">
                <a16:creationId xmlns:a16="http://schemas.microsoft.com/office/drawing/2014/main" id="{0D140AB7-7798-431D-88D1-FA329C0852B1}"/>
              </a:ext>
            </a:extLst>
          </p:cNvPr>
          <p:cNvSpPr txBox="1">
            <a:spLocks noChangeArrowheads="1"/>
          </p:cNvSpPr>
          <p:nvPr/>
        </p:nvSpPr>
        <p:spPr bwMode="auto">
          <a:xfrm>
            <a:off x="554566" y="4105565"/>
            <a:ext cx="34083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b="1" dirty="0" err="1">
                <a:solidFill>
                  <a:srgbClr val="0000FF"/>
                </a:solidFill>
                <a:latin typeface="华文新魏" panose="02010800040101010101" pitchFamily="2" charset="-122"/>
                <a:ea typeface="华文新魏" panose="02010800040101010101" pitchFamily="2" charset="-122"/>
              </a:rPr>
              <a:t>GetElem</a:t>
            </a:r>
            <a:r>
              <a:rPr lang="en-US" altLang="zh-CN" b="1" dirty="0">
                <a:solidFill>
                  <a:srgbClr val="0000FF"/>
                </a:solidFill>
                <a:latin typeface="华文新魏" panose="02010800040101010101" pitchFamily="2" charset="-122"/>
                <a:ea typeface="华文新魏" panose="02010800040101010101" pitchFamily="2" charset="-122"/>
              </a:rPr>
              <a:t>( L, </a:t>
            </a:r>
            <a:r>
              <a:rPr lang="en-US" altLang="zh-CN" b="1" dirty="0" err="1">
                <a:solidFill>
                  <a:srgbClr val="0000FF"/>
                </a:solidFill>
                <a:latin typeface="华文新魏" panose="02010800040101010101" pitchFamily="2" charset="-122"/>
                <a:ea typeface="华文新魏" panose="02010800040101010101" pitchFamily="2" charset="-122"/>
              </a:rPr>
              <a:t>i</a:t>
            </a:r>
            <a:r>
              <a:rPr lang="en-US" altLang="zh-CN" b="1" dirty="0">
                <a:solidFill>
                  <a:srgbClr val="0000FF"/>
                </a:solidFill>
                <a:latin typeface="华文新魏" panose="02010800040101010101" pitchFamily="2" charset="-122"/>
                <a:ea typeface="华文新魏" panose="02010800040101010101" pitchFamily="2" charset="-122"/>
              </a:rPr>
              <a:t>, &amp;e )</a:t>
            </a:r>
            <a:endParaRPr lang="en-US" altLang="zh-CN" dirty="0">
              <a:solidFill>
                <a:srgbClr val="0000FF"/>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8077054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F49EFF-D3D6-4BFB-81A1-A7A8D3CA53D4}"/>
              </a:ext>
            </a:extLst>
          </p:cNvPr>
          <p:cNvSpPr>
            <a:spLocks noGrp="1"/>
          </p:cNvSpPr>
          <p:nvPr>
            <p:ph type="title"/>
          </p:nvPr>
        </p:nvSpPr>
        <p:spPr/>
        <p:txBody>
          <a:bodyPr/>
          <a:lstStyle/>
          <a:p>
            <a:r>
              <a:rPr lang="zh-CN" altLang="en-US" dirty="0"/>
              <a:t>课堂讨论 </a:t>
            </a:r>
            <a:r>
              <a:rPr lang="en-US" altLang="zh-CN" dirty="0"/>
              <a:t>3</a:t>
            </a:r>
            <a:endParaRPr lang="zh-CN" altLang="en-US" dirty="0"/>
          </a:p>
        </p:txBody>
      </p:sp>
      <p:sp>
        <p:nvSpPr>
          <p:cNvPr id="3" name="内容占位符 2">
            <a:extLst>
              <a:ext uri="{FF2B5EF4-FFF2-40B4-BE49-F238E27FC236}">
                <a16:creationId xmlns:a16="http://schemas.microsoft.com/office/drawing/2014/main" id="{01403397-8B40-4172-B177-2589ACB48373}"/>
              </a:ext>
            </a:extLst>
          </p:cNvPr>
          <p:cNvSpPr>
            <a:spLocks noGrp="1"/>
          </p:cNvSpPr>
          <p:nvPr>
            <p:ph idx="1"/>
          </p:nvPr>
        </p:nvSpPr>
        <p:spPr>
          <a:xfrm>
            <a:off x="343198" y="836712"/>
            <a:ext cx="8457604" cy="2116725"/>
          </a:xfrm>
        </p:spPr>
        <p:txBody>
          <a:bodyPr/>
          <a:lstStyle/>
          <a:p>
            <a:r>
              <a:rPr lang="zh-CN" altLang="en-US" dirty="0"/>
              <a:t>已知长度为 </a:t>
            </a:r>
            <a:r>
              <a:rPr lang="en-US" altLang="zh-CN" dirty="0"/>
              <a:t>n </a:t>
            </a:r>
            <a:r>
              <a:rPr lang="zh-CN" altLang="en-US" dirty="0"/>
              <a:t>的线性表 </a:t>
            </a:r>
            <a:r>
              <a:rPr lang="en-US" altLang="zh-CN" dirty="0"/>
              <a:t>L </a:t>
            </a:r>
            <a:r>
              <a:rPr lang="zh-CN" altLang="en-US" dirty="0"/>
              <a:t>采用顺序存储结构。设计一个</a:t>
            </a:r>
            <a:r>
              <a:rPr lang="zh-CN" altLang="en-US" dirty="0">
                <a:solidFill>
                  <a:srgbClr val="0000FF"/>
                </a:solidFill>
              </a:rPr>
              <a:t>时间复杂度为 </a:t>
            </a:r>
            <a:r>
              <a:rPr lang="en-US" altLang="zh-CN" dirty="0">
                <a:solidFill>
                  <a:srgbClr val="0000FF"/>
                </a:solidFill>
              </a:rPr>
              <a:t>O(n)</a:t>
            </a:r>
            <a:r>
              <a:rPr lang="zh-CN" altLang="en-US" dirty="0"/>
              <a:t>、</a:t>
            </a:r>
            <a:r>
              <a:rPr lang="zh-CN" altLang="en-US" dirty="0">
                <a:solidFill>
                  <a:srgbClr val="0000FF"/>
                </a:solidFill>
              </a:rPr>
              <a:t>空间复杂度为 </a:t>
            </a:r>
            <a:r>
              <a:rPr lang="en-US" altLang="zh-CN" dirty="0">
                <a:solidFill>
                  <a:srgbClr val="0000FF"/>
                </a:solidFill>
              </a:rPr>
              <a:t>O(1) </a:t>
            </a:r>
            <a:r>
              <a:rPr lang="zh-CN" altLang="en-US" dirty="0"/>
              <a:t>的算法，该算法删除线性表中所有值为 </a:t>
            </a:r>
            <a:r>
              <a:rPr lang="en-US" altLang="zh-CN" dirty="0"/>
              <a:t>x </a:t>
            </a:r>
            <a:r>
              <a:rPr lang="zh-CN" altLang="en-US" dirty="0"/>
              <a:t>的数据元素。 </a:t>
            </a:r>
          </a:p>
        </p:txBody>
      </p:sp>
      <p:sp>
        <p:nvSpPr>
          <p:cNvPr id="5" name="Text Box 2">
            <a:extLst>
              <a:ext uri="{FF2B5EF4-FFF2-40B4-BE49-F238E27FC236}">
                <a16:creationId xmlns:a16="http://schemas.microsoft.com/office/drawing/2014/main" id="{81CDD5EA-9EF9-49B9-A83E-668564025041}"/>
              </a:ext>
            </a:extLst>
          </p:cNvPr>
          <p:cNvSpPr txBox="1">
            <a:spLocks noChangeArrowheads="1"/>
          </p:cNvSpPr>
          <p:nvPr/>
        </p:nvSpPr>
        <p:spPr bwMode="auto">
          <a:xfrm>
            <a:off x="240870" y="2980117"/>
            <a:ext cx="8640960" cy="35026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square" lIns="180000" tIns="108000" bIns="108000">
            <a:spAutoFit/>
          </a:bodyPr>
          <a:lstStyle/>
          <a:p>
            <a:pPr eaLnBrk="1" hangingPunct="1">
              <a:lnSpc>
                <a:spcPct val="150000"/>
              </a:lnSpc>
              <a:spcBef>
                <a:spcPts val="600"/>
              </a:spcBef>
              <a:buClr>
                <a:srgbClr val="FA772E"/>
              </a:buClr>
              <a:defRPr/>
            </a:pP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以下两种方法都</a:t>
            </a:r>
            <a:r>
              <a:rPr kumimoji="1" lang="zh-CN" altLang="en-US"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Consolas" pitchFamily="49" charset="0"/>
              </a:rPr>
              <a:t>不满足要求</a:t>
            </a: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a:t>
            </a:r>
            <a:endParaRPr kumimoji="1" lang="en-US" altLang="zh-CN"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endParaRPr>
          </a:p>
          <a:p>
            <a:pPr marL="457200" marR="0" lvl="0" indent="-457200" algn="l" defTabSz="914400" rtl="0" eaLnBrk="1" fontAlgn="base" latinLnBrk="0" hangingPunct="1">
              <a:lnSpc>
                <a:spcPct val="150000"/>
              </a:lnSpc>
              <a:spcBef>
                <a:spcPts val="600"/>
              </a:spcBef>
              <a:spcAft>
                <a:spcPct val="0"/>
              </a:spcAft>
              <a:buClr>
                <a:srgbClr val="FA772E"/>
              </a:buClr>
              <a:buSzTx/>
              <a:buFont typeface="Wingdings" panose="05000000000000000000" pitchFamily="2" charset="2"/>
              <a:buChar char="l"/>
              <a:tabLst/>
              <a:defRPr/>
            </a:pP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如果每删除一个值为</a:t>
            </a:r>
            <a:r>
              <a:rPr kumimoji="1" lang="en-US" altLang="zh-CN" i="1"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x </a:t>
            </a: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的元素都进行移动，其时间复杂度为</a:t>
            </a:r>
            <a:r>
              <a:rPr kumimoji="1" lang="en-US" altLang="zh-CN"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O(</a:t>
            </a:r>
            <a:r>
              <a:rPr kumimoji="1" lang="en-US" altLang="zh-CN" i="1"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n</a:t>
            </a:r>
            <a:r>
              <a:rPr kumimoji="1" lang="en-US" altLang="zh-CN" i="0" u="none" strike="noStrike" kern="1200" cap="none" spc="0" normalizeH="0" baseline="3000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2</a:t>
            </a:r>
            <a:r>
              <a:rPr kumimoji="1" lang="en-US" altLang="zh-CN"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a:t>
            </a: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，空间复杂度为</a:t>
            </a:r>
            <a:r>
              <a:rPr kumimoji="1" lang="en-US" altLang="zh-CN"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O(1)</a:t>
            </a: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a:t>
            </a:r>
          </a:p>
          <a:p>
            <a:pPr marL="457200" marR="0" lvl="0" indent="-457200" algn="l" defTabSz="914400" rtl="0" eaLnBrk="1" fontAlgn="base" latinLnBrk="0" hangingPunct="1">
              <a:lnSpc>
                <a:spcPct val="150000"/>
              </a:lnSpc>
              <a:spcBef>
                <a:spcPts val="600"/>
              </a:spcBef>
              <a:spcAft>
                <a:spcPct val="0"/>
              </a:spcAft>
              <a:buClr>
                <a:srgbClr val="FA772E"/>
              </a:buClr>
              <a:buSzTx/>
              <a:buFont typeface="Wingdings" panose="05000000000000000000" pitchFamily="2" charset="2"/>
              <a:buChar char="l"/>
              <a:tabLst/>
              <a:defRPr/>
            </a:pP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如果借助一个新的顺序表，存放将 </a:t>
            </a:r>
            <a:r>
              <a:rPr kumimoji="1" lang="en-US" altLang="zh-CN" i="1"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L </a:t>
            </a: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中所有不为</a:t>
            </a:r>
            <a:r>
              <a:rPr kumimoji="1" lang="en-US" altLang="zh-CN" i="1"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x </a:t>
            </a: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的元素，其时间复杂度为</a:t>
            </a:r>
            <a:r>
              <a:rPr kumimoji="1" lang="en-US" altLang="zh-CN"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O(</a:t>
            </a:r>
            <a:r>
              <a:rPr kumimoji="1" lang="en-US" altLang="zh-CN" i="1"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n</a:t>
            </a:r>
            <a:r>
              <a:rPr kumimoji="1" lang="en-US" altLang="zh-CN"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a:t>
            </a: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，空间复杂度为</a:t>
            </a:r>
            <a:r>
              <a:rPr kumimoji="1" lang="en-US" altLang="zh-CN"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O(</a:t>
            </a:r>
            <a:r>
              <a:rPr kumimoji="1" lang="en-US" altLang="zh-CN" i="1"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n</a:t>
            </a:r>
            <a:r>
              <a:rPr kumimoji="1" lang="en-US" altLang="zh-CN"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a:t>
            </a:r>
            <a:r>
              <a:rPr kumimoji="1" lang="zh-CN" altLang="en-US"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Consolas" pitchFamily="49" charset="0"/>
              </a:rPr>
              <a:t>。</a:t>
            </a:r>
          </a:p>
        </p:txBody>
      </p:sp>
    </p:spTree>
    <p:extLst>
      <p:ext uri="{BB962C8B-B14F-4D97-AF65-F5344CB8AC3E}">
        <p14:creationId xmlns:p14="http://schemas.microsoft.com/office/powerpoint/2010/main" val="16557163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471C79-B752-40AF-875B-8234C5042C5F}"/>
              </a:ext>
            </a:extLst>
          </p:cNvPr>
          <p:cNvSpPr>
            <a:spLocks noGrp="1"/>
          </p:cNvSpPr>
          <p:nvPr>
            <p:ph type="title"/>
          </p:nvPr>
        </p:nvSpPr>
        <p:spPr/>
        <p:txBody>
          <a:bodyPr/>
          <a:lstStyle/>
          <a:p>
            <a:r>
              <a:rPr lang="zh-CN" altLang="en-US" dirty="0"/>
              <a:t>课堂讨论 </a:t>
            </a:r>
            <a:r>
              <a:rPr lang="en-US" altLang="zh-CN" dirty="0"/>
              <a:t>4</a:t>
            </a:r>
            <a:endParaRPr lang="zh-CN" altLang="en-US" dirty="0"/>
          </a:p>
        </p:txBody>
      </p:sp>
      <p:sp>
        <p:nvSpPr>
          <p:cNvPr id="3" name="内容占位符 2">
            <a:extLst>
              <a:ext uri="{FF2B5EF4-FFF2-40B4-BE49-F238E27FC236}">
                <a16:creationId xmlns:a16="http://schemas.microsoft.com/office/drawing/2014/main" id="{39665A03-1C80-4DBF-8E3D-DE07E3F8F092}"/>
              </a:ext>
            </a:extLst>
          </p:cNvPr>
          <p:cNvSpPr>
            <a:spLocks noGrp="1"/>
          </p:cNvSpPr>
          <p:nvPr>
            <p:ph idx="1"/>
          </p:nvPr>
        </p:nvSpPr>
        <p:spPr>
          <a:xfrm>
            <a:off x="343198" y="880227"/>
            <a:ext cx="8457604" cy="2692789"/>
          </a:xfrm>
        </p:spPr>
        <p:txBody>
          <a:bodyPr/>
          <a:lstStyle/>
          <a:p>
            <a:r>
              <a:rPr lang="zh-CN" altLang="en-US" dirty="0"/>
              <a:t>设顺序表 </a:t>
            </a:r>
            <a:r>
              <a:rPr lang="en-US" altLang="zh-CN" dirty="0"/>
              <a:t>L </a:t>
            </a:r>
            <a:r>
              <a:rPr lang="zh-CN" altLang="en-US" dirty="0"/>
              <a:t>有 </a:t>
            </a:r>
            <a:r>
              <a:rPr lang="en-US" altLang="zh-CN" dirty="0"/>
              <a:t>n </a:t>
            </a:r>
            <a:r>
              <a:rPr lang="zh-CN" altLang="en-US" dirty="0"/>
              <a:t>个整数。设计一个算法，以第一个元素作为分界线（基准），将所有小于等于它的元素移到该元素的前面，将所有大于它的元素移到该元素的后面。</a:t>
            </a:r>
          </a:p>
        </p:txBody>
      </p:sp>
      <p:grpSp>
        <p:nvGrpSpPr>
          <p:cNvPr id="4" name="组合 11">
            <a:extLst>
              <a:ext uri="{FF2B5EF4-FFF2-40B4-BE49-F238E27FC236}">
                <a16:creationId xmlns:a16="http://schemas.microsoft.com/office/drawing/2014/main" id="{9255D60E-DAFD-4923-BA0B-B3E4BD2C8884}"/>
              </a:ext>
            </a:extLst>
          </p:cNvPr>
          <p:cNvGrpSpPr/>
          <p:nvPr/>
        </p:nvGrpSpPr>
        <p:grpSpPr>
          <a:xfrm>
            <a:off x="2076423" y="3764453"/>
            <a:ext cx="4752976" cy="504825"/>
            <a:chOff x="1835150" y="2924175"/>
            <a:chExt cx="4752976" cy="504825"/>
          </a:xfrm>
        </p:grpSpPr>
        <p:sp>
          <p:nvSpPr>
            <p:cNvPr id="5" name="Oval 6">
              <a:extLst>
                <a:ext uri="{FF2B5EF4-FFF2-40B4-BE49-F238E27FC236}">
                  <a16:creationId xmlns:a16="http://schemas.microsoft.com/office/drawing/2014/main" id="{223BFE68-C054-412B-B751-EE9E28694A5E}"/>
                </a:ext>
              </a:extLst>
            </p:cNvPr>
            <p:cNvSpPr>
              <a:spLocks noChangeArrowheads="1"/>
            </p:cNvSpPr>
            <p:nvPr/>
          </p:nvSpPr>
          <p:spPr bwMode="auto">
            <a:xfrm>
              <a:off x="1835150" y="2997200"/>
              <a:ext cx="360363" cy="431800"/>
            </a:xfrm>
            <a:prstGeom prst="ellipse">
              <a:avLst/>
            </a:prstGeom>
            <a:gradFill>
              <a:gsLst>
                <a:gs pos="0">
                  <a:srgbClr val="F19903"/>
                </a:gs>
                <a:gs pos="100000">
                  <a:schemeClr val="accent6">
                    <a:lumMod val="20000"/>
                    <a:lumOff val="80000"/>
                  </a:schemeClr>
                </a:gs>
              </a:gsLst>
            </a:gradFill>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marL="0" marR="0" lvl="0" indent="0" algn="ctr" defTabSz="914400" rtl="0" eaLnBrk="1" fontAlgn="base" latinLnBrk="0" hangingPunct="1">
                <a:lnSpc>
                  <a:spcPct val="80000"/>
                </a:lnSpc>
                <a:spcBef>
                  <a:spcPct val="50000"/>
                </a:spcBef>
                <a:spcAft>
                  <a:spcPct val="0"/>
                </a:spcAft>
                <a:buClrTx/>
                <a:buSzTx/>
                <a:buFontTx/>
                <a:buNone/>
                <a:tabLst/>
                <a:defRPr/>
              </a:pPr>
              <a:r>
                <a:rPr kumimoji="1" lang="en-US" altLang="zh-CN" b="1" i="1" u="none" strike="noStrike" kern="1200" cap="none" spc="0" normalizeH="0" baseline="0" noProof="0" dirty="0">
                  <a:ln>
                    <a:noFill/>
                  </a:ln>
                  <a:solidFill>
                    <a:srgbClr val="CE3B37"/>
                  </a:solidFill>
                  <a:effectLst/>
                  <a:uLnTx/>
                  <a:uFillTx/>
                  <a:latin typeface="楷体" panose="02010609060101010101" pitchFamily="49" charset="-122"/>
                  <a:ea typeface="楷体" panose="02010609060101010101" pitchFamily="49" charset="-122"/>
                  <a:cs typeface="Consolas" pitchFamily="49" charset="0"/>
                </a:rPr>
                <a:t>x</a:t>
              </a:r>
              <a:endParaRPr kumimoji="1" lang="zh-CN" altLang="en-US" b="1" i="1" u="none" strike="noStrike" kern="1200" cap="none" spc="0" normalizeH="0" baseline="0" noProof="0" dirty="0">
                <a:ln>
                  <a:noFill/>
                </a:ln>
                <a:solidFill>
                  <a:srgbClr val="CE3B37"/>
                </a:solidFill>
                <a:effectLst/>
                <a:uLnTx/>
                <a:uFillTx/>
                <a:latin typeface="楷体" panose="02010609060101010101" pitchFamily="49" charset="-122"/>
                <a:ea typeface="楷体" panose="02010609060101010101" pitchFamily="49" charset="-122"/>
                <a:cs typeface="Consolas" pitchFamily="49" charset="0"/>
              </a:endParaRPr>
            </a:p>
          </p:txBody>
        </p:sp>
        <p:sp>
          <p:nvSpPr>
            <p:cNvPr id="6" name="Rectangle 7">
              <a:extLst>
                <a:ext uri="{FF2B5EF4-FFF2-40B4-BE49-F238E27FC236}">
                  <a16:creationId xmlns:a16="http://schemas.microsoft.com/office/drawing/2014/main" id="{CC48E5AC-D432-43FF-A777-EDA4037DDB00}"/>
                </a:ext>
              </a:extLst>
            </p:cNvPr>
            <p:cNvSpPr>
              <a:spLocks noChangeArrowheads="1"/>
            </p:cNvSpPr>
            <p:nvPr/>
          </p:nvSpPr>
          <p:spPr bwMode="auto">
            <a:xfrm>
              <a:off x="2411413" y="2924175"/>
              <a:ext cx="4176713" cy="504825"/>
            </a:xfrm>
            <a:prstGeom prst="rect">
              <a:avLst/>
            </a:prstGeom>
            <a:gradFill>
              <a:gsLst>
                <a:gs pos="0">
                  <a:srgbClr val="DFE1E0"/>
                </a:gs>
                <a:gs pos="100000">
                  <a:srgbClr val="FFFFFF"/>
                </a:gs>
              </a:gsLst>
            </a:gradFill>
            <a:ln>
              <a:solidFill>
                <a:srgbClr val="F19903"/>
              </a:solidFill>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rtl="0" eaLnBrk="1" fontAlgn="base" latinLnBrk="0" hangingPunct="1">
                <a:lnSpc>
                  <a:spcPct val="80000"/>
                </a:lnSpc>
                <a:spcBef>
                  <a:spcPct val="50000"/>
                </a:spcBef>
                <a:spcAft>
                  <a:spcPct val="0"/>
                </a:spcAft>
                <a:buClrTx/>
                <a:buSzTx/>
                <a:buFontTx/>
                <a:buNone/>
                <a:tabLst/>
                <a:defRPr/>
              </a:pPr>
              <a:r>
                <a:rPr kumimoji="1" lang="zh-CN" altLang="en-US" b="1" i="0"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cs typeface="Consolas" pitchFamily="49" charset="0"/>
                </a:rPr>
                <a:t>无序整数序列</a:t>
              </a:r>
            </a:p>
          </p:txBody>
        </p:sp>
      </p:grpSp>
      <p:grpSp>
        <p:nvGrpSpPr>
          <p:cNvPr id="7" name="组合 12">
            <a:extLst>
              <a:ext uri="{FF2B5EF4-FFF2-40B4-BE49-F238E27FC236}">
                <a16:creationId xmlns:a16="http://schemas.microsoft.com/office/drawing/2014/main" id="{61E0A164-E77D-4289-A599-FFA5B3572C7C}"/>
              </a:ext>
            </a:extLst>
          </p:cNvPr>
          <p:cNvGrpSpPr/>
          <p:nvPr/>
        </p:nvGrpSpPr>
        <p:grpSpPr>
          <a:xfrm>
            <a:off x="2199552" y="4485177"/>
            <a:ext cx="4654550" cy="1296988"/>
            <a:chOff x="1958279" y="3644900"/>
            <a:chExt cx="4654550" cy="1296988"/>
          </a:xfrm>
        </p:grpSpPr>
        <p:sp>
          <p:nvSpPr>
            <p:cNvPr id="8" name="AutoShape 8">
              <a:extLst>
                <a:ext uri="{FF2B5EF4-FFF2-40B4-BE49-F238E27FC236}">
                  <a16:creationId xmlns:a16="http://schemas.microsoft.com/office/drawing/2014/main" id="{7651699D-8D94-429F-A579-696FC366533E}"/>
                </a:ext>
              </a:extLst>
            </p:cNvPr>
            <p:cNvSpPr>
              <a:spLocks noChangeArrowheads="1"/>
            </p:cNvSpPr>
            <p:nvPr/>
          </p:nvSpPr>
          <p:spPr bwMode="auto">
            <a:xfrm>
              <a:off x="3994151" y="3644900"/>
              <a:ext cx="386653" cy="498480"/>
            </a:xfrm>
            <a:prstGeom prst="downArrow">
              <a:avLst>
                <a:gd name="adj1" fmla="val 50000"/>
                <a:gd name="adj2" fmla="val 56532"/>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marL="0" marR="0" lvl="0" indent="0" algn="ctr" defTabSz="914400" rtl="0" eaLnBrk="1" fontAlgn="base" latinLnBrk="0" hangingPunct="1">
                <a:lnSpc>
                  <a:spcPct val="80000"/>
                </a:lnSpc>
                <a:spcBef>
                  <a:spcPct val="50000"/>
                </a:spcBef>
                <a:spcAft>
                  <a:spcPct val="0"/>
                </a:spcAft>
                <a:buClrTx/>
                <a:buSzTx/>
                <a:buFontTx/>
                <a:buNone/>
                <a:tabLst/>
                <a:defRPr/>
              </a:pPr>
              <a:endParaRPr kumimoji="1" lang="zh-CN" altLang="en-US" b="1"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Consolas" pitchFamily="49" charset="0"/>
              </a:endParaRPr>
            </a:p>
          </p:txBody>
        </p:sp>
        <p:sp>
          <p:nvSpPr>
            <p:cNvPr id="9" name="Rectangle 9">
              <a:extLst>
                <a:ext uri="{FF2B5EF4-FFF2-40B4-BE49-F238E27FC236}">
                  <a16:creationId xmlns:a16="http://schemas.microsoft.com/office/drawing/2014/main" id="{AA51DC89-5B1A-403B-A0A8-391FADB50621}"/>
                </a:ext>
              </a:extLst>
            </p:cNvPr>
            <p:cNvSpPr>
              <a:spLocks noChangeArrowheads="1"/>
            </p:cNvSpPr>
            <p:nvPr/>
          </p:nvSpPr>
          <p:spPr bwMode="auto">
            <a:xfrm>
              <a:off x="1958279" y="4437063"/>
              <a:ext cx="1655763" cy="504825"/>
            </a:xfrm>
            <a:prstGeom prst="rect">
              <a:avLst/>
            </a:prstGeom>
            <a:gradFill>
              <a:gsLst>
                <a:gs pos="0">
                  <a:srgbClr val="DFE1E0"/>
                </a:gs>
                <a:gs pos="100000">
                  <a:srgbClr val="FFFFFF"/>
                </a:gs>
              </a:gsLst>
            </a:gradFill>
            <a:ln>
              <a:solidFill>
                <a:srgbClr val="F19903"/>
              </a:solidFill>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rtl="0" eaLnBrk="1" fontAlgn="base" latinLnBrk="0" hangingPunct="1">
                <a:lnSpc>
                  <a:spcPct val="80000"/>
                </a:lnSpc>
                <a:spcBef>
                  <a:spcPct val="50000"/>
                </a:spcBef>
                <a:spcAft>
                  <a:spcPct val="0"/>
                </a:spcAft>
                <a:buClrTx/>
                <a:buSzTx/>
                <a:buFontTx/>
                <a:buNone/>
                <a:tabLst/>
                <a:defRPr/>
              </a:pPr>
              <a:r>
                <a:rPr kumimoji="1" lang="zh-CN" altLang="en-US" b="1" i="0"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rPr>
                <a:t>≤</a:t>
              </a:r>
              <a:r>
                <a:rPr kumimoji="1" lang="en-US" altLang="zh-CN" b="1" i="0"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rPr>
                <a:t>x</a:t>
              </a:r>
              <a:endParaRPr kumimoji="1" lang="zh-CN" altLang="en-US" b="1" i="0"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endParaRPr>
            </a:p>
          </p:txBody>
        </p:sp>
        <p:sp>
          <p:nvSpPr>
            <p:cNvPr id="10" name="Oval 10">
              <a:extLst>
                <a:ext uri="{FF2B5EF4-FFF2-40B4-BE49-F238E27FC236}">
                  <a16:creationId xmlns:a16="http://schemas.microsoft.com/office/drawing/2014/main" id="{5D6796F6-FB0D-49EA-97E4-C9BEF5127EDA}"/>
                </a:ext>
              </a:extLst>
            </p:cNvPr>
            <p:cNvSpPr>
              <a:spLocks noChangeArrowheads="1"/>
            </p:cNvSpPr>
            <p:nvPr/>
          </p:nvSpPr>
          <p:spPr bwMode="auto">
            <a:xfrm>
              <a:off x="3829942" y="4437063"/>
              <a:ext cx="360363" cy="431800"/>
            </a:xfrm>
            <a:prstGeom prst="ellipse">
              <a:avLst/>
            </a:prstGeom>
            <a:gradFill>
              <a:gsLst>
                <a:gs pos="0">
                  <a:srgbClr val="F19903"/>
                </a:gs>
                <a:gs pos="100000">
                  <a:schemeClr val="accent6">
                    <a:lumMod val="20000"/>
                    <a:lumOff val="80000"/>
                  </a:schemeClr>
                </a:gs>
              </a:gsLst>
            </a:gradFill>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marL="0" marR="0" lvl="0" indent="0" algn="ctr" defTabSz="914400" rtl="0" eaLnBrk="1" fontAlgn="base" latinLnBrk="0" hangingPunct="1">
                <a:lnSpc>
                  <a:spcPct val="80000"/>
                </a:lnSpc>
                <a:spcBef>
                  <a:spcPct val="50000"/>
                </a:spcBef>
                <a:spcAft>
                  <a:spcPct val="0"/>
                </a:spcAft>
                <a:buClrTx/>
                <a:buSzTx/>
                <a:buFontTx/>
                <a:buNone/>
                <a:tabLst/>
                <a:defRPr/>
              </a:pPr>
              <a:r>
                <a:rPr kumimoji="1" lang="en-US" altLang="zh-CN" b="1" i="1"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cs typeface="Consolas" pitchFamily="49" charset="0"/>
                </a:rPr>
                <a:t>x</a:t>
              </a:r>
              <a:endParaRPr kumimoji="1" lang="zh-CN" altLang="en-US" b="1" i="1"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cs typeface="Consolas" pitchFamily="49" charset="0"/>
              </a:endParaRPr>
            </a:p>
          </p:txBody>
        </p:sp>
        <p:sp>
          <p:nvSpPr>
            <p:cNvPr id="11" name="Rectangle 11">
              <a:extLst>
                <a:ext uri="{FF2B5EF4-FFF2-40B4-BE49-F238E27FC236}">
                  <a16:creationId xmlns:a16="http://schemas.microsoft.com/office/drawing/2014/main" id="{1D78DA57-1648-4F5C-B980-E7AA70984E83}"/>
                </a:ext>
              </a:extLst>
            </p:cNvPr>
            <p:cNvSpPr>
              <a:spLocks noChangeArrowheads="1"/>
            </p:cNvSpPr>
            <p:nvPr/>
          </p:nvSpPr>
          <p:spPr bwMode="auto">
            <a:xfrm>
              <a:off x="4380804" y="4429125"/>
              <a:ext cx="2232025" cy="504825"/>
            </a:xfrm>
            <a:prstGeom prst="rect">
              <a:avLst/>
            </a:prstGeom>
            <a:gradFill>
              <a:gsLst>
                <a:gs pos="0">
                  <a:srgbClr val="DFE1E0"/>
                </a:gs>
                <a:gs pos="100000">
                  <a:srgbClr val="FFFFFF"/>
                </a:gs>
              </a:gsLst>
            </a:gradFill>
            <a:ln>
              <a:solidFill>
                <a:srgbClr val="F19903"/>
              </a:solidFill>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rtl="0" eaLnBrk="1" fontAlgn="base" latinLnBrk="0" hangingPunct="1">
                <a:lnSpc>
                  <a:spcPct val="80000"/>
                </a:lnSpc>
                <a:spcBef>
                  <a:spcPct val="50000"/>
                </a:spcBef>
                <a:spcAft>
                  <a:spcPct val="0"/>
                </a:spcAft>
                <a:buClrTx/>
                <a:buSzTx/>
                <a:buFontTx/>
                <a:buNone/>
                <a:tabLst/>
                <a:defRPr/>
              </a:pPr>
              <a:r>
                <a:rPr kumimoji="1" lang="en-US" altLang="zh-CN" b="1" i="0"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cs typeface="Consolas" pitchFamily="49" charset="0"/>
                </a:rPr>
                <a:t>&gt;</a:t>
              </a:r>
              <a:r>
                <a:rPr kumimoji="1" lang="en-US" altLang="zh-CN" b="1" i="1"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cs typeface="Consolas" pitchFamily="49" charset="0"/>
                </a:rPr>
                <a:t>x</a:t>
              </a:r>
              <a:endParaRPr kumimoji="1" lang="zh-CN" altLang="en-US" b="1" i="1" u="none" strike="noStrike" kern="1200" cap="none" spc="0" normalizeH="0" baseline="0" noProof="0">
                <a:ln>
                  <a:noFill/>
                </a:ln>
                <a:solidFill>
                  <a:srgbClr val="CE3B37"/>
                </a:solidFill>
                <a:effectLst/>
                <a:uLnTx/>
                <a:uFillTx/>
                <a:latin typeface="楷体" panose="02010609060101010101" pitchFamily="49" charset="-122"/>
                <a:ea typeface="楷体" panose="02010609060101010101" pitchFamily="49" charset="-122"/>
                <a:cs typeface="Consolas" pitchFamily="49" charset="0"/>
              </a:endParaRPr>
            </a:p>
          </p:txBody>
        </p:sp>
      </p:grpSp>
    </p:spTree>
    <p:extLst>
      <p:ext uri="{BB962C8B-B14F-4D97-AF65-F5344CB8AC3E}">
        <p14:creationId xmlns:p14="http://schemas.microsoft.com/office/powerpoint/2010/main" val="264541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U4MzYyZTY3OWRmZGFmYzczMjMzNmIwZTNkZDJkM2UifQ=="/>
</p:tagLst>
</file>

<file path=ppt/theme/theme1.xml><?xml version="1.0" encoding="utf-8"?>
<a:theme xmlns:a="http://schemas.openxmlformats.org/drawingml/2006/main" name="1_默认设计模板">
  <a:themeElements>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11v1j1fj">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ixel">
  <a:themeElements>
    <a:clrScheme name="">
      <a:dk1>
        <a:srgbClr val="000099"/>
      </a:dk1>
      <a:lt1>
        <a:srgbClr val="FFFFFF"/>
      </a:lt1>
      <a:dk2>
        <a:srgbClr val="CC0000"/>
      </a:dk2>
      <a:lt2>
        <a:srgbClr val="0000CC"/>
      </a:lt2>
      <a:accent1>
        <a:srgbClr val="CCFFCC"/>
      </a:accent1>
      <a:accent2>
        <a:srgbClr val="3366FF"/>
      </a:accent2>
      <a:accent3>
        <a:srgbClr val="FFFFFF"/>
      </a:accent3>
      <a:accent4>
        <a:srgbClr val="000082"/>
      </a:accent4>
      <a:accent5>
        <a:srgbClr val="E2FFE2"/>
      </a:accent5>
      <a:accent6>
        <a:srgbClr val="2D5CE7"/>
      </a:accent6>
      <a:hlink>
        <a:srgbClr val="800000"/>
      </a:hlink>
      <a:folHlink>
        <a:srgbClr val="E1E1E1"/>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99"/>
        </a:dk1>
        <a:lt1>
          <a:srgbClr val="FFFFFF"/>
        </a:lt1>
        <a:dk2>
          <a:srgbClr val="CC0000"/>
        </a:dk2>
        <a:lt2>
          <a:srgbClr val="808080"/>
        </a:lt2>
        <a:accent1>
          <a:srgbClr val="FFCC66"/>
        </a:accent1>
        <a:accent2>
          <a:srgbClr val="CC0000"/>
        </a:accent2>
        <a:accent3>
          <a:srgbClr val="FFFFFF"/>
        </a:accent3>
        <a:accent4>
          <a:srgbClr val="000082"/>
        </a:accent4>
        <a:accent5>
          <a:srgbClr val="FFE2B8"/>
        </a:accent5>
        <a:accent6>
          <a:srgbClr val="B90000"/>
        </a:accent6>
        <a:hlink>
          <a:srgbClr val="0000CC"/>
        </a:hlink>
        <a:folHlink>
          <a:srgbClr val="00CC00"/>
        </a:folHlink>
      </a:clrScheme>
      <a:clrMap bg1="lt1" tx1="dk1" bg2="lt2" tx2="dk2" accent1="accent1" accent2="accent2" accent3="accent3" accent4="accent4" accent5="accent5" accent6="accent6" hlink="hlink" folHlink="folHlink"/>
    </a:extraClrScheme>
    <a:extraClrScheme>
      <a:clrScheme name="Pixel 14">
        <a:dk1>
          <a:srgbClr val="000099"/>
        </a:dk1>
        <a:lt1>
          <a:srgbClr val="FFFFFF"/>
        </a:lt1>
        <a:dk2>
          <a:srgbClr val="CC0000"/>
        </a:dk2>
        <a:lt2>
          <a:srgbClr val="0000CC"/>
        </a:lt2>
        <a:accent1>
          <a:srgbClr val="FFCC66"/>
        </a:accent1>
        <a:accent2>
          <a:srgbClr val="CC0000"/>
        </a:accent2>
        <a:accent3>
          <a:srgbClr val="FFFFFF"/>
        </a:accent3>
        <a:accent4>
          <a:srgbClr val="000082"/>
        </a:accent4>
        <a:accent5>
          <a:srgbClr val="FFE2B8"/>
        </a:accent5>
        <a:accent6>
          <a:srgbClr val="B90000"/>
        </a:accent6>
        <a:hlink>
          <a:srgbClr val="800000"/>
        </a:hlink>
        <a:folHlink>
          <a:srgbClr val="FFCC99"/>
        </a:folHlink>
      </a:clrScheme>
      <a:clrMap bg1="lt1" tx1="dk1" bg2="lt2" tx2="dk2" accent1="accent1" accent2="accent2" accent3="accent3" accent4="accent4" accent5="accent5" accent6="accent6" hlink="hlink" folHlink="folHlink"/>
    </a:extraClrScheme>
    <a:extraClrScheme>
      <a:clrScheme name="Pixel 15">
        <a:dk1>
          <a:srgbClr val="000099"/>
        </a:dk1>
        <a:lt1>
          <a:srgbClr val="FFFFFF"/>
        </a:lt1>
        <a:dk2>
          <a:srgbClr val="CC0000"/>
        </a:dk2>
        <a:lt2>
          <a:srgbClr val="0000CC"/>
        </a:lt2>
        <a:accent1>
          <a:srgbClr val="FFCC66"/>
        </a:accent1>
        <a:accent2>
          <a:srgbClr val="99FFCC"/>
        </a:accent2>
        <a:accent3>
          <a:srgbClr val="FFFFFF"/>
        </a:accent3>
        <a:accent4>
          <a:srgbClr val="000082"/>
        </a:accent4>
        <a:accent5>
          <a:srgbClr val="FFE2B8"/>
        </a:accent5>
        <a:accent6>
          <a:srgbClr val="8AE7B9"/>
        </a:accent6>
        <a:hlink>
          <a:srgbClr val="800000"/>
        </a:hlink>
        <a:folHlink>
          <a:srgbClr val="FFCC99"/>
        </a:folHlink>
      </a:clrScheme>
      <a:clrMap bg1="lt1" tx1="dk1" bg2="lt2" tx2="dk2" accent1="accent1" accent2="accent2" accent3="accent3" accent4="accent4" accent5="accent5" accent6="accent6" hlink="hlink" folHlink="folHlink"/>
    </a:extraClrScheme>
    <a:extraClrScheme>
      <a:clrScheme name="Pixel 16">
        <a:dk1>
          <a:srgbClr val="000099"/>
        </a:dk1>
        <a:lt1>
          <a:srgbClr val="FFFFFF"/>
        </a:lt1>
        <a:dk2>
          <a:srgbClr val="CC0000"/>
        </a:dk2>
        <a:lt2>
          <a:srgbClr val="0000CC"/>
        </a:lt2>
        <a:accent1>
          <a:srgbClr val="99FFCC"/>
        </a:accent1>
        <a:accent2>
          <a:srgbClr val="99FFCC"/>
        </a:accent2>
        <a:accent3>
          <a:srgbClr val="FFFFFF"/>
        </a:accent3>
        <a:accent4>
          <a:srgbClr val="000082"/>
        </a:accent4>
        <a:accent5>
          <a:srgbClr val="CAFFE2"/>
        </a:accent5>
        <a:accent6>
          <a:srgbClr val="8AE7B9"/>
        </a:accent6>
        <a:hlink>
          <a:srgbClr val="800000"/>
        </a:hlink>
        <a:folHlink>
          <a:srgbClr val="FF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8427</TotalTime>
  <Words>4162</Words>
  <Application>Microsoft Office PowerPoint</Application>
  <PresentationFormat>全屏显示(4:3)</PresentationFormat>
  <Paragraphs>634</Paragraphs>
  <Slides>52</Slides>
  <Notes>11</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2</vt:i4>
      </vt:variant>
      <vt:variant>
        <vt:lpstr>幻灯片标题</vt:lpstr>
      </vt:variant>
      <vt:variant>
        <vt:i4>52</vt:i4>
      </vt:variant>
    </vt:vector>
  </HeadingPairs>
  <TitlesOfParts>
    <vt:vector size="70" baseType="lpstr">
      <vt:lpstr>Monotype Sorts</vt:lpstr>
      <vt:lpstr>黑体</vt:lpstr>
      <vt:lpstr>华文楷体</vt:lpstr>
      <vt:lpstr>华文新魏</vt:lpstr>
      <vt:lpstr>楷体</vt:lpstr>
      <vt:lpstr>楷体_GB2312</vt:lpstr>
      <vt:lpstr>Microsoft YaHei</vt:lpstr>
      <vt:lpstr>Arial</vt:lpstr>
      <vt:lpstr>Arial Black</vt:lpstr>
      <vt:lpstr>Comic Sans MS</vt:lpstr>
      <vt:lpstr>Consolas</vt:lpstr>
      <vt:lpstr>Courier New</vt:lpstr>
      <vt:lpstr>Times New Roman</vt:lpstr>
      <vt:lpstr>Wingdings</vt:lpstr>
      <vt:lpstr>1_默认设计模板</vt:lpstr>
      <vt:lpstr>Pixel</vt:lpstr>
      <vt:lpstr>公式</vt:lpstr>
      <vt:lpstr>Equation.3</vt:lpstr>
      <vt:lpstr>第二章 线性表 </vt:lpstr>
      <vt:lpstr>近几周上课内容</vt:lpstr>
      <vt:lpstr>目录（Contents）</vt:lpstr>
      <vt:lpstr>PowerPoint 演示文稿</vt:lpstr>
      <vt:lpstr>线性表的定义和特点</vt:lpstr>
      <vt:lpstr>线性表示例</vt:lpstr>
      <vt:lpstr>PowerPoint 演示文稿</vt:lpstr>
      <vt:lpstr>抽象数据类型线性表的定义</vt:lpstr>
      <vt:lpstr>抽象数据类型线性表的定义</vt:lpstr>
      <vt:lpstr>抽象数据类型线性表的定义</vt:lpstr>
      <vt:lpstr>线性表的其他操作</vt:lpstr>
      <vt:lpstr>例2-1 集合的并运算</vt:lpstr>
      <vt:lpstr>例2-1 集合的并运算</vt:lpstr>
      <vt:lpstr>例2-1 集合的并运算</vt:lpstr>
      <vt:lpstr>例2-1 集合的并运算</vt:lpstr>
      <vt:lpstr>例2-2 用有序表实现集合的并运算</vt:lpstr>
      <vt:lpstr>例2-2 用有序表实现集合的并运算</vt:lpstr>
      <vt:lpstr>PowerPoint 演示文稿</vt:lpstr>
      <vt:lpstr>算法时间复杂度分析</vt:lpstr>
      <vt:lpstr>课堂练习 1</vt:lpstr>
      <vt:lpstr>目录（Contents）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课堂讨论 2</vt:lpstr>
      <vt:lpstr>课堂讨论 3</vt:lpstr>
      <vt:lpstr>课堂讨论 4</vt:lpstr>
    </vt:vector>
  </TitlesOfParts>
  <Company>bjfu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c:title>
  <dc:creator>lidongmei</dc:creator>
  <cp:lastModifiedBy>Wang Qiuyue</cp:lastModifiedBy>
  <cp:revision>1373</cp:revision>
  <dcterms:created xsi:type="dcterms:W3CDTF">1996-07-15T15:40:02Z</dcterms:created>
  <dcterms:modified xsi:type="dcterms:W3CDTF">2025-09-14T12:47:56Z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2052-11.1.0.12313</vt:lpwstr>
  </property>
  <property fmtid="{D5CDD505-2E9C-101B-9397-08002B2CF9AE}" pid="3" name="ICV">
    <vt:lpwstr>21B1BE61B1D542FA80F882F1B8087B6E</vt:lpwstr>
  </property>
</Properties>
</file>