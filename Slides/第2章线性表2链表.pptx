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</p:sldMasterIdLst>
  <p:notesMasterIdLst>
    <p:notesMasterId r:id="rId62"/>
  </p:notesMasterIdLst>
  <p:handoutMasterIdLst>
    <p:handoutMasterId r:id="rId63"/>
  </p:handoutMasterIdLst>
  <p:sldIdLst>
    <p:sldId id="1207" r:id="rId3"/>
    <p:sldId id="520" r:id="rId4"/>
    <p:sldId id="606" r:id="rId5"/>
    <p:sldId id="601" r:id="rId6"/>
    <p:sldId id="605" r:id="rId7"/>
    <p:sldId id="691" r:id="rId8"/>
    <p:sldId id="604" r:id="rId9"/>
    <p:sldId id="1209" r:id="rId10"/>
    <p:sldId id="599" r:id="rId11"/>
    <p:sldId id="617" r:id="rId12"/>
    <p:sldId id="619" r:id="rId13"/>
    <p:sldId id="620" r:id="rId14"/>
    <p:sldId id="1211" r:id="rId15"/>
    <p:sldId id="818" r:id="rId16"/>
    <p:sldId id="641" r:id="rId17"/>
    <p:sldId id="1212" r:id="rId18"/>
    <p:sldId id="769" r:id="rId19"/>
    <p:sldId id="820" r:id="rId20"/>
    <p:sldId id="1210" r:id="rId21"/>
    <p:sldId id="770" r:id="rId22"/>
    <p:sldId id="647" r:id="rId23"/>
    <p:sldId id="1213" r:id="rId24"/>
    <p:sldId id="648" r:id="rId25"/>
    <p:sldId id="772" r:id="rId26"/>
    <p:sldId id="649" r:id="rId27"/>
    <p:sldId id="637" r:id="rId28"/>
    <p:sldId id="817" r:id="rId29"/>
    <p:sldId id="753" r:id="rId30"/>
    <p:sldId id="684" r:id="rId31"/>
    <p:sldId id="773" r:id="rId32"/>
    <p:sldId id="774" r:id="rId33"/>
    <p:sldId id="600" r:id="rId34"/>
    <p:sldId id="1215" r:id="rId35"/>
    <p:sldId id="1214" r:id="rId36"/>
    <p:sldId id="1231" r:id="rId37"/>
    <p:sldId id="1236" r:id="rId38"/>
    <p:sldId id="1232" r:id="rId39"/>
    <p:sldId id="1233" r:id="rId40"/>
    <p:sldId id="1234" r:id="rId41"/>
    <p:sldId id="1235" r:id="rId42"/>
    <p:sldId id="1216" r:id="rId43"/>
    <p:sldId id="775" r:id="rId44"/>
    <p:sldId id="803" r:id="rId45"/>
    <p:sldId id="804" r:id="rId46"/>
    <p:sldId id="805" r:id="rId47"/>
    <p:sldId id="806" r:id="rId48"/>
    <p:sldId id="802" r:id="rId49"/>
    <p:sldId id="800" r:id="rId50"/>
    <p:sldId id="801" r:id="rId51"/>
    <p:sldId id="1217" r:id="rId52"/>
    <p:sldId id="778" r:id="rId53"/>
    <p:sldId id="779" r:id="rId54"/>
    <p:sldId id="784" r:id="rId55"/>
    <p:sldId id="785" r:id="rId56"/>
    <p:sldId id="786" r:id="rId57"/>
    <p:sldId id="788" r:id="rId58"/>
    <p:sldId id="789" r:id="rId59"/>
    <p:sldId id="836" r:id="rId60"/>
    <p:sldId id="1218" r:id="rId61"/>
  </p:sldIdLst>
  <p:sldSz cx="9144000" cy="6858000" type="screen4x3"/>
  <p:notesSz cx="6858000" cy="9144000"/>
  <p:custDataLst>
    <p:tags r:id="rId64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2D9EB"/>
    <a:srgbClr val="A50021"/>
    <a:srgbClr val="FFFF00"/>
    <a:srgbClr val="D7D7FF"/>
    <a:srgbClr val="0066FF"/>
    <a:srgbClr val="9476B6"/>
    <a:srgbClr val="EBEBEB"/>
    <a:srgbClr val="EAEAEA"/>
    <a:srgbClr val="B8D4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1562" autoAdjust="0"/>
  </p:normalViewPr>
  <p:slideViewPr>
    <p:cSldViewPr snapToObjects="1" showGuides="1">
      <p:cViewPr varScale="1">
        <p:scale>
          <a:sx n="78" d="100"/>
          <a:sy n="78" d="100"/>
        </p:scale>
        <p:origin x="173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55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gs" Target="tags/tag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ea typeface="仿宋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2A38A7-D78D-4DF9-B239-EF7EA5511D4D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7172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单击以编辑母版文本样式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ea typeface="仿宋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9F52307-9B28-41B2-8D96-4A8282D1D992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85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" altLang="zh-CN" sz="1200" dirty="0"/>
              <a:t>14</a:t>
            </a:fld>
            <a:endParaRPr lang="" altLang="zh-CN" sz="1200" dirty="0"/>
          </a:p>
        </p:txBody>
      </p:sp>
    </p:spTree>
    <p:extLst>
      <p:ext uri="{BB962C8B-B14F-4D97-AF65-F5344CB8AC3E}">
        <p14:creationId xmlns:p14="http://schemas.microsoft.com/office/powerpoint/2010/main" val="2341174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9448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43198" y="880227"/>
            <a:ext cx="8457604" cy="5741816"/>
          </a:xfrm>
        </p:spPr>
        <p:txBody>
          <a:bodyPr/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2800"/>
            </a:lvl1pPr>
            <a:lvl2pPr marL="457200" indent="0">
              <a:lnSpc>
                <a:spcPct val="150000"/>
              </a:lnSpc>
              <a:buNone/>
              <a:defRPr sz="2400"/>
            </a:lvl2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15637" y="378030"/>
            <a:ext cx="617410" cy="174607"/>
            <a:chOff x="384175" y="480608"/>
            <a:chExt cx="348872" cy="98663"/>
          </a:xfrm>
          <a:solidFill>
            <a:schemeClr val="accent3">
              <a:lumMod val="90000"/>
            </a:schemeClr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550" y="233716"/>
            <a:ext cx="6400800" cy="4572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101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grpSp>
        <p:nvGrpSpPr>
          <p:cNvPr id="17" name="组合 16"/>
          <p:cNvGrpSpPr/>
          <p:nvPr/>
        </p:nvGrpSpPr>
        <p:grpSpPr>
          <a:xfrm>
            <a:off x="115637" y="404664"/>
            <a:ext cx="617410" cy="174607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>
            <a:extLst>
              <a:ext uri="{FF2B5EF4-FFF2-40B4-BE49-F238E27FC236}">
                <a16:creationId xmlns:a16="http://schemas.microsoft.com/office/drawing/2014/main" id="{8CAF50F0-3A55-4ADA-AA1D-9792FAE14E5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9699" name="Rectangle 3">
              <a:extLst>
                <a:ext uri="{FF2B5EF4-FFF2-40B4-BE49-F238E27FC236}">
                  <a16:creationId xmlns:a16="http://schemas.microsoft.com/office/drawing/2014/main" id="{3CA8E321-DF00-4874-877B-385BA03E129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9700" name="Rectangle 4">
              <a:extLst>
                <a:ext uri="{FF2B5EF4-FFF2-40B4-BE49-F238E27FC236}">
                  <a16:creationId xmlns:a16="http://schemas.microsoft.com/office/drawing/2014/main" id="{FD4184E0-E0DD-4579-BB7D-FE1E1AAC71A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29701" name="Group 5">
              <a:extLst>
                <a:ext uri="{FF2B5EF4-FFF2-40B4-BE49-F238E27FC236}">
                  <a16:creationId xmlns:a16="http://schemas.microsoft.com/office/drawing/2014/main" id="{AC01B30C-1D2A-4938-A483-9F823E6096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9702" name="Rectangle 6">
                <a:extLst>
                  <a:ext uri="{FF2B5EF4-FFF2-40B4-BE49-F238E27FC236}">
                    <a16:creationId xmlns:a16="http://schemas.microsoft.com/office/drawing/2014/main" id="{2054F69F-1878-4EDF-A48B-E59D89D64FE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3" name="Rectangle 7">
                <a:extLst>
                  <a:ext uri="{FF2B5EF4-FFF2-40B4-BE49-F238E27FC236}">
                    <a16:creationId xmlns:a16="http://schemas.microsoft.com/office/drawing/2014/main" id="{585B3566-4EB7-49E0-A9C1-98563F1ABE6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4" name="Rectangle 8">
                <a:extLst>
                  <a:ext uri="{FF2B5EF4-FFF2-40B4-BE49-F238E27FC236}">
                    <a16:creationId xmlns:a16="http://schemas.microsoft.com/office/drawing/2014/main" id="{6BA47FA8-F952-43B3-9165-49552E7547B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5" name="Rectangle 9">
                <a:extLst>
                  <a:ext uri="{FF2B5EF4-FFF2-40B4-BE49-F238E27FC236}">
                    <a16:creationId xmlns:a16="http://schemas.microsoft.com/office/drawing/2014/main" id="{9D408330-8C6C-4B99-960C-3173B443C8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6" name="Rectangle 10">
                <a:extLst>
                  <a:ext uri="{FF2B5EF4-FFF2-40B4-BE49-F238E27FC236}">
                    <a16:creationId xmlns:a16="http://schemas.microsoft.com/office/drawing/2014/main" id="{6DADB660-670B-43E3-B0B3-E6797782571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7" name="Rectangle 11">
                <a:extLst>
                  <a:ext uri="{FF2B5EF4-FFF2-40B4-BE49-F238E27FC236}">
                    <a16:creationId xmlns:a16="http://schemas.microsoft.com/office/drawing/2014/main" id="{21F32A29-CBB3-405F-B62F-AFCA2142A9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8" name="Rectangle 12">
                <a:extLst>
                  <a:ext uri="{FF2B5EF4-FFF2-40B4-BE49-F238E27FC236}">
                    <a16:creationId xmlns:a16="http://schemas.microsoft.com/office/drawing/2014/main" id="{BED7B892-C9DA-47F7-8DB7-0162F5E5969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9" name="Rectangle 13">
                <a:extLst>
                  <a:ext uri="{FF2B5EF4-FFF2-40B4-BE49-F238E27FC236}">
                    <a16:creationId xmlns:a16="http://schemas.microsoft.com/office/drawing/2014/main" id="{1CF2F4CA-5A16-4B2E-9649-8934827E6FE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0" name="Rectangle 14">
                <a:extLst>
                  <a:ext uri="{FF2B5EF4-FFF2-40B4-BE49-F238E27FC236}">
                    <a16:creationId xmlns:a16="http://schemas.microsoft.com/office/drawing/2014/main" id="{E44FE56F-87D5-470E-87AD-C89C43394C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1" name="Rectangle 15">
                <a:extLst>
                  <a:ext uri="{FF2B5EF4-FFF2-40B4-BE49-F238E27FC236}">
                    <a16:creationId xmlns:a16="http://schemas.microsoft.com/office/drawing/2014/main" id="{2F046A15-3B8F-43A9-B095-F7C1CF803B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9712" name="Rectangle 16">
            <a:extLst>
              <a:ext uri="{FF2B5EF4-FFF2-40B4-BE49-F238E27FC236}">
                <a16:creationId xmlns:a16="http://schemas.microsoft.com/office/drawing/2014/main" id="{67D1B36C-3839-47A5-A900-133A52291D6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9713" name="Rectangle 17">
            <a:extLst>
              <a:ext uri="{FF2B5EF4-FFF2-40B4-BE49-F238E27FC236}">
                <a16:creationId xmlns:a16="http://schemas.microsoft.com/office/drawing/2014/main" id="{0509F7D1-0841-4DCC-9FE2-AE04AD9F387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9714" name="Rectangle 18">
            <a:extLst>
              <a:ext uri="{FF2B5EF4-FFF2-40B4-BE49-F238E27FC236}">
                <a16:creationId xmlns:a16="http://schemas.microsoft.com/office/drawing/2014/main" id="{80A1332F-FCA7-48B5-9F83-5973E300D7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200" b="0">
                <a:latin typeface="Arial Black" panose="020B0A04020102020204" pitchFamily="34" charset="0"/>
                <a:ea typeface="+mn-ea"/>
              </a:defRPr>
            </a:lvl1pPr>
          </a:lstStyle>
          <a:p>
            <a:fld id="{E5309CBB-3AEB-4BD3-8A17-C01AB13CAED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9715" name="Rectangle 19">
            <a:extLst>
              <a:ext uri="{FF2B5EF4-FFF2-40B4-BE49-F238E27FC236}">
                <a16:creationId xmlns:a16="http://schemas.microsoft.com/office/drawing/2014/main" id="{8E8CB819-80A5-4466-9E73-B0A49F1077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9716" name="Rectangle 20">
            <a:extLst>
              <a:ext uri="{FF2B5EF4-FFF2-40B4-BE49-F238E27FC236}">
                <a16:creationId xmlns:a16="http://schemas.microsoft.com/office/drawing/2014/main" id="{92C074B9-A395-4156-9D56-1EC3461D11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16492592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048E9-7969-4300-BA6A-AB7F609A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1078F0-05CD-4ADF-9A07-7E85E80AF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CF52D6-C64F-4484-B872-4491C534C9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D00F02-548B-4135-9E7E-FAB4FED24F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7DFCF5C-C2A2-4C66-B481-19AC6826909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F846A2C3-D87A-417F-97B7-6D0A37C6295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0644811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E5B9B-EAD2-474C-80D9-55EDBD5B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DEB9AB-0B78-4779-B2DD-2156F4E52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F454CB-5FA3-4EE5-A663-E5F42B206E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BDDD17-3EEF-410F-AD08-0F2841DB8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61422F-630F-49A1-B5EE-888F39F5095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30C34C09-E65E-40A6-A4C3-564AF541421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990964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BF6908-2681-4A69-81B6-7F484EF5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03E58-A1D6-4DFF-B8A7-9F42B3BF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6F388D-E693-4968-8F3F-2567DCC16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FC00AB-6640-4CB8-8B95-ACA87343E4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4F2435-F14C-427A-B97F-EC0D7144A2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31931F-EF41-40CE-B503-7D416B9597B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DAA1C9-D806-430A-BD3F-C90F1F93161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1368443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85370-78EB-4017-B873-01488CBE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BFAADA-45BF-4757-B837-AB17A262A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242B3C-64ED-4CAB-AAEC-5DCA64A31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AD68A9-2257-42C5-BE0E-6B350D9FE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D4182D-0893-4FF4-8917-C7E4B519F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E19D611-22C1-4CD5-98B3-34A6582512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0070C82-9147-4D12-AE04-F72416F8B8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D5FE2A-6A0D-46F0-9A25-D63A1B86CAA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FC29BF08-1F99-4F41-9FE0-897CAFB2533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4274667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D100A-5B57-4855-8146-C6CF87D3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E59A4E8-8ACF-4115-8384-5197E01C8D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4A9A5F-FC52-48D2-AF1A-4C84D2DFE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4F561C9-FB71-4454-A9F9-B9626922A02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90ABE2-FCE1-4421-818A-7C71304F76E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4071399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DAAE7580-9D24-411F-8067-CE1FA87A8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A20B5A-2B24-441F-827C-9288EFD0D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1FF4EF-7BBD-4FA0-9747-34A363CFCF8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84933C-F8BA-4D78-8B20-AC7E97CDEB7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9601979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DAD98-0F2F-43ED-B9B8-D9BB4FA0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088B04-690B-4362-8C14-48C7BF313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6A5527-53B5-431B-94A1-540395E6C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12205B-3744-49D9-8FE7-56DF158DA2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C1708-194E-464B-A327-7D2563DDCB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77B8F39-10B7-4545-A6C0-3F0F860BA4F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918829-C0AE-484B-B38E-2B323896918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0165786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30182-45BC-4F98-8B9A-8E68F543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F2BEAD-96DE-46FB-9A5C-AE3D7EEA5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6901F3-5B60-466C-895C-D40C8DA05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48F8F-5375-459A-8CD5-32FB7BFCB9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B7A2D5-5350-4E5D-8EE4-5E291E74D0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5074B4-9195-4B33-9557-6D03CD715FC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C5420C-4B03-4E48-8D15-78B4EC17B1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5680716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2601D-8D66-4148-91AA-04A14BE1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38F4D0-70DC-4DFD-A3A5-D0403CBDA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20218F-08AA-4223-829D-1B50B3FCAA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E890FB-3E52-45DE-9DED-992E246EC6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31AE139-FCD8-49E9-AEFA-5B65DCDF169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7D1184F0-437D-45B8-BF2D-28153DE19E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9332841"/>
      </p:ext>
    </p:extLst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092409-CC5C-48C3-997B-292643DBC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0ABE33-88BC-4EE2-8363-6804A8DD6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00B62E-76DB-4459-8ED0-41FE776239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00F402-EFE4-4030-B673-02DA40FDB9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D69601-9D7C-43AD-8E1E-015C13AF9FF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E1AE1A58-1346-4E35-A034-D1C2F1FD2B8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6974373"/>
      </p:ext>
    </p:extLst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DBD91-EC1A-40D2-9866-C876A1679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8F8FAA65-1A10-4BF7-BD70-92C1323D8424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7B263A-6192-4A79-BDC8-8FCDE3A274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9E543-2961-4C47-A642-8970409216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00775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EE2D7AF-3E92-46C1-9199-DB3F303CD0D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80BE2EAB-A84B-4F08-9F09-4EB913DF9E1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1184602"/>
      </p:ext>
    </p:extLst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5570E-AAE7-4CA9-9BBE-D75B9AE9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>
            <a:extLst>
              <a:ext uri="{FF2B5EF4-FFF2-40B4-BE49-F238E27FC236}">
                <a16:creationId xmlns:a16="http://schemas.microsoft.com/office/drawing/2014/main" id="{69F0F830-8A64-4C74-B83A-8811742AEB6E}"/>
              </a:ext>
            </a:extLst>
          </p:cNvPr>
          <p:cNvSpPr>
            <a:spLocks noGrp="1"/>
          </p:cNvSpPr>
          <p:nvPr>
            <p:ph type="dgm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6245BF-E54E-4380-8C53-2103FE3972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40811D-1E6E-4F6C-AB3B-E81853771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00775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D438AE6-C331-480D-9D64-09098024A32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F6DDA6E-80B0-47AF-9E5B-F22706BE61A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7896575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/>
          </p:cNvSpPr>
          <p:nvPr>
            <p:ph type="body"/>
          </p:nvPr>
        </p:nvSpPr>
        <p:spPr>
          <a:xfrm>
            <a:off x="496888" y="1116013"/>
            <a:ext cx="8251825" cy="54721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单击以编辑母版文本样式</a:t>
            </a:r>
          </a:p>
        </p:txBody>
      </p:sp>
      <p:cxnSp>
        <p:nvCxnSpPr>
          <p:cNvPr id="1027" name="直接连接符 9"/>
          <p:cNvCxnSpPr/>
          <p:nvPr userDrawn="1"/>
        </p:nvCxn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cxnSp>
      <p:sp>
        <p:nvSpPr>
          <p:cNvPr id="10" name="矩形 9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637" y="385924"/>
            <a:ext cx="617410" cy="174607"/>
            <a:chOff x="384175" y="480608"/>
            <a:chExt cx="348872" cy="98663"/>
          </a:xfrm>
          <a:solidFill>
            <a:schemeClr val="accent3">
              <a:lumMod val="90000"/>
            </a:schemeClr>
          </a:solidFill>
        </p:grpSpPr>
        <p:sp>
          <p:nvSpPr>
            <p:cNvPr id="12" name="等腰三角形 11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等腰三角形 12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等腰三角形 13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31" name="Rectangle 2"/>
          <p:cNvSpPr>
            <a:spLocks noGrp="1"/>
          </p:cNvSpPr>
          <p:nvPr>
            <p:ph type="title"/>
          </p:nvPr>
        </p:nvSpPr>
        <p:spPr>
          <a:xfrm>
            <a:off x="844550" y="242594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" altLang="zh-CN" dirty="0"/>
              <a:t>单击以编辑</a:t>
            </a:r>
            <a:r>
              <a:rPr lang="" altLang="en-US" dirty="0"/>
              <a:t>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6" r:id="rId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9pPr>
    </p:titleStyle>
    <p:bodyStyle>
      <a:lvl1pPr indent="53848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微软雅黑" panose="020B0503020204020204" pitchFamily="3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A46C38E-1E1E-4D64-934F-7CE1F6CA869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zh-CN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5FE34E4-5EAA-43C2-A785-ACA20CF6D62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00775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fld id="{1F4AA395-A1D4-4B09-9C75-AA052D7FA1A0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28676" name="Group 4">
            <a:extLst>
              <a:ext uri="{FF2B5EF4-FFF2-40B4-BE49-F238E27FC236}">
                <a16:creationId xmlns:a16="http://schemas.microsoft.com/office/drawing/2014/main" id="{0C925DCF-12C5-4B95-9392-08B66831CCB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8677" name="Rectangle 5">
              <a:extLst>
                <a:ext uri="{FF2B5EF4-FFF2-40B4-BE49-F238E27FC236}">
                  <a16:creationId xmlns:a16="http://schemas.microsoft.com/office/drawing/2014/main" id="{7A338ACE-7AF2-4137-83FE-E24491DBD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78" name="Rectangle 6">
              <a:extLst>
                <a:ext uri="{FF2B5EF4-FFF2-40B4-BE49-F238E27FC236}">
                  <a16:creationId xmlns:a16="http://schemas.microsoft.com/office/drawing/2014/main" id="{93653F84-1782-4A00-B81C-167BEBA3C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79" name="Rectangle 7">
              <a:extLst>
                <a:ext uri="{FF2B5EF4-FFF2-40B4-BE49-F238E27FC236}">
                  <a16:creationId xmlns:a16="http://schemas.microsoft.com/office/drawing/2014/main" id="{F1A954A5-F7A0-4640-BEF0-93F5458C0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0" name="Rectangle 8">
              <a:extLst>
                <a:ext uri="{FF2B5EF4-FFF2-40B4-BE49-F238E27FC236}">
                  <a16:creationId xmlns:a16="http://schemas.microsoft.com/office/drawing/2014/main" id="{2D195F7B-269B-458F-A0EE-2C766E6C8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1" name="Rectangle 9">
              <a:extLst>
                <a:ext uri="{FF2B5EF4-FFF2-40B4-BE49-F238E27FC236}">
                  <a16:creationId xmlns:a16="http://schemas.microsoft.com/office/drawing/2014/main" id="{DFB9C109-16C6-4E42-816C-B69A23CCE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28682" name="Rectangle 10">
              <a:extLst>
                <a:ext uri="{FF2B5EF4-FFF2-40B4-BE49-F238E27FC236}">
                  <a16:creationId xmlns:a16="http://schemas.microsoft.com/office/drawing/2014/main" id="{98CC751E-7F3A-4B73-8A1C-62AE9BAD4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3" name="Rectangle 11">
              <a:extLst>
                <a:ext uri="{FF2B5EF4-FFF2-40B4-BE49-F238E27FC236}">
                  <a16:creationId xmlns:a16="http://schemas.microsoft.com/office/drawing/2014/main" id="{104DD1E0-86CE-44BA-A4C3-8DF5C9D3A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84" name="Rectangle 12">
              <a:extLst>
                <a:ext uri="{FF2B5EF4-FFF2-40B4-BE49-F238E27FC236}">
                  <a16:creationId xmlns:a16="http://schemas.microsoft.com/office/drawing/2014/main" id="{0A789231-86A8-496A-A5CB-7895349BA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28685" name="Rectangle 13">
              <a:extLst>
                <a:ext uri="{FF2B5EF4-FFF2-40B4-BE49-F238E27FC236}">
                  <a16:creationId xmlns:a16="http://schemas.microsoft.com/office/drawing/2014/main" id="{D24B3D9C-AB33-4D7F-82CC-7B005423D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28686" name="Rectangle 14">
            <a:extLst>
              <a:ext uri="{FF2B5EF4-FFF2-40B4-BE49-F238E27FC236}">
                <a16:creationId xmlns:a16="http://schemas.microsoft.com/office/drawing/2014/main" id="{49D69E84-F191-4AF1-93FC-AF67C344A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8687" name="Rectangle 15">
            <a:extLst>
              <a:ext uri="{FF2B5EF4-FFF2-40B4-BE49-F238E27FC236}">
                <a16:creationId xmlns:a16="http://schemas.microsoft.com/office/drawing/2014/main" id="{B118BF2E-8CDD-4976-A602-1FAE0C53A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688" name="Rectangle 16">
            <a:extLst>
              <a:ext uri="{FF2B5EF4-FFF2-40B4-BE49-F238E27FC236}">
                <a16:creationId xmlns:a16="http://schemas.microsoft.com/office/drawing/2014/main" id="{1670E9EC-8BD9-4ED0-AB5C-50279F4B69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400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ransition>
    <p:wipe dir="r"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9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1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2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6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8.e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线性表的类型定义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线性表的顺序表示和实现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线性表的链式表示和实现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线性链表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循环链表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双向链表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一元多项式的表示及相加</a:t>
            </a:r>
          </a:p>
        </p:txBody>
      </p:sp>
    </p:spTree>
    <p:extLst>
      <p:ext uri="{BB962C8B-B14F-4D97-AF65-F5344CB8AC3E}">
        <p14:creationId xmlns:p14="http://schemas.microsoft.com/office/powerpoint/2010/main" val="2345417583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4"/>
          <p:cNvSpPr>
            <a:spLocks noChangeArrowheads="1"/>
          </p:cNvSpPr>
          <p:nvPr/>
        </p:nvSpPr>
        <p:spPr bwMode="auto">
          <a:xfrm>
            <a:off x="836613" y="166688"/>
            <a:ext cx="7850188" cy="551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线性表的链式表示和实现</a:t>
            </a:r>
          </a:p>
        </p:txBody>
      </p:sp>
      <p:sp>
        <p:nvSpPr>
          <p:cNvPr id="377876" name="Rectangle 20"/>
          <p:cNvSpPr>
            <a:spLocks noChangeArrowheads="1"/>
          </p:cNvSpPr>
          <p:nvPr/>
        </p:nvSpPr>
        <p:spPr bwMode="auto">
          <a:xfrm>
            <a:off x="251520" y="718057"/>
            <a:ext cx="8640959" cy="501284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457200" lvl="0" indent="-457200"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用一组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任意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的存储单元存储线性表的数据元素。（这些存储单元可以连续，也可以不连续，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即</a:t>
            </a:r>
            <a:r>
              <a:rPr kumimoji="0" lang="zh-CN" altLang="en-US" sz="28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逻辑上相邻的数据元素在物理上不一定相邻。）</a:t>
            </a:r>
            <a:endParaRPr kumimoji="0" lang="en-US" altLang="zh-CN" sz="28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数据元素间的</a:t>
            </a:r>
            <a:r>
              <a:rPr lang="zh-CN" altLang="en-US" sz="280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逻辑关系是由</a:t>
            </a:r>
            <a:r>
              <a:rPr lang="zh-CN" altLang="en-US" sz="28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指针</a:t>
            </a:r>
            <a:r>
              <a:rPr lang="zh-CN" altLang="en-US" sz="280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实现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的。</a:t>
            </a:r>
            <a:endParaRPr lang="en-US" altLang="zh-CN" sz="2800" dirty="0">
              <a:latin typeface="+mn-lt"/>
              <a:ea typeface="+mn-ea"/>
              <a:cs typeface="+mn-ea"/>
              <a:sym typeface="+mn-lt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每个数据元素的存储映像称为一个</a:t>
            </a: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节点</a:t>
            </a:r>
            <a:r>
              <a:rPr kumimoji="0" lang="zh-CN" altLang="en-US" sz="28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。它包括两个域：</a:t>
            </a:r>
            <a:endParaRPr kumimoji="0" lang="en-US" altLang="zh-CN" sz="280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1200150" lvl="1" indent="-457200"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数据域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：存储数据元素本身的信息。</a:t>
            </a:r>
            <a:endParaRPr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marL="1200150" lvl="1" indent="-457200"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指针域</a:t>
            </a:r>
            <a:r>
              <a:rPr kumimoji="0" lang="zh-CN" altLang="en-US" sz="24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：存储直接后继的存储位置。</a:t>
            </a:r>
          </a:p>
        </p:txBody>
      </p:sp>
      <p:grpSp>
        <p:nvGrpSpPr>
          <p:cNvPr id="24" name="Group 29">
            <a:extLst>
              <a:ext uri="{FF2B5EF4-FFF2-40B4-BE49-F238E27FC236}">
                <a16:creationId xmlns:a16="http://schemas.microsoft.com/office/drawing/2014/main" id="{22AEFE34-C5B5-47B6-A1A2-8AA4B9A8B157}"/>
              </a:ext>
            </a:extLst>
          </p:cNvPr>
          <p:cNvGrpSpPr>
            <a:grpSpLocks/>
          </p:cNvGrpSpPr>
          <p:nvPr/>
        </p:nvGrpSpPr>
        <p:grpSpPr bwMode="auto">
          <a:xfrm>
            <a:off x="6595955" y="4849771"/>
            <a:ext cx="2304254" cy="641350"/>
            <a:chOff x="1536" y="1516"/>
            <a:chExt cx="1872" cy="404"/>
          </a:xfrm>
        </p:grpSpPr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7EA6DAE9-9728-46CC-B261-575603E1D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536"/>
              <a:ext cx="1872" cy="38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33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5">
              <a:extLst>
                <a:ext uri="{FF2B5EF4-FFF2-40B4-BE49-F238E27FC236}">
                  <a16:creationId xmlns:a16="http://schemas.microsoft.com/office/drawing/2014/main" id="{16018F7C-522A-427E-A8B1-A03ADEFF4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516"/>
              <a:ext cx="187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3200" dirty="0">
                  <a:solidFill>
                    <a:schemeClr val="accent2"/>
                  </a:solidFill>
                  <a:latin typeface="+mn-ea"/>
                  <a:ea typeface="+mn-ea"/>
                </a:rPr>
                <a:t> data  link</a:t>
              </a:r>
              <a:endParaRPr kumimoji="1" lang="en-US" altLang="zh-CN" sz="3200" dirty="0">
                <a:latin typeface="+mn-ea"/>
                <a:ea typeface="+mn-ea"/>
              </a:endParaRPr>
            </a:p>
          </p:txBody>
        </p:sp>
        <p:sp>
          <p:nvSpPr>
            <p:cNvPr id="28" name="Line 6">
              <a:extLst>
                <a:ext uri="{FF2B5EF4-FFF2-40B4-BE49-F238E27FC236}">
                  <a16:creationId xmlns:a16="http://schemas.microsoft.com/office/drawing/2014/main" id="{10F1C305-8B37-4012-8ABC-F8A3B97CB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0" y="1536"/>
              <a:ext cx="0" cy="384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93181EE-68A9-42B6-B6F8-B4ACC35D39A4}"/>
              </a:ext>
            </a:extLst>
          </p:cNvPr>
          <p:cNvGrpSpPr/>
          <p:nvPr/>
        </p:nvGrpSpPr>
        <p:grpSpPr>
          <a:xfrm>
            <a:off x="1341438" y="5982160"/>
            <a:ext cx="6840537" cy="647700"/>
            <a:chOff x="1341438" y="5982160"/>
            <a:chExt cx="6840537" cy="647700"/>
          </a:xfrm>
        </p:grpSpPr>
        <p:grpSp>
          <p:nvGrpSpPr>
            <p:cNvPr id="29" name="Group 36">
              <a:extLst>
                <a:ext uri="{FF2B5EF4-FFF2-40B4-BE49-F238E27FC236}">
                  <a16:creationId xmlns:a16="http://schemas.microsoft.com/office/drawing/2014/main" id="{9EE1F07D-DB7E-455D-B77C-9D6D3E2795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1438" y="5982160"/>
              <a:ext cx="6840537" cy="647700"/>
              <a:chOff x="431" y="2387"/>
              <a:chExt cx="4309" cy="408"/>
            </a:xfrm>
          </p:grpSpPr>
          <p:sp>
            <p:nvSpPr>
              <p:cNvPr id="30" name="Line 9">
                <a:extLst>
                  <a:ext uri="{FF2B5EF4-FFF2-40B4-BE49-F238E27FC236}">
                    <a16:creationId xmlns:a16="http://schemas.microsoft.com/office/drawing/2014/main" id="{A7358967-4112-4803-A017-9FDB4668C1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640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Rectangle 19">
                <a:extLst>
                  <a:ext uri="{FF2B5EF4-FFF2-40B4-BE49-F238E27FC236}">
                    <a16:creationId xmlns:a16="http://schemas.microsoft.com/office/drawing/2014/main" id="{E2713673-D2A9-40DB-8D5F-BF009BB8AD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2459"/>
                <a:ext cx="528" cy="336"/>
              </a:xfrm>
              <a:prstGeom prst="rect">
                <a:avLst/>
              </a:prstGeom>
              <a:solidFill>
                <a:srgbClr val="FFFFCC"/>
              </a:solidFill>
              <a:ln w="2857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2" name="Group 30">
                <a:extLst>
                  <a:ext uri="{FF2B5EF4-FFF2-40B4-BE49-F238E27FC236}">
                    <a16:creationId xmlns:a16="http://schemas.microsoft.com/office/drawing/2014/main" id="{90B0CDE1-45FE-49A4-89E6-BFB33E8FB0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7" y="2387"/>
                <a:ext cx="528" cy="408"/>
                <a:chOff x="1247" y="2364"/>
                <a:chExt cx="528" cy="408"/>
              </a:xfrm>
            </p:grpSpPr>
            <p:sp>
              <p:nvSpPr>
                <p:cNvPr id="54" name="Rectangle 7">
                  <a:extLst>
                    <a:ext uri="{FF2B5EF4-FFF2-40B4-BE49-F238E27FC236}">
                      <a16:creationId xmlns:a16="http://schemas.microsoft.com/office/drawing/2014/main" id="{C435382E-7699-4A74-98D8-FCC10B44CF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2436"/>
                  <a:ext cx="528" cy="336"/>
                </a:xfrm>
                <a:prstGeom prst="rect">
                  <a:avLst/>
                </a:prstGeom>
                <a:solidFill>
                  <a:srgbClr val="FFFFCC"/>
                </a:solidFill>
                <a:ln w="2857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Line 8">
                  <a:extLst>
                    <a:ext uri="{FF2B5EF4-FFF2-40B4-BE49-F238E27FC236}">
                      <a16:creationId xmlns:a16="http://schemas.microsoft.com/office/drawing/2014/main" id="{DAAB665D-BF39-4592-A07E-33AB8C0C23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84" y="2432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Text Box 22">
                  <a:extLst>
                    <a:ext uri="{FF2B5EF4-FFF2-40B4-BE49-F238E27FC236}">
                      <a16:creationId xmlns:a16="http://schemas.microsoft.com/office/drawing/2014/main" id="{7250AFBA-01BD-424D-A0D2-EE2762C99A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48" y="2364"/>
                  <a:ext cx="328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3200" b="1" i="1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a</a:t>
                  </a:r>
                  <a:r>
                    <a:rPr kumimoji="1" lang="en-US" altLang="zh-CN" sz="3200" b="1" baseline="-25000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1</a:t>
                  </a:r>
                  <a:endParaRPr kumimoji="1" lang="en-US" altLang="zh-CN" sz="2400">
                    <a:solidFill>
                      <a:srgbClr val="003366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" name="Group 31">
                <a:extLst>
                  <a:ext uri="{FF2B5EF4-FFF2-40B4-BE49-F238E27FC236}">
                    <a16:creationId xmlns:a16="http://schemas.microsoft.com/office/drawing/2014/main" id="{D7F47918-9E59-47DC-B870-F0C615F4A7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8" y="2398"/>
                <a:ext cx="528" cy="397"/>
                <a:chOff x="1968" y="2387"/>
                <a:chExt cx="528" cy="397"/>
              </a:xfrm>
            </p:grpSpPr>
            <p:sp>
              <p:nvSpPr>
                <p:cNvPr id="51" name="Rectangle 10">
                  <a:extLst>
                    <a:ext uri="{FF2B5EF4-FFF2-40B4-BE49-F238E27FC236}">
                      <a16:creationId xmlns:a16="http://schemas.microsoft.com/office/drawing/2014/main" id="{DDC51112-9C46-4828-AB4E-060F8AB699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2448"/>
                  <a:ext cx="528" cy="336"/>
                </a:xfrm>
                <a:prstGeom prst="rect">
                  <a:avLst/>
                </a:prstGeom>
                <a:solidFill>
                  <a:srgbClr val="FFFFCC"/>
                </a:solidFill>
                <a:ln w="2857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Line 11">
                  <a:extLst>
                    <a:ext uri="{FF2B5EF4-FFF2-40B4-BE49-F238E27FC236}">
                      <a16:creationId xmlns:a16="http://schemas.microsoft.com/office/drawing/2014/main" id="{EE794702-6A98-4EE1-85C9-13EFF7DD55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4" y="2448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Text Box 23">
                  <a:extLst>
                    <a:ext uri="{FF2B5EF4-FFF2-40B4-BE49-F238E27FC236}">
                      <a16:creationId xmlns:a16="http://schemas.microsoft.com/office/drawing/2014/main" id="{DDD81753-6F29-4B1A-941A-C35E352F63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76" y="2387"/>
                  <a:ext cx="328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3200" b="1" i="1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a</a:t>
                  </a:r>
                  <a:r>
                    <a:rPr kumimoji="1" lang="en-US" altLang="zh-CN" sz="3200" b="1" baseline="-25000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2</a:t>
                  </a:r>
                  <a:endParaRPr kumimoji="1" lang="en-US" altLang="zh-CN" sz="2400">
                    <a:solidFill>
                      <a:srgbClr val="003366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A1E51D4-4FB1-4861-8279-4E56FD9EA8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8" y="2396"/>
                <a:ext cx="528" cy="399"/>
                <a:chOff x="2688" y="2385"/>
                <a:chExt cx="528" cy="399"/>
              </a:xfrm>
            </p:grpSpPr>
            <p:grpSp>
              <p:nvGrpSpPr>
                <p:cNvPr id="47" name="Group 32">
                  <a:extLst>
                    <a:ext uri="{FF2B5EF4-FFF2-40B4-BE49-F238E27FC236}">
                      <a16:creationId xmlns:a16="http://schemas.microsoft.com/office/drawing/2014/main" id="{4889B47D-1352-4790-A47C-DEE6BD23F1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88" y="2448"/>
                  <a:ext cx="528" cy="336"/>
                  <a:chOff x="2688" y="2448"/>
                  <a:chExt cx="528" cy="336"/>
                </a:xfrm>
              </p:grpSpPr>
              <p:sp>
                <p:nvSpPr>
                  <p:cNvPr id="49" name="Rectangle 13">
                    <a:extLst>
                      <a:ext uri="{FF2B5EF4-FFF2-40B4-BE49-F238E27FC236}">
                        <a16:creationId xmlns:a16="http://schemas.microsoft.com/office/drawing/2014/main" id="{D88BB99D-9BEE-441C-B17E-37C154A47C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88" y="2448"/>
                    <a:ext cx="528" cy="336"/>
                  </a:xfrm>
                  <a:prstGeom prst="rect">
                    <a:avLst/>
                  </a:prstGeom>
                  <a:solidFill>
                    <a:srgbClr val="FFFFCC"/>
                  </a:solidFill>
                  <a:ln w="2857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" name="Line 14">
                    <a:extLst>
                      <a:ext uri="{FF2B5EF4-FFF2-40B4-BE49-F238E27FC236}">
                        <a16:creationId xmlns:a16="http://schemas.microsoft.com/office/drawing/2014/main" id="{8A3D8BF9-D9B4-46D6-BCD1-8189A8D66F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24" y="2448"/>
                    <a:ext cx="0" cy="33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8" name="Text Box 24">
                  <a:extLst>
                    <a:ext uri="{FF2B5EF4-FFF2-40B4-BE49-F238E27FC236}">
                      <a16:creationId xmlns:a16="http://schemas.microsoft.com/office/drawing/2014/main" id="{F39D1EAC-430F-4C4E-AE68-32261E6885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99" y="2385"/>
                  <a:ext cx="328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3200" b="1" i="1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a</a:t>
                  </a:r>
                  <a:r>
                    <a:rPr kumimoji="1" lang="en-US" altLang="zh-CN" sz="3200" b="1" baseline="-25000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3</a:t>
                  </a:r>
                  <a:endParaRPr kumimoji="1" lang="en-US" altLang="zh-CN" sz="2400">
                    <a:solidFill>
                      <a:srgbClr val="003366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5" name="Group 35">
                <a:extLst>
                  <a:ext uri="{FF2B5EF4-FFF2-40B4-BE49-F238E27FC236}">
                    <a16:creationId xmlns:a16="http://schemas.microsoft.com/office/drawing/2014/main" id="{670741C3-9D36-4D2B-82CA-0B8142CFE5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2398"/>
                <a:ext cx="528" cy="397"/>
                <a:chOff x="3408" y="2387"/>
                <a:chExt cx="528" cy="397"/>
              </a:xfrm>
            </p:grpSpPr>
            <p:grpSp>
              <p:nvGrpSpPr>
                <p:cNvPr id="43" name="Group 34">
                  <a:extLst>
                    <a:ext uri="{FF2B5EF4-FFF2-40B4-BE49-F238E27FC236}">
                      <a16:creationId xmlns:a16="http://schemas.microsoft.com/office/drawing/2014/main" id="{0BEFA8E9-46B1-4D92-A219-98F436C599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08" y="2448"/>
                  <a:ext cx="528" cy="336"/>
                  <a:chOff x="3408" y="2448"/>
                  <a:chExt cx="528" cy="336"/>
                </a:xfrm>
              </p:grpSpPr>
              <p:sp>
                <p:nvSpPr>
                  <p:cNvPr id="45" name="Rectangle 16">
                    <a:extLst>
                      <a:ext uri="{FF2B5EF4-FFF2-40B4-BE49-F238E27FC236}">
                        <a16:creationId xmlns:a16="http://schemas.microsoft.com/office/drawing/2014/main" id="{AC36B7C7-1ACD-4E9F-A171-4C76673332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08" y="2448"/>
                    <a:ext cx="528" cy="336"/>
                  </a:xfrm>
                  <a:prstGeom prst="rect">
                    <a:avLst/>
                  </a:prstGeom>
                  <a:solidFill>
                    <a:srgbClr val="FFFFCC"/>
                  </a:solidFill>
                  <a:ln w="2857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" name="Line 17">
                    <a:extLst>
                      <a:ext uri="{FF2B5EF4-FFF2-40B4-BE49-F238E27FC236}">
                        <a16:creationId xmlns:a16="http://schemas.microsoft.com/office/drawing/2014/main" id="{6B5CAB01-6FB9-4AED-B641-21FE326EFF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744" y="2448"/>
                    <a:ext cx="0" cy="33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4" name="Text Box 25">
                  <a:extLst>
                    <a:ext uri="{FF2B5EF4-FFF2-40B4-BE49-F238E27FC236}">
                      <a16:creationId xmlns:a16="http://schemas.microsoft.com/office/drawing/2014/main" id="{6D6C073A-D39B-4796-88CB-9BAA243BD0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16" y="2387"/>
                  <a:ext cx="328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3200" b="1" i="1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a</a:t>
                  </a:r>
                  <a:r>
                    <a:rPr kumimoji="1" lang="en-US" altLang="zh-CN" sz="3200" b="1" baseline="-25000">
                      <a:solidFill>
                        <a:srgbClr val="003366"/>
                      </a:solidFill>
                      <a:latin typeface="Times New Roman" panose="02020603050405020304" pitchFamily="18" charset="0"/>
                    </a:rPr>
                    <a:t>4</a:t>
                  </a:r>
                  <a:endParaRPr kumimoji="1" lang="en-US" altLang="zh-CN" sz="2400">
                    <a:solidFill>
                      <a:srgbClr val="003366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" name="Text Box 26">
                <a:extLst>
                  <a:ext uri="{FF2B5EF4-FFF2-40B4-BE49-F238E27FC236}">
                    <a16:creationId xmlns:a16="http://schemas.microsoft.com/office/drawing/2014/main" id="{382A45AB-C7D9-44D7-AB69-7BC4E3C2D7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62" y="2387"/>
                <a:ext cx="32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3200" b="1" i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kumimoji="1" lang="en-US" altLang="zh-CN" sz="3200" b="1" baseline="-2500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5</a:t>
                </a:r>
                <a:endParaRPr kumimoji="1" lang="en-US" altLang="zh-CN" sz="240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" name="Text Box 27">
                <a:extLst>
                  <a:ext uri="{FF2B5EF4-FFF2-40B4-BE49-F238E27FC236}">
                    <a16:creationId xmlns:a16="http://schemas.microsoft.com/office/drawing/2014/main" id="{184CE9F0-BD35-43BF-A328-06DB83EA6B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1" y="2455"/>
                <a:ext cx="3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>
                    <a:solidFill>
                      <a:schemeClr val="accent2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∧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" name="Text Box 28">
                <a:extLst>
                  <a:ext uri="{FF2B5EF4-FFF2-40B4-BE49-F238E27FC236}">
                    <a16:creationId xmlns:a16="http://schemas.microsoft.com/office/drawing/2014/main" id="{C44C0643-CD14-47FE-BE50-BC6112208D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2432"/>
                <a:ext cx="516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3000" b="1" i="1" dirty="0">
                    <a:solidFill>
                      <a:srgbClr val="CC3300"/>
                    </a:solidFill>
                    <a:latin typeface="Times New Roman" panose="02020603050405020304" pitchFamily="18" charset="0"/>
                  </a:rPr>
                  <a:t>first</a:t>
                </a:r>
                <a:endParaRPr kumimoji="1" lang="en-US" altLang="zh-CN" sz="3000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" name="Line 12">
                <a:extLst>
                  <a:ext uri="{FF2B5EF4-FFF2-40B4-BE49-F238E27FC236}">
                    <a16:creationId xmlns:a16="http://schemas.microsoft.com/office/drawing/2014/main" id="{AA6F1B9F-3FFA-40D8-B46E-0C1540BEDE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640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Line 15">
                <a:extLst>
                  <a:ext uri="{FF2B5EF4-FFF2-40B4-BE49-F238E27FC236}">
                    <a16:creationId xmlns:a16="http://schemas.microsoft.com/office/drawing/2014/main" id="{97737C1D-3D99-45DC-BEE7-AA6751E759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640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Line 18">
                <a:extLst>
                  <a:ext uri="{FF2B5EF4-FFF2-40B4-BE49-F238E27FC236}">
                    <a16:creationId xmlns:a16="http://schemas.microsoft.com/office/drawing/2014/main" id="{32C11D8F-308A-4680-AA5D-B0E8ACA84A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40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" name="Line 21">
                <a:extLst>
                  <a:ext uri="{FF2B5EF4-FFF2-40B4-BE49-F238E27FC236}">
                    <a16:creationId xmlns:a16="http://schemas.microsoft.com/office/drawing/2014/main" id="{04724343-4E90-49A3-8DF8-6A82B4351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40"/>
                <a:ext cx="314" cy="1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7" name="Line 17">
              <a:extLst>
                <a:ext uri="{FF2B5EF4-FFF2-40B4-BE49-F238E27FC236}">
                  <a16:creationId xmlns:a16="http://schemas.microsoft.com/office/drawing/2014/main" id="{C14225A4-FBF5-4556-AB9E-319B07CC3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2864" y="6093296"/>
              <a:ext cx="0" cy="5334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836613" y="166688"/>
            <a:ext cx="7850188" cy="610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单链表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的存储映像</a:t>
            </a:r>
          </a:p>
        </p:txBody>
      </p:sp>
      <p:grpSp>
        <p:nvGrpSpPr>
          <p:cNvPr id="38" name="Group 35">
            <a:extLst>
              <a:ext uri="{FF2B5EF4-FFF2-40B4-BE49-F238E27FC236}">
                <a16:creationId xmlns:a16="http://schemas.microsoft.com/office/drawing/2014/main" id="{652C376A-654E-4C27-8C09-E388E76280AA}"/>
              </a:ext>
            </a:extLst>
          </p:cNvPr>
          <p:cNvGrpSpPr>
            <a:grpSpLocks/>
          </p:cNvGrpSpPr>
          <p:nvPr/>
        </p:nvGrpSpPr>
        <p:grpSpPr bwMode="auto">
          <a:xfrm>
            <a:off x="467544" y="1598895"/>
            <a:ext cx="8208912" cy="4579428"/>
            <a:chOff x="465" y="1056"/>
            <a:chExt cx="4815" cy="2380"/>
          </a:xfrm>
        </p:grpSpPr>
        <p:sp>
          <p:nvSpPr>
            <p:cNvPr id="39" name="Rectangle 3">
              <a:extLst>
                <a:ext uri="{FF2B5EF4-FFF2-40B4-BE49-F238E27FC236}">
                  <a16:creationId xmlns:a16="http://schemas.microsoft.com/office/drawing/2014/main" id="{6FF0C6BC-4B06-4A6C-9916-7F7E69932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056"/>
              <a:ext cx="4752" cy="38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4">
              <a:extLst>
                <a:ext uri="{FF2B5EF4-FFF2-40B4-BE49-F238E27FC236}">
                  <a16:creationId xmlns:a16="http://schemas.microsoft.com/office/drawing/2014/main" id="{62E1D06C-D326-4239-9BBF-2EBF6DEDF0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1488"/>
              <a:ext cx="0" cy="24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Text Box 5">
              <a:extLst>
                <a:ext uri="{FF2B5EF4-FFF2-40B4-BE49-F238E27FC236}">
                  <a16:creationId xmlns:a16="http://schemas.microsoft.com/office/drawing/2014/main" id="{B328F2F4-45B3-44C5-9A32-0F126E80E1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" y="1710"/>
              <a:ext cx="4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free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42" name="Text Box 6">
              <a:extLst>
                <a:ext uri="{FF2B5EF4-FFF2-40B4-BE49-F238E27FC236}">
                  <a16:creationId xmlns:a16="http://schemas.microsoft.com/office/drawing/2014/main" id="{5C919E4F-6E17-4BF2-BCED-C420CE610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9" y="1523"/>
              <a:ext cx="188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solidFill>
                    <a:schemeClr val="accent2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(a) </a:t>
              </a:r>
              <a:r>
                <a:rPr kumimoji="1" lang="zh-CN" altLang="zh-CN" dirty="0">
                  <a:solidFill>
                    <a:schemeClr val="accent2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可利用存储空间</a:t>
              </a:r>
              <a:endParaRPr kumimoji="1" lang="zh-CN" altLang="en-US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3" name="Rectangle 7">
              <a:extLst>
                <a:ext uri="{FF2B5EF4-FFF2-40B4-BE49-F238E27FC236}">
                  <a16:creationId xmlns:a16="http://schemas.microsoft.com/office/drawing/2014/main" id="{68C2ABBB-A373-444C-99D3-86F0DAD09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112"/>
              <a:ext cx="4752" cy="38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Rectangle 8">
              <a:extLst>
                <a:ext uri="{FF2B5EF4-FFF2-40B4-BE49-F238E27FC236}">
                  <a16:creationId xmlns:a16="http://schemas.microsoft.com/office/drawing/2014/main" id="{DCF3C154-9BE5-4195-9D76-3E76877B4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112"/>
              <a:ext cx="432" cy="384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Rectangle 9">
              <a:extLst>
                <a:ext uri="{FF2B5EF4-FFF2-40B4-BE49-F238E27FC236}">
                  <a16:creationId xmlns:a16="http://schemas.microsoft.com/office/drawing/2014/main" id="{C50C4FE4-E90F-4DCB-A470-178D31B11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112"/>
              <a:ext cx="432" cy="384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Rectangle 10">
              <a:extLst>
                <a:ext uri="{FF2B5EF4-FFF2-40B4-BE49-F238E27FC236}">
                  <a16:creationId xmlns:a16="http://schemas.microsoft.com/office/drawing/2014/main" id="{F60EE8AC-D8DB-468B-9F66-ADFDFB94D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112"/>
              <a:ext cx="432" cy="384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Rectangle 11">
              <a:extLst>
                <a:ext uri="{FF2B5EF4-FFF2-40B4-BE49-F238E27FC236}">
                  <a16:creationId xmlns:a16="http://schemas.microsoft.com/office/drawing/2014/main" id="{449C390D-64BD-491B-B32F-0C69EB05E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12"/>
              <a:ext cx="432" cy="384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12">
              <a:extLst>
                <a:ext uri="{FF2B5EF4-FFF2-40B4-BE49-F238E27FC236}">
                  <a16:creationId xmlns:a16="http://schemas.microsoft.com/office/drawing/2014/main" id="{B81CFDAA-9A18-43C6-95B3-9E929C02C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11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Text Box 13">
              <a:extLst>
                <a:ext uri="{FF2B5EF4-FFF2-40B4-BE49-F238E27FC236}">
                  <a16:creationId xmlns:a16="http://schemas.microsoft.com/office/drawing/2014/main" id="{F13408C8-A861-4222-8F88-2BA45D81C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92"/>
              <a:ext cx="400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3000" b="1" i="1">
                  <a:solidFill>
                    <a:srgbClr val="003366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3000" b="1" baseline="-25000">
                  <a:solidFill>
                    <a:srgbClr val="003366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3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Text Box 14">
              <a:extLst>
                <a:ext uri="{FF2B5EF4-FFF2-40B4-BE49-F238E27FC236}">
                  <a16:creationId xmlns:a16="http://schemas.microsoft.com/office/drawing/2014/main" id="{9686EB11-700A-422B-93CE-A83339033C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092"/>
              <a:ext cx="35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3000" b="1" i="1">
                  <a:solidFill>
                    <a:srgbClr val="003366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3000" b="1" baseline="-25000">
                  <a:solidFill>
                    <a:srgbClr val="003366"/>
                  </a:solidFill>
                  <a:latin typeface="Times New Roman" panose="02020603050405020304" pitchFamily="18" charset="0"/>
                </a:rPr>
                <a:t>3</a:t>
              </a:r>
              <a:endParaRPr kumimoji="1" lang="en-US" altLang="zh-CN" sz="3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Text Box 15">
              <a:extLst>
                <a:ext uri="{FF2B5EF4-FFF2-40B4-BE49-F238E27FC236}">
                  <a16:creationId xmlns:a16="http://schemas.microsoft.com/office/drawing/2014/main" id="{0EDC253C-AE7E-4686-AFC9-20464F560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086"/>
              <a:ext cx="33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3000" b="1" i="1">
                  <a:solidFill>
                    <a:srgbClr val="003366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3000" b="1" baseline="-25000">
                  <a:solidFill>
                    <a:srgbClr val="003366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3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Text Box 16">
              <a:extLst>
                <a:ext uri="{FF2B5EF4-FFF2-40B4-BE49-F238E27FC236}">
                  <a16:creationId xmlns:a16="http://schemas.microsoft.com/office/drawing/2014/main" id="{60D104C3-3A66-4D94-A437-04A148E24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0" y="2092"/>
              <a:ext cx="33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3000" b="1" i="1">
                  <a:solidFill>
                    <a:srgbClr val="003366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3000" b="1" baseline="-25000">
                  <a:solidFill>
                    <a:srgbClr val="003366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300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" name="Line 17">
              <a:extLst>
                <a:ext uri="{FF2B5EF4-FFF2-40B4-BE49-F238E27FC236}">
                  <a16:creationId xmlns:a16="http://schemas.microsoft.com/office/drawing/2014/main" id="{AD790DC1-CB51-443E-9E2A-A2ABE3364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11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18">
              <a:extLst>
                <a:ext uri="{FF2B5EF4-FFF2-40B4-BE49-F238E27FC236}">
                  <a16:creationId xmlns:a16="http://schemas.microsoft.com/office/drawing/2014/main" id="{CF199AEA-BC05-4285-A370-631343DF34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11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19">
              <a:extLst>
                <a:ext uri="{FF2B5EF4-FFF2-40B4-BE49-F238E27FC236}">
                  <a16:creationId xmlns:a16="http://schemas.microsoft.com/office/drawing/2014/main" id="{3EA19E02-329E-4374-838D-F86D494E1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11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Text Box 20">
              <a:extLst>
                <a:ext uri="{FF2B5EF4-FFF2-40B4-BE49-F238E27FC236}">
                  <a16:creationId xmlns:a16="http://schemas.microsoft.com/office/drawing/2014/main" id="{48E16745-D5F3-461B-8DBC-CC627AF89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8" y="2160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>
                  <a:solidFill>
                    <a:schemeClr val="accent2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∧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57" name="Line 21">
              <a:extLst>
                <a:ext uri="{FF2B5EF4-FFF2-40B4-BE49-F238E27FC236}">
                  <a16:creationId xmlns:a16="http://schemas.microsoft.com/office/drawing/2014/main" id="{FD858C30-85DF-412D-8F69-E16BC91B9B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2544"/>
              <a:ext cx="0" cy="31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22">
              <a:extLst>
                <a:ext uri="{FF2B5EF4-FFF2-40B4-BE49-F238E27FC236}">
                  <a16:creationId xmlns:a16="http://schemas.microsoft.com/office/drawing/2014/main" id="{1478CB12-B554-41BB-ADEB-8278884003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544"/>
              <a:ext cx="0" cy="24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Text Box 23">
              <a:extLst>
                <a:ext uri="{FF2B5EF4-FFF2-40B4-BE49-F238E27FC236}">
                  <a16:creationId xmlns:a16="http://schemas.microsoft.com/office/drawing/2014/main" id="{7C764F99-9670-4792-8404-FF9F556B8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5" y="2766"/>
              <a:ext cx="4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free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60" name="Text Box 24">
              <a:extLst>
                <a:ext uri="{FF2B5EF4-FFF2-40B4-BE49-F238E27FC236}">
                  <a16:creationId xmlns:a16="http://schemas.microsoft.com/office/drawing/2014/main" id="{37477CB6-1FC3-49C6-A896-1FF9E9B8BB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857"/>
              <a:ext cx="530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head</a:t>
              </a:r>
              <a:endParaRPr kumimoji="1"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Line 25">
              <a:extLst>
                <a:ext uri="{FF2B5EF4-FFF2-40B4-BE49-F238E27FC236}">
                  <a16:creationId xmlns:a16="http://schemas.microsoft.com/office/drawing/2014/main" id="{F9539F2F-4928-4A70-A675-D3085AC6F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304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26">
              <a:extLst>
                <a:ext uri="{FF2B5EF4-FFF2-40B4-BE49-F238E27FC236}">
                  <a16:creationId xmlns:a16="http://schemas.microsoft.com/office/drawing/2014/main" id="{2C245123-C3B2-447F-9EF0-EB254068AE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2544"/>
              <a:ext cx="0" cy="19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27">
              <a:extLst>
                <a:ext uri="{FF2B5EF4-FFF2-40B4-BE49-F238E27FC236}">
                  <a16:creationId xmlns:a16="http://schemas.microsoft.com/office/drawing/2014/main" id="{3F48995D-81C3-4915-BD23-35EF70E66D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2736"/>
              <a:ext cx="158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28">
              <a:extLst>
                <a:ext uri="{FF2B5EF4-FFF2-40B4-BE49-F238E27FC236}">
                  <a16:creationId xmlns:a16="http://schemas.microsoft.com/office/drawing/2014/main" id="{D40CBD9F-895C-401A-8763-876EA8432D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304"/>
              <a:ext cx="0" cy="57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29">
              <a:extLst>
                <a:ext uri="{FF2B5EF4-FFF2-40B4-BE49-F238E27FC236}">
                  <a16:creationId xmlns:a16="http://schemas.microsoft.com/office/drawing/2014/main" id="{1AEB0371-0D84-490F-A16A-D567A088A8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2880"/>
              <a:ext cx="144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30">
              <a:extLst>
                <a:ext uri="{FF2B5EF4-FFF2-40B4-BE49-F238E27FC236}">
                  <a16:creationId xmlns:a16="http://schemas.microsoft.com/office/drawing/2014/main" id="{08D05901-0B6A-4314-99E5-DAA671375F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2544"/>
              <a:ext cx="0" cy="3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31">
              <a:extLst>
                <a:ext uri="{FF2B5EF4-FFF2-40B4-BE49-F238E27FC236}">
                  <a16:creationId xmlns:a16="http://schemas.microsoft.com/office/drawing/2014/main" id="{C25A540F-D117-40DD-A942-C8B1B18178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304"/>
              <a:ext cx="0" cy="72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32">
              <a:extLst>
                <a:ext uri="{FF2B5EF4-FFF2-40B4-BE49-F238E27FC236}">
                  <a16:creationId xmlns:a16="http://schemas.microsoft.com/office/drawing/2014/main" id="{B892CDCF-0D81-4299-A012-E52E2CF98C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3024"/>
              <a:ext cx="1584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33">
              <a:extLst>
                <a:ext uri="{FF2B5EF4-FFF2-40B4-BE49-F238E27FC236}">
                  <a16:creationId xmlns:a16="http://schemas.microsoft.com/office/drawing/2014/main" id="{E04D753D-136B-4441-BD0D-C62111A719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2544"/>
              <a:ext cx="0" cy="48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Text Box 34">
              <a:extLst>
                <a:ext uri="{FF2B5EF4-FFF2-40B4-BE49-F238E27FC236}">
                  <a16:creationId xmlns:a16="http://schemas.microsoft.com/office/drawing/2014/main" id="{03C11DC6-45B8-4A85-97CC-594C2DD56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1" y="3164"/>
              <a:ext cx="315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solidFill>
                    <a:schemeClr val="accent2"/>
                  </a:solidFill>
                  <a:ea typeface="仿宋_GB2312" pitchFamily="49" charset="-122"/>
                </a:rPr>
                <a:t>(b) </a:t>
              </a:r>
              <a:r>
                <a:rPr kumimoji="1" lang="zh-CN" altLang="zh-CN" dirty="0">
                  <a:solidFill>
                    <a:schemeClr val="accent2"/>
                  </a:solidFill>
                  <a:latin typeface="隶书" panose="02010509060101010101" pitchFamily="49" charset="-122"/>
                  <a:ea typeface="仿宋_GB2312" pitchFamily="49" charset="-122"/>
                </a:rPr>
                <a:t>经过一段运行后的单链表结构</a:t>
              </a:r>
              <a:endParaRPr kumimoji="1" lang="zh-CN" altLang="en-US" dirty="0">
                <a:ea typeface="仿宋_GB2312" pitchFamily="49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790575" y="188640"/>
            <a:ext cx="7005117" cy="530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示例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-26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个英文字母表的链式存储结构</a:t>
            </a:r>
          </a:p>
        </p:txBody>
      </p:sp>
      <p:sp>
        <p:nvSpPr>
          <p:cNvPr id="50" name="Rectangle 2">
            <a:extLst>
              <a:ext uri="{FF2B5EF4-FFF2-40B4-BE49-F238E27FC236}">
                <a16:creationId xmlns:a16="http://schemas.microsoft.com/office/drawing/2014/main" id="{62429292-DDCF-432B-8C52-770603ADF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62" y="3943267"/>
            <a:ext cx="184731" cy="44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楷体_GB2312" pitchFamily="49" charset="-122"/>
              <a:cs typeface="Consolas" pitchFamily="49" charset="0"/>
            </a:endParaRPr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A30E5A84-D70A-40E2-A8BD-6E35C593C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1257" y="996950"/>
            <a:ext cx="4337322" cy="177819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线性表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3200" b="1" i="1" dirty="0">
                <a:solidFill>
                  <a:srgbClr val="FF0000"/>
                </a:solidFill>
                <a:latin typeface="Consolas" panose="020B0609020204030204" pitchFamily="49" charset="0"/>
                <a:ea typeface="楷体" pitchFamily="49" charset="-122"/>
                <a:cs typeface="Consolas" pitchFamily="49" charset="0"/>
              </a:rPr>
              <a:t>b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楷体" pitchFamily="49" charset="-122"/>
                <a:cs typeface="Consolas" pitchFamily="49" charset="0"/>
              </a:rPr>
              <a:t>c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楷体" pitchFamily="49" charset="-122"/>
                <a:cs typeface="Consolas" pitchFamily="49" charset="0"/>
              </a:rPr>
              <a:t>,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Consolas" pitchFamily="49" charset="0"/>
              </a:rPr>
              <a:t>…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3200" b="1" i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itchFamily="49" charset="0"/>
              </a:rPr>
              <a:t>y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楷体" pitchFamily="49" charset="-122"/>
                <a:cs typeface="Consolas" pitchFamily="49" charset="0"/>
              </a:rPr>
              <a:t>z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楷体" pitchFamily="49" charset="-122"/>
                <a:cs typeface="Consolas" pitchFamily="49" charset="0"/>
              </a:rPr>
              <a:t>)</a:t>
            </a:r>
          </a:p>
        </p:txBody>
      </p:sp>
      <p:sp>
        <p:nvSpPr>
          <p:cNvPr id="52" name="AutoShape 4">
            <a:extLst>
              <a:ext uri="{FF2B5EF4-FFF2-40B4-BE49-F238E27FC236}">
                <a16:creationId xmlns:a16="http://schemas.microsoft.com/office/drawing/2014/main" id="{9A818B39-54CE-46D3-BC87-9E27CDBC2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0532" y="3052960"/>
            <a:ext cx="539749" cy="863600"/>
          </a:xfrm>
          <a:prstGeom prst="downArrow">
            <a:avLst>
              <a:gd name="adj1" fmla="val 50000"/>
              <a:gd name="adj2" fmla="val 59912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宋体" panose="02010600030101010101" pitchFamily="2" charset="-122"/>
              <a:cs typeface="Consolas" pitchFamily="49" charset="0"/>
            </a:endParaRPr>
          </a:p>
        </p:txBody>
      </p:sp>
      <p:sp>
        <p:nvSpPr>
          <p:cNvPr id="53" name="Text Box 5">
            <a:extLst>
              <a:ext uri="{FF2B5EF4-FFF2-40B4-BE49-F238E27FC236}">
                <a16:creationId xmlns:a16="http://schemas.microsoft.com/office/drawing/2014/main" id="{C1A68A0E-6F41-4CB0-9D4E-A6353DEBD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4261" y="3165725"/>
            <a:ext cx="993788" cy="43704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映射</a:t>
            </a:r>
          </a:p>
        </p:txBody>
      </p:sp>
      <p:sp>
        <p:nvSpPr>
          <p:cNvPr id="54" name="Rectangle 6">
            <a:extLst>
              <a:ext uri="{FF2B5EF4-FFF2-40B4-BE49-F238E27FC236}">
                <a16:creationId xmlns:a16="http://schemas.microsoft.com/office/drawing/2014/main" id="{6D4996D2-723D-47BF-ACE6-6882B7B80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7680" y="4268991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kumimoji="1" lang="en-US" altLang="zh-CN" b="1" i="1" dirty="0">
                <a:solidFill>
                  <a:srgbClr val="FF0000"/>
                </a:solidFill>
                <a:latin typeface="Consolas" pitchFamily="49" charset="0"/>
                <a:ea typeface="宋体" panose="02010600030101010101" pitchFamily="2" charset="-122"/>
              </a:rPr>
              <a:t>a</a:t>
            </a:r>
            <a:endParaRPr kumimoji="1" lang="zh-CN" altLang="zh-CN" b="1" i="1" dirty="0">
              <a:solidFill>
                <a:srgbClr val="FF0000"/>
              </a:solidFill>
              <a:latin typeface="Consolas" pitchFamily="49" charset="0"/>
              <a:ea typeface="宋体" panose="02010600030101010101" pitchFamily="2" charset="-122"/>
            </a:endParaRPr>
          </a:p>
        </p:txBody>
      </p:sp>
      <p:sp>
        <p:nvSpPr>
          <p:cNvPr id="55" name="Rectangle 7">
            <a:extLst>
              <a:ext uri="{FF2B5EF4-FFF2-40B4-BE49-F238E27FC236}">
                <a16:creationId xmlns:a16="http://schemas.microsoft.com/office/drawing/2014/main" id="{5C1E8F58-5033-4EE3-BA6F-0805AFAE4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017" y="4268991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endParaRPr kumimoji="1" lang="zh-CN" altLang="zh-CN" b="1" baseline="-25000">
              <a:solidFill>
                <a:prstClr val="black"/>
              </a:solidFill>
              <a:latin typeface="Consolas" pitchFamily="49" charset="0"/>
              <a:ea typeface="宋体" panose="02010600030101010101" pitchFamily="2" charset="-122"/>
            </a:endParaRPr>
          </a:p>
        </p:txBody>
      </p:sp>
      <p:sp>
        <p:nvSpPr>
          <p:cNvPr id="56" name="Text Box 25">
            <a:extLst>
              <a:ext uri="{FF2B5EF4-FFF2-40B4-BE49-F238E27FC236}">
                <a16:creationId xmlns:a16="http://schemas.microsoft.com/office/drawing/2014/main" id="{5BB08BEA-31BA-448D-B6CC-BF54260AD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8" y="2321455"/>
            <a:ext cx="1728787" cy="43704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逻辑结构</a:t>
            </a:r>
          </a:p>
        </p:txBody>
      </p:sp>
      <p:sp>
        <p:nvSpPr>
          <p:cNvPr id="57" name="Text Box 26">
            <a:extLst>
              <a:ext uri="{FF2B5EF4-FFF2-40B4-BE49-F238E27FC236}">
                <a16:creationId xmlns:a16="http://schemas.microsoft.com/office/drawing/2014/main" id="{48E24737-ECB6-46ED-B693-40A8D9A54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5" y="4268991"/>
            <a:ext cx="1728787" cy="43704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存储结构</a:t>
            </a:r>
          </a:p>
        </p:txBody>
      </p:sp>
      <p:sp>
        <p:nvSpPr>
          <p:cNvPr id="58" name="AutoShape 27">
            <a:extLst>
              <a:ext uri="{FF2B5EF4-FFF2-40B4-BE49-F238E27FC236}">
                <a16:creationId xmlns:a16="http://schemas.microsoft.com/office/drawing/2014/main" id="{92ED4323-5A09-4FCE-8238-E19B8977D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42" y="2981523"/>
            <a:ext cx="431800" cy="935037"/>
          </a:xfrm>
          <a:prstGeom prst="downArrow">
            <a:avLst>
              <a:gd name="adj1" fmla="val 50000"/>
              <a:gd name="adj2" fmla="val 108272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宋体" panose="02010600030101010101" pitchFamily="2" charset="-122"/>
              <a:cs typeface="Consolas" pitchFamily="49" charset="0"/>
            </a:endParaRPr>
          </a:p>
        </p:txBody>
      </p:sp>
      <p:sp>
        <p:nvSpPr>
          <p:cNvPr id="59" name="Rectangle 28">
            <a:extLst>
              <a:ext uri="{FF2B5EF4-FFF2-40B4-BE49-F238E27FC236}">
                <a16:creationId xmlns:a16="http://schemas.microsoft.com/office/drawing/2014/main" id="{B22769D5-43CF-4CB6-A9F9-37AC31614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105" y="4268991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rPr>
              <a:t>b</a:t>
            </a:r>
            <a:endParaRPr kumimoji="1" lang="en-US" altLang="zh-CN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itchFamily="49" charset="0"/>
              <a:ea typeface="宋体" panose="02010600030101010101" pitchFamily="2" charset="-122"/>
              <a:cs typeface="Consolas" pitchFamily="49" charset="0"/>
            </a:endParaRPr>
          </a:p>
        </p:txBody>
      </p:sp>
      <p:sp>
        <p:nvSpPr>
          <p:cNvPr id="60" name="Rectangle 29">
            <a:extLst>
              <a:ext uri="{FF2B5EF4-FFF2-40B4-BE49-F238E27FC236}">
                <a16:creationId xmlns:a16="http://schemas.microsoft.com/office/drawing/2014/main" id="{9C3D8A33-DEB2-4904-ABC1-B2CE383B8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442" y="4268991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b="1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宋体" panose="02010600030101010101" pitchFamily="2" charset="-122"/>
              <a:cs typeface="Consolas" pitchFamily="49" charset="0"/>
            </a:endParaRPr>
          </a:p>
        </p:txBody>
      </p:sp>
      <p:sp>
        <p:nvSpPr>
          <p:cNvPr id="61" name="Rectangle 30">
            <a:extLst>
              <a:ext uri="{FF2B5EF4-FFF2-40B4-BE49-F238E27FC236}">
                <a16:creationId xmlns:a16="http://schemas.microsoft.com/office/drawing/2014/main" id="{56360878-B1B1-4464-8952-C907549FC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380" y="4268991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rPr>
              <a:t>c</a:t>
            </a:r>
            <a:endParaRPr kumimoji="1" lang="en-US" altLang="zh-CN" b="1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itchFamily="49" charset="0"/>
              <a:ea typeface="宋体" panose="02010600030101010101" pitchFamily="2" charset="-122"/>
              <a:cs typeface="Consolas" pitchFamily="49" charset="0"/>
            </a:endParaRPr>
          </a:p>
        </p:txBody>
      </p:sp>
      <p:sp>
        <p:nvSpPr>
          <p:cNvPr id="62" name="Rectangle 31">
            <a:extLst>
              <a:ext uri="{FF2B5EF4-FFF2-40B4-BE49-F238E27FC236}">
                <a16:creationId xmlns:a16="http://schemas.microsoft.com/office/drawing/2014/main" id="{D09F0E04-782A-4F15-8CAC-6394B1F1A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5717" y="4268991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b="1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宋体" panose="02010600030101010101" pitchFamily="2" charset="-122"/>
              <a:cs typeface="Consolas" pitchFamily="49" charset="0"/>
            </a:endParaRPr>
          </a:p>
        </p:txBody>
      </p:sp>
      <p:sp>
        <p:nvSpPr>
          <p:cNvPr id="63" name="Rectangle 32">
            <a:extLst>
              <a:ext uri="{FF2B5EF4-FFF2-40B4-BE49-F238E27FC236}">
                <a16:creationId xmlns:a16="http://schemas.microsoft.com/office/drawing/2014/main" id="{F396C0B8-B6F1-4DE5-A31A-6E34E58A3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5692" y="4268991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rPr>
              <a:t>z</a:t>
            </a:r>
            <a:endParaRPr kumimoji="1" lang="en-US" altLang="zh-CN" b="1" i="1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itchFamily="49" charset="0"/>
              <a:ea typeface="宋体" panose="02010600030101010101" pitchFamily="2" charset="-122"/>
              <a:cs typeface="Consolas" pitchFamily="49" charset="0"/>
            </a:endParaRPr>
          </a:p>
        </p:txBody>
      </p:sp>
      <p:sp>
        <p:nvSpPr>
          <p:cNvPr id="64" name="Rectangle 33">
            <a:extLst>
              <a:ext uri="{FF2B5EF4-FFF2-40B4-BE49-F238E27FC236}">
                <a16:creationId xmlns:a16="http://schemas.microsoft.com/office/drawing/2014/main" id="{036A254F-643E-490F-9F69-65F63B9AA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7030" y="4268991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rPr>
              <a:t>∧</a:t>
            </a:r>
          </a:p>
        </p:txBody>
      </p:sp>
      <p:sp>
        <p:nvSpPr>
          <p:cNvPr id="65" name="Text Box 34">
            <a:extLst>
              <a:ext uri="{FF2B5EF4-FFF2-40B4-BE49-F238E27FC236}">
                <a16:creationId xmlns:a16="http://schemas.microsoft.com/office/drawing/2014/main" id="{E31FACDA-38CC-4A17-B313-870F9AA42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293" y="4268991"/>
            <a:ext cx="576263" cy="43704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…</a:t>
            </a:r>
          </a:p>
        </p:txBody>
      </p:sp>
      <p:sp>
        <p:nvSpPr>
          <p:cNvPr id="66" name="Arc 35">
            <a:extLst>
              <a:ext uri="{FF2B5EF4-FFF2-40B4-BE49-F238E27FC236}">
                <a16:creationId xmlns:a16="http://schemas.microsoft.com/office/drawing/2014/main" id="{9F3FC7B7-97AB-438C-B85C-2BA8FAB6918B}"/>
              </a:ext>
            </a:extLst>
          </p:cNvPr>
          <p:cNvSpPr>
            <a:spLocks/>
          </p:cNvSpPr>
          <p:nvPr/>
        </p:nvSpPr>
        <p:spPr bwMode="auto">
          <a:xfrm>
            <a:off x="2107680" y="3827445"/>
            <a:ext cx="360362" cy="431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miter lim="800000"/>
            <a:headEnd/>
            <a:tailEnd type="stealth" w="lg" len="lg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楷体_GB2312" pitchFamily="49" charset="-122"/>
              <a:cs typeface="Consolas" pitchFamily="49" charset="0"/>
            </a:endParaRPr>
          </a:p>
        </p:txBody>
      </p:sp>
      <p:sp>
        <p:nvSpPr>
          <p:cNvPr id="67" name="Text Box 36">
            <a:extLst>
              <a:ext uri="{FF2B5EF4-FFF2-40B4-BE49-F238E27FC236}">
                <a16:creationId xmlns:a16="http://schemas.microsoft.com/office/drawing/2014/main" id="{B2ECF00C-EC00-48EF-8E97-08D4E6620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033" y="3384247"/>
            <a:ext cx="964586" cy="44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rPr>
              <a:t>head</a:t>
            </a:r>
          </a:p>
        </p:txBody>
      </p:sp>
      <p:sp>
        <p:nvSpPr>
          <p:cNvPr id="68" name="Line 37">
            <a:extLst>
              <a:ext uri="{FF2B5EF4-FFF2-40B4-BE49-F238E27FC236}">
                <a16:creationId xmlns:a16="http://schemas.microsoft.com/office/drawing/2014/main" id="{BECAA515-AA7D-493C-BD5B-9B61E84B2D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9843" y="4484891"/>
            <a:ext cx="576263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楷体_GB2312" pitchFamily="49" charset="-122"/>
              <a:cs typeface="Consolas" pitchFamily="49" charset="0"/>
            </a:endParaRPr>
          </a:p>
        </p:txBody>
      </p:sp>
      <p:sp>
        <p:nvSpPr>
          <p:cNvPr id="69" name="Line 38">
            <a:extLst>
              <a:ext uri="{FF2B5EF4-FFF2-40B4-BE49-F238E27FC236}">
                <a16:creationId xmlns:a16="http://schemas.microsoft.com/office/drawing/2014/main" id="{02563C10-BBC7-4710-BB40-2E3E06ED8B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9705" y="4484891"/>
            <a:ext cx="576262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楷体_GB2312" pitchFamily="49" charset="-122"/>
              <a:cs typeface="Consolas" pitchFamily="49" charset="0"/>
            </a:endParaRPr>
          </a:p>
        </p:txBody>
      </p:sp>
      <p:sp>
        <p:nvSpPr>
          <p:cNvPr id="70" name="Line 39">
            <a:extLst>
              <a:ext uri="{FF2B5EF4-FFF2-40B4-BE49-F238E27FC236}">
                <a16:creationId xmlns:a16="http://schemas.microsoft.com/office/drawing/2014/main" id="{9EC31B20-47B6-4125-844F-F1D2407D28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1155" y="4484891"/>
            <a:ext cx="576262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楷体_GB2312" pitchFamily="49" charset="-122"/>
              <a:cs typeface="Consolas" pitchFamily="49" charset="0"/>
            </a:endParaRPr>
          </a:p>
        </p:txBody>
      </p:sp>
      <p:sp>
        <p:nvSpPr>
          <p:cNvPr id="71" name="Line 40">
            <a:extLst>
              <a:ext uri="{FF2B5EF4-FFF2-40B4-BE49-F238E27FC236}">
                <a16:creationId xmlns:a16="http://schemas.microsoft.com/office/drawing/2014/main" id="{B0EC6A1B-4425-4310-BF1F-B692D0CC643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1018" y="4484891"/>
            <a:ext cx="576263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楷体_GB2312" pitchFamily="49" charset="-122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7" name="Text Box 57"/>
          <p:cNvSpPr txBox="1">
            <a:spLocks noChangeArrowheads="1"/>
          </p:cNvSpPr>
          <p:nvPr/>
        </p:nvSpPr>
        <p:spPr bwMode="auto">
          <a:xfrm>
            <a:off x="201419" y="3652691"/>
            <a:ext cx="8741162" cy="260154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sng" strike="noStrike" kern="120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头指针</a:t>
            </a:r>
            <a:r>
              <a:rPr kumimoji="0" lang="zh-CN" altLang="en-US" sz="2800" b="0" i="0" strike="noStrike" kern="1200" cap="none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：</a:t>
            </a:r>
            <a:r>
              <a:rPr kumimoji="0" lang="zh-CN" altLang="en-US" sz="28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指向链表中第一个结点的指针。</a:t>
            </a:r>
          </a:p>
          <a:p>
            <a:pPr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sng" strike="noStrike" kern="120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首元结点</a:t>
            </a:r>
            <a:r>
              <a:rPr kumimoji="0" lang="zh-CN" altLang="en-US" sz="2800" b="0" i="0" strike="noStrike" kern="1200" cap="none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：</a:t>
            </a:r>
            <a:r>
              <a:rPr kumimoji="0" lang="zh-CN" altLang="en-US" sz="28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链表中存储第一个数据元素 </a:t>
            </a:r>
            <a:r>
              <a:rPr kumimoji="0" lang="en-US" altLang="zh-CN" sz="28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1200" cap="none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1 </a:t>
            </a:r>
            <a:r>
              <a:rPr kumimoji="0" lang="zh-CN" altLang="en-US" sz="28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的结点。</a:t>
            </a:r>
          </a:p>
          <a:p>
            <a:pPr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sng" strike="noStrike" kern="120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头结点</a:t>
            </a:r>
            <a:r>
              <a:rPr kumimoji="0" lang="zh-CN" altLang="en-US" sz="28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：在链表的首元结点之前附设的一个结点。数据域</a:t>
            </a:r>
            <a:r>
              <a:rPr lang="zh-CN" altLang="en-US" sz="2800" noProof="0" dirty="0">
                <a:latin typeface="+mn-ea"/>
                <a:ea typeface="+mn-ea"/>
                <a:cs typeface="+mn-ea"/>
                <a:sym typeface="+mn-lt"/>
              </a:rPr>
              <a:t>可为空或存放</a:t>
            </a:r>
            <a:r>
              <a:rPr kumimoji="0" lang="zh-CN" altLang="en-US" sz="28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表长等信息，</a:t>
            </a:r>
            <a:r>
              <a:rPr kumimoji="0" lang="zh-CN" altLang="en-US" sz="2800" b="0" i="0" u="none" strike="noStrike" kern="120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指针域为空时表示空表</a:t>
            </a:r>
            <a:r>
              <a:rPr kumimoji="0" lang="zh-CN" altLang="en-US" sz="28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。</a:t>
            </a:r>
          </a:p>
        </p:txBody>
      </p:sp>
      <p:sp>
        <p:nvSpPr>
          <p:cNvPr id="56" name="Rectangle 4"/>
          <p:cNvSpPr>
            <a:spLocks noChangeArrowheads="1"/>
          </p:cNvSpPr>
          <p:nvPr/>
        </p:nvSpPr>
        <p:spPr bwMode="auto">
          <a:xfrm>
            <a:off x="900113" y="63500"/>
            <a:ext cx="533400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加一个头结点</a:t>
            </a:r>
          </a:p>
        </p:txBody>
      </p:sp>
      <p:grpSp>
        <p:nvGrpSpPr>
          <p:cNvPr id="86021" name="组合 1"/>
          <p:cNvGrpSpPr/>
          <p:nvPr/>
        </p:nvGrpSpPr>
        <p:grpSpPr>
          <a:xfrm>
            <a:off x="45332" y="1316831"/>
            <a:ext cx="8679569" cy="1671410"/>
            <a:chOff x="171586" y="1565524"/>
            <a:chExt cx="8678925" cy="1671577"/>
          </a:xfrm>
        </p:grpSpPr>
        <p:sp>
          <p:nvSpPr>
            <p:cNvPr id="81925" name="Line 6"/>
            <p:cNvSpPr>
              <a:spLocks noChangeShapeType="1"/>
            </p:cNvSpPr>
            <p:nvPr/>
          </p:nvSpPr>
          <p:spPr bwMode="auto">
            <a:xfrm flipH="1" flipV="1">
              <a:off x="823119" y="2193443"/>
              <a:ext cx="0" cy="445935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26" name="Rectangle 7"/>
            <p:cNvSpPr>
              <a:spLocks noChangeArrowheads="1"/>
            </p:cNvSpPr>
            <p:nvPr/>
          </p:nvSpPr>
          <p:spPr bwMode="auto">
            <a:xfrm>
              <a:off x="171586" y="2639377"/>
              <a:ext cx="1261792" cy="597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头指针</a:t>
              </a:r>
            </a:p>
          </p:txBody>
        </p:sp>
        <p:sp>
          <p:nvSpPr>
            <p:cNvPr id="81927" name="Rectangle 8"/>
            <p:cNvSpPr>
              <a:spLocks noChangeArrowheads="1"/>
            </p:cNvSpPr>
            <p:nvPr/>
          </p:nvSpPr>
          <p:spPr bwMode="auto">
            <a:xfrm>
              <a:off x="1821671" y="2636399"/>
              <a:ext cx="1261792" cy="597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头结点</a:t>
              </a:r>
            </a:p>
          </p:txBody>
        </p:sp>
        <p:sp>
          <p:nvSpPr>
            <p:cNvPr id="81929" name="Rectangle 10"/>
            <p:cNvSpPr>
              <a:spLocks noChangeArrowheads="1"/>
            </p:cNvSpPr>
            <p:nvPr/>
          </p:nvSpPr>
          <p:spPr bwMode="auto">
            <a:xfrm>
              <a:off x="3270008" y="2636399"/>
              <a:ext cx="1620837" cy="597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首元结点</a:t>
              </a:r>
            </a:p>
          </p:txBody>
        </p:sp>
        <p:sp>
          <p:nvSpPr>
            <p:cNvPr id="81932" name="Rectangle 13"/>
            <p:cNvSpPr>
              <a:spLocks noChangeArrowheads="1"/>
            </p:cNvSpPr>
            <p:nvPr/>
          </p:nvSpPr>
          <p:spPr bwMode="auto">
            <a:xfrm>
              <a:off x="2880365" y="1698093"/>
              <a:ext cx="209534" cy="495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33" name="Rectangle 14"/>
            <p:cNvSpPr>
              <a:spLocks noChangeArrowheads="1"/>
            </p:cNvSpPr>
            <p:nvPr/>
          </p:nvSpPr>
          <p:spPr bwMode="auto">
            <a:xfrm>
              <a:off x="3569674" y="1661727"/>
              <a:ext cx="757182" cy="431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</a:t>
              </a:r>
              <a:r>
                <a:rPr kumimoji="0" lang="en-US" altLang="zh-CN" sz="2800" b="0" i="0" u="none" strike="noStrike" kern="1200" cap="none" spc="0" normalizeH="0" baseline="-8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81934" name="Line 15"/>
            <p:cNvSpPr>
              <a:spLocks noChangeShapeType="1"/>
            </p:cNvSpPr>
            <p:nvPr/>
          </p:nvSpPr>
          <p:spPr bwMode="auto">
            <a:xfrm>
              <a:off x="1862854" y="2193442"/>
              <a:ext cx="122704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35" name="Line 16"/>
            <p:cNvSpPr>
              <a:spLocks noChangeShapeType="1"/>
            </p:cNvSpPr>
            <p:nvPr/>
          </p:nvSpPr>
          <p:spPr bwMode="auto">
            <a:xfrm>
              <a:off x="1862854" y="1701268"/>
              <a:ext cx="122704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36" name="Line 17"/>
            <p:cNvSpPr>
              <a:spLocks noChangeShapeType="1"/>
            </p:cNvSpPr>
            <p:nvPr/>
          </p:nvSpPr>
          <p:spPr bwMode="auto">
            <a:xfrm>
              <a:off x="1862854" y="1698093"/>
              <a:ext cx="0" cy="495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37" name="Line 18"/>
            <p:cNvSpPr>
              <a:spLocks noChangeShapeType="1"/>
            </p:cNvSpPr>
            <p:nvPr/>
          </p:nvSpPr>
          <p:spPr bwMode="auto">
            <a:xfrm>
              <a:off x="2699404" y="1698093"/>
              <a:ext cx="0" cy="495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38" name="Line 19"/>
            <p:cNvSpPr>
              <a:spLocks noChangeShapeType="1"/>
            </p:cNvSpPr>
            <p:nvPr/>
          </p:nvSpPr>
          <p:spPr bwMode="auto">
            <a:xfrm>
              <a:off x="3089900" y="1698093"/>
              <a:ext cx="0" cy="495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39" name="Rectangle 20"/>
            <p:cNvSpPr>
              <a:spLocks noChangeArrowheads="1"/>
            </p:cNvSpPr>
            <p:nvPr/>
          </p:nvSpPr>
          <p:spPr bwMode="auto">
            <a:xfrm>
              <a:off x="347979" y="1565524"/>
              <a:ext cx="1018023" cy="430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head</a:t>
              </a:r>
            </a:p>
          </p:txBody>
        </p:sp>
        <p:sp>
          <p:nvSpPr>
            <p:cNvPr id="81944" name="Line 25"/>
            <p:cNvSpPr>
              <a:spLocks noChangeShapeType="1"/>
            </p:cNvSpPr>
            <p:nvPr/>
          </p:nvSpPr>
          <p:spPr bwMode="auto">
            <a:xfrm>
              <a:off x="1358066" y="1929891"/>
              <a:ext cx="4333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45" name="Rectangle 26"/>
            <p:cNvSpPr>
              <a:spLocks noChangeArrowheads="1"/>
            </p:cNvSpPr>
            <p:nvPr/>
          </p:nvSpPr>
          <p:spPr bwMode="auto">
            <a:xfrm>
              <a:off x="4502670" y="1704443"/>
              <a:ext cx="246045" cy="488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46" name="Rectangle 27"/>
            <p:cNvSpPr>
              <a:spLocks noChangeArrowheads="1"/>
            </p:cNvSpPr>
            <p:nvPr/>
          </p:nvSpPr>
          <p:spPr bwMode="auto">
            <a:xfrm>
              <a:off x="5092099" y="1604571"/>
              <a:ext cx="600031" cy="488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</a:t>
              </a:r>
              <a:r>
                <a:rPr kumimoji="0" lang="en-US" altLang="zh-CN" sz="2800" b="0" i="0" u="none" strike="noStrike" kern="1200" cap="none" spc="0" normalizeH="0" baseline="-8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81947" name="Line 28"/>
            <p:cNvSpPr>
              <a:spLocks noChangeShapeType="1"/>
            </p:cNvSpPr>
            <p:nvPr/>
          </p:nvSpPr>
          <p:spPr bwMode="auto">
            <a:xfrm>
              <a:off x="3521668" y="2193442"/>
              <a:ext cx="9810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48" name="Line 29"/>
            <p:cNvSpPr>
              <a:spLocks noChangeShapeType="1"/>
            </p:cNvSpPr>
            <p:nvPr/>
          </p:nvSpPr>
          <p:spPr bwMode="auto">
            <a:xfrm>
              <a:off x="3521668" y="1701268"/>
              <a:ext cx="981002" cy="476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49" name="Line 30"/>
            <p:cNvSpPr>
              <a:spLocks noChangeShapeType="1"/>
            </p:cNvSpPr>
            <p:nvPr/>
          </p:nvSpPr>
          <p:spPr bwMode="auto">
            <a:xfrm>
              <a:off x="3521668" y="1704443"/>
              <a:ext cx="0" cy="48899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50" name="Line 31"/>
            <p:cNvSpPr>
              <a:spLocks noChangeShapeType="1"/>
            </p:cNvSpPr>
            <p:nvPr/>
          </p:nvSpPr>
          <p:spPr bwMode="auto">
            <a:xfrm>
              <a:off x="4193900" y="1704443"/>
              <a:ext cx="0" cy="4889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51" name="Line 32"/>
            <p:cNvSpPr>
              <a:spLocks noChangeShapeType="1"/>
            </p:cNvSpPr>
            <p:nvPr/>
          </p:nvSpPr>
          <p:spPr bwMode="auto">
            <a:xfrm>
              <a:off x="4502670" y="1704443"/>
              <a:ext cx="0" cy="48899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57" name="Rectangle 38"/>
            <p:cNvSpPr>
              <a:spLocks noChangeArrowheads="1"/>
            </p:cNvSpPr>
            <p:nvPr/>
          </p:nvSpPr>
          <p:spPr bwMode="auto">
            <a:xfrm>
              <a:off x="5955125" y="1698093"/>
              <a:ext cx="244457" cy="495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58" name="Rectangle 39"/>
            <p:cNvSpPr>
              <a:spLocks noChangeArrowheads="1"/>
            </p:cNvSpPr>
            <p:nvPr/>
          </p:nvSpPr>
          <p:spPr bwMode="auto">
            <a:xfrm>
              <a:off x="6459120" y="1582192"/>
              <a:ext cx="700035" cy="495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</a:t>
              </a:r>
            </a:p>
          </p:txBody>
        </p:sp>
        <p:sp>
          <p:nvSpPr>
            <p:cNvPr id="81959" name="Line 40"/>
            <p:cNvSpPr>
              <a:spLocks noChangeShapeType="1"/>
            </p:cNvSpPr>
            <p:nvPr/>
          </p:nvSpPr>
          <p:spPr bwMode="auto">
            <a:xfrm>
              <a:off x="5045555" y="2193442"/>
              <a:ext cx="90957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60" name="Line 41"/>
            <p:cNvSpPr>
              <a:spLocks noChangeShapeType="1"/>
            </p:cNvSpPr>
            <p:nvPr/>
          </p:nvSpPr>
          <p:spPr bwMode="auto">
            <a:xfrm flipV="1">
              <a:off x="5045555" y="1701268"/>
              <a:ext cx="909571" cy="158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61" name="Line 42"/>
            <p:cNvSpPr>
              <a:spLocks noChangeShapeType="1"/>
            </p:cNvSpPr>
            <p:nvPr/>
          </p:nvSpPr>
          <p:spPr bwMode="auto">
            <a:xfrm>
              <a:off x="5045555" y="1698093"/>
              <a:ext cx="0" cy="495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62" name="Line 43"/>
            <p:cNvSpPr>
              <a:spLocks noChangeShapeType="1"/>
            </p:cNvSpPr>
            <p:nvPr/>
          </p:nvSpPr>
          <p:spPr bwMode="auto">
            <a:xfrm>
              <a:off x="5645585" y="1698093"/>
              <a:ext cx="0" cy="495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63" name="Line 44"/>
            <p:cNvSpPr>
              <a:spLocks noChangeShapeType="1"/>
            </p:cNvSpPr>
            <p:nvPr/>
          </p:nvSpPr>
          <p:spPr bwMode="auto">
            <a:xfrm>
              <a:off x="5955125" y="1698093"/>
              <a:ext cx="0" cy="495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64" name="Line 45"/>
            <p:cNvSpPr>
              <a:spLocks noChangeShapeType="1"/>
            </p:cNvSpPr>
            <p:nvPr/>
          </p:nvSpPr>
          <p:spPr bwMode="auto">
            <a:xfrm>
              <a:off x="2945448" y="1929891"/>
              <a:ext cx="57621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65" name="Line 46"/>
            <p:cNvSpPr>
              <a:spLocks noChangeShapeType="1"/>
            </p:cNvSpPr>
            <p:nvPr/>
          </p:nvSpPr>
          <p:spPr bwMode="auto">
            <a:xfrm>
              <a:off x="4370508" y="1949890"/>
              <a:ext cx="665522" cy="47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66" name="Line 47"/>
            <p:cNvSpPr>
              <a:spLocks noChangeShapeType="1"/>
            </p:cNvSpPr>
            <p:nvPr/>
          </p:nvSpPr>
          <p:spPr bwMode="auto">
            <a:xfrm>
              <a:off x="5845596" y="1929891"/>
              <a:ext cx="576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67" name="Rectangle 48"/>
            <p:cNvSpPr>
              <a:spLocks noChangeArrowheads="1"/>
            </p:cNvSpPr>
            <p:nvPr/>
          </p:nvSpPr>
          <p:spPr bwMode="auto">
            <a:xfrm>
              <a:off x="1862854" y="1645700"/>
              <a:ext cx="803215" cy="495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info</a:t>
              </a:r>
            </a:p>
          </p:txBody>
        </p:sp>
        <p:sp>
          <p:nvSpPr>
            <p:cNvPr id="81968" name="Rectangle 49"/>
            <p:cNvSpPr>
              <a:spLocks noChangeArrowheads="1"/>
            </p:cNvSpPr>
            <p:nvPr/>
          </p:nvSpPr>
          <p:spPr bwMode="auto">
            <a:xfrm>
              <a:off x="7868430" y="1589463"/>
              <a:ext cx="479389" cy="488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</a:t>
              </a:r>
              <a:r>
                <a:rPr kumimoji="0" lang="en-US" altLang="zh-CN" sz="2800" b="0" i="0" u="none" strike="noStrike" kern="1200" cap="none" spc="0" normalizeH="0" baseline="-8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n</a:t>
              </a:r>
            </a:p>
          </p:txBody>
        </p:sp>
        <p:sp>
          <p:nvSpPr>
            <p:cNvPr id="81969" name="Rectangle 50"/>
            <p:cNvSpPr>
              <a:spLocks noChangeArrowheads="1"/>
            </p:cNvSpPr>
            <p:nvPr/>
          </p:nvSpPr>
          <p:spPr bwMode="auto">
            <a:xfrm>
              <a:off x="8409219" y="1698093"/>
              <a:ext cx="441292" cy="495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^</a:t>
              </a:r>
            </a:p>
          </p:txBody>
        </p:sp>
        <p:sp>
          <p:nvSpPr>
            <p:cNvPr id="81970" name="Line 51"/>
            <p:cNvSpPr>
              <a:spLocks noChangeShapeType="1"/>
            </p:cNvSpPr>
            <p:nvPr/>
          </p:nvSpPr>
          <p:spPr bwMode="auto">
            <a:xfrm flipV="1">
              <a:off x="7779027" y="2183916"/>
              <a:ext cx="1001639" cy="952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71" name="Line 52"/>
            <p:cNvSpPr>
              <a:spLocks noChangeShapeType="1"/>
            </p:cNvSpPr>
            <p:nvPr/>
          </p:nvSpPr>
          <p:spPr bwMode="auto">
            <a:xfrm>
              <a:off x="7780615" y="1688567"/>
              <a:ext cx="97941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72" name="Line 53"/>
            <p:cNvSpPr>
              <a:spLocks noChangeShapeType="1"/>
            </p:cNvSpPr>
            <p:nvPr/>
          </p:nvSpPr>
          <p:spPr bwMode="auto">
            <a:xfrm>
              <a:off x="7779027" y="1696505"/>
              <a:ext cx="0" cy="49693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73" name="Line 54"/>
            <p:cNvSpPr>
              <a:spLocks noChangeShapeType="1"/>
            </p:cNvSpPr>
            <p:nvPr/>
          </p:nvSpPr>
          <p:spPr bwMode="auto">
            <a:xfrm>
              <a:off x="8407631" y="1698093"/>
              <a:ext cx="1588" cy="495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74" name="Line 55"/>
            <p:cNvSpPr>
              <a:spLocks noChangeShapeType="1"/>
            </p:cNvSpPr>
            <p:nvPr/>
          </p:nvSpPr>
          <p:spPr bwMode="auto">
            <a:xfrm>
              <a:off x="8780666" y="1698093"/>
              <a:ext cx="0" cy="4953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975" name="Line 56"/>
            <p:cNvSpPr>
              <a:spLocks noChangeShapeType="1"/>
            </p:cNvSpPr>
            <p:nvPr/>
          </p:nvSpPr>
          <p:spPr bwMode="auto">
            <a:xfrm>
              <a:off x="7202808" y="1929891"/>
              <a:ext cx="577807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" name="Line 6"/>
            <p:cNvSpPr>
              <a:spLocks noChangeShapeType="1"/>
            </p:cNvSpPr>
            <p:nvPr/>
          </p:nvSpPr>
          <p:spPr bwMode="auto">
            <a:xfrm flipV="1">
              <a:off x="2412088" y="2237599"/>
              <a:ext cx="0" cy="398799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" name="Line 6"/>
            <p:cNvSpPr>
              <a:spLocks noChangeShapeType="1"/>
            </p:cNvSpPr>
            <p:nvPr/>
          </p:nvSpPr>
          <p:spPr bwMode="auto">
            <a:xfrm flipV="1">
              <a:off x="3996296" y="2237599"/>
              <a:ext cx="0" cy="39880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301" name="Rectangle 5"/>
          <p:cNvSpPr>
            <a:spLocks noChangeArrowheads="1"/>
          </p:cNvSpPr>
          <p:nvPr/>
        </p:nvSpPr>
        <p:spPr bwMode="auto">
          <a:xfrm>
            <a:off x="323528" y="836712"/>
            <a:ext cx="8496944" cy="518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7620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+mn-ea"/>
                <a:ea typeface="+mn-ea"/>
                <a:cs typeface="+mn-ea"/>
                <a:sym typeface="+mn-lt"/>
              </a:rPr>
              <a:t>1. </a:t>
            </a:r>
            <a:r>
              <a:rPr kumimoji="0" lang="zh-CN" altLang="en-US" sz="28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便于</a:t>
            </a:r>
            <a:r>
              <a:rPr kumimoji="0" lang="zh-CN" altLang="en-US" sz="2800" b="0" i="0" u="none" strike="noStrike" kern="120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首元结点</a:t>
            </a:r>
            <a:r>
              <a:rPr kumimoji="0" lang="zh-CN" altLang="en-US" sz="28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的处理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首元结点的地址保存在头结点的指针域中</a:t>
            </a:r>
            <a:r>
              <a:rPr lang="zh-CN" altLang="en-US" sz="2800" noProof="0" dirty="0">
                <a:latin typeface="+mn-ea"/>
                <a:ea typeface="+mn-ea"/>
                <a:cs typeface="+mn-ea"/>
                <a:sym typeface="+mn-lt"/>
              </a:rPr>
              <a:t>，</a:t>
            </a:r>
            <a:r>
              <a:rPr kumimoji="0" lang="zh-CN" altLang="en-US" sz="28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所以在链表的第一个位置上的操作和其它位置一致，无须进行特殊处理</a:t>
            </a:r>
            <a:r>
              <a:rPr lang="zh-CN" altLang="en-US" sz="2800" dirty="0">
                <a:latin typeface="+mn-ea"/>
                <a:ea typeface="+mn-ea"/>
                <a:cs typeface="+mn-ea"/>
                <a:sym typeface="+mn-lt"/>
              </a:rPr>
              <a:t>；</a:t>
            </a:r>
            <a:endParaRPr lang="en-US" altLang="zh-CN" sz="2800" dirty="0">
              <a:latin typeface="+mn-ea"/>
              <a:ea typeface="+mn-ea"/>
              <a:cs typeface="+mn-ea"/>
              <a:sym typeface="+mn-lt"/>
            </a:endParaRPr>
          </a:p>
          <a:p>
            <a:pPr lvl="0" indent="0" eaLnBrk="1" hangingPunct="1">
              <a:lnSpc>
                <a:spcPct val="150000"/>
              </a:lnSpc>
              <a:defRPr/>
            </a:pPr>
            <a:r>
              <a:rPr lang="en-US" altLang="zh-CN" sz="2800" dirty="0">
                <a:latin typeface="+mn-ea"/>
                <a:ea typeface="+mn-ea"/>
                <a:cs typeface="+mn-ea"/>
                <a:sym typeface="+mn-lt"/>
              </a:rPr>
              <a:t>2. </a:t>
            </a:r>
            <a:r>
              <a:rPr lang="zh-CN" altLang="en-US" sz="2800" dirty="0">
                <a:latin typeface="+mn-ea"/>
                <a:ea typeface="+mn-ea"/>
                <a:cs typeface="+mn-ea"/>
                <a:sym typeface="+mn-lt"/>
              </a:rPr>
              <a:t>便于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  <a:cs typeface="+mn-ea"/>
                <a:sym typeface="+mn-lt"/>
              </a:rPr>
              <a:t>空表和非空表</a:t>
            </a:r>
            <a:r>
              <a:rPr lang="zh-CN" altLang="en-US" sz="2800" dirty="0">
                <a:latin typeface="+mn-ea"/>
                <a:ea typeface="+mn-ea"/>
                <a:cs typeface="+mn-ea"/>
                <a:sym typeface="+mn-lt"/>
              </a:rPr>
              <a:t>的统一处理</a:t>
            </a:r>
          </a:p>
          <a:p>
            <a:pPr indent="0" eaLnBrk="1" hangingPunct="1">
              <a:lnSpc>
                <a:spcPct val="150000"/>
              </a:lnSpc>
              <a:defRPr/>
            </a:pPr>
            <a:r>
              <a:rPr lang="zh-CN" altLang="en-US" sz="2800" dirty="0">
                <a:latin typeface="+mn-ea"/>
                <a:ea typeface="+mn-ea"/>
                <a:cs typeface="+mn-ea"/>
                <a:sym typeface="+mn-lt"/>
              </a:rPr>
              <a:t>无论链表是否为空，头指针都是指向头结点的非空指针，因此空表和非空表的处理也就统一了。（有头结点时，</a:t>
            </a:r>
            <a:r>
              <a:rPr lang="zh-CN" altLang="en-US" sz="2800" dirty="0">
                <a:solidFill>
                  <a:srgbClr val="0000FF"/>
                </a:solidFill>
                <a:latin typeface="+mn-ea"/>
                <a:ea typeface="+mn-ea"/>
                <a:cs typeface="+mn-ea"/>
                <a:sym typeface="+mn-lt"/>
              </a:rPr>
              <a:t>当头结点的指针域为空</a:t>
            </a:r>
            <a:r>
              <a:rPr lang="zh-CN" altLang="en-US" sz="2800" dirty="0">
                <a:latin typeface="+mn-ea"/>
                <a:ea typeface="+mn-ea"/>
                <a:cs typeface="+mn-ea"/>
                <a:sym typeface="+mn-lt"/>
              </a:rPr>
              <a:t>时表示空表。）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00113" y="63500"/>
            <a:ext cx="533400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加头节点的好处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62" name="Text Box 46"/>
          <p:cNvSpPr txBox="1">
            <a:spLocks noChangeArrowheads="1"/>
          </p:cNvSpPr>
          <p:nvPr/>
        </p:nvSpPr>
        <p:spPr bwMode="auto">
          <a:xfrm>
            <a:off x="201418" y="712641"/>
            <a:ext cx="8685213" cy="39048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579755" indent="-579755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结点只有一个指针域的链表，称为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单链表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或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线性链表：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有两个指针域的链表，称为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双链表：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>
              <a:solidFill>
                <a:srgbClr val="FF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首尾相接的链表称为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循环链表：</a:t>
            </a:r>
          </a:p>
        </p:txBody>
      </p:sp>
      <p:sp>
        <p:nvSpPr>
          <p:cNvPr id="46" name="Rectangle 4"/>
          <p:cNvSpPr>
            <a:spLocks noChangeArrowheads="1"/>
          </p:cNvSpPr>
          <p:nvPr/>
        </p:nvSpPr>
        <p:spPr bwMode="auto">
          <a:xfrm>
            <a:off x="900113" y="63500"/>
            <a:ext cx="533400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线性链表的分类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F02ED79-2CCE-45A0-9F3D-55EA0B62AA5B}"/>
              </a:ext>
            </a:extLst>
          </p:cNvPr>
          <p:cNvGrpSpPr/>
          <p:nvPr/>
        </p:nvGrpSpPr>
        <p:grpSpPr>
          <a:xfrm>
            <a:off x="683568" y="1358959"/>
            <a:ext cx="7297494" cy="1042265"/>
            <a:chOff x="683568" y="1358959"/>
            <a:chExt cx="7297494" cy="1042265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B0375A2-715E-484F-998E-D82091C59081}"/>
                </a:ext>
              </a:extLst>
            </p:cNvPr>
            <p:cNvSpPr txBox="1"/>
            <p:nvPr/>
          </p:nvSpPr>
          <p:spPr>
            <a:xfrm>
              <a:off x="683568" y="1358959"/>
              <a:ext cx="7297494" cy="1042265"/>
            </a:xfrm>
            <a:prstGeom prst="rect">
              <a:avLst/>
            </a:prstGeom>
            <a:solidFill>
              <a:schemeClr val="accent3">
                <a:lumMod val="9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CA428F71-6E7F-40A1-9F4A-A8BD6049DADB}"/>
                </a:ext>
              </a:extLst>
            </p:cNvPr>
            <p:cNvGrpSpPr/>
            <p:nvPr/>
          </p:nvGrpSpPr>
          <p:grpSpPr>
            <a:xfrm>
              <a:off x="833806" y="1396182"/>
              <a:ext cx="6973904" cy="958040"/>
              <a:chOff x="1274334" y="1814696"/>
              <a:chExt cx="5336539" cy="679778"/>
            </a:xfrm>
          </p:grpSpPr>
          <p:sp>
            <p:nvSpPr>
              <p:cNvPr id="81" name="Text Box 47">
                <a:extLst>
                  <a:ext uri="{FF2B5EF4-FFF2-40B4-BE49-F238E27FC236}">
                    <a16:creationId xmlns:a16="http://schemas.microsoft.com/office/drawing/2014/main" id="{F9829494-8808-47D7-9546-B36973854A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236" y="1814696"/>
                <a:ext cx="831657" cy="303247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首元结点</a:t>
                </a:r>
              </a:p>
            </p:txBody>
          </p:sp>
          <p:sp>
            <p:nvSpPr>
              <p:cNvPr id="82" name="Text Box 46">
                <a:extLst>
                  <a:ext uri="{FF2B5EF4-FFF2-40B4-BE49-F238E27FC236}">
                    <a16:creationId xmlns:a16="http://schemas.microsoft.com/office/drawing/2014/main" id="{C56B547D-72EA-4755-BCAB-9D7572E475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57175" y="1814696"/>
                <a:ext cx="743651" cy="303247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尾结点</a:t>
                </a:r>
              </a:p>
            </p:txBody>
          </p:sp>
          <p:sp>
            <p:nvSpPr>
              <p:cNvPr id="83" name="Text Box 45">
                <a:extLst>
                  <a:ext uri="{FF2B5EF4-FFF2-40B4-BE49-F238E27FC236}">
                    <a16:creationId xmlns:a16="http://schemas.microsoft.com/office/drawing/2014/main" id="{1612EC92-F526-4CCA-9509-8519B2C90E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1431" y="1814696"/>
                <a:ext cx="743651" cy="303247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头结点</a:t>
                </a:r>
              </a:p>
            </p:txBody>
          </p:sp>
          <p:sp>
            <p:nvSpPr>
              <p:cNvPr id="84" name="Text Box 44" descr="浅色上对角线">
                <a:extLst>
                  <a:ext uri="{FF2B5EF4-FFF2-40B4-BE49-F238E27FC236}">
                    <a16:creationId xmlns:a16="http://schemas.microsoft.com/office/drawing/2014/main" id="{556214EB-709C-402C-9033-181C540560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3502" y="2192199"/>
                <a:ext cx="410482" cy="302275"/>
              </a:xfrm>
              <a:prstGeom prst="rect">
                <a:avLst/>
              </a:prstGeom>
              <a:solidFill>
                <a:srgbClr val="5E2E82">
                  <a:alpha val="40000"/>
                </a:srgbClr>
              </a:solidFill>
              <a:ln w="9525" cap="flat" cmpd="sng" algn="ctr">
                <a:solidFill>
                  <a:srgbClr val="5E2E82"/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Consolas" panose="020B0609020204030204" pitchFamily="49" charset="0"/>
                  </a:rPr>
                  <a:t>    </a:t>
                </a:r>
              </a:p>
            </p:txBody>
          </p:sp>
          <p:sp>
            <p:nvSpPr>
              <p:cNvPr id="85" name="Text Box 43">
                <a:extLst>
                  <a:ext uri="{FF2B5EF4-FFF2-40B4-BE49-F238E27FC236}">
                    <a16:creationId xmlns:a16="http://schemas.microsoft.com/office/drawing/2014/main" id="{C1BAF511-84AD-41D9-85B5-41D89DA399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9836" y="2192199"/>
                <a:ext cx="303293" cy="302275"/>
              </a:xfrm>
              <a:prstGeom prst="rect">
                <a:avLst/>
              </a:prstGeom>
              <a:solidFill>
                <a:srgbClr val="5E2E82">
                  <a:alpha val="40000"/>
                </a:srgbClr>
              </a:solidFill>
              <a:ln w="9525" cap="flat" cmpd="sng" algn="ctr">
                <a:solidFill>
                  <a:srgbClr val="5E2E82"/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86" name="Text Box 42">
                <a:extLst>
                  <a:ext uri="{FF2B5EF4-FFF2-40B4-BE49-F238E27FC236}">
                    <a16:creationId xmlns:a16="http://schemas.microsoft.com/office/drawing/2014/main" id="{2152DE85-4102-4EA2-94F0-99ABE8AD03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93639" y="2192199"/>
                <a:ext cx="410400" cy="302275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000" i="0" u="none" strike="noStrike" kern="0" cap="none" spc="0" normalizeH="0" baseline="-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0</a:t>
                </a:r>
                <a:endPara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87" name="Text Box 41">
                <a:extLst>
                  <a:ext uri="{FF2B5EF4-FFF2-40B4-BE49-F238E27FC236}">
                    <a16:creationId xmlns:a16="http://schemas.microsoft.com/office/drawing/2014/main" id="{7DBD8423-0142-4250-B96A-3C34ED6CF2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9975" y="2192199"/>
                <a:ext cx="303293" cy="302275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88" name="Text Box 40">
                <a:extLst>
                  <a:ext uri="{FF2B5EF4-FFF2-40B4-BE49-F238E27FC236}">
                    <a16:creationId xmlns:a16="http://schemas.microsoft.com/office/drawing/2014/main" id="{E69A8DEF-DB0B-42F9-BA2C-FD60F68DCB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7039" y="2192199"/>
                <a:ext cx="576000" cy="302275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000" i="1" u="none" strike="noStrike" kern="0" cap="none" spc="0" normalizeH="0" baseline="-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n</a:t>
                </a:r>
                <a:r>
                  <a:rPr kumimoji="0" lang="en-US" altLang="zh-CN" sz="2000" i="0" u="none" strike="noStrike" kern="0" cap="none" spc="0" normalizeH="0" baseline="-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-1</a:t>
                </a:r>
                <a:endPara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89" name="Text Box 39">
                <a:extLst>
                  <a:ext uri="{FF2B5EF4-FFF2-40B4-BE49-F238E27FC236}">
                    <a16:creationId xmlns:a16="http://schemas.microsoft.com/office/drawing/2014/main" id="{F60B7DE2-BF57-4AA3-9D2B-D23241F302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06608" y="2192199"/>
                <a:ext cx="304265" cy="302275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2520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∧</a:t>
                </a:r>
              </a:p>
            </p:txBody>
          </p:sp>
          <p:sp>
            <p:nvSpPr>
              <p:cNvPr id="90" name="Line 38">
                <a:extLst>
                  <a:ext uri="{FF2B5EF4-FFF2-40B4-BE49-F238E27FC236}">
                    <a16:creationId xmlns:a16="http://schemas.microsoft.com/office/drawing/2014/main" id="{56E01896-6D1D-4C02-BEE4-A17561BE5E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8431" y="2342851"/>
                <a:ext cx="524930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91" name="Text Box 37">
                <a:extLst>
                  <a:ext uri="{FF2B5EF4-FFF2-40B4-BE49-F238E27FC236}">
                    <a16:creationId xmlns:a16="http://schemas.microsoft.com/office/drawing/2014/main" id="{532720C9-EFCC-4FD7-BD2E-FC653A1946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8245" y="2192199"/>
                <a:ext cx="410400" cy="302275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000" i="0" u="none" strike="noStrike" kern="0" cap="none" spc="0" normalizeH="0" baseline="-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1</a:t>
                </a:r>
                <a:endPara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92" name="Text Box 36">
                <a:extLst>
                  <a:ext uri="{FF2B5EF4-FFF2-40B4-BE49-F238E27FC236}">
                    <a16:creationId xmlns:a16="http://schemas.microsoft.com/office/drawing/2014/main" id="{B7888FA3-043F-4B45-A17A-A7D1A0CDE7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4580" y="2192199"/>
                <a:ext cx="303293" cy="302275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93" name="Line 35">
                <a:extLst>
                  <a:ext uri="{FF2B5EF4-FFF2-40B4-BE49-F238E27FC236}">
                    <a16:creationId xmlns:a16="http://schemas.microsoft.com/office/drawing/2014/main" id="{AAABEDC2-55AC-4C31-8D96-FA752E2945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03175" y="2342851"/>
                <a:ext cx="524930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94" name="Line 34">
                <a:extLst>
                  <a:ext uri="{FF2B5EF4-FFF2-40B4-BE49-F238E27FC236}">
                    <a16:creationId xmlns:a16="http://schemas.microsoft.com/office/drawing/2014/main" id="{8AF0C411-05B8-4859-A3BF-FCAC7C1F92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291" y="2342851"/>
                <a:ext cx="349953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95" name="Text Box 33">
                <a:extLst>
                  <a:ext uri="{FF2B5EF4-FFF2-40B4-BE49-F238E27FC236}">
                    <a16:creationId xmlns:a16="http://schemas.microsoft.com/office/drawing/2014/main" id="{72699372-C37B-4A30-A8C4-C9BDDC8049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28105" y="2192199"/>
                <a:ext cx="468549" cy="302275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…</a:t>
                </a:r>
              </a:p>
            </p:txBody>
          </p:sp>
          <p:sp>
            <p:nvSpPr>
              <p:cNvPr id="96" name="Line 32">
                <a:extLst>
                  <a:ext uri="{FF2B5EF4-FFF2-40B4-BE49-F238E27FC236}">
                    <a16:creationId xmlns:a16="http://schemas.microsoft.com/office/drawing/2014/main" id="{CEDE0353-8795-4C10-89D1-CB45B2D92D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41245" y="2342851"/>
                <a:ext cx="285795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97" name="Text Box 31">
                <a:extLst>
                  <a:ext uri="{FF2B5EF4-FFF2-40B4-BE49-F238E27FC236}">
                    <a16:creationId xmlns:a16="http://schemas.microsoft.com/office/drawing/2014/main" id="{F6F9AC7D-A297-4B38-9BFA-07A23D5999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4334" y="2192199"/>
                <a:ext cx="528818" cy="302275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head</a:t>
                </a:r>
              </a:p>
            </p:txBody>
          </p:sp>
          <p:sp>
            <p:nvSpPr>
              <p:cNvPr id="98" name="Line 30">
                <a:extLst>
                  <a:ext uri="{FF2B5EF4-FFF2-40B4-BE49-F238E27FC236}">
                    <a16:creationId xmlns:a16="http://schemas.microsoft.com/office/drawing/2014/main" id="{0CFF7A2D-871F-4C45-839D-E26E344B32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0333" y="2342851"/>
                <a:ext cx="203168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med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1B357B4-8F98-4EF8-8C9E-0E86119244B5}"/>
              </a:ext>
            </a:extLst>
          </p:cNvPr>
          <p:cNvGrpSpPr/>
          <p:nvPr/>
        </p:nvGrpSpPr>
        <p:grpSpPr>
          <a:xfrm>
            <a:off x="566489" y="3026200"/>
            <a:ext cx="7673991" cy="1042265"/>
            <a:chOff x="566489" y="3026200"/>
            <a:chExt cx="7673991" cy="1042265"/>
          </a:xfrm>
        </p:grpSpPr>
        <p:sp>
          <p:nvSpPr>
            <p:cNvPr id="257" name="文本框 256">
              <a:extLst>
                <a:ext uri="{FF2B5EF4-FFF2-40B4-BE49-F238E27FC236}">
                  <a16:creationId xmlns:a16="http://schemas.microsoft.com/office/drawing/2014/main" id="{BB09CE99-7668-47E4-A708-3AC31543DE21}"/>
                </a:ext>
              </a:extLst>
            </p:cNvPr>
            <p:cNvSpPr txBox="1"/>
            <p:nvPr/>
          </p:nvSpPr>
          <p:spPr>
            <a:xfrm>
              <a:off x="566489" y="3026200"/>
              <a:ext cx="7673991" cy="1042265"/>
            </a:xfrm>
            <a:prstGeom prst="rect">
              <a:avLst/>
            </a:prstGeom>
            <a:solidFill>
              <a:schemeClr val="accent3">
                <a:lumMod val="9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FF2466D4-7191-4DE0-9F7E-4F807894DE25}"/>
                </a:ext>
              </a:extLst>
            </p:cNvPr>
            <p:cNvGrpSpPr/>
            <p:nvPr/>
          </p:nvGrpSpPr>
          <p:grpSpPr>
            <a:xfrm>
              <a:off x="605867" y="3101515"/>
              <a:ext cx="7486177" cy="882663"/>
              <a:chOff x="2324956" y="5025145"/>
              <a:chExt cx="6898208" cy="671614"/>
            </a:xfrm>
          </p:grpSpPr>
          <p:sp>
            <p:nvSpPr>
              <p:cNvPr id="129" name="Text Box 28">
                <a:extLst>
                  <a:ext uri="{FF2B5EF4-FFF2-40B4-BE49-F238E27FC236}">
                    <a16:creationId xmlns:a16="http://schemas.microsoft.com/office/drawing/2014/main" id="{9CFB5E5D-D563-4EE6-BEFB-C8D0C7080A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6070" y="5025145"/>
                <a:ext cx="947791" cy="303247"/>
              </a:xfrm>
              <a:prstGeom prst="rect">
                <a:avLst/>
              </a:prstGeom>
              <a:noFill/>
              <a:ln w="19050">
                <a:noFill/>
                <a:miter lim="800000"/>
                <a:tailEnd type="none" w="sm" len="sm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首元结点</a:t>
                </a:r>
              </a:p>
            </p:txBody>
          </p:sp>
          <p:sp>
            <p:nvSpPr>
              <p:cNvPr id="130" name="Text Box 27">
                <a:extLst>
                  <a:ext uri="{FF2B5EF4-FFF2-40B4-BE49-F238E27FC236}">
                    <a16:creationId xmlns:a16="http://schemas.microsoft.com/office/drawing/2014/main" id="{2C679010-CC4D-4D50-8A63-67AA815EB8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55921" y="5025145"/>
                <a:ext cx="743651" cy="303247"/>
              </a:xfrm>
              <a:prstGeom prst="rect">
                <a:avLst/>
              </a:prstGeom>
              <a:noFill/>
              <a:ln w="19050">
                <a:noFill/>
                <a:miter lim="800000"/>
                <a:tailEnd type="none" w="sm" len="sm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尾结点</a:t>
                </a:r>
              </a:p>
            </p:txBody>
          </p:sp>
          <p:sp>
            <p:nvSpPr>
              <p:cNvPr id="131" name="Text Box 26">
                <a:extLst>
                  <a:ext uri="{FF2B5EF4-FFF2-40B4-BE49-F238E27FC236}">
                    <a16:creationId xmlns:a16="http://schemas.microsoft.com/office/drawing/2014/main" id="{17F3AABF-9002-48E5-A24B-8009707BBE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0973" y="5025145"/>
                <a:ext cx="743651" cy="303247"/>
              </a:xfrm>
              <a:prstGeom prst="rect">
                <a:avLst/>
              </a:prstGeom>
              <a:noFill/>
              <a:ln w="19050">
                <a:noFill/>
                <a:miter lim="800000"/>
                <a:tailEnd type="none" w="sm" len="sm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头结点</a:t>
                </a:r>
              </a:p>
            </p:txBody>
          </p:sp>
          <p:sp>
            <p:nvSpPr>
              <p:cNvPr id="132" name="Text Box 25" descr="60%">
                <a:extLst>
                  <a:ext uri="{FF2B5EF4-FFF2-40B4-BE49-F238E27FC236}">
                    <a16:creationId xmlns:a16="http://schemas.microsoft.com/office/drawing/2014/main" id="{720CFFD1-6BC3-4CAA-931B-DCECFAD0DD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9570" y="5393512"/>
                <a:ext cx="393956" cy="303247"/>
              </a:xfrm>
              <a:prstGeom prst="rect">
                <a:avLst/>
              </a:prstGeom>
              <a:solidFill>
                <a:srgbClr val="5E2E82">
                  <a:alpha val="40000"/>
                </a:srgbClr>
              </a:solidFill>
              <a:ln w="9525" cap="flat" cmpd="sng" algn="ctr">
                <a:solidFill>
                  <a:srgbClr val="5E2E82"/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33" name="Text Box 24">
                <a:extLst>
                  <a:ext uri="{FF2B5EF4-FFF2-40B4-BE49-F238E27FC236}">
                    <a16:creationId xmlns:a16="http://schemas.microsoft.com/office/drawing/2014/main" id="{E746B2D0-4174-4AB2-8EA7-8D394FAD1C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45903" y="5393512"/>
                <a:ext cx="303293" cy="303247"/>
              </a:xfrm>
              <a:prstGeom prst="rect">
                <a:avLst/>
              </a:prstGeom>
              <a:solidFill>
                <a:srgbClr val="5E2E82">
                  <a:alpha val="40000"/>
                </a:srgbClr>
              </a:solidFill>
              <a:ln w="9525" cap="flat" cmpd="sng" algn="ctr">
                <a:solidFill>
                  <a:srgbClr val="5E2E82"/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34" name="Text Box 23" descr="浅色上对角线">
                <a:extLst>
                  <a:ext uri="{FF2B5EF4-FFF2-40B4-BE49-F238E27FC236}">
                    <a16:creationId xmlns:a16="http://schemas.microsoft.com/office/drawing/2014/main" id="{FC58863A-A9CE-4197-81E9-31DF19636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5997" y="5393512"/>
                <a:ext cx="302321" cy="303247"/>
              </a:xfrm>
              <a:prstGeom prst="rect">
                <a:avLst/>
              </a:prstGeom>
              <a:solidFill>
                <a:srgbClr val="5E2E82">
                  <a:alpha val="40000"/>
                </a:srgbClr>
              </a:solidFill>
              <a:ln w="9525" cap="flat" cmpd="sng" algn="ctr">
                <a:solidFill>
                  <a:srgbClr val="5E2E82"/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35" name="Text Box 22">
                <a:extLst>
                  <a:ext uri="{FF2B5EF4-FFF2-40B4-BE49-F238E27FC236}">
                    <a16:creationId xmlns:a16="http://schemas.microsoft.com/office/drawing/2014/main" id="{404F95E8-348F-4530-B9EC-78685CA9B2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24956" y="5393512"/>
                <a:ext cx="878270" cy="303247"/>
              </a:xfrm>
              <a:prstGeom prst="rect">
                <a:avLst/>
              </a:prstGeom>
              <a:noFill/>
              <a:ln w="19050">
                <a:noFill/>
                <a:miter lim="800000"/>
                <a:tailEnd type="none" w="sm" len="sm"/>
              </a:ln>
            </p:spPr>
            <p:txBody>
              <a:bodyPr vert="horz" wrap="square" lIns="18000" tIns="0" rIns="9144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dhead</a:t>
                </a:r>
                <a:endPara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36" name="Line 21">
                <a:extLst>
                  <a:ext uri="{FF2B5EF4-FFF2-40B4-BE49-F238E27FC236}">
                    <a16:creationId xmlns:a16="http://schemas.microsoft.com/office/drawing/2014/main" id="{C1C88AB7-0516-4E81-A6F5-640BF083CF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8536" y="5529585"/>
                <a:ext cx="287739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med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37" name="Text Box 20">
                <a:extLst>
                  <a:ext uri="{FF2B5EF4-FFF2-40B4-BE49-F238E27FC236}">
                    <a16:creationId xmlns:a16="http://schemas.microsoft.com/office/drawing/2014/main" id="{6CDC28D1-8813-4DC1-A32E-DF6C488386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1066" y="5393512"/>
                <a:ext cx="408343" cy="30324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952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000" i="0" u="none" strike="noStrike" kern="0" cap="none" spc="0" normalizeH="0" baseline="-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0</a:t>
                </a:r>
                <a:endPara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38" name="Text Box 19">
                <a:extLst>
                  <a:ext uri="{FF2B5EF4-FFF2-40B4-BE49-F238E27FC236}">
                    <a16:creationId xmlns:a16="http://schemas.microsoft.com/office/drawing/2014/main" id="{C7AA7CBA-8606-431A-A8A2-C33E4864C3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7401" y="5393512"/>
                <a:ext cx="303293" cy="30324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952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39" name="Text Box 18">
                <a:extLst>
                  <a:ext uri="{FF2B5EF4-FFF2-40B4-BE49-F238E27FC236}">
                    <a16:creationId xmlns:a16="http://schemas.microsoft.com/office/drawing/2014/main" id="{F4187861-E8BC-4F2C-9DCE-7A0F663FCA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17494" y="5393512"/>
                <a:ext cx="303293" cy="30324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952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40" name="Line 17">
                <a:extLst>
                  <a:ext uri="{FF2B5EF4-FFF2-40B4-BE49-F238E27FC236}">
                    <a16:creationId xmlns:a16="http://schemas.microsoft.com/office/drawing/2014/main" id="{AD423A11-A377-4A18-88A6-9435A88F4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0043" y="5486819"/>
                <a:ext cx="349953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41" name="Line 16">
                <a:extLst>
                  <a:ext uri="{FF2B5EF4-FFF2-40B4-BE49-F238E27FC236}">
                    <a16:creationId xmlns:a16="http://schemas.microsoft.com/office/drawing/2014/main" id="{10CC8435-A16C-4C4A-BAB8-35720A09B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6694" y="5588873"/>
                <a:ext cx="349953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42" name="Text Box 15">
                <a:extLst>
                  <a:ext uri="{FF2B5EF4-FFF2-40B4-BE49-F238E27FC236}">
                    <a16:creationId xmlns:a16="http://schemas.microsoft.com/office/drawing/2014/main" id="{B6739A39-2755-4A7E-80A5-F609A237AE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76732" y="5393512"/>
                <a:ext cx="410400" cy="30324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952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000" i="0" u="none" strike="noStrike" kern="0" cap="none" spc="0" normalizeH="0" baseline="-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1</a:t>
                </a:r>
                <a:endPara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43" name="Text Box 14">
                <a:extLst>
                  <a:ext uri="{FF2B5EF4-FFF2-40B4-BE49-F238E27FC236}">
                    <a16:creationId xmlns:a16="http://schemas.microsoft.com/office/drawing/2014/main" id="{DC11C8E4-3AC5-40D2-A0F6-5F7437E319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83066" y="5393512"/>
                <a:ext cx="303293" cy="30324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952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44" name="Text Box 13">
                <a:extLst>
                  <a:ext uri="{FF2B5EF4-FFF2-40B4-BE49-F238E27FC236}">
                    <a16:creationId xmlns:a16="http://schemas.microsoft.com/office/drawing/2014/main" id="{221C8D75-B0A2-4539-A60A-A4D1940035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83159" y="5393512"/>
                <a:ext cx="303293" cy="30324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952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45" name="Text Box 12">
                <a:extLst>
                  <a:ext uri="{FF2B5EF4-FFF2-40B4-BE49-F238E27FC236}">
                    <a16:creationId xmlns:a16="http://schemas.microsoft.com/office/drawing/2014/main" id="{4EB96D01-9B33-4C40-8D0E-09F3208F3B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35623" y="5393512"/>
                <a:ext cx="584248" cy="30324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952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2000" i="1" u="none" strike="noStrike" kern="0" cap="none" spc="0" normalizeH="0" baseline="-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n</a:t>
                </a:r>
                <a:r>
                  <a:rPr kumimoji="0" lang="en-US" altLang="zh-CN" sz="2000" i="0" u="none" strike="noStrike" kern="0" cap="none" spc="0" normalizeH="0" baseline="-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-1</a:t>
                </a:r>
                <a:endPara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46" name="Text Box 11">
                <a:extLst>
                  <a:ext uri="{FF2B5EF4-FFF2-40B4-BE49-F238E27FC236}">
                    <a16:creationId xmlns:a16="http://schemas.microsoft.com/office/drawing/2014/main" id="{B8312B4B-DEF6-44DB-AF6B-312DC88FA6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42051" y="5393512"/>
                <a:ext cx="303293" cy="30324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952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47" name="Line 10">
                <a:extLst>
                  <a:ext uri="{FF2B5EF4-FFF2-40B4-BE49-F238E27FC236}">
                    <a16:creationId xmlns:a16="http://schemas.microsoft.com/office/drawing/2014/main" id="{357D0084-F7A2-4168-BE45-20E48A570C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3205" y="5486819"/>
                <a:ext cx="349953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48" name="Line 9">
                <a:extLst>
                  <a:ext uri="{FF2B5EF4-FFF2-40B4-BE49-F238E27FC236}">
                    <a16:creationId xmlns:a16="http://schemas.microsoft.com/office/drawing/2014/main" id="{B02B8980-BA90-4BF6-9A72-10ED4C4964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49857" y="5588873"/>
                <a:ext cx="349953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49" name="Text Box 8">
                <a:extLst>
                  <a:ext uri="{FF2B5EF4-FFF2-40B4-BE49-F238E27FC236}">
                    <a16:creationId xmlns:a16="http://schemas.microsoft.com/office/drawing/2014/main" id="{782BD84A-270C-482C-991F-E43B748752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57573" y="5393512"/>
                <a:ext cx="468549" cy="303247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000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…</a:t>
                </a:r>
              </a:p>
            </p:txBody>
          </p:sp>
          <p:sp>
            <p:nvSpPr>
              <p:cNvPr id="150" name="Line 7">
                <a:extLst>
                  <a:ext uri="{FF2B5EF4-FFF2-40B4-BE49-F238E27FC236}">
                    <a16:creationId xmlns:a16="http://schemas.microsoft.com/office/drawing/2014/main" id="{B5D6336E-A271-4AC0-8EA7-A185851E3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16368" y="5486819"/>
                <a:ext cx="349953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51" name="Line 6">
                <a:extLst>
                  <a:ext uri="{FF2B5EF4-FFF2-40B4-BE49-F238E27FC236}">
                    <a16:creationId xmlns:a16="http://schemas.microsoft.com/office/drawing/2014/main" id="{4CDC3BC5-A1AB-4ABB-8D8E-8B6BE6EFF7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033019" y="5588423"/>
                <a:ext cx="269269" cy="1423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52" name="Line 5">
                <a:extLst>
                  <a:ext uri="{FF2B5EF4-FFF2-40B4-BE49-F238E27FC236}">
                    <a16:creationId xmlns:a16="http://schemas.microsoft.com/office/drawing/2014/main" id="{AEA40A97-5884-4765-8335-26E12D6A60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60019" y="5486819"/>
                <a:ext cx="349953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53" name="Line 4">
                <a:extLst>
                  <a:ext uri="{FF2B5EF4-FFF2-40B4-BE49-F238E27FC236}">
                    <a16:creationId xmlns:a16="http://schemas.microsoft.com/office/drawing/2014/main" id="{62D36CB3-3B6D-46B0-8908-984CF06FD2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776670" y="5588873"/>
                <a:ext cx="349953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54" name="Text Box 3">
                <a:extLst>
                  <a:ext uri="{FF2B5EF4-FFF2-40B4-BE49-F238E27FC236}">
                    <a16:creationId xmlns:a16="http://schemas.microsoft.com/office/drawing/2014/main" id="{394A9625-B9B8-4D0A-A2D9-8B42393E20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19871" y="5393512"/>
                <a:ext cx="303293" cy="30324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952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25200" tIns="0" rIns="0" bIns="0" numCol="1" anchor="ctr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∧</a:t>
                </a:r>
              </a:p>
            </p:txBody>
          </p:sp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2C2F0E46-1FD4-4D23-AC0F-4124272BDEEE}"/>
              </a:ext>
            </a:extLst>
          </p:cNvPr>
          <p:cNvGrpSpPr/>
          <p:nvPr/>
        </p:nvGrpSpPr>
        <p:grpSpPr>
          <a:xfrm>
            <a:off x="610770" y="4548448"/>
            <a:ext cx="6986644" cy="1025651"/>
            <a:chOff x="610770" y="4548448"/>
            <a:chExt cx="6986644" cy="1025651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0689E98-F8FD-4614-933A-04CEB87D8F48}"/>
                </a:ext>
              </a:extLst>
            </p:cNvPr>
            <p:cNvSpPr txBox="1"/>
            <p:nvPr/>
          </p:nvSpPr>
          <p:spPr>
            <a:xfrm>
              <a:off x="2195736" y="4548448"/>
              <a:ext cx="5401678" cy="1025651"/>
            </a:xfrm>
            <a:prstGeom prst="rect">
              <a:avLst/>
            </a:prstGeom>
            <a:solidFill>
              <a:schemeClr val="bg1">
                <a:lumMod val="9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grpSp>
          <p:nvGrpSpPr>
            <p:cNvPr id="176" name="组合 175">
              <a:extLst>
                <a:ext uri="{FF2B5EF4-FFF2-40B4-BE49-F238E27FC236}">
                  <a16:creationId xmlns:a16="http://schemas.microsoft.com/office/drawing/2014/main" id="{30157733-514D-43A7-877B-F89F4D97F8D3}"/>
                </a:ext>
              </a:extLst>
            </p:cNvPr>
            <p:cNvGrpSpPr/>
            <p:nvPr/>
          </p:nvGrpSpPr>
          <p:grpSpPr>
            <a:xfrm>
              <a:off x="2208484" y="4573642"/>
              <a:ext cx="5337772" cy="980733"/>
              <a:chOff x="1185038" y="2428868"/>
              <a:chExt cx="5280125" cy="1004881"/>
            </a:xfrm>
          </p:grpSpPr>
          <p:sp>
            <p:nvSpPr>
              <p:cNvPr id="177" name="Text Box 47">
                <a:extLst>
                  <a:ext uri="{FF2B5EF4-FFF2-40B4-BE49-F238E27FC236}">
                    <a16:creationId xmlns:a16="http://schemas.microsoft.com/office/drawing/2014/main" id="{F7E9AF28-EE1D-4AEE-82D0-60E04D9712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8645" y="2428868"/>
                <a:ext cx="949873" cy="303247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首元结点</a:t>
                </a:r>
              </a:p>
            </p:txBody>
          </p:sp>
          <p:sp>
            <p:nvSpPr>
              <p:cNvPr id="178" name="Text Box 46">
                <a:extLst>
                  <a:ext uri="{FF2B5EF4-FFF2-40B4-BE49-F238E27FC236}">
                    <a16:creationId xmlns:a16="http://schemas.microsoft.com/office/drawing/2014/main" id="{FC14A67E-0CE5-4428-9CBC-06FAC5B328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1512" y="2428868"/>
                <a:ext cx="743651" cy="303247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尾结点</a:t>
                </a:r>
              </a:p>
            </p:txBody>
          </p:sp>
          <p:sp>
            <p:nvSpPr>
              <p:cNvPr id="179" name="Text Box 45">
                <a:extLst>
                  <a:ext uri="{FF2B5EF4-FFF2-40B4-BE49-F238E27FC236}">
                    <a16:creationId xmlns:a16="http://schemas.microsoft.com/office/drawing/2014/main" id="{7BA180C5-D7FC-46C8-A192-84B1D8C10B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5768" y="2428868"/>
                <a:ext cx="743651" cy="303247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头结点</a:t>
                </a:r>
              </a:p>
            </p:txBody>
          </p:sp>
          <p:sp>
            <p:nvSpPr>
              <p:cNvPr id="180" name="Text Box 44" descr="浅色上对角线">
                <a:extLst>
                  <a:ext uri="{FF2B5EF4-FFF2-40B4-BE49-F238E27FC236}">
                    <a16:creationId xmlns:a16="http://schemas.microsoft.com/office/drawing/2014/main" id="{8A80714B-5857-4C73-96C7-CAFAC1DB84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7839" y="2806370"/>
                <a:ext cx="410482" cy="324000"/>
              </a:xfrm>
              <a:prstGeom prst="rect">
                <a:avLst/>
              </a:prstGeom>
              <a:solidFill>
                <a:srgbClr val="5E2E82">
                  <a:alpha val="50196"/>
                </a:srgbClr>
              </a:solidFill>
              <a:ln w="6350" cap="flat" cmpd="sng" algn="ctr">
                <a:solidFill>
                  <a:srgbClr val="5E2E82"/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Consolas" panose="020B0609020204030204" pitchFamily="49" charset="0"/>
                  </a:rPr>
                  <a:t>    </a:t>
                </a:r>
              </a:p>
            </p:txBody>
          </p:sp>
          <p:sp>
            <p:nvSpPr>
              <p:cNvPr id="181" name="Text Box 43">
                <a:extLst>
                  <a:ext uri="{FF2B5EF4-FFF2-40B4-BE49-F238E27FC236}">
                    <a16:creationId xmlns:a16="http://schemas.microsoft.com/office/drawing/2014/main" id="{62CE1047-4219-4520-AB06-D46E4AAF4F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4173" y="2806370"/>
                <a:ext cx="303293" cy="324000"/>
              </a:xfrm>
              <a:prstGeom prst="rect">
                <a:avLst/>
              </a:prstGeom>
              <a:solidFill>
                <a:srgbClr val="5E2E82">
                  <a:alpha val="50196"/>
                </a:srgbClr>
              </a:solidFill>
              <a:ln w="6350" cap="flat" cmpd="sng" algn="ctr">
                <a:solidFill>
                  <a:srgbClr val="5E2E82"/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82" name="Text Box 42">
                <a:extLst>
                  <a:ext uri="{FF2B5EF4-FFF2-40B4-BE49-F238E27FC236}">
                    <a16:creationId xmlns:a16="http://schemas.microsoft.com/office/drawing/2014/main" id="{5E3B35EB-996A-40F0-B135-8D0284B919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57976" y="2806370"/>
                <a:ext cx="410400" cy="324000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1800" i="0" u="none" strike="noStrike" kern="0" cap="none" spc="0" normalizeH="0" baseline="-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0</a:t>
                </a:r>
                <a:endParaRPr kumimoji="0" lang="en-US" altLang="zh-CN" sz="180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83" name="Text Box 41">
                <a:extLst>
                  <a:ext uri="{FF2B5EF4-FFF2-40B4-BE49-F238E27FC236}">
                    <a16:creationId xmlns:a16="http://schemas.microsoft.com/office/drawing/2014/main" id="{4A7C0A8F-F8A0-46B5-B071-AF314C43F9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64312" y="2806370"/>
                <a:ext cx="303293" cy="324000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84" name="Text Box 40">
                <a:extLst>
                  <a:ext uri="{FF2B5EF4-FFF2-40B4-BE49-F238E27FC236}">
                    <a16:creationId xmlns:a16="http://schemas.microsoft.com/office/drawing/2014/main" id="{F01C1577-8EB2-4612-A5A4-A97C4C603B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51185" y="2806370"/>
                <a:ext cx="468549" cy="324000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i="1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1800" i="1" u="none" strike="noStrike" kern="0" cap="none" spc="0" normalizeH="0" baseline="-3000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n</a:t>
                </a:r>
                <a:r>
                  <a:rPr kumimoji="0" lang="en-US" altLang="zh-CN" sz="1800" i="0" u="none" strike="noStrike" kern="0" cap="none" spc="0" normalizeH="0" baseline="-3000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-1</a:t>
                </a:r>
                <a:endParaRPr kumimoji="0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85" name="Text Box 39">
                <a:extLst>
                  <a:ext uri="{FF2B5EF4-FFF2-40B4-BE49-F238E27FC236}">
                    <a16:creationId xmlns:a16="http://schemas.microsoft.com/office/drawing/2014/main" id="{CECE8B14-3F7C-4A6B-8B56-3B9EFB0804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07237" y="2806370"/>
                <a:ext cx="304265" cy="324000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2520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86" name="Line 38">
                <a:extLst>
                  <a:ext uri="{FF2B5EF4-FFF2-40B4-BE49-F238E27FC236}">
                    <a16:creationId xmlns:a16="http://schemas.microsoft.com/office/drawing/2014/main" id="{13E47850-891B-42AD-AAA6-932D7481A8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2768" y="2957023"/>
                <a:ext cx="524930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87" name="Text Box 37">
                <a:extLst>
                  <a:ext uri="{FF2B5EF4-FFF2-40B4-BE49-F238E27FC236}">
                    <a16:creationId xmlns:a16="http://schemas.microsoft.com/office/drawing/2014/main" id="{BD117537-998A-4841-A5A3-87DB3E1D1D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2582" y="2806370"/>
                <a:ext cx="410400" cy="324000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i="1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1800" i="0" u="none" strike="noStrike" kern="0" cap="none" spc="0" normalizeH="0" baseline="-3000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1</a:t>
                </a:r>
                <a:endParaRPr kumimoji="0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88" name="Text Box 36">
                <a:extLst>
                  <a:ext uri="{FF2B5EF4-FFF2-40B4-BE49-F238E27FC236}">
                    <a16:creationId xmlns:a16="http://schemas.microsoft.com/office/drawing/2014/main" id="{FB99F25C-8908-4AE5-8C2C-B7E0DC29C4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8917" y="2806370"/>
                <a:ext cx="303293" cy="324000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89" name="Line 35">
                <a:extLst>
                  <a:ext uri="{FF2B5EF4-FFF2-40B4-BE49-F238E27FC236}">
                    <a16:creationId xmlns:a16="http://schemas.microsoft.com/office/drawing/2014/main" id="{B6F1961E-826B-4194-B64D-AD0DFE29B4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7512" y="2957023"/>
                <a:ext cx="524930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90" name="Line 34">
                <a:extLst>
                  <a:ext uri="{FF2B5EF4-FFF2-40B4-BE49-F238E27FC236}">
                    <a16:creationId xmlns:a16="http://schemas.microsoft.com/office/drawing/2014/main" id="{DC5F16F2-BF89-46B0-B11A-021BCB0D21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2628" y="2957023"/>
                <a:ext cx="349953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91" name="Text Box 33">
                <a:extLst>
                  <a:ext uri="{FF2B5EF4-FFF2-40B4-BE49-F238E27FC236}">
                    <a16:creationId xmlns:a16="http://schemas.microsoft.com/office/drawing/2014/main" id="{88E39213-EAEC-4C0C-8A64-0B53D15F2D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442" y="2806371"/>
                <a:ext cx="468549" cy="302275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…</a:t>
                </a:r>
              </a:p>
            </p:txBody>
          </p:sp>
          <p:sp>
            <p:nvSpPr>
              <p:cNvPr id="192" name="Line 32">
                <a:extLst>
                  <a:ext uri="{FF2B5EF4-FFF2-40B4-BE49-F238E27FC236}">
                    <a16:creationId xmlns:a16="http://schemas.microsoft.com/office/drawing/2014/main" id="{2501A91D-A2B4-4792-898C-1DBE04D419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65390" y="2957023"/>
                <a:ext cx="285795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93" name="Text Box 31">
                <a:extLst>
                  <a:ext uri="{FF2B5EF4-FFF2-40B4-BE49-F238E27FC236}">
                    <a16:creationId xmlns:a16="http://schemas.microsoft.com/office/drawing/2014/main" id="{F6E75EA1-3251-4E5B-B79D-FE722525D2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5038" y="2806371"/>
                <a:ext cx="629632" cy="302275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head</a:t>
                </a:r>
              </a:p>
            </p:txBody>
          </p:sp>
          <p:sp>
            <p:nvSpPr>
              <p:cNvPr id="194" name="Line 30">
                <a:extLst>
                  <a:ext uri="{FF2B5EF4-FFF2-40B4-BE49-F238E27FC236}">
                    <a16:creationId xmlns:a16="http://schemas.microsoft.com/office/drawing/2014/main" id="{015AC730-829C-4367-ACD3-C45A31B3E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0905" y="2957023"/>
                <a:ext cx="226933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arrow" w="sm" len="med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95" name="任意多边形 55">
                <a:extLst>
                  <a:ext uri="{FF2B5EF4-FFF2-40B4-BE49-F238E27FC236}">
                    <a16:creationId xmlns:a16="http://schemas.microsoft.com/office/drawing/2014/main" id="{24B2B0BF-39A3-4102-B557-7C81FE93071A}"/>
                  </a:ext>
                </a:extLst>
              </p:cNvPr>
              <p:cNvSpPr/>
              <p:nvPr/>
            </p:nvSpPr>
            <p:spPr>
              <a:xfrm>
                <a:off x="2270722" y="3004457"/>
                <a:ext cx="3945859" cy="429292"/>
              </a:xfrm>
              <a:custGeom>
                <a:avLst/>
                <a:gdLst>
                  <a:gd name="connsiteX0" fmla="*/ 3707841 w 3721239"/>
                  <a:gd name="connsiteY0" fmla="*/ 0 h 509116"/>
                  <a:gd name="connsiteX1" fmla="*/ 3687745 w 3721239"/>
                  <a:gd name="connsiteY1" fmla="*/ 301451 h 509116"/>
                  <a:gd name="connsiteX2" fmla="*/ 3506874 w 3721239"/>
                  <a:gd name="connsiteY2" fmla="*/ 391886 h 509116"/>
                  <a:gd name="connsiteX3" fmla="*/ 2562329 w 3721239"/>
                  <a:gd name="connsiteY3" fmla="*/ 492369 h 509116"/>
                  <a:gd name="connsiteX4" fmla="*/ 964641 w 3721239"/>
                  <a:gd name="connsiteY4" fmla="*/ 492369 h 509116"/>
                  <a:gd name="connsiteX5" fmla="*/ 452175 w 3721239"/>
                  <a:gd name="connsiteY5" fmla="*/ 411983 h 509116"/>
                  <a:gd name="connsiteX6" fmla="*/ 0 w 3721239"/>
                  <a:gd name="connsiteY6" fmla="*/ 130629 h 509116"/>
                  <a:gd name="connsiteX0-1" fmla="*/ 3707841 w 3770224"/>
                  <a:gd name="connsiteY0-2" fmla="*/ 0 h 505767"/>
                  <a:gd name="connsiteX1-3" fmla="*/ 3687745 w 3770224"/>
                  <a:gd name="connsiteY1-4" fmla="*/ 301451 h 505767"/>
                  <a:gd name="connsiteX2-5" fmla="*/ 3212968 w 3770224"/>
                  <a:gd name="connsiteY2-6" fmla="*/ 424543 h 505767"/>
                  <a:gd name="connsiteX3-7" fmla="*/ 2562329 w 3770224"/>
                  <a:gd name="connsiteY3-8" fmla="*/ 492369 h 505767"/>
                  <a:gd name="connsiteX4-9" fmla="*/ 964641 w 3770224"/>
                  <a:gd name="connsiteY4-10" fmla="*/ 492369 h 505767"/>
                  <a:gd name="connsiteX5-11" fmla="*/ 452175 w 3770224"/>
                  <a:gd name="connsiteY5-12" fmla="*/ 411983 h 505767"/>
                  <a:gd name="connsiteX6-13" fmla="*/ 0 w 3770224"/>
                  <a:gd name="connsiteY6-14" fmla="*/ 130629 h 505767"/>
                  <a:gd name="connsiteX0-15" fmla="*/ 3707841 w 3714540"/>
                  <a:gd name="connsiteY0-16" fmla="*/ 0 h 505767"/>
                  <a:gd name="connsiteX1-17" fmla="*/ 3570157 w 3714540"/>
                  <a:gd name="connsiteY1-18" fmla="*/ 353106 h 505767"/>
                  <a:gd name="connsiteX2-19" fmla="*/ 3212968 w 3714540"/>
                  <a:gd name="connsiteY2-20" fmla="*/ 424543 h 505767"/>
                  <a:gd name="connsiteX3-21" fmla="*/ 2562329 w 3714540"/>
                  <a:gd name="connsiteY3-22" fmla="*/ 492369 h 505767"/>
                  <a:gd name="connsiteX4-23" fmla="*/ 964641 w 3714540"/>
                  <a:gd name="connsiteY4-24" fmla="*/ 492369 h 505767"/>
                  <a:gd name="connsiteX5-25" fmla="*/ 452175 w 3714540"/>
                  <a:gd name="connsiteY5-26" fmla="*/ 411983 h 505767"/>
                  <a:gd name="connsiteX6-27" fmla="*/ 0 w 3714540"/>
                  <a:gd name="connsiteY6-28" fmla="*/ 130629 h 505767"/>
                  <a:gd name="connsiteX0-29" fmla="*/ 3707841 w 3714540"/>
                  <a:gd name="connsiteY0-30" fmla="*/ 0 h 519193"/>
                  <a:gd name="connsiteX1-31" fmla="*/ 3570157 w 3714540"/>
                  <a:gd name="connsiteY1-32" fmla="*/ 353106 h 519193"/>
                  <a:gd name="connsiteX2-33" fmla="*/ 3070091 w 3714540"/>
                  <a:gd name="connsiteY2-34" fmla="*/ 495982 h 519193"/>
                  <a:gd name="connsiteX3-35" fmla="*/ 2562329 w 3714540"/>
                  <a:gd name="connsiteY3-36" fmla="*/ 492369 h 519193"/>
                  <a:gd name="connsiteX4-37" fmla="*/ 964641 w 3714540"/>
                  <a:gd name="connsiteY4-38" fmla="*/ 492369 h 519193"/>
                  <a:gd name="connsiteX5-39" fmla="*/ 452175 w 3714540"/>
                  <a:gd name="connsiteY5-40" fmla="*/ 411983 h 519193"/>
                  <a:gd name="connsiteX6-41" fmla="*/ 0 w 3714540"/>
                  <a:gd name="connsiteY6-42" fmla="*/ 130629 h 519193"/>
                  <a:gd name="connsiteX0-43" fmla="*/ 3707841 w 3714540"/>
                  <a:gd name="connsiteY0-44" fmla="*/ 0 h 568022"/>
                  <a:gd name="connsiteX1-45" fmla="*/ 3570157 w 3714540"/>
                  <a:gd name="connsiteY1-46" fmla="*/ 353106 h 568022"/>
                  <a:gd name="connsiteX2-47" fmla="*/ 3070091 w 3714540"/>
                  <a:gd name="connsiteY2-48" fmla="*/ 495982 h 568022"/>
                  <a:gd name="connsiteX3-49" fmla="*/ 2355711 w 3714540"/>
                  <a:gd name="connsiteY3-50" fmla="*/ 567420 h 568022"/>
                  <a:gd name="connsiteX4-51" fmla="*/ 964641 w 3714540"/>
                  <a:gd name="connsiteY4-52" fmla="*/ 492369 h 568022"/>
                  <a:gd name="connsiteX5-53" fmla="*/ 452175 w 3714540"/>
                  <a:gd name="connsiteY5-54" fmla="*/ 411983 h 568022"/>
                  <a:gd name="connsiteX6-55" fmla="*/ 0 w 3714540"/>
                  <a:gd name="connsiteY6-56" fmla="*/ 130629 h 568022"/>
                  <a:gd name="connsiteX0-57" fmla="*/ 3707841 w 3714540"/>
                  <a:gd name="connsiteY0-58" fmla="*/ 0 h 568022"/>
                  <a:gd name="connsiteX1-59" fmla="*/ 3570157 w 3714540"/>
                  <a:gd name="connsiteY1-60" fmla="*/ 353106 h 568022"/>
                  <a:gd name="connsiteX2-61" fmla="*/ 3070091 w 3714540"/>
                  <a:gd name="connsiteY2-62" fmla="*/ 495982 h 568022"/>
                  <a:gd name="connsiteX3-63" fmla="*/ 2355711 w 3714540"/>
                  <a:gd name="connsiteY3-64" fmla="*/ 567420 h 568022"/>
                  <a:gd name="connsiteX4-65" fmla="*/ 964641 w 3714540"/>
                  <a:gd name="connsiteY4-66" fmla="*/ 492369 h 568022"/>
                  <a:gd name="connsiteX5-67" fmla="*/ 212571 w 3714540"/>
                  <a:gd name="connsiteY5-68" fmla="*/ 424543 h 568022"/>
                  <a:gd name="connsiteX6-69" fmla="*/ 0 w 3714540"/>
                  <a:gd name="connsiteY6-70" fmla="*/ 130629 h 568022"/>
                  <a:gd name="connsiteX0-71" fmla="*/ 3707841 w 3714540"/>
                  <a:gd name="connsiteY0-72" fmla="*/ 0 h 568022"/>
                  <a:gd name="connsiteX1-73" fmla="*/ 3570157 w 3714540"/>
                  <a:gd name="connsiteY1-74" fmla="*/ 353106 h 568022"/>
                  <a:gd name="connsiteX2-75" fmla="*/ 3070091 w 3714540"/>
                  <a:gd name="connsiteY2-76" fmla="*/ 495982 h 568022"/>
                  <a:gd name="connsiteX3-77" fmla="*/ 2355711 w 3714540"/>
                  <a:gd name="connsiteY3-78" fmla="*/ 567420 h 568022"/>
                  <a:gd name="connsiteX4-79" fmla="*/ 964641 w 3714540"/>
                  <a:gd name="connsiteY4-80" fmla="*/ 492369 h 568022"/>
                  <a:gd name="connsiteX5-81" fmla="*/ 355447 w 3714540"/>
                  <a:gd name="connsiteY5-82" fmla="*/ 424543 h 568022"/>
                  <a:gd name="connsiteX6-83" fmla="*/ 0 w 3714540"/>
                  <a:gd name="connsiteY6-84" fmla="*/ 130629 h 568022"/>
                  <a:gd name="connsiteX0-85" fmla="*/ 3707841 w 3714540"/>
                  <a:gd name="connsiteY0-86" fmla="*/ 0 h 568021"/>
                  <a:gd name="connsiteX1-87" fmla="*/ 3570157 w 3714540"/>
                  <a:gd name="connsiteY1-88" fmla="*/ 353106 h 568021"/>
                  <a:gd name="connsiteX2-89" fmla="*/ 3070091 w 3714540"/>
                  <a:gd name="connsiteY2-90" fmla="*/ 495982 h 568021"/>
                  <a:gd name="connsiteX3-91" fmla="*/ 2355711 w 3714540"/>
                  <a:gd name="connsiteY3-92" fmla="*/ 567419 h 568021"/>
                  <a:gd name="connsiteX4-93" fmla="*/ 964641 w 3714540"/>
                  <a:gd name="connsiteY4-94" fmla="*/ 492369 h 568021"/>
                  <a:gd name="connsiteX5-95" fmla="*/ 355447 w 3714540"/>
                  <a:gd name="connsiteY5-96" fmla="*/ 424543 h 568021"/>
                  <a:gd name="connsiteX6-97" fmla="*/ 0 w 3714540"/>
                  <a:gd name="connsiteY6-98" fmla="*/ 130629 h 568021"/>
                  <a:gd name="connsiteX0-99" fmla="*/ 3707841 w 3714540"/>
                  <a:gd name="connsiteY0-100" fmla="*/ 0 h 591233"/>
                  <a:gd name="connsiteX1-101" fmla="*/ 3570157 w 3714540"/>
                  <a:gd name="connsiteY1-102" fmla="*/ 353106 h 591233"/>
                  <a:gd name="connsiteX2-103" fmla="*/ 3070091 w 3714540"/>
                  <a:gd name="connsiteY2-104" fmla="*/ 495982 h 591233"/>
                  <a:gd name="connsiteX3-105" fmla="*/ 2355711 w 3714540"/>
                  <a:gd name="connsiteY3-106" fmla="*/ 567419 h 591233"/>
                  <a:gd name="connsiteX4-107" fmla="*/ 998389 w 3714540"/>
                  <a:gd name="connsiteY4-108" fmla="*/ 567420 h 591233"/>
                  <a:gd name="connsiteX5-109" fmla="*/ 355447 w 3714540"/>
                  <a:gd name="connsiteY5-110" fmla="*/ 424543 h 591233"/>
                  <a:gd name="connsiteX6-111" fmla="*/ 0 w 3714540"/>
                  <a:gd name="connsiteY6-112" fmla="*/ 130629 h 59123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</a:cxnLst>
                <a:rect l="l" t="t" r="r" b="b"/>
                <a:pathLst>
                  <a:path w="3714540" h="591233">
                    <a:moveTo>
                      <a:pt x="3707841" y="0"/>
                    </a:moveTo>
                    <a:cubicBezTo>
                      <a:pt x="3714540" y="118068"/>
                      <a:pt x="3676449" y="270442"/>
                      <a:pt x="3570157" y="353106"/>
                    </a:cubicBezTo>
                    <a:cubicBezTo>
                      <a:pt x="3463865" y="435770"/>
                      <a:pt x="3272499" y="460263"/>
                      <a:pt x="3070091" y="495982"/>
                    </a:cubicBezTo>
                    <a:cubicBezTo>
                      <a:pt x="2867683" y="531701"/>
                      <a:pt x="2700995" y="555513"/>
                      <a:pt x="2355711" y="567419"/>
                    </a:cubicBezTo>
                    <a:cubicBezTo>
                      <a:pt x="2010427" y="579325"/>
                      <a:pt x="1331766" y="591233"/>
                      <a:pt x="998389" y="567420"/>
                    </a:cubicBezTo>
                    <a:cubicBezTo>
                      <a:pt x="665012" y="543607"/>
                      <a:pt x="521845" y="497342"/>
                      <a:pt x="355447" y="424543"/>
                    </a:cubicBezTo>
                    <a:cubicBezTo>
                      <a:pt x="189049" y="351745"/>
                      <a:pt x="145701" y="241161"/>
                      <a:pt x="0" y="130629"/>
                    </a:cubicBezTo>
                  </a:path>
                </a:pathLst>
              </a:cu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A8A96C4-19DF-464D-AA0A-102D17C15860}"/>
                </a:ext>
              </a:extLst>
            </p:cNvPr>
            <p:cNvSpPr txBox="1"/>
            <p:nvPr/>
          </p:nvSpPr>
          <p:spPr>
            <a:xfrm>
              <a:off x="610770" y="4872929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</a:rPr>
                <a:t>循环单链表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C0E9E72-393E-4F95-9FA4-81187E7F12E6}"/>
              </a:ext>
            </a:extLst>
          </p:cNvPr>
          <p:cNvGrpSpPr/>
          <p:nvPr/>
        </p:nvGrpSpPr>
        <p:grpSpPr>
          <a:xfrm>
            <a:off x="610606" y="5617201"/>
            <a:ext cx="8510914" cy="1240799"/>
            <a:chOff x="610606" y="5617201"/>
            <a:chExt cx="8510914" cy="1240799"/>
          </a:xfrm>
        </p:grpSpPr>
        <p:sp>
          <p:nvSpPr>
            <p:cNvPr id="259" name="文本框 258">
              <a:extLst>
                <a:ext uri="{FF2B5EF4-FFF2-40B4-BE49-F238E27FC236}">
                  <a16:creationId xmlns:a16="http://schemas.microsoft.com/office/drawing/2014/main" id="{C3943125-2AA8-43BE-9044-FF2C605CA50B}"/>
                </a:ext>
              </a:extLst>
            </p:cNvPr>
            <p:cNvSpPr txBox="1"/>
            <p:nvPr/>
          </p:nvSpPr>
          <p:spPr>
            <a:xfrm>
              <a:off x="2175784" y="5617201"/>
              <a:ext cx="6945736" cy="1240799"/>
            </a:xfrm>
            <a:prstGeom prst="rect">
              <a:avLst/>
            </a:prstGeom>
            <a:solidFill>
              <a:schemeClr val="bg1">
                <a:lumMod val="9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grpSp>
          <p:nvGrpSpPr>
            <p:cNvPr id="225" name="组合 224">
              <a:extLst>
                <a:ext uri="{FF2B5EF4-FFF2-40B4-BE49-F238E27FC236}">
                  <a16:creationId xmlns:a16="http://schemas.microsoft.com/office/drawing/2014/main" id="{1AB83A92-0728-4E0E-AE50-4FA045CCBFEA}"/>
                </a:ext>
              </a:extLst>
            </p:cNvPr>
            <p:cNvGrpSpPr/>
            <p:nvPr/>
          </p:nvGrpSpPr>
          <p:grpSpPr>
            <a:xfrm>
              <a:off x="2234835" y="5661248"/>
              <a:ext cx="6737442" cy="1135597"/>
              <a:chOff x="1077443" y="1457712"/>
              <a:chExt cx="6620333" cy="1135597"/>
            </a:xfrm>
          </p:grpSpPr>
          <p:sp>
            <p:nvSpPr>
              <p:cNvPr id="226" name="Text Box 28">
                <a:extLst>
                  <a:ext uri="{FF2B5EF4-FFF2-40B4-BE49-F238E27FC236}">
                    <a16:creationId xmlns:a16="http://schemas.microsoft.com/office/drawing/2014/main" id="{00587FD5-B818-46ED-B138-369AB15B3E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46495" y="1643050"/>
                <a:ext cx="1011192" cy="303247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首元结点</a:t>
                </a:r>
              </a:p>
            </p:txBody>
          </p:sp>
          <p:sp>
            <p:nvSpPr>
              <p:cNvPr id="227" name="Text Box 27">
                <a:extLst>
                  <a:ext uri="{FF2B5EF4-FFF2-40B4-BE49-F238E27FC236}">
                    <a16:creationId xmlns:a16="http://schemas.microsoft.com/office/drawing/2014/main" id="{F9CFE08B-A1D2-4ED6-A6AB-CAA40B29EF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22893" y="1643050"/>
                <a:ext cx="743651" cy="303247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尾结点</a:t>
                </a:r>
              </a:p>
            </p:txBody>
          </p:sp>
          <p:sp>
            <p:nvSpPr>
              <p:cNvPr id="228" name="Text Box 26">
                <a:extLst>
                  <a:ext uri="{FF2B5EF4-FFF2-40B4-BE49-F238E27FC236}">
                    <a16:creationId xmlns:a16="http://schemas.microsoft.com/office/drawing/2014/main" id="{F52D9E90-E152-4908-A90B-900D9C7A0E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8860" y="1643050"/>
                <a:ext cx="743651" cy="303247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头结点</a:t>
                </a:r>
              </a:p>
            </p:txBody>
          </p:sp>
          <p:sp>
            <p:nvSpPr>
              <p:cNvPr id="229" name="Text Box 25" descr="60%">
                <a:extLst>
                  <a:ext uri="{FF2B5EF4-FFF2-40B4-BE49-F238E27FC236}">
                    <a16:creationId xmlns:a16="http://schemas.microsoft.com/office/drawing/2014/main" id="{0ABE1CA0-7764-4F65-96BD-BB4DD28D2E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2095" y="2011417"/>
                <a:ext cx="393956" cy="303247"/>
              </a:xfrm>
              <a:prstGeom prst="rect">
                <a:avLst/>
              </a:prstGeom>
              <a:solidFill>
                <a:srgbClr val="5E2E82">
                  <a:alpha val="50196"/>
                </a:srgbClr>
              </a:solidFill>
              <a:ln w="6350" cap="flat" cmpd="sng" algn="ctr">
                <a:solidFill>
                  <a:srgbClr val="5E2E82"/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30" name="Text Box 24">
                <a:extLst>
                  <a:ext uri="{FF2B5EF4-FFF2-40B4-BE49-F238E27FC236}">
                    <a16:creationId xmlns:a16="http://schemas.microsoft.com/office/drawing/2014/main" id="{A79D2480-8A59-4115-944D-0A3BE8762E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8380" y="2011417"/>
                <a:ext cx="303293" cy="303247"/>
              </a:xfrm>
              <a:prstGeom prst="rect">
                <a:avLst/>
              </a:prstGeom>
              <a:solidFill>
                <a:srgbClr val="5E2E82">
                  <a:alpha val="50196"/>
                </a:srgbClr>
              </a:solidFill>
              <a:ln w="6350" cap="flat" cmpd="sng" algn="ctr">
                <a:solidFill>
                  <a:srgbClr val="5E2E82"/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31" name="Text Box 23" descr="浅色上对角线">
                <a:extLst>
                  <a:ext uri="{FF2B5EF4-FFF2-40B4-BE49-F238E27FC236}">
                    <a16:creationId xmlns:a16="http://schemas.microsoft.com/office/drawing/2014/main" id="{1B58EBE0-A248-418A-91DE-F650C0AAB1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8522" y="2011417"/>
                <a:ext cx="302321" cy="303247"/>
              </a:xfrm>
              <a:prstGeom prst="rect">
                <a:avLst/>
              </a:prstGeom>
              <a:solidFill>
                <a:srgbClr val="5E2E82">
                  <a:alpha val="50196"/>
                </a:srgbClr>
              </a:solidFill>
              <a:ln w="6350" cap="flat" cmpd="sng" algn="ctr">
                <a:solidFill>
                  <a:srgbClr val="5E2E82"/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32" name="Text Box 22">
                <a:extLst>
                  <a:ext uri="{FF2B5EF4-FFF2-40B4-BE49-F238E27FC236}">
                    <a16:creationId xmlns:a16="http://schemas.microsoft.com/office/drawing/2014/main" id="{90100E5C-7F89-443D-844C-765039D490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7443" y="2011417"/>
                <a:ext cx="842214" cy="196333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18000" tIns="0" rIns="9144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dhead</a:t>
                </a:r>
              </a:p>
            </p:txBody>
          </p:sp>
          <p:sp>
            <p:nvSpPr>
              <p:cNvPr id="233" name="Line 21">
                <a:extLst>
                  <a:ext uri="{FF2B5EF4-FFF2-40B4-BE49-F238E27FC236}">
                    <a16:creationId xmlns:a16="http://schemas.microsoft.com/office/drawing/2014/main" id="{8E9F99D8-BC2C-445D-B7F5-1AC5510D21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9286" y="2148462"/>
                <a:ext cx="219514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arrow" w="sm" len="med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34" name="Text Box 20">
                <a:extLst>
                  <a:ext uri="{FF2B5EF4-FFF2-40B4-BE49-F238E27FC236}">
                    <a16:creationId xmlns:a16="http://schemas.microsoft.com/office/drawing/2014/main" id="{31F76B91-DCB8-4722-B98F-44B592201A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3591" y="2011417"/>
                <a:ext cx="408343" cy="303247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9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i="1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1800" i="0" u="none" strike="noStrike" kern="0" cap="none" spc="0" normalizeH="0" baseline="-3000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0</a:t>
                </a:r>
                <a:endParaRPr kumimoji="0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35" name="Text Box 19">
                <a:extLst>
                  <a:ext uri="{FF2B5EF4-FFF2-40B4-BE49-F238E27FC236}">
                    <a16:creationId xmlns:a16="http://schemas.microsoft.com/office/drawing/2014/main" id="{D7ECB0D9-B127-4CB2-AEF2-B1E13EAC38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9926" y="2011417"/>
                <a:ext cx="303293" cy="303247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36" name="Text Box 18">
                <a:extLst>
                  <a:ext uri="{FF2B5EF4-FFF2-40B4-BE49-F238E27FC236}">
                    <a16:creationId xmlns:a16="http://schemas.microsoft.com/office/drawing/2014/main" id="{504BB954-A893-4C22-94DD-01CED0349D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0019" y="2011417"/>
                <a:ext cx="303293" cy="303247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37" name="Line 17">
                <a:extLst>
                  <a:ext uri="{FF2B5EF4-FFF2-40B4-BE49-F238E27FC236}">
                    <a16:creationId xmlns:a16="http://schemas.microsoft.com/office/drawing/2014/main" id="{640F0DEF-C910-4ADA-83BC-744546333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2568" y="2104724"/>
                <a:ext cx="349953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38" name="Line 16">
                <a:extLst>
                  <a:ext uri="{FF2B5EF4-FFF2-40B4-BE49-F238E27FC236}">
                    <a16:creationId xmlns:a16="http://schemas.microsoft.com/office/drawing/2014/main" id="{5C8F4EFC-0172-4A70-B382-E6791B78AD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19219" y="2206778"/>
                <a:ext cx="349953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39" name="Text Box 15">
                <a:extLst>
                  <a:ext uri="{FF2B5EF4-FFF2-40B4-BE49-F238E27FC236}">
                    <a16:creationId xmlns:a16="http://schemas.microsoft.com/office/drawing/2014/main" id="{408E8AA8-F67B-425F-AC1E-C6C2540F1F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9257" y="2011417"/>
                <a:ext cx="410400" cy="303247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9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i="1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1800" i="0" u="none" strike="noStrike" kern="0" cap="none" spc="0" normalizeH="0" baseline="-3000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1</a:t>
                </a:r>
                <a:endParaRPr kumimoji="0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40" name="Text Box 14">
                <a:extLst>
                  <a:ext uri="{FF2B5EF4-FFF2-40B4-BE49-F238E27FC236}">
                    <a16:creationId xmlns:a16="http://schemas.microsoft.com/office/drawing/2014/main" id="{19F3D2BE-227E-4D91-9273-6D87A0D4D8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5591" y="2011417"/>
                <a:ext cx="303293" cy="303247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41" name="Text Box 13">
                <a:extLst>
                  <a:ext uri="{FF2B5EF4-FFF2-40B4-BE49-F238E27FC236}">
                    <a16:creationId xmlns:a16="http://schemas.microsoft.com/office/drawing/2014/main" id="{4DFF0322-C8DE-46D1-9BCF-428780A3A4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5684" y="2011417"/>
                <a:ext cx="303293" cy="303247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42" name="Text Box 12">
                <a:extLst>
                  <a:ext uri="{FF2B5EF4-FFF2-40B4-BE49-F238E27FC236}">
                    <a16:creationId xmlns:a16="http://schemas.microsoft.com/office/drawing/2014/main" id="{AC4AFB47-704D-4D7B-96EF-934457D0A8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88148" y="2011417"/>
                <a:ext cx="410400" cy="303247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19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i="1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kumimoji="0" lang="en-US" altLang="zh-CN" sz="1800" i="1" u="none" strike="noStrike" kern="0" cap="none" spc="0" normalizeH="0" baseline="-3000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n</a:t>
                </a:r>
                <a:r>
                  <a:rPr kumimoji="0" lang="en-US" altLang="zh-CN" sz="1800" i="0" u="none" strike="noStrike" kern="0" cap="none" spc="0" normalizeH="0" baseline="-3000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等线" panose="02010600030101010101" pitchFamily="2" charset="-122"/>
                    <a:cs typeface="Consolas" panose="020B0609020204030204" pitchFamily="49" charset="0"/>
                  </a:rPr>
                  <a:t>-1</a:t>
                </a:r>
                <a:endParaRPr kumimoji="0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43" name="Text Box 11">
                <a:extLst>
                  <a:ext uri="{FF2B5EF4-FFF2-40B4-BE49-F238E27FC236}">
                    <a16:creationId xmlns:a16="http://schemas.microsoft.com/office/drawing/2014/main" id="{E42C5F1C-3EB5-49F7-9749-2409BC919A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94576" y="2011417"/>
                <a:ext cx="303293" cy="303247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44" name="Line 10">
                <a:extLst>
                  <a:ext uri="{FF2B5EF4-FFF2-40B4-BE49-F238E27FC236}">
                    <a16:creationId xmlns:a16="http://schemas.microsoft.com/office/drawing/2014/main" id="{EA0C9ED9-8780-4149-B96A-0B8316D3B0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5730" y="2104724"/>
                <a:ext cx="349953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45" name="Line 9">
                <a:extLst>
                  <a:ext uri="{FF2B5EF4-FFF2-40B4-BE49-F238E27FC236}">
                    <a16:creationId xmlns:a16="http://schemas.microsoft.com/office/drawing/2014/main" id="{15FABEC5-1C74-44CD-ACB9-DC08C8D554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02382" y="2206778"/>
                <a:ext cx="349953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46" name="Text Box 8">
                <a:extLst>
                  <a:ext uri="{FF2B5EF4-FFF2-40B4-BE49-F238E27FC236}">
                    <a16:creationId xmlns:a16="http://schemas.microsoft.com/office/drawing/2014/main" id="{F63CC539-9279-4DBE-B555-67391CD01A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55613" y="2011417"/>
                <a:ext cx="468549" cy="303247"/>
              </a:xfrm>
              <a:prstGeom prst="rect">
                <a:avLst/>
              </a:prstGeom>
              <a:noFill/>
              <a:ln w="9525">
                <a:noFill/>
                <a:miter lim="800000"/>
                <a:tailEnd type="none" w="sm" len="sm"/>
              </a:ln>
            </p:spPr>
            <p:txBody>
              <a:bodyPr vert="horz" wrap="square" lIns="91440" tIns="0" rIns="9144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…</a:t>
                </a:r>
              </a:p>
            </p:txBody>
          </p:sp>
          <p:sp>
            <p:nvSpPr>
              <p:cNvPr id="247" name="Line 7">
                <a:extLst>
                  <a:ext uri="{FF2B5EF4-FFF2-40B4-BE49-F238E27FC236}">
                    <a16:creationId xmlns:a16="http://schemas.microsoft.com/office/drawing/2014/main" id="{D7082D96-688D-4126-8BC6-7C8E3C167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68893" y="2104724"/>
                <a:ext cx="349953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48" name="Line 6">
                <a:extLst>
                  <a:ext uri="{FF2B5EF4-FFF2-40B4-BE49-F238E27FC236}">
                    <a16:creationId xmlns:a16="http://schemas.microsoft.com/office/drawing/2014/main" id="{9377072F-1586-434A-ABF4-379C757B3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45841" y="2206778"/>
                <a:ext cx="349953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49" name="Line 5">
                <a:extLst>
                  <a:ext uri="{FF2B5EF4-FFF2-40B4-BE49-F238E27FC236}">
                    <a16:creationId xmlns:a16="http://schemas.microsoft.com/office/drawing/2014/main" id="{D5571319-E41F-435E-A6E2-C46A8D4DE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12544" y="2104724"/>
                <a:ext cx="349953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50" name="Line 4">
                <a:extLst>
                  <a:ext uri="{FF2B5EF4-FFF2-40B4-BE49-F238E27FC236}">
                    <a16:creationId xmlns:a16="http://schemas.microsoft.com/office/drawing/2014/main" id="{56542E35-25C0-439E-9C9E-6FF93E320F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429195" y="2206778"/>
                <a:ext cx="349953" cy="9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 w="sm" len="sm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51" name="Text Box 3">
                <a:extLst>
                  <a:ext uri="{FF2B5EF4-FFF2-40B4-BE49-F238E27FC236}">
                    <a16:creationId xmlns:a16="http://schemas.microsoft.com/office/drawing/2014/main" id="{1635B829-4389-4836-82B7-95E45721AE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94483" y="2011417"/>
                <a:ext cx="303293" cy="303247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none" w="sm" len="sm"/>
              </a:ln>
              <a:effectLst/>
            </p:spPr>
            <p:txBody>
              <a:bodyPr vert="horz" wrap="square" lIns="25200" tIns="0" rIns="0" bIns="0" numCol="1" anchor="t" anchorCtr="0" compatLnSpc="1"/>
              <a:lstStyle/>
              <a:p>
                <a:pPr marL="0" marR="0" lvl="0" indent="0" algn="ctr" defTabSz="914400" eaLnBrk="1" fontAlgn="auto" latinLnBrk="0" hangingPunct="1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52" name="任意多边形 55">
                <a:extLst>
                  <a:ext uri="{FF2B5EF4-FFF2-40B4-BE49-F238E27FC236}">
                    <a16:creationId xmlns:a16="http://schemas.microsoft.com/office/drawing/2014/main" id="{2DD382D8-590E-40E8-A5E1-355D9882D141}"/>
                  </a:ext>
                </a:extLst>
              </p:cNvPr>
              <p:cNvSpPr/>
              <p:nvPr/>
            </p:nvSpPr>
            <p:spPr>
              <a:xfrm>
                <a:off x="2662813" y="2200590"/>
                <a:ext cx="4866853" cy="392719"/>
              </a:xfrm>
              <a:custGeom>
                <a:avLst/>
                <a:gdLst>
                  <a:gd name="connsiteX0" fmla="*/ 4863402 w 4896897"/>
                  <a:gd name="connsiteY0" fmla="*/ 0 h 599552"/>
                  <a:gd name="connsiteX1" fmla="*/ 4803112 w 4896897"/>
                  <a:gd name="connsiteY1" fmla="*/ 251209 h 599552"/>
                  <a:gd name="connsiteX2" fmla="*/ 4702629 w 4896897"/>
                  <a:gd name="connsiteY2" fmla="*/ 361741 h 599552"/>
                  <a:gd name="connsiteX3" fmla="*/ 3637503 w 4896897"/>
                  <a:gd name="connsiteY3" fmla="*/ 482321 h 599552"/>
                  <a:gd name="connsiteX4" fmla="*/ 823965 w 4896897"/>
                  <a:gd name="connsiteY4" fmla="*/ 542611 h 599552"/>
                  <a:gd name="connsiteX5" fmla="*/ 0 w 4896897"/>
                  <a:gd name="connsiteY5" fmla="*/ 140677 h 599552"/>
                  <a:gd name="connsiteX0-1" fmla="*/ 4863402 w 4866853"/>
                  <a:gd name="connsiteY0-2" fmla="*/ 0 h 599552"/>
                  <a:gd name="connsiteX1-3" fmla="*/ 4803112 w 4866853"/>
                  <a:gd name="connsiteY1-4" fmla="*/ 251209 h 599552"/>
                  <a:gd name="connsiteX2-5" fmla="*/ 4480955 w 4866853"/>
                  <a:gd name="connsiteY2-6" fmla="*/ 442593 h 599552"/>
                  <a:gd name="connsiteX3-7" fmla="*/ 3637503 w 4866853"/>
                  <a:gd name="connsiteY3-8" fmla="*/ 482321 h 599552"/>
                  <a:gd name="connsiteX4-9" fmla="*/ 823965 w 4866853"/>
                  <a:gd name="connsiteY4-10" fmla="*/ 542611 h 599552"/>
                  <a:gd name="connsiteX5-11" fmla="*/ 0 w 4866853"/>
                  <a:gd name="connsiteY5-12" fmla="*/ 140677 h 599552"/>
                  <a:gd name="connsiteX0-13" fmla="*/ 4863402 w 4866853"/>
                  <a:gd name="connsiteY0-14" fmla="*/ 0 h 616743"/>
                  <a:gd name="connsiteX1-15" fmla="*/ 4803112 w 4866853"/>
                  <a:gd name="connsiteY1-16" fmla="*/ 251209 h 616743"/>
                  <a:gd name="connsiteX2-17" fmla="*/ 4480955 w 4866853"/>
                  <a:gd name="connsiteY2-18" fmla="*/ 442593 h 616743"/>
                  <a:gd name="connsiteX3-19" fmla="*/ 3552261 w 4866853"/>
                  <a:gd name="connsiteY3-20" fmla="*/ 585469 h 616743"/>
                  <a:gd name="connsiteX4-21" fmla="*/ 823965 w 4866853"/>
                  <a:gd name="connsiteY4-22" fmla="*/ 542611 h 616743"/>
                  <a:gd name="connsiteX5-23" fmla="*/ 0 w 4866853"/>
                  <a:gd name="connsiteY5-24" fmla="*/ 140677 h 61674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</a:cxnLst>
                <a:rect l="l" t="t" r="r" b="b"/>
                <a:pathLst>
                  <a:path w="4866853" h="616743">
                    <a:moveTo>
                      <a:pt x="4863402" y="0"/>
                    </a:moveTo>
                    <a:cubicBezTo>
                      <a:pt x="4846655" y="95459"/>
                      <a:pt x="4866853" y="177444"/>
                      <a:pt x="4803112" y="251209"/>
                    </a:cubicBezTo>
                    <a:cubicBezTo>
                      <a:pt x="4739371" y="324974"/>
                      <a:pt x="4689430" y="386883"/>
                      <a:pt x="4480955" y="442593"/>
                    </a:cubicBezTo>
                    <a:cubicBezTo>
                      <a:pt x="4272480" y="498303"/>
                      <a:pt x="4161759" y="568799"/>
                      <a:pt x="3552261" y="585469"/>
                    </a:cubicBezTo>
                    <a:cubicBezTo>
                      <a:pt x="2942763" y="602139"/>
                      <a:pt x="1416008" y="616743"/>
                      <a:pt x="823965" y="542611"/>
                    </a:cubicBezTo>
                    <a:cubicBezTo>
                      <a:pt x="231922" y="468479"/>
                      <a:pt x="108857" y="313173"/>
                      <a:pt x="0" y="140677"/>
                    </a:cubicBezTo>
                  </a:path>
                </a:pathLst>
              </a:cu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endParaRPr>
              </a:p>
            </p:txBody>
          </p:sp>
          <p:sp>
            <p:nvSpPr>
              <p:cNvPr id="253" name="任意多边形 54">
                <a:extLst>
                  <a:ext uri="{FF2B5EF4-FFF2-40B4-BE49-F238E27FC236}">
                    <a16:creationId xmlns:a16="http://schemas.microsoft.com/office/drawing/2014/main" id="{8259EA74-AF5E-4259-8408-30903D78B154}"/>
                  </a:ext>
                </a:extLst>
              </p:cNvPr>
              <p:cNvSpPr/>
              <p:nvPr/>
            </p:nvSpPr>
            <p:spPr>
              <a:xfrm>
                <a:off x="2247589" y="1457712"/>
                <a:ext cx="4595338" cy="712732"/>
              </a:xfrm>
              <a:custGeom>
                <a:avLst/>
                <a:gdLst>
                  <a:gd name="connsiteX0" fmla="*/ 0 w 4592096"/>
                  <a:gd name="connsiteY0" fmla="*/ 914400 h 914400"/>
                  <a:gd name="connsiteX1" fmla="*/ 50242 w 4592096"/>
                  <a:gd name="connsiteY1" fmla="*/ 602901 h 914400"/>
                  <a:gd name="connsiteX2" fmla="*/ 251209 w 4592096"/>
                  <a:gd name="connsiteY2" fmla="*/ 301451 h 914400"/>
                  <a:gd name="connsiteX3" fmla="*/ 753626 w 4592096"/>
                  <a:gd name="connsiteY3" fmla="*/ 150725 h 914400"/>
                  <a:gd name="connsiteX4" fmla="*/ 1919235 w 4592096"/>
                  <a:gd name="connsiteY4" fmla="*/ 70338 h 914400"/>
                  <a:gd name="connsiteX5" fmla="*/ 3557116 w 4592096"/>
                  <a:gd name="connsiteY5" fmla="*/ 110532 h 914400"/>
                  <a:gd name="connsiteX6" fmla="*/ 4592096 w 4592096"/>
                  <a:gd name="connsiteY6" fmla="*/ 733530 h 914400"/>
                  <a:gd name="connsiteX0-1" fmla="*/ 0 w 4592096"/>
                  <a:gd name="connsiteY0-2" fmla="*/ 859629 h 859629"/>
                  <a:gd name="connsiteX1-3" fmla="*/ 50242 w 4592096"/>
                  <a:gd name="connsiteY1-4" fmla="*/ 548130 h 859629"/>
                  <a:gd name="connsiteX2-5" fmla="*/ 251209 w 4592096"/>
                  <a:gd name="connsiteY2-6" fmla="*/ 246680 h 859629"/>
                  <a:gd name="connsiteX3-7" fmla="*/ 753626 w 4592096"/>
                  <a:gd name="connsiteY3-8" fmla="*/ 95954 h 859629"/>
                  <a:gd name="connsiteX4-9" fmla="*/ 1919235 w 4592096"/>
                  <a:gd name="connsiteY4-10" fmla="*/ 15567 h 859629"/>
                  <a:gd name="connsiteX5-11" fmla="*/ 3821367 w 4592096"/>
                  <a:gd name="connsiteY5-12" fmla="*/ 189359 h 859629"/>
                  <a:gd name="connsiteX6-13" fmla="*/ 4592096 w 4592096"/>
                  <a:gd name="connsiteY6-14" fmla="*/ 678759 h 859629"/>
                  <a:gd name="connsiteX0-15" fmla="*/ 0 w 4592096"/>
                  <a:gd name="connsiteY0-16" fmla="*/ 867875 h 867875"/>
                  <a:gd name="connsiteX1-17" fmla="*/ 50242 w 4592096"/>
                  <a:gd name="connsiteY1-18" fmla="*/ 556376 h 867875"/>
                  <a:gd name="connsiteX2-19" fmla="*/ 251209 w 4592096"/>
                  <a:gd name="connsiteY2-20" fmla="*/ 254926 h 867875"/>
                  <a:gd name="connsiteX3-21" fmla="*/ 963847 w 4592096"/>
                  <a:gd name="connsiteY3-22" fmla="*/ 54729 h 867875"/>
                  <a:gd name="connsiteX4-23" fmla="*/ 1919235 w 4592096"/>
                  <a:gd name="connsiteY4-24" fmla="*/ 23813 h 867875"/>
                  <a:gd name="connsiteX5-25" fmla="*/ 3821367 w 4592096"/>
                  <a:gd name="connsiteY5-26" fmla="*/ 197605 h 867875"/>
                  <a:gd name="connsiteX6-27" fmla="*/ 4592096 w 4592096"/>
                  <a:gd name="connsiteY6-28" fmla="*/ 687005 h 867875"/>
                  <a:gd name="connsiteX0-29" fmla="*/ 3242 w 4595338"/>
                  <a:gd name="connsiteY0-30" fmla="*/ 867875 h 867875"/>
                  <a:gd name="connsiteX1-31" fmla="*/ 53484 w 4595338"/>
                  <a:gd name="connsiteY1-32" fmla="*/ 556376 h 867875"/>
                  <a:gd name="connsiteX2-33" fmla="*/ 324147 w 4595338"/>
                  <a:gd name="connsiteY2-34" fmla="*/ 269043 h 867875"/>
                  <a:gd name="connsiteX3-35" fmla="*/ 967089 w 4595338"/>
                  <a:gd name="connsiteY3-36" fmla="*/ 54729 h 867875"/>
                  <a:gd name="connsiteX4-37" fmla="*/ 1922477 w 4595338"/>
                  <a:gd name="connsiteY4-38" fmla="*/ 23813 h 867875"/>
                  <a:gd name="connsiteX5-39" fmla="*/ 3824609 w 4595338"/>
                  <a:gd name="connsiteY5-40" fmla="*/ 197605 h 867875"/>
                  <a:gd name="connsiteX6-41" fmla="*/ 4595338 w 4595338"/>
                  <a:gd name="connsiteY6-42" fmla="*/ 687005 h 86787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</a:cxnLst>
                <a:rect l="l" t="t" r="r" b="b"/>
                <a:pathLst>
                  <a:path w="4595338" h="867875">
                    <a:moveTo>
                      <a:pt x="3242" y="867875"/>
                    </a:moveTo>
                    <a:cubicBezTo>
                      <a:pt x="7429" y="763204"/>
                      <a:pt x="0" y="656181"/>
                      <a:pt x="53484" y="556376"/>
                    </a:cubicBezTo>
                    <a:cubicBezTo>
                      <a:pt x="106968" y="456571"/>
                      <a:pt x="171880" y="352651"/>
                      <a:pt x="324147" y="269043"/>
                    </a:cubicBezTo>
                    <a:cubicBezTo>
                      <a:pt x="476415" y="185435"/>
                      <a:pt x="700701" y="95601"/>
                      <a:pt x="967089" y="54729"/>
                    </a:cubicBezTo>
                    <a:cubicBezTo>
                      <a:pt x="1233477" y="13857"/>
                      <a:pt x="1446224" y="0"/>
                      <a:pt x="1922477" y="23813"/>
                    </a:cubicBezTo>
                    <a:cubicBezTo>
                      <a:pt x="2398730" y="47626"/>
                      <a:pt x="3379132" y="87073"/>
                      <a:pt x="3824609" y="197605"/>
                    </a:cubicBezTo>
                    <a:cubicBezTo>
                      <a:pt x="4270086" y="308137"/>
                      <a:pt x="4300586" y="430772"/>
                      <a:pt x="4595338" y="687005"/>
                    </a:cubicBezTo>
                  </a:path>
                </a:pathLst>
              </a:cu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  <a:tailEnd type="arrow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255" name="文本框 254">
              <a:extLst>
                <a:ext uri="{FF2B5EF4-FFF2-40B4-BE49-F238E27FC236}">
                  <a16:creationId xmlns:a16="http://schemas.microsoft.com/office/drawing/2014/main" id="{8B8A266D-C99B-41EA-BF34-4A91F71E9056}"/>
                </a:ext>
              </a:extLst>
            </p:cNvPr>
            <p:cNvSpPr txBox="1"/>
            <p:nvPr/>
          </p:nvSpPr>
          <p:spPr>
            <a:xfrm>
              <a:off x="610606" y="5931957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</a:rPr>
                <a:t>循环双链表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0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6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线性表的类型定义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线性表的顺序表示和实现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线性表的链式表示和实现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线性链表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循环链表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双向链表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一元多项式的表示及相加</a:t>
            </a:r>
          </a:p>
        </p:txBody>
      </p:sp>
    </p:spTree>
    <p:extLst>
      <p:ext uri="{BB962C8B-B14F-4D97-AF65-F5344CB8AC3E}">
        <p14:creationId xmlns:p14="http://schemas.microsoft.com/office/powerpoint/2010/main" val="974667436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矩形 1"/>
          <p:cNvSpPr/>
          <p:nvPr/>
        </p:nvSpPr>
        <p:spPr>
          <a:xfrm>
            <a:off x="0" y="3794125"/>
            <a:ext cx="9144000" cy="23749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457200" lvl="0" indent="-4572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91138" name="Rectangle 4"/>
          <p:cNvSpPr>
            <a:spLocks noChangeArrowheads="1"/>
          </p:cNvSpPr>
          <p:nvPr/>
        </p:nvSpPr>
        <p:spPr bwMode="auto">
          <a:xfrm>
            <a:off x="814388" y="155575"/>
            <a:ext cx="71659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单链表的定义和实现</a:t>
            </a:r>
          </a:p>
        </p:txBody>
      </p:sp>
      <p:graphicFrame>
        <p:nvGraphicFramePr>
          <p:cNvPr id="95236" name="Object 36"/>
          <p:cNvGraphicFramePr/>
          <p:nvPr>
            <p:extLst>
              <p:ext uri="{D42A27DB-BD31-4B8C-83A1-F6EECF244321}">
                <p14:modId xmlns:p14="http://schemas.microsoft.com/office/powerpoint/2010/main" val="3811286012"/>
              </p:ext>
            </p:extLst>
          </p:nvPr>
        </p:nvGraphicFramePr>
        <p:xfrm>
          <a:off x="1835696" y="1235322"/>
          <a:ext cx="6984776" cy="825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8" r:id="rId3" imgW="5256530" imgH="562610" progId="Visio.Drawing.11">
                  <p:embed/>
                </p:oleObj>
              </mc:Choice>
              <mc:Fallback>
                <p:oleObj r:id="rId3" imgW="5256530" imgH="562610" progId="Visio.Drawing.11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1235322"/>
                        <a:ext cx="6984776" cy="825526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7" name="Object 37"/>
          <p:cNvGraphicFramePr/>
          <p:nvPr>
            <p:extLst>
              <p:ext uri="{D42A27DB-BD31-4B8C-83A1-F6EECF244321}">
                <p14:modId xmlns:p14="http://schemas.microsoft.com/office/powerpoint/2010/main" val="753439007"/>
              </p:ext>
            </p:extLst>
          </p:nvPr>
        </p:nvGraphicFramePr>
        <p:xfrm>
          <a:off x="1835696" y="2466243"/>
          <a:ext cx="1944216" cy="597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" r:id="rId5" imgW="1296670" imgH="397510" progId="Visio.Drawing.11">
                  <p:embed/>
                </p:oleObj>
              </mc:Choice>
              <mc:Fallback>
                <p:oleObj r:id="rId5" imgW="1296670" imgH="397510" progId="Visio.Drawing.11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5696" y="2466243"/>
                        <a:ext cx="1944216" cy="597631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3" name="Text Box 38"/>
          <p:cNvSpPr txBox="1">
            <a:spLocks noChangeArrowheads="1"/>
          </p:cNvSpPr>
          <p:nvPr/>
        </p:nvSpPr>
        <p:spPr bwMode="auto">
          <a:xfrm>
            <a:off x="323528" y="1395740"/>
            <a:ext cx="1261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非空表</a:t>
            </a:r>
          </a:p>
        </p:txBody>
      </p:sp>
      <p:sp>
        <p:nvSpPr>
          <p:cNvPr id="91144" name="Text Box 39"/>
          <p:cNvSpPr txBox="1">
            <a:spLocks noChangeArrowheads="1"/>
          </p:cNvSpPr>
          <p:nvPr/>
        </p:nvSpPr>
        <p:spPr bwMode="auto">
          <a:xfrm>
            <a:off x="506528" y="2492896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空表</a:t>
            </a:r>
          </a:p>
        </p:txBody>
      </p:sp>
      <p:sp>
        <p:nvSpPr>
          <p:cNvPr id="91145" name="Rectangle 41"/>
          <p:cNvSpPr>
            <a:spLocks noChangeArrowheads="1"/>
          </p:cNvSpPr>
          <p:nvPr/>
        </p:nvSpPr>
        <p:spPr bwMode="auto">
          <a:xfrm>
            <a:off x="323528" y="3975869"/>
            <a:ext cx="8496944" cy="18737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单链表是由表头唯一确定，因此单链表可以用头指针的名字来命名</a:t>
            </a:r>
          </a:p>
          <a:p>
            <a:pPr marL="857250" lvl="1" indent="-457200" eaLnBrk="1" hangingPunct="1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若头指针名是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，则把链表称为表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1002886"/>
            <a:ext cx="9144000" cy="293017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92162" name="Rectangle 5"/>
          <p:cNvSpPr>
            <a:spLocks noChangeArrowheads="1"/>
          </p:cNvSpPr>
          <p:nvPr/>
        </p:nvSpPr>
        <p:spPr bwMode="auto">
          <a:xfrm>
            <a:off x="539552" y="983935"/>
            <a:ext cx="8292788" cy="2930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typedef struct {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ElemType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data;    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数据域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struct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LNode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* next;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指针域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LNode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*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LinkList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LinkList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为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LNode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类型的指针</a:t>
            </a:r>
          </a:p>
        </p:txBody>
      </p:sp>
      <p:sp>
        <p:nvSpPr>
          <p:cNvPr id="92163" name="Rectangle 6"/>
          <p:cNvSpPr>
            <a:spLocks noChangeArrowheads="1"/>
          </p:cNvSpPr>
          <p:nvPr/>
        </p:nvSpPr>
        <p:spPr bwMode="auto">
          <a:xfrm>
            <a:off x="785813" y="157163"/>
            <a:ext cx="7308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单链表的存储结构定义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B65088-FD9F-4817-91A4-9D91BF873098}"/>
              </a:ext>
            </a:extLst>
          </p:cNvPr>
          <p:cNvSpPr txBox="1"/>
          <p:nvPr/>
        </p:nvSpPr>
        <p:spPr>
          <a:xfrm>
            <a:off x="638932" y="4293096"/>
            <a:ext cx="7602611" cy="1954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FF"/>
                </a:solidFill>
              </a:rPr>
              <a:t>LNode</a:t>
            </a:r>
            <a:r>
              <a:rPr lang="en-US" altLang="zh-CN" dirty="0">
                <a:solidFill>
                  <a:srgbClr val="0000FF"/>
                </a:solidFill>
              </a:rPr>
              <a:t> *</a:t>
            </a:r>
            <a:r>
              <a:rPr lang="en-US" altLang="zh-CN" dirty="0"/>
              <a:t>p, </a:t>
            </a:r>
            <a:r>
              <a:rPr lang="en-US" altLang="zh-CN" dirty="0">
                <a:solidFill>
                  <a:srgbClr val="0000FF"/>
                </a:solidFill>
              </a:rPr>
              <a:t>*</a:t>
            </a:r>
            <a:r>
              <a:rPr lang="en-US" altLang="zh-CN" dirty="0"/>
              <a:t>q;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FF"/>
                </a:solidFill>
              </a:rPr>
              <a:t>LinkList</a:t>
            </a:r>
            <a:r>
              <a:rPr lang="en-US" altLang="zh-CN" dirty="0"/>
              <a:t>  L;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/>
              <a:t>p</a:t>
            </a:r>
            <a:r>
              <a:rPr lang="zh-CN" altLang="en-US" dirty="0"/>
              <a:t>、</a:t>
            </a:r>
            <a:r>
              <a:rPr lang="en-US" altLang="zh-CN" dirty="0"/>
              <a:t>q </a:t>
            </a:r>
            <a:r>
              <a:rPr lang="zh-CN" altLang="en-US" dirty="0"/>
              <a:t>和 </a:t>
            </a:r>
            <a:r>
              <a:rPr lang="en-US" altLang="zh-CN" dirty="0"/>
              <a:t>L </a:t>
            </a:r>
            <a:r>
              <a:rPr lang="zh-CN" altLang="en-US" dirty="0"/>
              <a:t>都是以上定义的指针型变量。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580052-FDEE-4762-ADBE-E00935D858B4}"/>
              </a:ext>
            </a:extLst>
          </p:cNvPr>
          <p:cNvSpPr txBox="1"/>
          <p:nvPr/>
        </p:nvSpPr>
        <p:spPr>
          <a:xfrm>
            <a:off x="5004048" y="4415906"/>
            <a:ext cx="3828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LNode</a:t>
            </a:r>
            <a:r>
              <a:rPr lang="en-US" altLang="zh-CN" b="1" dirty="0">
                <a:solidFill>
                  <a:srgbClr val="FF0000"/>
                </a:solidFill>
              </a:rPr>
              <a:t> * </a:t>
            </a:r>
            <a:r>
              <a:rPr lang="en-US" altLang="zh-CN" b="1" dirty="0">
                <a:solidFill>
                  <a:srgbClr val="FF0000"/>
                </a:solidFill>
                <a:sym typeface="Wingdings" panose="05000000000000000000" pitchFamily="2" charset="2"/>
              </a:rPr>
              <a:t>&lt;==&gt; </a:t>
            </a:r>
            <a:r>
              <a:rPr lang="en-US" altLang="zh-CN" b="1" dirty="0" err="1">
                <a:solidFill>
                  <a:srgbClr val="FF0000"/>
                </a:solidFill>
                <a:sym typeface="Wingdings" panose="05000000000000000000" pitchFamily="2" charset="2"/>
              </a:rPr>
              <a:t>LinkList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8"/>
          <p:cNvSpPr>
            <a:spLocks noChangeArrowheads="1"/>
          </p:cNvSpPr>
          <p:nvPr/>
        </p:nvSpPr>
        <p:spPr bwMode="auto">
          <a:xfrm>
            <a:off x="827088" y="166688"/>
            <a:ext cx="7164388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单链表基本操作的实现</a:t>
            </a:r>
          </a:p>
        </p:txBody>
      </p:sp>
      <p:sp>
        <p:nvSpPr>
          <p:cNvPr id="6" name="Rectangle 5"/>
          <p:cNvSpPr>
            <a:spLocks noRot="1" noChangeArrowheads="1"/>
          </p:cNvSpPr>
          <p:nvPr/>
        </p:nvSpPr>
        <p:spPr bwMode="auto">
          <a:xfrm>
            <a:off x="3857554" y="1170680"/>
            <a:ext cx="1433513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初始化</a:t>
            </a:r>
          </a:p>
        </p:txBody>
      </p:sp>
      <p:grpSp>
        <p:nvGrpSpPr>
          <p:cNvPr id="98308" name="组合 6"/>
          <p:cNvGrpSpPr/>
          <p:nvPr/>
        </p:nvGrpSpPr>
        <p:grpSpPr>
          <a:xfrm>
            <a:off x="2368550" y="1871663"/>
            <a:ext cx="4125913" cy="3935412"/>
            <a:chOff x="2160837" y="1533022"/>
            <a:chExt cx="4126962" cy="3935794"/>
          </a:xfrm>
        </p:grpSpPr>
        <p:sp>
          <p:nvSpPr>
            <p:cNvPr id="98314" name="Freeform 7"/>
            <p:cNvSpPr/>
            <p:nvPr/>
          </p:nvSpPr>
          <p:spPr>
            <a:xfrm>
              <a:off x="3532259" y="1533022"/>
              <a:ext cx="1384120" cy="1221599"/>
            </a:xfrm>
            <a:custGeom>
              <a:avLst/>
              <a:gdLst>
                <a:gd name="txL" fmla="*/ 0 w 2684"/>
                <a:gd name="txT" fmla="*/ 0 h 2365"/>
                <a:gd name="txR" fmla="*/ 2684 w 2684"/>
                <a:gd name="txB" fmla="*/ 2365 h 2365"/>
              </a:gdLst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684" h="2365">
                  <a:moveTo>
                    <a:pt x="2684" y="2365"/>
                  </a:moveTo>
                  <a:lnTo>
                    <a:pt x="1342" y="0"/>
                  </a:lnTo>
                  <a:lnTo>
                    <a:pt x="0" y="2365"/>
                  </a:lnTo>
                  <a:lnTo>
                    <a:pt x="2684" y="2365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5" name="Freeform 8"/>
            <p:cNvSpPr/>
            <p:nvPr/>
          </p:nvSpPr>
          <p:spPr>
            <a:xfrm>
              <a:off x="2160837" y="2754620"/>
              <a:ext cx="1371421" cy="1321106"/>
            </a:xfrm>
            <a:custGeom>
              <a:avLst/>
              <a:gdLst>
                <a:gd name="txL" fmla="*/ 0 w 2664"/>
                <a:gd name="txT" fmla="*/ 0 h 2553"/>
                <a:gd name="txR" fmla="*/ 2664 w 2664"/>
                <a:gd name="txB" fmla="*/ 2553 h 2553"/>
              </a:gdLst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2664" h="2553">
                  <a:moveTo>
                    <a:pt x="2664" y="0"/>
                  </a:moveTo>
                  <a:lnTo>
                    <a:pt x="0" y="546"/>
                  </a:lnTo>
                  <a:lnTo>
                    <a:pt x="1835" y="2553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6" name="Freeform 9"/>
            <p:cNvSpPr/>
            <p:nvPr/>
          </p:nvSpPr>
          <p:spPr>
            <a:xfrm>
              <a:off x="2948135" y="4075727"/>
              <a:ext cx="1274067" cy="1393089"/>
            </a:xfrm>
            <a:custGeom>
              <a:avLst/>
              <a:gdLst>
                <a:gd name="txL" fmla="*/ 0 w 2476"/>
                <a:gd name="txT" fmla="*/ 0 h 2702"/>
                <a:gd name="txR" fmla="*/ 2476 w 2476"/>
                <a:gd name="txB" fmla="*/ 2702 h 2702"/>
              </a:gdLst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2476" h="2702">
                  <a:moveTo>
                    <a:pt x="305" y="0"/>
                  </a:moveTo>
                  <a:lnTo>
                    <a:pt x="0" y="2702"/>
                  </a:lnTo>
                  <a:lnTo>
                    <a:pt x="2476" y="1578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7" name="Freeform 10"/>
            <p:cNvSpPr/>
            <p:nvPr/>
          </p:nvSpPr>
          <p:spPr>
            <a:xfrm>
              <a:off x="4222202" y="4075727"/>
              <a:ext cx="1278300" cy="1393089"/>
            </a:xfrm>
            <a:custGeom>
              <a:avLst/>
              <a:gdLst>
                <a:gd name="txL" fmla="*/ 0 w 2476"/>
                <a:gd name="txT" fmla="*/ 0 h 2702"/>
                <a:gd name="txR" fmla="*/ 2476 w 2476"/>
                <a:gd name="txB" fmla="*/ 2702 h 270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2147483646"/>
                </a:cxn>
              </a:cxnLst>
              <a:rect l="txL" t="txT" r="txR" b="txB"/>
              <a:pathLst>
                <a:path w="2476" h="2702">
                  <a:moveTo>
                    <a:pt x="0" y="1578"/>
                  </a:moveTo>
                  <a:lnTo>
                    <a:pt x="2476" y="2702"/>
                  </a:lnTo>
                  <a:lnTo>
                    <a:pt x="2172" y="0"/>
                  </a:lnTo>
                  <a:lnTo>
                    <a:pt x="0" y="1578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8" name="Freeform 11"/>
            <p:cNvSpPr/>
            <p:nvPr/>
          </p:nvSpPr>
          <p:spPr>
            <a:xfrm>
              <a:off x="4916378" y="2754620"/>
              <a:ext cx="1371421" cy="1321106"/>
            </a:xfrm>
            <a:custGeom>
              <a:avLst/>
              <a:gdLst>
                <a:gd name="txL" fmla="*/ 0 w 2664"/>
                <a:gd name="txT" fmla="*/ 0 h 2553"/>
                <a:gd name="txR" fmla="*/ 2664 w 2664"/>
                <a:gd name="txB" fmla="*/ 2553 h 2553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</a:cxnLst>
              <a:rect l="txL" t="txT" r="txR" b="txB"/>
              <a:pathLst>
                <a:path w="2664" h="2553">
                  <a:moveTo>
                    <a:pt x="830" y="2553"/>
                  </a:moveTo>
                  <a:lnTo>
                    <a:pt x="2664" y="546"/>
                  </a:lnTo>
                  <a:lnTo>
                    <a:pt x="0" y="0"/>
                  </a:lnTo>
                  <a:lnTo>
                    <a:pt x="830" y="2553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9" name="矩形 12"/>
            <p:cNvSpPr/>
            <p:nvPr/>
          </p:nvSpPr>
          <p:spPr>
            <a:xfrm>
              <a:off x="3983051" y="2091951"/>
              <a:ext cx="476187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0" name="矩形 13"/>
            <p:cNvSpPr/>
            <p:nvPr/>
          </p:nvSpPr>
          <p:spPr>
            <a:xfrm>
              <a:off x="5263466" y="3004445"/>
              <a:ext cx="476189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1" name="矩形 14"/>
            <p:cNvSpPr/>
            <p:nvPr/>
          </p:nvSpPr>
          <p:spPr>
            <a:xfrm>
              <a:off x="4785161" y="4524563"/>
              <a:ext cx="476189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2" name="矩形 15"/>
            <p:cNvSpPr/>
            <p:nvPr/>
          </p:nvSpPr>
          <p:spPr>
            <a:xfrm>
              <a:off x="3106865" y="4543619"/>
              <a:ext cx="476187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3" name="矩形 16"/>
            <p:cNvSpPr/>
            <p:nvPr/>
          </p:nvSpPr>
          <p:spPr>
            <a:xfrm>
              <a:off x="2708983" y="3017148"/>
              <a:ext cx="476187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05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</p:grpSp>
      <p:sp>
        <p:nvSpPr>
          <p:cNvPr id="18" name="Rectangle 5"/>
          <p:cNvSpPr>
            <a:spLocks noRot="1" noChangeArrowheads="1"/>
          </p:cNvSpPr>
          <p:nvPr/>
        </p:nvSpPr>
        <p:spPr bwMode="auto">
          <a:xfrm>
            <a:off x="6702425" y="3092450"/>
            <a:ext cx="973138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取值      </a:t>
            </a:r>
          </a:p>
        </p:txBody>
      </p:sp>
      <p:sp>
        <p:nvSpPr>
          <p:cNvPr id="19" name="Rectangle 5"/>
          <p:cNvSpPr>
            <a:spLocks noRot="1" noChangeArrowheads="1"/>
          </p:cNvSpPr>
          <p:nvPr/>
        </p:nvSpPr>
        <p:spPr bwMode="auto">
          <a:xfrm>
            <a:off x="5413375" y="5834063"/>
            <a:ext cx="1062038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Rectangle 5"/>
          <p:cNvSpPr>
            <a:spLocks noRot="1" noChangeArrowheads="1"/>
          </p:cNvSpPr>
          <p:nvPr/>
        </p:nvSpPr>
        <p:spPr bwMode="auto">
          <a:xfrm>
            <a:off x="2314575" y="5807075"/>
            <a:ext cx="107804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插入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Rectangle 5"/>
          <p:cNvSpPr>
            <a:spLocks noRot="1" noChangeArrowheads="1"/>
          </p:cNvSpPr>
          <p:nvPr/>
        </p:nvSpPr>
        <p:spPr bwMode="auto">
          <a:xfrm>
            <a:off x="1436688" y="3074988"/>
            <a:ext cx="93186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删除</a:t>
            </a: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3635375" y="3463925"/>
            <a:ext cx="1628775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基本操作的实现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827088" y="166688"/>
            <a:ext cx="7164388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初始化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构造一个空表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37109" y="3035300"/>
            <a:ext cx="8711058" cy="328014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57150">
            <a:noFill/>
            <a:miter lim="800000"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InitList_L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LinkList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&amp;L)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 = new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LNode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 </a:t>
            </a:r>
            <a:r>
              <a:rPr lang="en-US" altLang="zh-CN" sz="2800" dirty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// L = (</a:t>
            </a:r>
            <a:r>
              <a:rPr lang="en-US" altLang="zh-CN" sz="2800" dirty="0" err="1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LNode</a:t>
            </a:r>
            <a:r>
              <a:rPr lang="en-US" altLang="zh-CN" sz="2800" dirty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 *)malloc(</a:t>
            </a:r>
            <a:r>
              <a:rPr lang="en-US" altLang="zh-CN" sz="2800" dirty="0" err="1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sizeof</a:t>
            </a:r>
            <a:r>
              <a:rPr lang="en-US" altLang="zh-CN" sz="2800" dirty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sz="2800" dirty="0" err="1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LNode</a:t>
            </a:r>
            <a:r>
              <a:rPr lang="en-US" altLang="zh-CN" sz="2800" dirty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))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L-&gt;next = NULL;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　　　　　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OK; 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  <a:r>
              <a:rPr lang="en-US" altLang="zh-CN" sz="2800" dirty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lang="en-US" altLang="zh-CN" sz="2800" dirty="0" err="1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InitList_L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16471" y="1004703"/>
            <a:ext cx="8711058" cy="11779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）生成新结点作头结点，用头指针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指向头结点。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）头结点的指针域置空。</a:t>
            </a:r>
          </a:p>
        </p:txBody>
      </p:sp>
      <p:graphicFrame>
        <p:nvGraphicFramePr>
          <p:cNvPr id="99335" name="Object 5"/>
          <p:cNvGraphicFramePr/>
          <p:nvPr>
            <p:extLst>
              <p:ext uri="{D42A27DB-BD31-4B8C-83A1-F6EECF244321}">
                <p14:modId xmlns:p14="http://schemas.microsoft.com/office/powerpoint/2010/main" val="2254534308"/>
              </p:ext>
            </p:extLst>
          </p:nvPr>
        </p:nvGraphicFramePr>
        <p:xfrm>
          <a:off x="3131840" y="2342264"/>
          <a:ext cx="1752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6" r:id="rId3" imgW="1296670" imgH="397510" progId="Visio.Drawing.11">
                  <p:embed/>
                </p:oleObj>
              </mc:Choice>
              <mc:Fallback>
                <p:oleObj r:id="rId3" imgW="1296670" imgH="397510" progId="Visio.Drawing.11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1840" y="2342264"/>
                        <a:ext cx="17526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8"/>
          <p:cNvSpPr>
            <a:spLocks noChangeArrowheads="1"/>
          </p:cNvSpPr>
          <p:nvPr/>
        </p:nvSpPr>
        <p:spPr bwMode="auto">
          <a:xfrm>
            <a:off x="827088" y="166688"/>
            <a:ext cx="7164388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单链表基本操作的实现</a:t>
            </a:r>
          </a:p>
        </p:txBody>
      </p:sp>
      <p:sp>
        <p:nvSpPr>
          <p:cNvPr id="6" name="Rectangle 5"/>
          <p:cNvSpPr>
            <a:spLocks noRot="1" noChangeArrowheads="1"/>
          </p:cNvSpPr>
          <p:nvPr/>
        </p:nvSpPr>
        <p:spPr bwMode="auto">
          <a:xfrm>
            <a:off x="3857554" y="1170680"/>
            <a:ext cx="1433513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初始化</a:t>
            </a:r>
          </a:p>
        </p:txBody>
      </p:sp>
      <p:grpSp>
        <p:nvGrpSpPr>
          <p:cNvPr id="98308" name="组合 6"/>
          <p:cNvGrpSpPr/>
          <p:nvPr/>
        </p:nvGrpSpPr>
        <p:grpSpPr>
          <a:xfrm>
            <a:off x="2368550" y="1871663"/>
            <a:ext cx="4125913" cy="3935412"/>
            <a:chOff x="2160837" y="1533022"/>
            <a:chExt cx="4126962" cy="3935794"/>
          </a:xfrm>
        </p:grpSpPr>
        <p:sp>
          <p:nvSpPr>
            <p:cNvPr id="98314" name="Freeform 7"/>
            <p:cNvSpPr/>
            <p:nvPr/>
          </p:nvSpPr>
          <p:spPr>
            <a:xfrm>
              <a:off x="3532259" y="1533022"/>
              <a:ext cx="1384120" cy="1221599"/>
            </a:xfrm>
            <a:custGeom>
              <a:avLst/>
              <a:gdLst>
                <a:gd name="txL" fmla="*/ 0 w 2684"/>
                <a:gd name="txT" fmla="*/ 0 h 2365"/>
                <a:gd name="txR" fmla="*/ 2684 w 2684"/>
                <a:gd name="txB" fmla="*/ 2365 h 2365"/>
              </a:gdLst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684" h="2365">
                  <a:moveTo>
                    <a:pt x="2684" y="2365"/>
                  </a:moveTo>
                  <a:lnTo>
                    <a:pt x="1342" y="0"/>
                  </a:lnTo>
                  <a:lnTo>
                    <a:pt x="0" y="2365"/>
                  </a:lnTo>
                  <a:lnTo>
                    <a:pt x="2684" y="2365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5" name="Freeform 8"/>
            <p:cNvSpPr/>
            <p:nvPr/>
          </p:nvSpPr>
          <p:spPr>
            <a:xfrm>
              <a:off x="2160837" y="2754620"/>
              <a:ext cx="1371421" cy="1321106"/>
            </a:xfrm>
            <a:custGeom>
              <a:avLst/>
              <a:gdLst>
                <a:gd name="txL" fmla="*/ 0 w 2664"/>
                <a:gd name="txT" fmla="*/ 0 h 2553"/>
                <a:gd name="txR" fmla="*/ 2664 w 2664"/>
                <a:gd name="txB" fmla="*/ 2553 h 2553"/>
              </a:gdLst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2664" h="2553">
                  <a:moveTo>
                    <a:pt x="2664" y="0"/>
                  </a:moveTo>
                  <a:lnTo>
                    <a:pt x="0" y="546"/>
                  </a:lnTo>
                  <a:lnTo>
                    <a:pt x="1835" y="2553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6" name="Freeform 9"/>
            <p:cNvSpPr/>
            <p:nvPr/>
          </p:nvSpPr>
          <p:spPr>
            <a:xfrm>
              <a:off x="2948135" y="4075727"/>
              <a:ext cx="1274067" cy="1393089"/>
            </a:xfrm>
            <a:custGeom>
              <a:avLst/>
              <a:gdLst>
                <a:gd name="txL" fmla="*/ 0 w 2476"/>
                <a:gd name="txT" fmla="*/ 0 h 2702"/>
                <a:gd name="txR" fmla="*/ 2476 w 2476"/>
                <a:gd name="txB" fmla="*/ 2702 h 2702"/>
              </a:gdLst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2476" h="2702">
                  <a:moveTo>
                    <a:pt x="305" y="0"/>
                  </a:moveTo>
                  <a:lnTo>
                    <a:pt x="0" y="2702"/>
                  </a:lnTo>
                  <a:lnTo>
                    <a:pt x="2476" y="1578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7" name="Freeform 10"/>
            <p:cNvSpPr/>
            <p:nvPr/>
          </p:nvSpPr>
          <p:spPr>
            <a:xfrm>
              <a:off x="4222202" y="4075727"/>
              <a:ext cx="1278300" cy="1393089"/>
            </a:xfrm>
            <a:custGeom>
              <a:avLst/>
              <a:gdLst>
                <a:gd name="txL" fmla="*/ 0 w 2476"/>
                <a:gd name="txT" fmla="*/ 0 h 2702"/>
                <a:gd name="txR" fmla="*/ 2476 w 2476"/>
                <a:gd name="txB" fmla="*/ 2702 h 270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2147483646"/>
                </a:cxn>
              </a:cxnLst>
              <a:rect l="txL" t="txT" r="txR" b="txB"/>
              <a:pathLst>
                <a:path w="2476" h="2702">
                  <a:moveTo>
                    <a:pt x="0" y="1578"/>
                  </a:moveTo>
                  <a:lnTo>
                    <a:pt x="2476" y="2702"/>
                  </a:lnTo>
                  <a:lnTo>
                    <a:pt x="2172" y="0"/>
                  </a:lnTo>
                  <a:lnTo>
                    <a:pt x="0" y="1578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8" name="Freeform 11"/>
            <p:cNvSpPr/>
            <p:nvPr/>
          </p:nvSpPr>
          <p:spPr>
            <a:xfrm>
              <a:off x="4916378" y="2754620"/>
              <a:ext cx="1371421" cy="1321106"/>
            </a:xfrm>
            <a:custGeom>
              <a:avLst/>
              <a:gdLst>
                <a:gd name="txL" fmla="*/ 0 w 2664"/>
                <a:gd name="txT" fmla="*/ 0 h 2553"/>
                <a:gd name="txR" fmla="*/ 2664 w 2664"/>
                <a:gd name="txB" fmla="*/ 2553 h 2553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</a:cxnLst>
              <a:rect l="txL" t="txT" r="txR" b="txB"/>
              <a:pathLst>
                <a:path w="2664" h="2553">
                  <a:moveTo>
                    <a:pt x="830" y="2553"/>
                  </a:moveTo>
                  <a:lnTo>
                    <a:pt x="2664" y="546"/>
                  </a:lnTo>
                  <a:lnTo>
                    <a:pt x="0" y="0"/>
                  </a:lnTo>
                  <a:lnTo>
                    <a:pt x="830" y="2553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9" name="矩形 12"/>
            <p:cNvSpPr/>
            <p:nvPr/>
          </p:nvSpPr>
          <p:spPr>
            <a:xfrm>
              <a:off x="3983051" y="2091951"/>
              <a:ext cx="476187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0" name="矩形 13"/>
            <p:cNvSpPr/>
            <p:nvPr/>
          </p:nvSpPr>
          <p:spPr>
            <a:xfrm>
              <a:off x="5263466" y="3004445"/>
              <a:ext cx="476189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1" name="矩形 14"/>
            <p:cNvSpPr/>
            <p:nvPr/>
          </p:nvSpPr>
          <p:spPr>
            <a:xfrm>
              <a:off x="4785161" y="4524563"/>
              <a:ext cx="476189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2" name="矩形 15"/>
            <p:cNvSpPr/>
            <p:nvPr/>
          </p:nvSpPr>
          <p:spPr>
            <a:xfrm>
              <a:off x="3106865" y="4543619"/>
              <a:ext cx="476187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3" name="矩形 16"/>
            <p:cNvSpPr/>
            <p:nvPr/>
          </p:nvSpPr>
          <p:spPr>
            <a:xfrm>
              <a:off x="2708983" y="3017148"/>
              <a:ext cx="476187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05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</p:grpSp>
      <p:sp>
        <p:nvSpPr>
          <p:cNvPr id="18" name="Rectangle 5"/>
          <p:cNvSpPr>
            <a:spLocks noRot="1" noChangeArrowheads="1"/>
          </p:cNvSpPr>
          <p:nvPr/>
        </p:nvSpPr>
        <p:spPr bwMode="auto">
          <a:xfrm>
            <a:off x="6702425" y="3092450"/>
            <a:ext cx="973138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取值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</a:t>
            </a:r>
          </a:p>
        </p:txBody>
      </p:sp>
      <p:sp>
        <p:nvSpPr>
          <p:cNvPr id="19" name="Rectangle 5"/>
          <p:cNvSpPr>
            <a:spLocks noRot="1" noChangeArrowheads="1"/>
          </p:cNvSpPr>
          <p:nvPr/>
        </p:nvSpPr>
        <p:spPr bwMode="auto">
          <a:xfrm>
            <a:off x="5413375" y="5834063"/>
            <a:ext cx="1062038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Rectangle 5"/>
          <p:cNvSpPr>
            <a:spLocks noRot="1" noChangeArrowheads="1"/>
          </p:cNvSpPr>
          <p:nvPr/>
        </p:nvSpPr>
        <p:spPr bwMode="auto">
          <a:xfrm>
            <a:off x="2314575" y="5807075"/>
            <a:ext cx="107804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插入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Rectangle 5"/>
          <p:cNvSpPr>
            <a:spLocks noRot="1" noChangeArrowheads="1"/>
          </p:cNvSpPr>
          <p:nvPr/>
        </p:nvSpPr>
        <p:spPr bwMode="auto">
          <a:xfrm>
            <a:off x="1436688" y="3074988"/>
            <a:ext cx="93186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删除</a:t>
            </a: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3635375" y="3463925"/>
            <a:ext cx="1628775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基本操作的实现</a:t>
            </a:r>
          </a:p>
        </p:txBody>
      </p:sp>
    </p:spTree>
    <p:extLst>
      <p:ext uri="{BB962C8B-B14F-4D97-AF65-F5344CB8AC3E}">
        <p14:creationId xmlns:p14="http://schemas.microsoft.com/office/powerpoint/2010/main" val="575393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179388" y="1557338"/>
            <a:ext cx="1098550" cy="1246187"/>
            <a:chOff x="172" y="2095"/>
            <a:chExt cx="692" cy="785"/>
          </a:xfrm>
        </p:grpSpPr>
        <p:sp>
          <p:nvSpPr>
            <p:cNvPr id="103492" name="Rectangle 8"/>
            <p:cNvSpPr>
              <a:spLocks noChangeArrowheads="1"/>
            </p:cNvSpPr>
            <p:nvPr/>
          </p:nvSpPr>
          <p:spPr bwMode="auto">
            <a:xfrm>
              <a:off x="433" y="2544"/>
              <a:ext cx="431" cy="33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25400">
              <a:solidFill>
                <a:srgbClr val="008080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93" name="Line 9"/>
            <p:cNvSpPr>
              <a:spLocks noChangeShapeType="1"/>
            </p:cNvSpPr>
            <p:nvPr/>
          </p:nvSpPr>
          <p:spPr bwMode="auto">
            <a:xfrm>
              <a:off x="672" y="2544"/>
              <a:ext cx="0" cy="336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94" name="Text Box 10"/>
            <p:cNvSpPr txBox="1">
              <a:spLocks noChangeArrowheads="1"/>
            </p:cNvSpPr>
            <p:nvPr/>
          </p:nvSpPr>
          <p:spPr bwMode="auto">
            <a:xfrm>
              <a:off x="172" y="2095"/>
              <a:ext cx="234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L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95" name="Arc 11"/>
            <p:cNvSpPr>
              <a:spLocks noChangeArrowheads="1"/>
            </p:cNvSpPr>
            <p:nvPr/>
          </p:nvSpPr>
          <p:spPr bwMode="auto">
            <a:xfrm rot="11140854">
              <a:off x="252" y="2432"/>
              <a:ext cx="330" cy="310"/>
            </a:xfrm>
            <a:custGeom>
              <a:avLst/>
              <a:gdLst>
                <a:gd name="T0" fmla="*/ 0 w 21600"/>
                <a:gd name="T1" fmla="*/ 0 h 20719"/>
                <a:gd name="T2" fmla="*/ 0 w 21600"/>
                <a:gd name="T3" fmla="*/ 0 h 20719"/>
                <a:gd name="T4" fmla="*/ 0 w 21600"/>
                <a:gd name="T5" fmla="*/ 0 h 20719"/>
                <a:gd name="T6" fmla="*/ 0 w 21600"/>
                <a:gd name="T7" fmla="*/ 0 h 20719"/>
                <a:gd name="T8" fmla="*/ 0 w 21600"/>
                <a:gd name="T9" fmla="*/ 0 h 20719"/>
                <a:gd name="T10" fmla="*/ 0 w 21600"/>
                <a:gd name="T11" fmla="*/ 0 h 20719"/>
                <a:gd name="T12" fmla="*/ 0 w 21600"/>
                <a:gd name="T13" fmla="*/ 0 h 207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00" h="20719" fill="none">
                  <a:moveTo>
                    <a:pt x="9627" y="0"/>
                  </a:moveTo>
                  <a:cubicBezTo>
                    <a:pt x="16963" y="3652"/>
                    <a:pt x="21600" y="11141"/>
                    <a:pt x="21600" y="19336"/>
                  </a:cubicBezTo>
                  <a:cubicBezTo>
                    <a:pt x="21600" y="19797"/>
                    <a:pt x="21585" y="20258"/>
                    <a:pt x="21555" y="20718"/>
                  </a:cubicBezTo>
                </a:path>
                <a:path w="21600" h="20719" stroke="0">
                  <a:moveTo>
                    <a:pt x="9627" y="0"/>
                  </a:moveTo>
                  <a:cubicBezTo>
                    <a:pt x="16963" y="3652"/>
                    <a:pt x="21600" y="11141"/>
                    <a:pt x="21600" y="19336"/>
                  </a:cubicBezTo>
                  <a:cubicBezTo>
                    <a:pt x="21600" y="19797"/>
                    <a:pt x="21585" y="20258"/>
                    <a:pt x="21555" y="20718"/>
                  </a:cubicBezTo>
                  <a:lnTo>
                    <a:pt x="0" y="19336"/>
                  </a:lnTo>
                  <a:lnTo>
                    <a:pt x="9627" y="0"/>
                  </a:lnTo>
                  <a:close/>
                </a:path>
              </a:pathLst>
            </a:custGeom>
            <a:noFill/>
            <a:ln w="31750">
              <a:solidFill>
                <a:srgbClr val="000099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1084263" y="2249488"/>
            <a:ext cx="1371600" cy="533400"/>
            <a:chOff x="768" y="2544"/>
            <a:chExt cx="864" cy="336"/>
          </a:xfrm>
        </p:grpSpPr>
        <p:sp>
          <p:nvSpPr>
            <p:cNvPr id="103489" name="Rectangle 14"/>
            <p:cNvSpPr>
              <a:spLocks noChangeArrowheads="1"/>
            </p:cNvSpPr>
            <p:nvPr/>
          </p:nvSpPr>
          <p:spPr bwMode="auto">
            <a:xfrm>
              <a:off x="1056" y="2544"/>
              <a:ext cx="576" cy="33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25400">
              <a:solidFill>
                <a:srgbClr val="008080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21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90" name="Line 15"/>
            <p:cNvSpPr>
              <a:spLocks noChangeShapeType="1"/>
            </p:cNvSpPr>
            <p:nvPr/>
          </p:nvSpPr>
          <p:spPr bwMode="auto">
            <a:xfrm>
              <a:off x="1440" y="2544"/>
              <a:ext cx="0" cy="336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91" name="Line 16"/>
            <p:cNvSpPr>
              <a:spLocks noChangeShapeType="1"/>
            </p:cNvSpPr>
            <p:nvPr/>
          </p:nvSpPr>
          <p:spPr bwMode="auto">
            <a:xfrm>
              <a:off x="768" y="2736"/>
              <a:ext cx="288" cy="0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  <a:headEnd type="oval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" name="Group 17"/>
          <p:cNvGrpSpPr/>
          <p:nvPr/>
        </p:nvGrpSpPr>
        <p:grpSpPr>
          <a:xfrm>
            <a:off x="2303463" y="2249488"/>
            <a:ext cx="1371600" cy="533400"/>
            <a:chOff x="1536" y="2544"/>
            <a:chExt cx="864" cy="336"/>
          </a:xfrm>
        </p:grpSpPr>
        <p:sp>
          <p:nvSpPr>
            <p:cNvPr id="103486" name="Rectangle 18"/>
            <p:cNvSpPr>
              <a:spLocks noChangeArrowheads="1"/>
            </p:cNvSpPr>
            <p:nvPr/>
          </p:nvSpPr>
          <p:spPr bwMode="auto">
            <a:xfrm>
              <a:off x="1824" y="2544"/>
              <a:ext cx="576" cy="33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25400">
              <a:solidFill>
                <a:srgbClr val="008080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18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87" name="Line 19"/>
            <p:cNvSpPr>
              <a:spLocks noChangeShapeType="1"/>
            </p:cNvSpPr>
            <p:nvPr/>
          </p:nvSpPr>
          <p:spPr bwMode="auto">
            <a:xfrm>
              <a:off x="2208" y="2544"/>
              <a:ext cx="0" cy="336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88" name="Line 20"/>
            <p:cNvSpPr>
              <a:spLocks noChangeShapeType="1"/>
            </p:cNvSpPr>
            <p:nvPr/>
          </p:nvSpPr>
          <p:spPr bwMode="auto">
            <a:xfrm>
              <a:off x="1536" y="2736"/>
              <a:ext cx="288" cy="0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  <a:headEnd type="oval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3522663" y="2249488"/>
            <a:ext cx="1371600" cy="533400"/>
            <a:chOff x="2304" y="2544"/>
            <a:chExt cx="864" cy="336"/>
          </a:xfrm>
        </p:grpSpPr>
        <p:sp>
          <p:nvSpPr>
            <p:cNvPr id="103483" name="Rectangle 22"/>
            <p:cNvSpPr>
              <a:spLocks noChangeArrowheads="1"/>
            </p:cNvSpPr>
            <p:nvPr/>
          </p:nvSpPr>
          <p:spPr bwMode="auto">
            <a:xfrm>
              <a:off x="2592" y="2544"/>
              <a:ext cx="576" cy="33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25400">
              <a:solidFill>
                <a:srgbClr val="008080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30</a:t>
              </a:r>
            </a:p>
          </p:txBody>
        </p:sp>
        <p:sp>
          <p:nvSpPr>
            <p:cNvPr id="103484" name="Line 23"/>
            <p:cNvSpPr>
              <a:spLocks noChangeShapeType="1"/>
            </p:cNvSpPr>
            <p:nvPr/>
          </p:nvSpPr>
          <p:spPr bwMode="auto">
            <a:xfrm>
              <a:off x="2976" y="2544"/>
              <a:ext cx="0" cy="336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85" name="Line 24"/>
            <p:cNvSpPr>
              <a:spLocks noChangeShapeType="1"/>
            </p:cNvSpPr>
            <p:nvPr/>
          </p:nvSpPr>
          <p:spPr bwMode="auto">
            <a:xfrm>
              <a:off x="2304" y="2736"/>
              <a:ext cx="288" cy="0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  <a:headEnd type="oval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6" name="Group 25"/>
          <p:cNvGrpSpPr/>
          <p:nvPr/>
        </p:nvGrpSpPr>
        <p:grpSpPr>
          <a:xfrm>
            <a:off x="4741863" y="2249488"/>
            <a:ext cx="1371600" cy="533400"/>
            <a:chOff x="3072" y="2544"/>
            <a:chExt cx="864" cy="336"/>
          </a:xfrm>
        </p:grpSpPr>
        <p:sp>
          <p:nvSpPr>
            <p:cNvPr id="103480" name="Rectangle 26"/>
            <p:cNvSpPr>
              <a:spLocks noChangeArrowheads="1"/>
            </p:cNvSpPr>
            <p:nvPr/>
          </p:nvSpPr>
          <p:spPr bwMode="auto">
            <a:xfrm>
              <a:off x="3360" y="2544"/>
              <a:ext cx="576" cy="33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25400">
              <a:solidFill>
                <a:srgbClr val="008080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75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81" name="Line 27"/>
            <p:cNvSpPr>
              <a:spLocks noChangeShapeType="1"/>
            </p:cNvSpPr>
            <p:nvPr/>
          </p:nvSpPr>
          <p:spPr bwMode="auto">
            <a:xfrm>
              <a:off x="3744" y="2544"/>
              <a:ext cx="0" cy="336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82" name="Line 28"/>
            <p:cNvSpPr>
              <a:spLocks noChangeShapeType="1"/>
            </p:cNvSpPr>
            <p:nvPr/>
          </p:nvSpPr>
          <p:spPr bwMode="auto">
            <a:xfrm>
              <a:off x="3072" y="2736"/>
              <a:ext cx="288" cy="0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  <a:headEnd type="oval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7" name="Group 29"/>
          <p:cNvGrpSpPr/>
          <p:nvPr/>
        </p:nvGrpSpPr>
        <p:grpSpPr>
          <a:xfrm>
            <a:off x="5961063" y="2249488"/>
            <a:ext cx="1371600" cy="533400"/>
            <a:chOff x="3840" y="2544"/>
            <a:chExt cx="864" cy="336"/>
          </a:xfrm>
        </p:grpSpPr>
        <p:sp>
          <p:nvSpPr>
            <p:cNvPr id="103477" name="Rectangle 30"/>
            <p:cNvSpPr>
              <a:spLocks noChangeArrowheads="1"/>
            </p:cNvSpPr>
            <p:nvPr/>
          </p:nvSpPr>
          <p:spPr bwMode="auto">
            <a:xfrm>
              <a:off x="4128" y="2544"/>
              <a:ext cx="576" cy="33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25400">
              <a:solidFill>
                <a:srgbClr val="008080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42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78" name="Line 31"/>
            <p:cNvSpPr>
              <a:spLocks noChangeShapeType="1"/>
            </p:cNvSpPr>
            <p:nvPr/>
          </p:nvSpPr>
          <p:spPr bwMode="auto">
            <a:xfrm>
              <a:off x="4512" y="2544"/>
              <a:ext cx="0" cy="336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79" name="Line 32"/>
            <p:cNvSpPr>
              <a:spLocks noChangeShapeType="1"/>
            </p:cNvSpPr>
            <p:nvPr/>
          </p:nvSpPr>
          <p:spPr bwMode="auto">
            <a:xfrm>
              <a:off x="3840" y="2736"/>
              <a:ext cx="288" cy="0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  <a:headEnd type="oval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8" name="Group 33"/>
          <p:cNvGrpSpPr/>
          <p:nvPr/>
        </p:nvGrpSpPr>
        <p:grpSpPr>
          <a:xfrm>
            <a:off x="7180263" y="2227263"/>
            <a:ext cx="1371600" cy="573087"/>
            <a:chOff x="4608" y="2530"/>
            <a:chExt cx="864" cy="361"/>
          </a:xfrm>
        </p:grpSpPr>
        <p:sp>
          <p:nvSpPr>
            <p:cNvPr id="103473" name="Rectangle 34"/>
            <p:cNvSpPr>
              <a:spLocks noChangeArrowheads="1"/>
            </p:cNvSpPr>
            <p:nvPr/>
          </p:nvSpPr>
          <p:spPr bwMode="auto">
            <a:xfrm>
              <a:off x="4896" y="2544"/>
              <a:ext cx="576" cy="33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25400">
              <a:solidFill>
                <a:srgbClr val="008080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56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74" name="Line 35"/>
            <p:cNvSpPr>
              <a:spLocks noChangeShapeType="1"/>
            </p:cNvSpPr>
            <p:nvPr/>
          </p:nvSpPr>
          <p:spPr bwMode="auto">
            <a:xfrm>
              <a:off x="5204" y="2544"/>
              <a:ext cx="0" cy="336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75" name="Text Box 36"/>
            <p:cNvSpPr txBox="1">
              <a:spLocks noChangeArrowheads="1"/>
            </p:cNvSpPr>
            <p:nvPr/>
          </p:nvSpPr>
          <p:spPr bwMode="auto">
            <a:xfrm flipH="1">
              <a:off x="5159" y="2530"/>
              <a:ext cx="234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∧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76" name="Line 37"/>
            <p:cNvSpPr>
              <a:spLocks noChangeShapeType="1"/>
            </p:cNvSpPr>
            <p:nvPr/>
          </p:nvSpPr>
          <p:spPr bwMode="auto">
            <a:xfrm>
              <a:off x="4608" y="2736"/>
              <a:ext cx="288" cy="0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  <a:headEnd type="oval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9" name="Group 38"/>
          <p:cNvGrpSpPr/>
          <p:nvPr/>
        </p:nvGrpSpPr>
        <p:grpSpPr>
          <a:xfrm>
            <a:off x="1789113" y="2859088"/>
            <a:ext cx="338137" cy="990600"/>
            <a:chOff x="1212" y="2880"/>
            <a:chExt cx="213" cy="624"/>
          </a:xfrm>
        </p:grpSpPr>
        <p:sp>
          <p:nvSpPr>
            <p:cNvPr id="103471" name="Line 39"/>
            <p:cNvSpPr>
              <a:spLocks noChangeShapeType="1"/>
            </p:cNvSpPr>
            <p:nvPr/>
          </p:nvSpPr>
          <p:spPr bwMode="auto">
            <a:xfrm>
              <a:off x="1248" y="2880"/>
              <a:ext cx="0" cy="624"/>
            </a:xfrm>
            <a:prstGeom prst="line">
              <a:avLst/>
            </a:prstGeom>
            <a:noFill/>
            <a:ln w="31750">
              <a:solidFill>
                <a:srgbClr val="990000"/>
              </a:solidFill>
              <a:round/>
              <a:head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72" name="Text Box 40"/>
            <p:cNvSpPr txBox="1">
              <a:spLocks noChangeArrowheads="1"/>
            </p:cNvSpPr>
            <p:nvPr/>
          </p:nvSpPr>
          <p:spPr bwMode="auto">
            <a:xfrm>
              <a:off x="1212" y="3052"/>
              <a:ext cx="213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p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0" name="Group 41"/>
          <p:cNvGrpSpPr/>
          <p:nvPr/>
        </p:nvGrpSpPr>
        <p:grpSpPr>
          <a:xfrm>
            <a:off x="2989263" y="2859088"/>
            <a:ext cx="338137" cy="990600"/>
            <a:chOff x="1212" y="2880"/>
            <a:chExt cx="213" cy="624"/>
          </a:xfrm>
        </p:grpSpPr>
        <p:sp>
          <p:nvSpPr>
            <p:cNvPr id="103469" name="Line 42"/>
            <p:cNvSpPr>
              <a:spLocks noChangeShapeType="1"/>
            </p:cNvSpPr>
            <p:nvPr/>
          </p:nvSpPr>
          <p:spPr bwMode="auto">
            <a:xfrm>
              <a:off x="1248" y="2880"/>
              <a:ext cx="0" cy="624"/>
            </a:xfrm>
            <a:prstGeom prst="line">
              <a:avLst/>
            </a:prstGeom>
            <a:noFill/>
            <a:ln w="31750">
              <a:solidFill>
                <a:srgbClr val="990000"/>
              </a:solidFill>
              <a:round/>
              <a:head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70" name="Text Box 43"/>
            <p:cNvSpPr txBox="1">
              <a:spLocks noChangeArrowheads="1"/>
            </p:cNvSpPr>
            <p:nvPr/>
          </p:nvSpPr>
          <p:spPr bwMode="auto">
            <a:xfrm>
              <a:off x="1212" y="3052"/>
              <a:ext cx="213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p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1" name="Group 44"/>
          <p:cNvGrpSpPr/>
          <p:nvPr/>
        </p:nvGrpSpPr>
        <p:grpSpPr>
          <a:xfrm>
            <a:off x="4227513" y="2859088"/>
            <a:ext cx="338137" cy="990600"/>
            <a:chOff x="1212" y="2880"/>
            <a:chExt cx="213" cy="624"/>
          </a:xfrm>
        </p:grpSpPr>
        <p:sp>
          <p:nvSpPr>
            <p:cNvPr id="103467" name="Line 45"/>
            <p:cNvSpPr>
              <a:spLocks noChangeShapeType="1"/>
            </p:cNvSpPr>
            <p:nvPr/>
          </p:nvSpPr>
          <p:spPr bwMode="auto">
            <a:xfrm>
              <a:off x="1248" y="2880"/>
              <a:ext cx="0" cy="624"/>
            </a:xfrm>
            <a:prstGeom prst="line">
              <a:avLst/>
            </a:prstGeom>
            <a:noFill/>
            <a:ln w="31750">
              <a:solidFill>
                <a:srgbClr val="990000"/>
              </a:solidFill>
              <a:round/>
              <a:head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3468" name="Text Box 46"/>
            <p:cNvSpPr txBox="1">
              <a:spLocks noChangeArrowheads="1"/>
            </p:cNvSpPr>
            <p:nvPr/>
          </p:nvSpPr>
          <p:spPr bwMode="auto">
            <a:xfrm>
              <a:off x="1212" y="3052"/>
              <a:ext cx="213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p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6" name="Text Box 47"/>
          <p:cNvSpPr txBox="1">
            <a:spLocks noChangeArrowheads="1"/>
          </p:cNvSpPr>
          <p:nvPr/>
        </p:nvSpPr>
        <p:spPr bwMode="auto">
          <a:xfrm>
            <a:off x="611560" y="3048450"/>
            <a:ext cx="304892" cy="596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7" name="Text Box 48"/>
          <p:cNvSpPr txBox="1">
            <a:spLocks noChangeArrowheads="1"/>
          </p:cNvSpPr>
          <p:nvPr/>
        </p:nvSpPr>
        <p:spPr bwMode="auto">
          <a:xfrm>
            <a:off x="1036638" y="3106738"/>
            <a:ext cx="641350" cy="571500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rgbClr val="990000"/>
            </a:solidFill>
            <a:miter lim="800000"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8" name="Text Box 49"/>
          <p:cNvSpPr txBox="1">
            <a:spLocks noChangeArrowheads="1"/>
          </p:cNvSpPr>
          <p:nvPr/>
        </p:nvSpPr>
        <p:spPr bwMode="auto">
          <a:xfrm>
            <a:off x="1036638" y="3106738"/>
            <a:ext cx="641350" cy="571500"/>
          </a:xfrm>
          <a:prstGeom prst="rect">
            <a:avLst/>
          </a:prstGeom>
          <a:solidFill>
            <a:srgbClr val="FFFF99"/>
          </a:solidFill>
          <a:ln w="9525">
            <a:solidFill>
              <a:srgbClr val="990000"/>
            </a:solidFill>
            <a:miter lim="800000"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9" name="Text Box 50"/>
          <p:cNvSpPr txBox="1">
            <a:spLocks noChangeArrowheads="1"/>
          </p:cNvSpPr>
          <p:nvPr/>
        </p:nvSpPr>
        <p:spPr bwMode="auto">
          <a:xfrm>
            <a:off x="1036638" y="3106738"/>
            <a:ext cx="641350" cy="571500"/>
          </a:xfrm>
          <a:prstGeom prst="rect">
            <a:avLst/>
          </a:prstGeom>
          <a:solidFill>
            <a:srgbClr val="FFFF99"/>
          </a:solidFill>
          <a:ln w="9525">
            <a:solidFill>
              <a:srgbClr val="990000"/>
            </a:solidFill>
            <a:miter lim="800000"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 useBgFill="1">
        <p:nvSpPr>
          <p:cNvPr id="50" name="Rectangle 51"/>
          <p:cNvSpPr>
            <a:spLocks noChangeArrowheads="1"/>
          </p:cNvSpPr>
          <p:nvPr/>
        </p:nvSpPr>
        <p:spPr bwMode="auto">
          <a:xfrm>
            <a:off x="1811338" y="2851150"/>
            <a:ext cx="457200" cy="125095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 useBgFill="1">
        <p:nvSpPr>
          <p:cNvPr id="51" name="Rectangle 52"/>
          <p:cNvSpPr>
            <a:spLocks noChangeArrowheads="1"/>
          </p:cNvSpPr>
          <p:nvPr/>
        </p:nvSpPr>
        <p:spPr bwMode="auto">
          <a:xfrm>
            <a:off x="2979738" y="2859088"/>
            <a:ext cx="457200" cy="11430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2" name="Group 64"/>
          <p:cNvGrpSpPr/>
          <p:nvPr/>
        </p:nvGrpSpPr>
        <p:grpSpPr>
          <a:xfrm>
            <a:off x="1746250" y="2835275"/>
            <a:ext cx="2843213" cy="1014413"/>
            <a:chOff x="1098" y="2666"/>
            <a:chExt cx="1791" cy="639"/>
          </a:xfrm>
        </p:grpSpPr>
        <p:grpSp>
          <p:nvGrpSpPr>
            <p:cNvPr id="107558" name="Group 59"/>
            <p:cNvGrpSpPr/>
            <p:nvPr/>
          </p:nvGrpSpPr>
          <p:grpSpPr>
            <a:xfrm>
              <a:off x="1098" y="2666"/>
              <a:ext cx="213" cy="624"/>
              <a:chOff x="1212" y="2880"/>
              <a:chExt cx="213" cy="624"/>
            </a:xfrm>
          </p:grpSpPr>
          <p:sp>
            <p:nvSpPr>
              <p:cNvPr id="103465" name="Line 60"/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624"/>
              </a:xfrm>
              <a:prstGeom prst="line">
                <a:avLst/>
              </a:prstGeom>
              <a:noFill/>
              <a:ln w="31750">
                <a:solidFill>
                  <a:srgbClr val="990000"/>
                </a:solidFill>
                <a:round/>
                <a:head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3466" name="Text Box 61"/>
              <p:cNvSpPr txBox="1">
                <a:spLocks noChangeArrowheads="1"/>
              </p:cNvSpPr>
              <p:nvPr/>
            </p:nvSpPr>
            <p:spPr bwMode="auto">
              <a:xfrm>
                <a:off x="1212" y="3052"/>
                <a:ext cx="213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990000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p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03464" name="Rectangle 63"/>
            <p:cNvSpPr>
              <a:spLocks noChangeArrowheads="1"/>
            </p:cNvSpPr>
            <p:nvPr/>
          </p:nvSpPr>
          <p:spPr bwMode="auto">
            <a:xfrm>
              <a:off x="2642" y="2701"/>
              <a:ext cx="247" cy="6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65" name="Text Box 72"/>
          <p:cNvSpPr txBox="1">
            <a:spLocks noChangeArrowheads="1"/>
          </p:cNvSpPr>
          <p:nvPr/>
        </p:nvSpPr>
        <p:spPr bwMode="auto">
          <a:xfrm>
            <a:off x="1041400" y="3124200"/>
            <a:ext cx="641350" cy="571500"/>
          </a:xfrm>
          <a:prstGeom prst="rect">
            <a:avLst/>
          </a:prstGeom>
          <a:solidFill>
            <a:srgbClr val="FFFF99"/>
          </a:solidFill>
          <a:ln w="9525">
            <a:solidFill>
              <a:srgbClr val="990000"/>
            </a:solidFill>
            <a:miter lim="800000"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6" name="Rectangle 73"/>
          <p:cNvSpPr>
            <a:spLocks noChangeArrowheads="1"/>
          </p:cNvSpPr>
          <p:nvPr/>
        </p:nvSpPr>
        <p:spPr bwMode="auto">
          <a:xfrm>
            <a:off x="3501004" y="1658296"/>
            <a:ext cx="593730" cy="526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=3</a:t>
            </a:r>
          </a:p>
        </p:txBody>
      </p:sp>
      <p:sp>
        <p:nvSpPr>
          <p:cNvPr id="68" name="Text Box 76"/>
          <p:cNvSpPr txBox="1">
            <a:spLocks noChangeArrowheads="1"/>
          </p:cNvSpPr>
          <p:nvPr/>
        </p:nvSpPr>
        <p:spPr bwMode="auto">
          <a:xfrm>
            <a:off x="1019175" y="3114675"/>
            <a:ext cx="641350" cy="571500"/>
          </a:xfrm>
          <a:prstGeom prst="rect">
            <a:avLst/>
          </a:prstGeom>
          <a:solidFill>
            <a:srgbClr val="FFFF99"/>
          </a:solidFill>
          <a:ln w="9525">
            <a:solidFill>
              <a:srgbClr val="990000"/>
            </a:solidFill>
            <a:miter lim="800000"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6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4" name="Text Box 84"/>
          <p:cNvSpPr txBox="1">
            <a:spLocks noChangeArrowheads="1"/>
          </p:cNvSpPr>
          <p:nvPr/>
        </p:nvSpPr>
        <p:spPr bwMode="auto">
          <a:xfrm>
            <a:off x="1022350" y="3106738"/>
            <a:ext cx="641350" cy="571500"/>
          </a:xfrm>
          <a:prstGeom prst="rect">
            <a:avLst/>
          </a:prstGeom>
          <a:solidFill>
            <a:srgbClr val="FFFF99"/>
          </a:solidFill>
          <a:ln w="9525">
            <a:solidFill>
              <a:srgbClr val="990000"/>
            </a:solidFill>
            <a:miter lim="800000"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7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3452" name="Text Box 55"/>
          <p:cNvSpPr txBox="1">
            <a:spLocks noChangeArrowheads="1"/>
          </p:cNvSpPr>
          <p:nvPr/>
        </p:nvSpPr>
        <p:spPr bwMode="auto">
          <a:xfrm>
            <a:off x="134938" y="990810"/>
            <a:ext cx="8761413" cy="58377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lIns="90000" tIns="46800" rIns="90000" bIns="46800" anchor="ctr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例：分别取出表中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=3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=15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的元素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2" name="Rectangle 6"/>
          <p:cNvSpPr>
            <a:spLocks noChangeArrowheads="1"/>
          </p:cNvSpPr>
          <p:nvPr/>
        </p:nvSpPr>
        <p:spPr bwMode="auto">
          <a:xfrm>
            <a:off x="935037" y="201613"/>
            <a:ext cx="79613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取值（</a:t>
            </a:r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按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位置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获取相应位置数据元素的内容）</a:t>
            </a:r>
          </a:p>
        </p:txBody>
      </p:sp>
      <p:grpSp>
        <p:nvGrpSpPr>
          <p:cNvPr id="71" name="Group 77"/>
          <p:cNvGrpSpPr/>
          <p:nvPr/>
        </p:nvGrpSpPr>
        <p:grpSpPr>
          <a:xfrm>
            <a:off x="1728788" y="2827338"/>
            <a:ext cx="6416675" cy="998537"/>
            <a:chOff x="1079" y="2652"/>
            <a:chExt cx="4042" cy="629"/>
          </a:xfrm>
        </p:grpSpPr>
        <p:grpSp>
          <p:nvGrpSpPr>
            <p:cNvPr id="107550" name="Group 66"/>
            <p:cNvGrpSpPr/>
            <p:nvPr/>
          </p:nvGrpSpPr>
          <p:grpSpPr>
            <a:xfrm>
              <a:off x="4908" y="2652"/>
              <a:ext cx="213" cy="624"/>
              <a:chOff x="1212" y="2880"/>
              <a:chExt cx="213" cy="624"/>
            </a:xfrm>
          </p:grpSpPr>
          <p:sp>
            <p:nvSpPr>
              <p:cNvPr id="76" name="Line 67"/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624"/>
              </a:xfrm>
              <a:prstGeom prst="line">
                <a:avLst/>
              </a:prstGeom>
              <a:noFill/>
              <a:ln w="31750">
                <a:solidFill>
                  <a:srgbClr val="990000"/>
                </a:solidFill>
                <a:round/>
                <a:head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9" name="Text Box 68"/>
              <p:cNvSpPr txBox="1">
                <a:spLocks noChangeArrowheads="1"/>
              </p:cNvSpPr>
              <p:nvPr/>
            </p:nvSpPr>
            <p:spPr bwMode="auto">
              <a:xfrm>
                <a:off x="1212" y="3052"/>
                <a:ext cx="213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990000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p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75" name="Rectangle 69"/>
            <p:cNvSpPr>
              <a:spLocks noChangeArrowheads="1"/>
            </p:cNvSpPr>
            <p:nvPr/>
          </p:nvSpPr>
          <p:spPr bwMode="auto">
            <a:xfrm>
              <a:off x="1079" y="2657"/>
              <a:ext cx="251" cy="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3304433-A8F5-4DAB-8570-28B1893A727A}"/>
              </a:ext>
            </a:extLst>
          </p:cNvPr>
          <p:cNvGrpSpPr/>
          <p:nvPr/>
        </p:nvGrpSpPr>
        <p:grpSpPr>
          <a:xfrm>
            <a:off x="7594600" y="2779713"/>
            <a:ext cx="1397000" cy="1052138"/>
            <a:chOff x="7594600" y="2779713"/>
            <a:chExt cx="1397000" cy="1052138"/>
          </a:xfrm>
        </p:grpSpPr>
        <p:grpSp>
          <p:nvGrpSpPr>
            <p:cNvPr id="16" name="Group 83"/>
            <p:cNvGrpSpPr/>
            <p:nvPr/>
          </p:nvGrpSpPr>
          <p:grpSpPr>
            <a:xfrm>
              <a:off x="7594600" y="2779713"/>
              <a:ext cx="1397000" cy="1046162"/>
              <a:chOff x="4817" y="2622"/>
              <a:chExt cx="880" cy="659"/>
            </a:xfrm>
          </p:grpSpPr>
          <p:grpSp>
            <p:nvGrpSpPr>
              <p:cNvPr id="107554" name="Group 79"/>
              <p:cNvGrpSpPr/>
              <p:nvPr/>
            </p:nvGrpSpPr>
            <p:grpSpPr>
              <a:xfrm>
                <a:off x="5484" y="2622"/>
                <a:ext cx="213" cy="624"/>
                <a:chOff x="1212" y="2880"/>
                <a:chExt cx="213" cy="624"/>
              </a:xfrm>
            </p:grpSpPr>
            <p:sp>
              <p:nvSpPr>
                <p:cNvPr id="103457" name="Line 80"/>
                <p:cNvSpPr>
                  <a:spLocks noChangeShapeType="1"/>
                </p:cNvSpPr>
                <p:nvPr/>
              </p:nvSpPr>
              <p:spPr bwMode="auto">
                <a:xfrm>
                  <a:off x="1248" y="2880"/>
                  <a:ext cx="0" cy="624"/>
                </a:xfrm>
                <a:prstGeom prst="line">
                  <a:avLst/>
                </a:prstGeom>
                <a:noFill/>
                <a:ln w="31750">
                  <a:solidFill>
                    <a:srgbClr val="990000"/>
                  </a:solidFill>
                  <a:round/>
                  <a:headEnd type="triangl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03458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1212" y="3052"/>
                  <a:ext cx="213" cy="3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30000"/>
                    </a:lnSpc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3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990000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p</a:t>
                  </a:r>
                  <a:endPara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03456" name="Rectangle 82"/>
              <p:cNvSpPr>
                <a:spLocks noChangeArrowheads="1"/>
              </p:cNvSpPr>
              <p:nvPr/>
            </p:nvSpPr>
            <p:spPr bwMode="auto">
              <a:xfrm>
                <a:off x="4817" y="2658"/>
                <a:ext cx="287" cy="6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 anchor="ctr"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FED1EF5-1C30-47F5-8D5B-66E3C5EFE11B}"/>
                </a:ext>
              </a:extLst>
            </p:cNvPr>
            <p:cNvSpPr/>
            <p:nvPr/>
          </p:nvSpPr>
          <p:spPr bwMode="auto">
            <a:xfrm>
              <a:off x="7666027" y="2817812"/>
              <a:ext cx="455613" cy="101403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51168DD-F6A1-461A-98FF-B42E5822878C}"/>
              </a:ext>
            </a:extLst>
          </p:cNvPr>
          <p:cNvGrpSpPr/>
          <p:nvPr/>
        </p:nvGrpSpPr>
        <p:grpSpPr>
          <a:xfrm>
            <a:off x="3396175" y="1668565"/>
            <a:ext cx="2305369" cy="526748"/>
            <a:chOff x="3396175" y="1668565"/>
            <a:chExt cx="2305369" cy="526748"/>
          </a:xfrm>
        </p:grpSpPr>
        <p:sp>
          <p:nvSpPr>
            <p:cNvPr id="67" name="Rectangle 74"/>
            <p:cNvSpPr>
              <a:spLocks noChangeArrowheads="1"/>
            </p:cNvSpPr>
            <p:nvPr/>
          </p:nvSpPr>
          <p:spPr bwMode="auto">
            <a:xfrm>
              <a:off x="4953926" y="1668565"/>
              <a:ext cx="747618" cy="526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=15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EC2BEA1-6515-4353-B889-9342B0A561AD}"/>
                </a:ext>
              </a:extLst>
            </p:cNvPr>
            <p:cNvSpPr/>
            <p:nvPr/>
          </p:nvSpPr>
          <p:spPr bwMode="auto">
            <a:xfrm>
              <a:off x="3396175" y="1715999"/>
              <a:ext cx="593725" cy="4250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77" name="Rectangle 4"/>
          <p:cNvSpPr>
            <a:spLocks noChangeArrowheads="1"/>
          </p:cNvSpPr>
          <p:nvPr/>
        </p:nvSpPr>
        <p:spPr bwMode="auto">
          <a:xfrm>
            <a:off x="163513" y="3976688"/>
            <a:ext cx="8828088" cy="2796856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wrap="square" anchor="ctr">
            <a:spAutoFit/>
          </a:bodyPr>
          <a:lstStyle>
            <a:lvl1pPr indent="25908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从第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个结点（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L-&gt;next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）开始顺链扫描，用指针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指向当前扫描到的结点。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做计数器，累计当前扫描过的结点数，</a:t>
            </a:r>
            <a:r>
              <a: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初值为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当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指向扫描到的下一结点时，计数器 </a:t>
            </a:r>
            <a:r>
              <a: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加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当 </a:t>
            </a:r>
            <a:r>
              <a: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 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 </a:t>
            </a:r>
            <a:r>
              <a:rPr kumimoji="0" lang="en-US" altLang="zh-CN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时，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所指的结点就是要找的第 </a:t>
            </a:r>
            <a:r>
              <a:rPr kumimoji="0" lang="en-US" altLang="zh-CN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个结点。</a:t>
            </a:r>
          </a:p>
        </p:txBody>
      </p:sp>
    </p:spTree>
    <p:extLst>
      <p:ext uri="{BB962C8B-B14F-4D97-AF65-F5344CB8AC3E}">
        <p14:creationId xmlns:p14="http://schemas.microsoft.com/office/powerpoint/2010/main" val="293656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 animBg="1"/>
      <p:bldP spid="48" grpId="0" animBg="1"/>
      <p:bldP spid="49" grpId="0" animBg="1"/>
      <p:bldP spid="50" grpId="0" animBg="1"/>
      <p:bldP spid="51" grpId="0" animBg="1"/>
      <p:bldP spid="65" grpId="0" animBg="1"/>
      <p:bldP spid="66" grpId="0"/>
      <p:bldP spid="68" grpId="0" animBg="1"/>
      <p:bldP spid="74" grpId="0" animBg="1"/>
      <p:bldP spid="77" grpId="0" uiExpand="1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-7301" y="980728"/>
            <a:ext cx="9144000" cy="558819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104450" name="Rectangle 4"/>
          <p:cNvSpPr>
            <a:spLocks noChangeArrowheads="1"/>
          </p:cNvSpPr>
          <p:nvPr/>
        </p:nvSpPr>
        <p:spPr bwMode="auto">
          <a:xfrm>
            <a:off x="276732" y="980728"/>
            <a:ext cx="8534400" cy="5588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GetElem_L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LinkList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L, 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ElemType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&amp;e) {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p = L-&gt;next;    j = 1;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初始化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while(p &amp;&amp; j&lt;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{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	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向后扫描，直到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指向第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个元素或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为</a:t>
            </a:r>
            <a:r>
              <a:rPr lang="zh-CN" altLang="en-US" dirty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空</a:t>
            </a:r>
            <a:endParaRPr lang="en-US" altLang="zh-CN" dirty="0">
              <a:solidFill>
                <a:srgbClr val="00B050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 = p-&gt;next;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++j;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if(!p || j&gt;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 return ERROR;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第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个元素不存在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= p-&gt;data;           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取第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个元素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OK;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GetElem_L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935038" y="201613"/>
            <a:ext cx="80676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取值（</a:t>
            </a:r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按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位置 </a:t>
            </a:r>
            <a:r>
              <a:rPr lang="en-US" altLang="zh-CN" dirty="0" err="1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获取相应位置数据元素的内容）</a:t>
            </a:r>
          </a:p>
        </p:txBody>
      </p:sp>
    </p:spTree>
    <p:extLst>
      <p:ext uri="{BB962C8B-B14F-4D97-AF65-F5344CB8AC3E}">
        <p14:creationId xmlns:p14="http://schemas.microsoft.com/office/powerpoint/2010/main" val="411204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8"/>
          <p:cNvSpPr>
            <a:spLocks noChangeArrowheads="1"/>
          </p:cNvSpPr>
          <p:nvPr/>
        </p:nvSpPr>
        <p:spPr bwMode="auto">
          <a:xfrm>
            <a:off x="827088" y="166688"/>
            <a:ext cx="7164388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单链表基本操作的实现</a:t>
            </a:r>
          </a:p>
        </p:txBody>
      </p:sp>
      <p:sp>
        <p:nvSpPr>
          <p:cNvPr id="6" name="Rectangle 5"/>
          <p:cNvSpPr>
            <a:spLocks noRot="1" noChangeArrowheads="1"/>
          </p:cNvSpPr>
          <p:nvPr/>
        </p:nvSpPr>
        <p:spPr bwMode="auto">
          <a:xfrm>
            <a:off x="3857554" y="1170680"/>
            <a:ext cx="1433513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初始化</a:t>
            </a:r>
          </a:p>
        </p:txBody>
      </p:sp>
      <p:grpSp>
        <p:nvGrpSpPr>
          <p:cNvPr id="98308" name="组合 6"/>
          <p:cNvGrpSpPr/>
          <p:nvPr/>
        </p:nvGrpSpPr>
        <p:grpSpPr>
          <a:xfrm>
            <a:off x="2368550" y="1871663"/>
            <a:ext cx="4125913" cy="3935412"/>
            <a:chOff x="2160837" y="1533022"/>
            <a:chExt cx="4126962" cy="3935794"/>
          </a:xfrm>
        </p:grpSpPr>
        <p:sp>
          <p:nvSpPr>
            <p:cNvPr id="98314" name="Freeform 7"/>
            <p:cNvSpPr/>
            <p:nvPr/>
          </p:nvSpPr>
          <p:spPr>
            <a:xfrm>
              <a:off x="3532259" y="1533022"/>
              <a:ext cx="1384120" cy="1221599"/>
            </a:xfrm>
            <a:custGeom>
              <a:avLst/>
              <a:gdLst>
                <a:gd name="txL" fmla="*/ 0 w 2684"/>
                <a:gd name="txT" fmla="*/ 0 h 2365"/>
                <a:gd name="txR" fmla="*/ 2684 w 2684"/>
                <a:gd name="txB" fmla="*/ 2365 h 2365"/>
              </a:gdLst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684" h="2365">
                  <a:moveTo>
                    <a:pt x="2684" y="2365"/>
                  </a:moveTo>
                  <a:lnTo>
                    <a:pt x="1342" y="0"/>
                  </a:lnTo>
                  <a:lnTo>
                    <a:pt x="0" y="2365"/>
                  </a:lnTo>
                  <a:lnTo>
                    <a:pt x="2684" y="2365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5" name="Freeform 8"/>
            <p:cNvSpPr/>
            <p:nvPr/>
          </p:nvSpPr>
          <p:spPr>
            <a:xfrm>
              <a:off x="2160837" y="2754620"/>
              <a:ext cx="1371421" cy="1321106"/>
            </a:xfrm>
            <a:custGeom>
              <a:avLst/>
              <a:gdLst>
                <a:gd name="txL" fmla="*/ 0 w 2664"/>
                <a:gd name="txT" fmla="*/ 0 h 2553"/>
                <a:gd name="txR" fmla="*/ 2664 w 2664"/>
                <a:gd name="txB" fmla="*/ 2553 h 2553"/>
              </a:gdLst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2664" h="2553">
                  <a:moveTo>
                    <a:pt x="2664" y="0"/>
                  </a:moveTo>
                  <a:lnTo>
                    <a:pt x="0" y="546"/>
                  </a:lnTo>
                  <a:lnTo>
                    <a:pt x="1835" y="2553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6" name="Freeform 9"/>
            <p:cNvSpPr/>
            <p:nvPr/>
          </p:nvSpPr>
          <p:spPr>
            <a:xfrm>
              <a:off x="2948135" y="4075727"/>
              <a:ext cx="1274067" cy="1393089"/>
            </a:xfrm>
            <a:custGeom>
              <a:avLst/>
              <a:gdLst>
                <a:gd name="txL" fmla="*/ 0 w 2476"/>
                <a:gd name="txT" fmla="*/ 0 h 2702"/>
                <a:gd name="txR" fmla="*/ 2476 w 2476"/>
                <a:gd name="txB" fmla="*/ 2702 h 2702"/>
              </a:gdLst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2476" h="2702">
                  <a:moveTo>
                    <a:pt x="305" y="0"/>
                  </a:moveTo>
                  <a:lnTo>
                    <a:pt x="0" y="2702"/>
                  </a:lnTo>
                  <a:lnTo>
                    <a:pt x="2476" y="1578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7" name="Freeform 10"/>
            <p:cNvSpPr/>
            <p:nvPr/>
          </p:nvSpPr>
          <p:spPr>
            <a:xfrm>
              <a:off x="4222202" y="4075727"/>
              <a:ext cx="1278300" cy="1393089"/>
            </a:xfrm>
            <a:custGeom>
              <a:avLst/>
              <a:gdLst>
                <a:gd name="txL" fmla="*/ 0 w 2476"/>
                <a:gd name="txT" fmla="*/ 0 h 2702"/>
                <a:gd name="txR" fmla="*/ 2476 w 2476"/>
                <a:gd name="txB" fmla="*/ 2702 h 270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2147483646"/>
                </a:cxn>
              </a:cxnLst>
              <a:rect l="txL" t="txT" r="txR" b="txB"/>
              <a:pathLst>
                <a:path w="2476" h="2702">
                  <a:moveTo>
                    <a:pt x="0" y="1578"/>
                  </a:moveTo>
                  <a:lnTo>
                    <a:pt x="2476" y="2702"/>
                  </a:lnTo>
                  <a:lnTo>
                    <a:pt x="2172" y="0"/>
                  </a:lnTo>
                  <a:lnTo>
                    <a:pt x="0" y="1578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8" name="Freeform 11"/>
            <p:cNvSpPr/>
            <p:nvPr/>
          </p:nvSpPr>
          <p:spPr>
            <a:xfrm>
              <a:off x="4916378" y="2754620"/>
              <a:ext cx="1371421" cy="1321106"/>
            </a:xfrm>
            <a:custGeom>
              <a:avLst/>
              <a:gdLst>
                <a:gd name="txL" fmla="*/ 0 w 2664"/>
                <a:gd name="txT" fmla="*/ 0 h 2553"/>
                <a:gd name="txR" fmla="*/ 2664 w 2664"/>
                <a:gd name="txB" fmla="*/ 2553 h 2553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</a:cxnLst>
              <a:rect l="txL" t="txT" r="txR" b="txB"/>
              <a:pathLst>
                <a:path w="2664" h="2553">
                  <a:moveTo>
                    <a:pt x="830" y="2553"/>
                  </a:moveTo>
                  <a:lnTo>
                    <a:pt x="2664" y="546"/>
                  </a:lnTo>
                  <a:lnTo>
                    <a:pt x="0" y="0"/>
                  </a:lnTo>
                  <a:lnTo>
                    <a:pt x="830" y="2553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9" name="矩形 12"/>
            <p:cNvSpPr/>
            <p:nvPr/>
          </p:nvSpPr>
          <p:spPr>
            <a:xfrm>
              <a:off x="3983051" y="2091951"/>
              <a:ext cx="476187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0" name="矩形 13"/>
            <p:cNvSpPr/>
            <p:nvPr/>
          </p:nvSpPr>
          <p:spPr>
            <a:xfrm>
              <a:off x="5263466" y="3004445"/>
              <a:ext cx="476189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1" name="矩形 14"/>
            <p:cNvSpPr/>
            <p:nvPr/>
          </p:nvSpPr>
          <p:spPr>
            <a:xfrm>
              <a:off x="4785161" y="4524563"/>
              <a:ext cx="476189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2" name="矩形 15"/>
            <p:cNvSpPr/>
            <p:nvPr/>
          </p:nvSpPr>
          <p:spPr>
            <a:xfrm>
              <a:off x="3106865" y="4543619"/>
              <a:ext cx="476187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3" name="矩形 16"/>
            <p:cNvSpPr/>
            <p:nvPr/>
          </p:nvSpPr>
          <p:spPr>
            <a:xfrm>
              <a:off x="2708983" y="3017148"/>
              <a:ext cx="476187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05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</p:grpSp>
      <p:sp>
        <p:nvSpPr>
          <p:cNvPr id="18" name="Rectangle 5"/>
          <p:cNvSpPr>
            <a:spLocks noRot="1" noChangeArrowheads="1"/>
          </p:cNvSpPr>
          <p:nvPr/>
        </p:nvSpPr>
        <p:spPr bwMode="auto">
          <a:xfrm>
            <a:off x="6702425" y="3092450"/>
            <a:ext cx="973138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取值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</a:t>
            </a:r>
          </a:p>
        </p:txBody>
      </p:sp>
      <p:sp>
        <p:nvSpPr>
          <p:cNvPr id="19" name="Rectangle 5"/>
          <p:cNvSpPr>
            <a:spLocks noRot="1" noChangeArrowheads="1"/>
          </p:cNvSpPr>
          <p:nvPr/>
        </p:nvSpPr>
        <p:spPr bwMode="auto">
          <a:xfrm>
            <a:off x="5413375" y="5834063"/>
            <a:ext cx="1062038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Rectangle 5"/>
          <p:cNvSpPr>
            <a:spLocks noRot="1" noChangeArrowheads="1"/>
          </p:cNvSpPr>
          <p:nvPr/>
        </p:nvSpPr>
        <p:spPr bwMode="auto">
          <a:xfrm>
            <a:off x="2314575" y="5807075"/>
            <a:ext cx="107804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插入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Rectangle 5"/>
          <p:cNvSpPr>
            <a:spLocks noRot="1" noChangeArrowheads="1"/>
          </p:cNvSpPr>
          <p:nvPr/>
        </p:nvSpPr>
        <p:spPr bwMode="auto">
          <a:xfrm>
            <a:off x="1436688" y="3074988"/>
            <a:ext cx="93186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删除</a:t>
            </a: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3635375" y="3463925"/>
            <a:ext cx="1628775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基本操作的实现</a:t>
            </a:r>
          </a:p>
        </p:txBody>
      </p:sp>
    </p:spTree>
    <p:extLst>
      <p:ext uri="{BB962C8B-B14F-4D97-AF65-F5344CB8AC3E}">
        <p14:creationId xmlns:p14="http://schemas.microsoft.com/office/powerpoint/2010/main" val="4001555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9512" y="3933825"/>
            <a:ext cx="8810501" cy="2752725"/>
          </a:xfrm>
          <a:prstGeom prst="rect">
            <a:avLst/>
          </a:prstGeom>
          <a:solidFill>
            <a:srgbClr val="EAEAEA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77" name="Rectangle 6"/>
          <p:cNvSpPr>
            <a:spLocks noChangeArrowheads="1"/>
          </p:cNvSpPr>
          <p:nvPr/>
        </p:nvSpPr>
        <p:spPr bwMode="auto">
          <a:xfrm>
            <a:off x="935038" y="201613"/>
            <a:ext cx="80549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查找（按给定值获取数据所在的位置） </a:t>
            </a:r>
          </a:p>
        </p:txBody>
      </p:sp>
      <p:grpSp>
        <p:nvGrpSpPr>
          <p:cNvPr id="124" name="Group 6"/>
          <p:cNvGrpSpPr/>
          <p:nvPr/>
        </p:nvGrpSpPr>
        <p:grpSpPr>
          <a:xfrm>
            <a:off x="15875" y="836613"/>
            <a:ext cx="1204913" cy="1354137"/>
            <a:chOff x="105" y="2027"/>
            <a:chExt cx="759" cy="853"/>
          </a:xfrm>
        </p:grpSpPr>
        <p:sp>
          <p:nvSpPr>
            <p:cNvPr id="110646" name="Rectangle 7"/>
            <p:cNvSpPr/>
            <p:nvPr/>
          </p:nvSpPr>
          <p:spPr>
            <a:xfrm>
              <a:off x="288" y="2544"/>
              <a:ext cx="576" cy="336"/>
            </a:xfrm>
            <a:prstGeom prst="rect">
              <a:avLst/>
            </a:prstGeom>
            <a:solidFill>
              <a:srgbClr val="B8D4EC">
                <a:alpha val="50195"/>
              </a:srgbClr>
            </a:solidFill>
            <a:ln w="25400" cap="flat" cmpd="sng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zh-CN" sz="3600" dirty="0">
                <a:ea typeface="宋体" panose="02010600030101010101" pitchFamily="2" charset="-122"/>
              </a:endParaRPr>
            </a:p>
          </p:txBody>
        </p:sp>
        <p:sp>
          <p:nvSpPr>
            <p:cNvPr id="110647" name="Line 8"/>
            <p:cNvSpPr/>
            <p:nvPr/>
          </p:nvSpPr>
          <p:spPr>
            <a:xfrm>
              <a:off x="672" y="2544"/>
              <a:ext cx="0" cy="336"/>
            </a:xfrm>
            <a:prstGeom prst="line">
              <a:avLst/>
            </a:prstGeom>
            <a:ln w="9525" cap="flat" cmpd="sng">
              <a:solidFill>
                <a:srgbClr val="008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0648" name="Text Box 9"/>
            <p:cNvSpPr txBox="1"/>
            <p:nvPr/>
          </p:nvSpPr>
          <p:spPr>
            <a:xfrm>
              <a:off x="105" y="2027"/>
              <a:ext cx="23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rgbClr val="000099"/>
                  </a:solidFill>
                  <a:ea typeface="宋体" panose="02010600030101010101" pitchFamily="2" charset="-122"/>
                </a:rPr>
                <a:t>L</a:t>
              </a:r>
              <a:endParaRPr lang="en-US" altLang="zh-CN" dirty="0">
                <a:ea typeface="宋体" panose="02010600030101010101" pitchFamily="2" charset="-122"/>
              </a:endParaRPr>
            </a:p>
          </p:txBody>
        </p:sp>
        <p:sp>
          <p:nvSpPr>
            <p:cNvPr id="110649" name="Arc 10"/>
            <p:cNvSpPr/>
            <p:nvPr/>
          </p:nvSpPr>
          <p:spPr>
            <a:xfrm rot="-9533463">
              <a:off x="128" y="2347"/>
              <a:ext cx="394" cy="3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0719" fill="none">
                  <a:moveTo>
                    <a:pt x="9627" y="0"/>
                  </a:moveTo>
                  <a:cubicBezTo>
                    <a:pt x="16963" y="3652"/>
                    <a:pt x="21600" y="11141"/>
                    <a:pt x="21600" y="19336"/>
                  </a:cubicBezTo>
                  <a:cubicBezTo>
                    <a:pt x="21600" y="19797"/>
                    <a:pt x="21585" y="20258"/>
                    <a:pt x="21555" y="20718"/>
                  </a:cubicBezTo>
                </a:path>
                <a:path w="21600" h="20719" stroke="0">
                  <a:moveTo>
                    <a:pt x="9627" y="0"/>
                  </a:moveTo>
                  <a:cubicBezTo>
                    <a:pt x="16963" y="3652"/>
                    <a:pt x="21600" y="11141"/>
                    <a:pt x="21600" y="19336"/>
                  </a:cubicBezTo>
                  <a:cubicBezTo>
                    <a:pt x="21600" y="19797"/>
                    <a:pt x="21585" y="20258"/>
                    <a:pt x="21555" y="20718"/>
                  </a:cubicBezTo>
                  <a:lnTo>
                    <a:pt x="0" y="19336"/>
                  </a:lnTo>
                  <a:lnTo>
                    <a:pt x="9627" y="0"/>
                  </a:lnTo>
                  <a:close/>
                </a:path>
              </a:pathLst>
            </a:custGeom>
            <a:noFill/>
            <a:ln w="31750" cap="flat" cmpd="sng">
              <a:solidFill>
                <a:srgbClr val="000099">
                  <a:alpha val="100000"/>
                </a:srgbClr>
              </a:solidFill>
              <a:prstDash val="solid"/>
              <a:round/>
              <a:headEnd type="triangle" w="med" len="med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0" name="Group 11"/>
          <p:cNvGrpSpPr/>
          <p:nvPr/>
        </p:nvGrpSpPr>
        <p:grpSpPr bwMode="auto">
          <a:xfrm>
            <a:off x="1068388" y="1657448"/>
            <a:ext cx="1371600" cy="533400"/>
            <a:chOff x="768" y="2544"/>
            <a:chExt cx="864" cy="336"/>
          </a:xfrm>
          <a:solidFill>
            <a:srgbClr val="B8D4EC"/>
          </a:solidFill>
        </p:grpSpPr>
        <p:sp>
          <p:nvSpPr>
            <p:cNvPr id="131" name="Rectangle 12"/>
            <p:cNvSpPr>
              <a:spLocks noChangeArrowheads="1"/>
            </p:cNvSpPr>
            <p:nvPr/>
          </p:nvSpPr>
          <p:spPr bwMode="auto">
            <a:xfrm>
              <a:off x="1056" y="2544"/>
              <a:ext cx="576" cy="336"/>
            </a:xfrm>
            <a:prstGeom prst="rect">
              <a:avLst/>
            </a:prstGeom>
            <a:grpFill/>
            <a:ln w="25400">
              <a:solidFill>
                <a:srgbClr val="008080"/>
              </a:solidFill>
              <a:miter lim="800000"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21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2" name="Line 13"/>
            <p:cNvSpPr>
              <a:spLocks noChangeShapeType="1"/>
            </p:cNvSpPr>
            <p:nvPr/>
          </p:nvSpPr>
          <p:spPr bwMode="auto">
            <a:xfrm>
              <a:off x="1440" y="2544"/>
              <a:ext cx="0" cy="336"/>
            </a:xfrm>
            <a:prstGeom prst="line">
              <a:avLst/>
            </a:prstGeom>
            <a:grpFill/>
            <a:ln w="9525">
              <a:solidFill>
                <a:srgbClr val="00808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37" name="Line 14"/>
            <p:cNvSpPr>
              <a:spLocks noChangeShapeType="1"/>
            </p:cNvSpPr>
            <p:nvPr/>
          </p:nvSpPr>
          <p:spPr bwMode="auto">
            <a:xfrm>
              <a:off x="768" y="2736"/>
              <a:ext cx="288" cy="0"/>
            </a:xfrm>
            <a:prstGeom prst="line">
              <a:avLst/>
            </a:prstGeom>
            <a:grpFill/>
            <a:ln w="25400">
              <a:solidFill>
                <a:srgbClr val="008080"/>
              </a:solidFill>
              <a:round/>
              <a:headEnd type="oval" w="sm" len="sm"/>
              <a:tailEnd type="triangle" w="med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  <p:grpSp>
        <p:nvGrpSpPr>
          <p:cNvPr id="138" name="Group 15"/>
          <p:cNvGrpSpPr/>
          <p:nvPr/>
        </p:nvGrpSpPr>
        <p:grpSpPr bwMode="auto">
          <a:xfrm>
            <a:off x="2287588" y="1657448"/>
            <a:ext cx="1371600" cy="533400"/>
            <a:chOff x="1536" y="2544"/>
            <a:chExt cx="864" cy="336"/>
          </a:xfrm>
          <a:solidFill>
            <a:srgbClr val="B8D4EC"/>
          </a:solidFill>
        </p:grpSpPr>
        <p:sp>
          <p:nvSpPr>
            <p:cNvPr id="139" name="Rectangle 16"/>
            <p:cNvSpPr>
              <a:spLocks noChangeArrowheads="1"/>
            </p:cNvSpPr>
            <p:nvPr/>
          </p:nvSpPr>
          <p:spPr bwMode="auto">
            <a:xfrm>
              <a:off x="1824" y="2544"/>
              <a:ext cx="576" cy="336"/>
            </a:xfrm>
            <a:prstGeom prst="rect">
              <a:avLst/>
            </a:prstGeom>
            <a:grpFill/>
            <a:ln w="25400">
              <a:solidFill>
                <a:srgbClr val="008080"/>
              </a:solidFill>
              <a:miter lim="800000"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18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 17"/>
            <p:cNvSpPr>
              <a:spLocks noChangeShapeType="1"/>
            </p:cNvSpPr>
            <p:nvPr/>
          </p:nvSpPr>
          <p:spPr bwMode="auto">
            <a:xfrm>
              <a:off x="2208" y="2544"/>
              <a:ext cx="0" cy="336"/>
            </a:xfrm>
            <a:prstGeom prst="line">
              <a:avLst/>
            </a:prstGeom>
            <a:grpFill/>
            <a:ln w="9525">
              <a:solidFill>
                <a:srgbClr val="00808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41" name="Line 18"/>
            <p:cNvSpPr>
              <a:spLocks noChangeShapeType="1"/>
            </p:cNvSpPr>
            <p:nvPr/>
          </p:nvSpPr>
          <p:spPr bwMode="auto">
            <a:xfrm>
              <a:off x="1536" y="2736"/>
              <a:ext cx="288" cy="0"/>
            </a:xfrm>
            <a:prstGeom prst="line">
              <a:avLst/>
            </a:prstGeom>
            <a:grpFill/>
            <a:ln w="25400">
              <a:solidFill>
                <a:srgbClr val="008080"/>
              </a:solidFill>
              <a:round/>
              <a:headEnd type="oval" w="sm" len="sm"/>
              <a:tailEnd type="triangle" w="med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  <p:grpSp>
        <p:nvGrpSpPr>
          <p:cNvPr id="143" name="Group 19"/>
          <p:cNvGrpSpPr/>
          <p:nvPr/>
        </p:nvGrpSpPr>
        <p:grpSpPr bwMode="auto">
          <a:xfrm>
            <a:off x="3506788" y="1657448"/>
            <a:ext cx="1371600" cy="533400"/>
            <a:chOff x="2304" y="2544"/>
            <a:chExt cx="864" cy="336"/>
          </a:xfrm>
          <a:solidFill>
            <a:srgbClr val="B8D4EC"/>
          </a:solidFill>
        </p:grpSpPr>
        <p:sp>
          <p:nvSpPr>
            <p:cNvPr id="144" name="Rectangle 20"/>
            <p:cNvSpPr>
              <a:spLocks noChangeArrowheads="1"/>
            </p:cNvSpPr>
            <p:nvPr/>
          </p:nvSpPr>
          <p:spPr bwMode="auto">
            <a:xfrm>
              <a:off x="2592" y="2544"/>
              <a:ext cx="576" cy="336"/>
            </a:xfrm>
            <a:prstGeom prst="rect">
              <a:avLst/>
            </a:prstGeom>
            <a:grpFill/>
            <a:ln w="25400">
              <a:solidFill>
                <a:srgbClr val="008080"/>
              </a:solidFill>
              <a:miter lim="800000"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30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5" name="Line 21"/>
            <p:cNvSpPr>
              <a:spLocks noChangeShapeType="1"/>
            </p:cNvSpPr>
            <p:nvPr/>
          </p:nvSpPr>
          <p:spPr bwMode="auto">
            <a:xfrm>
              <a:off x="2976" y="2544"/>
              <a:ext cx="0" cy="336"/>
            </a:xfrm>
            <a:prstGeom prst="line">
              <a:avLst/>
            </a:prstGeom>
            <a:grpFill/>
            <a:ln w="9525">
              <a:solidFill>
                <a:srgbClr val="00808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46" name="Line 22"/>
            <p:cNvSpPr>
              <a:spLocks noChangeShapeType="1"/>
            </p:cNvSpPr>
            <p:nvPr/>
          </p:nvSpPr>
          <p:spPr bwMode="auto">
            <a:xfrm>
              <a:off x="2304" y="2736"/>
              <a:ext cx="288" cy="0"/>
            </a:xfrm>
            <a:prstGeom prst="line">
              <a:avLst/>
            </a:prstGeom>
            <a:grpFill/>
            <a:ln w="25400">
              <a:solidFill>
                <a:srgbClr val="008080"/>
              </a:solidFill>
              <a:round/>
              <a:headEnd type="oval" w="sm" len="sm"/>
              <a:tailEnd type="triangle" w="med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  <p:grpSp>
        <p:nvGrpSpPr>
          <p:cNvPr id="147" name="Group 23"/>
          <p:cNvGrpSpPr/>
          <p:nvPr/>
        </p:nvGrpSpPr>
        <p:grpSpPr bwMode="auto">
          <a:xfrm>
            <a:off x="4725988" y="1657448"/>
            <a:ext cx="1371600" cy="533400"/>
            <a:chOff x="3072" y="2544"/>
            <a:chExt cx="864" cy="336"/>
          </a:xfrm>
          <a:solidFill>
            <a:srgbClr val="B8D4EC"/>
          </a:solidFill>
        </p:grpSpPr>
        <p:sp>
          <p:nvSpPr>
            <p:cNvPr id="149" name="Rectangle 24"/>
            <p:cNvSpPr>
              <a:spLocks noChangeArrowheads="1"/>
            </p:cNvSpPr>
            <p:nvPr/>
          </p:nvSpPr>
          <p:spPr bwMode="auto">
            <a:xfrm>
              <a:off x="3360" y="2544"/>
              <a:ext cx="576" cy="336"/>
            </a:xfrm>
            <a:prstGeom prst="rect">
              <a:avLst/>
            </a:prstGeom>
            <a:grpFill/>
            <a:ln w="25400">
              <a:solidFill>
                <a:srgbClr val="008080"/>
              </a:solidFill>
              <a:miter lim="800000"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75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0" name="Line 25"/>
            <p:cNvSpPr>
              <a:spLocks noChangeShapeType="1"/>
            </p:cNvSpPr>
            <p:nvPr/>
          </p:nvSpPr>
          <p:spPr bwMode="auto">
            <a:xfrm>
              <a:off x="3744" y="2544"/>
              <a:ext cx="0" cy="336"/>
            </a:xfrm>
            <a:prstGeom prst="line">
              <a:avLst/>
            </a:prstGeom>
            <a:grpFill/>
            <a:ln w="9525">
              <a:solidFill>
                <a:srgbClr val="00808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51" name="Line 26"/>
            <p:cNvSpPr>
              <a:spLocks noChangeShapeType="1"/>
            </p:cNvSpPr>
            <p:nvPr/>
          </p:nvSpPr>
          <p:spPr bwMode="auto">
            <a:xfrm>
              <a:off x="3072" y="2736"/>
              <a:ext cx="288" cy="0"/>
            </a:xfrm>
            <a:prstGeom prst="line">
              <a:avLst/>
            </a:prstGeom>
            <a:grpFill/>
            <a:ln w="25400">
              <a:solidFill>
                <a:srgbClr val="008080"/>
              </a:solidFill>
              <a:round/>
              <a:headEnd type="oval" w="sm" len="sm"/>
              <a:tailEnd type="triangle" w="med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  <p:grpSp>
        <p:nvGrpSpPr>
          <p:cNvPr id="152" name="Group 27"/>
          <p:cNvGrpSpPr/>
          <p:nvPr/>
        </p:nvGrpSpPr>
        <p:grpSpPr bwMode="auto">
          <a:xfrm>
            <a:off x="5945188" y="1657448"/>
            <a:ext cx="1371600" cy="533400"/>
            <a:chOff x="3840" y="2544"/>
            <a:chExt cx="864" cy="336"/>
          </a:xfrm>
          <a:solidFill>
            <a:srgbClr val="B8D4EC"/>
          </a:solidFill>
        </p:grpSpPr>
        <p:sp>
          <p:nvSpPr>
            <p:cNvPr id="153" name="Rectangle 28"/>
            <p:cNvSpPr>
              <a:spLocks noChangeArrowheads="1"/>
            </p:cNvSpPr>
            <p:nvPr/>
          </p:nvSpPr>
          <p:spPr bwMode="auto">
            <a:xfrm>
              <a:off x="4128" y="2544"/>
              <a:ext cx="576" cy="336"/>
            </a:xfrm>
            <a:prstGeom prst="rect">
              <a:avLst/>
            </a:prstGeom>
            <a:grpFill/>
            <a:ln w="25400">
              <a:solidFill>
                <a:srgbClr val="008080"/>
              </a:solidFill>
              <a:miter lim="800000"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30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6" name="Line 29"/>
            <p:cNvSpPr>
              <a:spLocks noChangeShapeType="1"/>
            </p:cNvSpPr>
            <p:nvPr/>
          </p:nvSpPr>
          <p:spPr bwMode="auto">
            <a:xfrm>
              <a:off x="4512" y="2544"/>
              <a:ext cx="0" cy="336"/>
            </a:xfrm>
            <a:prstGeom prst="line">
              <a:avLst/>
            </a:prstGeom>
            <a:grpFill/>
            <a:ln w="9525">
              <a:solidFill>
                <a:srgbClr val="00808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57" name="Line 30"/>
            <p:cNvSpPr>
              <a:spLocks noChangeShapeType="1"/>
            </p:cNvSpPr>
            <p:nvPr/>
          </p:nvSpPr>
          <p:spPr bwMode="auto">
            <a:xfrm>
              <a:off x="3840" y="2736"/>
              <a:ext cx="288" cy="0"/>
            </a:xfrm>
            <a:prstGeom prst="line">
              <a:avLst/>
            </a:prstGeom>
            <a:grpFill/>
            <a:ln w="25400">
              <a:solidFill>
                <a:srgbClr val="008080"/>
              </a:solidFill>
              <a:round/>
              <a:headEnd type="oval" w="sm" len="sm"/>
              <a:tailEnd type="triangle" w="med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  <p:grpSp>
        <p:nvGrpSpPr>
          <p:cNvPr id="158" name="Group 31"/>
          <p:cNvGrpSpPr/>
          <p:nvPr/>
        </p:nvGrpSpPr>
        <p:grpSpPr bwMode="auto">
          <a:xfrm>
            <a:off x="7164388" y="1657448"/>
            <a:ext cx="1474787" cy="533400"/>
            <a:chOff x="4608" y="2544"/>
            <a:chExt cx="929" cy="336"/>
          </a:xfrm>
          <a:solidFill>
            <a:srgbClr val="B8D4EC"/>
          </a:solidFill>
        </p:grpSpPr>
        <p:sp>
          <p:nvSpPr>
            <p:cNvPr id="159" name="Rectangle 32"/>
            <p:cNvSpPr>
              <a:spLocks noChangeArrowheads="1"/>
            </p:cNvSpPr>
            <p:nvPr/>
          </p:nvSpPr>
          <p:spPr bwMode="auto">
            <a:xfrm>
              <a:off x="4896" y="2544"/>
              <a:ext cx="576" cy="336"/>
            </a:xfrm>
            <a:prstGeom prst="rect">
              <a:avLst/>
            </a:prstGeom>
            <a:grpFill/>
            <a:ln w="25400">
              <a:solidFill>
                <a:srgbClr val="008080"/>
              </a:solidFill>
              <a:miter lim="800000"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56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0" name="Line 33"/>
            <p:cNvSpPr>
              <a:spLocks noChangeShapeType="1"/>
            </p:cNvSpPr>
            <p:nvPr/>
          </p:nvSpPr>
          <p:spPr bwMode="auto">
            <a:xfrm>
              <a:off x="5280" y="2544"/>
              <a:ext cx="0" cy="336"/>
            </a:xfrm>
            <a:prstGeom prst="line">
              <a:avLst/>
            </a:prstGeom>
            <a:grpFill/>
            <a:ln w="9525">
              <a:solidFill>
                <a:srgbClr val="00808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61" name="Text Box 34"/>
            <p:cNvSpPr txBox="1">
              <a:spLocks noChangeArrowheads="1"/>
            </p:cNvSpPr>
            <p:nvPr/>
          </p:nvSpPr>
          <p:spPr bwMode="auto">
            <a:xfrm>
              <a:off x="5226" y="2553"/>
              <a:ext cx="311" cy="29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∧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2" name="Line 35"/>
            <p:cNvSpPr>
              <a:spLocks noChangeShapeType="1"/>
            </p:cNvSpPr>
            <p:nvPr/>
          </p:nvSpPr>
          <p:spPr bwMode="auto">
            <a:xfrm>
              <a:off x="4608" y="2736"/>
              <a:ext cx="288" cy="0"/>
            </a:xfrm>
            <a:prstGeom prst="line">
              <a:avLst/>
            </a:prstGeom>
            <a:grpFill/>
            <a:ln w="25400">
              <a:solidFill>
                <a:srgbClr val="008080"/>
              </a:solidFill>
              <a:round/>
              <a:headEnd type="oval" w="sm" len="sm"/>
              <a:tailEnd type="triangle" w="med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  <p:grpSp>
        <p:nvGrpSpPr>
          <p:cNvPr id="163" name="Group 36"/>
          <p:cNvGrpSpPr/>
          <p:nvPr/>
        </p:nvGrpSpPr>
        <p:grpSpPr>
          <a:xfrm>
            <a:off x="695325" y="2220913"/>
            <a:ext cx="1497013" cy="874712"/>
            <a:chOff x="4817" y="2622"/>
            <a:chExt cx="943" cy="654"/>
          </a:xfrm>
        </p:grpSpPr>
        <p:grpSp>
          <p:nvGrpSpPr>
            <p:cNvPr id="110642" name="Group 37"/>
            <p:cNvGrpSpPr/>
            <p:nvPr/>
          </p:nvGrpSpPr>
          <p:grpSpPr>
            <a:xfrm>
              <a:off x="5484" y="2622"/>
              <a:ext cx="276" cy="624"/>
              <a:chOff x="1212" y="2880"/>
              <a:chExt cx="276" cy="624"/>
            </a:xfrm>
          </p:grpSpPr>
          <p:sp>
            <p:nvSpPr>
              <p:cNvPr id="110644" name="Line 38"/>
              <p:cNvSpPr/>
              <p:nvPr/>
            </p:nvSpPr>
            <p:spPr>
              <a:xfrm>
                <a:off x="1248" y="2880"/>
                <a:ext cx="0" cy="624"/>
              </a:xfrm>
              <a:prstGeom prst="line">
                <a:avLst/>
              </a:prstGeom>
              <a:ln w="31750" cap="flat" cmpd="sng">
                <a:solidFill>
                  <a:srgbClr val="990000"/>
                </a:solidFill>
                <a:prstDash val="solid"/>
                <a:headEnd type="triangle" w="med" len="lg"/>
                <a:tailEnd type="none" w="med" len="med"/>
              </a:ln>
            </p:spPr>
          </p:sp>
          <p:sp>
            <p:nvSpPr>
              <p:cNvPr id="110645" name="Text Box 39"/>
              <p:cNvSpPr txBox="1"/>
              <p:nvPr/>
            </p:nvSpPr>
            <p:spPr>
              <a:xfrm>
                <a:off x="1212" y="3052"/>
                <a:ext cx="276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indent="53848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5pPr>
              </a:lstStyle>
              <a:p>
                <a:pPr lvl="0" indent="0">
                  <a:lnSpc>
                    <a:spcPct val="100000"/>
                  </a:lnSpc>
                  <a:spcBef>
                    <a:spcPct val="20000"/>
                  </a:spcBef>
                </a:pPr>
                <a:r>
                  <a:rPr lang="en-US" altLang="zh-CN" sz="3600" b="1" dirty="0">
                    <a:solidFill>
                      <a:srgbClr val="990000"/>
                    </a:solidFill>
                    <a:ea typeface="宋体" panose="02010600030101010101" pitchFamily="2" charset="-122"/>
                  </a:rPr>
                  <a:t>p</a:t>
                </a:r>
                <a:endParaRPr lang="en-US" altLang="zh-CN" sz="3600" dirty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0643" name="Rectangle 40"/>
            <p:cNvSpPr/>
            <p:nvPr/>
          </p:nvSpPr>
          <p:spPr>
            <a:xfrm>
              <a:off x="4817" y="2658"/>
              <a:ext cx="424" cy="618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dirty="0">
                <a:ea typeface="仿宋_GB2312" pitchFamily="49" charset="-122"/>
              </a:endParaRPr>
            </a:p>
          </p:txBody>
        </p:sp>
      </p:grpSp>
      <p:sp>
        <p:nvSpPr>
          <p:cNvPr id="169" name="Text Box 42"/>
          <p:cNvSpPr txBox="1"/>
          <p:nvPr/>
        </p:nvSpPr>
        <p:spPr>
          <a:xfrm>
            <a:off x="467544" y="3099703"/>
            <a:ext cx="30489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j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70" name="Text Box 43"/>
          <p:cNvSpPr txBox="1"/>
          <p:nvPr/>
        </p:nvSpPr>
        <p:spPr>
          <a:xfrm>
            <a:off x="939800" y="3168774"/>
            <a:ext cx="641350" cy="461963"/>
          </a:xfrm>
          <a:prstGeom prst="rect">
            <a:avLst/>
          </a:prstGeom>
          <a:solidFill>
            <a:srgbClr val="D7D7FF"/>
          </a:solidFill>
          <a:ln w="9525">
            <a:noFill/>
          </a:ln>
        </p:spPr>
        <p:txBody>
          <a:bodyPr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 algn="ctr">
              <a:lnSpc>
                <a:spcPct val="10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660033"/>
                </a:solidFill>
                <a:ea typeface="宋体" panose="02010600030101010101" pitchFamily="2" charset="-122"/>
              </a:rPr>
              <a:t>1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71" name="Text Box 44"/>
          <p:cNvSpPr txBox="1"/>
          <p:nvPr/>
        </p:nvSpPr>
        <p:spPr>
          <a:xfrm>
            <a:off x="3300413" y="984410"/>
            <a:ext cx="972039" cy="463846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  <a:spcBef>
                <a:spcPct val="20000"/>
              </a:spcBef>
            </a:pPr>
            <a:r>
              <a:rPr lang="en-US" altLang="zh-CN" b="1" dirty="0">
                <a:ea typeface="仿宋_GB2312" pitchFamily="49" charset="-122"/>
              </a:rPr>
              <a:t>x = 30</a:t>
            </a:r>
          </a:p>
        </p:txBody>
      </p:sp>
      <p:grpSp>
        <p:nvGrpSpPr>
          <p:cNvPr id="172" name="Group 50"/>
          <p:cNvGrpSpPr/>
          <p:nvPr/>
        </p:nvGrpSpPr>
        <p:grpSpPr>
          <a:xfrm>
            <a:off x="1735138" y="2189163"/>
            <a:ext cx="1765300" cy="930275"/>
            <a:chOff x="1093" y="2623"/>
            <a:chExt cx="1112" cy="646"/>
          </a:xfrm>
        </p:grpSpPr>
        <p:grpSp>
          <p:nvGrpSpPr>
            <p:cNvPr id="110638" name="Group 46"/>
            <p:cNvGrpSpPr/>
            <p:nvPr/>
          </p:nvGrpSpPr>
          <p:grpSpPr>
            <a:xfrm>
              <a:off x="1929" y="2623"/>
              <a:ext cx="276" cy="624"/>
              <a:chOff x="1212" y="2880"/>
              <a:chExt cx="276" cy="624"/>
            </a:xfrm>
          </p:grpSpPr>
          <p:sp>
            <p:nvSpPr>
              <p:cNvPr id="110640" name="Line 47"/>
              <p:cNvSpPr/>
              <p:nvPr/>
            </p:nvSpPr>
            <p:spPr>
              <a:xfrm>
                <a:off x="1248" y="2880"/>
                <a:ext cx="0" cy="624"/>
              </a:xfrm>
              <a:prstGeom prst="line">
                <a:avLst/>
              </a:prstGeom>
              <a:ln w="31750" cap="flat" cmpd="sng">
                <a:solidFill>
                  <a:srgbClr val="990000"/>
                </a:solidFill>
                <a:prstDash val="solid"/>
                <a:headEnd type="triangle" w="med" len="lg"/>
                <a:tailEnd type="none" w="med" len="med"/>
              </a:ln>
            </p:spPr>
          </p:sp>
          <p:sp>
            <p:nvSpPr>
              <p:cNvPr id="110641" name="Text Box 48"/>
              <p:cNvSpPr txBox="1"/>
              <p:nvPr/>
            </p:nvSpPr>
            <p:spPr>
              <a:xfrm>
                <a:off x="1212" y="3052"/>
                <a:ext cx="276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indent="53848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5pPr>
              </a:lstStyle>
              <a:p>
                <a:pPr lvl="0" indent="0">
                  <a:lnSpc>
                    <a:spcPct val="100000"/>
                  </a:lnSpc>
                  <a:spcBef>
                    <a:spcPct val="20000"/>
                  </a:spcBef>
                </a:pPr>
                <a:r>
                  <a:rPr lang="en-US" altLang="zh-CN" sz="3600" b="1" dirty="0">
                    <a:solidFill>
                      <a:srgbClr val="990000"/>
                    </a:solidFill>
                    <a:ea typeface="宋体" panose="02010600030101010101" pitchFamily="2" charset="-122"/>
                  </a:rPr>
                  <a:t>p</a:t>
                </a:r>
                <a:endParaRPr lang="en-US" altLang="zh-CN" sz="3600" dirty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0639" name="Rectangle 49"/>
            <p:cNvSpPr/>
            <p:nvPr/>
          </p:nvSpPr>
          <p:spPr>
            <a:xfrm>
              <a:off x="1093" y="2651"/>
              <a:ext cx="424" cy="618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dirty="0">
                <a:ea typeface="仿宋_GB2312" pitchFamily="49" charset="-122"/>
              </a:endParaRPr>
            </a:p>
          </p:txBody>
        </p:sp>
      </p:grpSp>
      <p:sp>
        <p:nvSpPr>
          <p:cNvPr id="177" name="Text Box 51"/>
          <p:cNvSpPr txBox="1"/>
          <p:nvPr/>
        </p:nvSpPr>
        <p:spPr>
          <a:xfrm>
            <a:off x="944563" y="3173537"/>
            <a:ext cx="641350" cy="461962"/>
          </a:xfrm>
          <a:prstGeom prst="rect">
            <a:avLst/>
          </a:prstGeom>
          <a:solidFill>
            <a:srgbClr val="D7D7FF"/>
          </a:solidFill>
          <a:ln w="9525">
            <a:noFill/>
          </a:ln>
        </p:spPr>
        <p:txBody>
          <a:bodyPr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 algn="ctr">
              <a:lnSpc>
                <a:spcPct val="10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660033"/>
                </a:solidFill>
                <a:ea typeface="宋体" panose="02010600030101010101" pitchFamily="2" charset="-122"/>
              </a:rPr>
              <a:t>2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178" name="Group 52"/>
          <p:cNvGrpSpPr/>
          <p:nvPr/>
        </p:nvGrpSpPr>
        <p:grpSpPr>
          <a:xfrm>
            <a:off x="2963863" y="2179636"/>
            <a:ext cx="1765300" cy="885559"/>
            <a:chOff x="1093" y="2623"/>
            <a:chExt cx="1112" cy="660"/>
          </a:xfrm>
        </p:grpSpPr>
        <p:grpSp>
          <p:nvGrpSpPr>
            <p:cNvPr id="110634" name="Group 53"/>
            <p:cNvGrpSpPr/>
            <p:nvPr/>
          </p:nvGrpSpPr>
          <p:grpSpPr>
            <a:xfrm>
              <a:off x="1929" y="2623"/>
              <a:ext cx="276" cy="624"/>
              <a:chOff x="1212" y="2880"/>
              <a:chExt cx="276" cy="624"/>
            </a:xfrm>
          </p:grpSpPr>
          <p:sp>
            <p:nvSpPr>
              <p:cNvPr id="110636" name="Line 54"/>
              <p:cNvSpPr/>
              <p:nvPr/>
            </p:nvSpPr>
            <p:spPr>
              <a:xfrm>
                <a:off x="1248" y="2880"/>
                <a:ext cx="0" cy="624"/>
              </a:xfrm>
              <a:prstGeom prst="line">
                <a:avLst/>
              </a:prstGeom>
              <a:ln w="31750" cap="flat" cmpd="sng">
                <a:solidFill>
                  <a:srgbClr val="990000"/>
                </a:solidFill>
                <a:prstDash val="solid"/>
                <a:headEnd type="triangle" w="med" len="lg"/>
                <a:tailEnd type="none" w="med" len="med"/>
              </a:ln>
            </p:spPr>
          </p:sp>
          <p:sp>
            <p:nvSpPr>
              <p:cNvPr id="110637" name="Text Box 55"/>
              <p:cNvSpPr txBox="1"/>
              <p:nvPr/>
            </p:nvSpPr>
            <p:spPr>
              <a:xfrm>
                <a:off x="1212" y="3052"/>
                <a:ext cx="276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indent="53848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5pPr>
              </a:lstStyle>
              <a:p>
                <a:pPr lvl="0" indent="0">
                  <a:lnSpc>
                    <a:spcPct val="100000"/>
                  </a:lnSpc>
                  <a:spcBef>
                    <a:spcPct val="20000"/>
                  </a:spcBef>
                </a:pPr>
                <a:r>
                  <a:rPr lang="en-US" altLang="zh-CN" sz="3600" b="1" dirty="0">
                    <a:solidFill>
                      <a:srgbClr val="990000"/>
                    </a:solidFill>
                    <a:ea typeface="宋体" panose="02010600030101010101" pitchFamily="2" charset="-122"/>
                  </a:rPr>
                  <a:t>p</a:t>
                </a:r>
                <a:endParaRPr lang="en-US" altLang="zh-CN" sz="3600" dirty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0635" name="Rectangle 56"/>
            <p:cNvSpPr/>
            <p:nvPr/>
          </p:nvSpPr>
          <p:spPr>
            <a:xfrm>
              <a:off x="1093" y="2665"/>
              <a:ext cx="424" cy="618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dirty="0">
                <a:ea typeface="仿宋_GB2312" pitchFamily="49" charset="-122"/>
              </a:endParaRPr>
            </a:p>
          </p:txBody>
        </p:sp>
      </p:grpSp>
      <p:sp>
        <p:nvSpPr>
          <p:cNvPr id="183" name="Text Box 57"/>
          <p:cNvSpPr txBox="1"/>
          <p:nvPr/>
        </p:nvSpPr>
        <p:spPr>
          <a:xfrm>
            <a:off x="935038" y="3178299"/>
            <a:ext cx="641350" cy="461963"/>
          </a:xfrm>
          <a:prstGeom prst="rect">
            <a:avLst/>
          </a:prstGeom>
          <a:solidFill>
            <a:srgbClr val="D7D7FF"/>
          </a:solidFill>
          <a:ln w="9525">
            <a:noFill/>
          </a:ln>
        </p:spPr>
        <p:txBody>
          <a:bodyPr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 algn="ctr">
              <a:lnSpc>
                <a:spcPct val="10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660033"/>
                </a:solidFill>
                <a:ea typeface="宋体" panose="02010600030101010101" pitchFamily="2" charset="-122"/>
              </a:rPr>
              <a:t>3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84" name="Text Box 58"/>
          <p:cNvSpPr txBox="1"/>
          <p:nvPr/>
        </p:nvSpPr>
        <p:spPr>
          <a:xfrm>
            <a:off x="2262188" y="3151188"/>
            <a:ext cx="2158261" cy="525401"/>
          </a:xfrm>
          <a:prstGeom prst="rect">
            <a:avLst/>
          </a:prstGeom>
          <a:solidFill>
            <a:srgbClr val="FFFF00"/>
          </a:solidFill>
          <a:ln w="38100">
            <a:noFill/>
          </a:ln>
        </p:spPr>
        <p:txBody>
          <a:bodyPr wrap="none" lIns="90000" tIns="46800" rIns="90000" bIns="46800"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  <a:spcBef>
                <a:spcPct val="20000"/>
              </a:spcBef>
            </a:pPr>
            <a:r>
              <a:rPr lang="zh-CN" altLang="en-US" sz="2800" dirty="0">
                <a:latin typeface="隶书" panose="02010509060101010101" pitchFamily="49" charset="-122"/>
                <a:ea typeface="仿宋_GB2312" pitchFamily="49" charset="-122"/>
              </a:rPr>
              <a:t>找到，返回</a:t>
            </a:r>
            <a:r>
              <a:rPr lang="en-US" altLang="zh-CN" sz="2800" dirty="0">
                <a:latin typeface="隶书" panose="02010509060101010101" pitchFamily="49" charset="-122"/>
                <a:ea typeface="仿宋_GB2312" pitchFamily="49" charset="-122"/>
              </a:rPr>
              <a:t>j</a:t>
            </a:r>
          </a:p>
        </p:txBody>
      </p:sp>
      <p:sp>
        <p:nvSpPr>
          <p:cNvPr id="185" name="Text Box 59"/>
          <p:cNvSpPr txBox="1"/>
          <p:nvPr/>
        </p:nvSpPr>
        <p:spPr>
          <a:xfrm>
            <a:off x="4761374" y="965003"/>
            <a:ext cx="972039" cy="463846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  <a:spcBef>
                <a:spcPct val="20000"/>
              </a:spcBef>
            </a:pPr>
            <a:r>
              <a:rPr lang="en-US" altLang="zh-CN" b="1" dirty="0">
                <a:ea typeface="仿宋_GB2312" pitchFamily="49" charset="-122"/>
              </a:rPr>
              <a:t>x = 51</a:t>
            </a:r>
          </a:p>
        </p:txBody>
      </p:sp>
      <p:sp>
        <p:nvSpPr>
          <p:cNvPr id="186" name="Rectangle 60"/>
          <p:cNvSpPr/>
          <p:nvPr/>
        </p:nvSpPr>
        <p:spPr>
          <a:xfrm>
            <a:off x="2142128" y="2938303"/>
            <a:ext cx="2568575" cy="833437"/>
          </a:xfrm>
          <a:prstGeom prst="rect">
            <a:avLst/>
          </a:prstGeom>
          <a:solidFill>
            <a:srgbClr val="FFFFFF"/>
          </a:solidFill>
          <a:ln w="38100">
            <a:noFill/>
          </a:ln>
        </p:spPr>
        <p:txBody>
          <a:bodyPr lIns="90000" tIns="46800" rIns="90000" bIns="46800" anchor="ctr" anchorCtr="0"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grpSp>
        <p:nvGrpSpPr>
          <p:cNvPr id="187" name="Group 66"/>
          <p:cNvGrpSpPr/>
          <p:nvPr/>
        </p:nvGrpSpPr>
        <p:grpSpPr>
          <a:xfrm>
            <a:off x="1674813" y="2220150"/>
            <a:ext cx="3070225" cy="815148"/>
            <a:chOff x="1055" y="2645"/>
            <a:chExt cx="1934" cy="624"/>
          </a:xfrm>
        </p:grpSpPr>
        <p:grpSp>
          <p:nvGrpSpPr>
            <p:cNvPr id="110630" name="Group 62"/>
            <p:cNvGrpSpPr/>
            <p:nvPr/>
          </p:nvGrpSpPr>
          <p:grpSpPr>
            <a:xfrm>
              <a:off x="1055" y="2645"/>
              <a:ext cx="276" cy="624"/>
              <a:chOff x="1212" y="2880"/>
              <a:chExt cx="276" cy="624"/>
            </a:xfrm>
          </p:grpSpPr>
          <p:sp>
            <p:nvSpPr>
              <p:cNvPr id="110632" name="Line 63"/>
              <p:cNvSpPr/>
              <p:nvPr/>
            </p:nvSpPr>
            <p:spPr>
              <a:xfrm>
                <a:off x="1248" y="2880"/>
                <a:ext cx="0" cy="624"/>
              </a:xfrm>
              <a:prstGeom prst="line">
                <a:avLst/>
              </a:prstGeom>
              <a:ln w="31750" cap="flat" cmpd="sng">
                <a:solidFill>
                  <a:srgbClr val="990000"/>
                </a:solidFill>
                <a:prstDash val="solid"/>
                <a:headEnd type="triangle" w="med" len="lg"/>
                <a:tailEnd type="none" w="med" len="med"/>
              </a:ln>
            </p:spPr>
          </p:sp>
          <p:sp>
            <p:nvSpPr>
              <p:cNvPr id="110633" name="Text Box 64"/>
              <p:cNvSpPr txBox="1"/>
              <p:nvPr/>
            </p:nvSpPr>
            <p:spPr>
              <a:xfrm>
                <a:off x="1212" y="3052"/>
                <a:ext cx="276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indent="53848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5pPr>
              </a:lstStyle>
              <a:p>
                <a:pPr lvl="0" indent="0">
                  <a:lnSpc>
                    <a:spcPct val="100000"/>
                  </a:lnSpc>
                  <a:spcBef>
                    <a:spcPct val="20000"/>
                  </a:spcBef>
                </a:pPr>
                <a:r>
                  <a:rPr lang="en-US" altLang="zh-CN" sz="3600" b="1" dirty="0">
                    <a:solidFill>
                      <a:srgbClr val="990000"/>
                    </a:solidFill>
                    <a:ea typeface="宋体" panose="02010600030101010101" pitchFamily="2" charset="-122"/>
                  </a:rPr>
                  <a:t>p</a:t>
                </a:r>
                <a:endParaRPr lang="en-US" altLang="zh-CN" sz="3600" dirty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0631" name="Rectangle 65"/>
            <p:cNvSpPr/>
            <p:nvPr/>
          </p:nvSpPr>
          <p:spPr>
            <a:xfrm>
              <a:off x="2565" y="2647"/>
              <a:ext cx="424" cy="618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dirty="0">
                <a:ea typeface="仿宋_GB2312" pitchFamily="49" charset="-122"/>
              </a:endParaRPr>
            </a:p>
          </p:txBody>
        </p:sp>
      </p:grpSp>
      <p:sp>
        <p:nvSpPr>
          <p:cNvPr id="192" name="Text Box 67"/>
          <p:cNvSpPr txBox="1"/>
          <p:nvPr/>
        </p:nvSpPr>
        <p:spPr>
          <a:xfrm>
            <a:off x="939800" y="3183062"/>
            <a:ext cx="641350" cy="461962"/>
          </a:xfrm>
          <a:prstGeom prst="rect">
            <a:avLst/>
          </a:prstGeom>
          <a:solidFill>
            <a:srgbClr val="D7D7FF"/>
          </a:solidFill>
          <a:ln w="9525">
            <a:noFill/>
          </a:ln>
        </p:spPr>
        <p:txBody>
          <a:bodyPr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 algn="ctr">
              <a:lnSpc>
                <a:spcPct val="10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660033"/>
                </a:solidFill>
                <a:ea typeface="宋体" panose="02010600030101010101" pitchFamily="2" charset="-122"/>
              </a:rPr>
              <a:t>1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193" name="Group 73"/>
          <p:cNvGrpSpPr/>
          <p:nvPr/>
        </p:nvGrpSpPr>
        <p:grpSpPr>
          <a:xfrm>
            <a:off x="1643063" y="2187575"/>
            <a:ext cx="6713537" cy="898525"/>
            <a:chOff x="1035" y="2622"/>
            <a:chExt cx="4229" cy="639"/>
          </a:xfrm>
        </p:grpSpPr>
        <p:grpSp>
          <p:nvGrpSpPr>
            <p:cNvPr id="110626" name="Group 69"/>
            <p:cNvGrpSpPr/>
            <p:nvPr/>
          </p:nvGrpSpPr>
          <p:grpSpPr>
            <a:xfrm>
              <a:off x="4988" y="2622"/>
              <a:ext cx="276" cy="624"/>
              <a:chOff x="1212" y="2880"/>
              <a:chExt cx="276" cy="624"/>
            </a:xfrm>
          </p:grpSpPr>
          <p:sp>
            <p:nvSpPr>
              <p:cNvPr id="110628" name="Line 70"/>
              <p:cNvSpPr/>
              <p:nvPr/>
            </p:nvSpPr>
            <p:spPr>
              <a:xfrm>
                <a:off x="1248" y="2880"/>
                <a:ext cx="0" cy="624"/>
              </a:xfrm>
              <a:prstGeom prst="line">
                <a:avLst/>
              </a:prstGeom>
              <a:ln w="31750" cap="flat" cmpd="sng">
                <a:solidFill>
                  <a:srgbClr val="990000"/>
                </a:solidFill>
                <a:prstDash val="solid"/>
                <a:headEnd type="triangle" w="med" len="lg"/>
                <a:tailEnd type="none" w="med" len="med"/>
              </a:ln>
            </p:spPr>
          </p:sp>
          <p:sp>
            <p:nvSpPr>
              <p:cNvPr id="110629" name="Text Box 71"/>
              <p:cNvSpPr txBox="1"/>
              <p:nvPr/>
            </p:nvSpPr>
            <p:spPr>
              <a:xfrm>
                <a:off x="1212" y="3052"/>
                <a:ext cx="276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indent="53848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5pPr>
              </a:lstStyle>
              <a:p>
                <a:pPr lvl="0" indent="0">
                  <a:lnSpc>
                    <a:spcPct val="100000"/>
                  </a:lnSpc>
                  <a:spcBef>
                    <a:spcPct val="20000"/>
                  </a:spcBef>
                </a:pPr>
                <a:r>
                  <a:rPr lang="en-US" altLang="zh-CN" sz="3600" b="1" dirty="0">
                    <a:solidFill>
                      <a:srgbClr val="990000"/>
                    </a:solidFill>
                    <a:ea typeface="宋体" panose="02010600030101010101" pitchFamily="2" charset="-122"/>
                  </a:rPr>
                  <a:t>p</a:t>
                </a:r>
                <a:endParaRPr lang="en-US" altLang="zh-CN" sz="3600" dirty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0627" name="Rectangle 72"/>
            <p:cNvSpPr/>
            <p:nvPr/>
          </p:nvSpPr>
          <p:spPr>
            <a:xfrm>
              <a:off x="1035" y="2643"/>
              <a:ext cx="424" cy="618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dirty="0">
                <a:ea typeface="仿宋_GB2312" pitchFamily="49" charset="-122"/>
              </a:endParaRPr>
            </a:p>
          </p:txBody>
        </p:sp>
      </p:grpSp>
      <p:sp>
        <p:nvSpPr>
          <p:cNvPr id="198" name="Text Box 74"/>
          <p:cNvSpPr txBox="1"/>
          <p:nvPr/>
        </p:nvSpPr>
        <p:spPr>
          <a:xfrm>
            <a:off x="957263" y="3175124"/>
            <a:ext cx="641350" cy="461963"/>
          </a:xfrm>
          <a:prstGeom prst="rect">
            <a:avLst/>
          </a:prstGeom>
          <a:solidFill>
            <a:srgbClr val="D7D7FF"/>
          </a:solidFill>
          <a:ln w="9525">
            <a:noFill/>
          </a:ln>
        </p:spPr>
        <p:txBody>
          <a:bodyPr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 algn="ctr">
              <a:lnSpc>
                <a:spcPct val="10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660033"/>
                </a:solidFill>
                <a:ea typeface="宋体" panose="02010600030101010101" pitchFamily="2" charset="-122"/>
              </a:rPr>
              <a:t>6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199" name="Group 80"/>
          <p:cNvGrpSpPr/>
          <p:nvPr/>
        </p:nvGrpSpPr>
        <p:grpSpPr>
          <a:xfrm>
            <a:off x="7753350" y="2149475"/>
            <a:ext cx="1438275" cy="1039813"/>
            <a:chOff x="4884" y="2598"/>
            <a:chExt cx="906" cy="655"/>
          </a:xfrm>
        </p:grpSpPr>
        <p:grpSp>
          <p:nvGrpSpPr>
            <p:cNvPr id="110622" name="Group 76"/>
            <p:cNvGrpSpPr/>
            <p:nvPr/>
          </p:nvGrpSpPr>
          <p:grpSpPr>
            <a:xfrm>
              <a:off x="5514" y="2598"/>
              <a:ext cx="276" cy="576"/>
              <a:chOff x="1242" y="2880"/>
              <a:chExt cx="276" cy="576"/>
            </a:xfrm>
          </p:grpSpPr>
          <p:sp>
            <p:nvSpPr>
              <p:cNvPr id="110624" name="Line 77"/>
              <p:cNvSpPr/>
              <p:nvPr/>
            </p:nvSpPr>
            <p:spPr>
              <a:xfrm>
                <a:off x="1248" y="2880"/>
                <a:ext cx="0" cy="535"/>
              </a:xfrm>
              <a:prstGeom prst="line">
                <a:avLst/>
              </a:prstGeom>
              <a:ln w="31750" cap="flat" cmpd="sng">
                <a:solidFill>
                  <a:srgbClr val="990000"/>
                </a:solidFill>
                <a:prstDash val="solid"/>
                <a:headEnd type="triangle" w="med" len="lg"/>
                <a:tailEnd type="none" w="med" len="med"/>
              </a:ln>
            </p:spPr>
          </p:sp>
          <p:sp>
            <p:nvSpPr>
              <p:cNvPr id="110625" name="Text Box 78"/>
              <p:cNvSpPr txBox="1"/>
              <p:nvPr/>
            </p:nvSpPr>
            <p:spPr>
              <a:xfrm>
                <a:off x="1242" y="3052"/>
                <a:ext cx="276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indent="53848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微软雅黑" panose="020B0503020204020204" pitchFamily="34" charset="-122"/>
                  </a:defRPr>
                </a:lvl5pPr>
              </a:lstStyle>
              <a:p>
                <a:pPr lvl="0" indent="0">
                  <a:lnSpc>
                    <a:spcPct val="100000"/>
                  </a:lnSpc>
                  <a:spcBef>
                    <a:spcPct val="20000"/>
                  </a:spcBef>
                </a:pPr>
                <a:r>
                  <a:rPr lang="en-US" altLang="zh-CN" sz="3600" b="1" dirty="0">
                    <a:solidFill>
                      <a:srgbClr val="990000"/>
                    </a:solidFill>
                    <a:ea typeface="宋体" panose="02010600030101010101" pitchFamily="2" charset="-122"/>
                  </a:rPr>
                  <a:t>p</a:t>
                </a:r>
                <a:endParaRPr lang="en-US" altLang="zh-CN" sz="3600" dirty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0623" name="Rectangle 79"/>
            <p:cNvSpPr/>
            <p:nvPr/>
          </p:nvSpPr>
          <p:spPr>
            <a:xfrm>
              <a:off x="4884" y="2635"/>
              <a:ext cx="424" cy="618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  <a:spcBef>
                  <a:spcPct val="20000"/>
                </a:spcBef>
              </a:pPr>
              <a:endParaRPr lang="zh-CN" altLang="en-US" sz="2800" dirty="0">
                <a:ea typeface="仿宋_GB2312" pitchFamily="49" charset="-122"/>
              </a:endParaRPr>
            </a:p>
          </p:txBody>
        </p:sp>
      </p:grpSp>
      <p:sp>
        <p:nvSpPr>
          <p:cNvPr id="204" name="Text Box 81"/>
          <p:cNvSpPr txBox="1"/>
          <p:nvPr/>
        </p:nvSpPr>
        <p:spPr>
          <a:xfrm>
            <a:off x="949325" y="3178299"/>
            <a:ext cx="641350" cy="461963"/>
          </a:xfrm>
          <a:prstGeom prst="rect">
            <a:avLst/>
          </a:prstGeom>
          <a:solidFill>
            <a:srgbClr val="D7D7FF"/>
          </a:solidFill>
          <a:ln w="9525">
            <a:noFill/>
          </a:ln>
        </p:spPr>
        <p:txBody>
          <a:bodyPr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 algn="ctr">
              <a:lnSpc>
                <a:spcPct val="10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660033"/>
                </a:solidFill>
                <a:ea typeface="宋体" panose="02010600030101010101" pitchFamily="2" charset="-122"/>
              </a:rPr>
              <a:t>7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05" name="Text Box 83"/>
          <p:cNvSpPr txBox="1">
            <a:spLocks noChangeArrowheads="1"/>
          </p:cNvSpPr>
          <p:nvPr/>
        </p:nvSpPr>
        <p:spPr bwMode="auto">
          <a:xfrm>
            <a:off x="2272506" y="3139327"/>
            <a:ext cx="2773363" cy="52546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6800" rIns="90000" bIns="46800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未找到，返回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</a:p>
        </p:txBody>
      </p:sp>
      <p:sp>
        <p:nvSpPr>
          <p:cNvPr id="206" name="Rectangle 4"/>
          <p:cNvSpPr>
            <a:spLocks noChangeArrowheads="1"/>
          </p:cNvSpPr>
          <p:nvPr/>
        </p:nvSpPr>
        <p:spPr bwMode="auto">
          <a:xfrm>
            <a:off x="306388" y="3919697"/>
            <a:ext cx="8543925" cy="2796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5908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从第一个结点起，依次和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相比较。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如果找到一个其值与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相等的数据元素，则返回其在链表</a:t>
            </a:r>
            <a:r>
              <a:rPr lang="zh-CN" altLang="en-US" noProof="0" dirty="0">
                <a:latin typeface="+mn-lt"/>
                <a:ea typeface="+mn-ea"/>
                <a:cs typeface="+mn-ea"/>
                <a:sym typeface="+mn-lt"/>
              </a:rPr>
              <a:t>中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位置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或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地址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；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如果查遍整个链表都没有找到其值和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相等的元素，则返回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或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NULL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6392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9" grpId="0"/>
      <p:bldP spid="170" grpId="0" animBg="1"/>
      <p:bldP spid="171" grpId="0"/>
      <p:bldP spid="177" grpId="0" animBg="1"/>
      <p:bldP spid="183" grpId="0" animBg="1"/>
      <p:bldP spid="184" grpId="0" animBg="1"/>
      <p:bldP spid="185" grpId="0"/>
      <p:bldP spid="186" grpId="0" animBg="1"/>
      <p:bldP spid="192" grpId="0" animBg="1"/>
      <p:bldP spid="198" grpId="0" animBg="1"/>
      <p:bldP spid="204" grpId="0" animBg="1"/>
      <p:bldP spid="205" grpId="0" animBg="1"/>
      <p:bldP spid="206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4"/>
          <p:cNvSpPr>
            <a:spLocks noChangeArrowheads="1"/>
          </p:cNvSpPr>
          <p:nvPr/>
        </p:nvSpPr>
        <p:spPr bwMode="auto">
          <a:xfrm>
            <a:off x="35496" y="1225364"/>
            <a:ext cx="4646127" cy="50080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LNode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*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LocateElem_L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LinkList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L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,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ElemType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e)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返回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中值为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的数据元素的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地址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，查找失败返回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NULL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p = L-&gt;next;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while(p &amp;&amp; p-&gt;data!=e)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p = p-&gt;next;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return p; 	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D971E0-F372-427D-A304-A9CB37F3A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038" y="201613"/>
            <a:ext cx="80549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查找（按给定值获取数据所在的位置）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F001B7-5DA6-4B02-89D8-9C55BC8B7F3E}"/>
              </a:ext>
            </a:extLst>
          </p:cNvPr>
          <p:cNvSpPr txBox="1"/>
          <p:nvPr/>
        </p:nvSpPr>
        <p:spPr>
          <a:xfrm>
            <a:off x="4788024" y="1225363"/>
            <a:ext cx="4283968" cy="501194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LocateElem_L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LinkList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L,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ElemType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e) {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返回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L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中值为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的数据元素的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位置序号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查找失败返回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rgbClr val="000000"/>
                </a:solidFill>
                <a:latin typeface="Times New Roman"/>
                <a:ea typeface="Microsoft YaHei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p = L-&gt;next;    j = 1;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while(p &amp;&amp; p-&gt;data!=e) {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rgbClr val="0000FF"/>
                </a:solidFill>
                <a:latin typeface="Times New Roman"/>
                <a:ea typeface="Microsoft YaHei"/>
                <a:cs typeface="+mn-ea"/>
                <a:sym typeface="+mn-lt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 p = p-&gt;next; 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j++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; }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rgbClr val="000000"/>
                </a:solidFill>
                <a:latin typeface="Times New Roman"/>
                <a:ea typeface="Microsoft YaHei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if (p) return j;  else return 0;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}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3141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8"/>
          <p:cNvSpPr>
            <a:spLocks noChangeArrowheads="1"/>
          </p:cNvSpPr>
          <p:nvPr/>
        </p:nvSpPr>
        <p:spPr bwMode="auto">
          <a:xfrm>
            <a:off x="827088" y="166688"/>
            <a:ext cx="7164388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单链表基本操作的实现</a:t>
            </a:r>
          </a:p>
        </p:txBody>
      </p:sp>
      <p:sp>
        <p:nvSpPr>
          <p:cNvPr id="6" name="Rectangle 5"/>
          <p:cNvSpPr>
            <a:spLocks noRot="1" noChangeArrowheads="1"/>
          </p:cNvSpPr>
          <p:nvPr/>
        </p:nvSpPr>
        <p:spPr bwMode="auto">
          <a:xfrm>
            <a:off x="3857554" y="1170680"/>
            <a:ext cx="1433513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初始化</a:t>
            </a:r>
          </a:p>
        </p:txBody>
      </p:sp>
      <p:grpSp>
        <p:nvGrpSpPr>
          <p:cNvPr id="98308" name="组合 6"/>
          <p:cNvGrpSpPr/>
          <p:nvPr/>
        </p:nvGrpSpPr>
        <p:grpSpPr>
          <a:xfrm>
            <a:off x="2368550" y="1871663"/>
            <a:ext cx="4125913" cy="3935412"/>
            <a:chOff x="2160837" y="1533022"/>
            <a:chExt cx="4126962" cy="3935794"/>
          </a:xfrm>
        </p:grpSpPr>
        <p:sp>
          <p:nvSpPr>
            <p:cNvPr id="98314" name="Freeform 7"/>
            <p:cNvSpPr/>
            <p:nvPr/>
          </p:nvSpPr>
          <p:spPr>
            <a:xfrm>
              <a:off x="3532259" y="1533022"/>
              <a:ext cx="1384120" cy="1221599"/>
            </a:xfrm>
            <a:custGeom>
              <a:avLst/>
              <a:gdLst>
                <a:gd name="txL" fmla="*/ 0 w 2684"/>
                <a:gd name="txT" fmla="*/ 0 h 2365"/>
                <a:gd name="txR" fmla="*/ 2684 w 2684"/>
                <a:gd name="txB" fmla="*/ 2365 h 2365"/>
              </a:gdLst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684" h="2365">
                  <a:moveTo>
                    <a:pt x="2684" y="2365"/>
                  </a:moveTo>
                  <a:lnTo>
                    <a:pt x="1342" y="0"/>
                  </a:lnTo>
                  <a:lnTo>
                    <a:pt x="0" y="2365"/>
                  </a:lnTo>
                  <a:lnTo>
                    <a:pt x="2684" y="2365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5" name="Freeform 8"/>
            <p:cNvSpPr/>
            <p:nvPr/>
          </p:nvSpPr>
          <p:spPr>
            <a:xfrm>
              <a:off x="2160837" y="2754620"/>
              <a:ext cx="1371421" cy="1321106"/>
            </a:xfrm>
            <a:custGeom>
              <a:avLst/>
              <a:gdLst>
                <a:gd name="txL" fmla="*/ 0 w 2664"/>
                <a:gd name="txT" fmla="*/ 0 h 2553"/>
                <a:gd name="txR" fmla="*/ 2664 w 2664"/>
                <a:gd name="txB" fmla="*/ 2553 h 2553"/>
              </a:gdLst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2664" h="2553">
                  <a:moveTo>
                    <a:pt x="2664" y="0"/>
                  </a:moveTo>
                  <a:lnTo>
                    <a:pt x="0" y="546"/>
                  </a:lnTo>
                  <a:lnTo>
                    <a:pt x="1835" y="2553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6" name="Freeform 9"/>
            <p:cNvSpPr/>
            <p:nvPr/>
          </p:nvSpPr>
          <p:spPr>
            <a:xfrm>
              <a:off x="2948135" y="4075727"/>
              <a:ext cx="1274067" cy="1393089"/>
            </a:xfrm>
            <a:custGeom>
              <a:avLst/>
              <a:gdLst>
                <a:gd name="txL" fmla="*/ 0 w 2476"/>
                <a:gd name="txT" fmla="*/ 0 h 2702"/>
                <a:gd name="txR" fmla="*/ 2476 w 2476"/>
                <a:gd name="txB" fmla="*/ 2702 h 2702"/>
              </a:gdLst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2476" h="2702">
                  <a:moveTo>
                    <a:pt x="305" y="0"/>
                  </a:moveTo>
                  <a:lnTo>
                    <a:pt x="0" y="2702"/>
                  </a:lnTo>
                  <a:lnTo>
                    <a:pt x="2476" y="1578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7" name="Freeform 10"/>
            <p:cNvSpPr/>
            <p:nvPr/>
          </p:nvSpPr>
          <p:spPr>
            <a:xfrm>
              <a:off x="4222202" y="4075727"/>
              <a:ext cx="1278300" cy="1393089"/>
            </a:xfrm>
            <a:custGeom>
              <a:avLst/>
              <a:gdLst>
                <a:gd name="txL" fmla="*/ 0 w 2476"/>
                <a:gd name="txT" fmla="*/ 0 h 2702"/>
                <a:gd name="txR" fmla="*/ 2476 w 2476"/>
                <a:gd name="txB" fmla="*/ 2702 h 270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2147483646"/>
                </a:cxn>
              </a:cxnLst>
              <a:rect l="txL" t="txT" r="txR" b="txB"/>
              <a:pathLst>
                <a:path w="2476" h="2702">
                  <a:moveTo>
                    <a:pt x="0" y="1578"/>
                  </a:moveTo>
                  <a:lnTo>
                    <a:pt x="2476" y="2702"/>
                  </a:lnTo>
                  <a:lnTo>
                    <a:pt x="2172" y="0"/>
                  </a:lnTo>
                  <a:lnTo>
                    <a:pt x="0" y="1578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8" name="Freeform 11"/>
            <p:cNvSpPr/>
            <p:nvPr/>
          </p:nvSpPr>
          <p:spPr>
            <a:xfrm>
              <a:off x="4916378" y="2754620"/>
              <a:ext cx="1371421" cy="1321106"/>
            </a:xfrm>
            <a:custGeom>
              <a:avLst/>
              <a:gdLst>
                <a:gd name="txL" fmla="*/ 0 w 2664"/>
                <a:gd name="txT" fmla="*/ 0 h 2553"/>
                <a:gd name="txR" fmla="*/ 2664 w 2664"/>
                <a:gd name="txB" fmla="*/ 2553 h 2553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</a:cxnLst>
              <a:rect l="txL" t="txT" r="txR" b="txB"/>
              <a:pathLst>
                <a:path w="2664" h="2553">
                  <a:moveTo>
                    <a:pt x="830" y="2553"/>
                  </a:moveTo>
                  <a:lnTo>
                    <a:pt x="2664" y="546"/>
                  </a:lnTo>
                  <a:lnTo>
                    <a:pt x="0" y="0"/>
                  </a:lnTo>
                  <a:lnTo>
                    <a:pt x="830" y="2553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9" name="矩形 12"/>
            <p:cNvSpPr/>
            <p:nvPr/>
          </p:nvSpPr>
          <p:spPr>
            <a:xfrm>
              <a:off x="3983051" y="2091951"/>
              <a:ext cx="476187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0" name="矩形 13"/>
            <p:cNvSpPr/>
            <p:nvPr/>
          </p:nvSpPr>
          <p:spPr>
            <a:xfrm>
              <a:off x="5263466" y="3004445"/>
              <a:ext cx="476189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1" name="矩形 14"/>
            <p:cNvSpPr/>
            <p:nvPr/>
          </p:nvSpPr>
          <p:spPr>
            <a:xfrm>
              <a:off x="4785161" y="4524563"/>
              <a:ext cx="476189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2" name="矩形 15"/>
            <p:cNvSpPr/>
            <p:nvPr/>
          </p:nvSpPr>
          <p:spPr>
            <a:xfrm>
              <a:off x="3106865" y="4543619"/>
              <a:ext cx="476187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3" name="矩形 16"/>
            <p:cNvSpPr/>
            <p:nvPr/>
          </p:nvSpPr>
          <p:spPr>
            <a:xfrm>
              <a:off x="2708983" y="3017148"/>
              <a:ext cx="476187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05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</p:grpSp>
      <p:sp>
        <p:nvSpPr>
          <p:cNvPr id="18" name="Rectangle 5"/>
          <p:cNvSpPr>
            <a:spLocks noRot="1" noChangeArrowheads="1"/>
          </p:cNvSpPr>
          <p:nvPr/>
        </p:nvSpPr>
        <p:spPr bwMode="auto">
          <a:xfrm>
            <a:off x="6702425" y="3092450"/>
            <a:ext cx="973138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取值      </a:t>
            </a:r>
          </a:p>
        </p:txBody>
      </p:sp>
      <p:sp>
        <p:nvSpPr>
          <p:cNvPr id="19" name="Rectangle 5"/>
          <p:cNvSpPr>
            <a:spLocks noRot="1" noChangeArrowheads="1"/>
          </p:cNvSpPr>
          <p:nvPr/>
        </p:nvSpPr>
        <p:spPr bwMode="auto">
          <a:xfrm>
            <a:off x="5413375" y="5834063"/>
            <a:ext cx="1062038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Rectangle 5"/>
          <p:cNvSpPr>
            <a:spLocks noRot="1" noChangeArrowheads="1"/>
          </p:cNvSpPr>
          <p:nvPr/>
        </p:nvSpPr>
        <p:spPr bwMode="auto">
          <a:xfrm>
            <a:off x="2314575" y="5807075"/>
            <a:ext cx="107804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插入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Rectangle 5"/>
          <p:cNvSpPr>
            <a:spLocks noRot="1" noChangeArrowheads="1"/>
          </p:cNvSpPr>
          <p:nvPr/>
        </p:nvSpPr>
        <p:spPr bwMode="auto">
          <a:xfrm>
            <a:off x="1436688" y="3074988"/>
            <a:ext cx="93186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删除</a:t>
            </a: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3635375" y="3463925"/>
            <a:ext cx="1628775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基本操作的实现</a:t>
            </a:r>
          </a:p>
        </p:txBody>
      </p:sp>
    </p:spTree>
    <p:extLst>
      <p:ext uri="{BB962C8B-B14F-4D97-AF65-F5344CB8AC3E}">
        <p14:creationId xmlns:p14="http://schemas.microsoft.com/office/powerpoint/2010/main" val="2520442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6" name="Picture 4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176" r="7446" b="23077"/>
          <a:stretch/>
        </p:blipFill>
        <p:spPr>
          <a:xfrm>
            <a:off x="0" y="2318023"/>
            <a:ext cx="9144097" cy="26023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8547" name="Rectangle 5"/>
          <p:cNvSpPr>
            <a:spLocks noChangeArrowheads="1"/>
          </p:cNvSpPr>
          <p:nvPr/>
        </p:nvSpPr>
        <p:spPr bwMode="auto">
          <a:xfrm>
            <a:off x="259989" y="941464"/>
            <a:ext cx="8624019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将值为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x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的新结点插入到表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中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第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个位置上，即插入到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i-1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与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之间。</a:t>
            </a:r>
          </a:p>
        </p:txBody>
      </p:sp>
      <p:sp>
        <p:nvSpPr>
          <p:cNvPr id="652295" name="Text Box 7"/>
          <p:cNvSpPr txBox="1">
            <a:spLocks noChangeArrowheads="1"/>
          </p:cNvSpPr>
          <p:nvPr/>
        </p:nvSpPr>
        <p:spPr bwMode="auto">
          <a:xfrm>
            <a:off x="0" y="5240338"/>
            <a:ext cx="9144000" cy="59657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s-&gt;next = p-&gt;next;      p-&gt;next = s;</a:t>
            </a:r>
          </a:p>
        </p:txBody>
      </p:sp>
      <p:sp>
        <p:nvSpPr>
          <p:cNvPr id="652296" name="Text Box 8"/>
          <p:cNvSpPr txBox="1">
            <a:spLocks noChangeArrowheads="1"/>
          </p:cNvSpPr>
          <p:nvPr/>
        </p:nvSpPr>
        <p:spPr bwMode="auto">
          <a:xfrm>
            <a:off x="2285999" y="6114920"/>
            <a:ext cx="45720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思考：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这两个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步骤能互换么？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35038" y="201613"/>
            <a:ext cx="6445274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插入（</a:t>
            </a:r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将数据 </a:t>
            </a:r>
            <a:r>
              <a:rPr lang="en-US" altLang="zh-CN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x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插在第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个结点之前） </a:t>
            </a:r>
          </a:p>
        </p:txBody>
      </p:sp>
    </p:spTree>
    <p:extLst>
      <p:ext uri="{BB962C8B-B14F-4D97-AF65-F5344CB8AC3E}">
        <p14:creationId xmlns:p14="http://schemas.microsoft.com/office/powerpoint/2010/main" val="261256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229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229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52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52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2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52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2295" grpId="0" uiExpand="1" build="p" animBg="1"/>
      <p:bldP spid="65229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矩形 4"/>
          <p:cNvSpPr/>
          <p:nvPr/>
        </p:nvSpPr>
        <p:spPr>
          <a:xfrm>
            <a:off x="0" y="980728"/>
            <a:ext cx="9144000" cy="5748685"/>
          </a:xfrm>
          <a:prstGeom prst="rect">
            <a:avLst/>
          </a:prstGeom>
          <a:solidFill>
            <a:srgbClr val="EAEAEA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110594" name="Rectangle 4"/>
          <p:cNvSpPr>
            <a:spLocks noChangeArrowheads="1"/>
          </p:cNvSpPr>
          <p:nvPr/>
        </p:nvSpPr>
        <p:spPr bwMode="auto">
          <a:xfrm>
            <a:off x="92039" y="980727"/>
            <a:ext cx="9036050" cy="5675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ListInsert_L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LinkList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&amp;L, 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ElemType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x){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p=L;   j=0;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while(p &amp;&amp; j&lt;i−1) { p = p-&gt;next;   ++j; }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	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寻找第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i−1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个结点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if(!p || j&gt;i−1) return ERROR;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大于表长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或者小于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s = new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LNode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	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    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生成新结点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s-&gt;data = x;      		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将结点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的数据域置为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x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s-&gt;next = p-&gt;next;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	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将结点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插入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中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p-&gt;next = s;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return OK;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ListInsert_L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D4E980-5D08-45FF-84D4-A864C162F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038" y="201613"/>
            <a:ext cx="62292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插入（</a:t>
            </a:r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将数据 </a:t>
            </a:r>
            <a:r>
              <a:rPr lang="en-US" altLang="zh-CN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x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插在第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个结点之前） </a:t>
            </a:r>
          </a:p>
        </p:txBody>
      </p:sp>
    </p:spTree>
    <p:extLst>
      <p:ext uri="{BB962C8B-B14F-4D97-AF65-F5344CB8AC3E}">
        <p14:creationId xmlns:p14="http://schemas.microsoft.com/office/powerpoint/2010/main" val="1570150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8"/>
          <p:cNvSpPr>
            <a:spLocks noChangeArrowheads="1"/>
          </p:cNvSpPr>
          <p:nvPr/>
        </p:nvSpPr>
        <p:spPr bwMode="auto">
          <a:xfrm>
            <a:off x="827088" y="166688"/>
            <a:ext cx="7164388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单链表基本操作的实现</a:t>
            </a:r>
          </a:p>
        </p:txBody>
      </p:sp>
      <p:sp>
        <p:nvSpPr>
          <p:cNvPr id="6" name="Rectangle 5"/>
          <p:cNvSpPr>
            <a:spLocks noRot="1" noChangeArrowheads="1"/>
          </p:cNvSpPr>
          <p:nvPr/>
        </p:nvSpPr>
        <p:spPr bwMode="auto">
          <a:xfrm>
            <a:off x="3857554" y="1170680"/>
            <a:ext cx="1433513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初始化</a:t>
            </a:r>
          </a:p>
        </p:txBody>
      </p:sp>
      <p:grpSp>
        <p:nvGrpSpPr>
          <p:cNvPr id="98308" name="组合 6"/>
          <p:cNvGrpSpPr/>
          <p:nvPr/>
        </p:nvGrpSpPr>
        <p:grpSpPr>
          <a:xfrm>
            <a:off x="2368550" y="1871663"/>
            <a:ext cx="4125913" cy="3935412"/>
            <a:chOff x="2160837" y="1533022"/>
            <a:chExt cx="4126962" cy="3935794"/>
          </a:xfrm>
        </p:grpSpPr>
        <p:sp>
          <p:nvSpPr>
            <p:cNvPr id="98314" name="Freeform 7"/>
            <p:cNvSpPr/>
            <p:nvPr/>
          </p:nvSpPr>
          <p:spPr>
            <a:xfrm>
              <a:off x="3532259" y="1533022"/>
              <a:ext cx="1384120" cy="1221599"/>
            </a:xfrm>
            <a:custGeom>
              <a:avLst/>
              <a:gdLst>
                <a:gd name="txL" fmla="*/ 0 w 2684"/>
                <a:gd name="txT" fmla="*/ 0 h 2365"/>
                <a:gd name="txR" fmla="*/ 2684 w 2684"/>
                <a:gd name="txB" fmla="*/ 2365 h 2365"/>
              </a:gdLst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684" h="2365">
                  <a:moveTo>
                    <a:pt x="2684" y="2365"/>
                  </a:moveTo>
                  <a:lnTo>
                    <a:pt x="1342" y="0"/>
                  </a:lnTo>
                  <a:lnTo>
                    <a:pt x="0" y="2365"/>
                  </a:lnTo>
                  <a:lnTo>
                    <a:pt x="2684" y="2365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5" name="Freeform 8"/>
            <p:cNvSpPr/>
            <p:nvPr/>
          </p:nvSpPr>
          <p:spPr>
            <a:xfrm>
              <a:off x="2160837" y="2754620"/>
              <a:ext cx="1371421" cy="1321106"/>
            </a:xfrm>
            <a:custGeom>
              <a:avLst/>
              <a:gdLst>
                <a:gd name="txL" fmla="*/ 0 w 2664"/>
                <a:gd name="txT" fmla="*/ 0 h 2553"/>
                <a:gd name="txR" fmla="*/ 2664 w 2664"/>
                <a:gd name="txB" fmla="*/ 2553 h 2553"/>
              </a:gdLst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2664" h="2553">
                  <a:moveTo>
                    <a:pt x="2664" y="0"/>
                  </a:moveTo>
                  <a:lnTo>
                    <a:pt x="0" y="546"/>
                  </a:lnTo>
                  <a:lnTo>
                    <a:pt x="1835" y="2553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6" name="Freeform 9"/>
            <p:cNvSpPr/>
            <p:nvPr/>
          </p:nvSpPr>
          <p:spPr>
            <a:xfrm>
              <a:off x="2948135" y="4075727"/>
              <a:ext cx="1274067" cy="1393089"/>
            </a:xfrm>
            <a:custGeom>
              <a:avLst/>
              <a:gdLst>
                <a:gd name="txL" fmla="*/ 0 w 2476"/>
                <a:gd name="txT" fmla="*/ 0 h 2702"/>
                <a:gd name="txR" fmla="*/ 2476 w 2476"/>
                <a:gd name="txB" fmla="*/ 2702 h 2702"/>
              </a:gdLst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2476" h="2702">
                  <a:moveTo>
                    <a:pt x="305" y="0"/>
                  </a:moveTo>
                  <a:lnTo>
                    <a:pt x="0" y="2702"/>
                  </a:lnTo>
                  <a:lnTo>
                    <a:pt x="2476" y="1578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7" name="Freeform 10"/>
            <p:cNvSpPr/>
            <p:nvPr/>
          </p:nvSpPr>
          <p:spPr>
            <a:xfrm>
              <a:off x="4222202" y="4075727"/>
              <a:ext cx="1278300" cy="1393089"/>
            </a:xfrm>
            <a:custGeom>
              <a:avLst/>
              <a:gdLst>
                <a:gd name="txL" fmla="*/ 0 w 2476"/>
                <a:gd name="txT" fmla="*/ 0 h 2702"/>
                <a:gd name="txR" fmla="*/ 2476 w 2476"/>
                <a:gd name="txB" fmla="*/ 2702 h 270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0" y="2147483646"/>
                </a:cxn>
              </a:cxnLst>
              <a:rect l="txL" t="txT" r="txR" b="txB"/>
              <a:pathLst>
                <a:path w="2476" h="2702">
                  <a:moveTo>
                    <a:pt x="0" y="1578"/>
                  </a:moveTo>
                  <a:lnTo>
                    <a:pt x="2476" y="2702"/>
                  </a:lnTo>
                  <a:lnTo>
                    <a:pt x="2172" y="0"/>
                  </a:lnTo>
                  <a:lnTo>
                    <a:pt x="0" y="1578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8" name="Freeform 11"/>
            <p:cNvSpPr/>
            <p:nvPr/>
          </p:nvSpPr>
          <p:spPr>
            <a:xfrm>
              <a:off x="4916378" y="2754620"/>
              <a:ext cx="1371421" cy="1321106"/>
            </a:xfrm>
            <a:custGeom>
              <a:avLst/>
              <a:gdLst>
                <a:gd name="txL" fmla="*/ 0 w 2664"/>
                <a:gd name="txT" fmla="*/ 0 h 2553"/>
                <a:gd name="txR" fmla="*/ 2664 w 2664"/>
                <a:gd name="txB" fmla="*/ 2553 h 2553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  <a:cxn ang="0">
                  <a:pos x="2147483646" y="2147483646"/>
                </a:cxn>
              </a:cxnLst>
              <a:rect l="txL" t="txT" r="txR" b="txB"/>
              <a:pathLst>
                <a:path w="2664" h="2553">
                  <a:moveTo>
                    <a:pt x="830" y="2553"/>
                  </a:moveTo>
                  <a:lnTo>
                    <a:pt x="2664" y="546"/>
                  </a:lnTo>
                  <a:lnTo>
                    <a:pt x="0" y="0"/>
                  </a:lnTo>
                  <a:lnTo>
                    <a:pt x="830" y="2553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9" name="矩形 12"/>
            <p:cNvSpPr/>
            <p:nvPr/>
          </p:nvSpPr>
          <p:spPr>
            <a:xfrm>
              <a:off x="3983051" y="2091951"/>
              <a:ext cx="476187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0" name="矩形 13"/>
            <p:cNvSpPr/>
            <p:nvPr/>
          </p:nvSpPr>
          <p:spPr>
            <a:xfrm>
              <a:off x="5263466" y="3004445"/>
              <a:ext cx="476189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1" name="矩形 14"/>
            <p:cNvSpPr/>
            <p:nvPr/>
          </p:nvSpPr>
          <p:spPr>
            <a:xfrm>
              <a:off x="4785161" y="4524563"/>
              <a:ext cx="476189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2" name="矩形 15"/>
            <p:cNvSpPr/>
            <p:nvPr/>
          </p:nvSpPr>
          <p:spPr>
            <a:xfrm>
              <a:off x="3106865" y="4543619"/>
              <a:ext cx="476187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  <p:sp>
          <p:nvSpPr>
            <p:cNvPr id="98323" name="矩形 16"/>
            <p:cNvSpPr/>
            <p:nvPr/>
          </p:nvSpPr>
          <p:spPr>
            <a:xfrm>
              <a:off x="2708983" y="3017148"/>
              <a:ext cx="476187" cy="4309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Swiss911 UCm BT"/>
                  <a:ea typeface="仿宋_GB2312" pitchFamily="49" charset="-122"/>
                  <a:sym typeface="Swiss911 UCm BT"/>
                </a:rPr>
                <a:t>05</a:t>
              </a:r>
              <a:endParaRPr lang="zh-CN" altLang="en-US" sz="2800" dirty="0">
                <a:solidFill>
                  <a:schemeClr val="bg1"/>
                </a:solidFill>
                <a:latin typeface="Swiss911 UCm BT"/>
                <a:ea typeface="仿宋_GB2312" pitchFamily="49" charset="-122"/>
                <a:sym typeface="Swiss911 UCm BT"/>
              </a:endParaRPr>
            </a:p>
          </p:txBody>
        </p:sp>
      </p:grpSp>
      <p:sp>
        <p:nvSpPr>
          <p:cNvPr id="18" name="Rectangle 5"/>
          <p:cNvSpPr>
            <a:spLocks noRot="1" noChangeArrowheads="1"/>
          </p:cNvSpPr>
          <p:nvPr/>
        </p:nvSpPr>
        <p:spPr bwMode="auto">
          <a:xfrm>
            <a:off x="6702425" y="3092450"/>
            <a:ext cx="973138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取值      </a:t>
            </a:r>
          </a:p>
        </p:txBody>
      </p:sp>
      <p:sp>
        <p:nvSpPr>
          <p:cNvPr id="19" name="Rectangle 5"/>
          <p:cNvSpPr>
            <a:spLocks noRot="1" noChangeArrowheads="1"/>
          </p:cNvSpPr>
          <p:nvPr/>
        </p:nvSpPr>
        <p:spPr bwMode="auto">
          <a:xfrm>
            <a:off x="5413375" y="5834063"/>
            <a:ext cx="1062038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查找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Rectangle 5"/>
          <p:cNvSpPr>
            <a:spLocks noRot="1" noChangeArrowheads="1"/>
          </p:cNvSpPr>
          <p:nvPr/>
        </p:nvSpPr>
        <p:spPr bwMode="auto">
          <a:xfrm>
            <a:off x="2314575" y="5807075"/>
            <a:ext cx="107804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插入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Rectangle 5"/>
          <p:cNvSpPr>
            <a:spLocks noRot="1" noChangeArrowheads="1"/>
          </p:cNvSpPr>
          <p:nvPr/>
        </p:nvSpPr>
        <p:spPr bwMode="auto">
          <a:xfrm>
            <a:off x="1436688" y="3074988"/>
            <a:ext cx="93186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删除</a:t>
            </a: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3635375" y="3463925"/>
            <a:ext cx="1628775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基本操作的实现</a:t>
            </a:r>
          </a:p>
        </p:txBody>
      </p:sp>
    </p:spTree>
    <p:extLst>
      <p:ext uri="{BB962C8B-B14F-4D97-AF65-F5344CB8AC3E}">
        <p14:creationId xmlns:p14="http://schemas.microsoft.com/office/powerpoint/2010/main" val="363805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矩形 1"/>
          <p:cNvSpPr/>
          <p:nvPr/>
        </p:nvSpPr>
        <p:spPr>
          <a:xfrm>
            <a:off x="0" y="5092700"/>
            <a:ext cx="9144000" cy="1765300"/>
          </a:xfrm>
          <a:prstGeom prst="rect">
            <a:avLst/>
          </a:prstGeom>
          <a:solidFill>
            <a:srgbClr val="D2D2F4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519195" name="Text Box 27"/>
          <p:cNvSpPr txBox="1">
            <a:spLocks noChangeArrowheads="1"/>
          </p:cNvSpPr>
          <p:nvPr/>
        </p:nvSpPr>
        <p:spPr bwMode="auto">
          <a:xfrm>
            <a:off x="1465263" y="5548313"/>
            <a:ext cx="7004050" cy="701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p-&gt;next = p-&gt;next-&gt;next  ???</a:t>
            </a:r>
          </a:p>
        </p:txBody>
      </p:sp>
      <p:sp>
        <p:nvSpPr>
          <p:cNvPr id="113668" name="Line 30"/>
          <p:cNvSpPr>
            <a:spLocks noChangeShapeType="1"/>
          </p:cNvSpPr>
          <p:nvPr/>
        </p:nvSpPr>
        <p:spPr bwMode="auto">
          <a:xfrm>
            <a:off x="1584325" y="1747739"/>
            <a:ext cx="457200" cy="0"/>
          </a:xfrm>
          <a:prstGeom prst="line">
            <a:avLst/>
          </a:prstGeom>
          <a:noFill/>
          <a:ln w="28575">
            <a:solidFill>
              <a:schemeClr val="bg1">
                <a:lumMod val="10000"/>
              </a:schemeClr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69" name="Rectangle 31"/>
          <p:cNvSpPr>
            <a:spLocks noChangeArrowheads="1"/>
          </p:cNvSpPr>
          <p:nvPr/>
        </p:nvSpPr>
        <p:spPr bwMode="auto">
          <a:xfrm>
            <a:off x="2041525" y="1442939"/>
            <a:ext cx="9906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bg1">
                <a:lumMod val="10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70" name="Line 32"/>
          <p:cNvSpPr>
            <a:spLocks noChangeShapeType="1"/>
          </p:cNvSpPr>
          <p:nvPr/>
        </p:nvSpPr>
        <p:spPr bwMode="auto">
          <a:xfrm>
            <a:off x="2727325" y="1442939"/>
            <a:ext cx="0" cy="533400"/>
          </a:xfrm>
          <a:prstGeom prst="line">
            <a:avLst/>
          </a:prstGeom>
          <a:noFill/>
          <a:ln w="19050">
            <a:solidFill>
              <a:schemeClr val="bg1">
                <a:lumMod val="1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71" name="Line 33"/>
          <p:cNvSpPr>
            <a:spLocks noChangeShapeType="1"/>
          </p:cNvSpPr>
          <p:nvPr/>
        </p:nvSpPr>
        <p:spPr bwMode="auto">
          <a:xfrm>
            <a:off x="2879725" y="1747739"/>
            <a:ext cx="990600" cy="0"/>
          </a:xfrm>
          <a:prstGeom prst="line">
            <a:avLst/>
          </a:prstGeom>
          <a:noFill/>
          <a:ln w="28575">
            <a:solidFill>
              <a:schemeClr val="bg1">
                <a:lumMod val="10000"/>
              </a:schemeClr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72" name="Rectangle 34"/>
          <p:cNvSpPr>
            <a:spLocks noChangeArrowheads="1"/>
          </p:cNvSpPr>
          <p:nvPr/>
        </p:nvSpPr>
        <p:spPr bwMode="auto">
          <a:xfrm>
            <a:off x="3870325" y="1442939"/>
            <a:ext cx="9906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bg1">
                <a:lumMod val="10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73" name="Line 35"/>
          <p:cNvSpPr>
            <a:spLocks noChangeShapeType="1"/>
          </p:cNvSpPr>
          <p:nvPr/>
        </p:nvSpPr>
        <p:spPr bwMode="auto">
          <a:xfrm>
            <a:off x="4556125" y="1442939"/>
            <a:ext cx="0" cy="533400"/>
          </a:xfrm>
          <a:prstGeom prst="line">
            <a:avLst/>
          </a:prstGeom>
          <a:noFill/>
          <a:ln w="19050">
            <a:solidFill>
              <a:schemeClr val="bg1">
                <a:lumMod val="1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74" name="Line 36"/>
          <p:cNvSpPr>
            <a:spLocks noChangeShapeType="1"/>
          </p:cNvSpPr>
          <p:nvPr/>
        </p:nvSpPr>
        <p:spPr bwMode="auto">
          <a:xfrm>
            <a:off x="4708525" y="1747739"/>
            <a:ext cx="990600" cy="0"/>
          </a:xfrm>
          <a:prstGeom prst="line">
            <a:avLst/>
          </a:prstGeom>
          <a:noFill/>
          <a:ln w="28575">
            <a:solidFill>
              <a:schemeClr val="bg1">
                <a:lumMod val="10000"/>
              </a:schemeClr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75" name="Rectangle 37"/>
          <p:cNvSpPr>
            <a:spLocks noChangeArrowheads="1"/>
          </p:cNvSpPr>
          <p:nvPr/>
        </p:nvSpPr>
        <p:spPr bwMode="auto">
          <a:xfrm>
            <a:off x="5699125" y="1442939"/>
            <a:ext cx="9906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bg1">
                <a:lumMod val="10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76" name="Line 38"/>
          <p:cNvSpPr>
            <a:spLocks noChangeShapeType="1"/>
          </p:cNvSpPr>
          <p:nvPr/>
        </p:nvSpPr>
        <p:spPr bwMode="auto">
          <a:xfrm>
            <a:off x="6384925" y="1442939"/>
            <a:ext cx="0" cy="533400"/>
          </a:xfrm>
          <a:prstGeom prst="lin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77" name="Line 39"/>
          <p:cNvSpPr>
            <a:spLocks noChangeShapeType="1"/>
          </p:cNvSpPr>
          <p:nvPr/>
        </p:nvSpPr>
        <p:spPr bwMode="auto">
          <a:xfrm>
            <a:off x="6537325" y="1747739"/>
            <a:ext cx="609600" cy="0"/>
          </a:xfrm>
          <a:prstGeom prst="line">
            <a:avLst/>
          </a:prstGeom>
          <a:noFill/>
          <a:ln w="28575">
            <a:solidFill>
              <a:schemeClr val="bg1">
                <a:lumMod val="10000"/>
              </a:schemeClr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78" name="Text Box 40"/>
          <p:cNvSpPr txBox="1">
            <a:spLocks noChangeArrowheads="1"/>
          </p:cNvSpPr>
          <p:nvPr/>
        </p:nvSpPr>
        <p:spPr bwMode="auto">
          <a:xfrm>
            <a:off x="1048405" y="1441700"/>
            <a:ext cx="5437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</a:t>
            </a:r>
          </a:p>
        </p:txBody>
      </p:sp>
      <p:sp>
        <p:nvSpPr>
          <p:cNvPr id="113679" name="Text Box 41"/>
          <p:cNvSpPr txBox="1">
            <a:spLocks noChangeArrowheads="1"/>
          </p:cNvSpPr>
          <p:nvPr/>
        </p:nvSpPr>
        <p:spPr bwMode="auto">
          <a:xfrm>
            <a:off x="7281703" y="1483073"/>
            <a:ext cx="5437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…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80" name="Line 42"/>
          <p:cNvSpPr>
            <a:spLocks noChangeShapeType="1"/>
          </p:cNvSpPr>
          <p:nvPr/>
        </p:nvSpPr>
        <p:spPr bwMode="auto">
          <a:xfrm>
            <a:off x="1584325" y="3583940"/>
            <a:ext cx="457200" cy="0"/>
          </a:xfrm>
          <a:prstGeom prst="line">
            <a:avLst/>
          </a:prstGeom>
          <a:noFill/>
          <a:ln w="28575">
            <a:solidFill>
              <a:schemeClr val="bg1">
                <a:lumMod val="10000"/>
              </a:schemeClr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81" name="Rectangle 43"/>
          <p:cNvSpPr>
            <a:spLocks noChangeArrowheads="1"/>
          </p:cNvSpPr>
          <p:nvPr/>
        </p:nvSpPr>
        <p:spPr bwMode="auto">
          <a:xfrm>
            <a:off x="2041525" y="3279140"/>
            <a:ext cx="9906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bg1">
                <a:lumMod val="10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82" name="Line 44"/>
          <p:cNvSpPr>
            <a:spLocks noChangeShapeType="1"/>
          </p:cNvSpPr>
          <p:nvPr/>
        </p:nvSpPr>
        <p:spPr bwMode="auto">
          <a:xfrm>
            <a:off x="2727325" y="3279140"/>
            <a:ext cx="0" cy="533400"/>
          </a:xfrm>
          <a:prstGeom prst="line">
            <a:avLst/>
          </a:prstGeom>
          <a:noFill/>
          <a:ln w="19050">
            <a:solidFill>
              <a:schemeClr val="bg1">
                <a:lumMod val="1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83" name="Line 45"/>
          <p:cNvSpPr>
            <a:spLocks noChangeShapeType="1"/>
          </p:cNvSpPr>
          <p:nvPr/>
        </p:nvSpPr>
        <p:spPr bwMode="auto">
          <a:xfrm>
            <a:off x="2879725" y="3583940"/>
            <a:ext cx="990600" cy="0"/>
          </a:xfrm>
          <a:prstGeom prst="line">
            <a:avLst/>
          </a:prstGeom>
          <a:noFill/>
          <a:ln w="28575">
            <a:solidFill>
              <a:schemeClr val="bg1">
                <a:lumMod val="10000"/>
              </a:schemeClr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84" name="Rectangle 46"/>
          <p:cNvSpPr>
            <a:spLocks noChangeArrowheads="1"/>
          </p:cNvSpPr>
          <p:nvPr/>
        </p:nvSpPr>
        <p:spPr bwMode="auto">
          <a:xfrm>
            <a:off x="3870325" y="3279140"/>
            <a:ext cx="990600" cy="533400"/>
          </a:xfrm>
          <a:prstGeom prst="rect">
            <a:avLst/>
          </a:prstGeom>
          <a:solidFill>
            <a:srgbClr val="9476B6"/>
          </a:solidFill>
          <a:ln w="9525">
            <a:solidFill>
              <a:schemeClr val="bg1">
                <a:lumMod val="10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85" name="Line 47"/>
          <p:cNvSpPr>
            <a:spLocks noChangeShapeType="1"/>
          </p:cNvSpPr>
          <p:nvPr/>
        </p:nvSpPr>
        <p:spPr bwMode="auto">
          <a:xfrm>
            <a:off x="4556125" y="3279140"/>
            <a:ext cx="0" cy="533400"/>
          </a:xfrm>
          <a:prstGeom prst="line">
            <a:avLst/>
          </a:prstGeom>
          <a:noFill/>
          <a:ln w="19050">
            <a:solidFill>
              <a:schemeClr val="bg1">
                <a:lumMod val="1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86" name="Line 48"/>
          <p:cNvSpPr>
            <a:spLocks noChangeShapeType="1"/>
          </p:cNvSpPr>
          <p:nvPr/>
        </p:nvSpPr>
        <p:spPr bwMode="auto">
          <a:xfrm>
            <a:off x="4708525" y="3583940"/>
            <a:ext cx="990600" cy="0"/>
          </a:xfrm>
          <a:prstGeom prst="line">
            <a:avLst/>
          </a:prstGeom>
          <a:noFill/>
          <a:ln w="28575">
            <a:solidFill>
              <a:schemeClr val="bg1">
                <a:lumMod val="10000"/>
              </a:schemeClr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87" name="Rectangle 49"/>
          <p:cNvSpPr>
            <a:spLocks noChangeArrowheads="1"/>
          </p:cNvSpPr>
          <p:nvPr/>
        </p:nvSpPr>
        <p:spPr bwMode="auto">
          <a:xfrm>
            <a:off x="5699125" y="3279140"/>
            <a:ext cx="9906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bg1">
                <a:lumMod val="10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88" name="Line 50"/>
          <p:cNvSpPr>
            <a:spLocks noChangeShapeType="1"/>
          </p:cNvSpPr>
          <p:nvPr/>
        </p:nvSpPr>
        <p:spPr bwMode="auto">
          <a:xfrm>
            <a:off x="6384925" y="3279140"/>
            <a:ext cx="0" cy="533400"/>
          </a:xfrm>
          <a:prstGeom prst="lin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89" name="Line 51"/>
          <p:cNvSpPr>
            <a:spLocks noChangeShapeType="1"/>
          </p:cNvSpPr>
          <p:nvPr/>
        </p:nvSpPr>
        <p:spPr bwMode="auto">
          <a:xfrm>
            <a:off x="6537325" y="3583940"/>
            <a:ext cx="609600" cy="0"/>
          </a:xfrm>
          <a:prstGeom prst="line">
            <a:avLst/>
          </a:prstGeom>
          <a:noFill/>
          <a:ln w="28575">
            <a:solidFill>
              <a:schemeClr val="bg1">
                <a:lumMod val="10000"/>
              </a:schemeClr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90" name="Text Box 52"/>
          <p:cNvSpPr txBox="1">
            <a:spLocks noChangeArrowheads="1"/>
          </p:cNvSpPr>
          <p:nvPr/>
        </p:nvSpPr>
        <p:spPr bwMode="auto">
          <a:xfrm>
            <a:off x="1002030" y="3324532"/>
            <a:ext cx="5437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…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91" name="Text Box 53"/>
          <p:cNvSpPr txBox="1">
            <a:spLocks noChangeArrowheads="1"/>
          </p:cNvSpPr>
          <p:nvPr/>
        </p:nvSpPr>
        <p:spPr bwMode="auto">
          <a:xfrm>
            <a:off x="7228081" y="3305631"/>
            <a:ext cx="5437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…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92" name="Text Box 54"/>
          <p:cNvSpPr txBox="1">
            <a:spLocks noChangeArrowheads="1"/>
          </p:cNvSpPr>
          <p:nvPr/>
        </p:nvSpPr>
        <p:spPr bwMode="auto">
          <a:xfrm>
            <a:off x="2112963" y="1412776"/>
            <a:ext cx="6303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i-1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93" name="Text Box 55"/>
          <p:cNvSpPr txBox="1">
            <a:spLocks noChangeArrowheads="1"/>
          </p:cNvSpPr>
          <p:nvPr/>
        </p:nvSpPr>
        <p:spPr bwMode="auto">
          <a:xfrm>
            <a:off x="2111375" y="3248977"/>
            <a:ext cx="6303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i-1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94" name="Text Box 56"/>
          <p:cNvSpPr txBox="1">
            <a:spLocks noChangeArrowheads="1"/>
          </p:cNvSpPr>
          <p:nvPr/>
        </p:nvSpPr>
        <p:spPr bwMode="auto">
          <a:xfrm>
            <a:off x="4087813" y="1458814"/>
            <a:ext cx="4299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95" name="Text Box 57"/>
          <p:cNvSpPr txBox="1">
            <a:spLocks noChangeArrowheads="1"/>
          </p:cNvSpPr>
          <p:nvPr/>
        </p:nvSpPr>
        <p:spPr bwMode="auto">
          <a:xfrm>
            <a:off x="4092575" y="3248977"/>
            <a:ext cx="4299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96" name="Text Box 58"/>
          <p:cNvSpPr txBox="1">
            <a:spLocks noChangeArrowheads="1"/>
          </p:cNvSpPr>
          <p:nvPr/>
        </p:nvSpPr>
        <p:spPr bwMode="auto">
          <a:xfrm>
            <a:off x="5764213" y="1458814"/>
            <a:ext cx="684803" cy="52322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i+1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97" name="Text Box 59"/>
          <p:cNvSpPr txBox="1">
            <a:spLocks noChangeArrowheads="1"/>
          </p:cNvSpPr>
          <p:nvPr/>
        </p:nvSpPr>
        <p:spPr bwMode="auto">
          <a:xfrm>
            <a:off x="5783263" y="3248977"/>
            <a:ext cx="6848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i+1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98" name="Line 60"/>
          <p:cNvSpPr>
            <a:spLocks noChangeShapeType="1"/>
          </p:cNvSpPr>
          <p:nvPr/>
        </p:nvSpPr>
        <p:spPr bwMode="auto">
          <a:xfrm flipV="1">
            <a:off x="2346325" y="3888740"/>
            <a:ext cx="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699" name="Line 61"/>
          <p:cNvSpPr>
            <a:spLocks noChangeShapeType="1"/>
          </p:cNvSpPr>
          <p:nvPr/>
        </p:nvSpPr>
        <p:spPr bwMode="auto">
          <a:xfrm flipV="1">
            <a:off x="4175125" y="3888740"/>
            <a:ext cx="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700" name="Text Box 62"/>
          <p:cNvSpPr txBox="1">
            <a:spLocks noChangeArrowheads="1"/>
          </p:cNvSpPr>
          <p:nvPr/>
        </p:nvSpPr>
        <p:spPr bwMode="auto">
          <a:xfrm>
            <a:off x="2346325" y="3888740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701" name="Text Box 63"/>
          <p:cNvSpPr txBox="1">
            <a:spLocks noChangeArrowheads="1"/>
          </p:cNvSpPr>
          <p:nvPr/>
        </p:nvSpPr>
        <p:spPr bwMode="auto">
          <a:xfrm>
            <a:off x="4222750" y="3888740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q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702" name="Line 64"/>
          <p:cNvSpPr>
            <a:spLocks noChangeShapeType="1"/>
          </p:cNvSpPr>
          <p:nvPr/>
        </p:nvSpPr>
        <p:spPr bwMode="auto">
          <a:xfrm flipV="1">
            <a:off x="2914650" y="2874327"/>
            <a:ext cx="381000" cy="381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703" name="Line 65"/>
          <p:cNvSpPr>
            <a:spLocks noChangeShapeType="1"/>
          </p:cNvSpPr>
          <p:nvPr/>
        </p:nvSpPr>
        <p:spPr bwMode="auto">
          <a:xfrm>
            <a:off x="5435599" y="2888615"/>
            <a:ext cx="412753" cy="36036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704" name="Line 66"/>
          <p:cNvSpPr>
            <a:spLocks noChangeShapeType="1"/>
          </p:cNvSpPr>
          <p:nvPr/>
        </p:nvSpPr>
        <p:spPr bwMode="auto">
          <a:xfrm flipH="1" flipV="1">
            <a:off x="3281363" y="2874326"/>
            <a:ext cx="2175540" cy="16357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705" name="Text Box 67"/>
          <p:cNvSpPr txBox="1">
            <a:spLocks noChangeArrowheads="1"/>
          </p:cNvSpPr>
          <p:nvPr/>
        </p:nvSpPr>
        <p:spPr bwMode="auto">
          <a:xfrm>
            <a:off x="3734683" y="2071969"/>
            <a:ext cx="1261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删除前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3706" name="Text Box 68"/>
          <p:cNvSpPr txBox="1">
            <a:spLocks noChangeArrowheads="1"/>
          </p:cNvSpPr>
          <p:nvPr/>
        </p:nvSpPr>
        <p:spPr bwMode="auto">
          <a:xfrm>
            <a:off x="3734683" y="4417081"/>
            <a:ext cx="1261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删除后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18827" name="Group 69"/>
          <p:cNvGrpSpPr/>
          <p:nvPr/>
        </p:nvGrpSpPr>
        <p:grpSpPr>
          <a:xfrm>
            <a:off x="3203575" y="3336290"/>
            <a:ext cx="361950" cy="438150"/>
            <a:chOff x="2928" y="684"/>
            <a:chExt cx="312" cy="420"/>
          </a:xfrm>
        </p:grpSpPr>
        <p:sp>
          <p:nvSpPr>
            <p:cNvPr id="113711" name="Line 70"/>
            <p:cNvSpPr>
              <a:spLocks noChangeShapeType="1"/>
            </p:cNvSpPr>
            <p:nvPr/>
          </p:nvSpPr>
          <p:spPr bwMode="auto">
            <a:xfrm>
              <a:off x="2964" y="708"/>
              <a:ext cx="276" cy="39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3712" name="Line 71"/>
            <p:cNvSpPr>
              <a:spLocks noChangeShapeType="1"/>
            </p:cNvSpPr>
            <p:nvPr/>
          </p:nvSpPr>
          <p:spPr bwMode="auto">
            <a:xfrm flipH="1">
              <a:off x="2928" y="684"/>
              <a:ext cx="312" cy="42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18828" name="Group 72"/>
          <p:cNvGrpSpPr/>
          <p:nvPr/>
        </p:nvGrpSpPr>
        <p:grpSpPr>
          <a:xfrm>
            <a:off x="5127625" y="3412490"/>
            <a:ext cx="361950" cy="438150"/>
            <a:chOff x="2928" y="684"/>
            <a:chExt cx="312" cy="420"/>
          </a:xfrm>
        </p:grpSpPr>
        <p:sp>
          <p:nvSpPr>
            <p:cNvPr id="113709" name="Line 73"/>
            <p:cNvSpPr>
              <a:spLocks noChangeShapeType="1"/>
            </p:cNvSpPr>
            <p:nvPr/>
          </p:nvSpPr>
          <p:spPr bwMode="auto">
            <a:xfrm>
              <a:off x="2964" y="708"/>
              <a:ext cx="276" cy="39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3710" name="Line 74"/>
            <p:cNvSpPr>
              <a:spLocks noChangeShapeType="1"/>
            </p:cNvSpPr>
            <p:nvPr/>
          </p:nvSpPr>
          <p:spPr bwMode="auto">
            <a:xfrm flipH="1">
              <a:off x="2928" y="684"/>
              <a:ext cx="312" cy="42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9" name="Rectangle 6"/>
          <p:cNvSpPr>
            <a:spLocks noChangeArrowheads="1"/>
          </p:cNvSpPr>
          <p:nvPr/>
        </p:nvSpPr>
        <p:spPr bwMode="auto">
          <a:xfrm>
            <a:off x="935038" y="201613"/>
            <a:ext cx="50768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删除（删除第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个结点） </a:t>
            </a:r>
          </a:p>
        </p:txBody>
      </p:sp>
    </p:spTree>
    <p:extLst>
      <p:ext uri="{BB962C8B-B14F-4D97-AF65-F5344CB8AC3E}">
        <p14:creationId xmlns:p14="http://schemas.microsoft.com/office/powerpoint/2010/main" val="27284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19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4"/>
          <p:cNvSpPr>
            <a:spLocks noChangeArrowheads="1"/>
          </p:cNvSpPr>
          <p:nvPr/>
        </p:nvSpPr>
        <p:spPr bwMode="auto">
          <a:xfrm>
            <a:off x="1" y="853768"/>
            <a:ext cx="2051720" cy="51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算法步骤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】</a:t>
            </a:r>
          </a:p>
        </p:txBody>
      </p:sp>
      <p:sp>
        <p:nvSpPr>
          <p:cNvPr id="114691" name="Rectangle 5"/>
          <p:cNvSpPr>
            <a:spLocks noChangeArrowheads="1"/>
          </p:cNvSpPr>
          <p:nvPr/>
        </p:nvSpPr>
        <p:spPr bwMode="auto">
          <a:xfrm>
            <a:off x="395536" y="1367473"/>
            <a:ext cx="8338889" cy="2781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）找到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i-1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存储位置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）临时保存结点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的地址在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中，以备释放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令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p-&gt;next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指向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1200" cap="none" spc="0" normalizeH="0" baseline="-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的直接后继结点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）将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的值保留在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中，释放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的空间</a:t>
            </a:r>
          </a:p>
        </p:txBody>
      </p:sp>
      <p:pic>
        <p:nvPicPr>
          <p:cNvPr id="119812" name="Picture 7"/>
          <p:cNvPicPr>
            <a:picLocks noChangeAspect="1"/>
          </p:cNvPicPr>
          <p:nvPr/>
        </p:nvPicPr>
        <p:blipFill rotWithShape="1">
          <a:blip r:embed="rId2"/>
          <a:srcRect l="1963" t="7373" r="5900" b="14356"/>
          <a:stretch/>
        </p:blipFill>
        <p:spPr>
          <a:xfrm>
            <a:off x="1" y="4365103"/>
            <a:ext cx="9147991" cy="252028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935038" y="201613"/>
            <a:ext cx="50768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删除（删除第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个结点） </a:t>
            </a:r>
          </a:p>
        </p:txBody>
      </p:sp>
    </p:spTree>
    <p:extLst>
      <p:ext uri="{BB962C8B-B14F-4D97-AF65-F5344CB8AC3E}">
        <p14:creationId xmlns:p14="http://schemas.microsoft.com/office/powerpoint/2010/main" val="2849574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4">
            <a:extLst>
              <a:ext uri="{FF2B5EF4-FFF2-40B4-BE49-F238E27FC236}">
                <a16:creationId xmlns:a16="http://schemas.microsoft.com/office/drawing/2014/main" id="{8E462EAE-3165-434E-8681-2ED8383AC808}"/>
              </a:ext>
            </a:extLst>
          </p:cNvPr>
          <p:cNvSpPr/>
          <p:nvPr/>
        </p:nvSpPr>
        <p:spPr>
          <a:xfrm>
            <a:off x="0" y="734704"/>
            <a:ext cx="9144000" cy="6123296"/>
          </a:xfrm>
          <a:prstGeom prst="rect">
            <a:avLst/>
          </a:prstGeom>
          <a:solidFill>
            <a:srgbClr val="EAEAEA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115714" name="Rectangle 4"/>
          <p:cNvSpPr>
            <a:spLocks noChangeArrowheads="1"/>
          </p:cNvSpPr>
          <p:nvPr/>
        </p:nvSpPr>
        <p:spPr bwMode="auto">
          <a:xfrm>
            <a:off x="161925" y="734703"/>
            <a:ext cx="8820150" cy="612329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ListDelete_L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LinkList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&amp;L, int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ElemType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&amp;e){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p = L;   j = 0;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while (p-&gt;next &amp;&amp; j&lt;i-1) { p = p-&gt;next;   ++j; }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寻找第 </a:t>
            </a:r>
            <a:r>
              <a:rPr lang="en-US" altLang="zh-CN" dirty="0" err="1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个结点，并令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指向其前驱 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if(!(p-&gt;next) || j&gt;i-1) return ERROR;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删除位置不合理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 = p-&gt;next;            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临时保存被删结点的地址以备释放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p-&gt;next = r-&gt;next;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	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改变删除结点前驱结点的指针域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= r-&gt;data;             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保存删除结点的数据域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delete r;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	            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释放删除结点的空间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OK;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ListDelete_L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935038" y="201613"/>
            <a:ext cx="50768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删除（删除第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个结点） </a:t>
            </a:r>
          </a:p>
        </p:txBody>
      </p:sp>
    </p:spTree>
    <p:extLst>
      <p:ext uri="{BB962C8B-B14F-4D97-AF65-F5344CB8AC3E}">
        <p14:creationId xmlns:p14="http://schemas.microsoft.com/office/powerpoint/2010/main" val="924357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4"/>
          <p:cNvSpPr>
            <a:spLocks noChangeArrowheads="1"/>
          </p:cNvSpPr>
          <p:nvPr/>
        </p:nvSpPr>
        <p:spPr bwMode="auto">
          <a:xfrm>
            <a:off x="93861" y="1628800"/>
            <a:ext cx="4478139" cy="516165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8575">
            <a:noFill/>
            <a:miter lim="800000"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DestroyList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LinkList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&amp;L)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LNode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* p;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while( L )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p = L;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L = L-&gt;next;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delete p;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return OK;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}</a:t>
            </a:r>
          </a:p>
        </p:txBody>
      </p:sp>
      <p:sp>
        <p:nvSpPr>
          <p:cNvPr id="96259" name="Rectangle 6"/>
          <p:cNvSpPr>
            <a:spLocks noChangeArrowheads="1"/>
          </p:cNvSpPr>
          <p:nvPr/>
        </p:nvSpPr>
        <p:spPr bwMode="auto">
          <a:xfrm>
            <a:off x="873125" y="172117"/>
            <a:ext cx="742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补充：几个简单基本操作的算法实现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E428C514-6174-44D4-8A7C-79196EC2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1840" y="1628800"/>
            <a:ext cx="4398299" cy="516165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ClearList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LinkList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&amp;L) {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LNode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*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p;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while( L-&gt;next )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p = L-&gt;next;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       L-&gt;next = p-&gt;next;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delete p;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return OK;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}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63327AC3-8EBE-4B5E-8402-E7EED7895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7070" y="1042442"/>
            <a:ext cx="2051720" cy="51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销毁线性表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F92DCE79-AE12-40F4-BE48-E7C87482E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5129" y="1042442"/>
            <a:ext cx="2051720" cy="51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清空线性表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17" name="矩形 48"/>
          <p:cNvSpPr>
            <a:spLocks noChangeArrowheads="1"/>
          </p:cNvSpPr>
          <p:nvPr/>
        </p:nvSpPr>
        <p:spPr bwMode="auto">
          <a:xfrm>
            <a:off x="511174" y="1048569"/>
            <a:ext cx="2908698" cy="523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求</a:t>
            </a: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线性表的长度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0" name="Rectangle 4"/>
          <p:cNvSpPr>
            <a:spLocks noChangeArrowheads="1"/>
          </p:cNvSpPr>
          <p:nvPr/>
        </p:nvSpPr>
        <p:spPr bwMode="auto">
          <a:xfrm>
            <a:off x="-1" y="5728045"/>
            <a:ext cx="9144001" cy="1118456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1257300" lvl="3" indent="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 = L-&gt;next;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len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 0;             </a:t>
            </a:r>
          </a:p>
          <a:p>
            <a:pPr marL="1257300" lvl="3" indent="0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while(p) {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len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++;   p = p-&gt;next; }    </a:t>
            </a:r>
          </a:p>
        </p:txBody>
      </p:sp>
      <p:sp>
        <p:nvSpPr>
          <p:cNvPr id="98319" name="Rectangle 6"/>
          <p:cNvSpPr>
            <a:spLocks noChangeArrowheads="1"/>
          </p:cNvSpPr>
          <p:nvPr/>
        </p:nvSpPr>
        <p:spPr bwMode="auto">
          <a:xfrm>
            <a:off x="768350" y="203200"/>
            <a:ext cx="742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补充：几个简单基本操作的算法实现</a:t>
            </a:r>
          </a:p>
        </p:txBody>
      </p:sp>
      <p:sp>
        <p:nvSpPr>
          <p:cNvPr id="98320" name="Rectangle 12"/>
          <p:cNvSpPr>
            <a:spLocks noChangeArrowheads="1"/>
          </p:cNvSpPr>
          <p:nvPr/>
        </p:nvSpPr>
        <p:spPr bwMode="auto">
          <a:xfrm>
            <a:off x="4439484" y="825499"/>
            <a:ext cx="4639554" cy="20716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“数”结点：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指针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依次指向各个结点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从第一个元素开始“数”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一直“数”到最后一个结点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320900F3-919D-4856-A819-7E9F7790B509}"/>
              </a:ext>
            </a:extLst>
          </p:cNvPr>
          <p:cNvGrpSpPr/>
          <p:nvPr/>
        </p:nvGrpSpPr>
        <p:grpSpPr>
          <a:xfrm>
            <a:off x="539553" y="3156854"/>
            <a:ext cx="7344815" cy="1057432"/>
            <a:chOff x="785786" y="4430726"/>
            <a:chExt cx="6505606" cy="1057432"/>
          </a:xfrm>
        </p:grpSpPr>
        <p:sp>
          <p:nvSpPr>
            <p:cNvPr id="92" name="Text Box 3">
              <a:extLst>
                <a:ext uri="{FF2B5EF4-FFF2-40B4-BE49-F238E27FC236}">
                  <a16:creationId xmlns:a16="http://schemas.microsoft.com/office/drawing/2014/main" id="{E2EB7A6E-AE03-41D5-8AE4-E5DA34CB5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786" y="4567251"/>
              <a:ext cx="1008062" cy="683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" pitchFamily="49" charset="-122"/>
                  <a:cs typeface="Consolas" pitchFamily="49" charset="0"/>
                </a:rPr>
                <a:t>初始时</a:t>
              </a:r>
            </a:p>
          </p:txBody>
        </p:sp>
        <p:sp>
          <p:nvSpPr>
            <p:cNvPr id="93" name="Rectangle 5">
              <a:extLst>
                <a:ext uri="{FF2B5EF4-FFF2-40B4-BE49-F238E27FC236}">
                  <a16:creationId xmlns:a16="http://schemas.microsoft.com/office/drawing/2014/main" id="{97938E8C-FD8A-4062-B9A3-09EAC4939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961" y="4565664"/>
              <a:ext cx="360362" cy="360362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94" name="Rectangle 6">
              <a:extLst>
                <a:ext uri="{FF2B5EF4-FFF2-40B4-BE49-F238E27FC236}">
                  <a16:creationId xmlns:a16="http://schemas.microsoft.com/office/drawing/2014/main" id="{36232982-399B-44AA-ABCB-FFFA91F87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323" y="4565664"/>
              <a:ext cx="360363" cy="360362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95" name="Line 7">
              <a:extLst>
                <a:ext uri="{FF2B5EF4-FFF2-40B4-BE49-F238E27FC236}">
                  <a16:creationId xmlns:a16="http://schemas.microsoft.com/office/drawing/2014/main" id="{F4639EBD-6868-4A91-AB3D-D0BD69C57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2298" y="4745051"/>
              <a:ext cx="360363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 type="arrow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96" name="Text Box 8">
              <a:extLst>
                <a:ext uri="{FF2B5EF4-FFF2-40B4-BE49-F238E27FC236}">
                  <a16:creationId xmlns:a16="http://schemas.microsoft.com/office/drawing/2014/main" id="{882B54CF-845B-4F0F-B88B-373C1FDBA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2898" y="4565664"/>
              <a:ext cx="268288" cy="393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itchFamily="2" charset="-122"/>
                  <a:cs typeface="Consolas" pitchFamily="49" charset="0"/>
                </a:rPr>
                <a:t>L</a:t>
              </a:r>
            </a:p>
          </p:txBody>
        </p:sp>
        <p:sp>
          <p:nvSpPr>
            <p:cNvPr id="97" name="Rectangle 9">
              <a:extLst>
                <a:ext uri="{FF2B5EF4-FFF2-40B4-BE49-F238E27FC236}">
                  <a16:creationId xmlns:a16="http://schemas.microsoft.com/office/drawing/2014/main" id="{39E8366A-C13D-4F02-9404-45FC65F1A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9461" y="4565664"/>
              <a:ext cx="360362" cy="360362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98" name="Rectangle 10">
              <a:extLst>
                <a:ext uri="{FF2B5EF4-FFF2-40B4-BE49-F238E27FC236}">
                  <a16:creationId xmlns:a16="http://schemas.microsoft.com/office/drawing/2014/main" id="{09DDA6C5-1F4F-41FA-9E54-61E027B4C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23" y="4565664"/>
              <a:ext cx="360363" cy="360362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99" name="Freeform 11">
              <a:extLst>
                <a:ext uri="{FF2B5EF4-FFF2-40B4-BE49-F238E27FC236}">
                  <a16:creationId xmlns:a16="http://schemas.microsoft.com/office/drawing/2014/main" id="{8DF718D9-C7B6-4564-BAB3-3CA6B0506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711" y="4743464"/>
              <a:ext cx="552450" cy="31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8" y="2"/>
                </a:cxn>
              </a:cxnLst>
              <a:rect l="0" t="0" r="r" b="b"/>
              <a:pathLst>
                <a:path w="348" h="2">
                  <a:moveTo>
                    <a:pt x="0" y="0"/>
                  </a:moveTo>
                  <a:lnTo>
                    <a:pt x="348" y="2"/>
                  </a:lnTo>
                </a:path>
              </a:pathLst>
            </a:custGeom>
            <a:noFill/>
            <a:ln w="19050" cap="flat" cmpd="sng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00" name="Rectangle 12">
              <a:extLst>
                <a:ext uri="{FF2B5EF4-FFF2-40B4-BE49-F238E27FC236}">
                  <a16:creationId xmlns:a16="http://schemas.microsoft.com/office/drawing/2014/main" id="{D3663B59-06B1-4FA8-A163-40CECA820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5" y="4565664"/>
              <a:ext cx="360362" cy="360362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01" name="Rectangle 13">
              <a:extLst>
                <a:ext uri="{FF2B5EF4-FFF2-40B4-BE49-F238E27FC236}">
                  <a16:creationId xmlns:a16="http://schemas.microsoft.com/office/drawing/2014/main" id="{EB6F4EAC-E269-4174-B567-107CC5836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2967" y="4565664"/>
              <a:ext cx="360363" cy="360362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02" name="Line 14">
              <a:extLst>
                <a:ext uri="{FF2B5EF4-FFF2-40B4-BE49-F238E27FC236}">
                  <a16:creationId xmlns:a16="http://schemas.microsoft.com/office/drawing/2014/main" id="{30350043-36EF-4D99-9830-6E2652FB7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4942" y="4745051"/>
              <a:ext cx="360363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 type="arrow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03" name="Rectangle 15">
              <a:extLst>
                <a:ext uri="{FF2B5EF4-FFF2-40B4-BE49-F238E27FC236}">
                  <a16:creationId xmlns:a16="http://schemas.microsoft.com/office/drawing/2014/main" id="{957D153E-F729-42AB-8875-CFFA3ECF8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0667" y="4565664"/>
              <a:ext cx="360363" cy="360362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04" name="Rectangle 16">
              <a:extLst>
                <a:ext uri="{FF2B5EF4-FFF2-40B4-BE49-F238E27FC236}">
                  <a16:creationId xmlns:a16="http://schemas.microsoft.com/office/drawing/2014/main" id="{520C860B-E000-44B0-88A9-81CDFAF01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1030" y="4565664"/>
              <a:ext cx="360362" cy="360362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itchFamily="2" charset="-122"/>
                  <a:cs typeface="Consolas" pitchFamily="49" charset="0"/>
                </a:rPr>
                <a:t>∧</a:t>
              </a:r>
            </a:p>
          </p:txBody>
        </p:sp>
        <p:sp>
          <p:nvSpPr>
            <p:cNvPr id="105" name="Freeform 17">
              <a:extLst>
                <a:ext uri="{FF2B5EF4-FFF2-40B4-BE49-F238E27FC236}">
                  <a16:creationId xmlns:a16="http://schemas.microsoft.com/office/drawing/2014/main" id="{5BBA17BF-87E9-434D-B169-C542630F9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005" y="4743464"/>
              <a:ext cx="487362" cy="31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7" y="2"/>
                </a:cxn>
              </a:cxnLst>
              <a:rect l="0" t="0" r="r" b="b"/>
              <a:pathLst>
                <a:path w="307" h="2">
                  <a:moveTo>
                    <a:pt x="0" y="0"/>
                  </a:moveTo>
                  <a:lnTo>
                    <a:pt x="307" y="2"/>
                  </a:lnTo>
                </a:path>
              </a:pathLst>
            </a:custGeom>
            <a:noFill/>
            <a:ln w="19050" cap="flat" cmpd="sng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06" name="Freeform 18">
              <a:extLst>
                <a:ext uri="{FF2B5EF4-FFF2-40B4-BE49-F238E27FC236}">
                  <a16:creationId xmlns:a16="http://schemas.microsoft.com/office/drawing/2014/main" id="{70C64020-E7A5-487A-929C-EA1F1BA81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098" y="4741876"/>
              <a:ext cx="552450" cy="31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8" y="2"/>
                </a:cxn>
              </a:cxnLst>
              <a:rect l="0" t="0" r="r" b="b"/>
              <a:pathLst>
                <a:path w="348" h="2">
                  <a:moveTo>
                    <a:pt x="0" y="0"/>
                  </a:moveTo>
                  <a:lnTo>
                    <a:pt x="348" y="2"/>
                  </a:lnTo>
                </a:path>
              </a:pathLst>
            </a:custGeom>
            <a:noFill/>
            <a:ln w="19050" cap="flat" cmpd="sng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07" name="Text Box 19">
              <a:extLst>
                <a:ext uri="{FF2B5EF4-FFF2-40B4-BE49-F238E27FC236}">
                  <a16:creationId xmlns:a16="http://schemas.microsoft.com/office/drawing/2014/main" id="{29691ECD-8A9F-42DE-A170-FD954A80F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438" y="4430726"/>
              <a:ext cx="720725" cy="393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itchFamily="2" charset="-122"/>
                  <a:cs typeface="Consolas" pitchFamily="49" charset="0"/>
                </a:rPr>
                <a:t>…</a:t>
              </a:r>
            </a:p>
          </p:txBody>
        </p:sp>
        <p:sp>
          <p:nvSpPr>
            <p:cNvPr id="108" name="Text Box 20">
              <a:extLst>
                <a:ext uri="{FF2B5EF4-FFF2-40B4-BE49-F238E27FC236}">
                  <a16:creationId xmlns:a16="http://schemas.microsoft.com/office/drawing/2014/main" id="{A5013DC9-AB45-4099-A0D8-9BCE76B05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4611" y="5143512"/>
              <a:ext cx="1885936" cy="344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ts val="18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_GB2312" pitchFamily="49" charset="-122"/>
                  <a:cs typeface="Consolas" pitchFamily="49" charset="0"/>
                </a:rPr>
                <a:t>p    </a:t>
              </a:r>
              <a:r>
                <a:rPr kumimoji="1" lang="en-US" altLang="zh-CN" sz="2400" b="1" i="1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_GB2312" pitchFamily="49" charset="-122"/>
                  <a:cs typeface="Consolas" pitchFamily="49" charset="0"/>
                </a:rPr>
                <a:t>len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_GB2312" pitchFamily="49" charset="-122"/>
                  <a:cs typeface="Consolas" pitchFamily="49" charset="0"/>
                </a:rPr>
                <a:t>=0</a:t>
              </a:r>
            </a:p>
          </p:txBody>
        </p:sp>
        <p:sp>
          <p:nvSpPr>
            <p:cNvPr id="109" name="Line 21">
              <a:extLst>
                <a:ext uri="{FF2B5EF4-FFF2-40B4-BE49-F238E27FC236}">
                  <a16:creationId xmlns:a16="http://schemas.microsoft.com/office/drawing/2014/main" id="{B12B8D41-7B36-4EAD-AA7C-3EA3F67446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8886" y="4926026"/>
              <a:ext cx="0" cy="360363"/>
            </a:xfrm>
            <a:prstGeom prst="line">
              <a:avLst/>
            </a:prstGeom>
            <a:noFill/>
            <a:ln w="19050">
              <a:solidFill>
                <a:srgbClr val="F19903"/>
              </a:solidFill>
              <a:miter lim="800000"/>
              <a:headEnd/>
              <a:tailEnd type="arrow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F29D65FD-1538-4DB1-9F16-5916B18DC8F2}"/>
              </a:ext>
            </a:extLst>
          </p:cNvPr>
          <p:cNvGrpSpPr/>
          <p:nvPr/>
        </p:nvGrpSpPr>
        <p:grpSpPr>
          <a:xfrm>
            <a:off x="104814" y="4335327"/>
            <a:ext cx="7779554" cy="1079819"/>
            <a:chOff x="261388" y="3387714"/>
            <a:chExt cx="6958566" cy="1079819"/>
          </a:xfrm>
        </p:grpSpPr>
        <p:sp>
          <p:nvSpPr>
            <p:cNvPr id="132" name="Text Box 4">
              <a:extLst>
                <a:ext uri="{FF2B5EF4-FFF2-40B4-BE49-F238E27FC236}">
                  <a16:creationId xmlns:a16="http://schemas.microsoft.com/office/drawing/2014/main" id="{4D15AA64-4A24-4C37-A49C-8D7897FBA0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388" y="3593865"/>
              <a:ext cx="1609170" cy="3877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楷体" pitchFamily="49" charset="-122"/>
                  <a:cs typeface="Consolas" pitchFamily="49" charset="0"/>
                </a:rPr>
                <a:t>循环结束时</a:t>
              </a:r>
            </a:p>
          </p:txBody>
        </p:sp>
        <p:sp>
          <p:nvSpPr>
            <p:cNvPr id="133" name="Rectangle 24">
              <a:extLst>
                <a:ext uri="{FF2B5EF4-FFF2-40B4-BE49-F238E27FC236}">
                  <a16:creationId xmlns:a16="http://schemas.microsoft.com/office/drawing/2014/main" id="{E8908410-424C-4780-A10A-48847DCAA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8388" y="3606789"/>
              <a:ext cx="360362" cy="360363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34" name="Rectangle 25">
              <a:extLst>
                <a:ext uri="{FF2B5EF4-FFF2-40B4-BE49-F238E27FC236}">
                  <a16:creationId xmlns:a16="http://schemas.microsoft.com/office/drawing/2014/main" id="{2A8CE7AD-B308-4C70-AC46-16334F604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8750" y="3606789"/>
              <a:ext cx="360363" cy="360363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35" name="Line 26">
              <a:extLst>
                <a:ext uri="{FF2B5EF4-FFF2-40B4-BE49-F238E27FC236}">
                  <a16:creationId xmlns:a16="http://schemas.microsoft.com/office/drawing/2014/main" id="{F4E9D89B-E7D4-436F-8E53-D55F64028E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0725" y="3786177"/>
              <a:ext cx="360363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 type="arrow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36" name="Text Box 27">
              <a:extLst>
                <a:ext uri="{FF2B5EF4-FFF2-40B4-BE49-F238E27FC236}">
                  <a16:creationId xmlns:a16="http://schemas.microsoft.com/office/drawing/2014/main" id="{6C015B18-C67F-4F3C-B455-F40E2D0F2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1325" y="3606789"/>
              <a:ext cx="268288" cy="393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itchFamily="2" charset="-122"/>
                  <a:cs typeface="Consolas" pitchFamily="49" charset="0"/>
                </a:rPr>
                <a:t>L</a:t>
              </a:r>
            </a:p>
          </p:txBody>
        </p:sp>
        <p:sp>
          <p:nvSpPr>
            <p:cNvPr id="137" name="Rectangle 28">
              <a:extLst>
                <a:ext uri="{FF2B5EF4-FFF2-40B4-BE49-F238E27FC236}">
                  <a16:creationId xmlns:a16="http://schemas.microsoft.com/office/drawing/2014/main" id="{C3CC134F-A0B6-41A6-9177-BDC3BD7D8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888" y="3606789"/>
              <a:ext cx="360362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38" name="Rectangle 29">
              <a:extLst>
                <a:ext uri="{FF2B5EF4-FFF2-40B4-BE49-F238E27FC236}">
                  <a16:creationId xmlns:a16="http://schemas.microsoft.com/office/drawing/2014/main" id="{675E65F5-5F5E-45A1-AA98-0E6ED768C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250" y="3606789"/>
              <a:ext cx="360363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39" name="Freeform 30">
              <a:extLst>
                <a:ext uri="{FF2B5EF4-FFF2-40B4-BE49-F238E27FC236}">
                  <a16:creationId xmlns:a16="http://schemas.microsoft.com/office/drawing/2014/main" id="{D6A6D552-F020-46B0-8649-8CCB28CCF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138" y="3784589"/>
              <a:ext cx="552450" cy="31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8" y="2"/>
                </a:cxn>
              </a:cxnLst>
              <a:rect l="0" t="0" r="r" b="b"/>
              <a:pathLst>
                <a:path w="348" h="2">
                  <a:moveTo>
                    <a:pt x="0" y="0"/>
                  </a:moveTo>
                  <a:lnTo>
                    <a:pt x="348" y="2"/>
                  </a:lnTo>
                </a:path>
              </a:pathLst>
            </a:custGeom>
            <a:noFill/>
            <a:ln w="19050" cap="flat" cmpd="sng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40" name="Rectangle 31">
              <a:extLst>
                <a:ext uri="{FF2B5EF4-FFF2-40B4-BE49-F238E27FC236}">
                  <a16:creationId xmlns:a16="http://schemas.microsoft.com/office/drawing/2014/main" id="{947B95FA-FDE3-48FE-9355-1571FF816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1167" y="3606789"/>
              <a:ext cx="360362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41" name="Rectangle 32">
              <a:extLst>
                <a:ext uri="{FF2B5EF4-FFF2-40B4-BE49-F238E27FC236}">
                  <a16:creationId xmlns:a16="http://schemas.microsoft.com/office/drawing/2014/main" id="{B916EFD8-41DA-4704-A980-D236965A8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1529" y="3606789"/>
              <a:ext cx="360363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42" name="Line 33">
              <a:extLst>
                <a:ext uri="{FF2B5EF4-FFF2-40B4-BE49-F238E27FC236}">
                  <a16:creationId xmlns:a16="http://schemas.microsoft.com/office/drawing/2014/main" id="{B217A20F-23F0-4151-B2DD-54F3B24A9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3504" y="3786177"/>
              <a:ext cx="360363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 type="arrow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43" name="Rectangle 34">
              <a:extLst>
                <a:ext uri="{FF2B5EF4-FFF2-40B4-BE49-F238E27FC236}">
                  <a16:creationId xmlns:a16="http://schemas.microsoft.com/office/drawing/2014/main" id="{BF13037F-0F6A-47DD-8F85-CFCDF107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9229" y="3606789"/>
              <a:ext cx="360363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44" name="Rectangle 35">
              <a:extLst>
                <a:ext uri="{FF2B5EF4-FFF2-40B4-BE49-F238E27FC236}">
                  <a16:creationId xmlns:a16="http://schemas.microsoft.com/office/drawing/2014/main" id="{A972CF19-C3C3-4221-AC71-3708741D0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592" y="3606789"/>
              <a:ext cx="360362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itchFamily="2" charset="-122"/>
                  <a:cs typeface="Consolas" pitchFamily="49" charset="0"/>
                </a:rPr>
                <a:t>∧</a:t>
              </a:r>
            </a:p>
          </p:txBody>
        </p:sp>
        <p:sp>
          <p:nvSpPr>
            <p:cNvPr id="145" name="Freeform 36">
              <a:extLst>
                <a:ext uri="{FF2B5EF4-FFF2-40B4-BE49-F238E27FC236}">
                  <a16:creationId xmlns:a16="http://schemas.microsoft.com/office/drawing/2014/main" id="{0B44CAC8-FE6F-4342-8197-CE8F93AE3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4567" y="3784589"/>
              <a:ext cx="487362" cy="31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7" y="2"/>
                </a:cxn>
              </a:cxnLst>
              <a:rect l="0" t="0" r="r" b="b"/>
              <a:pathLst>
                <a:path w="307" h="2">
                  <a:moveTo>
                    <a:pt x="0" y="0"/>
                  </a:moveTo>
                  <a:lnTo>
                    <a:pt x="307" y="2"/>
                  </a:lnTo>
                </a:path>
              </a:pathLst>
            </a:custGeom>
            <a:noFill/>
            <a:ln w="19050" cap="flat" cmpd="sng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46" name="Freeform 37">
              <a:extLst>
                <a:ext uri="{FF2B5EF4-FFF2-40B4-BE49-F238E27FC236}">
                  <a16:creationId xmlns:a16="http://schemas.microsoft.com/office/drawing/2014/main" id="{926BDE5F-CDDD-4160-80FF-457B1F3FA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6525" y="3783002"/>
              <a:ext cx="552450" cy="31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8" y="2"/>
                </a:cxn>
              </a:cxnLst>
              <a:rect l="0" t="0" r="r" b="b"/>
              <a:pathLst>
                <a:path w="348" h="2">
                  <a:moveTo>
                    <a:pt x="0" y="0"/>
                  </a:moveTo>
                  <a:lnTo>
                    <a:pt x="348" y="2"/>
                  </a:lnTo>
                </a:path>
              </a:pathLst>
            </a:custGeom>
            <a:noFill/>
            <a:ln w="19050" cap="flat" cmpd="sng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47" name="Text Box 38">
              <a:extLst>
                <a:ext uri="{FF2B5EF4-FFF2-40B4-BE49-F238E27FC236}">
                  <a16:creationId xmlns:a16="http://schemas.microsoft.com/office/drawing/2014/main" id="{EFB22B43-B0C1-425D-BC63-98539E7ABC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7536" y="4144368"/>
              <a:ext cx="452418" cy="323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ts val="18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p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endParaRPr>
            </a:p>
          </p:txBody>
        </p:sp>
        <p:sp>
          <p:nvSpPr>
            <p:cNvPr id="148" name="Line 39">
              <a:extLst>
                <a:ext uri="{FF2B5EF4-FFF2-40B4-BE49-F238E27FC236}">
                  <a16:creationId xmlns:a16="http://schemas.microsoft.com/office/drawing/2014/main" id="{C50EB154-7187-48D3-828E-4368EFDF7A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67517" y="3967152"/>
              <a:ext cx="0" cy="360362"/>
            </a:xfrm>
            <a:prstGeom prst="line">
              <a:avLst/>
            </a:prstGeom>
            <a:noFill/>
            <a:ln w="19050">
              <a:solidFill>
                <a:srgbClr val="F19903"/>
              </a:solidFill>
              <a:miter lim="800000"/>
              <a:headEnd/>
              <a:tailEnd type="arrow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49" name="Text Box 41">
              <a:extLst>
                <a:ext uri="{FF2B5EF4-FFF2-40B4-BE49-F238E27FC236}">
                  <a16:creationId xmlns:a16="http://schemas.microsoft.com/office/drawing/2014/main" id="{CF6862DE-860C-4E53-9947-808F614FD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1539" y="3387714"/>
              <a:ext cx="428629" cy="393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itchFamily="2" charset="-122"/>
                  <a:cs typeface="Consolas" pitchFamily="49" charset="0"/>
                </a:rPr>
                <a:t>…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679DB7D-E092-47BF-B7FD-5A7717A63620}"/>
              </a:ext>
            </a:extLst>
          </p:cNvPr>
          <p:cNvSpPr txBox="1"/>
          <p:nvPr/>
        </p:nvSpPr>
        <p:spPr>
          <a:xfrm>
            <a:off x="3397603" y="5055567"/>
            <a:ext cx="2241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楷体" panose="02010609060101010101" pitchFamily="49" charset="-122"/>
                <a:cs typeface="Consolas" pitchFamily="49" charset="0"/>
              </a:rPr>
              <a:t>len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楷体" panose="02010609060101010101" pitchFamily="49" charset="-122"/>
                <a:cs typeface="Consolas" pitchFamily="49" charset="0"/>
              </a:rPr>
              <a:t>为结点个数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8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8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98320" grpId="0" animBg="1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4"/>
          <p:cNvSpPr>
            <a:spLocks noRot="1" noChangeArrowheads="1"/>
          </p:cNvSpPr>
          <p:nvPr/>
        </p:nvSpPr>
        <p:spPr bwMode="auto">
          <a:xfrm>
            <a:off x="358775" y="836712"/>
            <a:ext cx="8496300" cy="231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7C80"/>
              </a:buClr>
              <a:buSzPct val="50000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从一个空表开始，重复读入数据：</a:t>
            </a:r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生成新结点</a:t>
            </a:r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将读入数据存放到新结点的数据域中</a:t>
            </a:r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将该新结点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插入到链表的前端</a:t>
            </a:r>
          </a:p>
        </p:txBody>
      </p:sp>
      <p:sp>
        <p:nvSpPr>
          <p:cNvPr id="633861" name="Rectangle 5"/>
          <p:cNvSpPr>
            <a:spLocks noChangeArrowheads="1"/>
          </p:cNvSpPr>
          <p:nvPr/>
        </p:nvSpPr>
        <p:spPr bwMode="auto">
          <a:xfrm>
            <a:off x="827088" y="188913"/>
            <a:ext cx="5292725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单链表的建立（前插法）</a:t>
            </a:r>
          </a:p>
        </p:txBody>
      </p:sp>
      <p:graphicFrame>
        <p:nvGraphicFramePr>
          <p:cNvPr id="122885" name="Object 6"/>
          <p:cNvGraphicFramePr/>
          <p:nvPr>
            <p:extLst>
              <p:ext uri="{D42A27DB-BD31-4B8C-83A1-F6EECF244321}">
                <p14:modId xmlns:p14="http://schemas.microsoft.com/office/powerpoint/2010/main" val="3925008320"/>
              </p:ext>
            </p:extLst>
          </p:nvPr>
        </p:nvGraphicFramePr>
        <p:xfrm>
          <a:off x="273050" y="3427413"/>
          <a:ext cx="8597900" cy="324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9" name="Picture" r:id="rId3" imgW="4638600" imgH="1752480" progId="Word.Picture.8">
                  <p:embed/>
                </p:oleObj>
              </mc:Choice>
              <mc:Fallback>
                <p:oleObj name="Picture" r:id="rId3" imgW="4638600" imgH="1752480" progId="Word.Picture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050" y="3427413"/>
                        <a:ext cx="8597900" cy="3243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D5475E20-13E1-4FCF-8B09-2D907DCE1905}"/>
              </a:ext>
            </a:extLst>
          </p:cNvPr>
          <p:cNvSpPr txBox="1"/>
          <p:nvPr/>
        </p:nvSpPr>
        <p:spPr>
          <a:xfrm>
            <a:off x="3961854" y="3429000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链表中元素顺序与输入顺序相反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4"/>
          <p:cNvSpPr>
            <a:spLocks noChangeArrowheads="1"/>
          </p:cNvSpPr>
          <p:nvPr/>
        </p:nvSpPr>
        <p:spPr bwMode="auto">
          <a:xfrm>
            <a:off x="395536" y="1124744"/>
            <a:ext cx="8352928" cy="511256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void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CreateListF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LinkList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&amp;L, int n) {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L = new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LNode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L-&gt;next = NULL;  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先建立一个带头结点的单链表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for (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=n;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&gt;0; --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{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p = new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LNode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生成新结点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cin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&gt;&gt; p-&gt;data; 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输入元素值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p-&gt;next = L-&gt;next;   L-&gt;next = p;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插入到表头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CreateListF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4" name="Rectangle 29"/>
          <p:cNvSpPr>
            <a:spLocks noChangeArrowheads="1"/>
          </p:cNvSpPr>
          <p:nvPr/>
        </p:nvSpPr>
        <p:spPr bwMode="auto">
          <a:xfrm>
            <a:off x="755650" y="188913"/>
            <a:ext cx="5292725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单链表的建立（前插法）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4"/>
          <p:cNvSpPr>
            <a:spLocks noRot="1" noChangeArrowheads="1"/>
          </p:cNvSpPr>
          <p:nvPr/>
        </p:nvSpPr>
        <p:spPr bwMode="auto">
          <a:xfrm>
            <a:off x="184150" y="908720"/>
            <a:ext cx="8780338" cy="2232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从一个空表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开始，将新结点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逐个插入到链表的尾部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尾指针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指向链表的尾结点。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初始时，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均指向头结点。每读入一个数据元素则申请一个新结点，将新结点插入到尾结点后，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指向新结点。</a:t>
            </a:r>
          </a:p>
        </p:txBody>
      </p:sp>
      <p:sp>
        <p:nvSpPr>
          <p:cNvPr id="656389" name="Rectangle 5"/>
          <p:cNvSpPr>
            <a:spLocks noChangeArrowheads="1"/>
          </p:cNvSpPr>
          <p:nvPr/>
        </p:nvSpPr>
        <p:spPr bwMode="auto">
          <a:xfrm>
            <a:off x="755650" y="177800"/>
            <a:ext cx="7051675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单链表的建立（尾插法）</a:t>
            </a:r>
          </a:p>
        </p:txBody>
      </p:sp>
      <p:sp>
        <p:nvSpPr>
          <p:cNvPr id="120836" name="Rectangle 8"/>
          <p:cNvSpPr>
            <a:spLocks noChangeArrowheads="1"/>
          </p:cNvSpPr>
          <p:nvPr/>
        </p:nvSpPr>
        <p:spPr bwMode="auto">
          <a:xfrm>
            <a:off x="0" y="2271713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5958" name="Object 7"/>
          <p:cNvGraphicFramePr/>
          <p:nvPr>
            <p:extLst>
              <p:ext uri="{D42A27DB-BD31-4B8C-83A1-F6EECF244321}">
                <p14:modId xmlns:p14="http://schemas.microsoft.com/office/powerpoint/2010/main" val="1673622123"/>
              </p:ext>
            </p:extLst>
          </p:nvPr>
        </p:nvGraphicFramePr>
        <p:xfrm>
          <a:off x="217488" y="3403349"/>
          <a:ext cx="8709024" cy="3384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4" r:id="rId3" imgW="5690235" imgH="1979295" progId="Word.Picture.8">
                  <p:embed/>
                </p:oleObj>
              </mc:Choice>
              <mc:Fallback>
                <p:oleObj r:id="rId3" imgW="5690235" imgH="1979295" progId="Word.Picture.8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rcRect l="3918" t="6793" r="5023" b="2919"/>
                      <a:stretch>
                        <a:fillRect/>
                      </a:stretch>
                    </p:blipFill>
                    <p:spPr>
                      <a:xfrm>
                        <a:off x="217488" y="3403349"/>
                        <a:ext cx="8709024" cy="338472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4"/>
          <p:cNvSpPr>
            <a:spLocks noChangeArrowheads="1"/>
          </p:cNvSpPr>
          <p:nvPr/>
        </p:nvSpPr>
        <p:spPr bwMode="auto">
          <a:xfrm>
            <a:off x="503548" y="980728"/>
            <a:ext cx="8136904" cy="56886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void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CreateListL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LinkList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&amp;L, int n) { </a:t>
            </a:r>
          </a:p>
          <a:p>
            <a:pPr marL="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L = new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LNode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    L-&gt;next = NULL; 	</a:t>
            </a:r>
          </a:p>
          <a:p>
            <a:pPr marL="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r = L; 	                                 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尾指针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指向头结点 </a:t>
            </a:r>
          </a:p>
          <a:p>
            <a:pPr marL="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for (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=0;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&lt;n; ++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{</a:t>
            </a:r>
          </a:p>
          <a:p>
            <a:pPr marL="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p = new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LNode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	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　	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生成新结点 </a:t>
            </a:r>
          </a:p>
          <a:p>
            <a:pPr marL="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cin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&gt;&gt; p-&gt;data;   		         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输入元素值 </a:t>
            </a:r>
          </a:p>
          <a:p>
            <a:pPr marL="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p-&gt;next = NULL;   r-&gt;next = p;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插入到表尾 </a:t>
            </a:r>
          </a:p>
          <a:p>
            <a:pPr marL="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 = p;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	                                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r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指向新的尾结点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</a:p>
          <a:p>
            <a:pPr marL="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</a:p>
          <a:p>
            <a:pPr marL="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CreateListL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755650" y="215900"/>
            <a:ext cx="7051675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单链表的建立（尾插法）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7"/>
          <p:cNvSpPr>
            <a:spLocks noChangeArrowheads="1"/>
          </p:cNvSpPr>
          <p:nvPr/>
        </p:nvSpPr>
        <p:spPr bwMode="auto">
          <a:xfrm>
            <a:off x="900113" y="163513"/>
            <a:ext cx="52197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链表的优缺点</a:t>
            </a:r>
          </a:p>
        </p:txBody>
      </p:sp>
      <p:sp>
        <p:nvSpPr>
          <p:cNvPr id="464901" name="Rectangle 5"/>
          <p:cNvSpPr>
            <a:spLocks noChangeArrowheads="1"/>
          </p:cNvSpPr>
          <p:nvPr/>
        </p:nvSpPr>
        <p:spPr bwMode="auto">
          <a:xfrm>
            <a:off x="353213" y="1011997"/>
            <a:ext cx="8556314" cy="2636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优点</a:t>
            </a:r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kumimoji="0" lang="zh-CN" altLang="en-US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时间：插入、删除等操作不必移动数据，只需修改链接指针，</a:t>
            </a:r>
            <a:r>
              <a:rPr kumimoji="0" lang="zh-CN" altLang="en-US" b="0" i="0" u="none" strike="noStrike" kern="120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修改效率较高</a:t>
            </a:r>
            <a:endParaRPr kumimoji="0" lang="en-US" altLang="zh-CN" b="0" i="0" u="none" strike="noStrike" kern="1200" cap="none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zh-CN" altLang="en-US" dirty="0">
                <a:cs typeface="+mn-ea"/>
                <a:sym typeface="+mn-lt"/>
              </a:rPr>
              <a:t>空间：数据元素的个数可以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自由扩充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DDF9F35D-73F2-43A3-9756-E0DB32B15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3789040"/>
            <a:ext cx="8615685" cy="260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缺点</a:t>
            </a:r>
          </a:p>
          <a:p>
            <a:pPr marL="342900" lvl="1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/>
            </a:pPr>
            <a:r>
              <a:rPr kumimoji="0" lang="zh-CN" altLang="en-US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时间：</a:t>
            </a:r>
            <a:r>
              <a:rPr kumimoji="0" lang="zh-CN" altLang="en-US" b="0" i="0" u="none" strike="noStrike" kern="120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存取效率不高</a:t>
            </a:r>
            <a:r>
              <a:rPr kumimoji="0" lang="zh-CN" altLang="en-US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，必须采用</a:t>
            </a:r>
            <a:r>
              <a:rPr kumimoji="0" lang="zh-CN" altLang="en-US" b="0" i="0" u="none" strike="noStrike" kern="120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顺序存取</a:t>
            </a:r>
            <a:r>
              <a:rPr kumimoji="0" lang="zh-CN" altLang="en-US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，即只能按链表的顺序进行访问</a:t>
            </a:r>
            <a:r>
              <a:rPr kumimoji="0" lang="zh-CN" altLang="en-US" b="0" i="0" u="none" strike="noStrike" kern="1200" cap="none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（顺藤摸瓜）</a:t>
            </a:r>
            <a:endParaRPr kumimoji="0" lang="en-US" altLang="zh-CN" b="0" i="0" u="none" strike="noStrike" kern="1200" cap="none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lvl="1" indent="-342900" eaLnBrk="1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/>
            </a:pPr>
            <a:r>
              <a:rPr lang="zh-CN" altLang="en-US" dirty="0">
                <a:cs typeface="+mn-ea"/>
                <a:sym typeface="+mn-lt"/>
              </a:rPr>
              <a:t>空间：</a:t>
            </a:r>
            <a:r>
              <a:rPr lang="zh-CN" altLang="en-US" dirty="0">
                <a:solidFill>
                  <a:srgbClr val="0000FF"/>
                </a:solidFill>
                <a:cs typeface="+mn-ea"/>
                <a:sym typeface="+mn-lt"/>
              </a:rPr>
              <a:t>存储密度小</a:t>
            </a:r>
          </a:p>
        </p:txBody>
      </p:sp>
    </p:spTree>
    <p:extLst>
      <p:ext uri="{BB962C8B-B14F-4D97-AF65-F5344CB8AC3E}">
        <p14:creationId xmlns:p14="http://schemas.microsoft.com/office/powerpoint/2010/main" val="185247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4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4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4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4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4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4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901" grpId="0" build="p" bldLvl="2"/>
      <p:bldP spid="14" grpId="0" build="p" bldLvl="2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97E672-F678-4686-BEB3-D742D183D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E6A6AF-4FDA-4486-B2C3-3CAE93AF4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设计一个算法，删除一个单链表 </a:t>
            </a:r>
            <a:r>
              <a:rPr lang="en-US" altLang="zh-CN" dirty="0"/>
              <a:t>L </a:t>
            </a:r>
            <a:r>
              <a:rPr lang="zh-CN" altLang="en-US" dirty="0"/>
              <a:t>中元素值最大的结点（假设最大值结点是唯一的）。</a:t>
            </a:r>
          </a:p>
        </p:txBody>
      </p:sp>
    </p:spTree>
    <p:extLst>
      <p:ext uri="{BB962C8B-B14F-4D97-AF65-F5344CB8AC3E}">
        <p14:creationId xmlns:p14="http://schemas.microsoft.com/office/powerpoint/2010/main" val="17232273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A4E5C7-7F1F-4255-B684-8F925A530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8CAEC6-0C8C-4D61-AF65-C304693E9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假设有一个带头结点的单链表 </a:t>
            </a:r>
            <a:r>
              <a:rPr lang="en-US" altLang="zh-CN" dirty="0"/>
              <a:t>L</a:t>
            </a:r>
            <a:r>
              <a:rPr lang="zh-CN" altLang="en-US" dirty="0"/>
              <a:t>，每个结点值是一个整数。设计一个算法将其拆分成 </a:t>
            </a:r>
            <a:r>
              <a:rPr lang="en-US" altLang="zh-CN" dirty="0"/>
              <a:t>2 </a:t>
            </a:r>
            <a:r>
              <a:rPr lang="zh-CN" altLang="en-US" dirty="0"/>
              <a:t>个带头结点的单链表 </a:t>
            </a:r>
            <a:r>
              <a:rPr lang="en-US" altLang="zh-CN" dirty="0"/>
              <a:t>L1 </a:t>
            </a:r>
            <a:r>
              <a:rPr lang="zh-CN" altLang="en-US" dirty="0"/>
              <a:t>和 </a:t>
            </a:r>
            <a:r>
              <a:rPr lang="en-US" altLang="zh-CN" dirty="0"/>
              <a:t>L2</a:t>
            </a:r>
            <a:r>
              <a:rPr lang="zh-CN" altLang="en-US" dirty="0"/>
              <a:t>，使得 </a:t>
            </a:r>
            <a:r>
              <a:rPr lang="en-US" altLang="zh-CN" dirty="0"/>
              <a:t>L1 </a:t>
            </a:r>
            <a:r>
              <a:rPr lang="zh-CN" altLang="en-US" dirty="0"/>
              <a:t>包含 </a:t>
            </a:r>
            <a:r>
              <a:rPr lang="en-US" altLang="zh-CN" dirty="0"/>
              <a:t>L </a:t>
            </a:r>
            <a:r>
              <a:rPr lang="zh-CN" altLang="en-US" dirty="0"/>
              <a:t>中所有奇数值结点，</a:t>
            </a:r>
            <a:r>
              <a:rPr lang="en-US" altLang="zh-CN" dirty="0"/>
              <a:t>L2 </a:t>
            </a:r>
            <a:r>
              <a:rPr lang="zh-CN" altLang="en-US" dirty="0"/>
              <a:t>包含 </a:t>
            </a:r>
            <a:r>
              <a:rPr lang="en-US" altLang="zh-CN" dirty="0"/>
              <a:t>L </a:t>
            </a:r>
            <a:r>
              <a:rPr lang="zh-CN" altLang="en-US" dirty="0"/>
              <a:t>中所有偶数值结点。</a:t>
            </a:r>
          </a:p>
        </p:txBody>
      </p:sp>
    </p:spTree>
    <p:extLst>
      <p:ext uri="{BB962C8B-B14F-4D97-AF65-F5344CB8AC3E}">
        <p14:creationId xmlns:p14="http://schemas.microsoft.com/office/powerpoint/2010/main" val="8938799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EFF0C8-540C-4A14-A7E5-09D54E5E2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作业要求示范：</a:t>
            </a:r>
            <a:r>
              <a:rPr lang="zh-CN" altLang="en-US" sz="2800" dirty="0">
                <a:ea typeface="仿宋_GB2312" pitchFamily="49" charset="-122"/>
              </a:rPr>
              <a:t>单链表运算例题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6C93AB-137C-478B-B868-3A4DFE797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880227"/>
            <a:ext cx="8407512" cy="5741816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已知一个带头结点的单链表，表头指针为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list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。请设计一个算法，查找链表中倒数第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k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个位置上的结点（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k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为正数）。若查找成功，算法输出该结点的数据域的值，并返回 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，否则只返回 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437908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EFF0C8-540C-4A14-A7E5-09D54E5E2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作业要求示范：</a:t>
            </a:r>
            <a:r>
              <a:rPr lang="zh-CN" altLang="en-US" sz="2800" dirty="0">
                <a:ea typeface="仿宋_GB2312" pitchFamily="49" charset="-122"/>
              </a:rPr>
              <a:t>单链表运算例题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6C93AB-137C-478B-B868-3A4DFE797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20080"/>
            <a:ext cx="8712968" cy="614283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</a:rPr>
              <a:t>先尽可能独立完成：</a:t>
            </a: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描述该算法的基本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设计思想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写出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实现代码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（关键处给出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简要注释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）或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伪码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对算法进行简要的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性能分析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</a:rPr>
              <a:t>再用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</a:rPr>
              <a:t>LLM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</a:rPr>
              <a:t> 完成：</a:t>
            </a: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给出和大语言模型对话的全过程，包括多次迭代。</a:t>
            </a:r>
            <a:endParaRPr lang="en-US" altLang="zh-CN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</a:rPr>
              <a:t>对比分析：</a:t>
            </a: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(5)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分析比较你的答案和用大语言模型得到的答案的优缺点，包括代码的简洁性</a:t>
            </a:r>
            <a:r>
              <a:rPr lang="zh-CN" altLang="en-US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和性能等方面。</a:t>
            </a:r>
            <a:endParaRPr lang="en-US" altLang="zh-CN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>
              <a:buFont typeface="+mj-lt"/>
              <a:buAutoNum type="arabicPeriod" startAt="3"/>
            </a:pP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07584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17954-F2F0-4F52-8C3B-F69CE8B9A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基本设计思想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EE0BD7-8BA7-4305-8589-7288E5550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" y="738735"/>
            <a:ext cx="8764463" cy="3693391"/>
          </a:xfrm>
        </p:spPr>
        <p:txBody>
          <a:bodyPr/>
          <a:lstStyle/>
          <a:p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(1) 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算法的基本设计思想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  <a:ea typeface="+mn-ea"/>
              </a:rPr>
              <a:t>定义两个指针 </a:t>
            </a:r>
            <a:r>
              <a:rPr lang="en-US" altLang="zh-CN" sz="2400" dirty="0">
                <a:latin typeface="+mn-ea"/>
                <a:ea typeface="+mn-ea"/>
              </a:rPr>
              <a:t>p </a:t>
            </a:r>
            <a:r>
              <a:rPr lang="zh-CN" altLang="en-US" sz="2400" dirty="0">
                <a:latin typeface="+mn-ea"/>
                <a:ea typeface="+mn-ea"/>
              </a:rPr>
              <a:t>和 </a:t>
            </a:r>
            <a:r>
              <a:rPr lang="en-US" altLang="zh-CN" sz="2400" dirty="0">
                <a:latin typeface="+mn-ea"/>
                <a:ea typeface="+mn-ea"/>
              </a:rPr>
              <a:t>q</a:t>
            </a:r>
            <a:r>
              <a:rPr lang="zh-CN" altLang="en-US" sz="2400" dirty="0">
                <a:latin typeface="+mn-ea"/>
                <a:ea typeface="+mn-ea"/>
              </a:rPr>
              <a:t>。指向链表第一个结点；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  <a:ea typeface="+mn-ea"/>
              </a:rPr>
              <a:t>让指针 </a:t>
            </a:r>
            <a:r>
              <a:rPr lang="en-US" altLang="zh-CN" sz="2400" dirty="0">
                <a:latin typeface="+mn-ea"/>
                <a:ea typeface="+mn-ea"/>
              </a:rPr>
              <a:t>p </a:t>
            </a:r>
            <a:r>
              <a:rPr lang="zh-CN" altLang="en-US" sz="2400" dirty="0">
                <a:latin typeface="+mn-ea"/>
                <a:ea typeface="+mn-ea"/>
              </a:rPr>
              <a:t>移动到链表第 </a:t>
            </a:r>
            <a:r>
              <a:rPr lang="en-US" altLang="zh-CN" sz="2400" dirty="0">
                <a:latin typeface="+mn-ea"/>
                <a:ea typeface="+mn-ea"/>
              </a:rPr>
              <a:t>k </a:t>
            </a:r>
            <a:r>
              <a:rPr lang="zh-CN" altLang="en-US" sz="2400" dirty="0">
                <a:latin typeface="+mn-ea"/>
                <a:ea typeface="+mn-ea"/>
              </a:rPr>
              <a:t>个结点；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  <a:ea typeface="+mn-ea"/>
              </a:rPr>
              <a:t>指针 </a:t>
            </a:r>
            <a:r>
              <a:rPr lang="en-US" altLang="zh-CN" sz="2400" dirty="0">
                <a:latin typeface="+mn-ea"/>
                <a:ea typeface="+mn-ea"/>
              </a:rPr>
              <a:t>q </a:t>
            </a:r>
            <a:r>
              <a:rPr lang="zh-CN" altLang="en-US" sz="2400" dirty="0">
                <a:latin typeface="+mn-ea"/>
                <a:ea typeface="+mn-ea"/>
              </a:rPr>
              <a:t>与指针 </a:t>
            </a:r>
            <a:r>
              <a:rPr lang="en-US" altLang="zh-CN" sz="2400" dirty="0">
                <a:latin typeface="+mn-ea"/>
                <a:ea typeface="+mn-ea"/>
              </a:rPr>
              <a:t>p </a:t>
            </a:r>
            <a:r>
              <a:rPr lang="zh-CN" altLang="en-US" sz="2400" dirty="0">
                <a:latin typeface="+mn-ea"/>
                <a:ea typeface="+mn-ea"/>
              </a:rPr>
              <a:t>同步移动，当指针 </a:t>
            </a:r>
            <a:r>
              <a:rPr lang="en-US" altLang="zh-CN" sz="2400" dirty="0">
                <a:latin typeface="+mn-ea"/>
                <a:ea typeface="+mn-ea"/>
              </a:rPr>
              <a:t>p </a:t>
            </a:r>
            <a:r>
              <a:rPr lang="zh-CN" altLang="en-US" sz="2400" dirty="0">
                <a:latin typeface="+mn-ea"/>
                <a:ea typeface="+mn-ea"/>
              </a:rPr>
              <a:t>移动到链表最后一个结点时，指针 </a:t>
            </a:r>
            <a:r>
              <a:rPr lang="en-US" altLang="zh-CN" sz="2400" dirty="0">
                <a:latin typeface="+mn-ea"/>
                <a:ea typeface="+mn-ea"/>
              </a:rPr>
              <a:t>q </a:t>
            </a:r>
            <a:r>
              <a:rPr lang="zh-CN" altLang="en-US" sz="2400" dirty="0">
                <a:latin typeface="+mn-ea"/>
                <a:ea typeface="+mn-ea"/>
              </a:rPr>
              <a:t>所指示的结点就是倒数第 </a:t>
            </a:r>
            <a:r>
              <a:rPr lang="en-US" altLang="zh-CN" sz="2400" dirty="0">
                <a:latin typeface="+mn-ea"/>
                <a:ea typeface="+mn-ea"/>
              </a:rPr>
              <a:t>k </a:t>
            </a:r>
            <a:r>
              <a:rPr lang="zh-CN" altLang="en-US" sz="2400" dirty="0">
                <a:latin typeface="+mn-ea"/>
                <a:ea typeface="+mn-ea"/>
              </a:rPr>
              <a:t>个结点的位置。</a:t>
            </a:r>
          </a:p>
          <a:p>
            <a:endParaRPr lang="zh-CN" altLang="en-US" dirty="0">
              <a:latin typeface="+mn-ea"/>
              <a:ea typeface="+mn-ea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15BB209-116F-43C6-97B4-A75D2D58B217}"/>
              </a:ext>
            </a:extLst>
          </p:cNvPr>
          <p:cNvGrpSpPr>
            <a:grpSpLocks/>
          </p:cNvGrpSpPr>
          <p:nvPr/>
        </p:nvGrpSpPr>
        <p:grpSpPr bwMode="auto">
          <a:xfrm>
            <a:off x="469900" y="4149080"/>
            <a:ext cx="8407400" cy="406400"/>
            <a:chOff x="424" y="592"/>
            <a:chExt cx="5296" cy="25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F06CF8-9B7C-4CAD-80EC-A37EDC8E7E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4" y="592"/>
              <a:ext cx="408" cy="256"/>
              <a:chOff x="664" y="592"/>
              <a:chExt cx="408" cy="256"/>
            </a:xfrm>
          </p:grpSpPr>
          <p:sp>
            <p:nvSpPr>
              <p:cNvPr id="35" name="Rectangle 5">
                <a:extLst>
                  <a:ext uri="{FF2B5EF4-FFF2-40B4-BE49-F238E27FC236}">
                    <a16:creationId xmlns:a16="http://schemas.microsoft.com/office/drawing/2014/main" id="{BD095168-DC0A-4002-A8A1-4C4590131AAB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solidFill>
                <a:schemeClr val="accent1">
                  <a:alpha val="24001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" name="Line 6">
                <a:extLst>
                  <a:ext uri="{FF2B5EF4-FFF2-40B4-BE49-F238E27FC236}">
                    <a16:creationId xmlns:a16="http://schemas.microsoft.com/office/drawing/2014/main" id="{6011DA5A-DCF2-44A8-8FA1-B1B3A84B6C55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" name="Line 7">
              <a:extLst>
                <a:ext uri="{FF2B5EF4-FFF2-40B4-BE49-F238E27FC236}">
                  <a16:creationId xmlns:a16="http://schemas.microsoft.com/office/drawing/2014/main" id="{57ECF063-0A83-4B8C-B227-004EE5CAB998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424" y="712"/>
              <a:ext cx="2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36760189-303C-4D48-BB7C-37A3910F235D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1008" y="712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8" name="Group 9">
              <a:extLst>
                <a:ext uri="{FF2B5EF4-FFF2-40B4-BE49-F238E27FC236}">
                  <a16:creationId xmlns:a16="http://schemas.microsoft.com/office/drawing/2014/main" id="{77CC0A5B-52FE-47AB-93CB-6EC7652D5B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0" y="592"/>
              <a:ext cx="408" cy="256"/>
              <a:chOff x="664" y="592"/>
              <a:chExt cx="408" cy="256"/>
            </a:xfrm>
          </p:grpSpPr>
          <p:sp>
            <p:nvSpPr>
              <p:cNvPr id="33" name="Rectangle 10">
                <a:extLst>
                  <a:ext uri="{FF2B5EF4-FFF2-40B4-BE49-F238E27FC236}">
                    <a16:creationId xmlns:a16="http://schemas.microsoft.com/office/drawing/2014/main" id="{C4141E90-25E3-4DBE-9789-F5FFF34BF5B2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" name="Line 11">
                <a:extLst>
                  <a:ext uri="{FF2B5EF4-FFF2-40B4-BE49-F238E27FC236}">
                    <a16:creationId xmlns:a16="http://schemas.microsoft.com/office/drawing/2014/main" id="{3583BAA0-5BCF-4674-873F-7559CDB2A3BF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9" name="Line 12">
              <a:extLst>
                <a:ext uri="{FF2B5EF4-FFF2-40B4-BE49-F238E27FC236}">
                  <a16:creationId xmlns:a16="http://schemas.microsoft.com/office/drawing/2014/main" id="{5FF0E8AB-88CB-407E-954F-317ACDD439A2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1664" y="712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0" name="Group 13">
              <a:extLst>
                <a:ext uri="{FF2B5EF4-FFF2-40B4-BE49-F238E27FC236}">
                  <a16:creationId xmlns:a16="http://schemas.microsoft.com/office/drawing/2014/main" id="{B484BFA8-1FD7-4D23-A3CD-1D4A35F652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592"/>
              <a:ext cx="408" cy="256"/>
              <a:chOff x="664" y="592"/>
              <a:chExt cx="408" cy="256"/>
            </a:xfrm>
          </p:grpSpPr>
          <p:sp>
            <p:nvSpPr>
              <p:cNvPr id="31" name="Rectangle 14">
                <a:extLst>
                  <a:ext uri="{FF2B5EF4-FFF2-40B4-BE49-F238E27FC236}">
                    <a16:creationId xmlns:a16="http://schemas.microsoft.com/office/drawing/2014/main" id="{D59918B8-7072-4EA3-B7A9-5BCB4770F410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" name="Line 15">
                <a:extLst>
                  <a:ext uri="{FF2B5EF4-FFF2-40B4-BE49-F238E27FC236}">
                    <a16:creationId xmlns:a16="http://schemas.microsoft.com/office/drawing/2014/main" id="{979343A3-0C98-4F76-8BD3-6E791394056F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" name="Line 16">
              <a:extLst>
                <a:ext uri="{FF2B5EF4-FFF2-40B4-BE49-F238E27FC236}">
                  <a16:creationId xmlns:a16="http://schemas.microsoft.com/office/drawing/2014/main" id="{81818D57-00C1-4A7B-A905-231C69648C3F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336" y="712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2" name="Group 17">
              <a:extLst>
                <a:ext uri="{FF2B5EF4-FFF2-40B4-BE49-F238E27FC236}">
                  <a16:creationId xmlns:a16="http://schemas.microsoft.com/office/drawing/2014/main" id="{1764289B-96F8-4B27-8E98-E840DB90E0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8" y="592"/>
              <a:ext cx="408" cy="256"/>
              <a:chOff x="664" y="592"/>
              <a:chExt cx="408" cy="256"/>
            </a:xfrm>
          </p:grpSpPr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A8CA4C12-B540-4027-AF97-A6013AD05F83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" name="Line 19">
                <a:extLst>
                  <a:ext uri="{FF2B5EF4-FFF2-40B4-BE49-F238E27FC236}">
                    <a16:creationId xmlns:a16="http://schemas.microsoft.com/office/drawing/2014/main" id="{69D123B1-0B58-4366-A9E6-09FCFE6381A7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" name="Line 20">
              <a:extLst>
                <a:ext uri="{FF2B5EF4-FFF2-40B4-BE49-F238E27FC236}">
                  <a16:creationId xmlns:a16="http://schemas.microsoft.com/office/drawing/2014/main" id="{6FC7AD13-9D3D-4042-A222-B6E223782E6B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992" y="712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" name="Group 21">
              <a:extLst>
                <a:ext uri="{FF2B5EF4-FFF2-40B4-BE49-F238E27FC236}">
                  <a16:creationId xmlns:a16="http://schemas.microsoft.com/office/drawing/2014/main" id="{EBE3B1DD-C511-4A5A-9808-FFBEEFCE57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0" y="592"/>
              <a:ext cx="408" cy="256"/>
              <a:chOff x="664" y="592"/>
              <a:chExt cx="408" cy="256"/>
            </a:xfrm>
          </p:grpSpPr>
          <p:sp>
            <p:nvSpPr>
              <p:cNvPr id="27" name="Rectangle 22">
                <a:extLst>
                  <a:ext uri="{FF2B5EF4-FFF2-40B4-BE49-F238E27FC236}">
                    <a16:creationId xmlns:a16="http://schemas.microsoft.com/office/drawing/2014/main" id="{B56F729A-86E8-4E75-845D-A1D5F9638910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" name="Line 23">
                <a:extLst>
                  <a:ext uri="{FF2B5EF4-FFF2-40B4-BE49-F238E27FC236}">
                    <a16:creationId xmlns:a16="http://schemas.microsoft.com/office/drawing/2014/main" id="{2FE6712F-E66D-4606-A099-C1C5092AB8EA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" name="Line 24">
              <a:extLst>
                <a:ext uri="{FF2B5EF4-FFF2-40B4-BE49-F238E27FC236}">
                  <a16:creationId xmlns:a16="http://schemas.microsoft.com/office/drawing/2014/main" id="{2BA9B5F5-70B1-465C-9C86-A4397AA1ADB9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3664" y="712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6" name="Group 25">
              <a:extLst>
                <a:ext uri="{FF2B5EF4-FFF2-40B4-BE49-F238E27FC236}">
                  <a16:creationId xmlns:a16="http://schemas.microsoft.com/office/drawing/2014/main" id="{DF15BBBC-FB7C-4FBE-ADE8-EFF2FE363E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592"/>
              <a:ext cx="408" cy="256"/>
              <a:chOff x="664" y="592"/>
              <a:chExt cx="408" cy="256"/>
            </a:xfrm>
          </p:grpSpPr>
          <p:sp>
            <p:nvSpPr>
              <p:cNvPr id="25" name="Rectangle 26">
                <a:extLst>
                  <a:ext uri="{FF2B5EF4-FFF2-40B4-BE49-F238E27FC236}">
                    <a16:creationId xmlns:a16="http://schemas.microsoft.com/office/drawing/2014/main" id="{19FF6215-E66F-44FD-A962-629DB62A9079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" name="Line 27">
                <a:extLst>
                  <a:ext uri="{FF2B5EF4-FFF2-40B4-BE49-F238E27FC236}">
                    <a16:creationId xmlns:a16="http://schemas.microsoft.com/office/drawing/2014/main" id="{8BC0A46C-FACC-40A9-858D-9DF0546D63C5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7" name="Line 28">
              <a:extLst>
                <a:ext uri="{FF2B5EF4-FFF2-40B4-BE49-F238E27FC236}">
                  <a16:creationId xmlns:a16="http://schemas.microsoft.com/office/drawing/2014/main" id="{D63596CE-D810-44B7-ACEE-448DDA8CBFE9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4328" y="712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8" name="Group 29">
              <a:extLst>
                <a:ext uri="{FF2B5EF4-FFF2-40B4-BE49-F238E27FC236}">
                  <a16:creationId xmlns:a16="http://schemas.microsoft.com/office/drawing/2014/main" id="{FC157D14-51EA-48BA-B3F0-5393D8E602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592"/>
              <a:ext cx="408" cy="256"/>
              <a:chOff x="664" y="592"/>
              <a:chExt cx="408" cy="256"/>
            </a:xfrm>
          </p:grpSpPr>
          <p:sp>
            <p:nvSpPr>
              <p:cNvPr id="23" name="Rectangle 30">
                <a:extLst>
                  <a:ext uri="{FF2B5EF4-FFF2-40B4-BE49-F238E27FC236}">
                    <a16:creationId xmlns:a16="http://schemas.microsoft.com/office/drawing/2014/main" id="{E487A12E-0F20-43D7-AE7D-5C37938AB563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Line 31">
                <a:extLst>
                  <a:ext uri="{FF2B5EF4-FFF2-40B4-BE49-F238E27FC236}">
                    <a16:creationId xmlns:a16="http://schemas.microsoft.com/office/drawing/2014/main" id="{906FA561-511F-4C8B-AD43-AB35F81D4D8D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9" name="Line 32">
              <a:extLst>
                <a:ext uri="{FF2B5EF4-FFF2-40B4-BE49-F238E27FC236}">
                  <a16:creationId xmlns:a16="http://schemas.microsoft.com/office/drawing/2014/main" id="{0B24BA39-7F5E-418F-A16E-9728F9188CBA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5000" y="712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0" name="Group 33">
              <a:extLst>
                <a:ext uri="{FF2B5EF4-FFF2-40B4-BE49-F238E27FC236}">
                  <a16:creationId xmlns:a16="http://schemas.microsoft.com/office/drawing/2014/main" id="{4324D441-E67D-4884-A88D-90BC0FACCE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12" y="592"/>
              <a:ext cx="408" cy="256"/>
              <a:chOff x="664" y="592"/>
              <a:chExt cx="408" cy="256"/>
            </a:xfrm>
          </p:grpSpPr>
          <p:sp>
            <p:nvSpPr>
              <p:cNvPr id="21" name="Rectangle 34">
                <a:extLst>
                  <a:ext uri="{FF2B5EF4-FFF2-40B4-BE49-F238E27FC236}">
                    <a16:creationId xmlns:a16="http://schemas.microsoft.com/office/drawing/2014/main" id="{FAD507C7-6601-4F3D-AA2E-464E660BC4B7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" name="Line 35">
                <a:extLst>
                  <a:ext uri="{FF2B5EF4-FFF2-40B4-BE49-F238E27FC236}">
                    <a16:creationId xmlns:a16="http://schemas.microsoft.com/office/drawing/2014/main" id="{48254E97-DDF7-4913-A7CD-234374CE640A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37" name="Text Box 36">
            <a:extLst>
              <a:ext uri="{FF2B5EF4-FFF2-40B4-BE49-F238E27FC236}">
                <a16:creationId xmlns:a16="http://schemas.microsoft.com/office/drawing/2014/main" id="{63AC1167-A423-4E1C-8184-EB3A1DF780EE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200025" y="4280843"/>
            <a:ext cx="5667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24001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91440" bIns="91440">
            <a:spAutoFit/>
          </a:bodyPr>
          <a:lstStyle/>
          <a:p>
            <a:r>
              <a:rPr lang="en-US" altLang="zh-CN" sz="2400" b="1" i="1">
                <a:latin typeface="Garamond" panose="02020404030301010803" pitchFamily="18" charset="0"/>
              </a:rPr>
              <a:t>list</a:t>
            </a:r>
          </a:p>
        </p:txBody>
      </p:sp>
      <p:sp>
        <p:nvSpPr>
          <p:cNvPr id="38" name="Text Box 37">
            <a:extLst>
              <a:ext uri="{FF2B5EF4-FFF2-40B4-BE49-F238E27FC236}">
                <a16:creationId xmlns:a16="http://schemas.microsoft.com/office/drawing/2014/main" id="{DDA60D37-BB5A-44BB-843D-42C5F47B15B4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4124325" y="4677718"/>
            <a:ext cx="15970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24001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1440" bIns="91440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仿宋_GB2312" pitchFamily="49" charset="-122"/>
              </a:rPr>
              <a:t>假定</a:t>
            </a:r>
            <a:r>
              <a:rPr lang="en-US" altLang="zh-CN" sz="2400" b="1">
                <a:latin typeface="Times New Roman" panose="02020603050405020304" pitchFamily="18" charset="0"/>
                <a:ea typeface="仿宋_GB2312" pitchFamily="49" charset="-122"/>
              </a:rPr>
              <a:t>k=3</a:t>
            </a:r>
          </a:p>
        </p:txBody>
      </p:sp>
      <p:sp>
        <p:nvSpPr>
          <p:cNvPr id="39" name="Line 38">
            <a:extLst>
              <a:ext uri="{FF2B5EF4-FFF2-40B4-BE49-F238E27FC236}">
                <a16:creationId xmlns:a16="http://schemas.microsoft.com/office/drawing/2014/main" id="{6E2AC260-D25A-4F23-A2DC-FC0C370041DC}"/>
              </a:ext>
            </a:extLst>
          </p:cNvPr>
          <p:cNvSpPr>
            <a:spLocks noChangeShapeType="1"/>
          </p:cNvSpPr>
          <p:nvPr/>
        </p:nvSpPr>
        <p:spPr bwMode="invGray">
          <a:xfrm flipV="1">
            <a:off x="1828800" y="4555480"/>
            <a:ext cx="279400" cy="3683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1440" bIns="91440" anchor="ctr">
            <a:spAutoFit/>
          </a:bodyPr>
          <a:lstStyle/>
          <a:p>
            <a:endParaRPr lang="zh-CN" altLang="en-US"/>
          </a:p>
        </p:txBody>
      </p:sp>
      <p:sp>
        <p:nvSpPr>
          <p:cNvPr id="40" name="Text Box 39">
            <a:extLst>
              <a:ext uri="{FF2B5EF4-FFF2-40B4-BE49-F238E27FC236}">
                <a16:creationId xmlns:a16="http://schemas.microsoft.com/office/drawing/2014/main" id="{C8DC2DD8-4A1E-4BA6-B8F3-CA1F6F9BDE6D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1508125" y="4601518"/>
            <a:ext cx="3365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24001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91440" bIns="91440">
            <a:spAutoFit/>
          </a:bodyPr>
          <a:lstStyle/>
          <a:p>
            <a:r>
              <a:rPr lang="en-US" altLang="zh-CN" sz="2400" b="1" i="1">
                <a:latin typeface="Times New Roman" panose="02020603050405020304" pitchFamily="18" charset="0"/>
                <a:ea typeface="仿宋_GB2312" pitchFamily="49" charset="-122"/>
              </a:rPr>
              <a:t>q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58BFA73-88CC-4413-A3C4-4A8B86A1BDED}"/>
              </a:ext>
            </a:extLst>
          </p:cNvPr>
          <p:cNvGrpSpPr>
            <a:grpSpLocks/>
          </p:cNvGrpSpPr>
          <p:nvPr/>
        </p:nvGrpSpPr>
        <p:grpSpPr bwMode="auto">
          <a:xfrm>
            <a:off x="1825625" y="4542780"/>
            <a:ext cx="600075" cy="620713"/>
            <a:chOff x="1150" y="672"/>
            <a:chExt cx="378" cy="391"/>
          </a:xfrm>
        </p:grpSpPr>
        <p:sp>
          <p:nvSpPr>
            <p:cNvPr id="42" name="Line 41">
              <a:extLst>
                <a:ext uri="{FF2B5EF4-FFF2-40B4-BE49-F238E27FC236}">
                  <a16:creationId xmlns:a16="http://schemas.microsoft.com/office/drawing/2014/main" id="{56519945-ED4D-498D-83E0-23BD3D452949}"/>
                </a:ext>
              </a:extLst>
            </p:cNvPr>
            <p:cNvSpPr>
              <a:spLocks noChangeShapeType="1"/>
            </p:cNvSpPr>
            <p:nvPr/>
          </p:nvSpPr>
          <p:spPr bwMode="invGray">
            <a:xfrm flipV="1">
              <a:off x="1352" y="672"/>
              <a:ext cx="176" cy="2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Text Box 42">
              <a:extLst>
                <a:ext uri="{FF2B5EF4-FFF2-40B4-BE49-F238E27FC236}">
                  <a16:creationId xmlns:a16="http://schemas.microsoft.com/office/drawing/2014/main" id="{C0EF9078-7AC0-4661-A81F-8EE23A59538A}"/>
                </a:ext>
              </a:extLst>
            </p:cNvPr>
            <p:cNvSpPr txBox="1">
              <a:spLocks noChangeArrowheads="1"/>
            </p:cNvSpPr>
            <p:nvPr/>
          </p:nvSpPr>
          <p:spPr bwMode="invGray">
            <a:xfrm>
              <a:off x="1150" y="717"/>
              <a:ext cx="21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24001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  <a:ea typeface="仿宋_GB2312" pitchFamily="49" charset="-122"/>
                </a:rPr>
                <a:t>p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BC18D02-3B30-4320-A736-A65FE71BEF5A}"/>
              </a:ext>
            </a:extLst>
          </p:cNvPr>
          <p:cNvGrpSpPr>
            <a:grpSpLocks/>
          </p:cNvGrpSpPr>
          <p:nvPr/>
        </p:nvGrpSpPr>
        <p:grpSpPr bwMode="auto">
          <a:xfrm>
            <a:off x="469900" y="5512296"/>
            <a:ext cx="8407400" cy="406400"/>
            <a:chOff x="424" y="592"/>
            <a:chExt cx="5296" cy="256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E894F00-7AF3-4EC1-8E3B-3CABE3AFD0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4" y="592"/>
              <a:ext cx="408" cy="256"/>
              <a:chOff x="664" y="592"/>
              <a:chExt cx="408" cy="256"/>
            </a:xfrm>
          </p:grpSpPr>
          <p:sp>
            <p:nvSpPr>
              <p:cNvPr id="75" name="Rectangle 45">
                <a:extLst>
                  <a:ext uri="{FF2B5EF4-FFF2-40B4-BE49-F238E27FC236}">
                    <a16:creationId xmlns:a16="http://schemas.microsoft.com/office/drawing/2014/main" id="{65526F90-CB82-4D1C-A3AD-536F6CE59D80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solidFill>
                <a:schemeClr val="accent1">
                  <a:alpha val="24001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6" name="Line 46">
                <a:extLst>
                  <a:ext uri="{FF2B5EF4-FFF2-40B4-BE49-F238E27FC236}">
                    <a16:creationId xmlns:a16="http://schemas.microsoft.com/office/drawing/2014/main" id="{CAA4F9C0-8E83-4070-8FA2-FDBCF4B821B1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6" name="Line 47">
              <a:extLst>
                <a:ext uri="{FF2B5EF4-FFF2-40B4-BE49-F238E27FC236}">
                  <a16:creationId xmlns:a16="http://schemas.microsoft.com/office/drawing/2014/main" id="{6E5BF510-AE49-4CD5-96B6-C6DAA0B3C488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424" y="712"/>
              <a:ext cx="2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48">
              <a:extLst>
                <a:ext uri="{FF2B5EF4-FFF2-40B4-BE49-F238E27FC236}">
                  <a16:creationId xmlns:a16="http://schemas.microsoft.com/office/drawing/2014/main" id="{2268AE2F-CA0C-46AC-8C2D-899874DAE36C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1008" y="712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8" name="Group 49">
              <a:extLst>
                <a:ext uri="{FF2B5EF4-FFF2-40B4-BE49-F238E27FC236}">
                  <a16:creationId xmlns:a16="http://schemas.microsoft.com/office/drawing/2014/main" id="{EFC20195-BBB6-4F5E-9D06-F782C7CB1A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0" y="592"/>
              <a:ext cx="408" cy="256"/>
              <a:chOff x="664" y="592"/>
              <a:chExt cx="408" cy="256"/>
            </a:xfrm>
          </p:grpSpPr>
          <p:sp>
            <p:nvSpPr>
              <p:cNvPr id="73" name="Rectangle 50">
                <a:extLst>
                  <a:ext uri="{FF2B5EF4-FFF2-40B4-BE49-F238E27FC236}">
                    <a16:creationId xmlns:a16="http://schemas.microsoft.com/office/drawing/2014/main" id="{7B40B07B-EA96-4C70-9314-BC3ECC9C0EF3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4" name="Line 51">
                <a:extLst>
                  <a:ext uri="{FF2B5EF4-FFF2-40B4-BE49-F238E27FC236}">
                    <a16:creationId xmlns:a16="http://schemas.microsoft.com/office/drawing/2014/main" id="{D1BBA7D2-C2B3-4421-8682-E368CCAE75C0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9" name="Line 52">
              <a:extLst>
                <a:ext uri="{FF2B5EF4-FFF2-40B4-BE49-F238E27FC236}">
                  <a16:creationId xmlns:a16="http://schemas.microsoft.com/office/drawing/2014/main" id="{037F1BA8-8848-4BD3-8252-3FCB68529EFE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1664" y="712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0" name="Group 53">
              <a:extLst>
                <a:ext uri="{FF2B5EF4-FFF2-40B4-BE49-F238E27FC236}">
                  <a16:creationId xmlns:a16="http://schemas.microsoft.com/office/drawing/2014/main" id="{CEC32240-2408-454A-80D9-673D217633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592"/>
              <a:ext cx="408" cy="256"/>
              <a:chOff x="664" y="592"/>
              <a:chExt cx="408" cy="256"/>
            </a:xfrm>
          </p:grpSpPr>
          <p:sp>
            <p:nvSpPr>
              <p:cNvPr id="71" name="Rectangle 54">
                <a:extLst>
                  <a:ext uri="{FF2B5EF4-FFF2-40B4-BE49-F238E27FC236}">
                    <a16:creationId xmlns:a16="http://schemas.microsoft.com/office/drawing/2014/main" id="{CBDB8886-876C-413F-BB3F-4904724F1D3F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" name="Line 55">
                <a:extLst>
                  <a:ext uri="{FF2B5EF4-FFF2-40B4-BE49-F238E27FC236}">
                    <a16:creationId xmlns:a16="http://schemas.microsoft.com/office/drawing/2014/main" id="{F4548CD0-C447-4929-8F6A-DFF32B93168A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1" name="Line 56">
              <a:extLst>
                <a:ext uri="{FF2B5EF4-FFF2-40B4-BE49-F238E27FC236}">
                  <a16:creationId xmlns:a16="http://schemas.microsoft.com/office/drawing/2014/main" id="{1E96FDDF-3AE2-49DE-BEFA-5F9F25A837EE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336" y="712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2" name="Group 57">
              <a:extLst>
                <a:ext uri="{FF2B5EF4-FFF2-40B4-BE49-F238E27FC236}">
                  <a16:creationId xmlns:a16="http://schemas.microsoft.com/office/drawing/2014/main" id="{7089EE9D-2006-4F4B-8A32-689B2FB254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8" y="592"/>
              <a:ext cx="408" cy="256"/>
              <a:chOff x="664" y="592"/>
              <a:chExt cx="408" cy="256"/>
            </a:xfrm>
          </p:grpSpPr>
          <p:sp>
            <p:nvSpPr>
              <p:cNvPr id="69" name="Rectangle 58">
                <a:extLst>
                  <a:ext uri="{FF2B5EF4-FFF2-40B4-BE49-F238E27FC236}">
                    <a16:creationId xmlns:a16="http://schemas.microsoft.com/office/drawing/2014/main" id="{70D0F1FC-12CF-4EBA-9334-667AF953562C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" name="Line 59">
                <a:extLst>
                  <a:ext uri="{FF2B5EF4-FFF2-40B4-BE49-F238E27FC236}">
                    <a16:creationId xmlns:a16="http://schemas.microsoft.com/office/drawing/2014/main" id="{93B054E7-D246-462C-A448-48159155ED14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3" name="Line 60">
              <a:extLst>
                <a:ext uri="{FF2B5EF4-FFF2-40B4-BE49-F238E27FC236}">
                  <a16:creationId xmlns:a16="http://schemas.microsoft.com/office/drawing/2014/main" id="{657473BD-BB53-4B11-95C7-06904332B9A7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992" y="712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4" name="Group 61">
              <a:extLst>
                <a:ext uri="{FF2B5EF4-FFF2-40B4-BE49-F238E27FC236}">
                  <a16:creationId xmlns:a16="http://schemas.microsoft.com/office/drawing/2014/main" id="{2F35520D-229B-4C27-897A-0493996F71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0" y="592"/>
              <a:ext cx="408" cy="256"/>
              <a:chOff x="664" y="592"/>
              <a:chExt cx="408" cy="256"/>
            </a:xfrm>
          </p:grpSpPr>
          <p:sp>
            <p:nvSpPr>
              <p:cNvPr id="67" name="Rectangle 62">
                <a:extLst>
                  <a:ext uri="{FF2B5EF4-FFF2-40B4-BE49-F238E27FC236}">
                    <a16:creationId xmlns:a16="http://schemas.microsoft.com/office/drawing/2014/main" id="{8C2703BE-08FD-43AA-90FD-0556E920F694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Line 63">
                <a:extLst>
                  <a:ext uri="{FF2B5EF4-FFF2-40B4-BE49-F238E27FC236}">
                    <a16:creationId xmlns:a16="http://schemas.microsoft.com/office/drawing/2014/main" id="{DB4527AB-D67D-488A-BD0E-17F2C72FCBDB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5" name="Line 64">
              <a:extLst>
                <a:ext uri="{FF2B5EF4-FFF2-40B4-BE49-F238E27FC236}">
                  <a16:creationId xmlns:a16="http://schemas.microsoft.com/office/drawing/2014/main" id="{FA9B1D6A-6BEC-4DFD-A172-1FEBC4605458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3664" y="712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6" name="Group 65">
              <a:extLst>
                <a:ext uri="{FF2B5EF4-FFF2-40B4-BE49-F238E27FC236}">
                  <a16:creationId xmlns:a16="http://schemas.microsoft.com/office/drawing/2014/main" id="{5895DD2F-8A77-42DB-82FD-80FFDCD47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592"/>
              <a:ext cx="408" cy="256"/>
              <a:chOff x="664" y="592"/>
              <a:chExt cx="408" cy="256"/>
            </a:xfrm>
          </p:grpSpPr>
          <p:sp>
            <p:nvSpPr>
              <p:cNvPr id="65" name="Rectangle 66">
                <a:extLst>
                  <a:ext uri="{FF2B5EF4-FFF2-40B4-BE49-F238E27FC236}">
                    <a16:creationId xmlns:a16="http://schemas.microsoft.com/office/drawing/2014/main" id="{7685BA6D-F4CC-4CFA-9C0C-FC38932C43C6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" name="Line 67">
                <a:extLst>
                  <a:ext uri="{FF2B5EF4-FFF2-40B4-BE49-F238E27FC236}">
                    <a16:creationId xmlns:a16="http://schemas.microsoft.com/office/drawing/2014/main" id="{24BE228B-7BC6-4F6D-A5BF-AC5A4DB5C8C0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7" name="Line 68">
              <a:extLst>
                <a:ext uri="{FF2B5EF4-FFF2-40B4-BE49-F238E27FC236}">
                  <a16:creationId xmlns:a16="http://schemas.microsoft.com/office/drawing/2014/main" id="{FB7BEC10-C0CC-4D12-B5C0-604FC877F718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4328" y="712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8" name="Group 69">
              <a:extLst>
                <a:ext uri="{FF2B5EF4-FFF2-40B4-BE49-F238E27FC236}">
                  <a16:creationId xmlns:a16="http://schemas.microsoft.com/office/drawing/2014/main" id="{D88582F2-9AA7-4819-8EB7-1339F46595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592"/>
              <a:ext cx="408" cy="256"/>
              <a:chOff x="664" y="592"/>
              <a:chExt cx="408" cy="256"/>
            </a:xfrm>
          </p:grpSpPr>
          <p:sp>
            <p:nvSpPr>
              <p:cNvPr id="63" name="Rectangle 70">
                <a:extLst>
                  <a:ext uri="{FF2B5EF4-FFF2-40B4-BE49-F238E27FC236}">
                    <a16:creationId xmlns:a16="http://schemas.microsoft.com/office/drawing/2014/main" id="{B2CCC16D-BA10-4435-9FD7-6E574E75411F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4" name="Line 71">
                <a:extLst>
                  <a:ext uri="{FF2B5EF4-FFF2-40B4-BE49-F238E27FC236}">
                    <a16:creationId xmlns:a16="http://schemas.microsoft.com/office/drawing/2014/main" id="{B08F37DD-F049-45D3-932B-F54B5719C4F9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9" name="Line 72">
              <a:extLst>
                <a:ext uri="{FF2B5EF4-FFF2-40B4-BE49-F238E27FC236}">
                  <a16:creationId xmlns:a16="http://schemas.microsoft.com/office/drawing/2014/main" id="{38E48639-0F9F-4EAA-9C07-CE1FFD22866D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5000" y="712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60" name="Group 73">
              <a:extLst>
                <a:ext uri="{FF2B5EF4-FFF2-40B4-BE49-F238E27FC236}">
                  <a16:creationId xmlns:a16="http://schemas.microsoft.com/office/drawing/2014/main" id="{63B164BF-718E-426E-BDA9-C48D4A936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12" y="592"/>
              <a:ext cx="408" cy="256"/>
              <a:chOff x="664" y="592"/>
              <a:chExt cx="408" cy="256"/>
            </a:xfrm>
          </p:grpSpPr>
          <p:sp>
            <p:nvSpPr>
              <p:cNvPr id="61" name="Rectangle 74">
                <a:extLst>
                  <a:ext uri="{FF2B5EF4-FFF2-40B4-BE49-F238E27FC236}">
                    <a16:creationId xmlns:a16="http://schemas.microsoft.com/office/drawing/2014/main" id="{992B1211-9CFB-4624-B8CE-58C4CE31C81D}"/>
                  </a:ext>
                </a:extLst>
              </p:cNvPr>
              <p:cNvSpPr>
                <a:spLocks noChangeArrowheads="1"/>
              </p:cNvSpPr>
              <p:nvPr/>
            </p:nvSpPr>
            <p:spPr bwMode="invGray">
              <a:xfrm>
                <a:off x="664" y="592"/>
                <a:ext cx="408" cy="25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2" name="Line 75">
                <a:extLst>
                  <a:ext uri="{FF2B5EF4-FFF2-40B4-BE49-F238E27FC236}">
                    <a16:creationId xmlns:a16="http://schemas.microsoft.com/office/drawing/2014/main" id="{FD26CBE9-37EA-4782-AF37-9CEA842C4DBD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>
                <a:off x="944" y="592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77" name="Text Box 76">
            <a:extLst>
              <a:ext uri="{FF2B5EF4-FFF2-40B4-BE49-F238E27FC236}">
                <a16:creationId xmlns:a16="http://schemas.microsoft.com/office/drawing/2014/main" id="{F9ECC7C4-5FA5-40F4-B94B-471376340F97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200025" y="5644059"/>
            <a:ext cx="5667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24001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91440" bIns="91440">
            <a:spAutoFit/>
          </a:bodyPr>
          <a:lstStyle/>
          <a:p>
            <a:r>
              <a:rPr lang="en-US" altLang="zh-CN" sz="2400" b="1" i="1">
                <a:latin typeface="Garamond" panose="02020404030301010803" pitchFamily="18" charset="0"/>
              </a:rPr>
              <a:t>list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0B99281-0940-4E1A-B680-AB7F9F430C34}"/>
              </a:ext>
            </a:extLst>
          </p:cNvPr>
          <p:cNvGrpSpPr>
            <a:grpSpLocks/>
          </p:cNvGrpSpPr>
          <p:nvPr/>
        </p:nvGrpSpPr>
        <p:grpSpPr bwMode="auto">
          <a:xfrm>
            <a:off x="1457325" y="5905996"/>
            <a:ext cx="2759075" cy="620713"/>
            <a:chOff x="918" y="1440"/>
            <a:chExt cx="1738" cy="39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B0A7CCAE-659F-4B7F-8F3D-62200470C9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8" y="1448"/>
              <a:ext cx="378" cy="375"/>
              <a:chOff x="3622" y="1448"/>
              <a:chExt cx="378" cy="375"/>
            </a:xfrm>
          </p:grpSpPr>
          <p:sp>
            <p:nvSpPr>
              <p:cNvPr id="83" name="Line 79">
                <a:extLst>
                  <a:ext uri="{FF2B5EF4-FFF2-40B4-BE49-F238E27FC236}">
                    <a16:creationId xmlns:a16="http://schemas.microsoft.com/office/drawing/2014/main" id="{93D32DF3-F996-413C-A852-2CABE1653CC9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 flipV="1">
                <a:off x="3824" y="1448"/>
                <a:ext cx="176" cy="2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4" name="Text Box 80">
                <a:extLst>
                  <a:ext uri="{FF2B5EF4-FFF2-40B4-BE49-F238E27FC236}">
                    <a16:creationId xmlns:a16="http://schemas.microsoft.com/office/drawing/2014/main" id="{4C061F86-47A1-49DD-B48D-C43322CACD50}"/>
                  </a:ext>
                </a:extLst>
              </p:cNvPr>
              <p:cNvSpPr txBox="1">
                <a:spLocks noChangeArrowheads="1"/>
              </p:cNvSpPr>
              <p:nvPr/>
            </p:nvSpPr>
            <p:spPr bwMode="invGray">
              <a:xfrm>
                <a:off x="3622" y="1477"/>
                <a:ext cx="212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>
                <a:spAutoFit/>
              </a:bodyPr>
              <a:lstStyle/>
              <a:p>
                <a:r>
                  <a:rPr lang="en-US" altLang="zh-CN" sz="2400" b="1" i="1">
                    <a:latin typeface="Times New Roman" panose="02020603050405020304" pitchFamily="18" charset="0"/>
                    <a:ea typeface="仿宋_GB2312" pitchFamily="49" charset="-122"/>
                  </a:rPr>
                  <a:t>q</a:t>
                </a:r>
              </a:p>
            </p:txBody>
          </p:sp>
        </p:grpSp>
        <p:grpSp>
          <p:nvGrpSpPr>
            <p:cNvPr id="80" name="Group 81">
              <a:extLst>
                <a:ext uri="{FF2B5EF4-FFF2-40B4-BE49-F238E27FC236}">
                  <a16:creationId xmlns:a16="http://schemas.microsoft.com/office/drawing/2014/main" id="{0D6D4E26-809D-458F-8C5E-681C7966BB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8" y="1440"/>
              <a:ext cx="378" cy="391"/>
              <a:chOff x="4982" y="1440"/>
              <a:chExt cx="378" cy="391"/>
            </a:xfrm>
          </p:grpSpPr>
          <p:sp>
            <p:nvSpPr>
              <p:cNvPr id="81" name="Line 82">
                <a:extLst>
                  <a:ext uri="{FF2B5EF4-FFF2-40B4-BE49-F238E27FC236}">
                    <a16:creationId xmlns:a16="http://schemas.microsoft.com/office/drawing/2014/main" id="{01C37B51-DED5-4A3C-BDDF-CD4AF754023F}"/>
                  </a:ext>
                </a:extLst>
              </p:cNvPr>
              <p:cNvSpPr>
                <a:spLocks noChangeShapeType="1"/>
              </p:cNvSpPr>
              <p:nvPr/>
            </p:nvSpPr>
            <p:spPr bwMode="invGray">
              <a:xfrm flipV="1">
                <a:off x="5184" y="1440"/>
                <a:ext cx="176" cy="2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2" name="Text Box 83">
                <a:extLst>
                  <a:ext uri="{FF2B5EF4-FFF2-40B4-BE49-F238E27FC236}">
                    <a16:creationId xmlns:a16="http://schemas.microsoft.com/office/drawing/2014/main" id="{E49246A4-2048-45EF-A07C-3DB268175370}"/>
                  </a:ext>
                </a:extLst>
              </p:cNvPr>
              <p:cNvSpPr txBox="1">
                <a:spLocks noChangeArrowheads="1"/>
              </p:cNvSpPr>
              <p:nvPr/>
            </p:nvSpPr>
            <p:spPr bwMode="invGray">
              <a:xfrm>
                <a:off x="4982" y="1485"/>
                <a:ext cx="212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24001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>
                <a:spAutoFit/>
              </a:bodyPr>
              <a:lstStyle/>
              <a:p>
                <a:r>
                  <a:rPr lang="en-US" altLang="zh-CN" sz="2400" b="1" i="1">
                    <a:latin typeface="Times New Roman" panose="02020603050405020304" pitchFamily="18" charset="0"/>
                    <a:ea typeface="仿宋_GB2312" pitchFamily="49" charset="-122"/>
                  </a:rPr>
                  <a:t>p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709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1.11111E-6 L 0.20416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08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 L 0.47778 0.0018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89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8B4D-3E83-4193-A856-BB8BF2DF0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算法的实现代码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2EDB4F-6F63-4B8B-BFDD-B7F9198F0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4704"/>
            <a:ext cx="8229600" cy="573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r"/>
              <a:defRPr sz="2800" b="1" kern="120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Ø"/>
              <a:defRPr sz="2800" b="1" kern="120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cs typeface="+mn-cs"/>
              </a:rPr>
              <a:t>(2) 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cs typeface="+mn-cs"/>
              </a:rPr>
              <a:t>用某种程序设计语言或者伪码描述算法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0" dirty="0">
                <a:solidFill>
                  <a:srgbClr val="0033CC"/>
                </a:solidFill>
                <a:latin typeface="+mn-ea"/>
              </a:rPr>
              <a:t>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typedef int Type;</a:t>
            </a:r>
            <a:r>
              <a:rPr lang="en-US" altLang="zh-CN" sz="2400" b="0" dirty="0">
                <a:solidFill>
                  <a:srgbClr val="CC0000"/>
                </a:solidFill>
                <a:latin typeface="+mn-ea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链表数据的类型定义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0" dirty="0">
                <a:solidFill>
                  <a:srgbClr val="CC0000"/>
                </a:solidFill>
                <a:latin typeface="+mn-ea"/>
              </a:rPr>
              <a:t>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typedef struct {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链表结点定义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0" dirty="0">
                <a:solidFill>
                  <a:srgbClr val="CC0000"/>
                </a:solidFill>
                <a:latin typeface="+mn-ea"/>
              </a:rPr>
              <a:t>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Type data;		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结点数据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0" dirty="0">
                <a:solidFill>
                  <a:srgbClr val="CC0000"/>
                </a:solidFill>
                <a:latin typeface="+mn-ea"/>
              </a:rPr>
              <a:t>            </a:t>
            </a:r>
            <a:r>
              <a:rPr lang="en-US" altLang="zh-CN" sz="2400" b="0" dirty="0">
                <a:solidFill>
                  <a:srgbClr val="CC0000"/>
                </a:solidFill>
                <a:latin typeface="+mn-ea"/>
              </a:rPr>
              <a:t>s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truct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ListNode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 *link;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结点链接指针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0" dirty="0">
                <a:solidFill>
                  <a:srgbClr val="CC0000"/>
                </a:solidFill>
                <a:latin typeface="+mn-ea"/>
              </a:rPr>
              <a:t>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}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ListNode</a:t>
            </a:r>
            <a:r>
              <a:rPr lang="en-US" altLang="zh-CN" sz="2400" b="0" dirty="0">
                <a:solidFill>
                  <a:srgbClr val="CC0000"/>
                </a:solidFill>
                <a:latin typeface="+mn-ea"/>
              </a:rPr>
              <a:t>,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 *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LinkList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0" dirty="0">
                <a:solidFill>
                  <a:srgbClr val="0033CC"/>
                </a:solidFill>
                <a:latin typeface="+mn-ea"/>
              </a:rPr>
              <a:t>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int Search-K (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LinkList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 list, int k ) {	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0" dirty="0">
                <a:solidFill>
                  <a:srgbClr val="CC0000"/>
                </a:solidFill>
                <a:latin typeface="+mn-ea"/>
              </a:rPr>
              <a:t>     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ListNode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 *p = list-&gt;link;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0" dirty="0">
                <a:solidFill>
                  <a:srgbClr val="CC0000"/>
                </a:solidFill>
                <a:latin typeface="+mn-ea"/>
              </a:rPr>
              <a:t>     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ListNode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 *q = list-&gt;link;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0" dirty="0">
                <a:solidFill>
                  <a:srgbClr val="CC0000"/>
                </a:solidFill>
                <a:latin typeface="+mn-ea"/>
              </a:rPr>
              <a:t>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int count = 1;</a:t>
            </a:r>
          </a:p>
        </p:txBody>
      </p:sp>
    </p:spTree>
    <p:extLst>
      <p:ext uri="{BB962C8B-B14F-4D97-AF65-F5344CB8AC3E}">
        <p14:creationId xmlns:p14="http://schemas.microsoft.com/office/powerpoint/2010/main" val="19959042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85080-C009-4928-AD57-3762B937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算法的实现代码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D469196-7419-4298-A904-FEF621FD5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826081"/>
            <a:ext cx="8424936" cy="579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r"/>
              <a:defRPr sz="2800" b="1" kern="120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Ø"/>
              <a:defRPr sz="2800" b="1" kern="120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0" dirty="0">
                <a:solidFill>
                  <a:srgbClr val="0033CC"/>
                </a:solidFill>
                <a:latin typeface="+mn-ea"/>
              </a:rPr>
              <a:t>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while ( p-&gt;link != NULL &amp;&amp; count &lt; k ) {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0" dirty="0">
                <a:solidFill>
                  <a:srgbClr val="CC0000"/>
                </a:solidFill>
                <a:latin typeface="+mn-ea"/>
              </a:rPr>
              <a:t> 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p = p-&gt;link;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count++;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// p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移到第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k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个结点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0" dirty="0">
                <a:solidFill>
                  <a:srgbClr val="006600"/>
                </a:solidFill>
                <a:latin typeface="+mn-ea"/>
              </a:rPr>
              <a:t>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0" dirty="0">
                <a:solidFill>
                  <a:srgbClr val="006600"/>
                </a:solidFill>
                <a:latin typeface="+mn-ea"/>
              </a:rPr>
              <a:t>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if ( count &lt; k ) return 0;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查找失败返回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0" dirty="0">
                <a:solidFill>
                  <a:srgbClr val="CC0000"/>
                </a:solidFill>
                <a:latin typeface="+mn-ea"/>
              </a:rPr>
              <a:t>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while ( p-&gt;link != NULL ) {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//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q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同步移动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0" dirty="0">
                <a:solidFill>
                  <a:srgbClr val="CC0000"/>
                </a:solidFill>
                <a:latin typeface="+mn-ea"/>
              </a:rPr>
              <a:t> 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p = p-&gt;link;  q = q-&gt;link;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0" dirty="0">
                <a:solidFill>
                  <a:srgbClr val="CC0000"/>
                </a:solidFill>
                <a:latin typeface="+mn-ea"/>
              </a:rPr>
              <a:t>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0" dirty="0">
                <a:solidFill>
                  <a:srgbClr val="CC0000"/>
                </a:solidFill>
                <a:latin typeface="+mn-ea"/>
              </a:rPr>
              <a:t>     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printf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 (“%d”, q-&gt;data );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打印并返回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            return 1;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  <a:cs typeface="+mn-cs"/>
              </a:rPr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4655806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80CA5-7021-464B-8818-93C1694E0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算法的性能分析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0453BB-36AC-464D-A2AE-26C15721D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(3)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时间复杂度分析</a:t>
            </a:r>
          </a:p>
          <a:p>
            <a:r>
              <a:rPr lang="zh-CN" altLang="en-US" dirty="0">
                <a:latin typeface="+mn-ea"/>
                <a:ea typeface="+mn-ea"/>
              </a:rPr>
              <a:t>    算法需要遍历一遍链表中的所有节点，时间复杂度为 </a:t>
            </a:r>
            <a:r>
              <a:rPr lang="en-US" altLang="zh-CN" dirty="0">
                <a:latin typeface="+mn-ea"/>
                <a:ea typeface="+mn-ea"/>
              </a:rPr>
              <a:t>O(n)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en-US" altLang="zh-CN" dirty="0">
                <a:latin typeface="+mn-ea"/>
                <a:ea typeface="+mn-ea"/>
              </a:rPr>
              <a:t>n </a:t>
            </a:r>
            <a:r>
              <a:rPr lang="zh-CN" altLang="en-US" dirty="0">
                <a:latin typeface="+mn-ea"/>
                <a:ea typeface="+mn-ea"/>
              </a:rPr>
              <a:t>为链表长度。</a:t>
            </a:r>
          </a:p>
        </p:txBody>
      </p:sp>
    </p:spTree>
    <p:extLst>
      <p:ext uri="{BB962C8B-B14F-4D97-AF65-F5344CB8AC3E}">
        <p14:creationId xmlns:p14="http://schemas.microsoft.com/office/powerpoint/2010/main" val="14211174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线性表的类型定义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线性表的顺序表示和实现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线性表的链式表示和实现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线性链表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循环链表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双向链表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一元多项式的表示及相加</a:t>
            </a:r>
          </a:p>
        </p:txBody>
      </p:sp>
    </p:spTree>
    <p:extLst>
      <p:ext uri="{BB962C8B-B14F-4D97-AF65-F5344CB8AC3E}">
        <p14:creationId xmlns:p14="http://schemas.microsoft.com/office/powerpoint/2010/main" val="2215981991"/>
      </p:ext>
    </p:extLst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矩形 2"/>
          <p:cNvSpPr/>
          <p:nvPr/>
        </p:nvSpPr>
        <p:spPr>
          <a:xfrm>
            <a:off x="0" y="2565549"/>
            <a:ext cx="9144000" cy="3887787"/>
          </a:xfrm>
          <a:prstGeom prst="rect">
            <a:avLst/>
          </a:prstGeom>
          <a:solidFill>
            <a:srgbClr val="D2D2F4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仿宋_GB2312" pitchFamily="49" charset="-122"/>
              <a:cs typeface="+mn-cs"/>
            </a:endParaRPr>
          </a:p>
        </p:txBody>
      </p:sp>
      <p:sp>
        <p:nvSpPr>
          <p:cNvPr id="122882" name="Rectangle 4"/>
          <p:cNvSpPr>
            <a:spLocks noChangeArrowheads="1"/>
          </p:cNvSpPr>
          <p:nvPr/>
        </p:nvSpPr>
        <p:spPr bwMode="auto">
          <a:xfrm>
            <a:off x="889000" y="139700"/>
            <a:ext cx="71643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循环链表</a:t>
            </a:r>
          </a:p>
        </p:txBody>
      </p:sp>
      <p:grpSp>
        <p:nvGrpSpPr>
          <p:cNvPr id="2" name="Group 7"/>
          <p:cNvGrpSpPr/>
          <p:nvPr/>
        </p:nvGrpSpPr>
        <p:grpSpPr>
          <a:xfrm>
            <a:off x="4068763" y="5262711"/>
            <a:ext cx="4456112" cy="850900"/>
            <a:chOff x="2329" y="3312"/>
            <a:chExt cx="2807" cy="536"/>
          </a:xfrm>
        </p:grpSpPr>
        <p:sp>
          <p:nvSpPr>
            <p:cNvPr id="122896" name="Text Box 8"/>
            <p:cNvSpPr txBox="1">
              <a:spLocks noChangeArrowheads="1"/>
            </p:cNvSpPr>
            <p:nvPr/>
          </p:nvSpPr>
          <p:spPr bwMode="auto">
            <a:xfrm>
              <a:off x="3024" y="3312"/>
              <a:ext cx="2112" cy="536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miter lim="800000"/>
            </a:ln>
          </p:spPr>
          <p:txBody>
            <a:bodyPr anchor="ctr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L-&gt;next = L</a:t>
              </a:r>
              <a:endPara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2897" name="Line 9"/>
            <p:cNvSpPr>
              <a:spLocks noChangeShapeType="1"/>
            </p:cNvSpPr>
            <p:nvPr/>
          </p:nvSpPr>
          <p:spPr bwMode="auto">
            <a:xfrm flipH="1" flipV="1">
              <a:off x="2329" y="3427"/>
              <a:ext cx="641" cy="168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12F27B6D-8330-4B00-9745-2CA7950ACDB7}"/>
              </a:ext>
            </a:extLst>
          </p:cNvPr>
          <p:cNvSpPr txBox="1"/>
          <p:nvPr/>
        </p:nvSpPr>
        <p:spPr>
          <a:xfrm>
            <a:off x="179512" y="949629"/>
            <a:ext cx="8784976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循环链表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是一种头尾相接的链表。链表中尾节点的指针域指向头节点，构成一个环。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376549C-0C8D-4B34-A4E3-0F27B1B0F104}"/>
              </a:ext>
            </a:extLst>
          </p:cNvPr>
          <p:cNvGrpSpPr/>
          <p:nvPr/>
        </p:nvGrpSpPr>
        <p:grpSpPr>
          <a:xfrm>
            <a:off x="903288" y="2797324"/>
            <a:ext cx="7620000" cy="1508125"/>
            <a:chOff x="903288" y="2797324"/>
            <a:chExt cx="7620000" cy="1508125"/>
          </a:xfrm>
        </p:grpSpPr>
        <p:grpSp>
          <p:nvGrpSpPr>
            <p:cNvPr id="128005" name="Group 10"/>
            <p:cNvGrpSpPr/>
            <p:nvPr/>
          </p:nvGrpSpPr>
          <p:grpSpPr>
            <a:xfrm>
              <a:off x="903288" y="2797324"/>
              <a:ext cx="7620000" cy="1508125"/>
              <a:chOff x="432" y="436"/>
              <a:chExt cx="4800" cy="950"/>
            </a:xfrm>
          </p:grpSpPr>
          <p:grpSp>
            <p:nvGrpSpPr>
              <p:cNvPr id="128017" name="Group 11"/>
              <p:cNvGrpSpPr/>
              <p:nvPr/>
            </p:nvGrpSpPr>
            <p:grpSpPr>
              <a:xfrm>
                <a:off x="432" y="436"/>
                <a:ext cx="4800" cy="950"/>
                <a:chOff x="432" y="1248"/>
                <a:chExt cx="4800" cy="950"/>
              </a:xfrm>
            </p:grpSpPr>
            <p:graphicFrame>
              <p:nvGraphicFramePr>
                <p:cNvPr id="128019" name="Object 12"/>
                <p:cNvGraphicFramePr/>
                <p:nvPr/>
              </p:nvGraphicFramePr>
              <p:xfrm>
                <a:off x="432" y="1248"/>
                <a:ext cx="4800" cy="56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608" r:id="rId3" imgW="5096510" imgH="595630" progId="Visio.Drawing.11">
                        <p:embed/>
                      </p:oleObj>
                    </mc:Choice>
                    <mc:Fallback>
                      <p:oleObj r:id="rId3" imgW="5096510" imgH="595630" progId="Visio.Drawing.11">
                        <p:embed/>
                        <p:pic>
                          <p:nvPicPr>
                            <p:cNvPr id="128019" name="Object 12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32" y="1248"/>
                              <a:ext cx="4800" cy="561"/>
                            </a:xfrm>
                            <a:prstGeom prst="rect">
                              <a:avLst/>
                            </a:prstGeom>
                            <a:solidFill>
                              <a:srgbClr val="D2D2F4"/>
                            </a:solidFill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2895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32" y="1907"/>
                  <a:ext cx="1931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30000"/>
                    </a:lnSpc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/>
                      <a:ea typeface="Microsoft YaHei"/>
                      <a:cs typeface="+mn-ea"/>
                      <a:sym typeface="+mn-lt"/>
                    </a:rPr>
                    <a:t>(a) </a:t>
                  </a:r>
                  <a:r>
                    <a:rPr kumimoji="0" lang="zh-CN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/>
                      <a:ea typeface="Microsoft YaHei"/>
                      <a:cs typeface="+mn-ea"/>
                      <a:sym typeface="+mn-lt"/>
                    </a:rPr>
                    <a:t>非空单向循环链表</a:t>
                  </a:r>
                </a:p>
              </p:txBody>
            </p:sp>
          </p:grpSp>
          <p:sp>
            <p:nvSpPr>
              <p:cNvPr id="122893" name="Text Box 14"/>
              <p:cNvSpPr txBox="1">
                <a:spLocks noChangeArrowheads="1"/>
              </p:cNvSpPr>
              <p:nvPr/>
            </p:nvSpPr>
            <p:spPr bwMode="auto">
              <a:xfrm>
                <a:off x="475" y="602"/>
                <a:ext cx="182" cy="288"/>
              </a:xfrm>
              <a:prstGeom prst="rect">
                <a:avLst/>
              </a:prstGeom>
              <a:solidFill>
                <a:srgbClr val="D2D2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 marL="342900" indent="-342900"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L</a:t>
                </a:r>
              </a:p>
            </p:txBody>
          </p:sp>
        </p:grp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2306303B-771C-4B1D-AEEA-D6068505758D}"/>
                </a:ext>
              </a:extLst>
            </p:cNvPr>
            <p:cNvCxnSpPr/>
            <p:nvPr/>
          </p:nvCxnSpPr>
          <p:spPr bwMode="auto">
            <a:xfrm>
              <a:off x="1907704" y="3389672"/>
              <a:ext cx="249709" cy="0"/>
            </a:xfrm>
            <a:prstGeom prst="straightConnector1">
              <a:avLst/>
            </a:prstGeom>
            <a:ln>
              <a:headEnd type="none" w="med" len="med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FAA55AA-0FAF-422C-B932-57CCF743DA35}"/>
              </a:ext>
            </a:extLst>
          </p:cNvPr>
          <p:cNvGrpSpPr/>
          <p:nvPr/>
        </p:nvGrpSpPr>
        <p:grpSpPr>
          <a:xfrm>
            <a:off x="903288" y="4753123"/>
            <a:ext cx="2998787" cy="1508125"/>
            <a:chOff x="903288" y="4753123"/>
            <a:chExt cx="2998787" cy="1508125"/>
          </a:xfrm>
        </p:grpSpPr>
        <p:grpSp>
          <p:nvGrpSpPr>
            <p:cNvPr id="128006" name="Group 15"/>
            <p:cNvGrpSpPr/>
            <p:nvPr/>
          </p:nvGrpSpPr>
          <p:grpSpPr>
            <a:xfrm>
              <a:off x="903288" y="4753123"/>
              <a:ext cx="2998787" cy="1508125"/>
              <a:chOff x="432" y="1537"/>
              <a:chExt cx="1889" cy="950"/>
            </a:xfrm>
          </p:grpSpPr>
          <p:grpSp>
            <p:nvGrpSpPr>
              <p:cNvPr id="128013" name="Group 16"/>
              <p:cNvGrpSpPr/>
              <p:nvPr/>
            </p:nvGrpSpPr>
            <p:grpSpPr>
              <a:xfrm>
                <a:off x="432" y="1537"/>
                <a:ext cx="1889" cy="950"/>
                <a:chOff x="432" y="2640"/>
                <a:chExt cx="1889" cy="950"/>
              </a:xfrm>
            </p:grpSpPr>
            <p:graphicFrame>
              <p:nvGraphicFramePr>
                <p:cNvPr id="128015" name="Object 17"/>
                <p:cNvGraphicFramePr/>
                <p:nvPr/>
              </p:nvGraphicFramePr>
              <p:xfrm>
                <a:off x="432" y="2640"/>
                <a:ext cx="1889" cy="60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609" r:id="rId5" imgW="1856105" imgH="595630" progId="Visio.Drawing.11">
                        <p:embed/>
                      </p:oleObj>
                    </mc:Choice>
                    <mc:Fallback>
                      <p:oleObj r:id="rId5" imgW="1856105" imgH="595630" progId="Visio.Drawing.11">
                        <p:embed/>
                        <p:pic>
                          <p:nvPicPr>
                            <p:cNvPr id="128015" name="Object 17"/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32" y="2640"/>
                              <a:ext cx="1889" cy="606"/>
                            </a:xfrm>
                            <a:prstGeom prst="rect">
                              <a:avLst/>
                            </a:prstGeom>
                            <a:solidFill>
                              <a:srgbClr val="D2D2F4"/>
                            </a:solidFill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2891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432" y="3299"/>
                  <a:ext cx="790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30000"/>
                    </a:lnSpc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/>
                      <a:ea typeface="Microsoft YaHei"/>
                      <a:cs typeface="+mn-ea"/>
                      <a:sym typeface="+mn-lt"/>
                    </a:rPr>
                    <a:t>(b) </a:t>
                  </a:r>
                  <a:r>
                    <a:rPr kumimoji="0" lang="zh-CN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/>
                      <a:ea typeface="Microsoft YaHei"/>
                      <a:cs typeface="+mn-ea"/>
                      <a:sym typeface="+mn-lt"/>
                    </a:rPr>
                    <a:t>空表</a:t>
                  </a:r>
                </a:p>
              </p:txBody>
            </p:sp>
          </p:grpSp>
          <p:sp>
            <p:nvSpPr>
              <p:cNvPr id="122889" name="Text Box 19"/>
              <p:cNvSpPr txBox="1">
                <a:spLocks noChangeArrowheads="1"/>
              </p:cNvSpPr>
              <p:nvPr/>
            </p:nvSpPr>
            <p:spPr bwMode="auto">
              <a:xfrm>
                <a:off x="521" y="1733"/>
                <a:ext cx="182" cy="288"/>
              </a:xfrm>
              <a:prstGeom prst="rect">
                <a:avLst/>
              </a:prstGeom>
              <a:solidFill>
                <a:srgbClr val="D2D2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 marL="342900" indent="-342900"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L</a:t>
                </a:r>
              </a:p>
            </p:txBody>
          </p:sp>
        </p:grp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A1896C62-2EA4-47CD-BE0B-F710038FF4A2}"/>
                </a:ext>
              </a:extLst>
            </p:cNvPr>
            <p:cNvCxnSpPr/>
            <p:nvPr/>
          </p:nvCxnSpPr>
          <p:spPr bwMode="auto">
            <a:xfrm>
              <a:off x="1979712" y="5392880"/>
              <a:ext cx="249709" cy="0"/>
            </a:xfrm>
            <a:prstGeom prst="straightConnector1">
              <a:avLst/>
            </a:prstGeom>
            <a:ln>
              <a:headEnd type="none" w="med" len="med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3933825"/>
            <a:ext cx="9144000" cy="26876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129027" name="矩形 2"/>
          <p:cNvSpPr/>
          <p:nvPr/>
        </p:nvSpPr>
        <p:spPr>
          <a:xfrm>
            <a:off x="7753" y="981075"/>
            <a:ext cx="9144000" cy="2592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仿宋_GB2312" pitchFamily="49" charset="-122"/>
              <a:cs typeface="+mn-cs"/>
            </a:endParaRPr>
          </a:p>
        </p:txBody>
      </p:sp>
      <p:sp>
        <p:nvSpPr>
          <p:cNvPr id="123908" name="Text Box 2"/>
          <p:cNvSpPr txBox="1">
            <a:spLocks noChangeArrowheads="1"/>
          </p:cNvSpPr>
          <p:nvPr/>
        </p:nvSpPr>
        <p:spPr bwMode="auto">
          <a:xfrm>
            <a:off x="458689" y="2204864"/>
            <a:ext cx="8025010" cy="1308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只要知道循环链表中某一结点的地址，就可搜寻到所有其他结点的地址。而单链表做不到。</a:t>
            </a:r>
          </a:p>
        </p:txBody>
      </p:sp>
      <p:graphicFrame>
        <p:nvGraphicFramePr>
          <p:cNvPr id="79" name="Object 2"/>
          <p:cNvGraphicFramePr/>
          <p:nvPr/>
        </p:nvGraphicFramePr>
        <p:xfrm>
          <a:off x="579438" y="4170363"/>
          <a:ext cx="72072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8" r:id="rId3" imgW="861060" imgH="845185" progId="">
                  <p:embed/>
                </p:oleObj>
              </mc:Choice>
              <mc:Fallback>
                <p:oleObj r:id="rId3" imgW="861060" imgH="845185" progId="">
                  <p:embed/>
                  <p:pic>
                    <p:nvPicPr>
                      <p:cNvPr id="79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9438" y="4170363"/>
                        <a:ext cx="720725" cy="708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Text Box 73"/>
          <p:cNvSpPr txBox="1">
            <a:spLocks noChangeArrowheads="1"/>
          </p:cNvSpPr>
          <p:nvPr/>
        </p:nvSpPr>
        <p:spPr bwMode="auto">
          <a:xfrm>
            <a:off x="782977" y="5459413"/>
            <a:ext cx="7924800" cy="11176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循环条件：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p!=NULL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Wingdings" panose="05000000000000000000" pitchFamily="2" charset="2"/>
              </a:rPr>
              <a:t>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p!=L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                p-&gt;next!=NULL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Wingdings" panose="05000000000000000000" pitchFamily="2" charset="2"/>
              </a:rPr>
              <a:t>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p-&gt;next!=L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grpSp>
        <p:nvGrpSpPr>
          <p:cNvPr id="2" name="Group 75"/>
          <p:cNvGrpSpPr/>
          <p:nvPr/>
        </p:nvGrpSpPr>
        <p:grpSpPr>
          <a:xfrm>
            <a:off x="1444625" y="4241800"/>
            <a:ext cx="6886575" cy="1173163"/>
            <a:chOff x="1202" y="1570"/>
            <a:chExt cx="4338" cy="739"/>
          </a:xfrm>
        </p:grpSpPr>
        <p:sp>
          <p:nvSpPr>
            <p:cNvPr id="123913" name="Rectangle 69"/>
            <p:cNvSpPr>
              <a:spLocks noChangeArrowheads="1"/>
            </p:cNvSpPr>
            <p:nvPr/>
          </p:nvSpPr>
          <p:spPr bwMode="auto">
            <a:xfrm>
              <a:off x="1202" y="1570"/>
              <a:ext cx="2957" cy="33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循环链表中没有明显的尾端 </a:t>
              </a:r>
            </a:p>
          </p:txBody>
        </p:sp>
        <p:sp>
          <p:nvSpPr>
            <p:cNvPr id="123914" name="Rectangle 71"/>
            <p:cNvSpPr>
              <a:spLocks noChangeArrowheads="1"/>
            </p:cNvSpPr>
            <p:nvPr/>
          </p:nvSpPr>
          <p:spPr bwMode="auto">
            <a:xfrm>
              <a:off x="3833" y="1979"/>
              <a:ext cx="1707" cy="33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如何避免死循环</a:t>
              </a:r>
            </a:p>
          </p:txBody>
        </p:sp>
        <p:sp>
          <p:nvSpPr>
            <p:cNvPr id="123915" name="AutoShape 74"/>
            <p:cNvSpPr>
              <a:spLocks noChangeArrowheads="1"/>
            </p:cNvSpPr>
            <p:nvPr/>
          </p:nvSpPr>
          <p:spPr bwMode="auto">
            <a:xfrm rot="5400000">
              <a:off x="4171" y="1590"/>
              <a:ext cx="363" cy="40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w 21600"/>
                <a:gd name="T21" fmla="*/ 0 h 216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FF3300"/>
            </a:solidFill>
            <a:ln w="12700" cap="sq">
              <a:solidFill>
                <a:srgbClr val="FF3300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</p:grp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889000" y="139700"/>
            <a:ext cx="71643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循环链表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8C3552F-5699-455C-81C2-5A57E96EE01B}"/>
              </a:ext>
            </a:extLst>
          </p:cNvPr>
          <p:cNvGrpSpPr/>
          <p:nvPr/>
        </p:nvGrpSpPr>
        <p:grpSpPr>
          <a:xfrm>
            <a:off x="579438" y="1098253"/>
            <a:ext cx="7620000" cy="890587"/>
            <a:chOff x="579438" y="1098253"/>
            <a:chExt cx="7620000" cy="890587"/>
          </a:xfrm>
        </p:grpSpPr>
        <p:graphicFrame>
          <p:nvGraphicFramePr>
            <p:cNvPr id="129033" name="Object 12"/>
            <p:cNvGraphicFramePr/>
            <p:nvPr>
              <p:extLst>
                <p:ext uri="{D42A27DB-BD31-4B8C-83A1-F6EECF244321}">
                  <p14:modId xmlns:p14="http://schemas.microsoft.com/office/powerpoint/2010/main" val="1451817964"/>
                </p:ext>
              </p:extLst>
            </p:nvPr>
          </p:nvGraphicFramePr>
          <p:xfrm>
            <a:off x="579438" y="1098253"/>
            <a:ext cx="7620000" cy="890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29" r:id="rId5" imgW="5096510" imgH="595630" progId="Visio.Drawing.11">
                    <p:embed/>
                  </p:oleObj>
                </mc:Choice>
                <mc:Fallback>
                  <p:oleObj r:id="rId5" imgW="5096510" imgH="595630" progId="Visio.Drawing.11">
                    <p:embed/>
                    <p:pic>
                      <p:nvPicPr>
                        <p:cNvPr id="129033" name="Object 1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79438" y="1098253"/>
                          <a:ext cx="7620000" cy="8905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6014634B-F581-47CF-9425-6454A5CCAE47}"/>
                </a:ext>
              </a:extLst>
            </p:cNvPr>
            <p:cNvCxnSpPr/>
            <p:nvPr/>
          </p:nvCxnSpPr>
          <p:spPr bwMode="auto">
            <a:xfrm>
              <a:off x="1585987" y="1690976"/>
              <a:ext cx="249709" cy="0"/>
            </a:xfrm>
            <a:prstGeom prst="straightConnector1">
              <a:avLst/>
            </a:prstGeom>
            <a:ln>
              <a:headEnd type="none" w="med" len="med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0" y="996950"/>
            <a:ext cx="9144000" cy="33591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124930" name="Text Box 6"/>
          <p:cNvSpPr txBox="1">
            <a:spLocks noChangeArrowheads="1"/>
          </p:cNvSpPr>
          <p:nvPr/>
        </p:nvSpPr>
        <p:spPr bwMode="auto">
          <a:xfrm>
            <a:off x="457200" y="980728"/>
            <a:ext cx="8097838" cy="1308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对循环链表，有时不给出头指针，而给出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尾指针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，可以更方便地找到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第一个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最后一个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结点</a:t>
            </a:r>
          </a:p>
        </p:txBody>
      </p:sp>
      <p:grpSp>
        <p:nvGrpSpPr>
          <p:cNvPr id="130052" name="Group 43"/>
          <p:cNvGrpSpPr/>
          <p:nvPr/>
        </p:nvGrpSpPr>
        <p:grpSpPr>
          <a:xfrm>
            <a:off x="557213" y="2654300"/>
            <a:ext cx="8108950" cy="1703388"/>
            <a:chOff x="404" y="2789"/>
            <a:chExt cx="5108" cy="1073"/>
          </a:xfrm>
        </p:grpSpPr>
        <p:sp>
          <p:nvSpPr>
            <p:cNvPr id="124938" name="Line 44"/>
            <p:cNvSpPr>
              <a:spLocks noChangeShapeType="1"/>
            </p:cNvSpPr>
            <p:nvPr/>
          </p:nvSpPr>
          <p:spPr bwMode="auto">
            <a:xfrm flipV="1">
              <a:off x="4998" y="3265"/>
              <a:ext cx="1" cy="320"/>
            </a:xfrm>
            <a:prstGeom prst="line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4939" name="Text Box 45"/>
            <p:cNvSpPr txBox="1">
              <a:spLocks noChangeArrowheads="1"/>
            </p:cNvSpPr>
            <p:nvPr/>
          </p:nvSpPr>
          <p:spPr bwMode="auto">
            <a:xfrm>
              <a:off x="4772" y="3570"/>
              <a:ext cx="48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36000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rear</a:t>
              </a:r>
            </a:p>
          </p:txBody>
        </p:sp>
        <p:sp>
          <p:nvSpPr>
            <p:cNvPr id="124940" name="Line 46"/>
            <p:cNvSpPr>
              <a:spLocks noChangeShapeType="1"/>
            </p:cNvSpPr>
            <p:nvPr/>
          </p:nvSpPr>
          <p:spPr bwMode="auto">
            <a:xfrm>
              <a:off x="4390" y="3161"/>
              <a:ext cx="199" cy="0"/>
            </a:xfrm>
            <a:prstGeom prst="line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4941" name="Text Box 47"/>
            <p:cNvSpPr txBox="1">
              <a:spLocks noChangeArrowheads="1"/>
            </p:cNvSpPr>
            <p:nvPr/>
          </p:nvSpPr>
          <p:spPr bwMode="auto">
            <a:xfrm>
              <a:off x="1481" y="2979"/>
              <a:ext cx="567" cy="272"/>
            </a:xfrm>
            <a:prstGeom prst="rect">
              <a:avLst/>
            </a:prstGeom>
            <a:solidFill>
              <a:srgbClr val="D2D2F4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  <a:miter lim="800000"/>
            </a:ln>
          </p:spPr>
          <p:txBody>
            <a:bodyPr tIns="0" rIns="0" bIns="72000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 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a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124942" name="Line 48"/>
            <p:cNvSpPr>
              <a:spLocks noChangeShapeType="1"/>
            </p:cNvSpPr>
            <p:nvPr/>
          </p:nvSpPr>
          <p:spPr bwMode="auto">
            <a:xfrm>
              <a:off x="1792" y="2979"/>
              <a:ext cx="0" cy="27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4943" name="Text Box 49"/>
            <p:cNvSpPr txBox="1">
              <a:spLocks noChangeArrowheads="1"/>
            </p:cNvSpPr>
            <p:nvPr/>
          </p:nvSpPr>
          <p:spPr bwMode="auto">
            <a:xfrm>
              <a:off x="646" y="2988"/>
              <a:ext cx="567" cy="272"/>
            </a:xfrm>
            <a:prstGeom prst="rect">
              <a:avLst/>
            </a:prstGeom>
            <a:solidFill>
              <a:srgbClr val="D2D2F4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  <a:miter lim="800000"/>
            </a:ln>
          </p:spPr>
          <p:txBody>
            <a:bodyPr tIns="0" rIns="0" bIns="72000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4944" name="Line 50"/>
            <p:cNvSpPr>
              <a:spLocks noChangeShapeType="1"/>
            </p:cNvSpPr>
            <p:nvPr/>
          </p:nvSpPr>
          <p:spPr bwMode="auto">
            <a:xfrm>
              <a:off x="957" y="2988"/>
              <a:ext cx="0" cy="27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4946" name="Line 52"/>
            <p:cNvSpPr>
              <a:spLocks noChangeShapeType="1"/>
            </p:cNvSpPr>
            <p:nvPr/>
          </p:nvSpPr>
          <p:spPr bwMode="auto">
            <a:xfrm>
              <a:off x="1131" y="3163"/>
              <a:ext cx="340" cy="0"/>
            </a:xfrm>
            <a:prstGeom prst="line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4947" name="Text Box 53"/>
            <p:cNvSpPr txBox="1">
              <a:spLocks noChangeArrowheads="1"/>
            </p:cNvSpPr>
            <p:nvPr/>
          </p:nvSpPr>
          <p:spPr bwMode="auto">
            <a:xfrm>
              <a:off x="2763" y="2978"/>
              <a:ext cx="567" cy="272"/>
            </a:xfrm>
            <a:prstGeom prst="rect">
              <a:avLst/>
            </a:prstGeom>
            <a:solidFill>
              <a:srgbClr val="D2D2F4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  <a:miter lim="800000"/>
            </a:ln>
          </p:spPr>
          <p:txBody>
            <a:bodyPr lIns="18000" tIns="0" rIns="0" bIns="72000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 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a</a:t>
              </a:r>
              <a:r>
                <a:rPr kumimoji="0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i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-1</a:t>
              </a:r>
            </a:p>
          </p:txBody>
        </p:sp>
        <p:sp>
          <p:nvSpPr>
            <p:cNvPr id="124948" name="Line 54"/>
            <p:cNvSpPr>
              <a:spLocks noChangeShapeType="1"/>
            </p:cNvSpPr>
            <p:nvPr/>
          </p:nvSpPr>
          <p:spPr bwMode="auto">
            <a:xfrm>
              <a:off x="3074" y="2978"/>
              <a:ext cx="0" cy="272"/>
            </a:xfrm>
            <a:prstGeom prst="line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4949" name="Text Box 55"/>
            <p:cNvSpPr txBox="1">
              <a:spLocks noChangeArrowheads="1"/>
            </p:cNvSpPr>
            <p:nvPr/>
          </p:nvSpPr>
          <p:spPr bwMode="auto">
            <a:xfrm>
              <a:off x="4817" y="2978"/>
              <a:ext cx="567" cy="272"/>
            </a:xfrm>
            <a:prstGeom prst="rect">
              <a:avLst/>
            </a:prstGeom>
            <a:solidFill>
              <a:srgbClr val="D2D2F4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  <a:miter lim="800000"/>
            </a:ln>
          </p:spPr>
          <p:txBody>
            <a:bodyPr lIns="72000" tIns="0" rIns="0" bIns="72000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 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a</a:t>
              </a:r>
              <a:r>
                <a:rPr kumimoji="0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n</a:t>
              </a:r>
            </a:p>
          </p:txBody>
        </p:sp>
        <p:sp>
          <p:nvSpPr>
            <p:cNvPr id="124950" name="Line 56"/>
            <p:cNvSpPr>
              <a:spLocks noChangeShapeType="1"/>
            </p:cNvSpPr>
            <p:nvPr/>
          </p:nvSpPr>
          <p:spPr bwMode="auto">
            <a:xfrm>
              <a:off x="5128" y="2978"/>
              <a:ext cx="0" cy="272"/>
            </a:xfrm>
            <a:prstGeom prst="line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4951" name="Text Box 57"/>
            <p:cNvSpPr txBox="1">
              <a:spLocks noChangeArrowheads="1"/>
            </p:cNvSpPr>
            <p:nvPr/>
          </p:nvSpPr>
          <p:spPr bwMode="auto">
            <a:xfrm>
              <a:off x="3602" y="2978"/>
              <a:ext cx="567" cy="272"/>
            </a:xfrm>
            <a:prstGeom prst="rect">
              <a:avLst/>
            </a:prstGeom>
            <a:solidFill>
              <a:srgbClr val="D2D2F4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  <a:miter lim="800000"/>
            </a:ln>
          </p:spPr>
          <p:txBody>
            <a:bodyPr lIns="72000" tIns="0" rIns="0" bIns="72000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 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a</a:t>
              </a:r>
              <a:r>
                <a:rPr kumimoji="0" lang="en-US" altLang="zh-CN" sz="2400" b="1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i</a:t>
              </a:r>
              <a:endPara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4952" name="Line 58"/>
            <p:cNvSpPr>
              <a:spLocks noChangeShapeType="1"/>
            </p:cNvSpPr>
            <p:nvPr/>
          </p:nvSpPr>
          <p:spPr bwMode="auto">
            <a:xfrm>
              <a:off x="3913" y="2978"/>
              <a:ext cx="0" cy="272"/>
            </a:xfrm>
            <a:prstGeom prst="line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4953" name="Line 59"/>
            <p:cNvSpPr>
              <a:spLocks noChangeShapeType="1"/>
            </p:cNvSpPr>
            <p:nvPr/>
          </p:nvSpPr>
          <p:spPr bwMode="auto">
            <a:xfrm>
              <a:off x="4119" y="3162"/>
              <a:ext cx="212" cy="0"/>
            </a:xfrm>
            <a:prstGeom prst="line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4954" name="Line 60"/>
            <p:cNvSpPr>
              <a:spLocks noChangeShapeType="1"/>
            </p:cNvSpPr>
            <p:nvPr/>
          </p:nvSpPr>
          <p:spPr bwMode="auto">
            <a:xfrm flipV="1">
              <a:off x="4623" y="3162"/>
              <a:ext cx="181" cy="0"/>
            </a:xfrm>
            <a:prstGeom prst="line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4955" name="Line 61"/>
            <p:cNvSpPr>
              <a:spLocks noChangeShapeType="1"/>
            </p:cNvSpPr>
            <p:nvPr/>
          </p:nvSpPr>
          <p:spPr bwMode="auto">
            <a:xfrm>
              <a:off x="3241" y="3153"/>
              <a:ext cx="340" cy="0"/>
            </a:xfrm>
            <a:prstGeom prst="line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4956" name="Line 62"/>
            <p:cNvSpPr>
              <a:spLocks noChangeShapeType="1"/>
            </p:cNvSpPr>
            <p:nvPr/>
          </p:nvSpPr>
          <p:spPr bwMode="auto">
            <a:xfrm>
              <a:off x="2279" y="3161"/>
              <a:ext cx="199" cy="0"/>
            </a:xfrm>
            <a:prstGeom prst="line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4957" name="Line 63"/>
            <p:cNvSpPr>
              <a:spLocks noChangeShapeType="1"/>
            </p:cNvSpPr>
            <p:nvPr/>
          </p:nvSpPr>
          <p:spPr bwMode="auto">
            <a:xfrm>
              <a:off x="1971" y="3162"/>
              <a:ext cx="258" cy="0"/>
            </a:xfrm>
            <a:prstGeom prst="line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4958" name="Line 64"/>
            <p:cNvSpPr>
              <a:spLocks noChangeShapeType="1"/>
            </p:cNvSpPr>
            <p:nvPr/>
          </p:nvSpPr>
          <p:spPr bwMode="auto">
            <a:xfrm flipV="1">
              <a:off x="2539" y="3162"/>
              <a:ext cx="227" cy="0"/>
            </a:xfrm>
            <a:prstGeom prst="line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grpSp>
          <p:nvGrpSpPr>
            <p:cNvPr id="130080" name="Group 65"/>
            <p:cNvGrpSpPr/>
            <p:nvPr/>
          </p:nvGrpSpPr>
          <p:grpSpPr>
            <a:xfrm flipV="1">
              <a:off x="404" y="2789"/>
              <a:ext cx="5108" cy="375"/>
              <a:chOff x="439" y="1549"/>
              <a:chExt cx="5108" cy="375"/>
            </a:xfrm>
          </p:grpSpPr>
          <p:sp>
            <p:nvSpPr>
              <p:cNvPr id="124960" name="Line 66"/>
              <p:cNvSpPr>
                <a:spLocks noChangeShapeType="1"/>
              </p:cNvSpPr>
              <p:nvPr/>
            </p:nvSpPr>
            <p:spPr bwMode="auto">
              <a:xfrm flipH="1">
                <a:off x="5327" y="1558"/>
                <a:ext cx="220" cy="2"/>
              </a:xfrm>
              <a:prstGeom prst="line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4961" name="Line 67"/>
              <p:cNvSpPr>
                <a:spLocks noChangeShapeType="1"/>
              </p:cNvSpPr>
              <p:nvPr/>
            </p:nvSpPr>
            <p:spPr bwMode="auto">
              <a:xfrm flipH="1" flipV="1">
                <a:off x="5540" y="1549"/>
                <a:ext cx="0" cy="357"/>
              </a:xfrm>
              <a:prstGeom prst="line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4962" name="Line 68"/>
              <p:cNvSpPr>
                <a:spLocks noChangeShapeType="1"/>
              </p:cNvSpPr>
              <p:nvPr/>
            </p:nvSpPr>
            <p:spPr bwMode="auto">
              <a:xfrm>
                <a:off x="439" y="1915"/>
                <a:ext cx="5101" cy="0"/>
              </a:xfrm>
              <a:prstGeom prst="line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4963" name="Line 69"/>
              <p:cNvSpPr>
                <a:spLocks noChangeShapeType="1"/>
              </p:cNvSpPr>
              <p:nvPr/>
            </p:nvSpPr>
            <p:spPr bwMode="auto">
              <a:xfrm flipV="1">
                <a:off x="450" y="1613"/>
                <a:ext cx="0" cy="311"/>
              </a:xfrm>
              <a:prstGeom prst="line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4964" name="Line 70"/>
              <p:cNvSpPr>
                <a:spLocks noChangeShapeType="1"/>
              </p:cNvSpPr>
              <p:nvPr/>
            </p:nvSpPr>
            <p:spPr bwMode="auto">
              <a:xfrm>
                <a:off x="448" y="1618"/>
                <a:ext cx="210" cy="0"/>
              </a:xfrm>
              <a:prstGeom prst="line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" name="Group 71"/>
          <p:cNvGrpSpPr/>
          <p:nvPr/>
        </p:nvGrpSpPr>
        <p:grpSpPr>
          <a:xfrm>
            <a:off x="554038" y="4586288"/>
            <a:ext cx="6516687" cy="601662"/>
            <a:chOff x="0" y="2159"/>
            <a:chExt cx="4105" cy="379"/>
          </a:xfrm>
        </p:grpSpPr>
        <p:graphicFrame>
          <p:nvGraphicFramePr>
            <p:cNvPr id="130057" name="Object 2"/>
            <p:cNvGraphicFramePr/>
            <p:nvPr/>
          </p:nvGraphicFramePr>
          <p:xfrm>
            <a:off x="0" y="2159"/>
            <a:ext cx="398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15" r:id="rId3" imgW="861060" imgH="845185" progId="">
                    <p:embed/>
                  </p:oleObj>
                </mc:Choice>
                <mc:Fallback>
                  <p:oleObj r:id="rId3" imgW="861060" imgH="845185" progId="">
                    <p:embed/>
                    <p:pic>
                      <p:nvPicPr>
                        <p:cNvPr id="130057" name="Object 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2159"/>
                          <a:ext cx="398" cy="3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37" name="Text Box 73"/>
            <p:cNvSpPr txBox="1">
              <a:spLocks noChangeArrowheads="1"/>
            </p:cNvSpPr>
            <p:nvPr/>
          </p:nvSpPr>
          <p:spPr bwMode="auto">
            <a:xfrm>
              <a:off x="448" y="2208"/>
              <a:ext cx="365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如何查找开始结点和终端结点？</a:t>
              </a:r>
            </a:p>
          </p:txBody>
        </p:sp>
      </p:grpSp>
      <p:sp>
        <p:nvSpPr>
          <p:cNvPr id="38" name="Text Box 74"/>
          <p:cNvSpPr txBox="1">
            <a:spLocks noChangeArrowheads="1"/>
          </p:cNvSpPr>
          <p:nvPr/>
        </p:nvSpPr>
        <p:spPr bwMode="auto">
          <a:xfrm>
            <a:off x="0" y="5356225"/>
            <a:ext cx="9144000" cy="1362075"/>
          </a:xfrm>
          <a:prstGeom prst="rect">
            <a:avLst/>
          </a:prstGeom>
          <a:solidFill>
            <a:srgbClr val="D2D2F4"/>
          </a:solidFill>
          <a:ln w="38100">
            <a:noFill/>
            <a:miter lim="800000"/>
          </a:ln>
        </p:spPr>
        <p:txBody>
          <a:bodyPr wrap="none" anchor="ctr"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              开始结点：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rear-&gt;next-&gt;next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              终端结点：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rear</a:t>
            </a: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889000" y="139700"/>
            <a:ext cx="71643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循环链表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矩形 2"/>
          <p:cNvSpPr/>
          <p:nvPr/>
        </p:nvSpPr>
        <p:spPr>
          <a:xfrm>
            <a:off x="0" y="4076899"/>
            <a:ext cx="9144000" cy="2417762"/>
          </a:xfrm>
          <a:prstGeom prst="rect">
            <a:avLst/>
          </a:prstGeom>
          <a:solidFill>
            <a:srgbClr val="EBEBEB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仿宋_GB2312" pitchFamily="49" charset="-122"/>
              <a:cs typeface="+mn-cs"/>
            </a:endParaRPr>
          </a:p>
        </p:txBody>
      </p:sp>
      <p:grpSp>
        <p:nvGrpSpPr>
          <p:cNvPr id="131075" name="Group 125"/>
          <p:cNvGrpSpPr/>
          <p:nvPr/>
        </p:nvGrpSpPr>
        <p:grpSpPr>
          <a:xfrm>
            <a:off x="1670050" y="4326136"/>
            <a:ext cx="7129463" cy="1962440"/>
            <a:chOff x="644" y="2341"/>
            <a:chExt cx="4491" cy="1344"/>
          </a:xfrm>
        </p:grpSpPr>
        <p:sp>
          <p:nvSpPr>
            <p:cNvPr id="126016" name="Rectangle 63"/>
            <p:cNvSpPr>
              <a:spLocks noChangeArrowheads="1"/>
            </p:cNvSpPr>
            <p:nvPr/>
          </p:nvSpPr>
          <p:spPr bwMode="auto">
            <a:xfrm>
              <a:off x="644" y="2341"/>
              <a:ext cx="4491" cy="131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grpSp>
          <p:nvGrpSpPr>
            <p:cNvPr id="131138" name="Group 64"/>
            <p:cNvGrpSpPr/>
            <p:nvPr/>
          </p:nvGrpSpPr>
          <p:grpSpPr>
            <a:xfrm>
              <a:off x="851" y="2341"/>
              <a:ext cx="4132" cy="1344"/>
              <a:chOff x="851" y="981"/>
              <a:chExt cx="4132" cy="1344"/>
            </a:xfrm>
          </p:grpSpPr>
          <p:sp>
            <p:nvSpPr>
              <p:cNvPr id="126018" name="Rectangle 65"/>
              <p:cNvSpPr>
                <a:spLocks noChangeArrowheads="1"/>
              </p:cNvSpPr>
              <p:nvPr/>
            </p:nvSpPr>
            <p:spPr bwMode="auto">
              <a:xfrm>
                <a:off x="2496" y="1125"/>
                <a:ext cx="499" cy="324"/>
              </a:xfrm>
              <a:prstGeom prst="rect">
                <a:avLst/>
              </a:prstGeom>
              <a:solidFill>
                <a:srgbClr val="B8D4EC"/>
              </a:solidFill>
              <a:ln w="12700" cap="rnd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grpSp>
            <p:nvGrpSpPr>
              <p:cNvPr id="131140" name="Group 66"/>
              <p:cNvGrpSpPr/>
              <p:nvPr/>
            </p:nvGrpSpPr>
            <p:grpSpPr>
              <a:xfrm flipH="1">
                <a:off x="4078" y="1346"/>
                <a:ext cx="528" cy="96"/>
                <a:chOff x="610" y="1588"/>
                <a:chExt cx="625" cy="96"/>
              </a:xfrm>
            </p:grpSpPr>
            <p:sp>
              <p:nvSpPr>
                <p:cNvPr id="126075" name="Line 67"/>
                <p:cNvSpPr>
                  <a:spLocks noChangeShapeType="1"/>
                </p:cNvSpPr>
                <p:nvPr/>
              </p:nvSpPr>
              <p:spPr bwMode="auto">
                <a:xfrm>
                  <a:off x="610" y="1588"/>
                  <a:ext cx="336" cy="0"/>
                </a:xfrm>
                <a:prstGeom prst="line">
                  <a:avLst/>
                </a:prstGeom>
                <a:noFill/>
                <a:ln w="38100" cap="rnd">
                  <a:solidFill>
                    <a:srgbClr val="FF33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endParaRPr>
                </a:p>
              </p:txBody>
            </p:sp>
            <p:sp>
              <p:nvSpPr>
                <p:cNvPr id="126076" name="Freeform 68"/>
                <p:cNvSpPr>
                  <a:spLocks noChangeArrowheads="1"/>
                </p:cNvSpPr>
                <p:nvPr/>
              </p:nvSpPr>
              <p:spPr bwMode="auto">
                <a:xfrm rot="2794506">
                  <a:off x="888" y="1546"/>
                  <a:ext cx="3" cy="179"/>
                </a:xfrm>
                <a:custGeom>
                  <a:avLst/>
                  <a:gdLst>
                    <a:gd name="T0" fmla="*/ 3 w 3"/>
                    <a:gd name="T1" fmla="*/ 0 h 177"/>
                    <a:gd name="T2" fmla="*/ 0 w 3"/>
                    <a:gd name="T3" fmla="*/ 177 h 17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" h="177">
                      <a:moveTo>
                        <a:pt x="3" y="0"/>
                      </a:moveTo>
                      <a:cubicBezTo>
                        <a:pt x="3" y="29"/>
                        <a:pt x="1" y="140"/>
                        <a:pt x="0" y="177"/>
                      </a:cubicBezTo>
                    </a:path>
                  </a:pathLst>
                </a:custGeom>
                <a:noFill/>
                <a:ln w="38100" cap="rnd">
                  <a:solidFill>
                    <a:srgbClr val="FF33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endParaRPr>
                </a:p>
              </p:txBody>
            </p:sp>
            <p:sp>
              <p:nvSpPr>
                <p:cNvPr id="126077" name="Line 69"/>
                <p:cNvSpPr>
                  <a:spLocks noChangeShapeType="1"/>
                </p:cNvSpPr>
                <p:nvPr/>
              </p:nvSpPr>
              <p:spPr bwMode="auto">
                <a:xfrm>
                  <a:off x="851" y="1684"/>
                  <a:ext cx="384" cy="0"/>
                </a:xfrm>
                <a:prstGeom prst="line">
                  <a:avLst/>
                </a:prstGeom>
                <a:noFill/>
                <a:ln w="38100" cap="rnd">
                  <a:solidFill>
                    <a:srgbClr val="FF33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26020" name="Text Box 70"/>
              <p:cNvSpPr txBox="1">
                <a:spLocks noChangeArrowheads="1"/>
              </p:cNvSpPr>
              <p:nvPr/>
            </p:nvSpPr>
            <p:spPr bwMode="auto">
              <a:xfrm>
                <a:off x="4551" y="1192"/>
                <a:ext cx="432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Ta</a:t>
                </a:r>
              </a:p>
            </p:txBody>
          </p:sp>
          <p:sp>
            <p:nvSpPr>
              <p:cNvPr id="126021" name="Rectangle 71"/>
              <p:cNvSpPr>
                <a:spLocks noChangeArrowheads="1"/>
              </p:cNvSpPr>
              <p:nvPr/>
            </p:nvSpPr>
            <p:spPr bwMode="auto">
              <a:xfrm>
                <a:off x="3523" y="1125"/>
                <a:ext cx="500" cy="324"/>
              </a:xfrm>
              <a:prstGeom prst="rect">
                <a:avLst/>
              </a:prstGeom>
              <a:solidFill>
                <a:srgbClr val="B8D4EC"/>
              </a:solidFill>
              <a:ln w="12700" cap="rnd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22" name="Line 72"/>
              <p:cNvSpPr>
                <a:spLocks noChangeShapeType="1"/>
              </p:cNvSpPr>
              <p:nvPr/>
            </p:nvSpPr>
            <p:spPr bwMode="auto">
              <a:xfrm>
                <a:off x="3773" y="1125"/>
                <a:ext cx="1" cy="336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23" name="Line 73"/>
              <p:cNvSpPr>
                <a:spLocks noChangeShapeType="1"/>
              </p:cNvSpPr>
              <p:nvPr/>
            </p:nvSpPr>
            <p:spPr bwMode="auto">
              <a:xfrm>
                <a:off x="2727" y="1125"/>
                <a:ext cx="0" cy="324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24" name="Line 74"/>
              <p:cNvSpPr>
                <a:spLocks noChangeShapeType="1"/>
              </p:cNvSpPr>
              <p:nvPr/>
            </p:nvSpPr>
            <p:spPr bwMode="auto">
              <a:xfrm>
                <a:off x="2889" y="1317"/>
                <a:ext cx="249" cy="0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25" name="Rectangle 75"/>
              <p:cNvSpPr>
                <a:spLocks noChangeArrowheads="1"/>
              </p:cNvSpPr>
              <p:nvPr/>
            </p:nvSpPr>
            <p:spPr bwMode="auto">
              <a:xfrm>
                <a:off x="1854" y="1125"/>
                <a:ext cx="499" cy="324"/>
              </a:xfrm>
              <a:prstGeom prst="rect">
                <a:avLst/>
              </a:prstGeom>
              <a:solidFill>
                <a:srgbClr val="B8D4EC"/>
              </a:solidFill>
              <a:ln w="12700" cap="rnd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26" name="Line 76"/>
              <p:cNvSpPr>
                <a:spLocks noChangeShapeType="1"/>
              </p:cNvSpPr>
              <p:nvPr/>
            </p:nvSpPr>
            <p:spPr bwMode="auto">
              <a:xfrm>
                <a:off x="2104" y="1125"/>
                <a:ext cx="0" cy="324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27" name="Line 77"/>
              <p:cNvSpPr>
                <a:spLocks noChangeShapeType="1"/>
              </p:cNvSpPr>
              <p:nvPr/>
            </p:nvSpPr>
            <p:spPr bwMode="auto">
              <a:xfrm>
                <a:off x="2246" y="1317"/>
                <a:ext cx="250" cy="0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28" name="Line 78"/>
              <p:cNvSpPr>
                <a:spLocks noChangeShapeType="1"/>
              </p:cNvSpPr>
              <p:nvPr/>
            </p:nvSpPr>
            <p:spPr bwMode="auto">
              <a:xfrm>
                <a:off x="3345" y="1317"/>
                <a:ext cx="178" cy="1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29" name="Line 79"/>
              <p:cNvSpPr>
                <a:spLocks noChangeShapeType="1"/>
              </p:cNvSpPr>
              <p:nvPr/>
            </p:nvSpPr>
            <p:spPr bwMode="auto">
              <a:xfrm>
                <a:off x="3175" y="1317"/>
                <a:ext cx="14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30" name="Rectangle 80"/>
              <p:cNvSpPr>
                <a:spLocks noChangeArrowheads="1"/>
              </p:cNvSpPr>
              <p:nvPr/>
            </p:nvSpPr>
            <p:spPr bwMode="auto">
              <a:xfrm>
                <a:off x="1187" y="1125"/>
                <a:ext cx="499" cy="324"/>
              </a:xfrm>
              <a:prstGeom prst="rect">
                <a:avLst/>
              </a:prstGeom>
              <a:solidFill>
                <a:srgbClr val="B8D4EC"/>
              </a:solidFill>
              <a:ln w="12700" cap="rnd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31" name="Line 81"/>
              <p:cNvSpPr>
                <a:spLocks noChangeShapeType="1"/>
              </p:cNvSpPr>
              <p:nvPr/>
            </p:nvSpPr>
            <p:spPr bwMode="auto">
              <a:xfrm>
                <a:off x="1436" y="1125"/>
                <a:ext cx="0" cy="324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32" name="Line 82"/>
              <p:cNvSpPr>
                <a:spLocks noChangeShapeType="1"/>
              </p:cNvSpPr>
              <p:nvPr/>
            </p:nvSpPr>
            <p:spPr bwMode="auto">
              <a:xfrm>
                <a:off x="1579" y="1317"/>
                <a:ext cx="249" cy="0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33" name="Line 83"/>
              <p:cNvSpPr>
                <a:spLocks noChangeShapeType="1"/>
              </p:cNvSpPr>
              <p:nvPr/>
            </p:nvSpPr>
            <p:spPr bwMode="auto">
              <a:xfrm flipH="1">
                <a:off x="1187" y="1125"/>
                <a:ext cx="125" cy="192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34" name="Line 84"/>
              <p:cNvSpPr>
                <a:spLocks noChangeShapeType="1"/>
              </p:cNvSpPr>
              <p:nvPr/>
            </p:nvSpPr>
            <p:spPr bwMode="auto">
              <a:xfrm flipH="1">
                <a:off x="1228" y="1125"/>
                <a:ext cx="209" cy="336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35" name="Line 85"/>
              <p:cNvSpPr>
                <a:spLocks noChangeShapeType="1"/>
              </p:cNvSpPr>
              <p:nvPr/>
            </p:nvSpPr>
            <p:spPr bwMode="auto">
              <a:xfrm flipH="1">
                <a:off x="1312" y="1317"/>
                <a:ext cx="125" cy="144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36" name="Line 86"/>
              <p:cNvSpPr>
                <a:spLocks noChangeShapeType="1"/>
              </p:cNvSpPr>
              <p:nvPr/>
            </p:nvSpPr>
            <p:spPr bwMode="auto">
              <a:xfrm>
                <a:off x="855" y="981"/>
                <a:ext cx="3401" cy="0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grpSp>
            <p:nvGrpSpPr>
              <p:cNvPr id="131158" name="Group 87"/>
              <p:cNvGrpSpPr/>
              <p:nvPr/>
            </p:nvGrpSpPr>
            <p:grpSpPr>
              <a:xfrm>
                <a:off x="851" y="1769"/>
                <a:ext cx="336" cy="240"/>
                <a:chOff x="668" y="4095"/>
                <a:chExt cx="336" cy="240"/>
              </a:xfrm>
            </p:grpSpPr>
            <p:sp>
              <p:nvSpPr>
                <p:cNvPr id="126073" name="Line 88"/>
                <p:cNvSpPr>
                  <a:spLocks noChangeShapeType="1"/>
                </p:cNvSpPr>
                <p:nvPr/>
              </p:nvSpPr>
              <p:spPr bwMode="auto">
                <a:xfrm>
                  <a:off x="668" y="4341"/>
                  <a:ext cx="336" cy="0"/>
                </a:xfrm>
                <a:prstGeom prst="line">
                  <a:avLst/>
                </a:prstGeom>
                <a:noFill/>
                <a:ln w="38100" cap="rnd">
                  <a:solidFill>
                    <a:srgbClr val="FF33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endParaRPr>
                </a:p>
              </p:txBody>
            </p:sp>
            <p:sp>
              <p:nvSpPr>
                <p:cNvPr id="126074" name="Line 89"/>
                <p:cNvSpPr>
                  <a:spLocks noChangeShapeType="1"/>
                </p:cNvSpPr>
                <p:nvPr/>
              </p:nvSpPr>
              <p:spPr bwMode="auto">
                <a:xfrm>
                  <a:off x="668" y="4095"/>
                  <a:ext cx="0" cy="240"/>
                </a:xfrm>
                <a:prstGeom prst="line">
                  <a:avLst/>
                </a:prstGeom>
                <a:noFill/>
                <a:ln w="38100" cap="rnd">
                  <a:solidFill>
                    <a:srgbClr val="FF33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31159" name="Group 90"/>
              <p:cNvGrpSpPr/>
              <p:nvPr/>
            </p:nvGrpSpPr>
            <p:grpSpPr>
              <a:xfrm>
                <a:off x="3927" y="981"/>
                <a:ext cx="336" cy="288"/>
                <a:chOff x="3744" y="2496"/>
                <a:chExt cx="336" cy="288"/>
              </a:xfrm>
            </p:grpSpPr>
            <p:sp>
              <p:nvSpPr>
                <p:cNvPr id="126071" name="Line 91"/>
                <p:cNvSpPr>
                  <a:spLocks noChangeShapeType="1"/>
                </p:cNvSpPr>
                <p:nvPr/>
              </p:nvSpPr>
              <p:spPr bwMode="auto">
                <a:xfrm>
                  <a:off x="4069" y="2496"/>
                  <a:ext cx="0" cy="288"/>
                </a:xfrm>
                <a:prstGeom prst="line">
                  <a:avLst/>
                </a:prstGeom>
                <a:noFill/>
                <a:ln w="38100" cap="rnd">
                  <a:solidFill>
                    <a:srgbClr val="FF33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endParaRPr>
                </a:p>
              </p:txBody>
            </p:sp>
            <p:sp>
              <p:nvSpPr>
                <p:cNvPr id="126072" name="Line 92"/>
                <p:cNvSpPr>
                  <a:spLocks noChangeShapeType="1"/>
                </p:cNvSpPr>
                <p:nvPr/>
              </p:nvSpPr>
              <p:spPr bwMode="auto">
                <a:xfrm>
                  <a:off x="3744" y="2784"/>
                  <a:ext cx="336" cy="0"/>
                </a:xfrm>
                <a:prstGeom prst="line">
                  <a:avLst/>
                </a:prstGeom>
                <a:noFill/>
                <a:ln w="38100" cap="rnd">
                  <a:solidFill>
                    <a:srgbClr val="FF33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26039" name="Text Box 93"/>
              <p:cNvSpPr txBox="1">
                <a:spLocks noChangeArrowheads="1"/>
              </p:cNvSpPr>
              <p:nvPr/>
            </p:nvSpPr>
            <p:spPr bwMode="auto">
              <a:xfrm>
                <a:off x="1863" y="1125"/>
                <a:ext cx="288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a</a:t>
                </a: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1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40" name="Text Box 94"/>
              <p:cNvSpPr txBox="1">
                <a:spLocks noChangeArrowheads="1"/>
              </p:cNvSpPr>
              <p:nvPr/>
            </p:nvSpPr>
            <p:spPr bwMode="auto">
              <a:xfrm>
                <a:off x="3495" y="1125"/>
                <a:ext cx="288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a</a:t>
                </a: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n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41" name="Rectangle 95"/>
              <p:cNvSpPr>
                <a:spLocks noChangeArrowheads="1"/>
              </p:cNvSpPr>
              <p:nvPr/>
            </p:nvSpPr>
            <p:spPr bwMode="auto">
              <a:xfrm>
                <a:off x="2496" y="1942"/>
                <a:ext cx="499" cy="323"/>
              </a:xfrm>
              <a:prstGeom prst="rect">
                <a:avLst/>
              </a:prstGeom>
              <a:solidFill>
                <a:srgbClr val="B8D4EC"/>
              </a:solidFill>
              <a:ln w="12700" cap="rnd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grpSp>
            <p:nvGrpSpPr>
              <p:cNvPr id="131163" name="Group 96"/>
              <p:cNvGrpSpPr/>
              <p:nvPr/>
            </p:nvGrpSpPr>
            <p:grpSpPr>
              <a:xfrm flipH="1">
                <a:off x="4060" y="2138"/>
                <a:ext cx="472" cy="96"/>
                <a:chOff x="697" y="1563"/>
                <a:chExt cx="558" cy="96"/>
              </a:xfrm>
            </p:grpSpPr>
            <p:sp>
              <p:nvSpPr>
                <p:cNvPr id="126068" name="Line 97"/>
                <p:cNvSpPr>
                  <a:spLocks noChangeShapeType="1"/>
                </p:cNvSpPr>
                <p:nvPr/>
              </p:nvSpPr>
              <p:spPr bwMode="auto">
                <a:xfrm>
                  <a:off x="697" y="1563"/>
                  <a:ext cx="336" cy="0"/>
                </a:xfrm>
                <a:prstGeom prst="line">
                  <a:avLst/>
                </a:prstGeom>
                <a:noFill/>
                <a:ln w="38100" cap="rnd">
                  <a:solidFill>
                    <a:srgbClr val="FF33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endParaRPr>
                </a:p>
              </p:txBody>
            </p:sp>
            <p:sp>
              <p:nvSpPr>
                <p:cNvPr id="126069" name="Freeform 98"/>
                <p:cNvSpPr>
                  <a:spLocks noChangeArrowheads="1"/>
                </p:cNvSpPr>
                <p:nvPr/>
              </p:nvSpPr>
              <p:spPr bwMode="auto">
                <a:xfrm rot="2794506">
                  <a:off x="975" y="1519"/>
                  <a:ext cx="2" cy="177"/>
                </a:xfrm>
                <a:custGeom>
                  <a:avLst/>
                  <a:gdLst>
                    <a:gd name="T0" fmla="*/ 3 w 3"/>
                    <a:gd name="T1" fmla="*/ 0 h 177"/>
                    <a:gd name="T2" fmla="*/ 0 w 3"/>
                    <a:gd name="T3" fmla="*/ 177 h 17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" h="177">
                      <a:moveTo>
                        <a:pt x="3" y="0"/>
                      </a:moveTo>
                      <a:cubicBezTo>
                        <a:pt x="3" y="29"/>
                        <a:pt x="1" y="140"/>
                        <a:pt x="0" y="177"/>
                      </a:cubicBezTo>
                    </a:path>
                  </a:pathLst>
                </a:custGeom>
                <a:noFill/>
                <a:ln w="38100" cap="rnd">
                  <a:solidFill>
                    <a:srgbClr val="FF33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endParaRPr>
                </a:p>
              </p:txBody>
            </p:sp>
            <p:sp>
              <p:nvSpPr>
                <p:cNvPr id="126070" name="Line 99"/>
                <p:cNvSpPr>
                  <a:spLocks noChangeShapeType="1"/>
                </p:cNvSpPr>
                <p:nvPr/>
              </p:nvSpPr>
              <p:spPr bwMode="auto">
                <a:xfrm>
                  <a:off x="937" y="1653"/>
                  <a:ext cx="318" cy="6"/>
                </a:xfrm>
                <a:prstGeom prst="line">
                  <a:avLst/>
                </a:prstGeom>
                <a:noFill/>
                <a:ln w="38100" cap="rnd">
                  <a:solidFill>
                    <a:srgbClr val="FF33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26043" name="Text Box 100"/>
              <p:cNvSpPr txBox="1">
                <a:spLocks noChangeArrowheads="1"/>
              </p:cNvSpPr>
              <p:nvPr/>
            </p:nvSpPr>
            <p:spPr bwMode="auto">
              <a:xfrm>
                <a:off x="4551" y="2010"/>
                <a:ext cx="432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Tb</a:t>
                </a:r>
              </a:p>
            </p:txBody>
          </p:sp>
          <p:sp>
            <p:nvSpPr>
              <p:cNvPr id="126044" name="Rectangle 101"/>
              <p:cNvSpPr>
                <a:spLocks noChangeArrowheads="1"/>
              </p:cNvSpPr>
              <p:nvPr/>
            </p:nvSpPr>
            <p:spPr bwMode="auto">
              <a:xfrm>
                <a:off x="3523" y="1942"/>
                <a:ext cx="500" cy="323"/>
              </a:xfrm>
              <a:prstGeom prst="rect">
                <a:avLst/>
              </a:prstGeom>
              <a:solidFill>
                <a:srgbClr val="B8D4EC"/>
              </a:solidFill>
              <a:ln w="12700" cap="rnd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45" name="Line 102"/>
              <p:cNvSpPr>
                <a:spLocks noChangeShapeType="1"/>
              </p:cNvSpPr>
              <p:nvPr/>
            </p:nvSpPr>
            <p:spPr bwMode="auto">
              <a:xfrm>
                <a:off x="3773" y="1942"/>
                <a:ext cx="1" cy="336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46" name="Line 103"/>
              <p:cNvSpPr>
                <a:spLocks noChangeShapeType="1"/>
              </p:cNvSpPr>
              <p:nvPr/>
            </p:nvSpPr>
            <p:spPr bwMode="auto">
              <a:xfrm>
                <a:off x="2727" y="1942"/>
                <a:ext cx="0" cy="323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47" name="Line 104"/>
              <p:cNvSpPr>
                <a:spLocks noChangeShapeType="1"/>
              </p:cNvSpPr>
              <p:nvPr/>
            </p:nvSpPr>
            <p:spPr bwMode="auto">
              <a:xfrm>
                <a:off x="2889" y="2135"/>
                <a:ext cx="249" cy="0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48" name="Rectangle 105"/>
              <p:cNvSpPr>
                <a:spLocks noChangeArrowheads="1"/>
              </p:cNvSpPr>
              <p:nvPr/>
            </p:nvSpPr>
            <p:spPr bwMode="auto">
              <a:xfrm>
                <a:off x="1854" y="1942"/>
                <a:ext cx="499" cy="323"/>
              </a:xfrm>
              <a:prstGeom prst="rect">
                <a:avLst/>
              </a:prstGeom>
              <a:solidFill>
                <a:srgbClr val="B8D4EC"/>
              </a:solidFill>
              <a:ln w="12700" cap="rnd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49" name="Line 106"/>
              <p:cNvSpPr>
                <a:spLocks noChangeShapeType="1"/>
              </p:cNvSpPr>
              <p:nvPr/>
            </p:nvSpPr>
            <p:spPr bwMode="auto">
              <a:xfrm>
                <a:off x="2104" y="1942"/>
                <a:ext cx="0" cy="323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50" name="Line 107"/>
              <p:cNvSpPr>
                <a:spLocks noChangeShapeType="1"/>
              </p:cNvSpPr>
              <p:nvPr/>
            </p:nvSpPr>
            <p:spPr bwMode="auto">
              <a:xfrm>
                <a:off x="2246" y="2135"/>
                <a:ext cx="250" cy="0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51" name="Line 108"/>
              <p:cNvSpPr>
                <a:spLocks noChangeShapeType="1"/>
              </p:cNvSpPr>
              <p:nvPr/>
            </p:nvSpPr>
            <p:spPr bwMode="auto">
              <a:xfrm>
                <a:off x="3345" y="2135"/>
                <a:ext cx="178" cy="0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52" name="Line 109"/>
              <p:cNvSpPr>
                <a:spLocks noChangeShapeType="1"/>
              </p:cNvSpPr>
              <p:nvPr/>
            </p:nvSpPr>
            <p:spPr bwMode="auto">
              <a:xfrm>
                <a:off x="3175" y="2135"/>
                <a:ext cx="14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53" name="Rectangle 110"/>
              <p:cNvSpPr>
                <a:spLocks noChangeArrowheads="1"/>
              </p:cNvSpPr>
              <p:nvPr/>
            </p:nvSpPr>
            <p:spPr bwMode="auto">
              <a:xfrm>
                <a:off x="1187" y="1942"/>
                <a:ext cx="499" cy="323"/>
              </a:xfrm>
              <a:prstGeom prst="rect">
                <a:avLst/>
              </a:prstGeom>
              <a:solidFill>
                <a:srgbClr val="B8D4EC"/>
              </a:solidFill>
              <a:ln w="12700" cap="rnd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54" name="Line 111"/>
              <p:cNvSpPr>
                <a:spLocks noChangeShapeType="1"/>
              </p:cNvSpPr>
              <p:nvPr/>
            </p:nvSpPr>
            <p:spPr bwMode="auto">
              <a:xfrm>
                <a:off x="1436" y="1942"/>
                <a:ext cx="0" cy="323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55" name="Line 112"/>
              <p:cNvSpPr>
                <a:spLocks noChangeShapeType="1"/>
              </p:cNvSpPr>
              <p:nvPr/>
            </p:nvSpPr>
            <p:spPr bwMode="auto">
              <a:xfrm>
                <a:off x="1579" y="2135"/>
                <a:ext cx="249" cy="0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56" name="Line 113"/>
              <p:cNvSpPr>
                <a:spLocks noChangeShapeType="1"/>
              </p:cNvSpPr>
              <p:nvPr/>
            </p:nvSpPr>
            <p:spPr bwMode="auto">
              <a:xfrm flipH="1">
                <a:off x="1187" y="1942"/>
                <a:ext cx="125" cy="192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57" name="Line 114"/>
              <p:cNvSpPr>
                <a:spLocks noChangeShapeType="1"/>
              </p:cNvSpPr>
              <p:nvPr/>
            </p:nvSpPr>
            <p:spPr bwMode="auto">
              <a:xfrm flipH="1">
                <a:off x="1228" y="1942"/>
                <a:ext cx="209" cy="336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58" name="Line 115"/>
              <p:cNvSpPr>
                <a:spLocks noChangeShapeType="1"/>
              </p:cNvSpPr>
              <p:nvPr/>
            </p:nvSpPr>
            <p:spPr bwMode="auto">
              <a:xfrm flipH="1">
                <a:off x="1312" y="2135"/>
                <a:ext cx="125" cy="149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59" name="Line 116"/>
              <p:cNvSpPr>
                <a:spLocks noChangeShapeType="1"/>
              </p:cNvSpPr>
              <p:nvPr/>
            </p:nvSpPr>
            <p:spPr bwMode="auto">
              <a:xfrm>
                <a:off x="855" y="1798"/>
                <a:ext cx="3401" cy="0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grpSp>
            <p:nvGrpSpPr>
              <p:cNvPr id="131181" name="Group 117"/>
              <p:cNvGrpSpPr/>
              <p:nvPr/>
            </p:nvGrpSpPr>
            <p:grpSpPr>
              <a:xfrm>
                <a:off x="855" y="987"/>
                <a:ext cx="336" cy="240"/>
                <a:chOff x="672" y="2496"/>
                <a:chExt cx="336" cy="240"/>
              </a:xfrm>
            </p:grpSpPr>
            <p:sp>
              <p:nvSpPr>
                <p:cNvPr id="126066" name="Line 118"/>
                <p:cNvSpPr>
                  <a:spLocks noChangeShapeType="1"/>
                </p:cNvSpPr>
                <p:nvPr/>
              </p:nvSpPr>
              <p:spPr bwMode="auto">
                <a:xfrm>
                  <a:off x="672" y="2736"/>
                  <a:ext cx="336" cy="0"/>
                </a:xfrm>
                <a:prstGeom prst="line">
                  <a:avLst/>
                </a:prstGeom>
                <a:noFill/>
                <a:ln w="38100" cap="rnd">
                  <a:solidFill>
                    <a:srgbClr val="FF33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endParaRPr>
                </a:p>
              </p:txBody>
            </p:sp>
            <p:sp>
              <p:nvSpPr>
                <p:cNvPr id="126067" name="Line 119"/>
                <p:cNvSpPr>
                  <a:spLocks noChangeShapeType="1"/>
                </p:cNvSpPr>
                <p:nvPr/>
              </p:nvSpPr>
              <p:spPr bwMode="auto">
                <a:xfrm>
                  <a:off x="672" y="2502"/>
                  <a:ext cx="0" cy="234"/>
                </a:xfrm>
                <a:prstGeom prst="line">
                  <a:avLst/>
                </a:prstGeom>
                <a:noFill/>
                <a:ln w="38100" cap="rnd">
                  <a:solidFill>
                    <a:srgbClr val="FF33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31182" name="Group 120"/>
              <p:cNvGrpSpPr/>
              <p:nvPr/>
            </p:nvGrpSpPr>
            <p:grpSpPr>
              <a:xfrm>
                <a:off x="3927" y="1798"/>
                <a:ext cx="336" cy="288"/>
                <a:chOff x="3744" y="2496"/>
                <a:chExt cx="336" cy="288"/>
              </a:xfrm>
            </p:grpSpPr>
            <p:sp>
              <p:nvSpPr>
                <p:cNvPr id="126064" name="Line 121"/>
                <p:cNvSpPr>
                  <a:spLocks noChangeShapeType="1"/>
                </p:cNvSpPr>
                <p:nvPr/>
              </p:nvSpPr>
              <p:spPr bwMode="auto">
                <a:xfrm>
                  <a:off x="4069" y="2496"/>
                  <a:ext cx="0" cy="288"/>
                </a:xfrm>
                <a:prstGeom prst="line">
                  <a:avLst/>
                </a:prstGeom>
                <a:noFill/>
                <a:ln w="38100" cap="rnd">
                  <a:solidFill>
                    <a:srgbClr val="FF33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endParaRPr>
                </a:p>
              </p:txBody>
            </p:sp>
            <p:sp>
              <p:nvSpPr>
                <p:cNvPr id="126065" name="Line 122"/>
                <p:cNvSpPr>
                  <a:spLocks noChangeShapeType="1"/>
                </p:cNvSpPr>
                <p:nvPr/>
              </p:nvSpPr>
              <p:spPr bwMode="auto">
                <a:xfrm>
                  <a:off x="3744" y="2784"/>
                  <a:ext cx="336" cy="0"/>
                </a:xfrm>
                <a:prstGeom prst="line">
                  <a:avLst/>
                </a:prstGeom>
                <a:noFill/>
                <a:ln w="38100" cap="rnd">
                  <a:solidFill>
                    <a:srgbClr val="FF33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26062" name="Text Box 123"/>
              <p:cNvSpPr txBox="1">
                <a:spLocks noChangeArrowheads="1"/>
              </p:cNvSpPr>
              <p:nvPr/>
            </p:nvSpPr>
            <p:spPr bwMode="auto">
              <a:xfrm>
                <a:off x="1863" y="1942"/>
                <a:ext cx="288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b</a:t>
                </a: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1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63" name="Text Box 124"/>
              <p:cNvSpPr txBox="1">
                <a:spLocks noChangeArrowheads="1"/>
              </p:cNvSpPr>
              <p:nvPr/>
            </p:nvSpPr>
            <p:spPr bwMode="auto">
              <a:xfrm>
                <a:off x="3495" y="1942"/>
                <a:ext cx="365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b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n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0" name="组合 137"/>
          <p:cNvGrpSpPr/>
          <p:nvPr/>
        </p:nvGrpSpPr>
        <p:grpSpPr>
          <a:xfrm>
            <a:off x="1893888" y="1124744"/>
            <a:ext cx="6924675" cy="2611438"/>
            <a:chOff x="1968500" y="419125"/>
            <a:chExt cx="6924675" cy="2611438"/>
          </a:xfrm>
        </p:grpSpPr>
        <p:grpSp>
          <p:nvGrpSpPr>
            <p:cNvPr id="131081" name="Group 126"/>
            <p:cNvGrpSpPr/>
            <p:nvPr/>
          </p:nvGrpSpPr>
          <p:grpSpPr>
            <a:xfrm>
              <a:off x="1968500" y="419125"/>
              <a:ext cx="6924675" cy="2611438"/>
              <a:chOff x="612" y="28"/>
              <a:chExt cx="4362" cy="1645"/>
            </a:xfrm>
          </p:grpSpPr>
          <p:sp>
            <p:nvSpPr>
              <p:cNvPr id="125967" name="Rectangle 5"/>
              <p:cNvSpPr>
                <a:spLocks noChangeArrowheads="1"/>
              </p:cNvSpPr>
              <p:nvPr/>
            </p:nvSpPr>
            <p:spPr bwMode="auto">
              <a:xfrm>
                <a:off x="2496" y="308"/>
                <a:ext cx="499" cy="323"/>
              </a:xfrm>
              <a:prstGeom prst="rect">
                <a:avLst/>
              </a:prstGeom>
              <a:solidFill>
                <a:srgbClr val="B8D4EC"/>
              </a:solidFill>
              <a:ln w="12700" cap="rnd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68" name="Rectangle 6"/>
              <p:cNvSpPr>
                <a:spLocks noChangeArrowheads="1"/>
              </p:cNvSpPr>
              <p:nvPr/>
            </p:nvSpPr>
            <p:spPr bwMode="auto">
              <a:xfrm>
                <a:off x="3523" y="308"/>
                <a:ext cx="500" cy="323"/>
              </a:xfrm>
              <a:prstGeom prst="rect">
                <a:avLst/>
              </a:prstGeom>
              <a:solidFill>
                <a:srgbClr val="B8D4EC"/>
              </a:solidFill>
              <a:ln w="12700" cap="rnd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69" name="Line 7"/>
              <p:cNvSpPr>
                <a:spLocks noChangeShapeType="1"/>
              </p:cNvSpPr>
              <p:nvPr/>
            </p:nvSpPr>
            <p:spPr bwMode="auto">
              <a:xfrm>
                <a:off x="3773" y="308"/>
                <a:ext cx="1" cy="336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70" name="Line 8"/>
              <p:cNvSpPr>
                <a:spLocks noChangeShapeType="1"/>
              </p:cNvSpPr>
              <p:nvPr/>
            </p:nvSpPr>
            <p:spPr bwMode="auto">
              <a:xfrm>
                <a:off x="2727" y="308"/>
                <a:ext cx="0" cy="323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71" name="Line 9"/>
              <p:cNvSpPr>
                <a:spLocks noChangeShapeType="1"/>
              </p:cNvSpPr>
              <p:nvPr/>
            </p:nvSpPr>
            <p:spPr bwMode="auto">
              <a:xfrm>
                <a:off x="2889" y="500"/>
                <a:ext cx="249" cy="0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72" name="Rectangle 10"/>
              <p:cNvSpPr>
                <a:spLocks noChangeArrowheads="1"/>
              </p:cNvSpPr>
              <p:nvPr/>
            </p:nvSpPr>
            <p:spPr bwMode="auto">
              <a:xfrm>
                <a:off x="1854" y="308"/>
                <a:ext cx="499" cy="323"/>
              </a:xfrm>
              <a:prstGeom prst="rect">
                <a:avLst/>
              </a:prstGeom>
              <a:solidFill>
                <a:srgbClr val="B8D4EC"/>
              </a:solidFill>
              <a:ln w="12700" cap="rnd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73" name="Line 11"/>
              <p:cNvSpPr>
                <a:spLocks noChangeShapeType="1"/>
              </p:cNvSpPr>
              <p:nvPr/>
            </p:nvSpPr>
            <p:spPr bwMode="auto">
              <a:xfrm>
                <a:off x="2104" y="308"/>
                <a:ext cx="0" cy="323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74" name="Line 12"/>
              <p:cNvSpPr>
                <a:spLocks noChangeShapeType="1"/>
              </p:cNvSpPr>
              <p:nvPr/>
            </p:nvSpPr>
            <p:spPr bwMode="auto">
              <a:xfrm>
                <a:off x="2246" y="500"/>
                <a:ext cx="250" cy="0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75" name="Line 13"/>
              <p:cNvSpPr>
                <a:spLocks noChangeShapeType="1"/>
              </p:cNvSpPr>
              <p:nvPr/>
            </p:nvSpPr>
            <p:spPr bwMode="auto">
              <a:xfrm>
                <a:off x="3345" y="500"/>
                <a:ext cx="178" cy="1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76" name="Line 14"/>
              <p:cNvSpPr>
                <a:spLocks noChangeShapeType="1"/>
              </p:cNvSpPr>
              <p:nvPr/>
            </p:nvSpPr>
            <p:spPr bwMode="auto">
              <a:xfrm>
                <a:off x="3175" y="500"/>
                <a:ext cx="14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77" name="Rectangle 15"/>
              <p:cNvSpPr>
                <a:spLocks noChangeArrowheads="1"/>
              </p:cNvSpPr>
              <p:nvPr/>
            </p:nvSpPr>
            <p:spPr bwMode="auto">
              <a:xfrm>
                <a:off x="1187" y="308"/>
                <a:ext cx="499" cy="323"/>
              </a:xfrm>
              <a:prstGeom prst="rect">
                <a:avLst/>
              </a:prstGeom>
              <a:solidFill>
                <a:srgbClr val="B8D4EC"/>
              </a:solidFill>
              <a:ln w="12700" cap="rnd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78" name="Line 16"/>
              <p:cNvSpPr>
                <a:spLocks noChangeShapeType="1"/>
              </p:cNvSpPr>
              <p:nvPr/>
            </p:nvSpPr>
            <p:spPr bwMode="auto">
              <a:xfrm>
                <a:off x="1436" y="308"/>
                <a:ext cx="0" cy="323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79" name="Line 17"/>
              <p:cNvSpPr>
                <a:spLocks noChangeShapeType="1"/>
              </p:cNvSpPr>
              <p:nvPr/>
            </p:nvSpPr>
            <p:spPr bwMode="auto">
              <a:xfrm>
                <a:off x="1579" y="500"/>
                <a:ext cx="249" cy="0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80" name="Line 18"/>
              <p:cNvSpPr>
                <a:spLocks noChangeShapeType="1"/>
              </p:cNvSpPr>
              <p:nvPr/>
            </p:nvSpPr>
            <p:spPr bwMode="auto">
              <a:xfrm flipH="1">
                <a:off x="1187" y="308"/>
                <a:ext cx="125" cy="192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81" name="Line 19"/>
              <p:cNvSpPr>
                <a:spLocks noChangeShapeType="1"/>
              </p:cNvSpPr>
              <p:nvPr/>
            </p:nvSpPr>
            <p:spPr bwMode="auto">
              <a:xfrm flipH="1">
                <a:off x="1228" y="308"/>
                <a:ext cx="209" cy="336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82" name="Line 20"/>
              <p:cNvSpPr>
                <a:spLocks noChangeShapeType="1"/>
              </p:cNvSpPr>
              <p:nvPr/>
            </p:nvSpPr>
            <p:spPr bwMode="auto">
              <a:xfrm flipH="1">
                <a:off x="1312" y="500"/>
                <a:ext cx="125" cy="144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83" name="Line 21"/>
              <p:cNvSpPr>
                <a:spLocks noChangeShapeType="1"/>
              </p:cNvSpPr>
              <p:nvPr/>
            </p:nvSpPr>
            <p:spPr bwMode="auto">
              <a:xfrm>
                <a:off x="1943" y="754"/>
                <a:ext cx="2178" cy="0"/>
              </a:xfrm>
              <a:prstGeom prst="line">
                <a:avLst/>
              </a:prstGeom>
              <a:noFill/>
              <a:ln w="38100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84" name="Text Box 22"/>
              <p:cNvSpPr txBox="1">
                <a:spLocks noChangeArrowheads="1"/>
              </p:cNvSpPr>
              <p:nvPr/>
            </p:nvSpPr>
            <p:spPr bwMode="auto">
              <a:xfrm>
                <a:off x="1863" y="308"/>
                <a:ext cx="28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a</a:t>
                </a: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1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85" name="Text Box 23"/>
              <p:cNvSpPr txBox="1">
                <a:spLocks noChangeArrowheads="1"/>
              </p:cNvSpPr>
              <p:nvPr/>
            </p:nvSpPr>
            <p:spPr bwMode="auto">
              <a:xfrm>
                <a:off x="3495" y="308"/>
                <a:ext cx="28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a</a:t>
                </a: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n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86" name="Rectangle 24"/>
              <p:cNvSpPr>
                <a:spLocks noChangeArrowheads="1"/>
              </p:cNvSpPr>
              <p:nvPr/>
            </p:nvSpPr>
            <p:spPr bwMode="auto">
              <a:xfrm>
                <a:off x="2496" y="1079"/>
                <a:ext cx="499" cy="323"/>
              </a:xfrm>
              <a:prstGeom prst="rect">
                <a:avLst/>
              </a:prstGeom>
              <a:solidFill>
                <a:srgbClr val="B8D4EC"/>
              </a:solidFill>
              <a:ln w="12700" cap="rnd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87" name="Rectangle 25"/>
              <p:cNvSpPr>
                <a:spLocks noChangeArrowheads="1"/>
              </p:cNvSpPr>
              <p:nvPr/>
            </p:nvSpPr>
            <p:spPr bwMode="auto">
              <a:xfrm>
                <a:off x="3523" y="1079"/>
                <a:ext cx="500" cy="323"/>
              </a:xfrm>
              <a:prstGeom prst="rect">
                <a:avLst/>
              </a:prstGeom>
              <a:solidFill>
                <a:srgbClr val="B8D4EC"/>
              </a:solidFill>
              <a:ln w="12700" cap="rnd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88" name="Line 26"/>
              <p:cNvSpPr>
                <a:spLocks noChangeShapeType="1"/>
              </p:cNvSpPr>
              <p:nvPr/>
            </p:nvSpPr>
            <p:spPr bwMode="auto">
              <a:xfrm>
                <a:off x="3773" y="1079"/>
                <a:ext cx="1" cy="336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89" name="Line 27"/>
              <p:cNvSpPr>
                <a:spLocks noChangeShapeType="1"/>
              </p:cNvSpPr>
              <p:nvPr/>
            </p:nvSpPr>
            <p:spPr bwMode="auto">
              <a:xfrm>
                <a:off x="2727" y="1079"/>
                <a:ext cx="0" cy="323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90" name="Line 28"/>
              <p:cNvSpPr>
                <a:spLocks noChangeShapeType="1"/>
              </p:cNvSpPr>
              <p:nvPr/>
            </p:nvSpPr>
            <p:spPr bwMode="auto">
              <a:xfrm>
                <a:off x="2889" y="1271"/>
                <a:ext cx="249" cy="0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91" name="Rectangle 29"/>
              <p:cNvSpPr>
                <a:spLocks noChangeArrowheads="1"/>
              </p:cNvSpPr>
              <p:nvPr/>
            </p:nvSpPr>
            <p:spPr bwMode="auto">
              <a:xfrm>
                <a:off x="1854" y="1079"/>
                <a:ext cx="499" cy="323"/>
              </a:xfrm>
              <a:prstGeom prst="rect">
                <a:avLst/>
              </a:prstGeom>
              <a:solidFill>
                <a:srgbClr val="B8D4EC"/>
              </a:solidFill>
              <a:ln w="12700" cap="rnd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92" name="Line 30"/>
              <p:cNvSpPr>
                <a:spLocks noChangeShapeType="1"/>
              </p:cNvSpPr>
              <p:nvPr/>
            </p:nvSpPr>
            <p:spPr bwMode="auto">
              <a:xfrm>
                <a:off x="2104" y="1079"/>
                <a:ext cx="0" cy="323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93" name="Line 31"/>
              <p:cNvSpPr>
                <a:spLocks noChangeShapeType="1"/>
              </p:cNvSpPr>
              <p:nvPr/>
            </p:nvSpPr>
            <p:spPr bwMode="auto">
              <a:xfrm>
                <a:off x="2246" y="1271"/>
                <a:ext cx="250" cy="0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94" name="Line 32"/>
              <p:cNvSpPr>
                <a:spLocks noChangeShapeType="1"/>
              </p:cNvSpPr>
              <p:nvPr/>
            </p:nvSpPr>
            <p:spPr bwMode="auto">
              <a:xfrm>
                <a:off x="3345" y="1271"/>
                <a:ext cx="178" cy="1"/>
              </a:xfrm>
              <a:prstGeom prst="line">
                <a:avLst/>
              </a:prstGeom>
              <a:noFill/>
              <a:ln w="38100" cap="rnd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95" name="Line 33"/>
              <p:cNvSpPr>
                <a:spLocks noChangeShapeType="1"/>
              </p:cNvSpPr>
              <p:nvPr/>
            </p:nvSpPr>
            <p:spPr bwMode="auto">
              <a:xfrm>
                <a:off x="3175" y="1271"/>
                <a:ext cx="14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96" name="Rectangle 34"/>
              <p:cNvSpPr>
                <a:spLocks noChangeArrowheads="1"/>
              </p:cNvSpPr>
              <p:nvPr/>
            </p:nvSpPr>
            <p:spPr bwMode="auto">
              <a:xfrm>
                <a:off x="1187" y="1079"/>
                <a:ext cx="499" cy="323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bg1"/>
                </a:solidFill>
                <a:prstDash val="dash"/>
                <a:miter lim="800000"/>
              </a:ln>
            </p:spPr>
            <p:txBody>
              <a:bodyPr wrap="none" anchor="ctr"/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97" name="Line 35"/>
              <p:cNvSpPr>
                <a:spLocks noChangeShapeType="1"/>
              </p:cNvSpPr>
              <p:nvPr/>
            </p:nvSpPr>
            <p:spPr bwMode="auto">
              <a:xfrm>
                <a:off x="1445" y="1071"/>
                <a:ext cx="0" cy="323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98" name="Line 36"/>
              <p:cNvSpPr>
                <a:spLocks noChangeShapeType="1"/>
              </p:cNvSpPr>
              <p:nvPr/>
            </p:nvSpPr>
            <p:spPr bwMode="auto">
              <a:xfrm flipH="1">
                <a:off x="1187" y="1079"/>
                <a:ext cx="125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5999" name="Line 37"/>
              <p:cNvSpPr>
                <a:spLocks noChangeShapeType="1"/>
              </p:cNvSpPr>
              <p:nvPr/>
            </p:nvSpPr>
            <p:spPr bwMode="auto">
              <a:xfrm flipH="1">
                <a:off x="1228" y="1079"/>
                <a:ext cx="209" cy="336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00" name="Line 38"/>
              <p:cNvSpPr>
                <a:spLocks noChangeShapeType="1"/>
              </p:cNvSpPr>
              <p:nvPr/>
            </p:nvSpPr>
            <p:spPr bwMode="auto">
              <a:xfrm flipH="1">
                <a:off x="1312" y="1271"/>
                <a:ext cx="125" cy="144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01" name="Text Box 39"/>
              <p:cNvSpPr txBox="1">
                <a:spLocks noChangeArrowheads="1"/>
              </p:cNvSpPr>
              <p:nvPr/>
            </p:nvSpPr>
            <p:spPr bwMode="auto">
              <a:xfrm>
                <a:off x="1863" y="1079"/>
                <a:ext cx="28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b</a:t>
                </a: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1</a:t>
                </a: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02" name="Text Box 40"/>
              <p:cNvSpPr txBox="1">
                <a:spLocks noChangeArrowheads="1"/>
              </p:cNvSpPr>
              <p:nvPr/>
            </p:nvSpPr>
            <p:spPr bwMode="auto">
              <a:xfrm>
                <a:off x="3495" y="1079"/>
                <a:ext cx="34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b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n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03" name="Freeform 41"/>
              <p:cNvSpPr>
                <a:spLocks noChangeArrowheads="1"/>
              </p:cNvSpPr>
              <p:nvPr/>
            </p:nvSpPr>
            <p:spPr bwMode="auto">
              <a:xfrm>
                <a:off x="1702" y="754"/>
                <a:ext cx="241" cy="453"/>
              </a:xfrm>
              <a:custGeom>
                <a:avLst/>
                <a:gdLst>
                  <a:gd name="T0" fmla="*/ 241 w 241"/>
                  <a:gd name="T1" fmla="*/ 0 h 453"/>
                  <a:gd name="T2" fmla="*/ 60 w 241"/>
                  <a:gd name="T3" fmla="*/ 90 h 453"/>
                  <a:gd name="T4" fmla="*/ 15 w 241"/>
                  <a:gd name="T5" fmla="*/ 272 h 453"/>
                  <a:gd name="T6" fmla="*/ 151 w 241"/>
                  <a:gd name="T7" fmla="*/ 453 h 4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1" h="453">
                    <a:moveTo>
                      <a:pt x="241" y="0"/>
                    </a:moveTo>
                    <a:cubicBezTo>
                      <a:pt x="169" y="22"/>
                      <a:pt x="98" y="45"/>
                      <a:pt x="60" y="90"/>
                    </a:cubicBezTo>
                    <a:cubicBezTo>
                      <a:pt x="22" y="135"/>
                      <a:pt x="0" y="212"/>
                      <a:pt x="15" y="272"/>
                    </a:cubicBezTo>
                    <a:cubicBezTo>
                      <a:pt x="30" y="332"/>
                      <a:pt x="90" y="392"/>
                      <a:pt x="151" y="453"/>
                    </a:cubicBezTo>
                  </a:path>
                </a:pathLst>
              </a:custGeom>
              <a:noFill/>
              <a:ln w="38100" cap="sq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04" name="Freeform 42"/>
              <p:cNvSpPr>
                <a:spLocks noChangeArrowheads="1"/>
              </p:cNvSpPr>
              <p:nvPr/>
            </p:nvSpPr>
            <p:spPr bwMode="auto">
              <a:xfrm>
                <a:off x="3894" y="413"/>
                <a:ext cx="423" cy="341"/>
              </a:xfrm>
              <a:custGeom>
                <a:avLst/>
                <a:gdLst>
                  <a:gd name="T0" fmla="*/ 0 w 423"/>
                  <a:gd name="T1" fmla="*/ 23 h 341"/>
                  <a:gd name="T2" fmla="*/ 272 w 423"/>
                  <a:gd name="T3" fmla="*/ 23 h 341"/>
                  <a:gd name="T4" fmla="*/ 408 w 423"/>
                  <a:gd name="T5" fmla="*/ 159 h 341"/>
                  <a:gd name="T6" fmla="*/ 363 w 423"/>
                  <a:gd name="T7" fmla="*/ 250 h 341"/>
                  <a:gd name="T8" fmla="*/ 227 w 423"/>
                  <a:gd name="T9" fmla="*/ 341 h 3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23" h="341">
                    <a:moveTo>
                      <a:pt x="0" y="23"/>
                    </a:moveTo>
                    <a:cubicBezTo>
                      <a:pt x="102" y="11"/>
                      <a:pt x="204" y="0"/>
                      <a:pt x="272" y="23"/>
                    </a:cubicBezTo>
                    <a:cubicBezTo>
                      <a:pt x="340" y="46"/>
                      <a:pt x="393" y="121"/>
                      <a:pt x="408" y="159"/>
                    </a:cubicBezTo>
                    <a:cubicBezTo>
                      <a:pt x="423" y="197"/>
                      <a:pt x="393" y="220"/>
                      <a:pt x="363" y="250"/>
                    </a:cubicBezTo>
                    <a:cubicBezTo>
                      <a:pt x="333" y="280"/>
                      <a:pt x="280" y="310"/>
                      <a:pt x="227" y="341"/>
                    </a:cubicBezTo>
                  </a:path>
                </a:pathLst>
              </a:custGeom>
              <a:noFill/>
              <a:ln w="38100" cap="sq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05" name="Line 43"/>
              <p:cNvSpPr>
                <a:spLocks noChangeShapeType="1"/>
              </p:cNvSpPr>
              <p:nvPr/>
            </p:nvSpPr>
            <p:spPr bwMode="auto">
              <a:xfrm>
                <a:off x="1082" y="1525"/>
                <a:ext cx="3039" cy="0"/>
              </a:xfrm>
              <a:prstGeom prst="line">
                <a:avLst/>
              </a:prstGeom>
              <a:noFill/>
              <a:ln w="38100" cap="sq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06" name="Freeform 44"/>
              <p:cNvSpPr>
                <a:spLocks noChangeArrowheads="1"/>
              </p:cNvSpPr>
              <p:nvPr/>
            </p:nvSpPr>
            <p:spPr bwMode="auto">
              <a:xfrm>
                <a:off x="3894" y="1238"/>
                <a:ext cx="462" cy="287"/>
              </a:xfrm>
              <a:custGeom>
                <a:avLst/>
                <a:gdLst>
                  <a:gd name="T0" fmla="*/ 0 w 462"/>
                  <a:gd name="T1" fmla="*/ 15 h 287"/>
                  <a:gd name="T2" fmla="*/ 317 w 462"/>
                  <a:gd name="T3" fmla="*/ 15 h 287"/>
                  <a:gd name="T4" fmla="*/ 454 w 462"/>
                  <a:gd name="T5" fmla="*/ 105 h 287"/>
                  <a:gd name="T6" fmla="*/ 363 w 462"/>
                  <a:gd name="T7" fmla="*/ 241 h 287"/>
                  <a:gd name="T8" fmla="*/ 181 w 462"/>
                  <a:gd name="T9" fmla="*/ 287 h 2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2" h="287">
                    <a:moveTo>
                      <a:pt x="0" y="15"/>
                    </a:moveTo>
                    <a:cubicBezTo>
                      <a:pt x="121" y="7"/>
                      <a:pt x="242" y="0"/>
                      <a:pt x="317" y="15"/>
                    </a:cubicBezTo>
                    <a:cubicBezTo>
                      <a:pt x="392" y="30"/>
                      <a:pt x="446" y="67"/>
                      <a:pt x="454" y="105"/>
                    </a:cubicBezTo>
                    <a:cubicBezTo>
                      <a:pt x="462" y="143"/>
                      <a:pt x="409" y="211"/>
                      <a:pt x="363" y="241"/>
                    </a:cubicBezTo>
                    <a:cubicBezTo>
                      <a:pt x="317" y="271"/>
                      <a:pt x="249" y="279"/>
                      <a:pt x="181" y="287"/>
                    </a:cubicBezTo>
                  </a:path>
                </a:pathLst>
              </a:custGeom>
              <a:noFill/>
              <a:ln w="38100" cap="sq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07" name="Freeform 45"/>
              <p:cNvSpPr>
                <a:spLocks noChangeArrowheads="1"/>
              </p:cNvSpPr>
              <p:nvPr/>
            </p:nvSpPr>
            <p:spPr bwMode="auto">
              <a:xfrm>
                <a:off x="748" y="474"/>
                <a:ext cx="424" cy="1051"/>
              </a:xfrm>
              <a:custGeom>
                <a:avLst/>
                <a:gdLst>
                  <a:gd name="T0" fmla="*/ 334 w 424"/>
                  <a:gd name="T1" fmla="*/ 1051 h 1051"/>
                  <a:gd name="T2" fmla="*/ 198 w 424"/>
                  <a:gd name="T3" fmla="*/ 1005 h 1051"/>
                  <a:gd name="T4" fmla="*/ 61 w 424"/>
                  <a:gd name="T5" fmla="*/ 869 h 1051"/>
                  <a:gd name="T6" fmla="*/ 61 w 424"/>
                  <a:gd name="T7" fmla="*/ 144 h 1051"/>
                  <a:gd name="T8" fmla="*/ 424 w 424"/>
                  <a:gd name="T9" fmla="*/ 7 h 10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24" h="1051">
                    <a:moveTo>
                      <a:pt x="334" y="1051"/>
                    </a:moveTo>
                    <a:cubicBezTo>
                      <a:pt x="289" y="1043"/>
                      <a:pt x="244" y="1035"/>
                      <a:pt x="198" y="1005"/>
                    </a:cubicBezTo>
                    <a:cubicBezTo>
                      <a:pt x="152" y="975"/>
                      <a:pt x="84" y="1012"/>
                      <a:pt x="61" y="869"/>
                    </a:cubicBezTo>
                    <a:cubicBezTo>
                      <a:pt x="38" y="726"/>
                      <a:pt x="0" y="288"/>
                      <a:pt x="61" y="144"/>
                    </a:cubicBezTo>
                    <a:cubicBezTo>
                      <a:pt x="122" y="0"/>
                      <a:pt x="273" y="3"/>
                      <a:pt x="424" y="7"/>
                    </a:cubicBezTo>
                  </a:path>
                </a:pathLst>
              </a:custGeom>
              <a:noFill/>
              <a:ln w="38100" cap="sq">
                <a:solidFill>
                  <a:schemeClr val="hlink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08" name="Text Box 46"/>
              <p:cNvSpPr txBox="1">
                <a:spLocks noChangeArrowheads="1"/>
              </p:cNvSpPr>
              <p:nvPr/>
            </p:nvSpPr>
            <p:spPr bwMode="auto">
              <a:xfrm>
                <a:off x="884" y="28"/>
                <a:ext cx="25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①</a:t>
                </a:r>
              </a:p>
            </p:txBody>
          </p:sp>
          <p:sp>
            <p:nvSpPr>
              <p:cNvPr id="126009" name="Line 47"/>
              <p:cNvSpPr>
                <a:spLocks noChangeShapeType="1"/>
              </p:cNvSpPr>
              <p:nvPr/>
            </p:nvSpPr>
            <p:spPr bwMode="auto">
              <a:xfrm>
                <a:off x="793" y="345"/>
                <a:ext cx="363" cy="0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endParaRPr>
              </a:p>
            </p:txBody>
          </p:sp>
          <p:sp>
            <p:nvSpPr>
              <p:cNvPr id="126010" name="Text Box 48"/>
              <p:cNvSpPr txBox="1">
                <a:spLocks noChangeArrowheads="1"/>
              </p:cNvSpPr>
              <p:nvPr/>
            </p:nvSpPr>
            <p:spPr bwMode="auto">
              <a:xfrm>
                <a:off x="612" y="73"/>
                <a:ext cx="27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p</a:t>
                </a:r>
              </a:p>
            </p:txBody>
          </p:sp>
          <p:sp>
            <p:nvSpPr>
              <p:cNvPr id="126011" name="Text Box 49"/>
              <p:cNvSpPr txBox="1">
                <a:spLocks noChangeArrowheads="1"/>
              </p:cNvSpPr>
              <p:nvPr/>
            </p:nvSpPr>
            <p:spPr bwMode="auto">
              <a:xfrm>
                <a:off x="4306" y="482"/>
                <a:ext cx="34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②</a:t>
                </a:r>
              </a:p>
            </p:txBody>
          </p:sp>
          <p:sp>
            <p:nvSpPr>
              <p:cNvPr id="126012" name="Text Box 50"/>
              <p:cNvSpPr txBox="1">
                <a:spLocks noChangeArrowheads="1"/>
              </p:cNvSpPr>
              <p:nvPr/>
            </p:nvSpPr>
            <p:spPr bwMode="auto">
              <a:xfrm>
                <a:off x="1020" y="844"/>
                <a:ext cx="34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③</a:t>
                </a:r>
              </a:p>
            </p:txBody>
          </p:sp>
          <p:sp>
            <p:nvSpPr>
              <p:cNvPr id="126013" name="Text Box 51"/>
              <p:cNvSpPr txBox="1">
                <a:spLocks noChangeArrowheads="1"/>
              </p:cNvSpPr>
              <p:nvPr/>
            </p:nvSpPr>
            <p:spPr bwMode="auto">
              <a:xfrm>
                <a:off x="4261" y="1343"/>
                <a:ext cx="34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④</a:t>
                </a:r>
              </a:p>
            </p:txBody>
          </p:sp>
          <p:sp>
            <p:nvSpPr>
              <p:cNvPr id="126014" name="Text Box 56"/>
              <p:cNvSpPr txBox="1">
                <a:spLocks noChangeArrowheads="1"/>
              </p:cNvSpPr>
              <p:nvPr/>
            </p:nvSpPr>
            <p:spPr bwMode="auto">
              <a:xfrm>
                <a:off x="4542" y="164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Ta</a:t>
                </a:r>
              </a:p>
            </p:txBody>
          </p:sp>
          <p:sp>
            <p:nvSpPr>
              <p:cNvPr id="126015" name="Text Box 61"/>
              <p:cNvSpPr txBox="1">
                <a:spLocks noChangeArrowheads="1"/>
              </p:cNvSpPr>
              <p:nvPr/>
            </p:nvSpPr>
            <p:spPr bwMode="auto">
              <a:xfrm>
                <a:off x="4542" y="935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Microsoft YaHei"/>
                    <a:cs typeface="+mn-ea"/>
                    <a:sym typeface="+mn-lt"/>
                  </a:rPr>
                  <a:t>Tb</a:t>
                </a:r>
              </a:p>
            </p:txBody>
          </p:sp>
        </p:grpSp>
        <p:sp>
          <p:nvSpPr>
            <p:cNvPr id="125960" name="Line 67"/>
            <p:cNvSpPr>
              <a:spLocks noChangeShapeType="1"/>
            </p:cNvSpPr>
            <p:nvPr/>
          </p:nvSpPr>
          <p:spPr bwMode="auto">
            <a:xfrm flipH="1">
              <a:off x="7845425" y="790600"/>
              <a:ext cx="452437" cy="0"/>
            </a:xfrm>
            <a:prstGeom prst="line">
              <a:avLst/>
            </a:prstGeom>
            <a:noFill/>
            <a:ln w="38100" cap="rnd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5961" name="Freeform 68"/>
            <p:cNvSpPr>
              <a:spLocks noChangeArrowheads="1"/>
            </p:cNvSpPr>
            <p:nvPr/>
          </p:nvSpPr>
          <p:spPr bwMode="auto">
            <a:xfrm rot="18805494" flipH="1">
              <a:off x="7918450" y="750913"/>
              <a:ext cx="4763" cy="236538"/>
            </a:xfrm>
            <a:custGeom>
              <a:avLst/>
              <a:gdLst>
                <a:gd name="T0" fmla="*/ 2147483646 w 3"/>
                <a:gd name="T1" fmla="*/ 0 h 177"/>
                <a:gd name="T2" fmla="*/ 0 w 3"/>
                <a:gd name="T3" fmla="*/ 2147483646 h 17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77">
                  <a:moveTo>
                    <a:pt x="3" y="0"/>
                  </a:moveTo>
                  <a:cubicBezTo>
                    <a:pt x="3" y="29"/>
                    <a:pt x="1" y="140"/>
                    <a:pt x="0" y="177"/>
                  </a:cubicBezTo>
                </a:path>
              </a:pathLst>
            </a:custGeom>
            <a:noFill/>
            <a:ln w="38100" cap="rnd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5962" name="Line 69"/>
            <p:cNvSpPr>
              <a:spLocks noChangeShapeType="1"/>
            </p:cNvSpPr>
            <p:nvPr/>
          </p:nvSpPr>
          <p:spPr bwMode="auto">
            <a:xfrm flipH="1">
              <a:off x="7459662" y="943000"/>
              <a:ext cx="515938" cy="0"/>
            </a:xfrm>
            <a:prstGeom prst="line">
              <a:avLst/>
            </a:prstGeom>
            <a:noFill/>
            <a:ln w="38100" cap="rnd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5963" name="Line 67"/>
            <p:cNvSpPr>
              <a:spLocks noChangeShapeType="1"/>
            </p:cNvSpPr>
            <p:nvPr/>
          </p:nvSpPr>
          <p:spPr bwMode="auto">
            <a:xfrm flipH="1">
              <a:off x="7750175" y="2009800"/>
              <a:ext cx="450850" cy="0"/>
            </a:xfrm>
            <a:prstGeom prst="line">
              <a:avLst/>
            </a:prstGeom>
            <a:noFill/>
            <a:ln w="38100" cap="rnd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5964" name="Freeform 68"/>
            <p:cNvSpPr>
              <a:spLocks noChangeArrowheads="1"/>
            </p:cNvSpPr>
            <p:nvPr/>
          </p:nvSpPr>
          <p:spPr bwMode="auto">
            <a:xfrm rot="18805494" flipH="1">
              <a:off x="7821612" y="1970113"/>
              <a:ext cx="4763" cy="236537"/>
            </a:xfrm>
            <a:custGeom>
              <a:avLst/>
              <a:gdLst>
                <a:gd name="T0" fmla="*/ 2147483646 w 3"/>
                <a:gd name="T1" fmla="*/ 0 h 177"/>
                <a:gd name="T2" fmla="*/ 0 w 3"/>
                <a:gd name="T3" fmla="*/ 2147483646 h 17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77">
                  <a:moveTo>
                    <a:pt x="3" y="0"/>
                  </a:moveTo>
                  <a:cubicBezTo>
                    <a:pt x="3" y="29"/>
                    <a:pt x="1" y="140"/>
                    <a:pt x="0" y="177"/>
                  </a:cubicBezTo>
                </a:path>
              </a:pathLst>
            </a:custGeom>
            <a:noFill/>
            <a:ln w="38100" cap="rnd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5965" name="Line 69"/>
            <p:cNvSpPr>
              <a:spLocks noChangeShapeType="1"/>
            </p:cNvSpPr>
            <p:nvPr/>
          </p:nvSpPr>
          <p:spPr bwMode="auto">
            <a:xfrm flipH="1">
              <a:off x="7362825" y="2162200"/>
              <a:ext cx="515937" cy="0"/>
            </a:xfrm>
            <a:prstGeom prst="line">
              <a:avLst/>
            </a:prstGeom>
            <a:noFill/>
            <a:ln w="38100" cap="rnd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</p:grpSp>
      <p:sp>
        <p:nvSpPr>
          <p:cNvPr id="125958" name="Text Box 6"/>
          <p:cNvSpPr txBox="1">
            <a:spLocks noChangeArrowheads="1"/>
          </p:cNvSpPr>
          <p:nvPr/>
        </p:nvSpPr>
        <p:spPr bwMode="auto">
          <a:xfrm>
            <a:off x="357188" y="987822"/>
            <a:ext cx="11525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示例</a:t>
            </a:r>
          </a:p>
        </p:txBody>
      </p:sp>
      <p:sp>
        <p:nvSpPr>
          <p:cNvPr id="126" name="Rectangle 4"/>
          <p:cNvSpPr>
            <a:spLocks noChangeArrowheads="1"/>
          </p:cNvSpPr>
          <p:nvPr/>
        </p:nvSpPr>
        <p:spPr bwMode="auto">
          <a:xfrm>
            <a:off x="889000" y="139700"/>
            <a:ext cx="71643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循环链表的合并</a:t>
            </a:r>
          </a:p>
        </p:txBody>
      </p:sp>
      <p:sp>
        <p:nvSpPr>
          <p:cNvPr id="2" name="下弧形箭头 1"/>
          <p:cNvSpPr/>
          <p:nvPr/>
        </p:nvSpPr>
        <p:spPr>
          <a:xfrm rot="-5400000" flipV="1">
            <a:off x="1588" y="3551436"/>
            <a:ext cx="2222500" cy="825500"/>
          </a:xfrm>
          <a:prstGeom prst="curvedUpArrow">
            <a:avLst>
              <a:gd name="adj1" fmla="val 25003"/>
              <a:gd name="adj2" fmla="val 50031"/>
              <a:gd name="adj3" fmla="val 25000"/>
            </a:avLst>
          </a:prstGeom>
          <a:solidFill>
            <a:srgbClr val="FF0000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仿宋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矩形 1"/>
          <p:cNvSpPr/>
          <p:nvPr/>
        </p:nvSpPr>
        <p:spPr>
          <a:xfrm>
            <a:off x="0" y="3462337"/>
            <a:ext cx="9144000" cy="3425161"/>
          </a:xfrm>
          <a:prstGeom prst="rect">
            <a:avLst/>
          </a:prstGeom>
          <a:solidFill>
            <a:srgbClr val="EAEAEA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仿宋_GB2312" pitchFamily="49" charset="-122"/>
              <a:cs typeface="+mn-cs"/>
            </a:endParaRPr>
          </a:p>
        </p:txBody>
      </p:sp>
      <p:grpSp>
        <p:nvGrpSpPr>
          <p:cNvPr id="132099" name="Group 2"/>
          <p:cNvGrpSpPr/>
          <p:nvPr/>
        </p:nvGrpSpPr>
        <p:grpSpPr>
          <a:xfrm>
            <a:off x="1752600" y="817563"/>
            <a:ext cx="6924675" cy="2611437"/>
            <a:chOff x="612" y="28"/>
            <a:chExt cx="4362" cy="1645"/>
          </a:xfrm>
        </p:grpSpPr>
        <p:sp>
          <p:nvSpPr>
            <p:cNvPr id="126992" name="Rectangle 3"/>
            <p:cNvSpPr>
              <a:spLocks noChangeArrowheads="1"/>
            </p:cNvSpPr>
            <p:nvPr/>
          </p:nvSpPr>
          <p:spPr bwMode="auto">
            <a:xfrm>
              <a:off x="2496" y="308"/>
              <a:ext cx="499" cy="323"/>
            </a:xfrm>
            <a:prstGeom prst="rect">
              <a:avLst/>
            </a:prstGeom>
            <a:solidFill>
              <a:srgbClr val="B8D4EC"/>
            </a:solidFill>
            <a:ln w="12700" cap="rnd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6993" name="Rectangle 4"/>
            <p:cNvSpPr>
              <a:spLocks noChangeArrowheads="1"/>
            </p:cNvSpPr>
            <p:nvPr/>
          </p:nvSpPr>
          <p:spPr bwMode="auto">
            <a:xfrm>
              <a:off x="3523" y="308"/>
              <a:ext cx="500" cy="323"/>
            </a:xfrm>
            <a:prstGeom prst="rect">
              <a:avLst/>
            </a:prstGeom>
            <a:solidFill>
              <a:srgbClr val="B8D4EC"/>
            </a:solidFill>
            <a:ln w="12700" cap="rnd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6994" name="Line 5"/>
            <p:cNvSpPr>
              <a:spLocks noChangeShapeType="1"/>
            </p:cNvSpPr>
            <p:nvPr/>
          </p:nvSpPr>
          <p:spPr bwMode="auto">
            <a:xfrm>
              <a:off x="3773" y="308"/>
              <a:ext cx="1" cy="336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6995" name="Line 6"/>
            <p:cNvSpPr>
              <a:spLocks noChangeShapeType="1"/>
            </p:cNvSpPr>
            <p:nvPr/>
          </p:nvSpPr>
          <p:spPr bwMode="auto">
            <a:xfrm>
              <a:off x="2727" y="308"/>
              <a:ext cx="0" cy="323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6996" name="Line 7"/>
            <p:cNvSpPr>
              <a:spLocks noChangeShapeType="1"/>
            </p:cNvSpPr>
            <p:nvPr/>
          </p:nvSpPr>
          <p:spPr bwMode="auto">
            <a:xfrm>
              <a:off x="2889" y="500"/>
              <a:ext cx="249" cy="0"/>
            </a:xfrm>
            <a:prstGeom prst="line">
              <a:avLst/>
            </a:prstGeom>
            <a:noFill/>
            <a:ln w="38100" cap="rnd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6997" name="Rectangle 8"/>
            <p:cNvSpPr>
              <a:spLocks noChangeArrowheads="1"/>
            </p:cNvSpPr>
            <p:nvPr/>
          </p:nvSpPr>
          <p:spPr bwMode="auto">
            <a:xfrm>
              <a:off x="1854" y="308"/>
              <a:ext cx="499" cy="323"/>
            </a:xfrm>
            <a:prstGeom prst="rect">
              <a:avLst/>
            </a:prstGeom>
            <a:solidFill>
              <a:srgbClr val="B8D4EC"/>
            </a:solidFill>
            <a:ln w="12700" cap="rnd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6998" name="Line 9"/>
            <p:cNvSpPr>
              <a:spLocks noChangeShapeType="1"/>
            </p:cNvSpPr>
            <p:nvPr/>
          </p:nvSpPr>
          <p:spPr bwMode="auto">
            <a:xfrm>
              <a:off x="2104" y="308"/>
              <a:ext cx="0" cy="323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6999" name="Line 10"/>
            <p:cNvSpPr>
              <a:spLocks noChangeShapeType="1"/>
            </p:cNvSpPr>
            <p:nvPr/>
          </p:nvSpPr>
          <p:spPr bwMode="auto">
            <a:xfrm>
              <a:off x="2246" y="500"/>
              <a:ext cx="250" cy="0"/>
            </a:xfrm>
            <a:prstGeom prst="line">
              <a:avLst/>
            </a:prstGeom>
            <a:noFill/>
            <a:ln w="38100" cap="rnd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00" name="Line 11"/>
            <p:cNvSpPr>
              <a:spLocks noChangeShapeType="1"/>
            </p:cNvSpPr>
            <p:nvPr/>
          </p:nvSpPr>
          <p:spPr bwMode="auto">
            <a:xfrm>
              <a:off x="3345" y="500"/>
              <a:ext cx="178" cy="1"/>
            </a:xfrm>
            <a:prstGeom prst="line">
              <a:avLst/>
            </a:prstGeom>
            <a:noFill/>
            <a:ln w="38100" cap="rnd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01" name="Line 12"/>
            <p:cNvSpPr>
              <a:spLocks noChangeShapeType="1"/>
            </p:cNvSpPr>
            <p:nvPr/>
          </p:nvSpPr>
          <p:spPr bwMode="auto">
            <a:xfrm>
              <a:off x="3175" y="500"/>
              <a:ext cx="14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02" name="Rectangle 13"/>
            <p:cNvSpPr>
              <a:spLocks noChangeArrowheads="1"/>
            </p:cNvSpPr>
            <p:nvPr/>
          </p:nvSpPr>
          <p:spPr bwMode="auto">
            <a:xfrm>
              <a:off x="1187" y="308"/>
              <a:ext cx="499" cy="323"/>
            </a:xfrm>
            <a:prstGeom prst="rect">
              <a:avLst/>
            </a:prstGeom>
            <a:solidFill>
              <a:srgbClr val="B8D4EC"/>
            </a:solidFill>
            <a:ln w="12700" cap="rnd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03" name="Line 14"/>
            <p:cNvSpPr>
              <a:spLocks noChangeShapeType="1"/>
            </p:cNvSpPr>
            <p:nvPr/>
          </p:nvSpPr>
          <p:spPr bwMode="auto">
            <a:xfrm>
              <a:off x="1436" y="308"/>
              <a:ext cx="0" cy="323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04" name="Line 15"/>
            <p:cNvSpPr>
              <a:spLocks noChangeShapeType="1"/>
            </p:cNvSpPr>
            <p:nvPr/>
          </p:nvSpPr>
          <p:spPr bwMode="auto">
            <a:xfrm>
              <a:off x="1579" y="500"/>
              <a:ext cx="249" cy="0"/>
            </a:xfrm>
            <a:prstGeom prst="line">
              <a:avLst/>
            </a:prstGeom>
            <a:noFill/>
            <a:ln w="38100" cap="rnd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05" name="Line 16"/>
            <p:cNvSpPr>
              <a:spLocks noChangeShapeType="1"/>
            </p:cNvSpPr>
            <p:nvPr/>
          </p:nvSpPr>
          <p:spPr bwMode="auto">
            <a:xfrm flipH="1">
              <a:off x="1187" y="308"/>
              <a:ext cx="125" cy="1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06" name="Line 17"/>
            <p:cNvSpPr>
              <a:spLocks noChangeShapeType="1"/>
            </p:cNvSpPr>
            <p:nvPr/>
          </p:nvSpPr>
          <p:spPr bwMode="auto">
            <a:xfrm flipH="1">
              <a:off x="1228" y="308"/>
              <a:ext cx="209" cy="33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07" name="Line 18"/>
            <p:cNvSpPr>
              <a:spLocks noChangeShapeType="1"/>
            </p:cNvSpPr>
            <p:nvPr/>
          </p:nvSpPr>
          <p:spPr bwMode="auto">
            <a:xfrm flipH="1">
              <a:off x="1312" y="500"/>
              <a:ext cx="125" cy="144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08" name="Line 19"/>
            <p:cNvSpPr>
              <a:spLocks noChangeShapeType="1"/>
            </p:cNvSpPr>
            <p:nvPr/>
          </p:nvSpPr>
          <p:spPr bwMode="auto">
            <a:xfrm>
              <a:off x="1943" y="754"/>
              <a:ext cx="2178" cy="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09" name="Text Box 20"/>
            <p:cNvSpPr txBox="1">
              <a:spLocks noChangeArrowheads="1"/>
            </p:cNvSpPr>
            <p:nvPr/>
          </p:nvSpPr>
          <p:spPr bwMode="auto">
            <a:xfrm>
              <a:off x="1863" y="308"/>
              <a:ext cx="2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a</a:t>
              </a: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1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10" name="Text Box 21"/>
            <p:cNvSpPr txBox="1">
              <a:spLocks noChangeArrowheads="1"/>
            </p:cNvSpPr>
            <p:nvPr/>
          </p:nvSpPr>
          <p:spPr bwMode="auto">
            <a:xfrm>
              <a:off x="3495" y="308"/>
              <a:ext cx="2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a</a:t>
              </a: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n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11" name="Rectangle 22"/>
            <p:cNvSpPr>
              <a:spLocks noChangeArrowheads="1"/>
            </p:cNvSpPr>
            <p:nvPr/>
          </p:nvSpPr>
          <p:spPr bwMode="auto">
            <a:xfrm>
              <a:off x="2496" y="1079"/>
              <a:ext cx="499" cy="323"/>
            </a:xfrm>
            <a:prstGeom prst="rect">
              <a:avLst/>
            </a:prstGeom>
            <a:solidFill>
              <a:srgbClr val="B8D4EC"/>
            </a:solidFill>
            <a:ln w="12700" cap="rnd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12" name="Rectangle 23"/>
            <p:cNvSpPr>
              <a:spLocks noChangeArrowheads="1"/>
            </p:cNvSpPr>
            <p:nvPr/>
          </p:nvSpPr>
          <p:spPr bwMode="auto">
            <a:xfrm>
              <a:off x="3523" y="1079"/>
              <a:ext cx="500" cy="323"/>
            </a:xfrm>
            <a:prstGeom prst="rect">
              <a:avLst/>
            </a:prstGeom>
            <a:solidFill>
              <a:srgbClr val="B8D4EC"/>
            </a:solidFill>
            <a:ln w="12700" cap="rnd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13" name="Line 24"/>
            <p:cNvSpPr>
              <a:spLocks noChangeShapeType="1"/>
            </p:cNvSpPr>
            <p:nvPr/>
          </p:nvSpPr>
          <p:spPr bwMode="auto">
            <a:xfrm>
              <a:off x="3773" y="1079"/>
              <a:ext cx="1" cy="336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14" name="Line 25"/>
            <p:cNvSpPr>
              <a:spLocks noChangeShapeType="1"/>
            </p:cNvSpPr>
            <p:nvPr/>
          </p:nvSpPr>
          <p:spPr bwMode="auto">
            <a:xfrm>
              <a:off x="2727" y="1079"/>
              <a:ext cx="0" cy="323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15" name="Line 26"/>
            <p:cNvSpPr>
              <a:spLocks noChangeShapeType="1"/>
            </p:cNvSpPr>
            <p:nvPr/>
          </p:nvSpPr>
          <p:spPr bwMode="auto">
            <a:xfrm>
              <a:off x="2889" y="1271"/>
              <a:ext cx="249" cy="0"/>
            </a:xfrm>
            <a:prstGeom prst="line">
              <a:avLst/>
            </a:prstGeom>
            <a:noFill/>
            <a:ln w="38100" cap="rnd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16" name="Rectangle 27"/>
            <p:cNvSpPr>
              <a:spLocks noChangeArrowheads="1"/>
            </p:cNvSpPr>
            <p:nvPr/>
          </p:nvSpPr>
          <p:spPr bwMode="auto">
            <a:xfrm>
              <a:off x="1854" y="1079"/>
              <a:ext cx="499" cy="323"/>
            </a:xfrm>
            <a:prstGeom prst="rect">
              <a:avLst/>
            </a:prstGeom>
            <a:solidFill>
              <a:srgbClr val="B8D4EC"/>
            </a:solidFill>
            <a:ln w="12700" cap="rnd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17" name="Line 28"/>
            <p:cNvSpPr>
              <a:spLocks noChangeShapeType="1"/>
            </p:cNvSpPr>
            <p:nvPr/>
          </p:nvSpPr>
          <p:spPr bwMode="auto">
            <a:xfrm>
              <a:off x="2104" y="1079"/>
              <a:ext cx="0" cy="323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18" name="Line 29"/>
            <p:cNvSpPr>
              <a:spLocks noChangeShapeType="1"/>
            </p:cNvSpPr>
            <p:nvPr/>
          </p:nvSpPr>
          <p:spPr bwMode="auto">
            <a:xfrm>
              <a:off x="2246" y="1271"/>
              <a:ext cx="250" cy="0"/>
            </a:xfrm>
            <a:prstGeom prst="line">
              <a:avLst/>
            </a:prstGeom>
            <a:noFill/>
            <a:ln w="38100" cap="rnd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19" name="Line 30"/>
            <p:cNvSpPr>
              <a:spLocks noChangeShapeType="1"/>
            </p:cNvSpPr>
            <p:nvPr/>
          </p:nvSpPr>
          <p:spPr bwMode="auto">
            <a:xfrm>
              <a:off x="3345" y="1271"/>
              <a:ext cx="178" cy="1"/>
            </a:xfrm>
            <a:prstGeom prst="line">
              <a:avLst/>
            </a:prstGeom>
            <a:noFill/>
            <a:ln w="38100" cap="rnd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20" name="Line 31"/>
            <p:cNvSpPr>
              <a:spLocks noChangeShapeType="1"/>
            </p:cNvSpPr>
            <p:nvPr/>
          </p:nvSpPr>
          <p:spPr bwMode="auto">
            <a:xfrm>
              <a:off x="3175" y="1271"/>
              <a:ext cx="14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21" name="Rectangle 32"/>
            <p:cNvSpPr>
              <a:spLocks noChangeArrowheads="1"/>
            </p:cNvSpPr>
            <p:nvPr/>
          </p:nvSpPr>
          <p:spPr bwMode="auto">
            <a:xfrm>
              <a:off x="1187" y="1079"/>
              <a:ext cx="499" cy="323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bg1"/>
              </a:solidFill>
              <a:prstDash val="dash"/>
              <a:miter lim="800000"/>
            </a:ln>
          </p:spPr>
          <p:txBody>
            <a:bodyPr wrap="none" anchor="ctr"/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22" name="Line 33"/>
            <p:cNvSpPr>
              <a:spLocks noChangeShapeType="1"/>
            </p:cNvSpPr>
            <p:nvPr/>
          </p:nvSpPr>
          <p:spPr bwMode="auto">
            <a:xfrm>
              <a:off x="1445" y="1071"/>
              <a:ext cx="0" cy="32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23" name="Line 34"/>
            <p:cNvSpPr>
              <a:spLocks noChangeShapeType="1"/>
            </p:cNvSpPr>
            <p:nvPr/>
          </p:nvSpPr>
          <p:spPr bwMode="auto">
            <a:xfrm flipH="1">
              <a:off x="1187" y="1079"/>
              <a:ext cx="125" cy="19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24" name="Line 35"/>
            <p:cNvSpPr>
              <a:spLocks noChangeShapeType="1"/>
            </p:cNvSpPr>
            <p:nvPr/>
          </p:nvSpPr>
          <p:spPr bwMode="auto">
            <a:xfrm flipH="1">
              <a:off x="1228" y="1079"/>
              <a:ext cx="209" cy="336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25" name="Line 36"/>
            <p:cNvSpPr>
              <a:spLocks noChangeShapeType="1"/>
            </p:cNvSpPr>
            <p:nvPr/>
          </p:nvSpPr>
          <p:spPr bwMode="auto">
            <a:xfrm flipH="1">
              <a:off x="1312" y="1271"/>
              <a:ext cx="125" cy="144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26" name="Text Box 37"/>
            <p:cNvSpPr txBox="1">
              <a:spLocks noChangeArrowheads="1"/>
            </p:cNvSpPr>
            <p:nvPr/>
          </p:nvSpPr>
          <p:spPr bwMode="auto">
            <a:xfrm>
              <a:off x="1863" y="1079"/>
              <a:ext cx="2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b</a:t>
              </a: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1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27" name="Text Box 38"/>
            <p:cNvSpPr txBox="1">
              <a:spLocks noChangeArrowheads="1"/>
            </p:cNvSpPr>
            <p:nvPr/>
          </p:nvSpPr>
          <p:spPr bwMode="auto">
            <a:xfrm>
              <a:off x="3495" y="1079"/>
              <a:ext cx="32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b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n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28" name="Freeform 39"/>
            <p:cNvSpPr>
              <a:spLocks noChangeArrowheads="1"/>
            </p:cNvSpPr>
            <p:nvPr/>
          </p:nvSpPr>
          <p:spPr bwMode="auto">
            <a:xfrm>
              <a:off x="1702" y="754"/>
              <a:ext cx="241" cy="453"/>
            </a:xfrm>
            <a:custGeom>
              <a:avLst/>
              <a:gdLst>
                <a:gd name="T0" fmla="*/ 241 w 241"/>
                <a:gd name="T1" fmla="*/ 0 h 453"/>
                <a:gd name="T2" fmla="*/ 60 w 241"/>
                <a:gd name="T3" fmla="*/ 90 h 453"/>
                <a:gd name="T4" fmla="*/ 15 w 241"/>
                <a:gd name="T5" fmla="*/ 272 h 453"/>
                <a:gd name="T6" fmla="*/ 151 w 241"/>
                <a:gd name="T7" fmla="*/ 453 h 4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1" h="453">
                  <a:moveTo>
                    <a:pt x="241" y="0"/>
                  </a:moveTo>
                  <a:cubicBezTo>
                    <a:pt x="169" y="22"/>
                    <a:pt x="98" y="45"/>
                    <a:pt x="60" y="90"/>
                  </a:cubicBezTo>
                  <a:cubicBezTo>
                    <a:pt x="22" y="135"/>
                    <a:pt x="0" y="212"/>
                    <a:pt x="15" y="272"/>
                  </a:cubicBezTo>
                  <a:cubicBezTo>
                    <a:pt x="30" y="332"/>
                    <a:pt x="90" y="392"/>
                    <a:pt x="151" y="453"/>
                  </a:cubicBezTo>
                </a:path>
              </a:pathLst>
            </a:custGeom>
            <a:noFill/>
            <a:ln w="38100" cap="sq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29" name="Freeform 40"/>
            <p:cNvSpPr>
              <a:spLocks noChangeArrowheads="1"/>
            </p:cNvSpPr>
            <p:nvPr/>
          </p:nvSpPr>
          <p:spPr bwMode="auto">
            <a:xfrm>
              <a:off x="3894" y="413"/>
              <a:ext cx="423" cy="341"/>
            </a:xfrm>
            <a:custGeom>
              <a:avLst/>
              <a:gdLst>
                <a:gd name="T0" fmla="*/ 0 w 423"/>
                <a:gd name="T1" fmla="*/ 23 h 341"/>
                <a:gd name="T2" fmla="*/ 272 w 423"/>
                <a:gd name="T3" fmla="*/ 23 h 341"/>
                <a:gd name="T4" fmla="*/ 408 w 423"/>
                <a:gd name="T5" fmla="*/ 159 h 341"/>
                <a:gd name="T6" fmla="*/ 363 w 423"/>
                <a:gd name="T7" fmla="*/ 250 h 341"/>
                <a:gd name="T8" fmla="*/ 227 w 423"/>
                <a:gd name="T9" fmla="*/ 341 h 3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3" h="341">
                  <a:moveTo>
                    <a:pt x="0" y="23"/>
                  </a:moveTo>
                  <a:cubicBezTo>
                    <a:pt x="102" y="11"/>
                    <a:pt x="204" y="0"/>
                    <a:pt x="272" y="23"/>
                  </a:cubicBezTo>
                  <a:cubicBezTo>
                    <a:pt x="340" y="46"/>
                    <a:pt x="393" y="121"/>
                    <a:pt x="408" y="159"/>
                  </a:cubicBezTo>
                  <a:cubicBezTo>
                    <a:pt x="423" y="197"/>
                    <a:pt x="393" y="220"/>
                    <a:pt x="363" y="250"/>
                  </a:cubicBezTo>
                  <a:cubicBezTo>
                    <a:pt x="333" y="280"/>
                    <a:pt x="280" y="310"/>
                    <a:pt x="227" y="341"/>
                  </a:cubicBezTo>
                </a:path>
              </a:pathLst>
            </a:custGeom>
            <a:noFill/>
            <a:ln w="38100" cap="sq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30" name="Line 41"/>
            <p:cNvSpPr>
              <a:spLocks noChangeShapeType="1"/>
            </p:cNvSpPr>
            <p:nvPr/>
          </p:nvSpPr>
          <p:spPr bwMode="auto">
            <a:xfrm>
              <a:off x="1082" y="1525"/>
              <a:ext cx="3039" cy="0"/>
            </a:xfrm>
            <a:prstGeom prst="line">
              <a:avLst/>
            </a:prstGeom>
            <a:noFill/>
            <a:ln w="38100" cap="sq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31" name="Freeform 42"/>
            <p:cNvSpPr>
              <a:spLocks noChangeArrowheads="1"/>
            </p:cNvSpPr>
            <p:nvPr/>
          </p:nvSpPr>
          <p:spPr bwMode="auto">
            <a:xfrm>
              <a:off x="3894" y="1238"/>
              <a:ext cx="462" cy="287"/>
            </a:xfrm>
            <a:custGeom>
              <a:avLst/>
              <a:gdLst>
                <a:gd name="T0" fmla="*/ 0 w 462"/>
                <a:gd name="T1" fmla="*/ 15 h 287"/>
                <a:gd name="T2" fmla="*/ 317 w 462"/>
                <a:gd name="T3" fmla="*/ 15 h 287"/>
                <a:gd name="T4" fmla="*/ 454 w 462"/>
                <a:gd name="T5" fmla="*/ 105 h 287"/>
                <a:gd name="T6" fmla="*/ 363 w 462"/>
                <a:gd name="T7" fmla="*/ 241 h 287"/>
                <a:gd name="T8" fmla="*/ 181 w 462"/>
                <a:gd name="T9" fmla="*/ 287 h 2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2" h="287">
                  <a:moveTo>
                    <a:pt x="0" y="15"/>
                  </a:moveTo>
                  <a:cubicBezTo>
                    <a:pt x="121" y="7"/>
                    <a:pt x="242" y="0"/>
                    <a:pt x="317" y="15"/>
                  </a:cubicBezTo>
                  <a:cubicBezTo>
                    <a:pt x="392" y="30"/>
                    <a:pt x="446" y="67"/>
                    <a:pt x="454" y="105"/>
                  </a:cubicBezTo>
                  <a:cubicBezTo>
                    <a:pt x="462" y="143"/>
                    <a:pt x="409" y="211"/>
                    <a:pt x="363" y="241"/>
                  </a:cubicBezTo>
                  <a:cubicBezTo>
                    <a:pt x="317" y="271"/>
                    <a:pt x="249" y="279"/>
                    <a:pt x="181" y="287"/>
                  </a:cubicBezTo>
                </a:path>
              </a:pathLst>
            </a:custGeom>
            <a:noFill/>
            <a:ln w="38100" cap="sq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32" name="Freeform 43"/>
            <p:cNvSpPr>
              <a:spLocks noChangeArrowheads="1"/>
            </p:cNvSpPr>
            <p:nvPr/>
          </p:nvSpPr>
          <p:spPr bwMode="auto">
            <a:xfrm>
              <a:off x="748" y="474"/>
              <a:ext cx="424" cy="1051"/>
            </a:xfrm>
            <a:custGeom>
              <a:avLst/>
              <a:gdLst>
                <a:gd name="T0" fmla="*/ 334 w 424"/>
                <a:gd name="T1" fmla="*/ 1051 h 1051"/>
                <a:gd name="T2" fmla="*/ 198 w 424"/>
                <a:gd name="T3" fmla="*/ 1005 h 1051"/>
                <a:gd name="T4" fmla="*/ 61 w 424"/>
                <a:gd name="T5" fmla="*/ 869 h 1051"/>
                <a:gd name="T6" fmla="*/ 61 w 424"/>
                <a:gd name="T7" fmla="*/ 144 h 1051"/>
                <a:gd name="T8" fmla="*/ 424 w 424"/>
                <a:gd name="T9" fmla="*/ 7 h 10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4" h="1051">
                  <a:moveTo>
                    <a:pt x="334" y="1051"/>
                  </a:moveTo>
                  <a:cubicBezTo>
                    <a:pt x="289" y="1043"/>
                    <a:pt x="244" y="1035"/>
                    <a:pt x="198" y="1005"/>
                  </a:cubicBezTo>
                  <a:cubicBezTo>
                    <a:pt x="152" y="975"/>
                    <a:pt x="84" y="1012"/>
                    <a:pt x="61" y="869"/>
                  </a:cubicBezTo>
                  <a:cubicBezTo>
                    <a:pt x="38" y="726"/>
                    <a:pt x="0" y="288"/>
                    <a:pt x="61" y="144"/>
                  </a:cubicBezTo>
                  <a:cubicBezTo>
                    <a:pt x="122" y="0"/>
                    <a:pt x="273" y="3"/>
                    <a:pt x="424" y="7"/>
                  </a:cubicBezTo>
                </a:path>
              </a:pathLst>
            </a:custGeom>
            <a:noFill/>
            <a:ln w="38100" cap="sq">
              <a:solidFill>
                <a:schemeClr val="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33" name="Text Box 44"/>
            <p:cNvSpPr txBox="1">
              <a:spLocks noChangeArrowheads="1"/>
            </p:cNvSpPr>
            <p:nvPr/>
          </p:nvSpPr>
          <p:spPr bwMode="auto">
            <a:xfrm>
              <a:off x="884" y="28"/>
              <a:ext cx="25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①</a:t>
              </a:r>
            </a:p>
          </p:txBody>
        </p:sp>
        <p:sp>
          <p:nvSpPr>
            <p:cNvPr id="127034" name="Line 45"/>
            <p:cNvSpPr>
              <a:spLocks noChangeShapeType="1"/>
            </p:cNvSpPr>
            <p:nvPr/>
          </p:nvSpPr>
          <p:spPr bwMode="auto">
            <a:xfrm>
              <a:off x="793" y="345"/>
              <a:ext cx="363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127035" name="Text Box 46"/>
            <p:cNvSpPr txBox="1">
              <a:spLocks noChangeArrowheads="1"/>
            </p:cNvSpPr>
            <p:nvPr/>
          </p:nvSpPr>
          <p:spPr bwMode="auto">
            <a:xfrm>
              <a:off x="612" y="73"/>
              <a:ext cx="27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p</a:t>
              </a:r>
            </a:p>
          </p:txBody>
        </p:sp>
        <p:sp>
          <p:nvSpPr>
            <p:cNvPr id="127036" name="Text Box 47"/>
            <p:cNvSpPr txBox="1">
              <a:spLocks noChangeArrowheads="1"/>
            </p:cNvSpPr>
            <p:nvPr/>
          </p:nvSpPr>
          <p:spPr bwMode="auto">
            <a:xfrm>
              <a:off x="4306" y="482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②</a:t>
              </a:r>
            </a:p>
          </p:txBody>
        </p:sp>
        <p:sp>
          <p:nvSpPr>
            <p:cNvPr id="127037" name="Text Box 48"/>
            <p:cNvSpPr txBox="1">
              <a:spLocks noChangeArrowheads="1"/>
            </p:cNvSpPr>
            <p:nvPr/>
          </p:nvSpPr>
          <p:spPr bwMode="auto">
            <a:xfrm>
              <a:off x="1020" y="844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③</a:t>
              </a:r>
            </a:p>
          </p:txBody>
        </p:sp>
        <p:sp>
          <p:nvSpPr>
            <p:cNvPr id="127038" name="Text Box 49"/>
            <p:cNvSpPr txBox="1">
              <a:spLocks noChangeArrowheads="1"/>
            </p:cNvSpPr>
            <p:nvPr/>
          </p:nvSpPr>
          <p:spPr bwMode="auto">
            <a:xfrm>
              <a:off x="4261" y="1343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④</a:t>
              </a:r>
            </a:p>
          </p:txBody>
        </p:sp>
        <p:sp>
          <p:nvSpPr>
            <p:cNvPr id="127039" name="Text Box 54"/>
            <p:cNvSpPr txBox="1">
              <a:spLocks noChangeArrowheads="1"/>
            </p:cNvSpPr>
            <p:nvPr/>
          </p:nvSpPr>
          <p:spPr bwMode="auto">
            <a:xfrm>
              <a:off x="4542" y="164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Ta</a:t>
              </a:r>
            </a:p>
          </p:txBody>
        </p:sp>
        <p:sp>
          <p:nvSpPr>
            <p:cNvPr id="127040" name="Text Box 59"/>
            <p:cNvSpPr txBox="1">
              <a:spLocks noChangeArrowheads="1"/>
            </p:cNvSpPr>
            <p:nvPr/>
          </p:nvSpPr>
          <p:spPr bwMode="auto">
            <a:xfrm>
              <a:off x="4542" y="935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Tb</a:t>
              </a:r>
            </a:p>
          </p:txBody>
        </p:sp>
      </p:grpSp>
      <p:sp>
        <p:nvSpPr>
          <p:cNvPr id="126979" name="Text Box 60"/>
          <p:cNvSpPr txBox="1">
            <a:spLocks noChangeArrowheads="1"/>
          </p:cNvSpPr>
          <p:nvPr/>
        </p:nvSpPr>
        <p:spPr bwMode="auto">
          <a:xfrm>
            <a:off x="683568" y="3501008"/>
            <a:ext cx="8136904" cy="334995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LinkList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Connect(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LinkList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Ta,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LinkList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Tb)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                                       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// ① p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存表头结点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                                       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// ② Tb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表头连结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Ta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表尾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                                       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// ③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释放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Tb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表头结点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                                       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// ④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修改指针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     return  Tb; }</a:t>
            </a:r>
          </a:p>
        </p:txBody>
      </p:sp>
      <p:sp>
        <p:nvSpPr>
          <p:cNvPr id="64" name="Text Box 125"/>
          <p:cNvSpPr txBox="1">
            <a:spLocks noChangeArrowheads="1"/>
          </p:cNvSpPr>
          <p:nvPr/>
        </p:nvSpPr>
        <p:spPr bwMode="auto">
          <a:xfrm>
            <a:off x="1265411" y="4169623"/>
            <a:ext cx="18519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p = Ta-&gt;next;</a:t>
            </a:r>
          </a:p>
        </p:txBody>
      </p:sp>
      <p:sp>
        <p:nvSpPr>
          <p:cNvPr id="65" name="Text Box 126"/>
          <p:cNvSpPr txBox="1">
            <a:spLocks noChangeArrowheads="1"/>
          </p:cNvSpPr>
          <p:nvPr/>
        </p:nvSpPr>
        <p:spPr bwMode="auto">
          <a:xfrm>
            <a:off x="1261983" y="4700458"/>
            <a:ext cx="36489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Ta-&gt;next = Tb-&gt;next-&gt;next;</a:t>
            </a:r>
          </a:p>
        </p:txBody>
      </p:sp>
      <p:sp>
        <p:nvSpPr>
          <p:cNvPr id="66" name="Rectangle 127"/>
          <p:cNvSpPr>
            <a:spLocks noChangeArrowheads="1"/>
          </p:cNvSpPr>
          <p:nvPr/>
        </p:nvSpPr>
        <p:spPr bwMode="auto">
          <a:xfrm>
            <a:off x="1265411" y="5231293"/>
            <a:ext cx="22197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delete Tb-&gt;next;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67" name="Rectangle 128"/>
          <p:cNvSpPr>
            <a:spLocks noChangeArrowheads="1"/>
          </p:cNvSpPr>
          <p:nvPr/>
        </p:nvSpPr>
        <p:spPr bwMode="auto">
          <a:xfrm>
            <a:off x="1265411" y="5762128"/>
            <a:ext cx="20449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Tb-&gt;next = p;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126984" name="Line 67"/>
          <p:cNvSpPr>
            <a:spLocks noChangeShapeType="1"/>
          </p:cNvSpPr>
          <p:nvPr/>
        </p:nvSpPr>
        <p:spPr bwMode="auto">
          <a:xfrm flipH="1">
            <a:off x="7534275" y="2492375"/>
            <a:ext cx="450850" cy="0"/>
          </a:xfrm>
          <a:prstGeom prst="line">
            <a:avLst/>
          </a:prstGeom>
          <a:noFill/>
          <a:ln w="38100" cap="rnd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126985" name="Freeform 68"/>
          <p:cNvSpPr>
            <a:spLocks noChangeArrowheads="1"/>
          </p:cNvSpPr>
          <p:nvPr/>
        </p:nvSpPr>
        <p:spPr bwMode="auto">
          <a:xfrm rot="18805494" flipH="1">
            <a:off x="7605713" y="2452688"/>
            <a:ext cx="4763" cy="236538"/>
          </a:xfrm>
          <a:custGeom>
            <a:avLst/>
            <a:gdLst>
              <a:gd name="T0" fmla="*/ 2147483646 w 3"/>
              <a:gd name="T1" fmla="*/ 0 h 177"/>
              <a:gd name="T2" fmla="*/ 0 w 3"/>
              <a:gd name="T3" fmla="*/ 2147483646 h 17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" h="177">
                <a:moveTo>
                  <a:pt x="3" y="0"/>
                </a:moveTo>
                <a:cubicBezTo>
                  <a:pt x="3" y="29"/>
                  <a:pt x="1" y="140"/>
                  <a:pt x="0" y="177"/>
                </a:cubicBezTo>
              </a:path>
            </a:pathLst>
          </a:custGeom>
          <a:noFill/>
          <a:ln w="38100" cap="rnd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126986" name="Line 69"/>
          <p:cNvSpPr>
            <a:spLocks noChangeShapeType="1"/>
          </p:cNvSpPr>
          <p:nvPr/>
        </p:nvSpPr>
        <p:spPr bwMode="auto">
          <a:xfrm flipH="1">
            <a:off x="7146925" y="2644775"/>
            <a:ext cx="515938" cy="0"/>
          </a:xfrm>
          <a:prstGeom prst="line">
            <a:avLst/>
          </a:prstGeom>
          <a:noFill/>
          <a:ln w="38100" cap="rnd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126987" name="Line 67"/>
          <p:cNvSpPr>
            <a:spLocks noChangeShapeType="1"/>
          </p:cNvSpPr>
          <p:nvPr/>
        </p:nvSpPr>
        <p:spPr bwMode="auto">
          <a:xfrm flipH="1">
            <a:off x="7499350" y="1182688"/>
            <a:ext cx="452438" cy="0"/>
          </a:xfrm>
          <a:prstGeom prst="line">
            <a:avLst/>
          </a:prstGeom>
          <a:noFill/>
          <a:ln w="38100" cap="rnd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126988" name="Freeform 68"/>
          <p:cNvSpPr>
            <a:spLocks noChangeArrowheads="1"/>
          </p:cNvSpPr>
          <p:nvPr/>
        </p:nvSpPr>
        <p:spPr bwMode="auto">
          <a:xfrm rot="18805494" flipH="1">
            <a:off x="7572375" y="1143000"/>
            <a:ext cx="4763" cy="236538"/>
          </a:xfrm>
          <a:custGeom>
            <a:avLst/>
            <a:gdLst>
              <a:gd name="T0" fmla="*/ 2147483646 w 3"/>
              <a:gd name="T1" fmla="*/ 0 h 177"/>
              <a:gd name="T2" fmla="*/ 0 w 3"/>
              <a:gd name="T3" fmla="*/ 2147483646 h 17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" h="177">
                <a:moveTo>
                  <a:pt x="3" y="0"/>
                </a:moveTo>
                <a:cubicBezTo>
                  <a:pt x="3" y="29"/>
                  <a:pt x="1" y="140"/>
                  <a:pt x="0" y="177"/>
                </a:cubicBezTo>
              </a:path>
            </a:pathLst>
          </a:custGeom>
          <a:noFill/>
          <a:ln w="38100" cap="rnd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126989" name="Line 69"/>
          <p:cNvSpPr>
            <a:spLocks noChangeShapeType="1"/>
          </p:cNvSpPr>
          <p:nvPr/>
        </p:nvSpPr>
        <p:spPr bwMode="auto">
          <a:xfrm flipH="1">
            <a:off x="7113588" y="1335088"/>
            <a:ext cx="515938" cy="0"/>
          </a:xfrm>
          <a:prstGeom prst="line">
            <a:avLst/>
          </a:prstGeom>
          <a:noFill/>
          <a:ln w="38100" cap="rnd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126991" name="Text Box 6"/>
          <p:cNvSpPr txBox="1">
            <a:spLocks noChangeArrowheads="1"/>
          </p:cNvSpPr>
          <p:nvPr/>
        </p:nvSpPr>
        <p:spPr bwMode="auto">
          <a:xfrm>
            <a:off x="463550" y="1847850"/>
            <a:ext cx="11525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示例</a:t>
            </a:r>
          </a:p>
        </p:txBody>
      </p:sp>
      <p:sp>
        <p:nvSpPr>
          <p:cNvPr id="68" name="Rectangle 4"/>
          <p:cNvSpPr>
            <a:spLocks noChangeArrowheads="1"/>
          </p:cNvSpPr>
          <p:nvPr/>
        </p:nvSpPr>
        <p:spPr bwMode="auto">
          <a:xfrm>
            <a:off x="889000" y="139700"/>
            <a:ext cx="71643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循环链表的合并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6" grpId="0"/>
      <p:bldP spid="6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31800" y="258763"/>
            <a:ext cx="7777163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133124" name="Text Box 6"/>
          <p:cNvSpPr txBox="1"/>
          <p:nvPr/>
        </p:nvSpPr>
        <p:spPr>
          <a:xfrm>
            <a:off x="798513" y="230188"/>
            <a:ext cx="2428875" cy="5222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约瑟夫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环</a:t>
            </a: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Times New Roman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0" y="752475"/>
            <a:ext cx="9144000" cy="3816424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="ctr"/>
          <a:lstStyle>
            <a:lvl1pPr marL="269875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在罗马人占领乔塔帕特后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，著名犹太历史学家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Josephus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及他的朋友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与另外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39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个犹太人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躲到一个洞中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39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个犹太人决定宁愿死也不要被敌人抓到，于是决定了一个自杀方式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41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个人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排成一个圆圈，由第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1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个人开始报数，每报数到第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3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，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该人就必须自杀，然后再由下一个重新报数，直到所有人都自杀身亡为止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。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然而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 Josephus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和他的朋友并不想遵从，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Josephus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要他的朋友先假装遵从，他将朋友与自己安排在第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16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个与第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31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个位置，于是逃过了这场死亡游戏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D1B657-32D2-425F-8CD0-EBDB96B4B844}"/>
              </a:ext>
            </a:extLst>
          </p:cNvPr>
          <p:cNvSpPr txBox="1"/>
          <p:nvPr/>
        </p:nvSpPr>
        <p:spPr>
          <a:xfrm>
            <a:off x="283056" y="4614950"/>
            <a:ext cx="8577888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个人围成一个圆圈，从第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个人开始顺时针报数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,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报到第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m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个人，令其出列。然后再从下一个人开始从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顺时针报数，报到第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m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个人，再令其出列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ea typeface="Microsoft YaHei"/>
              </a:rPr>
              <a:t>。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如此下去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,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直到圆圈中只剩一人为止。此人即为优胜者。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build="allAtOnce" animBg="1"/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idx="1" hasCustomPrompt="1"/>
          </p:nvPr>
        </p:nvSpPr>
        <p:spPr>
          <a:xfrm>
            <a:off x="114300" y="889000"/>
            <a:ext cx="60960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例如  </a:t>
            </a:r>
            <a:r>
              <a:rPr kumimoji="1" lang="en-US" altLang="zh-CN" b="0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 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= 8   </a:t>
            </a:r>
            <a:r>
              <a:rPr kumimoji="1" lang="en-US" altLang="zh-CN" b="0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m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= 3</a:t>
            </a:r>
          </a:p>
        </p:txBody>
      </p:sp>
      <p:pic>
        <p:nvPicPr>
          <p:cNvPr id="134148" name="Picture 3"/>
          <p:cNvPicPr>
            <a:picLocks noChangeAspect="1"/>
          </p:cNvPicPr>
          <p:nvPr/>
        </p:nvPicPr>
        <p:blipFill>
          <a:blip r:embed="rId2"/>
          <a:srcRect r="43996"/>
          <a:stretch>
            <a:fillRect/>
          </a:stretch>
        </p:blipFill>
        <p:spPr>
          <a:xfrm>
            <a:off x="0" y="1556792"/>
            <a:ext cx="8928100" cy="2590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4149" name="Picture 4"/>
          <p:cNvPicPr>
            <a:picLocks noChangeAspect="1"/>
          </p:cNvPicPr>
          <p:nvPr/>
        </p:nvPicPr>
        <p:blipFill>
          <a:blip r:embed="rId2"/>
          <a:srcRect l="56342"/>
          <a:stretch>
            <a:fillRect/>
          </a:stretch>
        </p:blipFill>
        <p:spPr>
          <a:xfrm>
            <a:off x="841375" y="3821113"/>
            <a:ext cx="7403033" cy="2763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4150" name="Text Box 6"/>
          <p:cNvSpPr txBox="1"/>
          <p:nvPr/>
        </p:nvSpPr>
        <p:spPr>
          <a:xfrm>
            <a:off x="798513" y="230188"/>
            <a:ext cx="2428875" cy="5222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约瑟夫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环</a:t>
            </a: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Times New Roman"/>
              <a:ea typeface="微软雅黑" panose="020B0503020204020204" pitchFamily="34" charset="-122"/>
              <a:cs typeface="+mn-cs"/>
              <a:sym typeface="+mn-lt"/>
            </a:endParaRPr>
          </a:p>
        </p:txBody>
      </p:sp>
    </p:spTree>
  </p:cSld>
  <p:clrMapOvr>
    <a:masterClrMapping/>
  </p:clrMapOvr>
  <p:transition>
    <p:split orient="vert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矩形 4"/>
          <p:cNvSpPr/>
          <p:nvPr/>
        </p:nvSpPr>
        <p:spPr>
          <a:xfrm>
            <a:off x="-14287" y="1196752"/>
            <a:ext cx="9144000" cy="25922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仿宋_GB2312" pitchFamily="49" charset="-122"/>
              <a:cs typeface="+mn-cs"/>
            </a:endParaRPr>
          </a:p>
        </p:txBody>
      </p:sp>
      <p:sp>
        <p:nvSpPr>
          <p:cNvPr id="586754" name="Text Box 1026"/>
          <p:cNvSpPr txBox="1">
            <a:spLocks noChangeArrowheads="1"/>
          </p:cNvSpPr>
          <p:nvPr/>
        </p:nvSpPr>
        <p:spPr bwMode="auto">
          <a:xfrm>
            <a:off x="323527" y="1418285"/>
            <a:ext cx="8496945" cy="214922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12947" tIns="56473" rIns="112947" bIns="56473">
            <a:spAutoFit/>
          </a:bodyPr>
          <a:lstStyle/>
          <a:p>
            <a:pPr marL="0" marR="0" lvl="0" indent="0" algn="l" defTabSz="1128395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Status Josephus (</a:t>
            </a:r>
            <a:r>
              <a:rPr kumimoji="1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CircleList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&amp; </a:t>
            </a:r>
            <a:r>
              <a:rPr kumimoji="1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js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, int n, int m) {</a:t>
            </a:r>
          </a:p>
          <a:p>
            <a:pPr marL="0" marR="0" lvl="0" indent="0" algn="l" defTabSz="1128395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//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请用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C/C++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实现完整的代码，求解约瑟夫环问题</a:t>
            </a:r>
          </a:p>
          <a:p>
            <a:pPr marL="0" marR="0" lvl="0" indent="0" algn="l" defTabSz="1128395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}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135173" name="Text Box 6"/>
          <p:cNvSpPr txBox="1"/>
          <p:nvPr/>
        </p:nvSpPr>
        <p:spPr>
          <a:xfrm>
            <a:off x="798513" y="230188"/>
            <a:ext cx="3053407" cy="5222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求解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约瑟夫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环问题</a:t>
            </a: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Times New Roman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2" name="爆炸形: 14 pt  1">
            <a:extLst>
              <a:ext uri="{FF2B5EF4-FFF2-40B4-BE49-F238E27FC236}">
                <a16:creationId xmlns:a16="http://schemas.microsoft.com/office/drawing/2014/main" id="{F8B965A9-4734-4262-ABB9-418AB7DC7FE6}"/>
              </a:ext>
            </a:extLst>
          </p:cNvPr>
          <p:cNvSpPr/>
          <p:nvPr/>
        </p:nvSpPr>
        <p:spPr bwMode="auto">
          <a:xfrm>
            <a:off x="2987824" y="3921386"/>
            <a:ext cx="3312368" cy="2242934"/>
          </a:xfrm>
          <a:prstGeom prst="irregularSeal2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作业！</a:t>
            </a:r>
          </a:p>
        </p:txBody>
      </p:sp>
    </p:spTree>
  </p:cSld>
  <p:clrMapOvr>
    <a:masterClrMapping/>
  </p:clrMapOvr>
  <p:transition>
    <p:split orient="vert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线性表的类型定义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线性表的顺序表示和实现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线性表的链式表示和实现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线性链表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循环链表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双向链表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一元多项式的表示及相加</a:t>
            </a:r>
          </a:p>
        </p:txBody>
      </p:sp>
    </p:spTree>
    <p:extLst>
      <p:ext uri="{BB962C8B-B14F-4D97-AF65-F5344CB8AC3E}">
        <p14:creationId xmlns:p14="http://schemas.microsoft.com/office/powerpoint/2010/main" val="2939539599"/>
      </p:ext>
    </p:extLst>
  </p:cSld>
  <p:clrMapOvr>
    <a:masterClrMapping/>
  </p:clrMapOvr>
  <p:transition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矩形 2"/>
          <p:cNvSpPr/>
          <p:nvPr/>
        </p:nvSpPr>
        <p:spPr>
          <a:xfrm>
            <a:off x="0" y="1700808"/>
            <a:ext cx="9144000" cy="3402086"/>
          </a:xfrm>
          <a:prstGeom prst="rect">
            <a:avLst/>
          </a:prstGeom>
          <a:solidFill>
            <a:srgbClr val="D2D2F4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仿宋_GB2312" pitchFamily="49" charset="-122"/>
              <a:cs typeface="+mn-cs"/>
            </a:endParaRPr>
          </a:p>
        </p:txBody>
      </p:sp>
      <p:sp>
        <p:nvSpPr>
          <p:cNvPr id="131080" name="Text Box 6"/>
          <p:cNvSpPr txBox="1">
            <a:spLocks noChangeArrowheads="1"/>
          </p:cNvSpPr>
          <p:nvPr/>
        </p:nvSpPr>
        <p:spPr bwMode="auto">
          <a:xfrm>
            <a:off x="344860" y="1700880"/>
            <a:ext cx="4056063" cy="3246438"/>
          </a:xfrm>
          <a:prstGeom prst="rect">
            <a:avLst/>
          </a:prstGeom>
          <a:solidFill>
            <a:srgbClr val="D2D2F4"/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typedef struct {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ElemType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data;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struct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DuLNode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*prior;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struct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DuLNode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*next;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}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DuLNode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, *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DuLinkList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;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824F91A-E557-4784-B322-DB0F6BC09248}"/>
              </a:ext>
            </a:extLst>
          </p:cNvPr>
          <p:cNvGrpSpPr/>
          <p:nvPr/>
        </p:nvGrpSpPr>
        <p:grpSpPr>
          <a:xfrm>
            <a:off x="4572373" y="3356992"/>
            <a:ext cx="4536131" cy="1296144"/>
            <a:chOff x="4572373" y="3356992"/>
            <a:chExt cx="4536131" cy="1296144"/>
          </a:xfrm>
        </p:grpSpPr>
        <p:graphicFrame>
          <p:nvGraphicFramePr>
            <p:cNvPr id="662531" name="Object 3"/>
            <p:cNvGraphicFramePr/>
            <p:nvPr>
              <p:extLst>
                <p:ext uri="{D42A27DB-BD31-4B8C-83A1-F6EECF244321}">
                  <p14:modId xmlns:p14="http://schemas.microsoft.com/office/powerpoint/2010/main" val="2425422235"/>
                </p:ext>
              </p:extLst>
            </p:nvPr>
          </p:nvGraphicFramePr>
          <p:xfrm>
            <a:off x="5374061" y="3356992"/>
            <a:ext cx="3734443" cy="1296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39" r:id="rId3" imgW="1744980" imgH="589280" progId="Visio.Drawing.11">
                    <p:embed/>
                  </p:oleObj>
                </mc:Choice>
                <mc:Fallback>
                  <p:oleObj r:id="rId3" imgW="1744980" imgH="589280" progId="Visio.Drawing.11">
                    <p:embed/>
                    <p:pic>
                      <p:nvPicPr>
                        <p:cNvPr id="662531" name="Object 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374061" y="3356992"/>
                          <a:ext cx="3734443" cy="12961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1081" name="Line 7"/>
            <p:cNvSpPr>
              <a:spLocks noChangeShapeType="1"/>
            </p:cNvSpPr>
            <p:nvPr/>
          </p:nvSpPr>
          <p:spPr bwMode="auto">
            <a:xfrm flipH="1" flipV="1">
              <a:off x="4572373" y="3501105"/>
              <a:ext cx="801688" cy="392113"/>
            </a:xfrm>
            <a:prstGeom prst="line">
              <a:avLst/>
            </a:prstGeom>
            <a:solidFill>
              <a:srgbClr val="D2D2F4"/>
            </a:solidFill>
            <a:ln w="76200">
              <a:solidFill>
                <a:srgbClr val="FF00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</p:grpSp>
      <p:sp>
        <p:nvSpPr>
          <p:cNvPr id="131077" name="Rectangle 8"/>
          <p:cNvSpPr>
            <a:spLocks noChangeArrowheads="1"/>
          </p:cNvSpPr>
          <p:nvPr/>
        </p:nvSpPr>
        <p:spPr bwMode="auto">
          <a:xfrm>
            <a:off x="836613" y="166688"/>
            <a:ext cx="71659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双向链表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CC0236-5D47-4795-81A8-1CC661D73D30}"/>
              </a:ext>
            </a:extLst>
          </p:cNvPr>
          <p:cNvSpPr txBox="1"/>
          <p:nvPr/>
        </p:nvSpPr>
        <p:spPr>
          <a:xfrm>
            <a:off x="179512" y="1027422"/>
            <a:ext cx="8784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双向链表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是指在前驱和后继方向都能遍历的线性链表。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1A5E56-037A-44AA-BE2B-F2B021141542}"/>
              </a:ext>
            </a:extLst>
          </p:cNvPr>
          <p:cNvSpPr txBox="1"/>
          <p:nvPr/>
        </p:nvSpPr>
        <p:spPr>
          <a:xfrm>
            <a:off x="107877" y="5319496"/>
            <a:ext cx="8928992" cy="1284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19903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rPr>
              <a:t>从任一结点出发可以快速找到其前驱结点和后继结点；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Consolas" pitchFamily="49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19903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rPr>
              <a:t>从任一结点出发可以访问其他结点。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0" grpId="0" animBg="1"/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矩形 4"/>
          <p:cNvSpPr/>
          <p:nvPr/>
        </p:nvSpPr>
        <p:spPr>
          <a:xfrm>
            <a:off x="0" y="5589240"/>
            <a:ext cx="9144000" cy="111958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仿宋_GB2312" pitchFamily="49" charset="-122"/>
              <a:cs typeface="+mn-cs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92075" y="1052736"/>
            <a:ext cx="3201988" cy="1468437"/>
            <a:chOff x="143" y="624"/>
            <a:chExt cx="2017" cy="925"/>
          </a:xfrm>
        </p:grpSpPr>
        <p:graphicFrame>
          <p:nvGraphicFramePr>
            <p:cNvPr id="137228" name="Object 3"/>
            <p:cNvGraphicFramePr/>
            <p:nvPr/>
          </p:nvGraphicFramePr>
          <p:xfrm>
            <a:off x="192" y="624"/>
            <a:ext cx="1968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98" r:id="rId3" imgW="2025650" imgH="562610" progId="Visio.Drawing.11">
                    <p:embed/>
                  </p:oleObj>
                </mc:Choice>
                <mc:Fallback>
                  <p:oleObj r:id="rId3" imgW="2025650" imgH="562610" progId="Visio.Drawing.11">
                    <p:embed/>
                    <p:pic>
                      <p:nvPicPr>
                        <p:cNvPr id="137228" name="Object 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2" y="624"/>
                          <a:ext cx="1968" cy="545"/>
                        </a:xfrm>
                        <a:prstGeom prst="rect">
                          <a:avLst/>
                        </a:prstGeom>
                        <a:solidFill>
                          <a:srgbClr val="D2D2F4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2107" name="Text Box 4"/>
            <p:cNvSpPr txBox="1">
              <a:spLocks noChangeArrowheads="1"/>
            </p:cNvSpPr>
            <p:nvPr/>
          </p:nvSpPr>
          <p:spPr bwMode="auto">
            <a:xfrm>
              <a:off x="143" y="1258"/>
              <a:ext cx="185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(a) 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空双向循环链表</a:t>
              </a:r>
            </a:p>
          </p:txBody>
        </p:sp>
      </p:grpSp>
      <p:grpSp>
        <p:nvGrpSpPr>
          <p:cNvPr id="3" name="Group 5"/>
          <p:cNvGrpSpPr/>
          <p:nvPr/>
        </p:nvGrpSpPr>
        <p:grpSpPr>
          <a:xfrm>
            <a:off x="161925" y="3082925"/>
            <a:ext cx="8928100" cy="2016125"/>
            <a:chOff x="136" y="1744"/>
            <a:chExt cx="5624" cy="1270"/>
          </a:xfrm>
        </p:grpSpPr>
        <p:graphicFrame>
          <p:nvGraphicFramePr>
            <p:cNvPr id="137226" name="Object 6"/>
            <p:cNvGraphicFramePr/>
            <p:nvPr/>
          </p:nvGraphicFramePr>
          <p:xfrm>
            <a:off x="136" y="1744"/>
            <a:ext cx="5624" cy="8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99" r:id="rId5" imgW="6336665" imgH="976630" progId="Visio.Drawing.11">
                    <p:embed/>
                  </p:oleObj>
                </mc:Choice>
                <mc:Fallback>
                  <p:oleObj r:id="rId5" imgW="6336665" imgH="976630" progId="Visio.Drawing.11">
                    <p:embed/>
                    <p:pic>
                      <p:nvPicPr>
                        <p:cNvPr id="137226" name="Object 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6" y="1744"/>
                          <a:ext cx="5624" cy="866"/>
                        </a:xfrm>
                        <a:prstGeom prst="rect">
                          <a:avLst/>
                        </a:prstGeom>
                        <a:solidFill>
                          <a:srgbClr val="D2D2F4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2105" name="Text Box 7"/>
            <p:cNvSpPr txBox="1">
              <a:spLocks noChangeArrowheads="1"/>
            </p:cNvSpPr>
            <p:nvPr/>
          </p:nvSpPr>
          <p:spPr bwMode="auto">
            <a:xfrm>
              <a:off x="192" y="2723"/>
              <a:ext cx="156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(b)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双向循环链表</a:t>
              </a:r>
            </a:p>
          </p:txBody>
        </p:sp>
      </p:grpSp>
      <p:sp>
        <p:nvSpPr>
          <p:cNvPr id="663560" name="Text Box 8"/>
          <p:cNvSpPr txBox="1">
            <a:spLocks noChangeArrowheads="1"/>
          </p:cNvSpPr>
          <p:nvPr/>
        </p:nvSpPr>
        <p:spPr bwMode="auto">
          <a:xfrm>
            <a:off x="781858" y="5805264"/>
            <a:ext cx="7580284" cy="711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d-&gt;next-&gt;prior = d-&gt;prior-&gt;next = d</a:t>
            </a:r>
          </a:p>
        </p:txBody>
      </p:sp>
      <p:grpSp>
        <p:nvGrpSpPr>
          <p:cNvPr id="4" name="Group 9"/>
          <p:cNvGrpSpPr/>
          <p:nvPr/>
        </p:nvGrpSpPr>
        <p:grpSpPr>
          <a:xfrm>
            <a:off x="3482975" y="1176561"/>
            <a:ext cx="4545013" cy="677862"/>
            <a:chOff x="2458" y="3015"/>
            <a:chExt cx="2863" cy="427"/>
          </a:xfrm>
        </p:grpSpPr>
        <p:sp>
          <p:nvSpPr>
            <p:cNvPr id="132102" name="Text Box 10"/>
            <p:cNvSpPr txBox="1">
              <a:spLocks noChangeArrowheads="1"/>
            </p:cNvSpPr>
            <p:nvPr/>
          </p:nvSpPr>
          <p:spPr bwMode="auto">
            <a:xfrm>
              <a:off x="3209" y="3015"/>
              <a:ext cx="2112" cy="427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miter lim="800000"/>
            </a:ln>
          </p:spPr>
          <p:txBody>
            <a:bodyPr anchor="ctr">
              <a:spAutoFit/>
            </a:bodyPr>
            <a:lstStyle>
              <a:lvl1pPr>
                <a:lnSpc>
                  <a:spcPct val="130000"/>
                </a:lnSpc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/>
                  <a:ea typeface="Microsoft YaHei"/>
                  <a:cs typeface="+mn-ea"/>
                  <a:sym typeface="+mn-lt"/>
                </a:rPr>
                <a:t>L-&gt;next = L</a:t>
              </a:r>
            </a:p>
          </p:txBody>
        </p:sp>
        <p:sp>
          <p:nvSpPr>
            <p:cNvPr id="132103" name="Line 11"/>
            <p:cNvSpPr>
              <a:spLocks noChangeShapeType="1"/>
            </p:cNvSpPr>
            <p:nvPr/>
          </p:nvSpPr>
          <p:spPr bwMode="auto">
            <a:xfrm flipH="1" flipV="1">
              <a:off x="2458" y="3234"/>
              <a:ext cx="650" cy="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endParaRPr>
            </a:p>
          </p:txBody>
        </p:sp>
      </p:grp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36613" y="166688"/>
            <a:ext cx="71659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双向循环链表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6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5" name="Rectangle 3"/>
          <p:cNvSpPr>
            <a:spLocks noChangeArrowheads="1"/>
          </p:cNvSpPr>
          <p:nvPr/>
        </p:nvSpPr>
        <p:spPr bwMode="auto">
          <a:xfrm>
            <a:off x="785813" y="6030084"/>
            <a:ext cx="4237057" cy="668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+mn-lt"/>
              </a:rPr>
              <a:t>4.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Consolas" panose="020B0609020204030204" pitchFamily="49" charset="0"/>
                <a:ea typeface="Microsoft YaHei"/>
                <a:cs typeface="+mn-ea"/>
                <a:sym typeface="+mn-lt"/>
              </a:rPr>
              <a:t>p-&gt;prior = s;</a:t>
            </a:r>
          </a:p>
        </p:txBody>
      </p:sp>
      <p:sp>
        <p:nvSpPr>
          <p:cNvPr id="89" name="Rectangle 4"/>
          <p:cNvSpPr>
            <a:spLocks noChangeArrowheads="1"/>
          </p:cNvSpPr>
          <p:nvPr/>
        </p:nvSpPr>
        <p:spPr bwMode="auto">
          <a:xfrm>
            <a:off x="785813" y="188913"/>
            <a:ext cx="3595688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双向链表的插入</a:t>
            </a:r>
          </a:p>
        </p:txBody>
      </p:sp>
      <p:sp>
        <p:nvSpPr>
          <p:cNvPr id="95" name="Rectangle 4"/>
          <p:cNvSpPr>
            <a:spLocks noChangeArrowheads="1"/>
          </p:cNvSpPr>
          <p:nvPr/>
        </p:nvSpPr>
        <p:spPr bwMode="auto">
          <a:xfrm>
            <a:off x="781050" y="4894017"/>
            <a:ext cx="57567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Microsoft YaHei"/>
                <a:cs typeface="+mn-ea"/>
                <a:sym typeface="+mn-lt"/>
              </a:rPr>
              <a:t>2. p-&gt;prior-&gt;next = s;</a:t>
            </a:r>
          </a:p>
        </p:txBody>
      </p:sp>
      <p:sp>
        <p:nvSpPr>
          <p:cNvPr id="96" name="Rectangle 2"/>
          <p:cNvSpPr>
            <a:spLocks noChangeArrowheads="1"/>
          </p:cNvSpPr>
          <p:nvPr/>
        </p:nvSpPr>
        <p:spPr bwMode="auto">
          <a:xfrm>
            <a:off x="754063" y="4271717"/>
            <a:ext cx="600997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Microsoft YaHei"/>
                <a:cs typeface="+mn-ea"/>
                <a:sym typeface="+mn-lt"/>
              </a:rPr>
              <a:t>1. s-&gt;prior = p-&gt;prior;</a:t>
            </a:r>
          </a:p>
        </p:txBody>
      </p:sp>
      <p:sp>
        <p:nvSpPr>
          <p:cNvPr id="97" name="Rectangle 26"/>
          <p:cNvSpPr/>
          <p:nvPr/>
        </p:nvSpPr>
        <p:spPr bwMode="auto">
          <a:xfrm>
            <a:off x="865188" y="5534784"/>
            <a:ext cx="45783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algn="ctr" eaLnBrk="0" hangingPunct="0">
              <a:defRPr sz="21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1pPr>
            <a:lvl2pPr marL="742950" indent="-285750" algn="ctr" eaLnBrk="0" hangingPunct="0">
              <a:defRPr sz="21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2pPr>
            <a:lvl3pPr marL="1143000" indent="-228600" algn="ctr" eaLnBrk="0" hangingPunct="0">
              <a:defRPr sz="21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3pPr>
            <a:lvl4pPr marL="1600200" indent="-228600" algn="ctr" eaLnBrk="0" hangingPunct="0">
              <a:defRPr sz="21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4pPr>
            <a:lvl5pPr marL="2057400" indent="-228600" algn="ctr" eaLnBrk="0" hangingPunct="0">
              <a:defRPr sz="21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cs typeface="+mn-ea"/>
                <a:sym typeface="+mn-lt"/>
              </a:rPr>
              <a:t>3.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Microsoft YaHei"/>
                <a:cs typeface="+mn-ea"/>
                <a:sym typeface="+mn-lt"/>
              </a:rPr>
              <a:t>s-&gt;next = p;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AB2A7EB-0EC2-41BD-86CA-4C26E19E49F5}"/>
              </a:ext>
            </a:extLst>
          </p:cNvPr>
          <p:cNvGrpSpPr/>
          <p:nvPr/>
        </p:nvGrpSpPr>
        <p:grpSpPr>
          <a:xfrm>
            <a:off x="0" y="1027451"/>
            <a:ext cx="9144000" cy="3025775"/>
            <a:chOff x="0" y="1960563"/>
            <a:chExt cx="9144000" cy="3025775"/>
          </a:xfrm>
        </p:grpSpPr>
        <p:sp>
          <p:nvSpPr>
            <p:cNvPr id="94" name="矩形 1">
              <a:extLst>
                <a:ext uri="{FF2B5EF4-FFF2-40B4-BE49-F238E27FC236}">
                  <a16:creationId xmlns:a16="http://schemas.microsoft.com/office/drawing/2014/main" id="{7FC80ED6-7B92-4824-A715-9304E758C8E5}"/>
                </a:ext>
              </a:extLst>
            </p:cNvPr>
            <p:cNvSpPr/>
            <p:nvPr/>
          </p:nvSpPr>
          <p:spPr>
            <a:xfrm>
              <a:off x="0" y="1960563"/>
              <a:ext cx="9144000" cy="3025775"/>
            </a:xfrm>
            <a:prstGeom prst="rect">
              <a:avLst/>
            </a:prstGeom>
            <a:solidFill>
              <a:srgbClr val="D2D2F4"/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仿宋_GB2312" pitchFamily="49" charset="-122"/>
                <a:cs typeface="+mn-cs"/>
              </a:endParaRPr>
            </a:p>
          </p:txBody>
        </p:sp>
        <p:graphicFrame>
          <p:nvGraphicFramePr>
            <p:cNvPr id="98" name="Object 2">
              <a:extLst>
                <a:ext uri="{FF2B5EF4-FFF2-40B4-BE49-F238E27FC236}">
                  <a16:creationId xmlns:a16="http://schemas.microsoft.com/office/drawing/2014/main" id="{0685BD76-2A25-4E0A-A825-8D19C610949A}"/>
                </a:ext>
              </a:extLst>
            </p:cNvPr>
            <p:cNvGraphicFramePr/>
            <p:nvPr/>
          </p:nvGraphicFramePr>
          <p:xfrm>
            <a:off x="750888" y="2204864"/>
            <a:ext cx="7467600" cy="2520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8" r:id="rId3" imgW="4599305" imgH="1606550" progId="Visio.Drawing.11">
                    <p:embed/>
                  </p:oleObj>
                </mc:Choice>
                <mc:Fallback>
                  <p:oleObj r:id="rId3" imgW="4599305" imgH="1606550" progId="Visio.Drawing.11">
                    <p:embed/>
                    <p:pic>
                      <p:nvPicPr>
                        <p:cNvPr id="98" name="Object 2">
                          <a:extLst>
                            <a:ext uri="{FF2B5EF4-FFF2-40B4-BE49-F238E27FC236}">
                              <a16:creationId xmlns:a16="http://schemas.microsoft.com/office/drawing/2014/main" id="{0685BD76-2A25-4E0A-A825-8D19C610949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50888" y="2204864"/>
                          <a:ext cx="7467600" cy="2520280"/>
                        </a:xfrm>
                        <a:prstGeom prst="rect">
                          <a:avLst/>
                        </a:prstGeom>
                        <a:solidFill>
                          <a:srgbClr val="D2D2F4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" name="Object 3">
              <a:extLst>
                <a:ext uri="{FF2B5EF4-FFF2-40B4-BE49-F238E27FC236}">
                  <a16:creationId xmlns:a16="http://schemas.microsoft.com/office/drawing/2014/main" id="{2D28EA2D-D30C-4C65-AD4A-ABBB21FBC259}"/>
                </a:ext>
              </a:extLst>
            </p:cNvPr>
            <p:cNvGraphicFramePr/>
            <p:nvPr/>
          </p:nvGraphicFramePr>
          <p:xfrm>
            <a:off x="3417888" y="4044950"/>
            <a:ext cx="2822575" cy="608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9" r:id="rId5" imgW="1836420" imgH="396240" progId="Visio.Drawing.11">
                    <p:embed/>
                  </p:oleObj>
                </mc:Choice>
                <mc:Fallback>
                  <p:oleObj r:id="rId5" imgW="1836420" imgH="396240" progId="Visio.Drawing.11">
                    <p:embed/>
                    <p:pic>
                      <p:nvPicPr>
                        <p:cNvPr id="99" name="Object 3">
                          <a:extLst>
                            <a:ext uri="{FF2B5EF4-FFF2-40B4-BE49-F238E27FC236}">
                              <a16:creationId xmlns:a16="http://schemas.microsoft.com/office/drawing/2014/main" id="{2D28EA2D-D30C-4C65-AD4A-ABBB21FBC25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17888" y="4044950"/>
                          <a:ext cx="2822575" cy="6080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1FDFD3E-B2B5-4617-A878-19FEC64A321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843808" y="2348880"/>
            <a:ext cx="915244" cy="104026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lg" len="lg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BDA4A9F-8CFB-4B3A-B91D-B554E824CF41}"/>
              </a:ext>
            </a:extLst>
          </p:cNvPr>
          <p:cNvCxnSpPr/>
          <p:nvPr/>
        </p:nvCxnSpPr>
        <p:spPr bwMode="auto">
          <a:xfrm>
            <a:off x="3347864" y="2132856"/>
            <a:ext cx="866080" cy="978982"/>
          </a:xfrm>
          <a:prstGeom prst="straightConnector1">
            <a:avLst/>
          </a:prstGeom>
          <a:ln w="25400" cap="flat" cmpd="sng" algn="ctr">
            <a:solidFill>
              <a:srgbClr val="0000FF"/>
            </a:solidFill>
            <a:prstDash val="dash"/>
            <a:round/>
            <a:headEnd type="none" w="med" len="med"/>
            <a:tailEnd type="arrow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5CB4097-C488-41C8-85F2-6CE07F2AE77B}"/>
              </a:ext>
            </a:extLst>
          </p:cNvPr>
          <p:cNvCxnSpPr/>
          <p:nvPr/>
        </p:nvCxnSpPr>
        <p:spPr bwMode="auto">
          <a:xfrm flipV="1">
            <a:off x="4788024" y="2348880"/>
            <a:ext cx="655514" cy="108012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B050"/>
            </a:solidFill>
            <a:prstDash val="dash"/>
            <a:round/>
            <a:headEnd type="none" w="med" len="med"/>
            <a:tailEnd type="arrow" w="lg" len="lg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BB22333-E173-41E9-B1CC-2021599D71D0}"/>
              </a:ext>
            </a:extLst>
          </p:cNvPr>
          <p:cNvCxnSpPr>
            <a:cxnSpLocks/>
          </p:cNvCxnSpPr>
          <p:nvPr/>
        </p:nvCxnSpPr>
        <p:spPr bwMode="auto">
          <a:xfrm flipH="1">
            <a:off x="4381501" y="2130389"/>
            <a:ext cx="541189" cy="981449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A50021"/>
            </a:solidFill>
            <a:prstDash val="dash"/>
            <a:round/>
            <a:headEnd type="none" w="med" len="med"/>
            <a:tailEnd type="arrow" w="lg" len="lg"/>
          </a:ln>
        </p:spPr>
      </p:cxnSp>
      <p:sp>
        <p:nvSpPr>
          <p:cNvPr id="14" name="乘号 13">
            <a:extLst>
              <a:ext uri="{FF2B5EF4-FFF2-40B4-BE49-F238E27FC236}">
                <a16:creationId xmlns:a16="http://schemas.microsoft.com/office/drawing/2014/main" id="{02606486-4306-4647-8D25-539347089BEB}"/>
              </a:ext>
            </a:extLst>
          </p:cNvPr>
          <p:cNvSpPr/>
          <p:nvPr/>
        </p:nvSpPr>
        <p:spPr bwMode="auto">
          <a:xfrm>
            <a:off x="3742779" y="1568890"/>
            <a:ext cx="541189" cy="635974"/>
          </a:xfrm>
          <a:prstGeom prst="mathMultiply">
            <a:avLst>
              <a:gd name="adj1" fmla="val 9542"/>
            </a:avLst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solidFill>
                  <a:srgbClr val="FF0000"/>
                </a:solidFill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109" name="乘号 108">
            <a:extLst>
              <a:ext uri="{FF2B5EF4-FFF2-40B4-BE49-F238E27FC236}">
                <a16:creationId xmlns:a16="http://schemas.microsoft.com/office/drawing/2014/main" id="{BBC487CD-F543-4F0E-AF74-CB66AFCDDF10}"/>
              </a:ext>
            </a:extLst>
          </p:cNvPr>
          <p:cNvSpPr/>
          <p:nvPr/>
        </p:nvSpPr>
        <p:spPr bwMode="auto">
          <a:xfrm>
            <a:off x="3923928" y="1928930"/>
            <a:ext cx="541189" cy="635974"/>
          </a:xfrm>
          <a:prstGeom prst="mathMultiply">
            <a:avLst>
              <a:gd name="adj1" fmla="val 9542"/>
            </a:avLst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solidFill>
                  <a:srgbClr val="FF0000"/>
                </a:solidFill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75" grpId="0" build="p"/>
      <p:bldP spid="97" grpId="0"/>
      <p:bldP spid="14" grpId="0" animBg="1"/>
      <p:bldP spid="10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矩形 5"/>
          <p:cNvSpPr/>
          <p:nvPr/>
        </p:nvSpPr>
        <p:spPr>
          <a:xfrm>
            <a:off x="0" y="749301"/>
            <a:ext cx="9144000" cy="61086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仿宋_GB2312" pitchFamily="49" charset="-122"/>
              <a:cs typeface="+mn-cs"/>
            </a:endParaRPr>
          </a:p>
        </p:txBody>
      </p:sp>
      <p:sp>
        <p:nvSpPr>
          <p:cNvPr id="669698" name="Rectangle 2"/>
          <p:cNvSpPr>
            <a:spLocks noChangeArrowheads="1"/>
          </p:cNvSpPr>
          <p:nvPr/>
        </p:nvSpPr>
        <p:spPr bwMode="auto">
          <a:xfrm>
            <a:off x="179512" y="749302"/>
            <a:ext cx="8856984" cy="6108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Status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ListInsert_DuL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DuLinkList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&amp;L, 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ElemType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e) {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在带头节点的双向循环链表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L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中的第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个位置插入元素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e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if (!(p =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GetElemP_DuL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(L,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))) return ERROR;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确定插入位置指针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等于表长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+1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时，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p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指向头节点；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    //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大于表长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+1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时，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+mn-lt"/>
              </a:rPr>
              <a:t>p=NULL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s = new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DuLNode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;     s-&gt;data = e;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s-&gt;prior = p-&gt;prior;     p-&gt;prior-&gt;next = s;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s-&gt;next = p;     p-&gt;prior = s;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return OK;</a:t>
            </a:r>
          </a:p>
          <a:p>
            <a:pPr lvl="0"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}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// </a:t>
            </a:r>
            <a:r>
              <a:rPr lang="en-US" altLang="zh-CN" dirty="0" err="1">
                <a:solidFill>
                  <a:srgbClr val="00B050"/>
                </a:solidFill>
                <a:latin typeface="Times New Roman"/>
                <a:ea typeface="Microsoft YaHei"/>
                <a:cs typeface="+mn-ea"/>
                <a:sym typeface="+mn-lt"/>
              </a:rPr>
              <a:t>ListInsert_DuL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138243" name="Rectangle 3"/>
          <p:cNvSpPr>
            <a:spLocks noChangeArrowheads="1"/>
          </p:cNvSpPr>
          <p:nvPr/>
        </p:nvSpPr>
        <p:spPr bwMode="auto">
          <a:xfrm>
            <a:off x="971550" y="233363"/>
            <a:ext cx="56118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双向</a:t>
            </a:r>
            <a:r>
              <a:rPr lang="zh-CN" altLang="en-US" dirty="0">
                <a:solidFill>
                  <a:srgbClr val="FEFFFF"/>
                </a:solidFill>
                <a:latin typeface="Times New Roman"/>
                <a:ea typeface="Microsoft YaHei"/>
                <a:cs typeface="+mn-ea"/>
                <a:sym typeface="+mn-lt"/>
              </a:rPr>
              <a:t>循环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链表的插入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6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698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386" name="Object 2"/>
          <p:cNvGraphicFramePr/>
          <p:nvPr>
            <p:extLst>
              <p:ext uri="{D42A27DB-BD31-4B8C-83A1-F6EECF244321}">
                <p14:modId xmlns:p14="http://schemas.microsoft.com/office/powerpoint/2010/main" val="3872717709"/>
              </p:ext>
            </p:extLst>
          </p:nvPr>
        </p:nvGraphicFramePr>
        <p:xfrm>
          <a:off x="263525" y="1116013"/>
          <a:ext cx="8628063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6" r:id="rId3" imgW="5977255" imgH="1557655" progId="Visio.Drawing.11">
                  <p:embed/>
                </p:oleObj>
              </mc:Choice>
              <mc:Fallback>
                <p:oleObj r:id="rId3" imgW="5977255" imgH="1557655" progId="Visio.Drawing.11">
                  <p:embed/>
                  <p:pic>
                    <p:nvPicPr>
                      <p:cNvPr id="144386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3525" y="1116013"/>
                        <a:ext cx="8628063" cy="2247900"/>
                      </a:xfrm>
                      <a:prstGeom prst="rect">
                        <a:avLst/>
                      </a:prstGeom>
                      <a:solidFill>
                        <a:srgbClr val="B8D4E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0723" name="Rectangle 3"/>
          <p:cNvSpPr>
            <a:spLocks noChangeArrowheads="1"/>
          </p:cNvSpPr>
          <p:nvPr/>
        </p:nvSpPr>
        <p:spPr bwMode="auto">
          <a:xfrm>
            <a:off x="900113" y="176213"/>
            <a:ext cx="3595688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双向链表的删除</a:t>
            </a:r>
          </a:p>
        </p:txBody>
      </p:sp>
      <p:graphicFrame>
        <p:nvGraphicFramePr>
          <p:cNvPr id="144388" name="Object 2"/>
          <p:cNvGraphicFramePr/>
          <p:nvPr/>
        </p:nvGraphicFramePr>
        <p:xfrm>
          <a:off x="263525" y="3460750"/>
          <a:ext cx="8628063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7" r:id="rId5" imgW="5977255" imgH="1557655" progId="Visio.Drawing.11">
                  <p:embed/>
                </p:oleObj>
              </mc:Choice>
              <mc:Fallback>
                <p:oleObj r:id="rId5" imgW="5977255" imgH="1557655" progId="Visio.Drawing.11">
                  <p:embed/>
                  <p:pic>
                    <p:nvPicPr>
                      <p:cNvPr id="144388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3525" y="3460750"/>
                        <a:ext cx="8628063" cy="224790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066385" y="5805488"/>
            <a:ext cx="48588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1. p-&gt;prior-&gt;next = p-&gt;next;</a:t>
            </a:r>
          </a:p>
        </p:txBody>
      </p:sp>
      <p:sp>
        <p:nvSpPr>
          <p:cNvPr id="6" name="乘号 5">
            <a:extLst>
              <a:ext uri="{FF2B5EF4-FFF2-40B4-BE49-F238E27FC236}">
                <a16:creationId xmlns:a16="http://schemas.microsoft.com/office/drawing/2014/main" id="{FA536597-BF6C-4A2C-B289-04EF3CF6DEC7}"/>
              </a:ext>
            </a:extLst>
          </p:cNvPr>
          <p:cNvSpPr/>
          <p:nvPr/>
        </p:nvSpPr>
        <p:spPr bwMode="auto">
          <a:xfrm>
            <a:off x="2915816" y="4315944"/>
            <a:ext cx="541189" cy="635974"/>
          </a:xfrm>
          <a:prstGeom prst="mathMultiply">
            <a:avLst>
              <a:gd name="adj1" fmla="val 9542"/>
            </a:avLst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solidFill>
                  <a:srgbClr val="FF0000"/>
                </a:solidFill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ChangeArrowheads="1"/>
          </p:cNvSpPr>
          <p:nvPr/>
        </p:nvSpPr>
        <p:spPr bwMode="auto">
          <a:xfrm>
            <a:off x="900113" y="207963"/>
            <a:ext cx="3595688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双向链表的删除</a:t>
            </a:r>
          </a:p>
        </p:txBody>
      </p:sp>
      <p:graphicFrame>
        <p:nvGraphicFramePr>
          <p:cNvPr id="145412" name="Object 3"/>
          <p:cNvGraphicFramePr/>
          <p:nvPr>
            <p:extLst>
              <p:ext uri="{D42A27DB-BD31-4B8C-83A1-F6EECF244321}">
                <p14:modId xmlns:p14="http://schemas.microsoft.com/office/powerpoint/2010/main" val="1392125361"/>
              </p:ext>
            </p:extLst>
          </p:nvPr>
        </p:nvGraphicFramePr>
        <p:xfrm>
          <a:off x="287338" y="1196975"/>
          <a:ext cx="8628062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0" r:id="rId3" imgW="5977255" imgH="1560830" progId="Visio.Drawing.11">
                  <p:embed/>
                </p:oleObj>
              </mc:Choice>
              <mc:Fallback>
                <p:oleObj r:id="rId3" imgW="5977255" imgH="1560830" progId="Visio.Drawing.11">
                  <p:embed/>
                  <p:pic>
                    <p:nvPicPr>
                      <p:cNvPr id="145412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7338" y="1196975"/>
                        <a:ext cx="8628062" cy="224790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6" name="Rectangle 4"/>
          <p:cNvSpPr>
            <a:spLocks noChangeArrowheads="1"/>
          </p:cNvSpPr>
          <p:nvPr/>
        </p:nvSpPr>
        <p:spPr bwMode="auto">
          <a:xfrm>
            <a:off x="1741740" y="4225620"/>
            <a:ext cx="48588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1. p-&gt;prior-&gt;next = p-&gt;next;</a:t>
            </a:r>
          </a:p>
        </p:txBody>
      </p:sp>
      <p:sp>
        <p:nvSpPr>
          <p:cNvPr id="672773" name="Rectangle 5"/>
          <p:cNvSpPr>
            <a:spLocks noChangeArrowheads="1"/>
          </p:cNvSpPr>
          <p:nvPr/>
        </p:nvSpPr>
        <p:spPr bwMode="auto">
          <a:xfrm>
            <a:off x="1692752" y="5011738"/>
            <a:ext cx="495680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2. p-&gt;next-&gt;prior = p-&gt;prior;</a:t>
            </a:r>
          </a:p>
        </p:txBody>
      </p:sp>
      <p:cxnSp>
        <p:nvCxnSpPr>
          <p:cNvPr id="145415" name="肘形连接符 10"/>
          <p:cNvCxnSpPr/>
          <p:nvPr/>
        </p:nvCxnSpPr>
        <p:spPr>
          <a:xfrm>
            <a:off x="1192213" y="5178425"/>
            <a:ext cx="914400" cy="914400"/>
          </a:xfrm>
          <a:prstGeom prst="bentConnector3">
            <a:avLst>
              <a:gd name="adj1" fmla="val 50000"/>
            </a:avLst>
          </a:prstGeom>
          <a:ln w="9525">
            <a:noFill/>
          </a:ln>
        </p:spPr>
      </p:cxnSp>
      <p:cxnSp>
        <p:nvCxnSpPr>
          <p:cNvPr id="21" name="直接箭头连接符 20"/>
          <p:cNvCxnSpPr/>
          <p:nvPr/>
        </p:nvCxnSpPr>
        <p:spPr bwMode="auto">
          <a:xfrm flipH="1" flipV="1">
            <a:off x="2112963" y="2786063"/>
            <a:ext cx="150813" cy="24923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triangle"/>
          </a:ln>
        </p:spPr>
      </p:cxnSp>
      <p:cxnSp>
        <p:nvCxnSpPr>
          <p:cNvPr id="23" name="直接连接符 22"/>
          <p:cNvCxnSpPr/>
          <p:nvPr/>
        </p:nvCxnSpPr>
        <p:spPr bwMode="auto">
          <a:xfrm>
            <a:off x="2290763" y="3035300"/>
            <a:ext cx="37211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2" name="直接连接符 31"/>
          <p:cNvCxnSpPr/>
          <p:nvPr/>
        </p:nvCxnSpPr>
        <p:spPr bwMode="auto">
          <a:xfrm flipV="1">
            <a:off x="6084888" y="2636838"/>
            <a:ext cx="71438" cy="4064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乘号 9">
            <a:extLst>
              <a:ext uri="{FF2B5EF4-FFF2-40B4-BE49-F238E27FC236}">
                <a16:creationId xmlns:a16="http://schemas.microsoft.com/office/drawing/2014/main" id="{0712E19A-2688-43B5-AF51-31F99A7AC298}"/>
              </a:ext>
            </a:extLst>
          </p:cNvPr>
          <p:cNvSpPr/>
          <p:nvPr/>
        </p:nvSpPr>
        <p:spPr bwMode="auto">
          <a:xfrm>
            <a:off x="5364088" y="2298655"/>
            <a:ext cx="541189" cy="635974"/>
          </a:xfrm>
          <a:prstGeom prst="mathMultiply">
            <a:avLst>
              <a:gd name="adj1" fmla="val 9542"/>
            </a:avLst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solidFill>
                  <a:srgbClr val="FF0000"/>
                </a:solidFill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11" name="乘号 10">
            <a:extLst>
              <a:ext uri="{FF2B5EF4-FFF2-40B4-BE49-F238E27FC236}">
                <a16:creationId xmlns:a16="http://schemas.microsoft.com/office/drawing/2014/main" id="{44243CE1-28AF-4A15-9B94-EE907703E66F}"/>
              </a:ext>
            </a:extLst>
          </p:cNvPr>
          <p:cNvSpPr/>
          <p:nvPr/>
        </p:nvSpPr>
        <p:spPr bwMode="auto">
          <a:xfrm>
            <a:off x="2935728" y="2044370"/>
            <a:ext cx="541189" cy="635974"/>
          </a:xfrm>
          <a:prstGeom prst="mathMultiply">
            <a:avLst>
              <a:gd name="adj1" fmla="val 9542"/>
            </a:avLst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solidFill>
                  <a:srgbClr val="FF0000"/>
                </a:solidFill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73" grpId="0" build="p"/>
      <p:bldP spid="1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矩形 1"/>
          <p:cNvSpPr/>
          <p:nvPr/>
        </p:nvSpPr>
        <p:spPr>
          <a:xfrm>
            <a:off x="0" y="1268760"/>
            <a:ext cx="9144000" cy="496855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仿宋_GB2312" pitchFamily="49" charset="-122"/>
              <a:cs typeface="+mn-cs"/>
            </a:endParaRPr>
          </a:p>
        </p:txBody>
      </p:sp>
      <p:sp>
        <p:nvSpPr>
          <p:cNvPr id="673794" name="Rectangle 2"/>
          <p:cNvSpPr>
            <a:spLocks noChangeArrowheads="1"/>
          </p:cNvSpPr>
          <p:nvPr/>
        </p:nvSpPr>
        <p:spPr bwMode="auto">
          <a:xfrm>
            <a:off x="323528" y="1268761"/>
            <a:ext cx="8568952" cy="496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EFFFF">
                    <a:lumMod val="10000"/>
                  </a:srgbClr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Status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ListDelete_DuL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EFFFF">
                    <a:lumMod val="10000"/>
                  </a:srgbClr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EFFFF">
                    <a:lumMod val="10000"/>
                  </a:srgbClr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DuLinkList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EFFFF">
                    <a:lumMod val="10000"/>
                  </a:srgbClr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&amp;L, 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EFFFF">
                    <a:lumMod val="10000"/>
                  </a:srgbClr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EFFFF">
                    <a:lumMod val="10000"/>
                  </a:srgbClr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EFFFF">
                    <a:lumMod val="10000"/>
                  </a:srgbClr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ElemType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EFFFF">
                    <a:lumMod val="10000"/>
                  </a:srgbClr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&amp;e)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{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if (!(p =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GetElemP_DuL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(L,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)))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确定第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个元素的位置指针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p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    return ERROR;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e = p-&gt;data;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p-&gt;prior-&gt;next = p-&gt;next;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p-&gt;next-&gt;prior = p-&gt;prior;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delete p;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    return OK;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}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// </a:t>
            </a:r>
            <a:r>
              <a:rPr lang="en-US" altLang="zh-CN" dirty="0" err="1">
                <a:solidFill>
                  <a:srgbClr val="00B050"/>
                </a:solidFill>
                <a:latin typeface="Times New Roman"/>
                <a:ea typeface="Microsoft YaHei"/>
                <a:cs typeface="+mn-ea"/>
                <a:sym typeface="+mn-lt"/>
              </a:rPr>
              <a:t>ListDelete_DuL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142339" name="Rectangle 3"/>
          <p:cNvSpPr>
            <a:spLocks noChangeArrowheads="1"/>
          </p:cNvSpPr>
          <p:nvPr/>
        </p:nvSpPr>
        <p:spPr bwMode="auto">
          <a:xfrm>
            <a:off x="904875" y="188913"/>
            <a:ext cx="56118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双向链表的删除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794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4"/>
          <p:cNvSpPr>
            <a:spLocks noChangeArrowheads="1"/>
          </p:cNvSpPr>
          <p:nvPr/>
        </p:nvSpPr>
        <p:spPr bwMode="auto">
          <a:xfrm>
            <a:off x="936625" y="112713"/>
            <a:ext cx="78501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顺序表和链表的比较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17361"/>
              </p:ext>
            </p:extLst>
          </p:nvPr>
        </p:nvGraphicFramePr>
        <p:xfrm>
          <a:off x="9832" y="741856"/>
          <a:ext cx="9134168" cy="6116143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846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1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3343">
                <a:tc gridSpan="2">
                  <a:txBody>
                    <a:bodyPr/>
                    <a:lstStyle/>
                    <a:p>
                      <a:pPr indent="43053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kern="100" baseline="0" dirty="0">
                          <a:solidFill>
                            <a:schemeClr val="tx1"/>
                          </a:solidFill>
                          <a:sym typeface="+mn-lt"/>
                        </a:rPr>
                        <a:t>           </a:t>
                      </a:r>
                      <a:r>
                        <a:rPr lang="zh-CN" sz="2000" kern="100" dirty="0">
                          <a:solidFill>
                            <a:schemeClr val="tx1"/>
                          </a:solidFill>
                          <a:sym typeface="+mn-lt"/>
                        </a:rPr>
                        <a:t>存储结构</a:t>
                      </a:r>
                      <a:endParaRPr lang="zh-CN" sz="2000" kern="1000" dirty="0">
                        <a:solidFill>
                          <a:schemeClr val="tx1"/>
                        </a:solidFill>
                        <a:sym typeface="+mn-lt"/>
                      </a:endParaRPr>
                    </a:p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sym typeface="+mn-lt"/>
                        </a:rPr>
                        <a:t>    </a:t>
                      </a:r>
                    </a:p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sym typeface="+mn-lt"/>
                        </a:rPr>
                        <a:t>       </a:t>
                      </a:r>
                      <a:r>
                        <a:rPr lang="zh-CN" sz="2000" kern="100" dirty="0">
                          <a:solidFill>
                            <a:schemeClr val="tx1"/>
                          </a:solidFill>
                          <a:sym typeface="+mn-lt"/>
                        </a:rPr>
                        <a:t>比较项目</a:t>
                      </a:r>
                      <a:endParaRPr lang="zh-CN" sz="2000" kern="1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chemeClr val="tx1"/>
                          </a:solidFill>
                          <a:sym typeface="+mn-lt"/>
                        </a:rPr>
                        <a:t>顺序表</a:t>
                      </a:r>
                      <a:endParaRPr lang="zh-CN" sz="2000" kern="1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chemeClr val="tx1"/>
                          </a:solidFill>
                          <a:sym typeface="+mn-lt"/>
                        </a:rPr>
                        <a:t>链表</a:t>
                      </a:r>
                      <a:endParaRPr lang="zh-CN" sz="2000" kern="1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064">
                <a:tc rowSpan="2"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ym typeface="+mn-lt"/>
                        </a:rPr>
                        <a:t>空间</a:t>
                      </a:r>
                      <a:endParaRPr lang="zh-CN" sz="2000" kern="10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ym typeface="+mn-lt"/>
                        </a:rPr>
                        <a:t>存储空间</a:t>
                      </a:r>
                      <a:endParaRPr lang="zh-CN" sz="2000" kern="10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E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olidFill>
                            <a:srgbClr val="0000FF"/>
                          </a:solidFill>
                          <a:sym typeface="+mn-lt"/>
                        </a:rPr>
                        <a:t>预先分配</a:t>
                      </a:r>
                      <a:r>
                        <a:rPr lang="zh-CN" sz="2000" kern="100" dirty="0">
                          <a:sym typeface="+mn-lt"/>
                        </a:rPr>
                        <a:t>，会导致空间闲置或溢出现象</a:t>
                      </a:r>
                      <a:endParaRPr lang="zh-CN" sz="2000" kern="10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olidFill>
                            <a:srgbClr val="0000FF"/>
                          </a:solidFill>
                          <a:sym typeface="+mn-lt"/>
                        </a:rPr>
                        <a:t>动态分配</a:t>
                      </a:r>
                      <a:r>
                        <a:rPr lang="zh-CN" sz="2000" kern="100" dirty="0">
                          <a:sym typeface="+mn-lt"/>
                        </a:rPr>
                        <a:t>，不会出现存储空间闲置或溢出现象</a:t>
                      </a:r>
                      <a:endParaRPr lang="zh-CN" sz="2000" kern="10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759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ym typeface="+mn-lt"/>
                        </a:rPr>
                        <a:t>存储密度</a:t>
                      </a:r>
                      <a:endParaRPr lang="zh-CN" sz="2000" kern="10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E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ym typeface="+mn-lt"/>
                        </a:rPr>
                        <a:t>不用为表示结点间的逻辑关系而增加额外的存储开销，</a:t>
                      </a:r>
                      <a:r>
                        <a:rPr lang="zh-CN" sz="2000" kern="100" dirty="0">
                          <a:solidFill>
                            <a:srgbClr val="0000FF"/>
                          </a:solidFill>
                          <a:sym typeface="+mn-lt"/>
                        </a:rPr>
                        <a:t>存储密度等于</a:t>
                      </a:r>
                      <a:r>
                        <a:rPr lang="en-US" altLang="zh-CN" sz="2000" kern="100" dirty="0">
                          <a:solidFill>
                            <a:srgbClr val="0000FF"/>
                          </a:solidFill>
                          <a:sym typeface="+mn-lt"/>
                        </a:rPr>
                        <a:t> </a:t>
                      </a:r>
                      <a:r>
                        <a:rPr lang="en-US" sz="2000" kern="100" dirty="0">
                          <a:solidFill>
                            <a:srgbClr val="0000FF"/>
                          </a:solidFill>
                          <a:sym typeface="+mn-lt"/>
                        </a:rPr>
                        <a:t>1</a:t>
                      </a:r>
                      <a:endParaRPr lang="zh-CN" sz="2000" kern="1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ym typeface="+mn-lt"/>
                        </a:rPr>
                        <a:t>需借助指针来体现元素间的逻辑关系，</a:t>
                      </a:r>
                      <a:r>
                        <a:rPr lang="zh-CN" sz="2000" kern="100" dirty="0">
                          <a:solidFill>
                            <a:srgbClr val="0000FF"/>
                          </a:solidFill>
                          <a:sym typeface="+mn-lt"/>
                        </a:rPr>
                        <a:t>存储密度小于</a:t>
                      </a:r>
                      <a:r>
                        <a:rPr lang="en-US" altLang="zh-CN" sz="2000" kern="100" dirty="0">
                          <a:solidFill>
                            <a:srgbClr val="0000FF"/>
                          </a:solidFill>
                          <a:sym typeface="+mn-lt"/>
                        </a:rPr>
                        <a:t> </a:t>
                      </a:r>
                      <a:r>
                        <a:rPr lang="en-US" sz="2000" kern="100" dirty="0">
                          <a:solidFill>
                            <a:srgbClr val="0000FF"/>
                          </a:solidFill>
                          <a:sym typeface="+mn-lt"/>
                        </a:rPr>
                        <a:t>1</a:t>
                      </a:r>
                      <a:endParaRPr lang="zh-CN" sz="2000" kern="1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064">
                <a:tc rowSpan="2"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>
                          <a:sym typeface="+mn-lt"/>
                        </a:rPr>
                        <a:t>时间</a:t>
                      </a:r>
                      <a:endParaRPr lang="zh-CN" sz="2000" kern="100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ym typeface="+mn-lt"/>
                        </a:rPr>
                        <a:t>存取元素</a:t>
                      </a:r>
                      <a:endParaRPr lang="zh-CN" sz="2000" kern="10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E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olidFill>
                            <a:srgbClr val="0000FF"/>
                          </a:solidFill>
                          <a:sym typeface="+mn-lt"/>
                        </a:rPr>
                        <a:t>随机存取</a:t>
                      </a:r>
                      <a:r>
                        <a:rPr lang="zh-CN" sz="2000" kern="100" dirty="0">
                          <a:sym typeface="+mn-lt"/>
                        </a:rPr>
                        <a:t>，按位置访问元素的时间复杂度为</a:t>
                      </a:r>
                      <a:r>
                        <a:rPr lang="en-US" altLang="zh-CN" sz="2000" kern="100" dirty="0">
                          <a:sym typeface="+mn-lt"/>
                        </a:rPr>
                        <a:t> </a:t>
                      </a:r>
                      <a:r>
                        <a:rPr lang="en-US" sz="2000" b="1" kern="100" dirty="0">
                          <a:solidFill>
                            <a:srgbClr val="FF0000"/>
                          </a:solidFill>
                          <a:sym typeface="+mn-lt"/>
                        </a:rPr>
                        <a:t>O(1)</a:t>
                      </a:r>
                      <a:endParaRPr lang="zh-CN" sz="2000" b="1" kern="10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olidFill>
                            <a:srgbClr val="0000FF"/>
                          </a:solidFill>
                          <a:sym typeface="+mn-lt"/>
                        </a:rPr>
                        <a:t>顺序存取</a:t>
                      </a:r>
                      <a:r>
                        <a:rPr lang="zh-CN" sz="2000" kern="100" dirty="0">
                          <a:sym typeface="+mn-lt"/>
                        </a:rPr>
                        <a:t>，按位置访问元素时间复杂度为</a:t>
                      </a:r>
                      <a:r>
                        <a:rPr lang="en-US" altLang="zh-CN" sz="2000" kern="100" dirty="0">
                          <a:sym typeface="+mn-lt"/>
                        </a:rPr>
                        <a:t> </a:t>
                      </a:r>
                      <a:r>
                        <a:rPr lang="en-US" sz="2000" b="1" kern="100" dirty="0">
                          <a:solidFill>
                            <a:srgbClr val="FF0000"/>
                          </a:solidFill>
                          <a:sym typeface="+mn-lt"/>
                        </a:rPr>
                        <a:t>O(n)</a:t>
                      </a:r>
                      <a:endParaRPr lang="zh-CN" sz="2000" b="1" kern="10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3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ym typeface="+mn-lt"/>
                        </a:rPr>
                        <a:t>插入、删除</a:t>
                      </a:r>
                      <a:endParaRPr lang="zh-CN" sz="2000" kern="10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E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ym typeface="+mn-lt"/>
                        </a:rPr>
                        <a:t>平均移动约表中一半元素，</a:t>
                      </a:r>
                      <a:r>
                        <a:rPr lang="zh-CN" sz="2000" kern="100" dirty="0">
                          <a:solidFill>
                            <a:schemeClr val="tx1"/>
                          </a:solidFill>
                          <a:sym typeface="+mn-lt"/>
                        </a:rPr>
                        <a:t>时间复杂度为</a:t>
                      </a: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sym typeface="+mn-lt"/>
                        </a:rPr>
                        <a:t> </a:t>
                      </a:r>
                      <a:r>
                        <a:rPr lang="en-US" sz="2000" b="1" kern="100" dirty="0">
                          <a:solidFill>
                            <a:srgbClr val="FF0000"/>
                          </a:solidFill>
                          <a:sym typeface="+mn-lt"/>
                        </a:rPr>
                        <a:t>O(n)</a:t>
                      </a:r>
                      <a:endParaRPr lang="zh-CN" sz="2000" b="1" kern="10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ym typeface="+mn-lt"/>
                        </a:rPr>
                        <a:t>不需移动元素，确定插入、删除位置后，</a:t>
                      </a:r>
                      <a:r>
                        <a:rPr lang="zh-CN" sz="2000" kern="100" dirty="0">
                          <a:solidFill>
                            <a:schemeClr val="tx1"/>
                          </a:solidFill>
                          <a:sym typeface="+mn-lt"/>
                        </a:rPr>
                        <a:t>时间复杂度为</a:t>
                      </a: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sym typeface="+mn-lt"/>
                        </a:rPr>
                        <a:t> </a:t>
                      </a:r>
                      <a:r>
                        <a:rPr lang="en-US" sz="2000" b="1" kern="100" dirty="0">
                          <a:solidFill>
                            <a:srgbClr val="FF0000"/>
                          </a:solidFill>
                          <a:sym typeface="+mn-lt"/>
                        </a:rPr>
                        <a:t>O(1)</a:t>
                      </a:r>
                      <a:endParaRPr lang="zh-CN" sz="2000" b="1" kern="10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9741">
                <a:tc gridSpan="2"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ym typeface="+mn-lt"/>
                        </a:rPr>
                        <a:t>适用情况</a:t>
                      </a:r>
                      <a:endParaRPr lang="zh-CN" sz="2000" kern="10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ym typeface="+mn-lt"/>
                        </a:rPr>
                        <a:t>① 表长变化不大，且能事先确定变化的范围</a:t>
                      </a:r>
                      <a:endParaRPr lang="zh-CN" sz="2000" kern="1000" dirty="0">
                        <a:sym typeface="+mn-lt"/>
                      </a:endParaRPr>
                    </a:p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ym typeface="+mn-lt"/>
                        </a:rPr>
                        <a:t>② 很少进行插入或删除操作，经常按元素位置序号访问数据元素</a:t>
                      </a:r>
                      <a:endParaRPr lang="zh-CN" sz="2000" kern="10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ym typeface="+mn-lt"/>
                        </a:rPr>
                        <a:t>① 长度变化较大</a:t>
                      </a:r>
                      <a:endParaRPr lang="zh-CN" sz="2000" kern="1000" dirty="0">
                        <a:sym typeface="+mn-lt"/>
                      </a:endParaRPr>
                    </a:p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2000" kern="100" dirty="0">
                          <a:sym typeface="+mn-lt"/>
                        </a:rPr>
                        <a:t>② 频繁进行插入或删除操作</a:t>
                      </a:r>
                      <a:endParaRPr lang="zh-CN" sz="2000" kern="10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3396" name="Line 1"/>
          <p:cNvSpPr>
            <a:spLocks noChangeShapeType="1"/>
          </p:cNvSpPr>
          <p:nvPr/>
        </p:nvSpPr>
        <p:spPr bwMode="auto">
          <a:xfrm>
            <a:off x="58994" y="798512"/>
            <a:ext cx="2352766" cy="902295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399A8-58A8-45F4-BBB8-154658B5C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其他链表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566B8D-5DAC-43CA-A765-6149DD2DD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双向链表</a:t>
            </a:r>
            <a:endParaRPr lang="en-US" altLang="zh-CN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dirty="0"/>
              <a:t>方便查找一个结点的</a:t>
            </a:r>
            <a:r>
              <a:rPr lang="zh-CN" altLang="en-US" dirty="0">
                <a:solidFill>
                  <a:srgbClr val="0000FF"/>
                </a:solidFill>
              </a:rPr>
              <a:t>直接前驱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直接后继</a:t>
            </a:r>
            <a:r>
              <a:rPr lang="zh-CN" altLang="en-US" dirty="0"/>
              <a:t>结点。</a:t>
            </a:r>
            <a:endParaRPr lang="en-US" altLang="zh-CN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dirty="0"/>
              <a:t>通常，存储密度低于单链表。</a:t>
            </a:r>
            <a:endParaRPr lang="en-US" altLang="zh-C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循环链表</a:t>
            </a:r>
            <a:endParaRPr lang="en-US" altLang="zh-CN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dirty="0"/>
              <a:t>通过头结点可以快速找到尾结点。</a:t>
            </a:r>
            <a:endParaRPr lang="en-US" altLang="zh-CN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dirty="0"/>
              <a:t>若插入</a:t>
            </a:r>
            <a:r>
              <a:rPr lang="en-US" altLang="zh-CN" dirty="0"/>
              <a:t>/</a:t>
            </a:r>
            <a:r>
              <a:rPr lang="zh-CN" altLang="en-US" dirty="0"/>
              <a:t>删除仅发生在表的两端，宜采用带</a:t>
            </a:r>
            <a:r>
              <a:rPr lang="zh-CN" altLang="en-US" dirty="0">
                <a:solidFill>
                  <a:srgbClr val="0000FF"/>
                </a:solidFill>
              </a:rPr>
              <a:t>尾指针</a:t>
            </a:r>
            <a:r>
              <a:rPr lang="zh-CN" altLang="en-US" dirty="0"/>
              <a:t>的循环链表。</a:t>
            </a:r>
            <a:endParaRPr lang="en-US" altLang="zh-C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有序表</a:t>
            </a:r>
            <a:endParaRPr lang="en-US" altLang="zh-CN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dirty="0"/>
              <a:t>利用有序表的有序特性可以提高相关算法的效率。</a:t>
            </a:r>
          </a:p>
        </p:txBody>
      </p:sp>
    </p:spTree>
    <p:extLst>
      <p:ext uri="{BB962C8B-B14F-4D97-AF65-F5344CB8AC3E}">
        <p14:creationId xmlns:p14="http://schemas.microsoft.com/office/powerpoint/2010/main" val="18322022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mU4MzYyZTY3OWRmZGFmYzczMjMzNmIwZTNkZDJkM2UifQ=="/>
</p:tagLst>
</file>

<file path=ppt/theme/theme1.xml><?xml version="1.0" encoding="utf-8"?>
<a:theme xmlns:a="http://schemas.openxmlformats.org/drawingml/2006/main" name="1_默认设计模板">
  <a:themeElements>
    <a:clrScheme name="自定义 33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6C4C8F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11v1j1fj">
      <a:majorFont>
        <a:latin typeface="Times New Roman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ixel">
  <a:themeElements>
    <a:clrScheme name="">
      <a:dk1>
        <a:srgbClr val="000099"/>
      </a:dk1>
      <a:lt1>
        <a:srgbClr val="FFFFFF"/>
      </a:lt1>
      <a:dk2>
        <a:srgbClr val="CC0000"/>
      </a:dk2>
      <a:lt2>
        <a:srgbClr val="0000CC"/>
      </a:lt2>
      <a:accent1>
        <a:srgbClr val="CCFFCC"/>
      </a:accent1>
      <a:accent2>
        <a:srgbClr val="3366FF"/>
      </a:accent2>
      <a:accent3>
        <a:srgbClr val="FFFFFF"/>
      </a:accent3>
      <a:accent4>
        <a:srgbClr val="000082"/>
      </a:accent4>
      <a:accent5>
        <a:srgbClr val="E2FFE2"/>
      </a:accent5>
      <a:accent6>
        <a:srgbClr val="2D5CE7"/>
      </a:accent6>
      <a:hlink>
        <a:srgbClr val="800000"/>
      </a:hlink>
      <a:folHlink>
        <a:srgbClr val="E1E1E1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99"/>
        </a:dk1>
        <a:lt1>
          <a:srgbClr val="FFFFFF"/>
        </a:lt1>
        <a:dk2>
          <a:srgbClr val="CC0000"/>
        </a:dk2>
        <a:lt2>
          <a:srgbClr val="808080"/>
        </a:lt2>
        <a:accent1>
          <a:srgbClr val="FFCC66"/>
        </a:accent1>
        <a:accent2>
          <a:srgbClr val="CC0000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B90000"/>
        </a:accent6>
        <a:hlink>
          <a:srgbClr val="0000CC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FFCC66"/>
        </a:accent1>
        <a:accent2>
          <a:srgbClr val="CC0000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B90000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5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FFCC66"/>
        </a:accent1>
        <a:accent2>
          <a:srgbClr val="99FFCC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8AE7B9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6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99FFCC"/>
        </a:accent1>
        <a:accent2>
          <a:srgbClr val="99FFCC"/>
        </a:accent2>
        <a:accent3>
          <a:srgbClr val="FFFFFF"/>
        </a:accent3>
        <a:accent4>
          <a:srgbClr val="000082"/>
        </a:accent4>
        <a:accent5>
          <a:srgbClr val="CAFFE2"/>
        </a:accent5>
        <a:accent6>
          <a:srgbClr val="8AE7B9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14365</TotalTime>
  <Words>4270</Words>
  <Application>Microsoft Office PowerPoint</Application>
  <PresentationFormat>全屏显示(4:3)</PresentationFormat>
  <Paragraphs>634</Paragraphs>
  <Slides>59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59</vt:i4>
      </vt:variant>
    </vt:vector>
  </HeadingPairs>
  <TitlesOfParts>
    <vt:vector size="79" baseType="lpstr">
      <vt:lpstr>Swiss911 UCm BT</vt:lpstr>
      <vt:lpstr>黑体</vt:lpstr>
      <vt:lpstr>华文楷体</vt:lpstr>
      <vt:lpstr>华文新魏</vt:lpstr>
      <vt:lpstr>楷体</vt:lpstr>
      <vt:lpstr>隶书</vt:lpstr>
      <vt:lpstr>宋体</vt:lpstr>
      <vt:lpstr>微软雅黑</vt:lpstr>
      <vt:lpstr>微软雅黑</vt:lpstr>
      <vt:lpstr>Arial</vt:lpstr>
      <vt:lpstr>Arial Black</vt:lpstr>
      <vt:lpstr>Consolas</vt:lpstr>
      <vt:lpstr>Garamond</vt:lpstr>
      <vt:lpstr>Times New Roman</vt:lpstr>
      <vt:lpstr>Wingdings</vt:lpstr>
      <vt:lpstr>1_默认设计模板</vt:lpstr>
      <vt:lpstr>Pixel</vt:lpstr>
      <vt:lpstr>Visio.Drawing.11</vt:lpstr>
      <vt:lpstr>Picture</vt:lpstr>
      <vt:lpstr>Microsoft Word Picture</vt:lpstr>
      <vt:lpstr>目录（Contents）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目录（Contents）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课堂讨论 5</vt:lpstr>
      <vt:lpstr>课堂讨论 6</vt:lpstr>
      <vt:lpstr>作业要求示范：单链表运算例题</vt:lpstr>
      <vt:lpstr>作业要求示范：单链表运算例题</vt:lpstr>
      <vt:lpstr>基本设计思想</vt:lpstr>
      <vt:lpstr>算法的实现代码</vt:lpstr>
      <vt:lpstr>算法的实现代码</vt:lpstr>
      <vt:lpstr>算法的性能分析</vt:lpstr>
      <vt:lpstr>目录（Contents）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目录（Contents）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其他链表</vt:lpstr>
    </vt:vector>
  </TitlesOfParts>
  <Company>bjfu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</dc:title>
  <dc:creator>lidongmei</dc:creator>
  <cp:lastModifiedBy>Wang Qiuyue</cp:lastModifiedBy>
  <cp:revision>1395</cp:revision>
  <dcterms:created xsi:type="dcterms:W3CDTF">1996-07-15T15:40:02Z</dcterms:created>
  <dcterms:modified xsi:type="dcterms:W3CDTF">2025-09-15T04:49:22Z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2052-11.1.0.12313</vt:lpwstr>
  </property>
  <property fmtid="{D5CDD505-2E9C-101B-9397-08002B2CF9AE}" pid="3" name="ICV">
    <vt:lpwstr>21B1BE61B1D542FA80F882F1B8087B6E</vt:lpwstr>
  </property>
</Properties>
</file>