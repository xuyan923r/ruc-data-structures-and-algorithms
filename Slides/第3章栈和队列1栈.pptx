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8" r:id="rId2"/>
  </p:sldMasterIdLst>
  <p:notesMasterIdLst>
    <p:notesMasterId r:id="rId104"/>
  </p:notesMasterIdLst>
  <p:handoutMasterIdLst>
    <p:handoutMasterId r:id="rId105"/>
  </p:handoutMasterIdLst>
  <p:sldIdLst>
    <p:sldId id="256" r:id="rId3"/>
    <p:sldId id="1172" r:id="rId4"/>
    <p:sldId id="1091" r:id="rId5"/>
    <p:sldId id="1275" r:id="rId6"/>
    <p:sldId id="1276" r:id="rId7"/>
    <p:sldId id="1277" r:id="rId8"/>
    <p:sldId id="1284" r:id="rId9"/>
    <p:sldId id="1285" r:id="rId10"/>
    <p:sldId id="1286" r:id="rId11"/>
    <p:sldId id="1287" r:id="rId12"/>
    <p:sldId id="1288" r:id="rId13"/>
    <p:sldId id="1278" r:id="rId14"/>
    <p:sldId id="1279" r:id="rId15"/>
    <p:sldId id="1280" r:id="rId16"/>
    <p:sldId id="1281" r:id="rId17"/>
    <p:sldId id="757" r:id="rId18"/>
    <p:sldId id="517" r:id="rId19"/>
    <p:sldId id="512" r:id="rId20"/>
    <p:sldId id="592" r:id="rId21"/>
    <p:sldId id="651" r:id="rId22"/>
    <p:sldId id="760" r:id="rId23"/>
    <p:sldId id="761" r:id="rId24"/>
    <p:sldId id="655" r:id="rId25"/>
    <p:sldId id="762" r:id="rId26"/>
    <p:sldId id="790" r:id="rId27"/>
    <p:sldId id="791" r:id="rId28"/>
    <p:sldId id="851" r:id="rId29"/>
    <p:sldId id="671" r:id="rId30"/>
    <p:sldId id="1282" r:id="rId31"/>
    <p:sldId id="677" r:id="rId32"/>
    <p:sldId id="764" r:id="rId33"/>
    <p:sldId id="765" r:id="rId34"/>
    <p:sldId id="766" r:id="rId35"/>
    <p:sldId id="767" r:id="rId36"/>
    <p:sldId id="768" r:id="rId37"/>
    <p:sldId id="678" r:id="rId38"/>
    <p:sldId id="769" r:id="rId39"/>
    <p:sldId id="770" r:id="rId40"/>
    <p:sldId id="771" r:id="rId41"/>
    <p:sldId id="680" r:id="rId42"/>
    <p:sldId id="1283" r:id="rId43"/>
    <p:sldId id="1289" r:id="rId44"/>
    <p:sldId id="945" r:id="rId45"/>
    <p:sldId id="946" r:id="rId46"/>
    <p:sldId id="1290" r:id="rId47"/>
    <p:sldId id="1291" r:id="rId48"/>
    <p:sldId id="947" r:id="rId49"/>
    <p:sldId id="1292" r:id="rId50"/>
    <p:sldId id="1293" r:id="rId51"/>
    <p:sldId id="1294" r:id="rId52"/>
    <p:sldId id="950" r:id="rId53"/>
    <p:sldId id="1295" r:id="rId54"/>
    <p:sldId id="1296" r:id="rId55"/>
    <p:sldId id="1297" r:id="rId56"/>
    <p:sldId id="951" r:id="rId57"/>
    <p:sldId id="1298" r:id="rId58"/>
    <p:sldId id="1299" r:id="rId59"/>
    <p:sldId id="1300" r:id="rId60"/>
    <p:sldId id="1301" r:id="rId61"/>
    <p:sldId id="1302" r:id="rId62"/>
    <p:sldId id="1303" r:id="rId63"/>
    <p:sldId id="1304" r:id="rId64"/>
    <p:sldId id="1305" r:id="rId65"/>
    <p:sldId id="1306" r:id="rId66"/>
    <p:sldId id="1307" r:id="rId67"/>
    <p:sldId id="1308" r:id="rId68"/>
    <p:sldId id="954" r:id="rId69"/>
    <p:sldId id="343" r:id="rId70"/>
    <p:sldId id="344" r:id="rId71"/>
    <p:sldId id="345" r:id="rId72"/>
    <p:sldId id="346" r:id="rId73"/>
    <p:sldId id="431" r:id="rId74"/>
    <p:sldId id="432" r:id="rId75"/>
    <p:sldId id="433" r:id="rId76"/>
    <p:sldId id="434" r:id="rId77"/>
    <p:sldId id="435" r:id="rId78"/>
    <p:sldId id="436" r:id="rId79"/>
    <p:sldId id="353" r:id="rId80"/>
    <p:sldId id="354" r:id="rId81"/>
    <p:sldId id="355" r:id="rId82"/>
    <p:sldId id="358" r:id="rId83"/>
    <p:sldId id="356" r:id="rId84"/>
    <p:sldId id="357" r:id="rId85"/>
    <p:sldId id="359" r:id="rId86"/>
    <p:sldId id="438" r:id="rId87"/>
    <p:sldId id="439" r:id="rId88"/>
    <p:sldId id="440" r:id="rId89"/>
    <p:sldId id="447" r:id="rId90"/>
    <p:sldId id="446" r:id="rId91"/>
    <p:sldId id="485" r:id="rId92"/>
    <p:sldId id="445" r:id="rId93"/>
    <p:sldId id="441" r:id="rId94"/>
    <p:sldId id="442" r:id="rId95"/>
    <p:sldId id="443" r:id="rId96"/>
    <p:sldId id="371" r:id="rId97"/>
    <p:sldId id="957" r:id="rId98"/>
    <p:sldId id="958" r:id="rId99"/>
    <p:sldId id="1242" r:id="rId100"/>
    <p:sldId id="1245" r:id="rId101"/>
    <p:sldId id="1246" r:id="rId102"/>
    <p:sldId id="1310" r:id="rId103"/>
  </p:sldIdLst>
  <p:sldSz cx="9144000" cy="6858000" type="screen4x3"/>
  <p:notesSz cx="6858000" cy="9144000"/>
  <p:custDataLst>
    <p:tags r:id="rId106"/>
  </p:custDataLst>
  <p:defaultTextStyle>
    <a:defPPr>
      <a:defRPr lang="zh-CN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1" i="0" u="none" kern="1200" baseline="0">
        <a:solidFill>
          <a:schemeClr val="tx1"/>
        </a:solidFill>
        <a:latin typeface="Times New Roman" panose="02020603050405020304" pitchFamily="18" charset="0"/>
        <a:ea typeface="楷体_GB2312" pitchFamily="49" charset="-122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1" i="0" u="none" kern="1200" baseline="0">
        <a:solidFill>
          <a:schemeClr val="tx1"/>
        </a:solidFill>
        <a:latin typeface="Times New Roman" panose="02020603050405020304" pitchFamily="18" charset="0"/>
        <a:ea typeface="楷体_GB2312" pitchFamily="49" charset="-122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1" i="0" u="none" kern="1200" baseline="0">
        <a:solidFill>
          <a:schemeClr val="tx1"/>
        </a:solidFill>
        <a:latin typeface="Times New Roman" panose="02020603050405020304" pitchFamily="18" charset="0"/>
        <a:ea typeface="楷体_GB2312" pitchFamily="49" charset="-122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1" i="0" u="none" kern="1200" baseline="0">
        <a:solidFill>
          <a:schemeClr val="tx1"/>
        </a:solidFill>
        <a:latin typeface="Times New Roman" panose="02020603050405020304" pitchFamily="18" charset="0"/>
        <a:ea typeface="楷体_GB2312" pitchFamily="49" charset="-122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1" i="0" u="none" kern="1200" baseline="0">
        <a:solidFill>
          <a:schemeClr val="tx1"/>
        </a:solidFill>
        <a:latin typeface="Times New Roman" panose="02020603050405020304" pitchFamily="18" charset="0"/>
        <a:ea typeface="楷体_GB2312" pitchFamily="49" charset="-122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1" i="0" u="none" kern="1200" baseline="0">
        <a:solidFill>
          <a:schemeClr val="tx1"/>
        </a:solidFill>
        <a:latin typeface="Times New Roman" panose="02020603050405020304" pitchFamily="18" charset="0"/>
        <a:ea typeface="楷体_GB2312" pitchFamily="49" charset="-122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1" i="0" u="none" kern="1200" baseline="0">
        <a:solidFill>
          <a:schemeClr val="tx1"/>
        </a:solidFill>
        <a:latin typeface="Times New Roman" panose="02020603050405020304" pitchFamily="18" charset="0"/>
        <a:ea typeface="楷体_GB2312" pitchFamily="49" charset="-122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1" i="0" u="none" kern="1200" baseline="0">
        <a:solidFill>
          <a:schemeClr val="tx1"/>
        </a:solidFill>
        <a:latin typeface="Times New Roman" panose="02020603050405020304" pitchFamily="18" charset="0"/>
        <a:ea typeface="楷体_GB2312" pitchFamily="49" charset="-122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1" i="0" u="none" kern="1200" baseline="0">
        <a:solidFill>
          <a:schemeClr val="tx1"/>
        </a:solidFill>
        <a:latin typeface="Times New Roman" panose="02020603050405020304" pitchFamily="18" charset="0"/>
        <a:ea typeface="楷体_GB2312" pitchFamily="49" charset="-122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C4B3D7"/>
    <a:srgbClr val="EAEAEA"/>
    <a:srgbClr val="FF9393"/>
    <a:srgbClr val="FFCC99"/>
    <a:srgbClr val="CCCCCC"/>
    <a:srgbClr val="B296CE"/>
    <a:srgbClr val="05B8CA"/>
    <a:srgbClr val="D4E6F4"/>
    <a:srgbClr val="6C4C8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404"/>
    <p:restoredTop sz="95214" autoAdjust="0"/>
  </p:normalViewPr>
  <p:slideViewPr>
    <p:cSldViewPr snapToObjects="1">
      <p:cViewPr varScale="1">
        <p:scale>
          <a:sx n="85" d="100"/>
          <a:sy n="85" d="100"/>
        </p:scale>
        <p:origin x="1666" y="62"/>
      </p:cViewPr>
      <p:guideLst/>
    </p:cSldViewPr>
  </p:slideViewPr>
  <p:outlineViewPr>
    <p:cViewPr>
      <p:scale>
        <a:sx n="33" d="100"/>
        <a:sy n="33" d="100"/>
      </p:scale>
      <p:origin x="0" y="0"/>
    </p:cViewPr>
    <p:sldLst>
      <p:sld r:id="rId1" collapse="1"/>
    </p:sldLst>
  </p:outlin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66" d="100"/>
        <a:sy n="66" d="100"/>
      </p:scale>
      <p:origin x="0" y="691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slide" Target="slides/slide66.xml"/><Relationship Id="rId84" Type="http://schemas.openxmlformats.org/officeDocument/2006/relationships/slide" Target="slides/slide82.xml"/><Relationship Id="rId89" Type="http://schemas.openxmlformats.org/officeDocument/2006/relationships/slide" Target="slides/slide87.xml"/><Relationship Id="rId16" Type="http://schemas.openxmlformats.org/officeDocument/2006/relationships/slide" Target="slides/slide14.xml"/><Relationship Id="rId107" Type="http://schemas.openxmlformats.org/officeDocument/2006/relationships/presProps" Target="presProps.xml"/><Relationship Id="rId11" Type="http://schemas.openxmlformats.org/officeDocument/2006/relationships/slide" Target="slides/slide9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74" Type="http://schemas.openxmlformats.org/officeDocument/2006/relationships/slide" Target="slides/slide72.xml"/><Relationship Id="rId79" Type="http://schemas.openxmlformats.org/officeDocument/2006/relationships/slide" Target="slides/slide77.xml"/><Relationship Id="rId102" Type="http://schemas.openxmlformats.org/officeDocument/2006/relationships/slide" Target="slides/slide100.xml"/><Relationship Id="rId5" Type="http://schemas.openxmlformats.org/officeDocument/2006/relationships/slide" Target="slides/slide3.xml"/><Relationship Id="rId90" Type="http://schemas.openxmlformats.org/officeDocument/2006/relationships/slide" Target="slides/slide88.xml"/><Relationship Id="rId95" Type="http://schemas.openxmlformats.org/officeDocument/2006/relationships/slide" Target="slides/slide93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64" Type="http://schemas.openxmlformats.org/officeDocument/2006/relationships/slide" Target="slides/slide62.xml"/><Relationship Id="rId69" Type="http://schemas.openxmlformats.org/officeDocument/2006/relationships/slide" Target="slides/slide67.xml"/><Relationship Id="rId80" Type="http://schemas.openxmlformats.org/officeDocument/2006/relationships/slide" Target="slides/slide78.xml"/><Relationship Id="rId85" Type="http://schemas.openxmlformats.org/officeDocument/2006/relationships/slide" Target="slides/slide83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59" Type="http://schemas.openxmlformats.org/officeDocument/2006/relationships/slide" Target="slides/slide57.xml"/><Relationship Id="rId103" Type="http://schemas.openxmlformats.org/officeDocument/2006/relationships/slide" Target="slides/slide101.xml"/><Relationship Id="rId108" Type="http://schemas.openxmlformats.org/officeDocument/2006/relationships/viewProps" Target="viewProps.xml"/><Relationship Id="rId54" Type="http://schemas.openxmlformats.org/officeDocument/2006/relationships/slide" Target="slides/slide52.xml"/><Relationship Id="rId70" Type="http://schemas.openxmlformats.org/officeDocument/2006/relationships/slide" Target="slides/slide68.xml"/><Relationship Id="rId75" Type="http://schemas.openxmlformats.org/officeDocument/2006/relationships/slide" Target="slides/slide73.xml"/><Relationship Id="rId91" Type="http://schemas.openxmlformats.org/officeDocument/2006/relationships/slide" Target="slides/slide89.xml"/><Relationship Id="rId96" Type="http://schemas.openxmlformats.org/officeDocument/2006/relationships/slide" Target="slides/slide9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6" Type="http://schemas.openxmlformats.org/officeDocument/2006/relationships/tags" Target="tags/tag1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73" Type="http://schemas.openxmlformats.org/officeDocument/2006/relationships/slide" Target="slides/slide71.xml"/><Relationship Id="rId78" Type="http://schemas.openxmlformats.org/officeDocument/2006/relationships/slide" Target="slides/slide76.xml"/><Relationship Id="rId81" Type="http://schemas.openxmlformats.org/officeDocument/2006/relationships/slide" Target="slides/slide79.xml"/><Relationship Id="rId86" Type="http://schemas.openxmlformats.org/officeDocument/2006/relationships/slide" Target="slides/slide84.xml"/><Relationship Id="rId94" Type="http://schemas.openxmlformats.org/officeDocument/2006/relationships/slide" Target="slides/slide92.xml"/><Relationship Id="rId99" Type="http://schemas.openxmlformats.org/officeDocument/2006/relationships/slide" Target="slides/slide97.xml"/><Relationship Id="rId101" Type="http://schemas.openxmlformats.org/officeDocument/2006/relationships/slide" Target="slides/slide9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109" Type="http://schemas.openxmlformats.org/officeDocument/2006/relationships/theme" Target="theme/theme1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6" Type="http://schemas.openxmlformats.org/officeDocument/2006/relationships/slide" Target="slides/slide74.xml"/><Relationship Id="rId97" Type="http://schemas.openxmlformats.org/officeDocument/2006/relationships/slide" Target="slides/slide95.xml"/><Relationship Id="rId104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71" Type="http://schemas.openxmlformats.org/officeDocument/2006/relationships/slide" Target="slides/slide69.xml"/><Relationship Id="rId92" Type="http://schemas.openxmlformats.org/officeDocument/2006/relationships/slide" Target="slides/slide90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7.xml"/><Relationship Id="rId24" Type="http://schemas.openxmlformats.org/officeDocument/2006/relationships/slide" Target="slides/slide22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66" Type="http://schemas.openxmlformats.org/officeDocument/2006/relationships/slide" Target="slides/slide64.xml"/><Relationship Id="rId87" Type="http://schemas.openxmlformats.org/officeDocument/2006/relationships/slide" Target="slides/slide85.xml"/><Relationship Id="rId110" Type="http://schemas.openxmlformats.org/officeDocument/2006/relationships/tableStyles" Target="tableStyles.xml"/><Relationship Id="rId61" Type="http://schemas.openxmlformats.org/officeDocument/2006/relationships/slide" Target="slides/slide59.xml"/><Relationship Id="rId82" Type="http://schemas.openxmlformats.org/officeDocument/2006/relationships/slide" Target="slides/slide80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56" Type="http://schemas.openxmlformats.org/officeDocument/2006/relationships/slide" Target="slides/slide54.xml"/><Relationship Id="rId77" Type="http://schemas.openxmlformats.org/officeDocument/2006/relationships/slide" Target="slides/slide75.xml"/><Relationship Id="rId100" Type="http://schemas.openxmlformats.org/officeDocument/2006/relationships/slide" Target="slides/slide98.xml"/><Relationship Id="rId105" Type="http://schemas.openxmlformats.org/officeDocument/2006/relationships/handoutMaster" Target="handoutMasters/handoutMaster1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slide" Target="slides/slide70.xml"/><Relationship Id="rId93" Type="http://schemas.openxmlformats.org/officeDocument/2006/relationships/slide" Target="slides/slide91.xml"/><Relationship Id="rId98" Type="http://schemas.openxmlformats.org/officeDocument/2006/relationships/slide" Target="slides/slide96.xml"/><Relationship Id="rId3" Type="http://schemas.openxmlformats.org/officeDocument/2006/relationships/slide" Target="slides/slide1.xml"/><Relationship Id="rId25" Type="http://schemas.openxmlformats.org/officeDocument/2006/relationships/slide" Target="slides/slide23.xml"/><Relationship Id="rId46" Type="http://schemas.openxmlformats.org/officeDocument/2006/relationships/slide" Target="slides/slide44.xml"/><Relationship Id="rId67" Type="http://schemas.openxmlformats.org/officeDocument/2006/relationships/slide" Target="slides/slide65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62" Type="http://schemas.openxmlformats.org/officeDocument/2006/relationships/slide" Target="slides/slide60.xml"/><Relationship Id="rId83" Type="http://schemas.openxmlformats.org/officeDocument/2006/relationships/slide" Target="slides/slide81.xml"/><Relationship Id="rId88" Type="http://schemas.openxmlformats.org/officeDocument/2006/relationships/slide" Target="slides/slide86.xml"/></Relationships>
</file>

<file path=ppt/_rels/viewProps.xml.rels><?xml version="1.0" encoding="UTF-8" standalone="yes"?>
<Relationships xmlns="http://schemas.openxmlformats.org/package/2006/relationships"><Relationship Id="rId1" Type="http://schemas.openxmlformats.org/officeDocument/2006/relationships/slide" Target="slides/slide95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image" Target="../media/image1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spcBef>
                <a:spcPct val="0"/>
              </a:spcBef>
              <a:buFontTx/>
              <a:buNone/>
              <a:defRPr kumimoji="1" sz="1200" b="0">
                <a:ea typeface="仿宋_GB2312" pitchFamily="49" charset="-122"/>
                <a:cs typeface="+mn-cs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仿宋_GB2312" pitchFamily="49" charset="-122"/>
              <a:cs typeface="+mn-cs"/>
            </a:endParaRP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spcBef>
                <a:spcPct val="0"/>
              </a:spcBef>
              <a:buFontTx/>
              <a:buNone/>
              <a:defRPr kumimoji="1" sz="1200" b="0">
                <a:ea typeface="仿宋_GB2312" pitchFamily="49" charset="-122"/>
                <a:cs typeface="+mn-cs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仿宋_GB2312" pitchFamily="49" charset="-122"/>
              <a:cs typeface="+mn-cs"/>
            </a:endParaRPr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spcBef>
                <a:spcPct val="0"/>
              </a:spcBef>
              <a:buFontTx/>
              <a:buNone/>
              <a:defRPr kumimoji="1" sz="1200" b="0">
                <a:ea typeface="仿宋_GB2312" pitchFamily="49" charset="-122"/>
                <a:cs typeface="+mn-cs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仿宋_GB2312" pitchFamily="49" charset="-122"/>
              <a:cs typeface="+mn-cs"/>
            </a:endParaRPr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spcBef>
                <a:spcPct val="0"/>
              </a:spcBef>
              <a:buFont typeface="Arial" panose="020B0604020202020204" pitchFamily="34" charset="0"/>
              <a:buNone/>
              <a:defRPr sz="1200" b="0" noProof="1">
                <a:ea typeface="仿宋_GB2312" pitchFamily="49" charset="-122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BB18CE1C-F683-44DB-9A13-DA9EABB7CE1C}" type="slidenum">
              <a:rPr kumimoji="0" lang="en-US" altLang="zh-CN" sz="12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仿宋_GB2312" pitchFamily="49" charset="-122"/>
                <a:cs typeface="+mn-cs"/>
              </a:rPr>
              <a:t>‹#›</a:t>
            </a:fld>
            <a:endParaRPr kumimoji="0" lang="en-US" altLang="zh-CN" sz="1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仿宋_GB2312" pitchFamily="49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spcBef>
                <a:spcPct val="0"/>
              </a:spcBef>
              <a:buFontTx/>
              <a:buNone/>
              <a:defRPr kumimoji="1" sz="1200" b="0">
                <a:ea typeface="仿宋_GB2312" pitchFamily="49" charset="-122"/>
                <a:cs typeface="+mn-cs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仿宋_GB2312" pitchFamily="49" charset="-122"/>
              <a:cs typeface="+mn-cs"/>
            </a:endParaRP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spcBef>
                <a:spcPct val="0"/>
              </a:spcBef>
              <a:buFontTx/>
              <a:buNone/>
              <a:defRPr kumimoji="1" sz="1200" b="0">
                <a:ea typeface="仿宋_GB2312" pitchFamily="49" charset="-122"/>
                <a:cs typeface="+mn-cs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仿宋_GB2312" pitchFamily="49" charset="-122"/>
              <a:cs typeface="+mn-cs"/>
            </a:endParaRPr>
          </a:p>
        </p:txBody>
      </p:sp>
      <p:sp>
        <p:nvSpPr>
          <p:cNvPr id="11268" name="Rectangle 4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205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仿宋_GB2312" pitchFamily="49" charset="-122"/>
                <a:cs typeface="仿宋_GB2312" pitchFamily="49" charset="-122"/>
              </a:rPr>
              <a:t>单击以编辑母版文本样式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仿宋_GB2312" pitchFamily="49" charset="-122"/>
                <a:cs typeface="仿宋_GB2312" pitchFamily="49" charset="-122"/>
              </a:rPr>
              <a:t>第二级</a:t>
            </a: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仿宋_GB2312" pitchFamily="49" charset="-122"/>
                <a:cs typeface="仿宋_GB2312" pitchFamily="49" charset="-122"/>
              </a:rPr>
              <a:t>第三级</a:t>
            </a: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仿宋_GB2312" pitchFamily="49" charset="-122"/>
                <a:cs typeface="仿宋_GB2312" pitchFamily="49" charset="-122"/>
              </a:rPr>
              <a:t>第四级</a:t>
            </a: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仿宋_GB2312" pitchFamily="49" charset="-122"/>
                <a:cs typeface="仿宋_GB2312" pitchFamily="49" charset="-122"/>
              </a:rPr>
              <a:t>第五级</a:t>
            </a:r>
          </a:p>
        </p:txBody>
      </p:sp>
      <p:sp>
        <p:nvSpPr>
          <p:cNvPr id="205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spcBef>
                <a:spcPct val="0"/>
              </a:spcBef>
              <a:buFontTx/>
              <a:buNone/>
              <a:defRPr kumimoji="1" sz="1200" b="0">
                <a:ea typeface="仿宋_GB2312" pitchFamily="49" charset="-122"/>
                <a:cs typeface="+mn-cs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仿宋_GB2312" pitchFamily="49" charset="-122"/>
              <a:cs typeface="+mn-cs"/>
            </a:endParaRPr>
          </a:p>
        </p:txBody>
      </p:sp>
      <p:sp>
        <p:nvSpPr>
          <p:cNvPr id="205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spcBef>
                <a:spcPct val="0"/>
              </a:spcBef>
              <a:buFont typeface="Arial" panose="020B0604020202020204" pitchFamily="34" charset="0"/>
              <a:buNone/>
              <a:defRPr sz="1200" b="0" noProof="1">
                <a:ea typeface="仿宋_GB2312" pitchFamily="49" charset="-122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321E0E58-AAA9-49A0-B4E4-6E203DE171ED}" type="slidenum">
              <a:rPr kumimoji="0" lang="en-US" altLang="zh-CN" sz="12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仿宋_GB2312" pitchFamily="49" charset="-122"/>
                <a:cs typeface="+mn-cs"/>
              </a:rPr>
              <a:t>‹#›</a:t>
            </a:fld>
            <a:endParaRPr kumimoji="0" lang="en-US" altLang="zh-CN" sz="1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仿宋_GB2312" pitchFamily="49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仿宋_GB2312" pitchFamily="49" charset="-122"/>
        <a:cs typeface="仿宋_GB2312" pitchFamily="49" charset="-122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仿宋_GB2312" pitchFamily="49" charset="-122"/>
        <a:cs typeface="仿宋_GB2312" pitchFamily="49" charset="-122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仿宋_GB2312" pitchFamily="49" charset="-122"/>
        <a:cs typeface="仿宋_GB2312" pitchFamily="49" charset="-122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仿宋_GB2312" pitchFamily="49" charset="-122"/>
        <a:cs typeface="仿宋_GB2312" pitchFamily="49" charset="-122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仿宋_GB2312" pitchFamily="49" charset="-122"/>
        <a:cs typeface="仿宋_GB2312" pitchFamily="49" charset="-122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2705348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en-US" altLang="zh-CN" sz="1200" b="0" dirty="0">
                <a:ea typeface="仿宋_GB2312" pitchFamily="49" charset="-122"/>
              </a:rPr>
              <a:t>18</a:t>
            </a:fld>
            <a:endParaRPr lang="en-US" altLang="zh-CN" sz="1200" b="0" dirty="0">
              <a:ea typeface="仿宋_GB2312" pitchFamily="49" charset="-122"/>
            </a:endParaRPr>
          </a:p>
        </p:txBody>
      </p:sp>
      <p:sp>
        <p:nvSpPr>
          <p:cNvPr id="43011" name="Rectangle 2"/>
          <p:cNvSpPr>
            <a:spLocks noGrp="1" noRot="1" noChangeAspect="1" noTextEdit="1"/>
          </p:cNvSpPr>
          <p:nvPr>
            <p:ph type="sldImg"/>
          </p:nvPr>
        </p:nvSpPr>
        <p:spPr>
          <a:solidFill>
            <a:srgbClr val="FFFFFF">
              <a:alpha val="100000"/>
            </a:srgbClr>
          </a:solidFill>
        </p:spPr>
      </p:sp>
      <p:sp>
        <p:nvSpPr>
          <p:cNvPr id="43012" name="Rectangle 3"/>
          <p:cNvSpPr>
            <a:spLocks noGrp="1"/>
          </p:cNvSpPr>
          <p:nvPr>
            <p:ph type="body"/>
          </p:nvPr>
        </p:nvSpPr>
        <p:spPr>
          <a:solidFill>
            <a:srgbClr val="FFFFFF">
              <a:alpha val="100000"/>
            </a:srgbClr>
          </a:solidFill>
          <a:ln>
            <a:solidFill>
              <a:srgbClr val="000000">
                <a:alpha val="100000"/>
              </a:srgbClr>
            </a:solidFill>
            <a:miter/>
          </a:ln>
        </p:spPr>
        <p:txBody>
          <a:bodyPr wrap="square" lIns="91440" tIns="45720" rIns="91440" bIns="45720" anchor="t" anchorCtr="0"/>
          <a:lstStyle/>
          <a:p>
            <a:pPr lvl="0"/>
            <a:endParaRPr lang="zh-CN" altLang="zh-CN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直接连接符 9"/>
          <p:cNvSpPr/>
          <p:nvPr userDrawn="1"/>
        </p:nvSpPr>
        <p:spPr>
          <a:xfrm>
            <a:off x="0" y="6357938"/>
            <a:ext cx="9144000" cy="71437"/>
          </a:xfrm>
          <a:prstGeom prst="line">
            <a:avLst/>
          </a:prstGeom>
          <a:ln w="9525">
            <a:noFill/>
          </a:ln>
        </p:spPr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/>
          <p:cNvSpPr/>
          <p:nvPr/>
        </p:nvSpPr>
        <p:spPr>
          <a:xfrm>
            <a:off x="0" y="190500"/>
            <a:ext cx="9144000" cy="536575"/>
          </a:xfrm>
          <a:prstGeom prst="rect">
            <a:avLst/>
          </a:prstGeom>
          <a:solidFill>
            <a:schemeClr val="accent2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17" tIns="60958" rIns="121917" bIns="60958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400" b="1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4171" y="235957"/>
            <a:ext cx="6400800" cy="456739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446087" y="906860"/>
            <a:ext cx="8251825" cy="5472112"/>
          </a:xfrm>
        </p:spPr>
        <p:txBody>
          <a:bodyPr/>
          <a:lstStyle>
            <a:lvl1pPr marL="457200" indent="-457200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8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342900" indent="-342900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342900" indent="-342900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/>
            </a:lvl3pPr>
            <a:lvl4pPr marL="1714500" indent="-342900">
              <a:buFont typeface="Arial" panose="020B0604020202020204" pitchFamily="34" charset="0"/>
              <a:buChar char="•"/>
              <a:defRPr sz="2400"/>
            </a:lvl4pPr>
          </a:lstStyle>
          <a:p>
            <a:pPr lvl="0"/>
            <a:r>
              <a:rPr lang="zh-CN" altLang="en-US" noProof="1"/>
              <a:t>编辑母版文本样式</a:t>
            </a:r>
            <a:endParaRPr lang="en-US" altLang="zh-CN" noProof="1"/>
          </a:p>
          <a:p>
            <a:pPr lvl="1"/>
            <a:endParaRPr lang="zh-CN" altLang="en-US" noProof="1"/>
          </a:p>
          <a:p>
            <a:pPr lvl="0"/>
            <a:endParaRPr lang="zh-CN" altLang="en-US" noProof="1"/>
          </a:p>
        </p:txBody>
      </p:sp>
      <p:grpSp>
        <p:nvGrpSpPr>
          <p:cNvPr id="17" name="组合 16"/>
          <p:cNvGrpSpPr/>
          <p:nvPr/>
        </p:nvGrpSpPr>
        <p:grpSpPr>
          <a:xfrm>
            <a:off x="115637" y="404664"/>
            <a:ext cx="617410" cy="174607"/>
            <a:chOff x="384175" y="480608"/>
            <a:chExt cx="348872" cy="98663"/>
          </a:xfrm>
          <a:solidFill>
            <a:schemeClr val="bg1">
              <a:lumMod val="90000"/>
            </a:schemeClr>
          </a:solidFill>
        </p:grpSpPr>
        <p:sp>
          <p:nvSpPr>
            <p:cNvPr id="18" name="等腰三角形 17">
              <a:hlinkClick r:id="" action="ppaction://hlinkshowjump?jump=previousslide"/>
            </p:cNvPr>
            <p:cNvSpPr/>
            <p:nvPr/>
          </p:nvSpPr>
          <p:spPr>
            <a:xfrm rot="5400000" flipH="1">
              <a:off x="372754" y="492029"/>
              <a:ext cx="98663" cy="75822"/>
            </a:xfrm>
            <a:prstGeom prst="triangle">
              <a:avLst/>
            </a:prstGeom>
            <a:grp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917" tIns="60958" rIns="121917" bIns="60958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9" name="等腰三角形 18">
              <a:hlinkClick r:id="" action="ppaction://hlinkshowjump?jump=previousslide"/>
            </p:cNvPr>
            <p:cNvSpPr/>
            <p:nvPr/>
          </p:nvSpPr>
          <p:spPr>
            <a:xfrm rot="5400000" flipH="1">
              <a:off x="512454" y="492029"/>
              <a:ext cx="98663" cy="75822"/>
            </a:xfrm>
            <a:prstGeom prst="triangle">
              <a:avLst/>
            </a:prstGeom>
            <a:grp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917" tIns="60958" rIns="121917" bIns="60958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0" name="等腰三角形 19">
              <a:hlinkClick r:id="" action="ppaction://hlinkshowjump?jump=previousslide"/>
            </p:cNvPr>
            <p:cNvSpPr/>
            <p:nvPr/>
          </p:nvSpPr>
          <p:spPr>
            <a:xfrm rot="5400000" flipH="1">
              <a:off x="645804" y="492029"/>
              <a:ext cx="98663" cy="75822"/>
            </a:xfrm>
            <a:prstGeom prst="triangle">
              <a:avLst/>
            </a:prstGeom>
            <a:grp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917" tIns="60958" rIns="121917" bIns="60958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仅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/>
          <p:cNvSpPr/>
          <p:nvPr/>
        </p:nvSpPr>
        <p:spPr>
          <a:xfrm>
            <a:off x="0" y="190500"/>
            <a:ext cx="9144000" cy="536575"/>
          </a:xfrm>
          <a:prstGeom prst="rect">
            <a:avLst/>
          </a:prstGeom>
          <a:solidFill>
            <a:schemeClr val="accent2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17" tIns="60958" rIns="121917" bIns="60958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400" b="1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4101" name="直接连接符 9"/>
          <p:cNvSpPr/>
          <p:nvPr userDrawn="1"/>
        </p:nvSpPr>
        <p:spPr>
          <a:xfrm>
            <a:off x="0" y="6357938"/>
            <a:ext cx="9144000" cy="71437"/>
          </a:xfrm>
          <a:prstGeom prst="line">
            <a:avLst/>
          </a:prstGeom>
          <a:ln w="9525">
            <a:noFill/>
          </a:ln>
        </p:spPr>
      </p:sp>
      <p:grpSp>
        <p:nvGrpSpPr>
          <p:cNvPr id="17" name="组合 16"/>
          <p:cNvGrpSpPr/>
          <p:nvPr/>
        </p:nvGrpSpPr>
        <p:grpSpPr>
          <a:xfrm>
            <a:off x="115637" y="404664"/>
            <a:ext cx="617410" cy="174607"/>
            <a:chOff x="384175" y="480608"/>
            <a:chExt cx="348872" cy="98663"/>
          </a:xfrm>
          <a:solidFill>
            <a:schemeClr val="bg1">
              <a:lumMod val="90000"/>
            </a:schemeClr>
          </a:solidFill>
        </p:grpSpPr>
        <p:sp>
          <p:nvSpPr>
            <p:cNvPr id="18" name="等腰三角形 17">
              <a:hlinkClick r:id="" action="ppaction://hlinkshowjump?jump=previousslide"/>
            </p:cNvPr>
            <p:cNvSpPr/>
            <p:nvPr/>
          </p:nvSpPr>
          <p:spPr>
            <a:xfrm rot="5400000" flipH="1">
              <a:off x="372754" y="492029"/>
              <a:ext cx="98663" cy="75822"/>
            </a:xfrm>
            <a:prstGeom prst="triangle">
              <a:avLst/>
            </a:prstGeom>
            <a:grp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917" tIns="60958" rIns="121917" bIns="60958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9" name="等腰三角形 18">
              <a:hlinkClick r:id="" action="ppaction://hlinkshowjump?jump=previousslide"/>
            </p:cNvPr>
            <p:cNvSpPr/>
            <p:nvPr/>
          </p:nvSpPr>
          <p:spPr>
            <a:xfrm rot="5400000" flipH="1">
              <a:off x="512454" y="492029"/>
              <a:ext cx="98663" cy="75822"/>
            </a:xfrm>
            <a:prstGeom prst="triangle">
              <a:avLst/>
            </a:prstGeom>
            <a:grp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917" tIns="60958" rIns="121917" bIns="60958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0" name="等腰三角形 19">
              <a:hlinkClick r:id="" action="ppaction://hlinkshowjump?jump=previousslide"/>
            </p:cNvPr>
            <p:cNvSpPr/>
            <p:nvPr/>
          </p:nvSpPr>
          <p:spPr>
            <a:xfrm rot="5400000" flipH="1">
              <a:off x="645804" y="492029"/>
              <a:ext cx="98663" cy="75822"/>
            </a:xfrm>
            <a:prstGeom prst="triangle">
              <a:avLst/>
            </a:prstGeom>
            <a:grp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917" tIns="60958" rIns="121917" bIns="60958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空白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直接连接符 9"/>
          <p:cNvSpPr/>
          <p:nvPr userDrawn="1"/>
        </p:nvSpPr>
        <p:spPr>
          <a:xfrm>
            <a:off x="0" y="6357938"/>
            <a:ext cx="9144000" cy="71437"/>
          </a:xfrm>
          <a:prstGeom prst="line">
            <a:avLst/>
          </a:prstGeom>
          <a:ln w="9525">
            <a:noFill/>
          </a:ln>
        </p:spPr>
      </p:sp>
      <p:sp>
        <p:nvSpPr>
          <p:cNvPr id="16" name="矩形 15"/>
          <p:cNvSpPr/>
          <p:nvPr/>
        </p:nvSpPr>
        <p:spPr>
          <a:xfrm>
            <a:off x="0" y="172744"/>
            <a:ext cx="9144000" cy="536575"/>
          </a:xfrm>
          <a:prstGeom prst="rect">
            <a:avLst/>
          </a:prstGeom>
          <a:solidFill>
            <a:schemeClr val="accent2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17" tIns="60958" rIns="121917" bIns="60958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400" b="1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" name="标题 1"/>
          <p:cNvSpPr>
            <a:spLocks noGrp="1"/>
          </p:cNvSpPr>
          <p:nvPr>
            <p:ph type="title"/>
          </p:nvPr>
        </p:nvSpPr>
        <p:spPr>
          <a:xfrm>
            <a:off x="844550" y="260350"/>
            <a:ext cx="6400800" cy="457200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5126" name="直接连接符 9"/>
          <p:cNvSpPr/>
          <p:nvPr userDrawn="1"/>
        </p:nvSpPr>
        <p:spPr>
          <a:xfrm>
            <a:off x="0" y="6357938"/>
            <a:ext cx="9144000" cy="71437"/>
          </a:xfrm>
          <a:prstGeom prst="line">
            <a:avLst/>
          </a:prstGeom>
          <a:ln w="9525">
            <a:noFill/>
          </a:ln>
        </p:spPr>
      </p:sp>
      <p:grpSp>
        <p:nvGrpSpPr>
          <p:cNvPr id="18" name="组合 17"/>
          <p:cNvGrpSpPr/>
          <p:nvPr/>
        </p:nvGrpSpPr>
        <p:grpSpPr>
          <a:xfrm>
            <a:off x="115637" y="404664"/>
            <a:ext cx="617410" cy="174607"/>
            <a:chOff x="384175" y="480608"/>
            <a:chExt cx="348872" cy="98663"/>
          </a:xfrm>
          <a:solidFill>
            <a:schemeClr val="bg1">
              <a:lumMod val="90000"/>
            </a:schemeClr>
          </a:solidFill>
        </p:grpSpPr>
        <p:sp>
          <p:nvSpPr>
            <p:cNvPr id="19" name="等腰三角形 18">
              <a:hlinkClick r:id="" action="ppaction://hlinkshowjump?jump=previousslide"/>
            </p:cNvPr>
            <p:cNvSpPr/>
            <p:nvPr/>
          </p:nvSpPr>
          <p:spPr>
            <a:xfrm rot="5400000" flipH="1">
              <a:off x="372754" y="492029"/>
              <a:ext cx="98663" cy="75822"/>
            </a:xfrm>
            <a:prstGeom prst="triangle">
              <a:avLst/>
            </a:prstGeom>
            <a:grp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917" tIns="60958" rIns="121917" bIns="60958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0" name="等腰三角形 19">
              <a:hlinkClick r:id="" action="ppaction://hlinkshowjump?jump=previousslide"/>
            </p:cNvPr>
            <p:cNvSpPr/>
            <p:nvPr/>
          </p:nvSpPr>
          <p:spPr>
            <a:xfrm rot="5400000" flipH="1">
              <a:off x="512454" y="492029"/>
              <a:ext cx="98663" cy="75822"/>
            </a:xfrm>
            <a:prstGeom prst="triangle">
              <a:avLst/>
            </a:prstGeom>
            <a:grp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917" tIns="60958" rIns="121917" bIns="60958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1" name="等腰三角形 20">
              <a:hlinkClick r:id="" action="ppaction://hlinkshowjump?jump=previousslide"/>
            </p:cNvPr>
            <p:cNvSpPr/>
            <p:nvPr/>
          </p:nvSpPr>
          <p:spPr>
            <a:xfrm rot="5400000" flipH="1">
              <a:off x="645804" y="492029"/>
              <a:ext cx="98663" cy="75822"/>
            </a:xfrm>
            <a:prstGeom prst="triangle">
              <a:avLst/>
            </a:prstGeom>
            <a:grp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917" tIns="60958" rIns="121917" bIns="60958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dgm">
  <p:cSld name="标题和图示或组织结构图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17588" y="609600"/>
            <a:ext cx="6400800" cy="685800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SmartArt 占位符 2"/>
          <p:cNvSpPr>
            <a:spLocks noGrp="1"/>
          </p:cNvSpPr>
          <p:nvPr>
            <p:ph type="pic" idx="1"/>
          </p:nvPr>
        </p:nvSpPr>
        <p:spPr>
          <a:xfrm>
            <a:off x="649288" y="1449388"/>
            <a:ext cx="7983537" cy="4725987"/>
          </a:xfrm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538480" algn="l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5" name="Rectangle 4"/>
          <p:cNvSpPr>
            <a:spLocks noGrp="1" noChangeArrowheads="1"/>
          </p:cNvSpPr>
          <p:nvPr>
            <p:ph type="dt" sz="half" idx="2"/>
          </p:nvPr>
        </p:nvSpPr>
        <p:spPr>
          <a:xfrm>
            <a:off x="0" y="0"/>
            <a:ext cx="0" cy="0"/>
          </a:xfrm>
        </p:spPr>
        <p:txBody>
          <a:bodyPr/>
          <a:lstStyle>
            <a:lvl1pPr eaLnBrk="1" hangingPunct="1">
              <a:spcBef>
                <a:spcPct val="20000"/>
              </a:spcBef>
              <a:buFont typeface="Arial" panose="020B0604020202020204" pitchFamily="34" charset="0"/>
              <a:buNone/>
              <a:defRPr>
                <a:ea typeface="楷体_GB2312" pitchFamily="49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                   </a:t>
            </a:r>
            <a:fld id="{20EEB953-5660-42CA-8168-E2E4805E44E2}" type="datetime2"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2025年10月10日</a:t>
            </a:fld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       </a:t>
            </a:r>
          </a:p>
        </p:txBody>
      </p:sp>
      <p:sp>
        <p:nvSpPr>
          <p:cNvPr id="16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0" y="0"/>
            <a:ext cx="0" cy="0"/>
          </a:xfrm>
        </p:spPr>
        <p:txBody>
          <a:bodyPr/>
          <a:lstStyle>
            <a:lvl1pPr eaLnBrk="1" hangingPunct="1">
              <a:spcBef>
                <a:spcPct val="20000"/>
              </a:spcBef>
              <a:buFont typeface="Arial" panose="020B0604020202020204" pitchFamily="34" charset="0"/>
              <a:buNone/>
              <a:defRPr>
                <a:ea typeface="楷体_GB2312" pitchFamily="49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北京林业大学信息学院</a:t>
            </a:r>
            <a:endParaRPr kumimoji="0" lang="zh-CN" altLang="en-US" sz="1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标题，文本与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17588" y="609600"/>
            <a:ext cx="6400800" cy="685800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49288" y="1449388"/>
            <a:ext cx="3914775" cy="4725987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716463" y="1449388"/>
            <a:ext cx="3916362" cy="4725987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15" name="Rectangle 4"/>
          <p:cNvSpPr>
            <a:spLocks noGrp="1" noChangeArrowheads="1"/>
          </p:cNvSpPr>
          <p:nvPr>
            <p:ph type="dt" sz="half" idx="12"/>
          </p:nvPr>
        </p:nvSpPr>
        <p:spPr>
          <a:xfrm>
            <a:off x="0" y="0"/>
            <a:ext cx="0" cy="0"/>
          </a:xfrm>
        </p:spPr>
        <p:txBody>
          <a:bodyPr/>
          <a:lstStyle>
            <a:lvl1pPr eaLnBrk="1" hangingPunct="1">
              <a:spcBef>
                <a:spcPct val="20000"/>
              </a:spcBef>
              <a:buFont typeface="Arial" panose="020B0604020202020204" pitchFamily="34" charset="0"/>
              <a:buNone/>
              <a:defRPr>
                <a:ea typeface="楷体_GB2312" pitchFamily="49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                   </a:t>
            </a:r>
            <a:fld id="{AB572357-15AF-486C-8610-07DE1029D9FD}" type="datetime2"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2025年10月10日</a:t>
            </a:fld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       </a:t>
            </a:r>
          </a:p>
        </p:txBody>
      </p:sp>
      <p:sp>
        <p:nvSpPr>
          <p:cNvPr id="16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0" y="0"/>
            <a:ext cx="0" cy="0"/>
          </a:xfrm>
        </p:spPr>
        <p:txBody>
          <a:bodyPr/>
          <a:lstStyle>
            <a:lvl1pPr eaLnBrk="1" hangingPunct="1">
              <a:spcBef>
                <a:spcPct val="20000"/>
              </a:spcBef>
              <a:buFont typeface="Arial" panose="020B0604020202020204" pitchFamily="34" charset="0"/>
              <a:buNone/>
              <a:defRPr>
                <a:ea typeface="楷体_GB2312" pitchFamily="49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北京林业大学信息学院</a:t>
            </a:r>
            <a:endParaRPr kumimoji="0" lang="zh-CN" altLang="en-US" sz="1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2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698" name="Group 2">
            <a:extLst>
              <a:ext uri="{FF2B5EF4-FFF2-40B4-BE49-F238E27FC236}">
                <a16:creationId xmlns:a16="http://schemas.microsoft.com/office/drawing/2014/main" id="{8CAF50F0-3A55-4ADA-AA1D-9792FAE14E5B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sp>
          <p:nvSpPr>
            <p:cNvPr id="29699" name="Rectangle 3">
              <a:extLst>
                <a:ext uri="{FF2B5EF4-FFF2-40B4-BE49-F238E27FC236}">
                  <a16:creationId xmlns:a16="http://schemas.microsoft.com/office/drawing/2014/main" id="{3CA8E321-DF00-4874-877B-385BA03E1297}"/>
                </a:ext>
              </a:extLst>
            </p:cNvPr>
            <p:cNvSpPr>
              <a:spLocks noChangeArrowheads="1"/>
            </p:cNvSpPr>
            <p:nvPr/>
          </p:nvSpPr>
          <p:spPr bwMode="hidden">
            <a:xfrm>
              <a:off x="0" y="0"/>
              <a:ext cx="2208" cy="4320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zh-CN" altLang="zh-CN" sz="2400">
                <a:latin typeface="Times New Roman" panose="02020603050405020304" pitchFamily="18" charset="0"/>
              </a:endParaRPr>
            </a:p>
          </p:txBody>
        </p:sp>
        <p:sp>
          <p:nvSpPr>
            <p:cNvPr id="29700" name="Rectangle 4">
              <a:extLst>
                <a:ext uri="{FF2B5EF4-FFF2-40B4-BE49-F238E27FC236}">
                  <a16:creationId xmlns:a16="http://schemas.microsoft.com/office/drawing/2014/main" id="{FD4184E0-E0DD-4579-BB7D-FE1E1AAC71A1}"/>
                </a:ext>
              </a:extLst>
            </p:cNvPr>
            <p:cNvSpPr>
              <a:spLocks noChangeArrowheads="1"/>
            </p:cNvSpPr>
            <p:nvPr/>
          </p:nvSpPr>
          <p:spPr bwMode="hidden">
            <a:xfrm>
              <a:off x="1081" y="1065"/>
              <a:ext cx="4679" cy="1596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zh-CN" sz="2400">
                <a:latin typeface="Times New Roman" panose="02020603050405020304" pitchFamily="18" charset="0"/>
              </a:endParaRPr>
            </a:p>
          </p:txBody>
        </p:sp>
        <p:grpSp>
          <p:nvGrpSpPr>
            <p:cNvPr id="29701" name="Group 5">
              <a:extLst>
                <a:ext uri="{FF2B5EF4-FFF2-40B4-BE49-F238E27FC236}">
                  <a16:creationId xmlns:a16="http://schemas.microsoft.com/office/drawing/2014/main" id="{AC01B30C-1D2A-4938-A483-9F823E60969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672"/>
              <a:ext cx="1806" cy="1989"/>
              <a:chOff x="0" y="672"/>
              <a:chExt cx="1806" cy="1989"/>
            </a:xfrm>
          </p:grpSpPr>
          <p:sp>
            <p:nvSpPr>
              <p:cNvPr id="29702" name="Rectangle 6">
                <a:extLst>
                  <a:ext uri="{FF2B5EF4-FFF2-40B4-BE49-F238E27FC236}">
                    <a16:creationId xmlns:a16="http://schemas.microsoft.com/office/drawing/2014/main" id="{2054F69F-1878-4EDF-A48B-E59D89D64FE1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361" y="2257"/>
                <a:ext cx="363" cy="404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zh-CN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9703" name="Rectangle 7">
                <a:extLst>
                  <a:ext uri="{FF2B5EF4-FFF2-40B4-BE49-F238E27FC236}">
                    <a16:creationId xmlns:a16="http://schemas.microsoft.com/office/drawing/2014/main" id="{585B3566-4EB7-49E0-A9C1-98563F1ABE63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1081" y="1065"/>
                <a:ext cx="362" cy="405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zh-CN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9704" name="Rectangle 8">
                <a:extLst>
                  <a:ext uri="{FF2B5EF4-FFF2-40B4-BE49-F238E27FC236}">
                    <a16:creationId xmlns:a16="http://schemas.microsoft.com/office/drawing/2014/main" id="{6BA47FA8-F952-43B3-9165-49552E7547B7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1437" y="672"/>
                <a:ext cx="369" cy="400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zh-CN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9705" name="Rectangle 9">
                <a:extLst>
                  <a:ext uri="{FF2B5EF4-FFF2-40B4-BE49-F238E27FC236}">
                    <a16:creationId xmlns:a16="http://schemas.microsoft.com/office/drawing/2014/main" id="{9D408330-8C6C-4B99-960C-3173B443C8B6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719" y="2257"/>
                <a:ext cx="368" cy="404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zh-CN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9706" name="Rectangle 10">
                <a:extLst>
                  <a:ext uri="{FF2B5EF4-FFF2-40B4-BE49-F238E27FC236}">
                    <a16:creationId xmlns:a16="http://schemas.microsoft.com/office/drawing/2014/main" id="{6DADB660-670B-43E3-B0B3-E6797782571E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1437" y="1065"/>
                <a:ext cx="369" cy="405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zh-CN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9707" name="Rectangle 11">
                <a:extLst>
                  <a:ext uri="{FF2B5EF4-FFF2-40B4-BE49-F238E27FC236}">
                    <a16:creationId xmlns:a16="http://schemas.microsoft.com/office/drawing/2014/main" id="{21F32A29-CBB3-405F-B62F-AFCA2142A926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719" y="1464"/>
                <a:ext cx="368" cy="399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zh-CN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9708" name="Rectangle 12">
                <a:extLst>
                  <a:ext uri="{FF2B5EF4-FFF2-40B4-BE49-F238E27FC236}">
                    <a16:creationId xmlns:a16="http://schemas.microsoft.com/office/drawing/2014/main" id="{BED7B892-C9DA-47F7-8DB7-0162F5E59697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0" y="1464"/>
                <a:ext cx="367" cy="399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zh-CN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9709" name="Rectangle 13">
                <a:extLst>
                  <a:ext uri="{FF2B5EF4-FFF2-40B4-BE49-F238E27FC236}">
                    <a16:creationId xmlns:a16="http://schemas.microsoft.com/office/drawing/2014/main" id="{1CF2F4CA-5A16-4B2E-9649-8934827E6FEA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1081" y="1464"/>
                <a:ext cx="362" cy="399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zh-CN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9710" name="Rectangle 14">
                <a:extLst>
                  <a:ext uri="{FF2B5EF4-FFF2-40B4-BE49-F238E27FC236}">
                    <a16:creationId xmlns:a16="http://schemas.microsoft.com/office/drawing/2014/main" id="{E44FE56F-87D5-470E-87AD-C89C43394C70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361" y="1857"/>
                <a:ext cx="363" cy="406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zh-CN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9711" name="Rectangle 15">
                <a:extLst>
                  <a:ext uri="{FF2B5EF4-FFF2-40B4-BE49-F238E27FC236}">
                    <a16:creationId xmlns:a16="http://schemas.microsoft.com/office/drawing/2014/main" id="{2F046A15-3B8F-43A9-B095-F7C1CF803B9B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719" y="1857"/>
                <a:ext cx="368" cy="406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zh-CN" sz="2400">
                  <a:latin typeface="Times New Roman" panose="02020603050405020304" pitchFamily="18" charset="0"/>
                </a:endParaRPr>
              </a:p>
            </p:txBody>
          </p:sp>
        </p:grpSp>
      </p:grpSp>
      <p:sp>
        <p:nvSpPr>
          <p:cNvPr id="29712" name="Rectangle 16">
            <a:extLst>
              <a:ext uri="{FF2B5EF4-FFF2-40B4-BE49-F238E27FC236}">
                <a16:creationId xmlns:a16="http://schemas.microsoft.com/office/drawing/2014/main" id="{67D1B36C-3839-47A5-A900-133A52291D66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>
          <a:xfrm>
            <a:off x="457200" y="62484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29713" name="Rectangle 17">
            <a:extLst>
              <a:ext uri="{FF2B5EF4-FFF2-40B4-BE49-F238E27FC236}">
                <a16:creationId xmlns:a16="http://schemas.microsoft.com/office/drawing/2014/main" id="{0509F7D1-0841-4DCC-9FE2-AE04AD9F3873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29714" name="Rectangle 18">
            <a:extLst>
              <a:ext uri="{FF2B5EF4-FFF2-40B4-BE49-F238E27FC236}">
                <a16:creationId xmlns:a16="http://schemas.microsoft.com/office/drawing/2014/main" id="{80A1332F-FCA7-48B5-9F83-5973E300D742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>
          <a:xfrm>
            <a:off x="6553200" y="6248400"/>
            <a:ext cx="2133600" cy="457200"/>
          </a:xfrm>
        </p:spPr>
        <p:txBody>
          <a:bodyPr/>
          <a:lstStyle>
            <a:lvl1pPr>
              <a:defRPr sz="1200" b="0">
                <a:latin typeface="Arial Black" panose="020B0A04020102020204" pitchFamily="34" charset="0"/>
                <a:ea typeface="+mn-ea"/>
              </a:defRPr>
            </a:lvl1pPr>
          </a:lstStyle>
          <a:p>
            <a:fld id="{E5309CBB-3AEB-4BD3-8A17-C01AB13CAED3}" type="slidenum">
              <a:rPr lang="en-US" altLang="zh-CN"/>
              <a:pPr/>
              <a:t>‹#›</a:t>
            </a:fld>
            <a:endParaRPr lang="en-US" altLang="zh-CN"/>
          </a:p>
        </p:txBody>
      </p:sp>
      <p:sp>
        <p:nvSpPr>
          <p:cNvPr id="29715" name="Rectangle 19">
            <a:extLst>
              <a:ext uri="{FF2B5EF4-FFF2-40B4-BE49-F238E27FC236}">
                <a16:creationId xmlns:a16="http://schemas.microsoft.com/office/drawing/2014/main" id="{8E8CB819-80A5-4466-9E73-B0A49F10772B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2971800" y="1828800"/>
            <a:ext cx="6019800" cy="2209800"/>
          </a:xfrm>
        </p:spPr>
        <p:txBody>
          <a:bodyPr/>
          <a:lstStyle>
            <a:lvl1pPr>
              <a:defRPr sz="500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noProof="0"/>
              <a:t>单击此处编辑母版标题样式</a:t>
            </a:r>
          </a:p>
        </p:txBody>
      </p:sp>
      <p:sp>
        <p:nvSpPr>
          <p:cNvPr id="29716" name="Rectangle 20">
            <a:extLst>
              <a:ext uri="{FF2B5EF4-FFF2-40B4-BE49-F238E27FC236}">
                <a16:creationId xmlns:a16="http://schemas.microsoft.com/office/drawing/2014/main" id="{92C074B9-A395-4156-9D56-1EC3461D110C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2971800" y="4267200"/>
            <a:ext cx="6019800" cy="1752600"/>
          </a:xfrm>
        </p:spPr>
        <p:txBody>
          <a:bodyPr/>
          <a:lstStyle>
            <a:lvl1pPr marL="0" indent="0">
              <a:buFont typeface="Wingdings" panose="05000000000000000000" pitchFamily="2" charset="2"/>
              <a:buNone/>
              <a:defRPr sz="3400"/>
            </a:lvl1pPr>
          </a:lstStyle>
          <a:p>
            <a:pPr lvl="0"/>
            <a:r>
              <a:rPr lang="zh-CN" altLang="en-US" noProof="0"/>
              <a:t>单击此处编辑母版副标题样式</a:t>
            </a:r>
          </a:p>
        </p:txBody>
      </p:sp>
    </p:spTree>
    <p:extLst>
      <p:ext uri="{BB962C8B-B14F-4D97-AF65-F5344CB8AC3E}">
        <p14:creationId xmlns:p14="http://schemas.microsoft.com/office/powerpoint/2010/main" val="842420199"/>
      </p:ext>
    </p:extLst>
  </p:cSld>
  <p:clrMapOvr>
    <a:masterClrMapping/>
  </p:clrMapOvr>
  <p:transition>
    <p:wipe dir="r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29048E9-7969-4300-BA6A-AB7F609A3F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F1078F0-05CD-4ADF-9A07-7E85E80AF7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1CF52D6-C64F-4484-B872-4491C534C9F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AD00F02-548B-4135-9E7E-FAB4FED24FF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67DFCF5C-C2A2-4C66-B481-19AC68269094}" type="slidenum">
              <a:rPr lang="en-US" altLang="zh-CN"/>
              <a:pPr/>
              <a:t>‹#›</a:t>
            </a:fld>
            <a:endParaRPr lang="en-US" altLang="zh-CN"/>
          </a:p>
        </p:txBody>
      </p:sp>
      <p:sp>
        <p:nvSpPr>
          <p:cNvPr id="6" name="日期占位符 5">
            <a:extLst>
              <a:ext uri="{FF2B5EF4-FFF2-40B4-BE49-F238E27FC236}">
                <a16:creationId xmlns:a16="http://schemas.microsoft.com/office/drawing/2014/main" id="{F846A2C3-D87A-417F-97B7-6D0A37C6295A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57923912"/>
      </p:ext>
    </p:extLst>
  </p:cSld>
  <p:clrMapOvr>
    <a:masterClrMapping/>
  </p:clrMapOvr>
  <p:transition>
    <p:wipe dir="r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BEE5B9B-EAD2-474C-80D9-55EDBD5B3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EDEB9AB-0B78-4779-B2DD-2156F4E52D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F9F454CB-5FA3-4EE5-A663-E5F42B206E6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6BDDD17-3EEF-410F-AD08-0F2841DB8E0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9561422F-630F-49A1-B5EE-888F39F5095F}" type="slidenum">
              <a:rPr lang="en-US" altLang="zh-CN"/>
              <a:pPr/>
              <a:t>‹#›</a:t>
            </a:fld>
            <a:endParaRPr lang="en-US" altLang="zh-CN"/>
          </a:p>
        </p:txBody>
      </p:sp>
      <p:sp>
        <p:nvSpPr>
          <p:cNvPr id="6" name="日期占位符 5">
            <a:extLst>
              <a:ext uri="{FF2B5EF4-FFF2-40B4-BE49-F238E27FC236}">
                <a16:creationId xmlns:a16="http://schemas.microsoft.com/office/drawing/2014/main" id="{30C34C09-E65E-40A6-A4C3-564AF5414211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1461411"/>
      </p:ext>
    </p:extLst>
  </p:cSld>
  <p:clrMapOvr>
    <a:masterClrMapping/>
  </p:clrMapOvr>
  <p:transition>
    <p:wipe dir="r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0BF6908-2681-4A69-81B6-7F484EF544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3703E58-A1D6-4DFF-B8A7-9F42B3BFBB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981200"/>
            <a:ext cx="4038600" cy="3886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36F388D-E693-4968-8F3F-2567DCC163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4038600" cy="3886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9FC00AB-6640-4CB8-8B95-ACA87343E42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C4F2435-F14C-427A-B97F-EC0D7144A28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8A31931F-EF41-40CE-B503-7D416B9597B0}" type="slidenum">
              <a:rPr lang="en-US" altLang="zh-CN"/>
              <a:pPr/>
              <a:t>‹#›</a:t>
            </a:fld>
            <a:endParaRPr lang="en-US" altLang="zh-CN"/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83DAA1C9-D806-430A-BD3F-C90F1F931617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32569439"/>
      </p:ext>
    </p:extLst>
  </p:cSld>
  <p:clrMapOvr>
    <a:masterClrMapping/>
  </p:clrMapOvr>
  <p:transition>
    <p:wipe dir="r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3C85370-78EB-4017-B873-01488CBEC9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6BFAADA-45BF-4757-B837-AB17A262AA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4242B3C-64ED-4CAB-AAEC-5DCA64A313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61AD68A9-2257-42C5-BE0E-6B350D9FE44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47D4182D-0893-4FF4-8917-C7E4B519F53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页脚占位符 6">
            <a:extLst>
              <a:ext uri="{FF2B5EF4-FFF2-40B4-BE49-F238E27FC236}">
                <a16:creationId xmlns:a16="http://schemas.microsoft.com/office/drawing/2014/main" id="{8E19D611-22C1-4CD5-98B3-34A65825127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灯片编号占位符 7">
            <a:extLst>
              <a:ext uri="{FF2B5EF4-FFF2-40B4-BE49-F238E27FC236}">
                <a16:creationId xmlns:a16="http://schemas.microsoft.com/office/drawing/2014/main" id="{50070C82-9147-4D12-AE04-F72416F8B8C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8ED5FE2A-6A0D-46F0-9A25-D63A1B86CAAF}" type="slidenum">
              <a:rPr lang="en-US" altLang="zh-CN"/>
              <a:pPr/>
              <a:t>‹#›</a:t>
            </a:fld>
            <a:endParaRPr lang="en-US" altLang="zh-CN"/>
          </a:p>
        </p:txBody>
      </p:sp>
      <p:sp>
        <p:nvSpPr>
          <p:cNvPr id="9" name="日期占位符 8">
            <a:extLst>
              <a:ext uri="{FF2B5EF4-FFF2-40B4-BE49-F238E27FC236}">
                <a16:creationId xmlns:a16="http://schemas.microsoft.com/office/drawing/2014/main" id="{FC29BF08-1F99-4F41-9FE0-897CAFB2533F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38868092"/>
      </p:ext>
    </p:extLst>
  </p:cSld>
  <p:clrMapOvr>
    <a:masterClrMapping/>
  </p:clrMapOvr>
  <p:transition>
    <p:wipe dir="r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C7D100A-5B57-4855-8146-C6CF87D3EF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7E59A4E8-8ACF-4115-8384-5197E01C8D6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F4A9A5F-FC52-48D2-AF1A-4C84D2DFE5B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74F561C9-FB71-4454-A9F9-B9626922A02F}" type="slidenum">
              <a:rPr lang="en-US" altLang="zh-CN"/>
              <a:pPr/>
              <a:t>‹#›</a:t>
            </a:fld>
            <a:endParaRPr lang="en-US" altLang="zh-CN"/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B90ABE2-FCE1-4421-818A-7C71304F76E3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98763911"/>
      </p:ext>
    </p:extLst>
  </p:cSld>
  <p:clrMapOvr>
    <a:masterClrMapping/>
  </p:clrMapOvr>
  <p:transition>
    <p:wipe dir="r"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脚占位符 1">
            <a:extLst>
              <a:ext uri="{FF2B5EF4-FFF2-40B4-BE49-F238E27FC236}">
                <a16:creationId xmlns:a16="http://schemas.microsoft.com/office/drawing/2014/main" id="{DAAE7580-9D24-411F-8067-CE1FA87A8B8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62A20B5A-2B24-441F-827C-9288EFD0DD9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261FF4EF-7BBD-4FA0-9747-34A363CFCF8F}" type="slidenum">
              <a:rPr lang="en-US" altLang="zh-CN"/>
              <a:pPr/>
              <a:t>‹#›</a:t>
            </a:fld>
            <a:endParaRPr lang="en-US" altLang="zh-CN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A84933C-F8BA-4D78-8B20-AC7E97CDEB78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71479028"/>
      </p:ext>
    </p:extLst>
  </p:cSld>
  <p:clrMapOvr>
    <a:masterClrMapping/>
  </p:clrMapOvr>
  <p:transition>
    <p:wipe dir="r"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7EDAD98-0F2F-43ED-B9B8-D9BB4FA071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5088B04-690B-4362-8C14-48C7BF3139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E6A5527-53B5-431B-94A1-540395E6C6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112205B-3744-49D9-8FE7-56DF158DA2B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57C1708-194E-464B-A327-7D2563DDCB9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E77B8F39-10B7-4545-A6C0-3F0F860BA4FE}" type="slidenum">
              <a:rPr lang="en-US" altLang="zh-CN"/>
              <a:pPr/>
              <a:t>‹#›</a:t>
            </a:fld>
            <a:endParaRPr lang="en-US" altLang="zh-CN"/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97918829-C0AE-484B-B38E-2B3238969187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92122248"/>
      </p:ext>
    </p:extLst>
  </p:cSld>
  <p:clrMapOvr>
    <a:masterClrMapping/>
  </p:clrMapOvr>
  <p:transition>
    <p:wipe dir="r"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0830182-45BC-4F98-8B9A-8E68F5430A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28F2BEAD-96DE-46FB-9A5C-AE3D7EEA572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B6901F3-5B60-466C-895C-D40C8DA05C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6B48F8F-5375-459A-8CD5-32FB7BFCB97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5B7A2D5-5350-4E5D-8EE4-5E291E74D07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3B5074B4-9195-4B33-9557-6D03CD715FC5}" type="slidenum">
              <a:rPr lang="en-US" altLang="zh-CN"/>
              <a:pPr/>
              <a:t>‹#›</a:t>
            </a:fld>
            <a:endParaRPr lang="en-US" altLang="zh-CN"/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87C5420C-4B03-4E48-8D15-78B4EC17B174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18446016"/>
      </p:ext>
    </p:extLst>
  </p:cSld>
  <p:clrMapOvr>
    <a:masterClrMapping/>
  </p:clrMapOvr>
  <p:transition>
    <p:wipe dir="r"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D72601D-8D66-4148-91AA-04A14BE1BE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538F4D0-70DC-4DFD-A3A5-D0403CBDAB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320218F-08AA-4223-829D-1B50B3FCAA6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9E890FB-3E52-45DE-9DED-992E246EC61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E31AE139-FCD8-49E9-AEFA-5B65DCDF169F}" type="slidenum">
              <a:rPr lang="en-US" altLang="zh-CN"/>
              <a:pPr/>
              <a:t>‹#›</a:t>
            </a:fld>
            <a:endParaRPr lang="en-US" altLang="zh-CN"/>
          </a:p>
        </p:txBody>
      </p:sp>
      <p:sp>
        <p:nvSpPr>
          <p:cNvPr id="6" name="日期占位符 5">
            <a:extLst>
              <a:ext uri="{FF2B5EF4-FFF2-40B4-BE49-F238E27FC236}">
                <a16:creationId xmlns:a16="http://schemas.microsoft.com/office/drawing/2014/main" id="{7D1184F0-437D-45B8-BF2D-28153DE19E96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60099061"/>
      </p:ext>
    </p:extLst>
  </p:cSld>
  <p:clrMapOvr>
    <a:masterClrMapping/>
  </p:clrMapOvr>
  <p:transition>
    <p:wipe dir="r"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27092409-CC5C-48C3-997B-292643DBCE5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457200"/>
            <a:ext cx="2057400" cy="54102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80ABE33-88BC-4EE2-8363-6804A8DD6D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457200"/>
            <a:ext cx="6019800" cy="54102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1D00B62E-76DB-4459-8ED0-41FE776239F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E00F402-EFE4-4030-B673-02DA40FDB93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23D69601-9D7C-43AD-8E1E-015C13AF9FF6}" type="slidenum">
              <a:rPr lang="en-US" altLang="zh-CN"/>
              <a:pPr/>
              <a:t>‹#›</a:t>
            </a:fld>
            <a:endParaRPr lang="en-US" altLang="zh-CN"/>
          </a:p>
        </p:txBody>
      </p:sp>
      <p:sp>
        <p:nvSpPr>
          <p:cNvPr id="6" name="日期占位符 5">
            <a:extLst>
              <a:ext uri="{FF2B5EF4-FFF2-40B4-BE49-F238E27FC236}">
                <a16:creationId xmlns:a16="http://schemas.microsoft.com/office/drawing/2014/main" id="{E1AE1A58-1346-4E35-A034-D1C2F1FD2B88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39311941"/>
      </p:ext>
    </p:extLst>
  </p:cSld>
  <p:clrMapOvr>
    <a:masterClrMapping/>
  </p:clrMapOvr>
  <p:transition>
    <p:wipe dir="r"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4DDBD91-EC1A-40D2-9866-C876A1679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3716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表格占位符 2">
            <a:extLst>
              <a:ext uri="{FF2B5EF4-FFF2-40B4-BE49-F238E27FC236}">
                <a16:creationId xmlns:a16="http://schemas.microsoft.com/office/drawing/2014/main" id="{8F8FAA65-1A10-4BF7-BD70-92C1323D8424}"/>
              </a:ext>
            </a:extLst>
          </p:cNvPr>
          <p:cNvSpPr>
            <a:spLocks noGrp="1"/>
          </p:cNvSpPr>
          <p:nvPr>
            <p:ph type="tbl" idx="1"/>
          </p:nvPr>
        </p:nvSpPr>
        <p:spPr>
          <a:xfrm>
            <a:off x="457200" y="1981200"/>
            <a:ext cx="8229600" cy="38862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B7B263A-6192-4A79-BDC8-8FCDE3A2740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3D9E543-2961-4C47-A642-89704092165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553200" y="6200775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fld id="{3EE2D7AF-3E92-46C1-9199-DB3F303CD0D0}" type="slidenum">
              <a:rPr lang="en-US" altLang="zh-CN"/>
              <a:pPr/>
              <a:t>‹#›</a:t>
            </a:fld>
            <a:endParaRPr lang="en-US" altLang="zh-CN"/>
          </a:p>
        </p:txBody>
      </p:sp>
      <p:sp>
        <p:nvSpPr>
          <p:cNvPr id="6" name="日期占位符 5">
            <a:extLst>
              <a:ext uri="{FF2B5EF4-FFF2-40B4-BE49-F238E27FC236}">
                <a16:creationId xmlns:a16="http://schemas.microsoft.com/office/drawing/2014/main" id="{80BE2EAB-A84B-4F08-9F09-4EB913DF9E18}"/>
              </a:ext>
            </a:extLst>
          </p:cNvPr>
          <p:cNvSpPr>
            <a:spLocks noGrp="1"/>
          </p:cNvSpPr>
          <p:nvPr>
            <p:ph type="dt" sz="half" idx="12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44337669"/>
      </p:ext>
    </p:extLst>
  </p:cSld>
  <p:clrMapOvr>
    <a:masterClrMapping/>
  </p:clrMapOvr>
  <p:transition>
    <p:wipe dir="r"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dgm" preserve="1">
  <p:cSld name="标题和图示或组织结构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5E5570E-AAE7-4CA9-9BBE-D75B9AE97B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3716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SmartArt 占位符 2">
            <a:extLst>
              <a:ext uri="{FF2B5EF4-FFF2-40B4-BE49-F238E27FC236}">
                <a16:creationId xmlns:a16="http://schemas.microsoft.com/office/drawing/2014/main" id="{69F0F830-8A64-4C74-B83A-8811742AEB6E}"/>
              </a:ext>
            </a:extLst>
          </p:cNvPr>
          <p:cNvSpPr>
            <a:spLocks noGrp="1"/>
          </p:cNvSpPr>
          <p:nvPr>
            <p:ph type="dgm" idx="1"/>
          </p:nvPr>
        </p:nvSpPr>
        <p:spPr>
          <a:xfrm>
            <a:off x="457200" y="1981200"/>
            <a:ext cx="8229600" cy="38862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96245BF-E54E-4380-8C53-2103FE39721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940811D-1E6E-4F6C-AB3B-E8185377118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553200" y="6200775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fld id="{5D438AE6-C331-480D-9D64-09098024A32B}" type="slidenum">
              <a:rPr lang="en-US" altLang="zh-CN"/>
              <a:pPr/>
              <a:t>‹#›</a:t>
            </a:fld>
            <a:endParaRPr lang="en-US" altLang="zh-CN"/>
          </a:p>
        </p:txBody>
      </p:sp>
      <p:sp>
        <p:nvSpPr>
          <p:cNvPr id="6" name="日期占位符 5">
            <a:extLst>
              <a:ext uri="{FF2B5EF4-FFF2-40B4-BE49-F238E27FC236}">
                <a16:creationId xmlns:a16="http://schemas.microsoft.com/office/drawing/2014/main" id="{9F6DDA6E-80B0-47AF-9E5B-F22706BE61AE}"/>
              </a:ext>
            </a:extLst>
          </p:cNvPr>
          <p:cNvSpPr>
            <a:spLocks noGrp="1"/>
          </p:cNvSpPr>
          <p:nvPr>
            <p:ph type="dt" sz="half" idx="12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50507181"/>
      </p:ext>
    </p:extLst>
  </p:cSld>
  <p:clrMapOvr>
    <a:masterClrMapping/>
  </p:clrMapOvr>
  <p:transition>
    <p:wipe dir="r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5.xml"/><Relationship Id="rId13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0.xml"/><Relationship Id="rId7" Type="http://schemas.openxmlformats.org/officeDocument/2006/relationships/slideLayout" Target="../slideLayouts/slideLayout14.xml"/><Relationship Id="rId12" Type="http://schemas.openxmlformats.org/officeDocument/2006/relationships/slideLayout" Target="../slideLayouts/slideLayout19.xml"/><Relationship Id="rId2" Type="http://schemas.openxmlformats.org/officeDocument/2006/relationships/slideLayout" Target="../slideLayouts/slideLayout9.xml"/><Relationship Id="rId1" Type="http://schemas.openxmlformats.org/officeDocument/2006/relationships/slideLayout" Target="../slideLayouts/slideLayout8.xml"/><Relationship Id="rId6" Type="http://schemas.openxmlformats.org/officeDocument/2006/relationships/slideLayout" Target="../slideLayouts/slideLayout13.xml"/><Relationship Id="rId11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2.xml"/><Relationship Id="rId10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1.xml"/><Relationship Id="rId9" Type="http://schemas.openxmlformats.org/officeDocument/2006/relationships/slideLayout" Target="../slideLayouts/slideLayout16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Grp="1"/>
          </p:cNvSpPr>
          <p:nvPr>
            <p:ph type="body"/>
          </p:nvPr>
        </p:nvSpPr>
        <p:spPr>
          <a:xfrm>
            <a:off x="379202" y="812615"/>
            <a:ext cx="8385596" cy="5472112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zh-CN" altLang="en-US" dirty="0"/>
              <a:t>单击以编辑母版文本样式</a:t>
            </a:r>
          </a:p>
        </p:txBody>
      </p:sp>
      <p:cxnSp>
        <p:nvCxnSpPr>
          <p:cNvPr id="1027" name="直接连接符 9"/>
          <p:cNvCxnSpPr/>
          <p:nvPr userDrawn="1"/>
        </p:nvCxnSpPr>
        <p:spPr>
          <a:xfrm>
            <a:off x="0" y="6357938"/>
            <a:ext cx="9144000" cy="71437"/>
          </a:xfrm>
          <a:prstGeom prst="line">
            <a:avLst/>
          </a:prstGeom>
          <a:ln w="9525">
            <a:noFill/>
          </a:ln>
        </p:spPr>
      </p:cxnSp>
      <p:sp>
        <p:nvSpPr>
          <p:cNvPr id="10" name="矩形 9"/>
          <p:cNvSpPr/>
          <p:nvPr/>
        </p:nvSpPr>
        <p:spPr>
          <a:xfrm>
            <a:off x="0" y="190500"/>
            <a:ext cx="9144000" cy="536575"/>
          </a:xfrm>
          <a:prstGeom prst="rect">
            <a:avLst/>
          </a:prstGeom>
          <a:solidFill>
            <a:schemeClr val="accent2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17" tIns="60958" rIns="121917" bIns="60958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400" b="1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115637" y="404664"/>
            <a:ext cx="617410" cy="174607"/>
            <a:chOff x="384175" y="480608"/>
            <a:chExt cx="348872" cy="98663"/>
          </a:xfrm>
          <a:solidFill>
            <a:schemeClr val="bg1">
              <a:lumMod val="90000"/>
            </a:schemeClr>
          </a:solidFill>
        </p:grpSpPr>
        <p:sp>
          <p:nvSpPr>
            <p:cNvPr id="12" name="等腰三角形 11">
              <a:hlinkClick r:id="" action="ppaction://hlinkshowjump?jump=previousslide"/>
            </p:cNvPr>
            <p:cNvSpPr/>
            <p:nvPr/>
          </p:nvSpPr>
          <p:spPr>
            <a:xfrm rot="5400000" flipH="1">
              <a:off x="372754" y="492029"/>
              <a:ext cx="98663" cy="75822"/>
            </a:xfrm>
            <a:prstGeom prst="triangle">
              <a:avLst/>
            </a:prstGeom>
            <a:grp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917" tIns="60958" rIns="121917" bIns="60958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3" name="等腰三角形 12">
              <a:hlinkClick r:id="" action="ppaction://hlinkshowjump?jump=previousslide"/>
            </p:cNvPr>
            <p:cNvSpPr/>
            <p:nvPr/>
          </p:nvSpPr>
          <p:spPr>
            <a:xfrm rot="5400000" flipH="1">
              <a:off x="512454" y="492029"/>
              <a:ext cx="98663" cy="75822"/>
            </a:xfrm>
            <a:prstGeom prst="triangle">
              <a:avLst/>
            </a:prstGeom>
            <a:grp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917" tIns="60958" rIns="121917" bIns="60958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4" name="等腰三角形 13">
              <a:hlinkClick r:id="" action="ppaction://hlinkshowjump?jump=previousslide"/>
            </p:cNvPr>
            <p:cNvSpPr/>
            <p:nvPr/>
          </p:nvSpPr>
          <p:spPr>
            <a:xfrm rot="5400000" flipH="1">
              <a:off x="645804" y="492029"/>
              <a:ext cx="98663" cy="75822"/>
            </a:xfrm>
            <a:prstGeom prst="triangle">
              <a:avLst/>
            </a:prstGeom>
            <a:grp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917" tIns="60958" rIns="121917" bIns="60958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1031" name="Rectangle 2"/>
          <p:cNvSpPr>
            <a:spLocks noGrp="1"/>
          </p:cNvSpPr>
          <p:nvPr>
            <p:ph type="title"/>
          </p:nvPr>
        </p:nvSpPr>
        <p:spPr>
          <a:xfrm>
            <a:off x="844550" y="260350"/>
            <a:ext cx="6400800" cy="4572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lvl="0"/>
            <a:r>
              <a:rPr lang="en-US" altLang="zh-CN" dirty="0"/>
              <a:t>单击以编辑</a:t>
            </a:r>
            <a:r>
              <a:rPr lang="en-US" altLang="en-US" dirty="0"/>
              <a:t>母版标题样式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4" r:id="rId5"/>
    <p:sldLayoutId id="2147483655" r:id="rId6"/>
    <p:sldLayoutId id="2147483657" r:id="rId7"/>
  </p:sldLayoutIdLst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800">
          <a:solidFill>
            <a:schemeClr val="bg1"/>
          </a:solidFill>
          <a:latin typeface="+mj-lt"/>
          <a:ea typeface="微软雅黑" panose="020B0503020204020204" pitchFamily="34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800">
          <a:solidFill>
            <a:schemeClr val="bg1"/>
          </a:solidFill>
          <a:effectLst>
            <a:outerShdw blurRad="38100" dist="38100" dir="2700000" algn="tl">
              <a:srgbClr val="C0C0C0"/>
            </a:outerShdw>
          </a:effectLst>
          <a:latin typeface="Times New Roman" panose="02020603050405020304" pitchFamily="18" charset="0"/>
          <a:ea typeface="微软雅黑" panose="020B0503020204020204" pitchFamily="34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800">
          <a:solidFill>
            <a:schemeClr val="bg1"/>
          </a:solidFill>
          <a:effectLst>
            <a:outerShdw blurRad="38100" dist="38100" dir="2700000" algn="tl">
              <a:srgbClr val="C0C0C0"/>
            </a:outerShdw>
          </a:effectLst>
          <a:latin typeface="Times New Roman" panose="02020603050405020304" pitchFamily="18" charset="0"/>
          <a:ea typeface="微软雅黑" panose="020B0503020204020204" pitchFamily="34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800">
          <a:solidFill>
            <a:schemeClr val="bg1"/>
          </a:solidFill>
          <a:effectLst>
            <a:outerShdw blurRad="38100" dist="38100" dir="2700000" algn="tl">
              <a:srgbClr val="C0C0C0"/>
            </a:outerShdw>
          </a:effectLst>
          <a:latin typeface="Times New Roman" panose="02020603050405020304" pitchFamily="18" charset="0"/>
          <a:ea typeface="微软雅黑" panose="020B0503020204020204" pitchFamily="34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800">
          <a:solidFill>
            <a:schemeClr val="bg1"/>
          </a:solidFill>
          <a:effectLst>
            <a:outerShdw blurRad="38100" dist="38100" dir="2700000" algn="tl">
              <a:srgbClr val="C0C0C0"/>
            </a:outerShdw>
          </a:effectLst>
          <a:latin typeface="Times New Roman" panose="02020603050405020304" pitchFamily="18" charset="0"/>
          <a:ea typeface="微软雅黑" panose="020B0503020204020204" pitchFamily="34" charset="-122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accent1"/>
          </a:solidFill>
          <a:effectLst>
            <a:outerShdw blurRad="38100" dist="38100" dir="2700000" algn="tl">
              <a:srgbClr val="C0C0C0"/>
            </a:outerShdw>
          </a:effectLst>
          <a:latin typeface="Times New Roman" panose="02020603050405020304" pitchFamily="18" charset="0"/>
          <a:ea typeface="仿宋_GB2312" pitchFamily="49" charset="-122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accent1"/>
          </a:solidFill>
          <a:effectLst>
            <a:outerShdw blurRad="38100" dist="38100" dir="2700000" algn="tl">
              <a:srgbClr val="C0C0C0"/>
            </a:outerShdw>
          </a:effectLst>
          <a:latin typeface="Times New Roman" panose="02020603050405020304" pitchFamily="18" charset="0"/>
          <a:ea typeface="仿宋_GB2312" pitchFamily="49" charset="-122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accent1"/>
          </a:solidFill>
          <a:effectLst>
            <a:outerShdw blurRad="38100" dist="38100" dir="2700000" algn="tl">
              <a:srgbClr val="C0C0C0"/>
            </a:outerShdw>
          </a:effectLst>
          <a:latin typeface="Times New Roman" panose="02020603050405020304" pitchFamily="18" charset="0"/>
          <a:ea typeface="仿宋_GB2312" pitchFamily="49" charset="-122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accent1"/>
          </a:solidFill>
          <a:effectLst>
            <a:outerShdw blurRad="38100" dist="38100" dir="2700000" algn="tl">
              <a:srgbClr val="C0C0C0"/>
            </a:outerShdw>
          </a:effectLst>
          <a:latin typeface="Times New Roman" panose="02020603050405020304" pitchFamily="18" charset="0"/>
          <a:ea typeface="仿宋_GB2312" pitchFamily="49" charset="-122"/>
        </a:defRPr>
      </a:lvl9pPr>
    </p:titleStyle>
    <p:bodyStyle>
      <a:lvl1pPr marL="457200" indent="-457200" algn="l" rtl="0" eaLnBrk="0" fontAlgn="base" hangingPunct="0">
        <a:lnSpc>
          <a:spcPct val="150000"/>
        </a:lnSpc>
        <a:spcBef>
          <a:spcPct val="0"/>
        </a:spcBef>
        <a:spcAft>
          <a:spcPct val="0"/>
        </a:spcAft>
        <a:buFont typeface="Arial" panose="020B0604020202020204" pitchFamily="34" charset="0"/>
        <a:buChar char="•"/>
        <a:defRPr sz="2800">
          <a:solidFill>
            <a:schemeClr val="tx1"/>
          </a:solidFill>
          <a:latin typeface="+mn-lt"/>
          <a:ea typeface="微软雅黑" panose="020B0503020204020204" pitchFamily="34" charset="-122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微软雅黑" panose="020B0503020204020204" pitchFamily="34" charset="-122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微软雅黑" panose="020B0503020204020204" pitchFamily="34" charset="-122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微软雅黑" panose="020B0503020204020204" pitchFamily="34" charset="-122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微软雅黑" panose="020B0503020204020204" pitchFamily="34" charset="-122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>
            <a:extLst>
              <a:ext uri="{FF2B5EF4-FFF2-40B4-BE49-F238E27FC236}">
                <a16:creationId xmlns:a16="http://schemas.microsoft.com/office/drawing/2014/main" id="{AA46C38E-1E1E-4D64-934F-7CE1F6CA869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200"/>
            </a:lvl1pPr>
          </a:lstStyle>
          <a:p>
            <a:endParaRPr lang="en-US" altLang="zh-CN"/>
          </a:p>
        </p:txBody>
      </p:sp>
      <p:sp>
        <p:nvSpPr>
          <p:cNvPr id="28675" name="Rectangle 3">
            <a:extLst>
              <a:ext uri="{FF2B5EF4-FFF2-40B4-BE49-F238E27FC236}">
                <a16:creationId xmlns:a16="http://schemas.microsoft.com/office/drawing/2014/main" id="{95FE34E4-5EAA-43C2-A785-ACA20CF6D62B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00775"/>
            <a:ext cx="2133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b="1">
                <a:latin typeface="华文新魏" panose="02010800040101010101" pitchFamily="2" charset="-122"/>
                <a:ea typeface="华文新魏" panose="02010800040101010101" pitchFamily="2" charset="-122"/>
              </a:defRPr>
            </a:lvl1pPr>
          </a:lstStyle>
          <a:p>
            <a:fld id="{1F4AA395-A1D4-4B09-9C75-AA052D7FA1A0}" type="slidenum">
              <a:rPr lang="en-US" altLang="zh-CN"/>
              <a:pPr/>
              <a:t>‹#›</a:t>
            </a:fld>
            <a:endParaRPr lang="en-US" altLang="zh-CN"/>
          </a:p>
        </p:txBody>
      </p:sp>
      <p:grpSp>
        <p:nvGrpSpPr>
          <p:cNvPr id="28676" name="Group 4">
            <a:extLst>
              <a:ext uri="{FF2B5EF4-FFF2-40B4-BE49-F238E27FC236}">
                <a16:creationId xmlns:a16="http://schemas.microsoft.com/office/drawing/2014/main" id="{0C925DCF-12C5-4B95-9392-08B66831CCBF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9144000" cy="546100"/>
            <a:chOff x="0" y="0"/>
            <a:chExt cx="5760" cy="344"/>
          </a:xfrm>
        </p:grpSpPr>
        <p:sp>
          <p:nvSpPr>
            <p:cNvPr id="28677" name="Rectangle 5">
              <a:extLst>
                <a:ext uri="{FF2B5EF4-FFF2-40B4-BE49-F238E27FC236}">
                  <a16:creationId xmlns:a16="http://schemas.microsoft.com/office/drawing/2014/main" id="{7A338ACE-7AF2-4137-83FE-E24491DBD3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180" cy="336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zh-CN" altLang="zh-CN" sz="2400">
                <a:latin typeface="Times New Roman" panose="02020603050405020304" pitchFamily="18" charset="0"/>
              </a:endParaRPr>
            </a:p>
          </p:txBody>
        </p:sp>
        <p:sp>
          <p:nvSpPr>
            <p:cNvPr id="28678" name="Rectangle 6">
              <a:extLst>
                <a:ext uri="{FF2B5EF4-FFF2-40B4-BE49-F238E27FC236}">
                  <a16:creationId xmlns:a16="http://schemas.microsoft.com/office/drawing/2014/main" id="{93653F84-1782-4A00-B81C-167BEBA3C5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0" y="85"/>
              <a:ext cx="5500" cy="173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zh-CN" sz="2400">
                <a:latin typeface="Times New Roman" panose="02020603050405020304" pitchFamily="18" charset="0"/>
              </a:endParaRPr>
            </a:p>
          </p:txBody>
        </p:sp>
        <p:sp>
          <p:nvSpPr>
            <p:cNvPr id="28679" name="Rectangle 7">
              <a:extLst>
                <a:ext uri="{FF2B5EF4-FFF2-40B4-BE49-F238E27FC236}">
                  <a16:creationId xmlns:a16="http://schemas.microsoft.com/office/drawing/2014/main" id="{F1A954A5-F7A0-4640-BEF0-93F5458C01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8" y="85"/>
              <a:ext cx="87" cy="89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zh-CN">
                <a:solidFill>
                  <a:schemeClr val="hlink"/>
                </a:solidFill>
              </a:endParaRPr>
            </a:p>
          </p:txBody>
        </p:sp>
        <p:sp>
          <p:nvSpPr>
            <p:cNvPr id="28680" name="Rectangle 8">
              <a:extLst>
                <a:ext uri="{FF2B5EF4-FFF2-40B4-BE49-F238E27FC236}">
                  <a16:creationId xmlns:a16="http://schemas.microsoft.com/office/drawing/2014/main" id="{2D195F7B-269B-458F-A0EE-2C766E6C8E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5" y="0"/>
              <a:ext cx="88" cy="8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zh-CN">
                <a:solidFill>
                  <a:schemeClr val="hlink"/>
                </a:solidFill>
              </a:endParaRPr>
            </a:p>
          </p:txBody>
        </p:sp>
        <p:sp>
          <p:nvSpPr>
            <p:cNvPr id="28681" name="Rectangle 9">
              <a:extLst>
                <a:ext uri="{FF2B5EF4-FFF2-40B4-BE49-F238E27FC236}">
                  <a16:creationId xmlns:a16="http://schemas.microsoft.com/office/drawing/2014/main" id="{DFB9C109-16C6-4E42-816C-B69A23CCEE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5" y="85"/>
              <a:ext cx="88" cy="8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zh-CN">
                <a:solidFill>
                  <a:schemeClr val="accent2"/>
                </a:solidFill>
              </a:endParaRPr>
            </a:p>
          </p:txBody>
        </p:sp>
        <p:sp>
          <p:nvSpPr>
            <p:cNvPr id="28682" name="Rectangle 10">
              <a:extLst>
                <a:ext uri="{FF2B5EF4-FFF2-40B4-BE49-F238E27FC236}">
                  <a16:creationId xmlns:a16="http://schemas.microsoft.com/office/drawing/2014/main" id="{98CC751E-7F3A-4B73-8A1C-62AE9BAD47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3" y="173"/>
              <a:ext cx="86" cy="8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zh-CN">
                <a:solidFill>
                  <a:schemeClr val="hlink"/>
                </a:solidFill>
              </a:endParaRPr>
            </a:p>
          </p:txBody>
        </p:sp>
        <p:sp>
          <p:nvSpPr>
            <p:cNvPr id="28683" name="Rectangle 11">
              <a:extLst>
                <a:ext uri="{FF2B5EF4-FFF2-40B4-BE49-F238E27FC236}">
                  <a16:creationId xmlns:a16="http://schemas.microsoft.com/office/drawing/2014/main" id="{104DD1E0-86CE-44BA-A4C3-8DF5C9D3A6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" y="86"/>
              <a:ext cx="89" cy="87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zh-CN" sz="2400">
                <a:latin typeface="Times New Roman" panose="02020603050405020304" pitchFamily="18" charset="0"/>
              </a:endParaRPr>
            </a:p>
          </p:txBody>
        </p:sp>
        <p:sp>
          <p:nvSpPr>
            <p:cNvPr id="28684" name="Rectangle 12">
              <a:extLst>
                <a:ext uri="{FF2B5EF4-FFF2-40B4-BE49-F238E27FC236}">
                  <a16:creationId xmlns:a16="http://schemas.microsoft.com/office/drawing/2014/main" id="{0A789231-86A8-496A-A5CB-7895349BA3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8" y="171"/>
              <a:ext cx="87" cy="87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zh-CN">
                <a:solidFill>
                  <a:schemeClr val="accent2"/>
                </a:solidFill>
              </a:endParaRPr>
            </a:p>
          </p:txBody>
        </p:sp>
        <p:sp>
          <p:nvSpPr>
            <p:cNvPr id="28685" name="Rectangle 13">
              <a:extLst>
                <a:ext uri="{FF2B5EF4-FFF2-40B4-BE49-F238E27FC236}">
                  <a16:creationId xmlns:a16="http://schemas.microsoft.com/office/drawing/2014/main" id="{D24B3D9C-AB33-4D7F-82CC-7B005423D6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3" y="258"/>
              <a:ext cx="86" cy="8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zh-CN">
                <a:solidFill>
                  <a:schemeClr val="accent2"/>
                </a:solidFill>
              </a:endParaRPr>
            </a:p>
          </p:txBody>
        </p:sp>
      </p:grpSp>
      <p:sp>
        <p:nvSpPr>
          <p:cNvPr id="28686" name="Rectangle 14">
            <a:extLst>
              <a:ext uri="{FF2B5EF4-FFF2-40B4-BE49-F238E27FC236}">
                <a16:creationId xmlns:a16="http://schemas.microsoft.com/office/drawing/2014/main" id="{49D69E84-F191-4AF1-93FC-AF67C344A58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457200"/>
            <a:ext cx="8229600" cy="137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28687" name="Rectangle 15">
            <a:extLst>
              <a:ext uri="{FF2B5EF4-FFF2-40B4-BE49-F238E27FC236}">
                <a16:creationId xmlns:a16="http://schemas.microsoft.com/office/drawing/2014/main" id="{B118BF2E-8CDD-4976-A602-1FAE0C53A96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981200"/>
            <a:ext cx="8229600" cy="3886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28688" name="Rectangle 16">
            <a:extLst>
              <a:ext uri="{FF2B5EF4-FFF2-40B4-BE49-F238E27FC236}">
                <a16:creationId xmlns:a16="http://schemas.microsoft.com/office/drawing/2014/main" id="{1670E9EC-8BD9-4ED0-AB5C-50279F4B6909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54240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</p:sldLayoutIdLst>
  <p:transition>
    <p:wipe dir="r"/>
  </p:transition>
  <p:hf hdr="0" ftr="0" dt="0"/>
  <p:txStyles>
    <p:titleStyle>
      <a:lvl1pPr algn="l" rtl="0" fontAlgn="base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anose="05000000000000000000" pitchFamily="2" charset="2"/>
        <a:buChar char="n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anose="05000000000000000000" pitchFamily="2" charset="2"/>
        <a:buChar char="¨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anose="05000000000000000000" pitchFamily="2" charset="2"/>
        <a:buChar char="n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¨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2.e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1.emf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3.emf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4.emf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4" Type="http://schemas.openxmlformats.org/officeDocument/2006/relationships/image" Target="../media/image5.emf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5.vml"/><Relationship Id="rId4" Type="http://schemas.openxmlformats.org/officeDocument/2006/relationships/image" Target="../media/image10.emf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12" Type="http://schemas.openxmlformats.org/officeDocument/2006/relationships/image" Target="../media/image21.pn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5.png"/><Relationship Id="rId11" Type="http://schemas.openxmlformats.org/officeDocument/2006/relationships/image" Target="../media/image20.png"/><Relationship Id="rId5" Type="http://schemas.openxmlformats.org/officeDocument/2006/relationships/image" Target="../media/image14.png"/><Relationship Id="rId10" Type="http://schemas.openxmlformats.org/officeDocument/2006/relationships/image" Target="../media/image19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0AD70D86-A9E0-4A58-892E-B8E771EC9B50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2808288" y="1773238"/>
            <a:ext cx="6019800" cy="2209800"/>
          </a:xfrm>
        </p:spPr>
        <p:txBody>
          <a:bodyPr/>
          <a:lstStyle/>
          <a:p>
            <a:pPr algn="ctr"/>
            <a:r>
              <a:rPr lang="zh-CN" altLang="en-US" sz="4800" dirty="0">
                <a:latin typeface="楷体_GB2312" pitchFamily="49" charset="-122"/>
                <a:ea typeface="楷体_GB2312" pitchFamily="49" charset="-122"/>
              </a:rPr>
              <a:t>第三章 栈和队列 </a:t>
            </a:r>
          </a:p>
        </p:txBody>
      </p:sp>
      <p:sp>
        <p:nvSpPr>
          <p:cNvPr id="2" name="副标题 1">
            <a:extLst>
              <a:ext uri="{FF2B5EF4-FFF2-40B4-BE49-F238E27FC236}">
                <a16:creationId xmlns:a16="http://schemas.microsoft.com/office/drawing/2014/main" id="{03CFA724-2FB7-4C8F-815C-179C5D2A376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sz="3200" dirty="0"/>
              <a:t>栈和队列的逻辑结构、存储结构，以及应用</a:t>
            </a:r>
          </a:p>
        </p:txBody>
      </p:sp>
    </p:spTree>
  </p:cSld>
  <p:clrMapOvr>
    <a:masterClrMapping/>
  </p:clrMapOvr>
  <p:transition>
    <p:wipe dir="r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44FF6BC-CF7C-4F6B-9A78-5CF855D187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955576"/>
          </a:xfrm>
        </p:spPr>
        <p:txBody>
          <a:bodyPr/>
          <a:lstStyle/>
          <a:p>
            <a:pPr algn="ctr"/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目录（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Contents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F1C5CE0-1323-4255-9417-D46EBFCC9F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552" y="1700808"/>
            <a:ext cx="8064896" cy="4896544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栈</a:t>
            </a:r>
            <a:endParaRPr lang="en-US" altLang="zh-CN" sz="28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lvl="1">
              <a:lnSpc>
                <a:spcPct val="150000"/>
              </a:lnSpc>
            </a:pP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栈的抽象数据类型定义</a:t>
            </a:r>
            <a:endParaRPr lang="en-US" altLang="zh-CN" sz="24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lvl="1">
              <a:lnSpc>
                <a:spcPct val="150000"/>
              </a:lnSpc>
            </a:pPr>
            <a:r>
              <a:rPr lang="zh-CN" altLang="en-US" sz="2400" dirty="0">
                <a:solidFill>
                  <a:schemeClr val="tx1">
                    <a:lumMod val="20000"/>
                    <a:lumOff val="8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栈的顺序存储表示</a:t>
            </a:r>
            <a:endParaRPr lang="en-US" altLang="zh-CN" sz="2400" dirty="0">
              <a:solidFill>
                <a:schemeClr val="tx1">
                  <a:lumMod val="20000"/>
                  <a:lumOff val="80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lvl="1">
              <a:lnSpc>
                <a:spcPct val="150000"/>
              </a:lnSpc>
            </a:pPr>
            <a:r>
              <a:rPr lang="zh-CN" altLang="en-US" sz="2400" dirty="0">
                <a:solidFill>
                  <a:schemeClr val="tx1">
                    <a:lumMod val="20000"/>
                    <a:lumOff val="8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栈的链式存储表示</a:t>
            </a:r>
          </a:p>
          <a:p>
            <a:pPr>
              <a:lnSpc>
                <a:spcPct val="150000"/>
              </a:lnSpc>
            </a:pPr>
            <a:r>
              <a:rPr lang="zh-CN" altLang="en-US" sz="2800" dirty="0">
                <a:solidFill>
                  <a:schemeClr val="tx1">
                    <a:lumMod val="20000"/>
                    <a:lumOff val="8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栈的应用举例</a:t>
            </a:r>
            <a:endParaRPr lang="en-US" altLang="zh-CN" sz="2800" dirty="0">
              <a:solidFill>
                <a:schemeClr val="tx1">
                  <a:lumMod val="20000"/>
                  <a:lumOff val="80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800" dirty="0">
                <a:solidFill>
                  <a:schemeClr val="tx1">
                    <a:lumMod val="20000"/>
                    <a:lumOff val="8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队列</a:t>
            </a:r>
            <a:endParaRPr lang="zh-CN" altLang="en-US" sz="2400" dirty="0">
              <a:solidFill>
                <a:schemeClr val="tx1">
                  <a:lumMod val="20000"/>
                  <a:lumOff val="80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800" dirty="0">
                <a:solidFill>
                  <a:schemeClr val="tx1">
                    <a:lumMod val="20000"/>
                    <a:lumOff val="8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队列的应用举例</a:t>
            </a:r>
          </a:p>
        </p:txBody>
      </p:sp>
    </p:spTree>
    <p:extLst>
      <p:ext uri="{BB962C8B-B14F-4D97-AF65-F5344CB8AC3E}">
        <p14:creationId xmlns:p14="http://schemas.microsoft.com/office/powerpoint/2010/main" val="1525590459"/>
      </p:ext>
    </p:extLst>
  </p:cSld>
  <p:clrMapOvr>
    <a:masterClrMapping/>
  </p:clrMapOvr>
  <p:transition>
    <p:wipe dir="r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4550" y="236538"/>
            <a:ext cx="6400800" cy="455613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栈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9" name="Rectangle 2">
            <a:extLst>
              <a:ext uri="{FF2B5EF4-FFF2-40B4-BE49-F238E27FC236}">
                <a16:creationId xmlns:a16="http://schemas.microsoft.com/office/drawing/2014/main" id="{FD82A53B-8F8D-46D2-9DCC-171D832ED0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963590"/>
            <a:ext cx="6033247" cy="58944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ts val="0"/>
              </a:spcBef>
              <a:buClr>
                <a:srgbClr val="800080"/>
              </a:buClr>
              <a:buSzPct val="50000"/>
            </a:pPr>
            <a:r>
              <a:rPr lang="zh-CN" altLang="en-US" sz="2800" b="0" dirty="0">
                <a:solidFill>
                  <a:srgbClr val="0000FF"/>
                </a:solidFill>
                <a:latin typeface="+mn-ea"/>
              </a:rPr>
              <a:t>只允许在</a:t>
            </a:r>
            <a:r>
              <a:rPr lang="zh-CN" altLang="en-US" sz="2800" dirty="0">
                <a:solidFill>
                  <a:srgbClr val="0000FF"/>
                </a:solidFill>
                <a:latin typeface="+mn-ea"/>
              </a:rPr>
              <a:t>一端插入和删除</a:t>
            </a:r>
            <a:r>
              <a:rPr lang="zh-CN" altLang="en-US" sz="2800" b="0" dirty="0">
                <a:solidFill>
                  <a:srgbClr val="0000FF"/>
                </a:solidFill>
                <a:latin typeface="+mn-ea"/>
              </a:rPr>
              <a:t>的</a:t>
            </a:r>
            <a:r>
              <a:rPr lang="zh-CN" altLang="en-US" sz="2800" dirty="0">
                <a:solidFill>
                  <a:srgbClr val="0000FF"/>
                </a:solidFill>
                <a:latin typeface="+mn-ea"/>
              </a:rPr>
              <a:t>线性表</a:t>
            </a:r>
            <a:r>
              <a:rPr lang="zh-CN" altLang="en-US" sz="2800" b="0" dirty="0">
                <a:solidFill>
                  <a:srgbClr val="0000FF"/>
                </a:solidFill>
                <a:latin typeface="+mn-ea"/>
              </a:rPr>
              <a:t>。</a:t>
            </a:r>
          </a:p>
          <a:p>
            <a:pPr lvl="1" eaLnBrk="1" hangingPunct="1">
              <a:lnSpc>
                <a:spcPct val="150000"/>
              </a:lnSpc>
              <a:spcBef>
                <a:spcPts val="0"/>
              </a:spcBef>
              <a:buClr>
                <a:srgbClr val="800080"/>
              </a:buClr>
              <a:buSzPct val="50000"/>
            </a:pPr>
            <a:r>
              <a:rPr lang="zh-CN" altLang="en-US" sz="2400" b="0" dirty="0">
                <a:latin typeface="+mn-ea"/>
              </a:rPr>
              <a:t>允许插入和删除的一端称为</a:t>
            </a:r>
            <a:r>
              <a:rPr lang="zh-CN" altLang="en-US" sz="2400" b="0" dirty="0">
                <a:solidFill>
                  <a:srgbClr val="FF0000"/>
                </a:solidFill>
                <a:latin typeface="+mn-ea"/>
              </a:rPr>
              <a:t>栈顶</a:t>
            </a:r>
            <a:r>
              <a:rPr lang="zh-CN" altLang="en-US" sz="2400" b="0" dirty="0">
                <a:latin typeface="+mn-ea"/>
              </a:rPr>
              <a:t>（</a:t>
            </a:r>
            <a:r>
              <a:rPr lang="en-US" altLang="zh-CN" sz="2400" b="0" dirty="0">
                <a:latin typeface="+mn-ea"/>
              </a:rPr>
              <a:t>top</a:t>
            </a:r>
            <a:r>
              <a:rPr lang="zh-CN" altLang="en-US" sz="2400" b="0" dirty="0">
                <a:latin typeface="+mn-ea"/>
              </a:rPr>
              <a:t>），另一端称为</a:t>
            </a:r>
            <a:r>
              <a:rPr lang="zh-CN" altLang="en-US" sz="2400" b="0" dirty="0">
                <a:solidFill>
                  <a:srgbClr val="FF0000"/>
                </a:solidFill>
                <a:latin typeface="+mn-ea"/>
              </a:rPr>
              <a:t>栈底</a:t>
            </a:r>
            <a:r>
              <a:rPr lang="zh-CN" altLang="en-US" sz="2400" b="0" dirty="0">
                <a:latin typeface="+mn-ea"/>
              </a:rPr>
              <a:t>（</a:t>
            </a:r>
            <a:r>
              <a:rPr lang="en-US" altLang="zh-CN" sz="2400" b="0" dirty="0">
                <a:latin typeface="+mn-ea"/>
              </a:rPr>
              <a:t>bottom</a:t>
            </a:r>
            <a:r>
              <a:rPr lang="zh-CN" altLang="en-US" sz="2400" b="0" dirty="0">
                <a:latin typeface="+mn-ea"/>
              </a:rPr>
              <a:t>）。</a:t>
            </a:r>
          </a:p>
          <a:p>
            <a:pPr eaLnBrk="1" hangingPunct="1">
              <a:lnSpc>
                <a:spcPct val="150000"/>
              </a:lnSpc>
              <a:spcBef>
                <a:spcPts val="0"/>
              </a:spcBef>
              <a:buClr>
                <a:srgbClr val="800080"/>
              </a:buClr>
              <a:buSzPct val="50000"/>
            </a:pPr>
            <a:r>
              <a:rPr lang="zh-CN" altLang="en-US" sz="2800" b="0" dirty="0">
                <a:latin typeface="+mn-ea"/>
              </a:rPr>
              <a:t>特点：</a:t>
            </a:r>
            <a:r>
              <a:rPr lang="zh-CN" altLang="en-US" sz="2800" b="0" dirty="0">
                <a:solidFill>
                  <a:srgbClr val="FF0000"/>
                </a:solidFill>
                <a:latin typeface="+mn-ea"/>
              </a:rPr>
              <a:t>后进先出</a:t>
            </a:r>
            <a:r>
              <a:rPr lang="zh-CN" altLang="en-US" sz="2800" b="0" dirty="0">
                <a:latin typeface="+mn-ea"/>
              </a:rPr>
              <a:t> </a:t>
            </a:r>
            <a:r>
              <a:rPr lang="en-US" altLang="zh-CN" sz="2800" b="0" dirty="0">
                <a:latin typeface="+mn-ea"/>
              </a:rPr>
              <a:t>(LIFO) </a:t>
            </a:r>
            <a:r>
              <a:rPr lang="zh-CN" altLang="en-US" sz="2800" b="0" dirty="0">
                <a:latin typeface="+mn-ea"/>
              </a:rPr>
              <a:t>或</a:t>
            </a:r>
            <a:r>
              <a:rPr lang="zh-CN" altLang="en-US" sz="2800" b="0" dirty="0">
                <a:solidFill>
                  <a:srgbClr val="FF0000"/>
                </a:solidFill>
                <a:latin typeface="+mn-ea"/>
              </a:rPr>
              <a:t>先进后出</a:t>
            </a:r>
            <a:r>
              <a:rPr lang="zh-CN" altLang="en-US" sz="2800" b="0" dirty="0">
                <a:latin typeface="+mn-ea"/>
              </a:rPr>
              <a:t>（</a:t>
            </a:r>
            <a:r>
              <a:rPr lang="en-US" altLang="zh-CN" sz="2800" b="0" dirty="0">
                <a:latin typeface="+mn-ea"/>
              </a:rPr>
              <a:t>FILO</a:t>
            </a:r>
            <a:r>
              <a:rPr lang="zh-CN" altLang="en-US" sz="2800" b="0" dirty="0">
                <a:latin typeface="+mn-ea"/>
              </a:rPr>
              <a:t>）</a:t>
            </a:r>
            <a:endParaRPr lang="en-US" altLang="zh-CN" sz="2800" b="0" dirty="0">
              <a:latin typeface="+mn-ea"/>
            </a:endParaRPr>
          </a:p>
          <a:p>
            <a:pPr eaLnBrk="1" hangingPunct="1">
              <a:lnSpc>
                <a:spcPct val="150000"/>
              </a:lnSpc>
              <a:spcBef>
                <a:spcPts val="0"/>
              </a:spcBef>
              <a:buClr>
                <a:srgbClr val="800080"/>
              </a:buClr>
              <a:buSzPct val="50000"/>
            </a:pPr>
            <a:r>
              <a:rPr lang="zh-CN" altLang="en-US" sz="2800" b="0" dirty="0">
                <a:latin typeface="+mn-ea"/>
              </a:rPr>
              <a:t>栈是</a:t>
            </a:r>
            <a:r>
              <a:rPr lang="zh-CN" altLang="en-US" sz="2800" b="0" dirty="0">
                <a:solidFill>
                  <a:srgbClr val="FF0000"/>
                </a:solidFill>
                <a:latin typeface="+mn-ea"/>
              </a:rPr>
              <a:t>顺序存取</a:t>
            </a:r>
            <a:r>
              <a:rPr lang="zh-CN" altLang="en-US" sz="2800" b="0" dirty="0">
                <a:latin typeface="+mn-ea"/>
              </a:rPr>
              <a:t>的线性表，不允许随机或直接存取。注意，不一定是顺序存储结构。</a:t>
            </a:r>
          </a:p>
        </p:txBody>
      </p:sp>
      <p:grpSp>
        <p:nvGrpSpPr>
          <p:cNvPr id="30" name="Group 22">
            <a:extLst>
              <a:ext uri="{FF2B5EF4-FFF2-40B4-BE49-F238E27FC236}">
                <a16:creationId xmlns:a16="http://schemas.microsoft.com/office/drawing/2014/main" id="{644B9F7E-450B-4167-A6F2-380E70E221BA}"/>
              </a:ext>
            </a:extLst>
          </p:cNvPr>
          <p:cNvGrpSpPr>
            <a:grpSpLocks/>
          </p:cNvGrpSpPr>
          <p:nvPr/>
        </p:nvGrpSpPr>
        <p:grpSpPr bwMode="auto">
          <a:xfrm>
            <a:off x="5905268" y="2081777"/>
            <a:ext cx="3348488" cy="4126783"/>
            <a:chOff x="3178" y="1420"/>
            <a:chExt cx="1800" cy="2315"/>
          </a:xfrm>
        </p:grpSpPr>
        <p:sp>
          <p:nvSpPr>
            <p:cNvPr id="31" name="Text Box 4">
              <a:extLst>
                <a:ext uri="{FF2B5EF4-FFF2-40B4-BE49-F238E27FC236}">
                  <a16:creationId xmlns:a16="http://schemas.microsoft.com/office/drawing/2014/main" id="{DE077DF1-FF13-4CB0-A998-D90B7750CC4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56" y="1420"/>
              <a:ext cx="56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ea typeface="仿宋_GB2312" pitchFamily="49" charset="-122"/>
                </a:rPr>
                <a:t>退栈</a:t>
              </a:r>
              <a:endParaRPr kumimoji="1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ea typeface="仿宋_GB2312" pitchFamily="49" charset="-122"/>
              </a:endParaRPr>
            </a:p>
          </p:txBody>
        </p:sp>
        <p:sp>
          <p:nvSpPr>
            <p:cNvPr id="32" name="Text Box 5">
              <a:extLst>
                <a:ext uri="{FF2B5EF4-FFF2-40B4-BE49-F238E27FC236}">
                  <a16:creationId xmlns:a16="http://schemas.microsoft.com/office/drawing/2014/main" id="{0DF5F915-3EFB-439A-977F-4C378C6C306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12" y="1425"/>
              <a:ext cx="56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ea typeface="仿宋_GB2312" pitchFamily="49" charset="-122"/>
                </a:rPr>
                <a:t>进栈</a:t>
              </a:r>
            </a:p>
          </p:txBody>
        </p:sp>
        <p:sp>
          <p:nvSpPr>
            <p:cNvPr id="33" name="Rectangle 6">
              <a:extLst>
                <a:ext uri="{FF2B5EF4-FFF2-40B4-BE49-F238E27FC236}">
                  <a16:creationId xmlns:a16="http://schemas.microsoft.com/office/drawing/2014/main" id="{6EFBB5B1-1B34-40B9-98ED-CE90F203AF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44" y="2016"/>
              <a:ext cx="1104" cy="1392"/>
            </a:xfrm>
            <a:prstGeom prst="rect">
              <a:avLst/>
            </a:prstGeom>
            <a:pattFill prst="zigZag">
              <a:fgClr>
                <a:srgbClr val="CCFFCC"/>
              </a:fgClr>
              <a:bgClr>
                <a:srgbClr val="FFFFFF"/>
              </a:bgClr>
            </a:pattFill>
            <a:ln w="28575">
              <a:solidFill>
                <a:srgbClr val="CC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3000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4" name="Rectangle 7">
              <a:extLst>
                <a:ext uri="{FF2B5EF4-FFF2-40B4-BE49-F238E27FC236}">
                  <a16:creationId xmlns:a16="http://schemas.microsoft.com/office/drawing/2014/main" id="{BDA2FB2E-9AB0-4F7C-9BC3-F5CA5F337A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04" y="1920"/>
              <a:ext cx="1392" cy="14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3000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5" name="Text Box 8">
              <a:extLst>
                <a:ext uri="{FF2B5EF4-FFF2-40B4-BE49-F238E27FC236}">
                  <a16:creationId xmlns:a16="http://schemas.microsoft.com/office/drawing/2014/main" id="{02DE5B61-A1EC-40D4-AF50-BAC19206745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36" y="3024"/>
              <a:ext cx="328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3200" b="0" i="1" u="none" strike="noStrike" kern="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ea typeface="宋体" panose="02010600030101010101" pitchFamily="2" charset="-122"/>
                </a:rPr>
                <a:t>a</a:t>
              </a:r>
              <a:r>
                <a:rPr kumimoji="1" lang="en-US" altLang="zh-CN" sz="3200" b="0" i="0" u="none" strike="noStrike" kern="0" cap="none" spc="0" normalizeH="0" baseline="-2500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ea typeface="宋体" panose="02010600030101010101" pitchFamily="2" charset="-122"/>
                </a:rPr>
                <a:t>0</a:t>
              </a:r>
              <a:endParaRPr kumimoji="1" lang="en-US" altLang="zh-CN" sz="1800" b="0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ea typeface="宋体" panose="02010600030101010101" pitchFamily="2" charset="-122"/>
              </a:endParaRPr>
            </a:p>
          </p:txBody>
        </p:sp>
        <p:sp>
          <p:nvSpPr>
            <p:cNvPr id="36" name="Line 9">
              <a:extLst>
                <a:ext uri="{FF2B5EF4-FFF2-40B4-BE49-F238E27FC236}">
                  <a16:creationId xmlns:a16="http://schemas.microsoft.com/office/drawing/2014/main" id="{35F01B4B-6F23-4697-90C2-6205ABB9C01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44" y="3120"/>
              <a:ext cx="1104" cy="0"/>
            </a:xfrm>
            <a:prstGeom prst="line">
              <a:avLst/>
            </a:prstGeom>
            <a:noFill/>
            <a:ln w="28575">
              <a:solidFill>
                <a:srgbClr val="CC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3000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7" name="Text Box 10">
              <a:extLst>
                <a:ext uri="{FF2B5EF4-FFF2-40B4-BE49-F238E27FC236}">
                  <a16:creationId xmlns:a16="http://schemas.microsoft.com/office/drawing/2014/main" id="{64E560A6-0529-435C-8C5F-7D518E0AD37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32" y="2112"/>
              <a:ext cx="477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3200" b="0" i="1" u="none" strike="noStrike" kern="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ea typeface="宋体" panose="02010600030101010101" pitchFamily="2" charset="-122"/>
                </a:rPr>
                <a:t>a</a:t>
              </a:r>
              <a:r>
                <a:rPr kumimoji="1" lang="en-US" altLang="zh-CN" sz="3200" b="0" i="0" u="none" strike="noStrike" kern="0" cap="none" spc="0" normalizeH="0" baseline="-2500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ea typeface="宋体" panose="02010600030101010101" pitchFamily="2" charset="-122"/>
                </a:rPr>
                <a:t>n-1</a:t>
              </a:r>
              <a:endParaRPr kumimoji="1" lang="en-US" altLang="zh-CN" sz="1800" b="0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ea typeface="宋体" panose="02010600030101010101" pitchFamily="2" charset="-122"/>
              </a:endParaRPr>
            </a:p>
          </p:txBody>
        </p:sp>
        <p:sp>
          <p:nvSpPr>
            <p:cNvPr id="38" name="Line 11">
              <a:extLst>
                <a:ext uri="{FF2B5EF4-FFF2-40B4-BE49-F238E27FC236}">
                  <a16:creationId xmlns:a16="http://schemas.microsoft.com/office/drawing/2014/main" id="{C0478612-A7AF-438A-8575-FEA82B65BA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44" y="2208"/>
              <a:ext cx="1104" cy="0"/>
            </a:xfrm>
            <a:prstGeom prst="line">
              <a:avLst/>
            </a:prstGeom>
            <a:noFill/>
            <a:ln w="28575">
              <a:solidFill>
                <a:srgbClr val="CC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3000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9" name="Line 12">
              <a:extLst>
                <a:ext uri="{FF2B5EF4-FFF2-40B4-BE49-F238E27FC236}">
                  <a16:creationId xmlns:a16="http://schemas.microsoft.com/office/drawing/2014/main" id="{4FAACDE1-A813-4933-B028-AD3F1E98177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44" y="2496"/>
              <a:ext cx="1104" cy="0"/>
            </a:xfrm>
            <a:prstGeom prst="line">
              <a:avLst/>
            </a:prstGeom>
            <a:noFill/>
            <a:ln w="28575">
              <a:solidFill>
                <a:srgbClr val="CC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3000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0" name="Text Box 13">
              <a:extLst>
                <a:ext uri="{FF2B5EF4-FFF2-40B4-BE49-F238E27FC236}">
                  <a16:creationId xmlns:a16="http://schemas.microsoft.com/office/drawing/2014/main" id="{A7CE33B4-2516-406C-8152-0DE0715D096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32" y="2400"/>
              <a:ext cx="477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3200" b="0" i="1" u="none" strike="noStrike" kern="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ea typeface="宋体" panose="02010600030101010101" pitchFamily="2" charset="-122"/>
                </a:rPr>
                <a:t>a</a:t>
              </a:r>
              <a:r>
                <a:rPr kumimoji="1" lang="en-US" altLang="zh-CN" sz="3200" b="0" i="0" u="none" strike="noStrike" kern="0" cap="none" spc="0" normalizeH="0" baseline="-2500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ea typeface="宋体" panose="02010600030101010101" pitchFamily="2" charset="-122"/>
                </a:rPr>
                <a:t>n-2</a:t>
              </a:r>
              <a:endParaRPr kumimoji="1" lang="en-US" altLang="zh-CN" sz="1800" b="0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ea typeface="宋体" panose="02010600030101010101" pitchFamily="2" charset="-122"/>
              </a:endParaRPr>
            </a:p>
          </p:txBody>
        </p:sp>
        <p:sp>
          <p:nvSpPr>
            <p:cNvPr id="41" name="Line 14">
              <a:extLst>
                <a:ext uri="{FF2B5EF4-FFF2-40B4-BE49-F238E27FC236}">
                  <a16:creationId xmlns:a16="http://schemas.microsoft.com/office/drawing/2014/main" id="{65DDA450-867A-4593-A553-5BDB9BC2EE7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44" y="2784"/>
              <a:ext cx="1104" cy="0"/>
            </a:xfrm>
            <a:prstGeom prst="line">
              <a:avLst/>
            </a:prstGeom>
            <a:noFill/>
            <a:ln w="28575">
              <a:solidFill>
                <a:srgbClr val="CC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3000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2" name="Text Box 15">
              <a:extLst>
                <a:ext uri="{FF2B5EF4-FFF2-40B4-BE49-F238E27FC236}">
                  <a16:creationId xmlns:a16="http://schemas.microsoft.com/office/drawing/2014/main" id="{11826258-C3A8-4C98-8AD9-011E2E960DB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80" y="2659"/>
              <a:ext cx="372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en-US" sz="3200" b="0" i="1" u="none" strike="noStrike" kern="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ea typeface="宋体" panose="02010600030101010101" pitchFamily="2" charset="-122"/>
                  <a:sym typeface="Symbol" panose="05050102010706020507" pitchFamily="18" charset="2"/>
                </a:rPr>
                <a:t></a:t>
              </a:r>
              <a:endParaRPr kumimoji="1" lang="en-US" altLang="zh-CN" sz="1800" b="0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ea typeface="宋体" panose="02010600030101010101" pitchFamily="2" charset="-122"/>
              </a:endParaRPr>
            </a:p>
          </p:txBody>
        </p:sp>
        <p:sp>
          <p:nvSpPr>
            <p:cNvPr id="43" name="Text Box 16">
              <a:extLst>
                <a:ext uri="{FF2B5EF4-FFF2-40B4-BE49-F238E27FC236}">
                  <a16:creationId xmlns:a16="http://schemas.microsoft.com/office/drawing/2014/main" id="{9C7458F0-B903-4D34-9FD0-E39C27DCF76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78" y="2063"/>
              <a:ext cx="42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ea typeface="隶书" panose="02010509060101010101" pitchFamily="49" charset="-122"/>
                </a:rPr>
                <a:t>top</a:t>
              </a:r>
              <a:endPara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ea typeface="宋体" panose="02010600030101010101" pitchFamily="2" charset="-122"/>
              </a:endParaRPr>
            </a:p>
          </p:txBody>
        </p:sp>
        <p:sp>
          <p:nvSpPr>
            <p:cNvPr id="44" name="Text Box 17">
              <a:extLst>
                <a:ext uri="{FF2B5EF4-FFF2-40B4-BE49-F238E27FC236}">
                  <a16:creationId xmlns:a16="http://schemas.microsoft.com/office/drawing/2014/main" id="{EA18DA05-A963-4F27-88B1-845723B57E5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78" y="3408"/>
              <a:ext cx="802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ea typeface="隶书" panose="02010509060101010101" pitchFamily="49" charset="-122"/>
                </a:rPr>
                <a:t>bottom</a:t>
              </a:r>
              <a:endPara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ea typeface="宋体" panose="02010600030101010101" pitchFamily="2" charset="-122"/>
              </a:endParaRPr>
            </a:p>
          </p:txBody>
        </p:sp>
        <p:sp>
          <p:nvSpPr>
            <p:cNvPr id="45" name="Line 18">
              <a:extLst>
                <a:ext uri="{FF2B5EF4-FFF2-40B4-BE49-F238E27FC236}">
                  <a16:creationId xmlns:a16="http://schemas.microsoft.com/office/drawing/2014/main" id="{998D12DA-FEEB-4A26-AC5F-ACA4923DF85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08" y="2352"/>
              <a:ext cx="336" cy="0"/>
            </a:xfrm>
            <a:prstGeom prst="line">
              <a:avLst/>
            </a:prstGeom>
            <a:noFill/>
            <a:ln w="28575">
              <a:solidFill>
                <a:srgbClr val="000099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3000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6" name="Line 19">
              <a:extLst>
                <a:ext uri="{FF2B5EF4-FFF2-40B4-BE49-F238E27FC236}">
                  <a16:creationId xmlns:a16="http://schemas.microsoft.com/office/drawing/2014/main" id="{243FCA0D-E872-4AE1-AFB3-F5445E2C81C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75" y="3600"/>
              <a:ext cx="336" cy="0"/>
            </a:xfrm>
            <a:prstGeom prst="line">
              <a:avLst/>
            </a:prstGeom>
            <a:noFill/>
            <a:ln w="28575">
              <a:solidFill>
                <a:srgbClr val="000099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3000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7" name="Line 20">
              <a:extLst>
                <a:ext uri="{FF2B5EF4-FFF2-40B4-BE49-F238E27FC236}">
                  <a16:creationId xmlns:a16="http://schemas.microsoft.com/office/drawing/2014/main" id="{D100BFF5-C022-48FE-8CE8-4B54E3F9B91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464" y="1728"/>
              <a:ext cx="240" cy="384"/>
            </a:xfrm>
            <a:prstGeom prst="line">
              <a:avLst/>
            </a:prstGeom>
            <a:noFill/>
            <a:ln w="38100">
              <a:solidFill>
                <a:srgbClr val="009900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3000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8" name="Line 21">
              <a:extLst>
                <a:ext uri="{FF2B5EF4-FFF2-40B4-BE49-F238E27FC236}">
                  <a16:creationId xmlns:a16="http://schemas.microsoft.com/office/drawing/2014/main" id="{2AFD9739-F442-4C59-A4AB-BA3D2769EF6F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7440103" flipV="1">
              <a:off x="3816" y="1728"/>
              <a:ext cx="240" cy="384"/>
            </a:xfrm>
            <a:prstGeom prst="line">
              <a:avLst/>
            </a:prstGeom>
            <a:noFill/>
            <a:ln w="38100">
              <a:solidFill>
                <a:srgbClr val="009900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3000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73F4CEF-D6BD-4D25-81E3-BE900C66C0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课堂讨论 </a:t>
            </a:r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DDEA4CF-B09A-4B13-B3CA-CCF015DD73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6087" y="906860"/>
            <a:ext cx="8251825" cy="3386236"/>
          </a:xfrm>
        </p:spPr>
        <p:txBody>
          <a:bodyPr/>
          <a:lstStyle/>
          <a:p>
            <a:pPr marL="0" marR="0" lvl="0" indent="0" algn="just" defTabSz="914400" rtl="0" eaLnBrk="1" fontAlgn="base" latinLnBrk="0" hangingPunct="1">
              <a:lnSpc>
                <a:spcPct val="15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ea typeface="+mn-ea"/>
                <a:cs typeface="Consolas" pitchFamily="49" charset="0"/>
              </a:rPr>
              <a:t>设一个栈的输入序列为 </a:t>
            </a:r>
            <a:r>
              <a:rPr kumimoji="1" lang="en-US" altLang="zh-CN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ea typeface="+mn-ea"/>
                <a:cs typeface="Consolas" pitchFamily="49" charset="0"/>
              </a:rPr>
              <a:t>a</a:t>
            </a:r>
            <a:r>
              <a:rPr kumimoji="1" lang="zh-CN" altLang="en-US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ea typeface="+mn-ea"/>
                <a:cs typeface="Consolas" pitchFamily="49" charset="0"/>
              </a:rPr>
              <a:t>，</a:t>
            </a:r>
            <a:r>
              <a:rPr kumimoji="1" lang="en-US" altLang="zh-CN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ea typeface="+mn-ea"/>
                <a:cs typeface="Consolas" pitchFamily="49" charset="0"/>
              </a:rPr>
              <a:t>b</a:t>
            </a:r>
            <a:r>
              <a:rPr kumimoji="1" lang="zh-CN" altLang="en-US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ea typeface="+mn-ea"/>
                <a:cs typeface="Consolas" pitchFamily="49" charset="0"/>
              </a:rPr>
              <a:t>，</a:t>
            </a:r>
            <a:r>
              <a:rPr kumimoji="1" lang="en-US" altLang="zh-CN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ea typeface="+mn-ea"/>
                <a:cs typeface="Consolas" pitchFamily="49" charset="0"/>
              </a:rPr>
              <a:t>c</a:t>
            </a:r>
            <a:r>
              <a:rPr kumimoji="1" lang="zh-CN" altLang="en-US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ea typeface="+mn-ea"/>
                <a:cs typeface="Consolas" pitchFamily="49" charset="0"/>
              </a:rPr>
              <a:t>，</a:t>
            </a:r>
            <a:r>
              <a:rPr kumimoji="1" lang="en-US" altLang="zh-CN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ea typeface="+mn-ea"/>
                <a:cs typeface="Consolas" pitchFamily="49" charset="0"/>
              </a:rPr>
              <a:t>d</a:t>
            </a:r>
            <a:r>
              <a:rPr kumimoji="1" lang="zh-CN" altLang="en-US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ea typeface="+mn-ea"/>
                <a:cs typeface="Consolas" pitchFamily="49" charset="0"/>
              </a:rPr>
              <a:t>，则借助一个栈所得到的输出序列不可能是（  ）。</a:t>
            </a:r>
          </a:p>
          <a:p>
            <a:pPr marL="0" marR="0" lvl="0" indent="0" algn="just" defTabSz="914400" rtl="0" eaLnBrk="1" fontAlgn="base" latinLnBrk="0" hangingPunct="1">
              <a:lnSpc>
                <a:spcPct val="15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ea typeface="+mn-ea"/>
                <a:cs typeface="Consolas" pitchFamily="49" charset="0"/>
              </a:rPr>
              <a:t>A. </a:t>
            </a:r>
            <a:r>
              <a:rPr kumimoji="1" lang="en-US" altLang="zh-CN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ea typeface="+mn-ea"/>
                <a:cs typeface="Consolas" pitchFamily="49" charset="0"/>
              </a:rPr>
              <a:t>c</a:t>
            </a:r>
            <a:r>
              <a:rPr kumimoji="1" lang="zh-CN" altLang="en-US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ea typeface="+mn-ea"/>
                <a:cs typeface="Consolas" pitchFamily="49" charset="0"/>
              </a:rPr>
              <a:t>，</a:t>
            </a:r>
            <a:r>
              <a:rPr kumimoji="1" lang="en-US" altLang="zh-CN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ea typeface="+mn-ea"/>
                <a:cs typeface="Consolas" pitchFamily="49" charset="0"/>
              </a:rPr>
              <a:t>d</a:t>
            </a:r>
            <a:r>
              <a:rPr kumimoji="1" lang="zh-CN" altLang="en-US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ea typeface="+mn-ea"/>
                <a:cs typeface="Consolas" pitchFamily="49" charset="0"/>
              </a:rPr>
              <a:t>，</a:t>
            </a:r>
            <a:r>
              <a:rPr kumimoji="1" lang="en-US" altLang="zh-CN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ea typeface="+mn-ea"/>
                <a:cs typeface="Consolas" pitchFamily="49" charset="0"/>
              </a:rPr>
              <a:t>b</a:t>
            </a:r>
            <a:r>
              <a:rPr kumimoji="1" lang="zh-CN" altLang="en-US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ea typeface="+mn-ea"/>
                <a:cs typeface="Consolas" pitchFamily="49" charset="0"/>
              </a:rPr>
              <a:t>，</a:t>
            </a:r>
            <a:r>
              <a:rPr kumimoji="1" lang="en-US" altLang="zh-CN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ea typeface="+mn-ea"/>
                <a:cs typeface="Consolas" pitchFamily="49" charset="0"/>
              </a:rPr>
              <a:t>a</a:t>
            </a:r>
            <a:r>
              <a:rPr kumimoji="1" lang="en-US" altLang="zh-CN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ea typeface="+mn-ea"/>
                <a:cs typeface="Consolas" pitchFamily="49" charset="0"/>
              </a:rPr>
              <a:t>			B.</a:t>
            </a:r>
            <a:r>
              <a:rPr kumimoji="1" lang="en-US" altLang="zh-CN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ea typeface="+mn-ea"/>
                <a:cs typeface="Consolas" pitchFamily="49" charset="0"/>
              </a:rPr>
              <a:t> d</a:t>
            </a:r>
            <a:r>
              <a:rPr kumimoji="1" lang="zh-CN" altLang="en-US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ea typeface="+mn-ea"/>
                <a:cs typeface="Consolas" pitchFamily="49" charset="0"/>
              </a:rPr>
              <a:t>，</a:t>
            </a:r>
            <a:r>
              <a:rPr kumimoji="1" lang="en-US" altLang="zh-CN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ea typeface="+mn-ea"/>
                <a:cs typeface="Consolas" pitchFamily="49" charset="0"/>
              </a:rPr>
              <a:t>c</a:t>
            </a:r>
            <a:r>
              <a:rPr kumimoji="1" lang="zh-CN" altLang="en-US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ea typeface="+mn-ea"/>
                <a:cs typeface="Consolas" pitchFamily="49" charset="0"/>
              </a:rPr>
              <a:t>，</a:t>
            </a:r>
            <a:r>
              <a:rPr kumimoji="1" lang="en-US" altLang="zh-CN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ea typeface="+mn-ea"/>
                <a:cs typeface="Consolas" pitchFamily="49" charset="0"/>
              </a:rPr>
              <a:t>b</a:t>
            </a:r>
            <a:r>
              <a:rPr kumimoji="1" lang="zh-CN" altLang="en-US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ea typeface="+mn-ea"/>
                <a:cs typeface="Consolas" pitchFamily="49" charset="0"/>
              </a:rPr>
              <a:t>，</a:t>
            </a:r>
            <a:r>
              <a:rPr kumimoji="1" lang="en-US" altLang="zh-CN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ea typeface="+mn-ea"/>
                <a:cs typeface="Consolas" pitchFamily="49" charset="0"/>
              </a:rPr>
              <a:t>a</a:t>
            </a:r>
            <a:r>
              <a:rPr kumimoji="1" lang="en-US" altLang="zh-CN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ea typeface="+mn-ea"/>
                <a:cs typeface="Consolas" pitchFamily="49" charset="0"/>
              </a:rPr>
              <a:t>  </a:t>
            </a:r>
          </a:p>
          <a:p>
            <a:pPr marL="0" marR="0" lvl="0" indent="0" algn="just" defTabSz="914400" rtl="0" eaLnBrk="1" fontAlgn="base" latinLnBrk="0" hangingPunct="1">
              <a:lnSpc>
                <a:spcPct val="15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ea typeface="+mn-ea"/>
                <a:cs typeface="Consolas" pitchFamily="49" charset="0"/>
              </a:rPr>
              <a:t>C. </a:t>
            </a:r>
            <a:r>
              <a:rPr kumimoji="1" lang="en-US" altLang="zh-CN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ea typeface="+mn-ea"/>
                <a:cs typeface="Consolas" pitchFamily="49" charset="0"/>
              </a:rPr>
              <a:t>a</a:t>
            </a:r>
            <a:r>
              <a:rPr kumimoji="1" lang="zh-CN" altLang="en-US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ea typeface="+mn-ea"/>
                <a:cs typeface="Consolas" pitchFamily="49" charset="0"/>
              </a:rPr>
              <a:t>，</a:t>
            </a:r>
            <a:r>
              <a:rPr kumimoji="1" lang="en-US" altLang="zh-CN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ea typeface="+mn-ea"/>
                <a:cs typeface="Consolas" pitchFamily="49" charset="0"/>
              </a:rPr>
              <a:t>c</a:t>
            </a:r>
            <a:r>
              <a:rPr kumimoji="1" lang="zh-CN" altLang="en-US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ea typeface="+mn-ea"/>
                <a:cs typeface="Consolas" pitchFamily="49" charset="0"/>
              </a:rPr>
              <a:t>，</a:t>
            </a:r>
            <a:r>
              <a:rPr kumimoji="1" lang="en-US" altLang="zh-CN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ea typeface="+mn-ea"/>
                <a:cs typeface="Consolas" pitchFamily="49" charset="0"/>
              </a:rPr>
              <a:t>d</a:t>
            </a:r>
            <a:r>
              <a:rPr kumimoji="1" lang="zh-CN" altLang="en-US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ea typeface="+mn-ea"/>
                <a:cs typeface="Consolas" pitchFamily="49" charset="0"/>
              </a:rPr>
              <a:t>，</a:t>
            </a:r>
            <a:r>
              <a:rPr kumimoji="1" lang="en-US" altLang="zh-CN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ea typeface="+mn-ea"/>
                <a:cs typeface="Consolas" pitchFamily="49" charset="0"/>
              </a:rPr>
              <a:t>b</a:t>
            </a:r>
            <a:r>
              <a:rPr kumimoji="1" lang="en-US" altLang="zh-CN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ea typeface="+mn-ea"/>
                <a:cs typeface="Consolas" pitchFamily="49" charset="0"/>
              </a:rPr>
              <a:t>	</a:t>
            </a:r>
            <a:r>
              <a:rPr kumimoji="1" lang="en-US" altLang="zh-CN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ea typeface="+mn-ea"/>
                <a:cs typeface="Consolas" pitchFamily="49" charset="0"/>
              </a:rPr>
              <a:t>		D</a:t>
            </a:r>
            <a:r>
              <a:rPr kumimoji="1" lang="en-US" altLang="zh-CN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ea typeface="+mn-ea"/>
                <a:cs typeface="Consolas" pitchFamily="49" charset="0"/>
              </a:rPr>
              <a:t>. </a:t>
            </a:r>
            <a:r>
              <a:rPr kumimoji="1" lang="en-US" altLang="zh-CN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ea typeface="+mn-ea"/>
                <a:cs typeface="Consolas" pitchFamily="49" charset="0"/>
              </a:rPr>
              <a:t>d</a:t>
            </a:r>
            <a:r>
              <a:rPr kumimoji="1" lang="zh-CN" altLang="en-US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ea typeface="+mn-ea"/>
                <a:cs typeface="Consolas" pitchFamily="49" charset="0"/>
              </a:rPr>
              <a:t>，</a:t>
            </a:r>
            <a:r>
              <a:rPr kumimoji="1" lang="en-US" altLang="zh-CN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ea typeface="+mn-ea"/>
                <a:cs typeface="Consolas" pitchFamily="49" charset="0"/>
              </a:rPr>
              <a:t>a</a:t>
            </a:r>
            <a:r>
              <a:rPr kumimoji="1" lang="zh-CN" altLang="en-US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ea typeface="+mn-ea"/>
                <a:cs typeface="Consolas" pitchFamily="49" charset="0"/>
              </a:rPr>
              <a:t>，</a:t>
            </a:r>
            <a:r>
              <a:rPr kumimoji="1" lang="en-US" altLang="zh-CN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ea typeface="+mn-ea"/>
                <a:cs typeface="Consolas" pitchFamily="49" charset="0"/>
              </a:rPr>
              <a:t>b</a:t>
            </a:r>
            <a:r>
              <a:rPr kumimoji="1" lang="zh-CN" altLang="en-US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ea typeface="+mn-ea"/>
                <a:cs typeface="Consolas" pitchFamily="49" charset="0"/>
              </a:rPr>
              <a:t>，</a:t>
            </a:r>
            <a:r>
              <a:rPr kumimoji="1" lang="en-US" altLang="zh-CN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ea typeface="+mn-ea"/>
                <a:cs typeface="Consolas" pitchFamily="49" charset="0"/>
              </a:rPr>
              <a:t>c</a:t>
            </a:r>
            <a:r>
              <a:rPr kumimoji="1" lang="en-US" altLang="zh-CN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ea typeface="+mn-ea"/>
                <a:cs typeface="Consolas" pitchFamily="49" charset="0"/>
              </a:rPr>
              <a:t>       </a:t>
            </a:r>
          </a:p>
        </p:txBody>
      </p:sp>
    </p:spTree>
    <p:extLst>
      <p:ext uri="{BB962C8B-B14F-4D97-AF65-F5344CB8AC3E}">
        <p14:creationId xmlns:p14="http://schemas.microsoft.com/office/powerpoint/2010/main" val="36129961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7762DAC-DA30-47D7-97CE-D0B7B77B98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课堂讨论</a:t>
            </a:r>
            <a:r>
              <a:rPr lang="en-US" altLang="zh-CN" dirty="0"/>
              <a:t> 2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641A515-E79D-48F3-8FCE-152C8005BB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6087" y="764704"/>
            <a:ext cx="8251825" cy="5472112"/>
          </a:xfrm>
        </p:spPr>
        <p:txBody>
          <a:bodyPr/>
          <a:lstStyle/>
          <a:p>
            <a:pPr marL="0" indent="0">
              <a:buNone/>
            </a:pPr>
            <a:r>
              <a:rPr lang="zh-CN" altLang="en-US" dirty="0"/>
              <a:t>一个栈的入栈序列为 </a:t>
            </a:r>
            <a:r>
              <a:rPr lang="en-US" altLang="zh-CN" dirty="0"/>
              <a:t>1,</a:t>
            </a:r>
            <a:r>
              <a:rPr lang="zh-CN" altLang="en-US" dirty="0"/>
              <a:t> </a:t>
            </a:r>
            <a:r>
              <a:rPr lang="en-US" altLang="zh-CN" dirty="0"/>
              <a:t>2,</a:t>
            </a:r>
            <a:r>
              <a:rPr lang="zh-CN" altLang="en-US" dirty="0"/>
              <a:t> </a:t>
            </a:r>
            <a:r>
              <a:rPr lang="en-US" altLang="zh-CN" dirty="0"/>
              <a:t>3,</a:t>
            </a:r>
            <a:r>
              <a:rPr lang="zh-CN" altLang="en-US" dirty="0"/>
              <a:t> </a:t>
            </a:r>
            <a:r>
              <a:rPr lang="en-US" altLang="zh-CN" dirty="0"/>
              <a:t>…,</a:t>
            </a:r>
            <a:r>
              <a:rPr lang="zh-CN" altLang="en-US" dirty="0"/>
              <a:t> </a:t>
            </a:r>
            <a:r>
              <a:rPr lang="en-US" altLang="zh-CN" dirty="0"/>
              <a:t>n</a:t>
            </a:r>
            <a:r>
              <a:rPr lang="zh-CN" altLang="en-US" dirty="0"/>
              <a:t>，其出栈序列是 </a:t>
            </a:r>
            <a:r>
              <a:rPr lang="en-US" altLang="zh-CN" dirty="0"/>
              <a:t>p</a:t>
            </a:r>
            <a:r>
              <a:rPr lang="en-US" altLang="zh-CN" baseline="-25000" dirty="0"/>
              <a:t>1</a:t>
            </a:r>
            <a:r>
              <a:rPr lang="en-US" altLang="zh-CN" dirty="0"/>
              <a:t>,</a:t>
            </a:r>
            <a:r>
              <a:rPr lang="zh-CN" altLang="en-US" dirty="0"/>
              <a:t> </a:t>
            </a:r>
            <a:r>
              <a:rPr lang="en-US" altLang="zh-CN" dirty="0"/>
              <a:t>p</a:t>
            </a:r>
            <a:r>
              <a:rPr lang="en-US" altLang="zh-CN" baseline="-25000" dirty="0"/>
              <a:t>2</a:t>
            </a:r>
            <a:r>
              <a:rPr lang="en-US" altLang="zh-CN" dirty="0"/>
              <a:t>,</a:t>
            </a:r>
            <a:r>
              <a:rPr lang="zh-CN" altLang="en-US" dirty="0"/>
              <a:t> </a:t>
            </a:r>
            <a:r>
              <a:rPr lang="en-US" altLang="zh-CN" dirty="0"/>
              <a:t>p</a:t>
            </a:r>
            <a:r>
              <a:rPr lang="en-US" altLang="zh-CN" baseline="-25000" dirty="0"/>
              <a:t>3</a:t>
            </a:r>
            <a:r>
              <a:rPr lang="en-US" altLang="zh-CN" dirty="0"/>
              <a:t>,</a:t>
            </a:r>
            <a:r>
              <a:rPr lang="zh-CN" altLang="en-US" dirty="0"/>
              <a:t> </a:t>
            </a:r>
            <a:r>
              <a:rPr lang="en-US" altLang="zh-CN" dirty="0"/>
              <a:t>…,</a:t>
            </a:r>
            <a:r>
              <a:rPr lang="zh-CN" altLang="en-US" dirty="0"/>
              <a:t> </a:t>
            </a:r>
            <a:r>
              <a:rPr lang="en-US" altLang="zh-CN" dirty="0" err="1"/>
              <a:t>p</a:t>
            </a:r>
            <a:r>
              <a:rPr lang="en-US" altLang="zh-CN" baseline="-25000" dirty="0" err="1"/>
              <a:t>n</a:t>
            </a:r>
            <a:r>
              <a:rPr lang="zh-CN" altLang="en-US" dirty="0"/>
              <a:t>。若 </a:t>
            </a:r>
            <a:r>
              <a:rPr lang="en-US" altLang="zh-CN" dirty="0"/>
              <a:t>p</a:t>
            </a:r>
            <a:r>
              <a:rPr lang="en-US" altLang="zh-CN" baseline="-25000" dirty="0"/>
              <a:t>1</a:t>
            </a:r>
            <a:r>
              <a:rPr lang="en-US" altLang="zh-CN" dirty="0"/>
              <a:t>=3</a:t>
            </a:r>
            <a:r>
              <a:rPr lang="zh-CN" altLang="en-US" dirty="0"/>
              <a:t>，则 </a:t>
            </a:r>
            <a:r>
              <a:rPr lang="en-US" altLang="zh-CN" dirty="0"/>
              <a:t>p</a:t>
            </a:r>
            <a:r>
              <a:rPr lang="en-US" altLang="zh-CN" baseline="-25000" dirty="0"/>
              <a:t>2 </a:t>
            </a:r>
            <a:r>
              <a:rPr lang="zh-CN" altLang="en-US" dirty="0"/>
              <a:t>可能取值的个数是多少？</a:t>
            </a:r>
          </a:p>
          <a:p>
            <a:pPr marL="0" indent="0">
              <a:buNone/>
            </a:pPr>
            <a:r>
              <a:rPr lang="zh-CN" altLang="en-US" dirty="0"/>
              <a:t>    </a:t>
            </a:r>
            <a:r>
              <a:rPr lang="en-US" altLang="zh-CN" dirty="0"/>
              <a:t>A. n-3        B. n-2      C. n-1       D. </a:t>
            </a:r>
            <a:r>
              <a:rPr lang="zh-CN" altLang="en-US" dirty="0"/>
              <a:t>无法确定</a:t>
            </a:r>
          </a:p>
          <a:p>
            <a:pPr marL="0" indent="0">
              <a:buNone/>
            </a:pPr>
            <a:endParaRPr lang="zh-CN" altLang="en-US" dirty="0"/>
          </a:p>
        </p:txBody>
      </p: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16FFF108-C214-4A34-BA85-C4AAB821664C}"/>
              </a:ext>
            </a:extLst>
          </p:cNvPr>
          <p:cNvGrpSpPr/>
          <p:nvPr/>
        </p:nvGrpSpPr>
        <p:grpSpPr>
          <a:xfrm>
            <a:off x="3548940" y="3645024"/>
            <a:ext cx="5218932" cy="2980736"/>
            <a:chOff x="1756560" y="2643182"/>
            <a:chExt cx="5218932" cy="2980736"/>
          </a:xfrm>
        </p:grpSpPr>
        <p:sp>
          <p:nvSpPr>
            <p:cNvPr id="18" name="Line 4">
              <a:extLst>
                <a:ext uri="{FF2B5EF4-FFF2-40B4-BE49-F238E27FC236}">
                  <a16:creationId xmlns:a16="http://schemas.microsoft.com/office/drawing/2014/main" id="{628DD132-CB94-4EC5-BF81-D66AB0520E4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71117" y="3651294"/>
              <a:ext cx="7930" cy="1450420"/>
            </a:xfrm>
            <a:prstGeom prst="line">
              <a:avLst/>
            </a:prstGeom>
            <a:noFill/>
            <a:ln w="25400" cap="flat" cmpd="sng" algn="ctr">
              <a:solidFill>
                <a:srgbClr val="F39801"/>
              </a:solidFill>
              <a:prstDash val="solid"/>
              <a:headEnd/>
              <a:tailEnd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/>
            <a:lstStyle/>
            <a:p>
              <a:pPr marL="0" marR="0" lvl="0" indent="0" algn="ctr" defTabSz="914400" eaLnBrk="1" fontAlgn="auto" latinLnBrk="0" hangingPunct="1">
                <a:lnSpc>
                  <a:spcPct val="8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Consolas" pitchFamily="49" charset="0"/>
              </a:endParaRPr>
            </a:p>
          </p:txBody>
        </p:sp>
        <p:sp>
          <p:nvSpPr>
            <p:cNvPr id="19" name="Line 5">
              <a:extLst>
                <a:ext uri="{FF2B5EF4-FFF2-40B4-BE49-F238E27FC236}">
                  <a16:creationId xmlns:a16="http://schemas.microsoft.com/office/drawing/2014/main" id="{12414B8E-DEF2-43CD-B613-731951D4EF4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607054" y="3651294"/>
              <a:ext cx="688" cy="1450420"/>
            </a:xfrm>
            <a:prstGeom prst="line">
              <a:avLst/>
            </a:prstGeom>
            <a:noFill/>
            <a:ln w="25400" cap="flat" cmpd="sng" algn="ctr">
              <a:solidFill>
                <a:srgbClr val="F39801"/>
              </a:solidFill>
              <a:prstDash val="solid"/>
              <a:headEnd/>
              <a:tailEnd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/>
            <a:lstStyle/>
            <a:p>
              <a:pPr marL="0" marR="0" lvl="0" indent="0" algn="ctr" defTabSz="914400" eaLnBrk="1" fontAlgn="auto" latinLnBrk="0" hangingPunct="1">
                <a:lnSpc>
                  <a:spcPct val="8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Consolas" pitchFamily="49" charset="0"/>
              </a:endParaRPr>
            </a:p>
          </p:txBody>
        </p:sp>
        <p:sp>
          <p:nvSpPr>
            <p:cNvPr id="20" name="Line 6">
              <a:extLst>
                <a:ext uri="{FF2B5EF4-FFF2-40B4-BE49-F238E27FC236}">
                  <a16:creationId xmlns:a16="http://schemas.microsoft.com/office/drawing/2014/main" id="{62633E59-E70B-41B6-B376-EAFD8801611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79047" y="5095462"/>
              <a:ext cx="936625" cy="0"/>
            </a:xfrm>
            <a:prstGeom prst="line">
              <a:avLst/>
            </a:prstGeom>
            <a:noFill/>
            <a:ln w="25400" cap="flat" cmpd="sng" algn="ctr">
              <a:solidFill>
                <a:srgbClr val="F39801"/>
              </a:solidFill>
              <a:prstDash val="solid"/>
              <a:headEnd/>
              <a:tailEnd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/>
            <a:lstStyle/>
            <a:p>
              <a:pPr marL="0" marR="0" lvl="0" indent="0" algn="ctr" defTabSz="914400" eaLnBrk="1" fontAlgn="auto" latinLnBrk="0" hangingPunct="1">
                <a:lnSpc>
                  <a:spcPct val="8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Consolas" pitchFamily="49" charset="0"/>
              </a:endParaRPr>
            </a:p>
          </p:txBody>
        </p:sp>
        <p:sp>
          <p:nvSpPr>
            <p:cNvPr id="21" name="Text Box 12">
              <a:extLst>
                <a:ext uri="{FF2B5EF4-FFF2-40B4-BE49-F238E27FC236}">
                  <a16:creationId xmlns:a16="http://schemas.microsoft.com/office/drawing/2014/main" id="{41BA9BFF-769A-4AF8-B888-C727167669A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34759" y="5328452"/>
              <a:ext cx="431800" cy="295466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8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楷体" panose="02010609060101010101" pitchFamily="49" charset="-122"/>
                  <a:ea typeface="楷体" panose="02010609060101010101" pitchFamily="49" charset="-122"/>
                  <a:cs typeface="Consolas" pitchFamily="49" charset="0"/>
                </a:rPr>
                <a:t>栈</a:t>
              </a:r>
            </a:p>
          </p:txBody>
        </p:sp>
        <p:sp>
          <p:nvSpPr>
            <p:cNvPr id="22" name="TextBox 7">
              <a:extLst>
                <a:ext uri="{FF2B5EF4-FFF2-40B4-BE49-F238E27FC236}">
                  <a16:creationId xmlns:a16="http://schemas.microsoft.com/office/drawing/2014/main" id="{1E4D013A-76E7-43DB-82F5-18C827D331C5}"/>
                </a:ext>
              </a:extLst>
            </p:cNvPr>
            <p:cNvSpPr txBox="1"/>
            <p:nvPr/>
          </p:nvSpPr>
          <p:spPr>
            <a:xfrm>
              <a:off x="3925427" y="4700839"/>
              <a:ext cx="468000" cy="29546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8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楷体" panose="02010609060101010101" pitchFamily="49" charset="-122"/>
                  <a:ea typeface="楷体" panose="02010609060101010101" pitchFamily="49" charset="-122"/>
                  <a:cs typeface="Consolas" pitchFamily="49" charset="0"/>
                </a:rPr>
                <a:t>1</a:t>
              </a:r>
              <a:endParaRPr kumimoji="1" lang="zh-CN" altLang="en-US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Consolas" pitchFamily="49" charset="0"/>
              </a:endParaRPr>
            </a:p>
          </p:txBody>
        </p:sp>
        <p:sp>
          <p:nvSpPr>
            <p:cNvPr id="23" name="TextBox 8">
              <a:extLst>
                <a:ext uri="{FF2B5EF4-FFF2-40B4-BE49-F238E27FC236}">
                  <a16:creationId xmlns:a16="http://schemas.microsoft.com/office/drawing/2014/main" id="{0DA9B685-AAB1-41C4-9E2D-2C04B8F0082D}"/>
                </a:ext>
              </a:extLst>
            </p:cNvPr>
            <p:cNvSpPr txBox="1"/>
            <p:nvPr/>
          </p:nvSpPr>
          <p:spPr>
            <a:xfrm>
              <a:off x="3918761" y="4268836"/>
              <a:ext cx="468000" cy="29546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8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楷体" panose="02010609060101010101" pitchFamily="49" charset="-122"/>
                  <a:ea typeface="楷体" panose="02010609060101010101" pitchFamily="49" charset="-122"/>
                  <a:cs typeface="Consolas" pitchFamily="49" charset="0"/>
                </a:rPr>
                <a:t>2</a:t>
              </a:r>
              <a:endParaRPr kumimoji="1" lang="zh-CN" altLang="en-US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Consolas" pitchFamily="49" charset="0"/>
              </a:endParaRPr>
            </a:p>
          </p:txBody>
        </p:sp>
        <p:sp>
          <p:nvSpPr>
            <p:cNvPr id="24" name="TextBox 9">
              <a:extLst>
                <a:ext uri="{FF2B5EF4-FFF2-40B4-BE49-F238E27FC236}">
                  <a16:creationId xmlns:a16="http://schemas.microsoft.com/office/drawing/2014/main" id="{3C0AC0A2-5A44-40F1-9B85-9F8B8070FBE4}"/>
                </a:ext>
              </a:extLst>
            </p:cNvPr>
            <p:cNvSpPr txBox="1"/>
            <p:nvPr/>
          </p:nvSpPr>
          <p:spPr>
            <a:xfrm>
              <a:off x="4929190" y="3264099"/>
              <a:ext cx="468000" cy="295466"/>
            </a:xfrm>
            <a:prstGeom prst="rect">
              <a:avLst/>
            </a:prstGeom>
            <a:gradFill rotWithShape="1">
              <a:gsLst>
                <a:gs pos="0">
                  <a:srgbClr val="8064A2">
                    <a:tint val="50000"/>
                    <a:satMod val="300000"/>
                  </a:srgbClr>
                </a:gs>
                <a:gs pos="35000">
                  <a:srgbClr val="8064A2">
                    <a:tint val="37000"/>
                    <a:satMod val="300000"/>
                  </a:srgbClr>
                </a:gs>
                <a:gs pos="100000">
                  <a:srgbClr val="8064A2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8064A2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8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楷体" panose="02010609060101010101" pitchFamily="49" charset="-122"/>
                  <a:ea typeface="楷体" panose="02010609060101010101" pitchFamily="49" charset="-122"/>
                  <a:cs typeface="Consolas" pitchFamily="49" charset="0"/>
                </a:rPr>
                <a:t>3</a:t>
              </a:r>
              <a:endParaRPr kumimoji="1" lang="zh-CN" altLang="en-US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Consolas" pitchFamily="49" charset="0"/>
              </a:endParaRPr>
            </a:p>
          </p:txBody>
        </p:sp>
        <p:sp>
          <p:nvSpPr>
            <p:cNvPr id="25" name="TextBox 10">
              <a:extLst>
                <a:ext uri="{FF2B5EF4-FFF2-40B4-BE49-F238E27FC236}">
                  <a16:creationId xmlns:a16="http://schemas.microsoft.com/office/drawing/2014/main" id="{00BBE204-F752-407F-B648-451195896FFA}"/>
                </a:ext>
              </a:extLst>
            </p:cNvPr>
            <p:cNvSpPr txBox="1"/>
            <p:nvPr/>
          </p:nvSpPr>
          <p:spPr>
            <a:xfrm>
              <a:off x="5643570" y="3264099"/>
              <a:ext cx="468000" cy="295466"/>
            </a:xfrm>
            <a:prstGeom prst="rect">
              <a:avLst/>
            </a:prstGeom>
            <a:gradFill rotWithShape="1">
              <a:gsLst>
                <a:gs pos="0">
                  <a:srgbClr val="C0504D">
                    <a:tint val="50000"/>
                    <a:satMod val="300000"/>
                  </a:srgbClr>
                </a:gs>
                <a:gs pos="35000">
                  <a:srgbClr val="C0504D">
                    <a:tint val="37000"/>
                    <a:satMod val="300000"/>
                  </a:srgbClr>
                </a:gs>
                <a:gs pos="100000">
                  <a:srgbClr val="C0504D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C0504D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8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楷体" panose="02010609060101010101" pitchFamily="49" charset="-122"/>
                  <a:ea typeface="楷体" panose="02010609060101010101" pitchFamily="49" charset="-122"/>
                  <a:cs typeface="Consolas" pitchFamily="49" charset="0"/>
                </a:rPr>
                <a:t>?</a:t>
              </a:r>
              <a:endParaRPr kumimoji="1" lang="zh-CN" altLang="en-US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Consolas" pitchFamily="49" charset="0"/>
              </a:endParaRPr>
            </a:p>
          </p:txBody>
        </p:sp>
        <p:sp>
          <p:nvSpPr>
            <p:cNvPr id="26" name="TextBox 11">
              <a:extLst>
                <a:ext uri="{FF2B5EF4-FFF2-40B4-BE49-F238E27FC236}">
                  <a16:creationId xmlns:a16="http://schemas.microsoft.com/office/drawing/2014/main" id="{E96EED14-C49A-43DB-8071-44AE5E9C6CB6}"/>
                </a:ext>
              </a:extLst>
            </p:cNvPr>
            <p:cNvSpPr txBox="1"/>
            <p:nvPr/>
          </p:nvSpPr>
          <p:spPr>
            <a:xfrm>
              <a:off x="1994209" y="3411832"/>
              <a:ext cx="1455837" cy="29546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8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b="0" i="1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楷体" panose="02010609060101010101" pitchFamily="49" charset="-122"/>
                  <a:ea typeface="楷体" panose="02010609060101010101" pitchFamily="49" charset="-122"/>
                  <a:cs typeface="Consolas" pitchFamily="49" charset="0"/>
                  <a:sym typeface="Symbol"/>
                </a:rPr>
                <a:t>n</a:t>
              </a:r>
              <a:r>
                <a:rPr kumimoji="1" lang="en-US" altLang="zh-CN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楷体" panose="02010609060101010101" pitchFamily="49" charset="-122"/>
                  <a:ea typeface="楷体" panose="02010609060101010101" pitchFamily="49" charset="-122"/>
                  <a:cs typeface="Consolas" pitchFamily="49" charset="0"/>
                  <a:sym typeface="Symbol"/>
                </a:rPr>
                <a:t>  …   </a:t>
              </a:r>
              <a:r>
                <a:rPr kumimoji="1" lang="en-US" altLang="zh-CN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楷体" panose="02010609060101010101" pitchFamily="49" charset="-122"/>
                  <a:ea typeface="楷体" panose="02010609060101010101" pitchFamily="49" charset="-122"/>
                  <a:cs typeface="Consolas" pitchFamily="49" charset="0"/>
                </a:rPr>
                <a:t>4</a:t>
              </a:r>
              <a:endParaRPr kumimoji="1" lang="zh-CN" altLang="en-US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Consolas" pitchFamily="49" charset="0"/>
              </a:endParaRPr>
            </a:p>
          </p:txBody>
        </p:sp>
        <p:sp>
          <p:nvSpPr>
            <p:cNvPr id="27" name="TextBox 12">
              <a:extLst>
                <a:ext uri="{FF2B5EF4-FFF2-40B4-BE49-F238E27FC236}">
                  <a16:creationId xmlns:a16="http://schemas.microsoft.com/office/drawing/2014/main" id="{9CB4BAD1-E9AF-4E51-95CF-BCCC82671633}"/>
                </a:ext>
              </a:extLst>
            </p:cNvPr>
            <p:cNvSpPr txBox="1"/>
            <p:nvPr/>
          </p:nvSpPr>
          <p:spPr>
            <a:xfrm>
              <a:off x="4760914" y="3929066"/>
              <a:ext cx="2214578" cy="8679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8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楷体" panose="02010609060101010101" pitchFamily="49" charset="-122"/>
                  <a:ea typeface="楷体" panose="02010609060101010101" pitchFamily="49" charset="-122"/>
                  <a:cs typeface="Consolas" pitchFamily="49" charset="0"/>
                </a:rPr>
                <a:t>不可能是</a:t>
              </a:r>
              <a:r>
                <a:rPr kumimoji="1" lang="en-US" altLang="zh-CN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楷体" panose="02010609060101010101" pitchFamily="49" charset="-122"/>
                  <a:ea typeface="楷体" panose="02010609060101010101" pitchFamily="49" charset="-122"/>
                  <a:cs typeface="Consolas" pitchFamily="49" charset="0"/>
                </a:rPr>
                <a:t>1</a:t>
              </a:r>
              <a:r>
                <a:rPr kumimoji="1" lang="zh-CN" altLang="en-US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楷体" panose="02010609060101010101" pitchFamily="49" charset="-122"/>
                  <a:ea typeface="楷体" panose="02010609060101010101" pitchFamily="49" charset="-122"/>
                  <a:cs typeface="Consolas" pitchFamily="49" charset="0"/>
                </a:rPr>
                <a:t>和</a:t>
              </a:r>
              <a:r>
                <a:rPr kumimoji="1" lang="en-US" altLang="zh-CN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楷体" panose="02010609060101010101" pitchFamily="49" charset="-122"/>
                  <a:ea typeface="楷体" panose="02010609060101010101" pitchFamily="49" charset="-122"/>
                  <a:cs typeface="Consolas" pitchFamily="49" charset="0"/>
                </a:rPr>
                <a:t>3</a:t>
              </a:r>
            </a:p>
            <a:p>
              <a:pPr marL="0" marR="0" lvl="0" indent="0" algn="ctr" defTabSz="914400" eaLnBrk="1" fontAlgn="auto" latinLnBrk="0" hangingPunct="1">
                <a:lnSpc>
                  <a:spcPct val="8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楷体" panose="02010609060101010101" pitchFamily="49" charset="-122"/>
                  <a:ea typeface="楷体" panose="02010609060101010101" pitchFamily="49" charset="-122"/>
                  <a:cs typeface="Consolas" pitchFamily="49" charset="0"/>
                </a:rPr>
                <a:t>共有</a:t>
              </a:r>
              <a:r>
                <a:rPr kumimoji="1" lang="en-US" altLang="zh-CN" b="0" i="1" u="none" strike="noStrike" kern="0" cap="none" spc="0" normalizeH="0" baseline="0" noProof="0">
                  <a:ln>
                    <a:noFill/>
                  </a:ln>
                  <a:solidFill>
                    <a:srgbClr val="CE3B37"/>
                  </a:solidFill>
                  <a:effectLst/>
                  <a:uLnTx/>
                  <a:uFillTx/>
                  <a:latin typeface="楷体" panose="02010609060101010101" pitchFamily="49" charset="-122"/>
                  <a:ea typeface="楷体" panose="02010609060101010101" pitchFamily="49" charset="-122"/>
                  <a:cs typeface="Consolas" pitchFamily="49" charset="0"/>
                </a:rPr>
                <a:t>n</a:t>
              </a:r>
              <a:r>
                <a:rPr kumimoji="1" lang="en-US" altLang="zh-CN" b="0" i="0" u="none" strike="noStrike" kern="0" cap="none" spc="0" normalizeH="0" baseline="0" noProof="0">
                  <a:ln>
                    <a:noFill/>
                  </a:ln>
                  <a:solidFill>
                    <a:srgbClr val="CE3B37"/>
                  </a:solidFill>
                  <a:effectLst/>
                  <a:uLnTx/>
                  <a:uFillTx/>
                  <a:latin typeface="楷体" panose="02010609060101010101" pitchFamily="49" charset="-122"/>
                  <a:ea typeface="楷体" panose="02010609060101010101" pitchFamily="49" charset="-122"/>
                  <a:cs typeface="Consolas" pitchFamily="49" charset="0"/>
                </a:rPr>
                <a:t>-2</a:t>
              </a:r>
              <a:r>
                <a:rPr kumimoji="1" lang="zh-CN" altLang="en-US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楷体" panose="02010609060101010101" pitchFamily="49" charset="-122"/>
                  <a:ea typeface="楷体" panose="02010609060101010101" pitchFamily="49" charset="-122"/>
                  <a:cs typeface="Consolas" pitchFamily="49" charset="0"/>
                </a:rPr>
                <a:t>可能</a:t>
              </a:r>
              <a:endParaRPr kumimoji="1" lang="zh-CN" altLang="en-US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Consolas" pitchFamily="49" charset="0"/>
              </a:endParaRPr>
            </a:p>
          </p:txBody>
        </p:sp>
        <p:cxnSp>
          <p:nvCxnSpPr>
            <p:cNvPr id="28" name="直接箭头连接符 27">
              <a:extLst>
                <a:ext uri="{FF2B5EF4-FFF2-40B4-BE49-F238E27FC236}">
                  <a16:creationId xmlns:a16="http://schemas.microsoft.com/office/drawing/2014/main" id="{E78730B3-903C-4865-932F-ABB34428616E}"/>
                </a:ext>
              </a:extLst>
            </p:cNvPr>
            <p:cNvCxnSpPr>
              <a:stCxn id="27" idx="0"/>
              <a:endCxn id="25" idx="2"/>
            </p:cNvCxnSpPr>
            <p:nvPr/>
          </p:nvCxnSpPr>
          <p:spPr>
            <a:xfrm flipV="1">
              <a:off x="5868203" y="3559565"/>
              <a:ext cx="9367" cy="369501"/>
            </a:xfrm>
            <a:prstGeom prst="straightConnector1">
              <a:avLst/>
            </a:prstGeom>
            <a:noFill/>
            <a:ln w="28575" cap="flat" cmpd="sng" algn="ctr">
              <a:solidFill>
                <a:srgbClr val="CE3B37"/>
              </a:solidFill>
              <a:prstDash val="solid"/>
              <a:tailEnd type="arrow"/>
            </a:ln>
            <a:effectLst/>
          </p:spPr>
        </p:cxnSp>
        <p:sp>
          <p:nvSpPr>
            <p:cNvPr id="29" name="TextBox 15">
              <a:extLst>
                <a:ext uri="{FF2B5EF4-FFF2-40B4-BE49-F238E27FC236}">
                  <a16:creationId xmlns:a16="http://schemas.microsoft.com/office/drawing/2014/main" id="{37EE206B-3DF6-45B4-9949-B4C0F3D8115F}"/>
                </a:ext>
              </a:extLst>
            </p:cNvPr>
            <p:cNvSpPr txBox="1"/>
            <p:nvPr/>
          </p:nvSpPr>
          <p:spPr>
            <a:xfrm>
              <a:off x="1756560" y="2643182"/>
              <a:ext cx="4244200" cy="3877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8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楷体" panose="02010609060101010101" pitchFamily="49" charset="-122"/>
                  <a:ea typeface="楷体" panose="02010609060101010101" pitchFamily="49" charset="-122"/>
                  <a:cs typeface="Consolas" pitchFamily="49" charset="0"/>
                </a:rPr>
                <a:t>1</a:t>
              </a:r>
              <a:r>
                <a:rPr kumimoji="1" lang="zh-CN" altLang="en-US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楷体" panose="02010609060101010101" pitchFamily="49" charset="-122"/>
                  <a:ea typeface="楷体" panose="02010609060101010101" pitchFamily="49" charset="-122"/>
                  <a:cs typeface="Consolas" pitchFamily="49" charset="0"/>
                </a:rPr>
                <a:t>、</a:t>
              </a:r>
              <a:r>
                <a:rPr kumimoji="1" lang="en-US" altLang="zh-CN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楷体" panose="02010609060101010101" pitchFamily="49" charset="-122"/>
                  <a:ea typeface="楷体" panose="02010609060101010101" pitchFamily="49" charset="-122"/>
                  <a:cs typeface="Consolas" pitchFamily="49" charset="0"/>
                </a:rPr>
                <a:t>2</a:t>
              </a:r>
              <a:r>
                <a:rPr kumimoji="1" lang="zh-CN" altLang="en-US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楷体" panose="02010609060101010101" pitchFamily="49" charset="-122"/>
                  <a:ea typeface="楷体" panose="02010609060101010101" pitchFamily="49" charset="-122"/>
                  <a:cs typeface="Consolas" pitchFamily="49" charset="0"/>
                </a:rPr>
                <a:t>、</a:t>
              </a:r>
              <a:r>
                <a:rPr kumimoji="1" lang="en-US" altLang="zh-CN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楷体" panose="02010609060101010101" pitchFamily="49" charset="-122"/>
                  <a:ea typeface="楷体" panose="02010609060101010101" pitchFamily="49" charset="-122"/>
                  <a:cs typeface="Consolas" pitchFamily="49" charset="0"/>
                </a:rPr>
                <a:t>3</a:t>
              </a:r>
              <a:r>
                <a:rPr kumimoji="1" lang="zh-CN" altLang="en-US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楷体" panose="02010609060101010101" pitchFamily="49" charset="-122"/>
                  <a:ea typeface="楷体" panose="02010609060101010101" pitchFamily="49" charset="-122"/>
                  <a:cs typeface="Consolas" pitchFamily="49" charset="0"/>
                </a:rPr>
                <a:t>进栈，</a:t>
              </a:r>
              <a:r>
                <a:rPr kumimoji="1" lang="en-US" altLang="zh-CN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楷体" panose="02010609060101010101" pitchFamily="49" charset="-122"/>
                  <a:ea typeface="楷体" panose="02010609060101010101" pitchFamily="49" charset="-122"/>
                  <a:cs typeface="Consolas" pitchFamily="49" charset="0"/>
                </a:rPr>
                <a:t>3</a:t>
              </a:r>
              <a:r>
                <a:rPr kumimoji="1" lang="zh-CN" altLang="en-US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楷体" panose="02010609060101010101" pitchFamily="49" charset="-122"/>
                  <a:ea typeface="楷体" panose="02010609060101010101" pitchFamily="49" charset="-122"/>
                  <a:cs typeface="Consolas" pitchFamily="49" charset="0"/>
                </a:rPr>
                <a:t>出栈的结果：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7722579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1AF9479-FD55-43C9-8095-E519488D59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课堂讨论</a:t>
            </a:r>
            <a:r>
              <a:rPr lang="en-US" altLang="zh-CN" dirty="0"/>
              <a:t> 3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E36C09F-DBFC-440F-B46E-6C33119136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6087" y="764704"/>
            <a:ext cx="8251825" cy="2738164"/>
          </a:xfrm>
        </p:spPr>
        <p:txBody>
          <a:bodyPr/>
          <a:lstStyle/>
          <a:p>
            <a:pPr marL="0" indent="0">
              <a:buNone/>
            </a:pPr>
            <a:r>
              <a:rPr lang="zh-CN" altLang="en-US" dirty="0"/>
              <a:t>一个栈的入栈序列为 </a:t>
            </a:r>
            <a:r>
              <a:rPr lang="en-US" altLang="zh-CN" dirty="0"/>
              <a:t>1,</a:t>
            </a:r>
            <a:r>
              <a:rPr lang="zh-CN" altLang="en-US" dirty="0"/>
              <a:t> </a:t>
            </a:r>
            <a:r>
              <a:rPr lang="en-US" altLang="zh-CN" dirty="0"/>
              <a:t>2,</a:t>
            </a:r>
            <a:r>
              <a:rPr lang="zh-CN" altLang="en-US" dirty="0"/>
              <a:t> </a:t>
            </a:r>
            <a:r>
              <a:rPr lang="en-US" altLang="zh-CN" dirty="0"/>
              <a:t>3,</a:t>
            </a:r>
            <a:r>
              <a:rPr lang="zh-CN" altLang="en-US" dirty="0"/>
              <a:t> </a:t>
            </a:r>
            <a:r>
              <a:rPr lang="en-US" altLang="zh-CN" dirty="0"/>
              <a:t>…,</a:t>
            </a:r>
            <a:r>
              <a:rPr lang="zh-CN" altLang="en-US" dirty="0"/>
              <a:t> </a:t>
            </a:r>
            <a:r>
              <a:rPr lang="en-US" altLang="zh-CN" dirty="0"/>
              <a:t>n</a:t>
            </a:r>
            <a:r>
              <a:rPr lang="zh-CN" altLang="en-US" dirty="0"/>
              <a:t>，其出栈序列是 </a:t>
            </a:r>
            <a:r>
              <a:rPr lang="en-US" altLang="zh-CN" dirty="0"/>
              <a:t>p</a:t>
            </a:r>
            <a:r>
              <a:rPr lang="en-US" altLang="zh-CN" baseline="-25000" dirty="0"/>
              <a:t>1</a:t>
            </a:r>
            <a:r>
              <a:rPr lang="en-US" altLang="zh-CN" dirty="0"/>
              <a:t>,</a:t>
            </a:r>
            <a:r>
              <a:rPr lang="zh-CN" altLang="en-US" dirty="0"/>
              <a:t> </a:t>
            </a:r>
            <a:r>
              <a:rPr lang="en-US" altLang="zh-CN" dirty="0"/>
              <a:t>p</a:t>
            </a:r>
            <a:r>
              <a:rPr lang="en-US" altLang="zh-CN" baseline="-25000" dirty="0"/>
              <a:t>2</a:t>
            </a:r>
            <a:r>
              <a:rPr lang="en-US" altLang="zh-CN" dirty="0"/>
              <a:t>,</a:t>
            </a:r>
            <a:r>
              <a:rPr lang="zh-CN" altLang="en-US" dirty="0"/>
              <a:t> </a:t>
            </a:r>
            <a:r>
              <a:rPr lang="en-US" altLang="zh-CN" dirty="0"/>
              <a:t>p</a:t>
            </a:r>
            <a:r>
              <a:rPr lang="en-US" altLang="zh-CN" baseline="-25000" dirty="0"/>
              <a:t>3</a:t>
            </a:r>
            <a:r>
              <a:rPr lang="en-US" altLang="zh-CN" dirty="0"/>
              <a:t>,</a:t>
            </a:r>
            <a:r>
              <a:rPr lang="zh-CN" altLang="en-US" dirty="0"/>
              <a:t> </a:t>
            </a:r>
            <a:r>
              <a:rPr lang="en-US" altLang="zh-CN" dirty="0"/>
              <a:t>…,</a:t>
            </a:r>
            <a:r>
              <a:rPr lang="zh-CN" altLang="en-US" dirty="0"/>
              <a:t> </a:t>
            </a:r>
            <a:r>
              <a:rPr lang="en-US" altLang="zh-CN" dirty="0" err="1"/>
              <a:t>p</a:t>
            </a:r>
            <a:r>
              <a:rPr lang="en-US" altLang="zh-CN" baseline="-25000" dirty="0" err="1"/>
              <a:t>n</a:t>
            </a:r>
            <a:r>
              <a:rPr lang="zh-CN" altLang="en-US" dirty="0"/>
              <a:t>。若 </a:t>
            </a:r>
            <a:r>
              <a:rPr lang="en-US" altLang="zh-CN" dirty="0"/>
              <a:t>p</a:t>
            </a:r>
            <a:r>
              <a:rPr lang="en-US" altLang="zh-CN" baseline="-25000" dirty="0"/>
              <a:t>2</a:t>
            </a:r>
            <a:r>
              <a:rPr lang="en-US" altLang="zh-CN" dirty="0"/>
              <a:t>=3</a:t>
            </a:r>
            <a:r>
              <a:rPr lang="zh-CN" altLang="en-US" dirty="0"/>
              <a:t>，则 </a:t>
            </a:r>
            <a:r>
              <a:rPr lang="en-US" altLang="zh-CN" dirty="0"/>
              <a:t>p</a:t>
            </a:r>
            <a:r>
              <a:rPr lang="en-US" altLang="zh-CN" baseline="-25000" dirty="0"/>
              <a:t>3 </a:t>
            </a:r>
            <a:r>
              <a:rPr lang="zh-CN" altLang="en-US" dirty="0"/>
              <a:t>可能取值的个数是多少？</a:t>
            </a:r>
            <a:r>
              <a:rPr lang="zh-CN" altLang="en-US" dirty="0">
                <a:solidFill>
                  <a:srgbClr val="0000FF"/>
                </a:solidFill>
              </a:rPr>
              <a:t>（全国考研题）</a:t>
            </a:r>
            <a:endParaRPr lang="en-US" altLang="zh-CN" dirty="0">
              <a:solidFill>
                <a:srgbClr val="0000FF"/>
              </a:solidFill>
            </a:endParaRPr>
          </a:p>
          <a:p>
            <a:pPr marL="0" indent="0">
              <a:buNone/>
            </a:pPr>
            <a:r>
              <a:rPr lang="en-US" altLang="zh-CN" dirty="0"/>
              <a:t>     A. n-3       B. n-2       C. n-1     D. </a:t>
            </a:r>
            <a:r>
              <a:rPr lang="zh-CN" altLang="en-US" dirty="0"/>
              <a:t>无法确定</a:t>
            </a:r>
          </a:p>
          <a:p>
            <a:pPr marL="0" indent="0">
              <a:buNone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257665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0A20F99-F895-43EE-89A7-40E661BC6D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关于栈的进一步讨论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92FBE5F-0E4D-412B-9007-9C68F1F10243}"/>
              </a:ext>
            </a:extLst>
          </p:cNvPr>
          <p:cNvSpPr txBox="1">
            <a:spLocks noChangeArrowheads="1"/>
          </p:cNvSpPr>
          <p:nvPr/>
        </p:nvSpPr>
        <p:spPr>
          <a:xfrm>
            <a:off x="251520" y="836712"/>
            <a:ext cx="8568952" cy="5904656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457200" indent="-457200" algn="l" rtl="0" eaLnBrk="0" fontAlgn="base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342900" indent="-342900" algn="l" rtl="0" eaLnBrk="0" fontAlgn="base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342900" indent="-342900" algn="l" rtl="0" eaLnBrk="0" fontAlgn="base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3pPr>
            <a:lvl4pPr marL="17145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>
              <a:buClr>
                <a:srgbClr val="800080"/>
              </a:buClr>
              <a:buSzPct val="55000"/>
              <a:buFont typeface="Wingdings" panose="05000000000000000000" pitchFamily="2" charset="2"/>
              <a:buChar char="l"/>
            </a:pPr>
            <a:r>
              <a:rPr lang="zh-CN" altLang="en-US" b="0" kern="0" dirty="0">
                <a:latin typeface="+mn-ea"/>
                <a:ea typeface="+mn-ea"/>
              </a:rPr>
              <a:t>当进栈元素的编号为 </a:t>
            </a:r>
            <a:r>
              <a:rPr lang="en-US" altLang="zh-CN" b="0" kern="0" dirty="0">
                <a:latin typeface="+mn-ea"/>
                <a:ea typeface="+mn-ea"/>
              </a:rPr>
              <a:t>1, 2, …, </a:t>
            </a:r>
            <a:r>
              <a:rPr lang="en-US" altLang="zh-CN" b="0" i="1" kern="0" dirty="0">
                <a:latin typeface="+mn-ea"/>
                <a:ea typeface="+mn-ea"/>
              </a:rPr>
              <a:t>n </a:t>
            </a:r>
            <a:r>
              <a:rPr lang="zh-CN" altLang="en-US" b="0" kern="0" dirty="0">
                <a:latin typeface="+mn-ea"/>
                <a:ea typeface="+mn-ea"/>
              </a:rPr>
              <a:t>时，可能的出栈序列有多少种？例如：</a:t>
            </a:r>
          </a:p>
          <a:p>
            <a:pPr marL="360000" lvl="2" indent="457200">
              <a:buClr>
                <a:srgbClr val="800080"/>
              </a:buClr>
              <a:buSzPct val="55000"/>
              <a:buFont typeface="Wingdings" panose="05000000000000000000" pitchFamily="2" charset="2"/>
              <a:buChar char="l"/>
            </a:pPr>
            <a:r>
              <a:rPr lang="zh-CN" altLang="en-US" b="0" kern="0" dirty="0">
                <a:latin typeface="+mn-ea"/>
                <a:ea typeface="+mn-ea"/>
              </a:rPr>
              <a:t>当进栈序列为 </a:t>
            </a:r>
            <a:r>
              <a:rPr lang="en-US" altLang="zh-CN" b="0" kern="0" dirty="0">
                <a:latin typeface="+mn-ea"/>
                <a:ea typeface="+mn-ea"/>
              </a:rPr>
              <a:t>1, 2 </a:t>
            </a:r>
            <a:r>
              <a:rPr lang="zh-CN" altLang="en-US" b="0" kern="0" dirty="0">
                <a:latin typeface="+mn-ea"/>
                <a:ea typeface="+mn-ea"/>
              </a:rPr>
              <a:t>时，可能的出栈序列有 </a:t>
            </a:r>
            <a:r>
              <a:rPr lang="en-US" altLang="zh-CN" b="0" kern="0" dirty="0">
                <a:latin typeface="+mn-ea"/>
                <a:ea typeface="+mn-ea"/>
              </a:rPr>
              <a:t>2 </a:t>
            </a:r>
            <a:r>
              <a:rPr lang="zh-CN" altLang="en-US" b="0" kern="0" dirty="0">
                <a:latin typeface="+mn-ea"/>
                <a:ea typeface="+mn-ea"/>
              </a:rPr>
              <a:t>种：</a:t>
            </a:r>
          </a:p>
          <a:p>
            <a:pPr marL="360000" lvl="2" indent="457200">
              <a:buClr>
                <a:srgbClr val="800080"/>
              </a:buClr>
              <a:buSzPct val="55000"/>
              <a:buNone/>
            </a:pPr>
            <a:r>
              <a:rPr lang="zh-CN" altLang="en-US" b="0" kern="0" dirty="0">
                <a:latin typeface="+mn-ea"/>
                <a:ea typeface="+mn-ea"/>
              </a:rPr>
              <a:t>	  </a:t>
            </a:r>
            <a:r>
              <a:rPr lang="en-US" altLang="zh-CN" b="0" kern="0" dirty="0">
                <a:latin typeface="+mn-ea"/>
                <a:ea typeface="+mn-ea"/>
              </a:rPr>
              <a:t>1, 2    2, 1</a:t>
            </a:r>
            <a:r>
              <a:rPr lang="zh-CN" altLang="en-US" b="0" kern="0" dirty="0">
                <a:latin typeface="+mn-ea"/>
                <a:ea typeface="+mn-ea"/>
              </a:rPr>
              <a:t>；</a:t>
            </a:r>
          </a:p>
          <a:p>
            <a:pPr marL="360000" lvl="2" indent="457200">
              <a:buClr>
                <a:srgbClr val="800080"/>
              </a:buClr>
              <a:buSzPct val="55000"/>
              <a:buFont typeface="Wingdings" panose="05000000000000000000" pitchFamily="2" charset="2"/>
              <a:buChar char="l"/>
            </a:pPr>
            <a:r>
              <a:rPr lang="zh-CN" altLang="en-US" b="0" kern="0" dirty="0">
                <a:latin typeface="+mn-ea"/>
                <a:ea typeface="+mn-ea"/>
              </a:rPr>
              <a:t>当进栈序列为 </a:t>
            </a:r>
            <a:r>
              <a:rPr lang="en-US" altLang="zh-CN" b="0" kern="0" dirty="0">
                <a:latin typeface="+mn-ea"/>
                <a:ea typeface="+mn-ea"/>
              </a:rPr>
              <a:t>1, 2, 3 </a:t>
            </a:r>
            <a:r>
              <a:rPr lang="zh-CN" altLang="en-US" b="0" kern="0" dirty="0">
                <a:latin typeface="+mn-ea"/>
                <a:ea typeface="+mn-ea"/>
              </a:rPr>
              <a:t>时，可能的出栈序列有 </a:t>
            </a:r>
            <a:r>
              <a:rPr lang="en-US" altLang="zh-CN" b="0" kern="0" dirty="0">
                <a:latin typeface="+mn-ea"/>
                <a:ea typeface="+mn-ea"/>
              </a:rPr>
              <a:t>5 </a:t>
            </a:r>
            <a:r>
              <a:rPr lang="zh-CN" altLang="en-US" b="0" kern="0" dirty="0">
                <a:latin typeface="+mn-ea"/>
                <a:ea typeface="+mn-ea"/>
              </a:rPr>
              <a:t>种：</a:t>
            </a:r>
          </a:p>
          <a:p>
            <a:pPr marL="360000" lvl="2" indent="457200">
              <a:buClr>
                <a:srgbClr val="800080"/>
              </a:buClr>
              <a:buSzPct val="55000"/>
              <a:buNone/>
            </a:pPr>
            <a:r>
              <a:rPr lang="zh-CN" altLang="en-US" b="0" kern="0" dirty="0">
                <a:latin typeface="+mn-ea"/>
                <a:ea typeface="+mn-ea"/>
              </a:rPr>
              <a:t> </a:t>
            </a:r>
            <a:r>
              <a:rPr lang="en-US" altLang="zh-CN" b="0" kern="0" dirty="0">
                <a:latin typeface="+mn-ea"/>
                <a:ea typeface="+mn-ea"/>
              </a:rPr>
              <a:t>1, 2, 3      1, 3, 2      2, 1, 3      2, 3, 1      3, 2, 1</a:t>
            </a:r>
          </a:p>
          <a:p>
            <a:pPr marL="360000" lvl="2" indent="457200">
              <a:buClr>
                <a:srgbClr val="800080"/>
              </a:buClr>
              <a:buSzPct val="55000"/>
              <a:buNone/>
            </a:pPr>
            <a:r>
              <a:rPr lang="zh-CN" altLang="en-US" b="0" kern="0" dirty="0">
                <a:latin typeface="+mn-ea"/>
                <a:ea typeface="+mn-ea"/>
              </a:rPr>
              <a:t>注意，</a:t>
            </a:r>
            <a:r>
              <a:rPr lang="en-US" altLang="zh-CN" b="0" kern="0" dirty="0">
                <a:latin typeface="+mn-ea"/>
                <a:ea typeface="+mn-ea"/>
              </a:rPr>
              <a:t>3, 1, 2 </a:t>
            </a:r>
            <a:r>
              <a:rPr lang="zh-CN" altLang="en-US" b="0" kern="0" dirty="0">
                <a:latin typeface="+mn-ea"/>
                <a:ea typeface="+mn-ea"/>
              </a:rPr>
              <a:t>是不可能的出栈序列。</a:t>
            </a:r>
          </a:p>
          <a:p>
            <a:pPr>
              <a:buClr>
                <a:srgbClr val="800080"/>
              </a:buClr>
              <a:buSzPct val="55000"/>
              <a:buFont typeface="Wingdings" panose="05000000000000000000" pitchFamily="2" charset="2"/>
              <a:buChar char="l"/>
            </a:pPr>
            <a:r>
              <a:rPr lang="zh-CN" altLang="en-US" b="0" kern="0" dirty="0">
                <a:latin typeface="+mn-ea"/>
                <a:ea typeface="+mn-ea"/>
              </a:rPr>
              <a:t>一般情形如何呢？若设</a:t>
            </a:r>
            <a:r>
              <a:rPr lang="zh-CN" altLang="en-US" b="0" kern="0" dirty="0">
                <a:solidFill>
                  <a:srgbClr val="0000FF"/>
                </a:solidFill>
                <a:latin typeface="+mn-ea"/>
                <a:ea typeface="+mn-ea"/>
              </a:rPr>
              <a:t>进栈序列为 </a:t>
            </a:r>
            <a:r>
              <a:rPr lang="en-US" altLang="zh-CN" b="0" kern="0" dirty="0">
                <a:solidFill>
                  <a:srgbClr val="0000FF"/>
                </a:solidFill>
                <a:latin typeface="+mn-ea"/>
                <a:ea typeface="+mn-ea"/>
              </a:rPr>
              <a:t>1, 2, …, n</a:t>
            </a:r>
            <a:r>
              <a:rPr lang="zh-CN" altLang="en-US" b="0" kern="0" dirty="0">
                <a:latin typeface="+mn-ea"/>
                <a:ea typeface="+mn-ea"/>
              </a:rPr>
              <a:t>，可能的出栈序列有 </a:t>
            </a:r>
            <a:r>
              <a:rPr lang="en-US" altLang="zh-CN" b="0" i="1" kern="0" dirty="0" err="1">
                <a:solidFill>
                  <a:srgbClr val="FF0000"/>
                </a:solidFill>
                <a:latin typeface="+mn-ea"/>
                <a:ea typeface="+mn-ea"/>
              </a:rPr>
              <a:t>m</a:t>
            </a:r>
            <a:r>
              <a:rPr lang="en-US" altLang="zh-CN" b="0" i="1" kern="0" baseline="-25000" dirty="0" err="1">
                <a:solidFill>
                  <a:srgbClr val="FF0000"/>
                </a:solidFill>
                <a:latin typeface="+mn-ea"/>
                <a:ea typeface="+mn-ea"/>
              </a:rPr>
              <a:t>n</a:t>
            </a:r>
            <a:r>
              <a:rPr lang="en-US" altLang="zh-CN" b="0" kern="0" baseline="-25000" dirty="0">
                <a:solidFill>
                  <a:srgbClr val="FF0000"/>
                </a:solidFill>
                <a:latin typeface="+mn-ea"/>
                <a:ea typeface="+mn-ea"/>
              </a:rPr>
              <a:t> </a:t>
            </a:r>
            <a:r>
              <a:rPr lang="zh-CN" altLang="en-US" b="0" kern="0" dirty="0">
                <a:latin typeface="+mn-ea"/>
                <a:ea typeface="+mn-ea"/>
              </a:rPr>
              <a:t>种，则</a:t>
            </a:r>
          </a:p>
        </p:txBody>
      </p:sp>
    </p:spTree>
    <p:extLst>
      <p:ext uri="{BB962C8B-B14F-4D97-AF65-F5344CB8AC3E}">
        <p14:creationId xmlns:p14="http://schemas.microsoft.com/office/powerpoint/2010/main" val="16455373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93CE476-4670-45F3-8FBE-219B1693A5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关于栈的进一步讨论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2BD26BF-035B-4894-8BD3-7BDC58841072}"/>
              </a:ext>
            </a:extLst>
          </p:cNvPr>
          <p:cNvSpPr txBox="1">
            <a:spLocks noChangeArrowheads="1"/>
          </p:cNvSpPr>
          <p:nvPr/>
        </p:nvSpPr>
        <p:spPr>
          <a:xfrm>
            <a:off x="251520" y="692696"/>
            <a:ext cx="8640960" cy="6093296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457200" indent="-457200" algn="l" rtl="0" eaLnBrk="0" fontAlgn="base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342900" indent="-342900" algn="l" rtl="0" eaLnBrk="0" fontAlgn="base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342900" indent="-342900" algn="l" rtl="0" eaLnBrk="0" fontAlgn="base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3pPr>
            <a:lvl4pPr marL="17145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lvl="1">
              <a:buClr>
                <a:schemeClr val="tx2"/>
              </a:buClr>
              <a:buFont typeface="Wingdings" panose="05000000000000000000" pitchFamily="2" charset="2"/>
              <a:buChar char="ü"/>
            </a:pPr>
            <a:r>
              <a:rPr lang="en-US" altLang="zh-CN" b="0" i="1" kern="0" dirty="0">
                <a:solidFill>
                  <a:srgbClr val="FF0000"/>
                </a:solidFill>
                <a:latin typeface="+mn-ea"/>
                <a:ea typeface="+mn-ea"/>
              </a:rPr>
              <a:t>n</a:t>
            </a:r>
            <a:r>
              <a:rPr lang="en-US" altLang="zh-CN" b="0" kern="0" dirty="0">
                <a:solidFill>
                  <a:srgbClr val="FF0000"/>
                </a:solidFill>
                <a:latin typeface="+mn-ea"/>
                <a:ea typeface="+mn-ea"/>
              </a:rPr>
              <a:t> = 0</a:t>
            </a:r>
            <a:r>
              <a:rPr lang="zh-CN" altLang="en-US" b="0" kern="0" dirty="0">
                <a:solidFill>
                  <a:srgbClr val="FF0000"/>
                </a:solidFill>
                <a:latin typeface="+mn-ea"/>
                <a:ea typeface="+mn-ea"/>
              </a:rPr>
              <a:t>时，</a:t>
            </a:r>
            <a:r>
              <a:rPr lang="en-US" altLang="zh-CN" b="0" i="1" kern="0" dirty="0">
                <a:solidFill>
                  <a:srgbClr val="FF0000"/>
                </a:solidFill>
                <a:latin typeface="+mn-ea"/>
                <a:ea typeface="+mn-ea"/>
              </a:rPr>
              <a:t>m</a:t>
            </a:r>
            <a:r>
              <a:rPr lang="en-US" altLang="zh-CN" b="0" kern="0" baseline="-25000" dirty="0">
                <a:solidFill>
                  <a:srgbClr val="FF0000"/>
                </a:solidFill>
                <a:latin typeface="+mn-ea"/>
                <a:ea typeface="+mn-ea"/>
              </a:rPr>
              <a:t>0</a:t>
            </a:r>
            <a:r>
              <a:rPr lang="en-US" altLang="zh-CN" b="0" kern="0" dirty="0">
                <a:solidFill>
                  <a:srgbClr val="FF0000"/>
                </a:solidFill>
                <a:latin typeface="+mn-ea"/>
                <a:ea typeface="+mn-ea"/>
              </a:rPr>
              <a:t> = 1</a:t>
            </a:r>
            <a:r>
              <a:rPr lang="en-US" altLang="zh-CN" b="0" kern="0" dirty="0">
                <a:latin typeface="+mn-ea"/>
                <a:ea typeface="+mn-ea"/>
              </a:rPr>
              <a:t>: </a:t>
            </a:r>
            <a:r>
              <a:rPr lang="zh-CN" altLang="en-US" b="0" kern="0" dirty="0">
                <a:latin typeface="+mn-ea"/>
                <a:ea typeface="+mn-ea"/>
              </a:rPr>
              <a:t>出栈序列为</a:t>
            </a:r>
            <a:r>
              <a:rPr lang="en-US" altLang="zh-CN" b="0" kern="0" dirty="0">
                <a:solidFill>
                  <a:schemeClr val="tx2"/>
                </a:solidFill>
                <a:latin typeface="+mn-ea"/>
                <a:ea typeface="+mn-ea"/>
              </a:rPr>
              <a:t>{}</a:t>
            </a:r>
            <a:r>
              <a:rPr lang="zh-CN" altLang="en-US" b="0" kern="0" dirty="0">
                <a:latin typeface="+mn-ea"/>
                <a:ea typeface="+mn-ea"/>
              </a:rPr>
              <a:t>。</a:t>
            </a:r>
          </a:p>
          <a:p>
            <a:pPr lvl="1">
              <a:buClr>
                <a:schemeClr val="tx2"/>
              </a:buClr>
              <a:buFont typeface="Wingdings" panose="05000000000000000000" pitchFamily="2" charset="2"/>
              <a:buChar char="ü"/>
            </a:pPr>
            <a:r>
              <a:rPr lang="en-US" altLang="zh-CN" b="0" i="1" kern="0" dirty="0">
                <a:solidFill>
                  <a:srgbClr val="FF0000"/>
                </a:solidFill>
                <a:latin typeface="+mn-ea"/>
                <a:ea typeface="+mn-ea"/>
              </a:rPr>
              <a:t>n</a:t>
            </a:r>
            <a:r>
              <a:rPr lang="en-US" altLang="zh-CN" b="0" kern="0" dirty="0">
                <a:solidFill>
                  <a:srgbClr val="FF0000"/>
                </a:solidFill>
                <a:latin typeface="+mn-ea"/>
                <a:ea typeface="+mn-ea"/>
              </a:rPr>
              <a:t> = 1</a:t>
            </a:r>
            <a:r>
              <a:rPr lang="zh-CN" altLang="en-US" b="0" kern="0" dirty="0">
                <a:solidFill>
                  <a:srgbClr val="FF0000"/>
                </a:solidFill>
                <a:latin typeface="+mn-ea"/>
                <a:ea typeface="+mn-ea"/>
              </a:rPr>
              <a:t>时，</a:t>
            </a:r>
            <a:r>
              <a:rPr lang="en-US" altLang="zh-CN" b="0" i="1" kern="0" dirty="0">
                <a:solidFill>
                  <a:srgbClr val="FF0000"/>
                </a:solidFill>
                <a:latin typeface="+mn-ea"/>
                <a:ea typeface="+mn-ea"/>
              </a:rPr>
              <a:t>m</a:t>
            </a:r>
            <a:r>
              <a:rPr lang="en-US" altLang="zh-CN" b="0" kern="0" baseline="-25000" dirty="0">
                <a:solidFill>
                  <a:srgbClr val="FF0000"/>
                </a:solidFill>
                <a:latin typeface="+mn-ea"/>
                <a:ea typeface="+mn-ea"/>
              </a:rPr>
              <a:t>1</a:t>
            </a:r>
            <a:r>
              <a:rPr lang="en-US" altLang="zh-CN" b="0" kern="0" dirty="0">
                <a:solidFill>
                  <a:srgbClr val="FF0000"/>
                </a:solidFill>
                <a:latin typeface="+mn-ea"/>
                <a:ea typeface="+mn-ea"/>
              </a:rPr>
              <a:t> = 1</a:t>
            </a:r>
            <a:r>
              <a:rPr lang="en-US" altLang="zh-CN" b="0" kern="0" dirty="0">
                <a:latin typeface="+mn-ea"/>
                <a:ea typeface="+mn-ea"/>
              </a:rPr>
              <a:t>: </a:t>
            </a:r>
            <a:r>
              <a:rPr lang="zh-CN" altLang="en-US" b="0" kern="0" dirty="0">
                <a:latin typeface="+mn-ea"/>
                <a:ea typeface="+mn-ea"/>
              </a:rPr>
              <a:t>出栈序列为</a:t>
            </a:r>
            <a:r>
              <a:rPr lang="en-US" altLang="zh-CN" b="0" kern="0" dirty="0">
                <a:solidFill>
                  <a:schemeClr val="tx2"/>
                </a:solidFill>
                <a:latin typeface="+mn-ea"/>
                <a:ea typeface="+mn-ea"/>
              </a:rPr>
              <a:t>{1}</a:t>
            </a:r>
            <a:r>
              <a:rPr lang="zh-CN" altLang="en-US" b="0" kern="0" dirty="0">
                <a:latin typeface="+mn-ea"/>
                <a:ea typeface="+mn-ea"/>
              </a:rPr>
              <a:t>。</a:t>
            </a:r>
          </a:p>
          <a:p>
            <a:pPr lvl="1">
              <a:buClr>
                <a:schemeClr val="tx2"/>
              </a:buClr>
              <a:buFont typeface="Wingdings" panose="05000000000000000000" pitchFamily="2" charset="2"/>
              <a:buChar char="ü"/>
            </a:pPr>
            <a:r>
              <a:rPr lang="en-US" altLang="zh-CN" b="0" i="1" kern="0" dirty="0">
                <a:solidFill>
                  <a:srgbClr val="FF0000"/>
                </a:solidFill>
                <a:latin typeface="+mn-ea"/>
                <a:ea typeface="+mn-ea"/>
              </a:rPr>
              <a:t>n</a:t>
            </a:r>
            <a:r>
              <a:rPr lang="en-US" altLang="zh-CN" b="0" kern="0" dirty="0">
                <a:solidFill>
                  <a:srgbClr val="FF0000"/>
                </a:solidFill>
                <a:latin typeface="+mn-ea"/>
                <a:ea typeface="+mn-ea"/>
              </a:rPr>
              <a:t> = 2</a:t>
            </a:r>
            <a:r>
              <a:rPr lang="zh-CN" altLang="en-US" b="0" kern="0" dirty="0">
                <a:solidFill>
                  <a:srgbClr val="FF0000"/>
                </a:solidFill>
                <a:latin typeface="+mn-ea"/>
                <a:ea typeface="+mn-ea"/>
              </a:rPr>
              <a:t>时，</a:t>
            </a:r>
            <a:r>
              <a:rPr lang="en-US" altLang="zh-CN" b="0" i="1" kern="0" dirty="0">
                <a:solidFill>
                  <a:srgbClr val="FF0000"/>
                </a:solidFill>
                <a:latin typeface="+mn-ea"/>
                <a:ea typeface="+mn-ea"/>
              </a:rPr>
              <a:t>m</a:t>
            </a:r>
            <a:r>
              <a:rPr lang="en-US" altLang="zh-CN" b="0" kern="0" baseline="-25000" dirty="0">
                <a:solidFill>
                  <a:srgbClr val="FF0000"/>
                </a:solidFill>
                <a:latin typeface="+mn-ea"/>
                <a:ea typeface="+mn-ea"/>
              </a:rPr>
              <a:t>2</a:t>
            </a:r>
            <a:r>
              <a:rPr lang="en-US" altLang="zh-CN" b="0" kern="0" dirty="0">
                <a:solidFill>
                  <a:srgbClr val="FF0000"/>
                </a:solidFill>
                <a:latin typeface="+mn-ea"/>
                <a:ea typeface="+mn-ea"/>
              </a:rPr>
              <a:t> = 2</a:t>
            </a:r>
            <a:r>
              <a:rPr lang="zh-CN" altLang="en-US" b="0" kern="0" dirty="0">
                <a:latin typeface="+mn-ea"/>
                <a:ea typeface="+mn-ea"/>
              </a:rPr>
              <a:t>：</a:t>
            </a:r>
            <a:endParaRPr lang="en-US" altLang="zh-CN" b="0" kern="0" baseline="-25000" dirty="0">
              <a:solidFill>
                <a:schemeClr val="tx2"/>
              </a:solidFill>
              <a:latin typeface="+mn-ea"/>
              <a:ea typeface="+mn-ea"/>
            </a:endParaRPr>
          </a:p>
          <a:p>
            <a:pPr marL="648000" lvl="2">
              <a:buClr>
                <a:schemeClr val="tx2"/>
              </a:buClr>
            </a:pPr>
            <a:r>
              <a:rPr lang="zh-CN" altLang="en-US" b="0" kern="0" dirty="0">
                <a:latin typeface="+mn-ea"/>
                <a:ea typeface="+mn-ea"/>
              </a:rPr>
              <a:t>出栈序列中</a:t>
            </a:r>
            <a:r>
              <a:rPr lang="en-US" altLang="zh-CN" b="0" kern="0" dirty="0">
                <a:latin typeface="+mn-ea"/>
                <a:ea typeface="+mn-ea"/>
              </a:rPr>
              <a:t>1</a:t>
            </a:r>
            <a:r>
              <a:rPr lang="zh-CN" altLang="en-US" b="0" kern="0" dirty="0">
                <a:latin typeface="+mn-ea"/>
                <a:ea typeface="+mn-ea"/>
              </a:rPr>
              <a:t>在首位，</a:t>
            </a:r>
            <a:r>
              <a:rPr lang="en-US" altLang="zh-CN" b="0" kern="0" dirty="0">
                <a:latin typeface="+mn-ea"/>
                <a:ea typeface="+mn-ea"/>
              </a:rPr>
              <a:t>1</a:t>
            </a:r>
            <a:r>
              <a:rPr lang="zh-CN" altLang="en-US" b="0" kern="0" dirty="0">
                <a:latin typeface="+mn-ea"/>
                <a:ea typeface="+mn-ea"/>
              </a:rPr>
              <a:t>左侧有</a:t>
            </a:r>
            <a:r>
              <a:rPr lang="en-US" altLang="zh-CN" b="0" kern="0" dirty="0">
                <a:latin typeface="+mn-ea"/>
                <a:ea typeface="+mn-ea"/>
              </a:rPr>
              <a:t>0</a:t>
            </a:r>
            <a:r>
              <a:rPr lang="zh-CN" altLang="en-US" b="0" kern="0" dirty="0">
                <a:latin typeface="+mn-ea"/>
                <a:ea typeface="+mn-ea"/>
              </a:rPr>
              <a:t>个数，右侧有</a:t>
            </a:r>
            <a:r>
              <a:rPr lang="en-US" altLang="zh-CN" b="0" kern="0" dirty="0">
                <a:latin typeface="+mn-ea"/>
                <a:ea typeface="+mn-ea"/>
              </a:rPr>
              <a:t>1</a:t>
            </a:r>
            <a:r>
              <a:rPr lang="zh-CN" altLang="en-US" b="0" kern="0" dirty="0">
                <a:latin typeface="+mn-ea"/>
                <a:ea typeface="+mn-ea"/>
              </a:rPr>
              <a:t>个数，有</a:t>
            </a:r>
            <a:r>
              <a:rPr lang="en-US" altLang="zh-CN" b="0" kern="0" dirty="0">
                <a:solidFill>
                  <a:schemeClr val="tx2"/>
                </a:solidFill>
                <a:latin typeface="+mn-ea"/>
                <a:ea typeface="+mn-ea"/>
              </a:rPr>
              <a:t>m</a:t>
            </a:r>
            <a:r>
              <a:rPr lang="en-US" altLang="zh-CN" b="0" kern="0" baseline="-25000" dirty="0">
                <a:solidFill>
                  <a:schemeClr val="tx2"/>
                </a:solidFill>
                <a:latin typeface="+mn-ea"/>
                <a:ea typeface="+mn-ea"/>
              </a:rPr>
              <a:t>0</a:t>
            </a:r>
            <a:r>
              <a:rPr lang="en-US" altLang="zh-CN" b="0" kern="0" dirty="0">
                <a:solidFill>
                  <a:schemeClr val="tx2"/>
                </a:solidFill>
                <a:latin typeface="+mn-ea"/>
                <a:ea typeface="+mn-ea"/>
              </a:rPr>
              <a:t>*m</a:t>
            </a:r>
            <a:r>
              <a:rPr lang="en-US" altLang="zh-CN" b="0" kern="0" baseline="-25000" dirty="0">
                <a:solidFill>
                  <a:schemeClr val="tx2"/>
                </a:solidFill>
                <a:latin typeface="+mn-ea"/>
                <a:ea typeface="+mn-ea"/>
              </a:rPr>
              <a:t>1 </a:t>
            </a:r>
            <a:r>
              <a:rPr lang="en-US" altLang="zh-CN" b="0" kern="0" dirty="0">
                <a:solidFill>
                  <a:schemeClr val="tx2"/>
                </a:solidFill>
                <a:latin typeface="+mn-ea"/>
                <a:ea typeface="+mn-ea"/>
              </a:rPr>
              <a:t>= 1</a:t>
            </a:r>
            <a:r>
              <a:rPr lang="zh-CN" altLang="en-US" b="0" kern="0" dirty="0">
                <a:latin typeface="+mn-ea"/>
                <a:ea typeface="+mn-ea"/>
              </a:rPr>
              <a:t>种出栈序列：</a:t>
            </a:r>
            <a:r>
              <a:rPr lang="en-US" altLang="zh-CN" b="0" kern="0" dirty="0">
                <a:solidFill>
                  <a:schemeClr val="tx2"/>
                </a:solidFill>
                <a:latin typeface="+mn-ea"/>
                <a:ea typeface="+mn-ea"/>
              </a:rPr>
              <a:t>{1,2}</a:t>
            </a:r>
            <a:r>
              <a:rPr lang="zh-CN" altLang="en-US" b="0" kern="0" dirty="0">
                <a:latin typeface="+mn-ea"/>
                <a:ea typeface="+mn-ea"/>
              </a:rPr>
              <a:t>。</a:t>
            </a:r>
            <a:endParaRPr lang="en-US" altLang="zh-CN" b="0" kern="0" dirty="0">
              <a:latin typeface="+mn-ea"/>
              <a:ea typeface="+mn-ea"/>
            </a:endParaRPr>
          </a:p>
          <a:p>
            <a:pPr marL="648000" lvl="2">
              <a:buClr>
                <a:schemeClr val="tx2"/>
              </a:buClr>
            </a:pPr>
            <a:r>
              <a:rPr lang="zh-CN" altLang="en-US" b="0" kern="0" dirty="0">
                <a:latin typeface="+mn-ea"/>
                <a:ea typeface="+mn-ea"/>
              </a:rPr>
              <a:t>出栈序列中</a:t>
            </a:r>
            <a:r>
              <a:rPr lang="en-US" altLang="zh-CN" b="0" kern="0" dirty="0">
                <a:latin typeface="+mn-ea"/>
                <a:ea typeface="+mn-ea"/>
              </a:rPr>
              <a:t>1</a:t>
            </a:r>
            <a:r>
              <a:rPr lang="zh-CN" altLang="en-US" b="0" kern="0" dirty="0">
                <a:latin typeface="+mn-ea"/>
                <a:ea typeface="+mn-ea"/>
              </a:rPr>
              <a:t>在末位，</a:t>
            </a:r>
            <a:r>
              <a:rPr lang="en-US" altLang="zh-CN" b="0" kern="0" dirty="0">
                <a:latin typeface="+mn-ea"/>
                <a:ea typeface="+mn-ea"/>
              </a:rPr>
              <a:t>1</a:t>
            </a:r>
            <a:r>
              <a:rPr lang="zh-CN" altLang="en-US" b="0" kern="0" dirty="0">
                <a:latin typeface="+mn-ea"/>
                <a:ea typeface="+mn-ea"/>
              </a:rPr>
              <a:t>左侧有</a:t>
            </a:r>
            <a:r>
              <a:rPr lang="en-US" altLang="zh-CN" b="0" kern="0" dirty="0">
                <a:latin typeface="+mn-ea"/>
                <a:ea typeface="+mn-ea"/>
              </a:rPr>
              <a:t>1</a:t>
            </a:r>
            <a:r>
              <a:rPr lang="zh-CN" altLang="en-US" b="0" kern="0" dirty="0">
                <a:latin typeface="+mn-ea"/>
                <a:ea typeface="+mn-ea"/>
              </a:rPr>
              <a:t>个数，右侧有</a:t>
            </a:r>
            <a:r>
              <a:rPr lang="en-US" altLang="zh-CN" b="0" kern="0" dirty="0">
                <a:latin typeface="+mn-ea"/>
                <a:ea typeface="+mn-ea"/>
              </a:rPr>
              <a:t>0</a:t>
            </a:r>
            <a:r>
              <a:rPr lang="zh-CN" altLang="en-US" b="0" kern="0" dirty="0">
                <a:latin typeface="+mn-ea"/>
                <a:ea typeface="+mn-ea"/>
              </a:rPr>
              <a:t>个数，有</a:t>
            </a:r>
            <a:r>
              <a:rPr lang="en-US" altLang="zh-CN" b="0" kern="0" dirty="0">
                <a:solidFill>
                  <a:schemeClr val="tx2"/>
                </a:solidFill>
                <a:latin typeface="+mn-ea"/>
                <a:ea typeface="+mn-ea"/>
              </a:rPr>
              <a:t>m</a:t>
            </a:r>
            <a:r>
              <a:rPr lang="en-US" altLang="zh-CN" b="0" kern="0" baseline="-25000" dirty="0">
                <a:solidFill>
                  <a:schemeClr val="tx2"/>
                </a:solidFill>
                <a:latin typeface="+mn-ea"/>
                <a:ea typeface="+mn-ea"/>
              </a:rPr>
              <a:t>1</a:t>
            </a:r>
            <a:r>
              <a:rPr lang="en-US" altLang="zh-CN" b="0" kern="0" dirty="0">
                <a:solidFill>
                  <a:schemeClr val="tx2"/>
                </a:solidFill>
                <a:latin typeface="+mn-ea"/>
                <a:ea typeface="+mn-ea"/>
              </a:rPr>
              <a:t>*m</a:t>
            </a:r>
            <a:r>
              <a:rPr lang="en-US" altLang="zh-CN" b="0" kern="0" baseline="-25000" dirty="0">
                <a:solidFill>
                  <a:schemeClr val="tx2"/>
                </a:solidFill>
                <a:latin typeface="+mn-ea"/>
                <a:ea typeface="+mn-ea"/>
              </a:rPr>
              <a:t>0</a:t>
            </a:r>
            <a:r>
              <a:rPr lang="en-US" altLang="zh-CN" b="0" kern="0" dirty="0">
                <a:latin typeface="+mn-ea"/>
                <a:ea typeface="+mn-ea"/>
              </a:rPr>
              <a:t> </a:t>
            </a:r>
            <a:r>
              <a:rPr lang="en-US" altLang="zh-CN" b="0" kern="0" dirty="0">
                <a:solidFill>
                  <a:schemeClr val="tx2"/>
                </a:solidFill>
                <a:latin typeface="+mn-ea"/>
                <a:ea typeface="+mn-ea"/>
              </a:rPr>
              <a:t>= 1</a:t>
            </a:r>
            <a:r>
              <a:rPr lang="zh-CN" altLang="en-US" b="0" kern="0" dirty="0">
                <a:latin typeface="+mn-ea"/>
                <a:ea typeface="+mn-ea"/>
              </a:rPr>
              <a:t>种出栈序列：</a:t>
            </a:r>
            <a:r>
              <a:rPr lang="en-US" altLang="zh-CN" b="0" kern="0" dirty="0">
                <a:solidFill>
                  <a:schemeClr val="tx2"/>
                </a:solidFill>
                <a:latin typeface="+mn-ea"/>
                <a:ea typeface="+mn-ea"/>
              </a:rPr>
              <a:t>{2,1}</a:t>
            </a:r>
            <a:r>
              <a:rPr lang="zh-CN" altLang="en-US" b="0" kern="0" dirty="0">
                <a:latin typeface="+mn-ea"/>
                <a:ea typeface="+mn-ea"/>
              </a:rPr>
              <a:t>。</a:t>
            </a:r>
            <a:endParaRPr lang="en-US" altLang="zh-CN" b="0" kern="0" dirty="0">
              <a:latin typeface="+mn-ea"/>
              <a:ea typeface="+mn-ea"/>
            </a:endParaRPr>
          </a:p>
          <a:p>
            <a:pPr marL="648000" lvl="2">
              <a:buClr>
                <a:schemeClr val="tx2"/>
              </a:buClr>
            </a:pPr>
            <a:r>
              <a:rPr lang="zh-CN" altLang="en-US" b="0" kern="0" dirty="0">
                <a:latin typeface="+mn-ea"/>
                <a:ea typeface="+mn-ea"/>
              </a:rPr>
              <a:t>可能出栈序列有 </a:t>
            </a:r>
            <a:r>
              <a:rPr lang="en-US" altLang="zh-CN" b="0" kern="0" dirty="0">
                <a:solidFill>
                  <a:srgbClr val="0000FF"/>
                </a:solidFill>
                <a:latin typeface="+mn-ea"/>
                <a:ea typeface="+mn-ea"/>
              </a:rPr>
              <a:t>m</a:t>
            </a:r>
            <a:r>
              <a:rPr lang="en-US" altLang="zh-CN" b="0" kern="0" baseline="-25000" dirty="0">
                <a:solidFill>
                  <a:srgbClr val="0000FF"/>
                </a:solidFill>
                <a:latin typeface="+mn-ea"/>
                <a:ea typeface="+mn-ea"/>
              </a:rPr>
              <a:t>0</a:t>
            </a:r>
            <a:r>
              <a:rPr lang="en-US" altLang="zh-CN" b="0" kern="0" dirty="0">
                <a:solidFill>
                  <a:srgbClr val="0000FF"/>
                </a:solidFill>
                <a:latin typeface="+mn-ea"/>
                <a:ea typeface="+mn-ea"/>
              </a:rPr>
              <a:t>*m</a:t>
            </a:r>
            <a:r>
              <a:rPr lang="en-US" altLang="zh-CN" b="0" kern="0" baseline="-25000" dirty="0">
                <a:solidFill>
                  <a:srgbClr val="0000FF"/>
                </a:solidFill>
                <a:latin typeface="+mn-ea"/>
                <a:ea typeface="+mn-ea"/>
              </a:rPr>
              <a:t>1</a:t>
            </a:r>
            <a:r>
              <a:rPr lang="en-US" altLang="zh-CN" b="0" kern="0" dirty="0">
                <a:solidFill>
                  <a:srgbClr val="0000FF"/>
                </a:solidFill>
                <a:latin typeface="+mn-ea"/>
                <a:ea typeface="+mn-ea"/>
              </a:rPr>
              <a:t>+m</a:t>
            </a:r>
            <a:r>
              <a:rPr lang="en-US" altLang="zh-CN" b="0" kern="0" baseline="-25000" dirty="0">
                <a:solidFill>
                  <a:srgbClr val="0000FF"/>
                </a:solidFill>
                <a:latin typeface="+mn-ea"/>
                <a:ea typeface="+mn-ea"/>
              </a:rPr>
              <a:t>1</a:t>
            </a:r>
            <a:r>
              <a:rPr lang="en-US" altLang="zh-CN" b="0" kern="0" dirty="0">
                <a:solidFill>
                  <a:srgbClr val="0000FF"/>
                </a:solidFill>
                <a:latin typeface="+mn-ea"/>
                <a:ea typeface="+mn-ea"/>
              </a:rPr>
              <a:t>*m</a:t>
            </a:r>
            <a:r>
              <a:rPr lang="en-US" altLang="zh-CN" b="0" kern="0" baseline="-25000" dirty="0">
                <a:solidFill>
                  <a:srgbClr val="0000FF"/>
                </a:solidFill>
                <a:latin typeface="+mn-ea"/>
                <a:ea typeface="+mn-ea"/>
              </a:rPr>
              <a:t>0 </a:t>
            </a:r>
            <a:r>
              <a:rPr lang="en-US" altLang="zh-CN" b="0" kern="0" dirty="0">
                <a:solidFill>
                  <a:schemeClr val="tx2"/>
                </a:solidFill>
                <a:latin typeface="+mn-ea"/>
                <a:ea typeface="+mn-ea"/>
              </a:rPr>
              <a:t>= </a:t>
            </a:r>
            <a:r>
              <a:rPr lang="en-US" altLang="zh-CN" b="0" kern="0" dirty="0">
                <a:solidFill>
                  <a:srgbClr val="0000FF"/>
                </a:solidFill>
                <a:latin typeface="+mn-ea"/>
                <a:ea typeface="+mn-ea"/>
              </a:rPr>
              <a:t>2</a:t>
            </a:r>
            <a:r>
              <a:rPr lang="en-US" altLang="zh-CN" b="0" kern="0" dirty="0">
                <a:solidFill>
                  <a:schemeClr val="tx2"/>
                </a:solidFill>
                <a:latin typeface="+mn-ea"/>
                <a:ea typeface="+mn-ea"/>
              </a:rPr>
              <a:t> </a:t>
            </a:r>
            <a:r>
              <a:rPr lang="zh-CN" altLang="en-US" b="0" kern="0" dirty="0">
                <a:latin typeface="+mn-ea"/>
                <a:ea typeface="+mn-ea"/>
              </a:rPr>
              <a:t>种。</a:t>
            </a:r>
          </a:p>
          <a:p>
            <a:pPr lvl="1">
              <a:buClr>
                <a:schemeClr val="tx2"/>
              </a:buClr>
              <a:buFont typeface="Wingdings" panose="05000000000000000000" pitchFamily="2" charset="2"/>
              <a:buChar char="ü"/>
            </a:pPr>
            <a:r>
              <a:rPr lang="en-US" altLang="zh-CN" b="0" i="1" kern="0" dirty="0">
                <a:solidFill>
                  <a:srgbClr val="FF0000"/>
                </a:solidFill>
                <a:latin typeface="+mn-ea"/>
                <a:ea typeface="+mn-ea"/>
              </a:rPr>
              <a:t>n</a:t>
            </a:r>
            <a:r>
              <a:rPr lang="en-US" altLang="zh-CN" b="0" kern="0" dirty="0">
                <a:solidFill>
                  <a:srgbClr val="FF0000"/>
                </a:solidFill>
                <a:latin typeface="+mn-ea"/>
                <a:ea typeface="+mn-ea"/>
              </a:rPr>
              <a:t> = 3</a:t>
            </a:r>
            <a:r>
              <a:rPr lang="zh-CN" altLang="en-US" b="0" kern="0" dirty="0">
                <a:solidFill>
                  <a:srgbClr val="FF0000"/>
                </a:solidFill>
                <a:latin typeface="+mn-ea"/>
                <a:ea typeface="+mn-ea"/>
              </a:rPr>
              <a:t>时，</a:t>
            </a:r>
            <a:r>
              <a:rPr lang="en-US" altLang="zh-CN" b="0" i="1" kern="0" dirty="0">
                <a:solidFill>
                  <a:srgbClr val="FF0000"/>
                </a:solidFill>
                <a:latin typeface="+mn-ea"/>
                <a:ea typeface="+mn-ea"/>
              </a:rPr>
              <a:t>m</a:t>
            </a:r>
            <a:r>
              <a:rPr lang="en-US" altLang="zh-CN" b="0" kern="0" baseline="-25000" dirty="0">
                <a:solidFill>
                  <a:srgbClr val="FF0000"/>
                </a:solidFill>
                <a:latin typeface="+mn-ea"/>
                <a:ea typeface="+mn-ea"/>
              </a:rPr>
              <a:t>3</a:t>
            </a:r>
            <a:r>
              <a:rPr lang="en-US" altLang="zh-CN" b="0" kern="0" dirty="0">
                <a:solidFill>
                  <a:srgbClr val="FF0000"/>
                </a:solidFill>
                <a:latin typeface="+mn-ea"/>
                <a:ea typeface="+mn-ea"/>
              </a:rPr>
              <a:t> = 5</a:t>
            </a:r>
            <a:r>
              <a:rPr lang="en-US" altLang="zh-CN" b="0" kern="0" dirty="0">
                <a:latin typeface="+mn-ea"/>
                <a:ea typeface="+mn-ea"/>
              </a:rPr>
              <a:t>:</a:t>
            </a:r>
            <a:endParaRPr lang="en-US" altLang="zh-CN" b="0" kern="0" baseline="-25000" dirty="0">
              <a:solidFill>
                <a:schemeClr val="tx2"/>
              </a:solidFill>
              <a:latin typeface="+mn-ea"/>
              <a:ea typeface="+mn-ea"/>
            </a:endParaRPr>
          </a:p>
          <a:p>
            <a:pPr marL="648000" lvl="2">
              <a:buClr>
                <a:schemeClr val="tx2"/>
              </a:buClr>
              <a:buFont typeface="Wingdings" panose="05000000000000000000" pitchFamily="2" charset="2"/>
              <a:buChar char="ü"/>
            </a:pPr>
            <a:r>
              <a:rPr lang="zh-CN" altLang="en-US" b="0" kern="0" dirty="0">
                <a:latin typeface="+mn-ea"/>
                <a:ea typeface="+mn-ea"/>
              </a:rPr>
              <a:t>出栈序列中</a:t>
            </a:r>
            <a:r>
              <a:rPr lang="en-US" altLang="zh-CN" b="0" kern="0" dirty="0">
                <a:latin typeface="+mn-ea"/>
                <a:ea typeface="+mn-ea"/>
              </a:rPr>
              <a:t>1</a:t>
            </a:r>
            <a:r>
              <a:rPr lang="zh-CN" altLang="en-US" b="0" kern="0" dirty="0">
                <a:latin typeface="+mn-ea"/>
                <a:ea typeface="+mn-ea"/>
              </a:rPr>
              <a:t>在首位，</a:t>
            </a:r>
            <a:r>
              <a:rPr lang="en-US" altLang="zh-CN" b="0" kern="0" dirty="0">
                <a:latin typeface="+mn-ea"/>
                <a:ea typeface="+mn-ea"/>
              </a:rPr>
              <a:t>1</a:t>
            </a:r>
            <a:r>
              <a:rPr lang="zh-CN" altLang="en-US" b="0" kern="0" dirty="0">
                <a:latin typeface="+mn-ea"/>
                <a:ea typeface="+mn-ea"/>
              </a:rPr>
              <a:t>左侧有</a:t>
            </a:r>
            <a:r>
              <a:rPr lang="en-US" altLang="zh-CN" b="0" kern="0" dirty="0">
                <a:latin typeface="+mn-ea"/>
                <a:ea typeface="+mn-ea"/>
              </a:rPr>
              <a:t>0</a:t>
            </a:r>
            <a:r>
              <a:rPr lang="zh-CN" altLang="en-US" b="0" kern="0" dirty="0">
                <a:latin typeface="+mn-ea"/>
                <a:ea typeface="+mn-ea"/>
              </a:rPr>
              <a:t>个数，右侧有</a:t>
            </a:r>
            <a:r>
              <a:rPr lang="en-US" altLang="zh-CN" b="0" kern="0" dirty="0">
                <a:latin typeface="+mn-ea"/>
                <a:ea typeface="+mn-ea"/>
              </a:rPr>
              <a:t>2</a:t>
            </a:r>
            <a:r>
              <a:rPr lang="zh-CN" altLang="en-US" b="0" kern="0" dirty="0">
                <a:latin typeface="+mn-ea"/>
                <a:ea typeface="+mn-ea"/>
              </a:rPr>
              <a:t>个数，有</a:t>
            </a:r>
            <a:r>
              <a:rPr lang="en-US" altLang="zh-CN" b="0" kern="0" dirty="0">
                <a:solidFill>
                  <a:schemeClr val="tx2"/>
                </a:solidFill>
                <a:latin typeface="+mn-ea"/>
                <a:ea typeface="+mn-ea"/>
              </a:rPr>
              <a:t>m</a:t>
            </a:r>
            <a:r>
              <a:rPr lang="en-US" altLang="zh-CN" b="0" kern="0" baseline="-25000" dirty="0">
                <a:solidFill>
                  <a:schemeClr val="tx2"/>
                </a:solidFill>
                <a:latin typeface="+mn-ea"/>
                <a:ea typeface="+mn-ea"/>
              </a:rPr>
              <a:t>0</a:t>
            </a:r>
            <a:r>
              <a:rPr lang="en-US" altLang="zh-CN" b="0" kern="0" dirty="0">
                <a:solidFill>
                  <a:schemeClr val="tx2"/>
                </a:solidFill>
                <a:latin typeface="+mn-ea"/>
                <a:ea typeface="+mn-ea"/>
              </a:rPr>
              <a:t>*m</a:t>
            </a:r>
            <a:r>
              <a:rPr lang="en-US" altLang="zh-CN" b="0" kern="0" baseline="-25000" dirty="0">
                <a:solidFill>
                  <a:schemeClr val="tx2"/>
                </a:solidFill>
                <a:latin typeface="+mn-ea"/>
                <a:ea typeface="+mn-ea"/>
              </a:rPr>
              <a:t>2 </a:t>
            </a:r>
            <a:r>
              <a:rPr lang="en-US" altLang="zh-CN" b="0" kern="0" dirty="0">
                <a:solidFill>
                  <a:schemeClr val="tx2"/>
                </a:solidFill>
                <a:latin typeface="+mn-ea"/>
                <a:ea typeface="+mn-ea"/>
              </a:rPr>
              <a:t>= 2</a:t>
            </a:r>
            <a:r>
              <a:rPr lang="zh-CN" altLang="en-US" b="0" kern="0" dirty="0">
                <a:latin typeface="+mn-ea"/>
                <a:ea typeface="+mn-ea"/>
              </a:rPr>
              <a:t>种出栈序列：</a:t>
            </a:r>
            <a:r>
              <a:rPr lang="en-US" altLang="zh-CN" b="0" kern="0" dirty="0">
                <a:solidFill>
                  <a:schemeClr val="tx2"/>
                </a:solidFill>
                <a:latin typeface="+mn-ea"/>
                <a:ea typeface="+mn-ea"/>
              </a:rPr>
              <a:t>{1,2,3}, {1,3,2}</a:t>
            </a:r>
            <a:r>
              <a:rPr lang="zh-CN" altLang="en-US" b="0" kern="0" dirty="0">
                <a:solidFill>
                  <a:schemeClr val="tx2"/>
                </a:solidFill>
                <a:latin typeface="+mn-ea"/>
                <a:ea typeface="+mn-ea"/>
              </a:rPr>
              <a:t>。</a:t>
            </a:r>
            <a:endParaRPr lang="en-US" altLang="zh-CN" b="0" kern="0" dirty="0">
              <a:latin typeface="+mn-ea"/>
              <a:ea typeface="+mn-ea"/>
            </a:endParaRPr>
          </a:p>
        </p:txBody>
      </p:sp>
      <p:sp>
        <p:nvSpPr>
          <p:cNvPr id="5" name="Line 8">
            <a:extLst>
              <a:ext uri="{FF2B5EF4-FFF2-40B4-BE49-F238E27FC236}">
                <a16:creationId xmlns:a16="http://schemas.microsoft.com/office/drawing/2014/main" id="{E55CC7BF-C39E-4297-8719-C264CBBCE09F}"/>
              </a:ext>
            </a:extLst>
          </p:cNvPr>
          <p:cNvSpPr>
            <a:spLocks noChangeShapeType="1"/>
          </p:cNvSpPr>
          <p:nvPr/>
        </p:nvSpPr>
        <p:spPr bwMode="auto">
          <a:xfrm>
            <a:off x="251520" y="1305100"/>
            <a:ext cx="8460680" cy="0"/>
          </a:xfrm>
          <a:prstGeom prst="line">
            <a:avLst/>
          </a:prstGeom>
          <a:noFill/>
          <a:ln w="28575">
            <a:solidFill>
              <a:srgbClr val="008000"/>
            </a:solidFill>
            <a:round/>
            <a:headEnd type="none" w="lg" len="lg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" name="Line 9">
            <a:extLst>
              <a:ext uri="{FF2B5EF4-FFF2-40B4-BE49-F238E27FC236}">
                <a16:creationId xmlns:a16="http://schemas.microsoft.com/office/drawing/2014/main" id="{4F04FBD2-AF9C-4171-8B4B-E340CF7E19B4}"/>
              </a:ext>
            </a:extLst>
          </p:cNvPr>
          <p:cNvSpPr>
            <a:spLocks noChangeShapeType="1"/>
          </p:cNvSpPr>
          <p:nvPr/>
        </p:nvSpPr>
        <p:spPr bwMode="auto">
          <a:xfrm>
            <a:off x="251520" y="1844825"/>
            <a:ext cx="8460680" cy="0"/>
          </a:xfrm>
          <a:prstGeom prst="line">
            <a:avLst/>
          </a:prstGeom>
          <a:noFill/>
          <a:ln w="28575">
            <a:solidFill>
              <a:srgbClr val="008000"/>
            </a:solidFill>
            <a:round/>
            <a:headEnd type="none" w="lg" len="lg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" name="Line 10">
            <a:extLst>
              <a:ext uri="{FF2B5EF4-FFF2-40B4-BE49-F238E27FC236}">
                <a16:creationId xmlns:a16="http://schemas.microsoft.com/office/drawing/2014/main" id="{BA0447C7-E1BF-4FCB-92C1-BB7A70688A2F}"/>
              </a:ext>
            </a:extLst>
          </p:cNvPr>
          <p:cNvSpPr>
            <a:spLocks noChangeShapeType="1"/>
          </p:cNvSpPr>
          <p:nvPr/>
        </p:nvSpPr>
        <p:spPr bwMode="auto">
          <a:xfrm>
            <a:off x="251520" y="5141016"/>
            <a:ext cx="8460680" cy="16176"/>
          </a:xfrm>
          <a:prstGeom prst="line">
            <a:avLst/>
          </a:prstGeom>
          <a:noFill/>
          <a:ln w="28575">
            <a:solidFill>
              <a:srgbClr val="008000"/>
            </a:solidFill>
            <a:round/>
            <a:headEnd type="none" w="lg" len="lg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220356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93CE476-4670-45F3-8FBE-219B1693A5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关于栈的进一步讨论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2BD26BF-035B-4894-8BD3-7BDC58841072}"/>
              </a:ext>
            </a:extLst>
          </p:cNvPr>
          <p:cNvSpPr txBox="1">
            <a:spLocks noChangeArrowheads="1"/>
          </p:cNvSpPr>
          <p:nvPr/>
        </p:nvSpPr>
        <p:spPr>
          <a:xfrm>
            <a:off x="251520" y="692696"/>
            <a:ext cx="8640960" cy="6093296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457200" indent="-457200" algn="l" rtl="0" eaLnBrk="0" fontAlgn="base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342900" indent="-342900" algn="l" rtl="0" eaLnBrk="0" fontAlgn="base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342900" indent="-342900" algn="l" rtl="0" eaLnBrk="0" fontAlgn="base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3pPr>
            <a:lvl4pPr marL="17145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648000" lvl="2">
              <a:buClr>
                <a:schemeClr val="tx2"/>
              </a:buClr>
            </a:pPr>
            <a:r>
              <a:rPr lang="zh-CN" altLang="en-US" b="0" kern="0" dirty="0">
                <a:latin typeface="+mn-ea"/>
                <a:ea typeface="+mn-ea"/>
              </a:rPr>
              <a:t>出栈序列中</a:t>
            </a:r>
            <a:r>
              <a:rPr lang="en-US" altLang="zh-CN" b="0" kern="0" dirty="0">
                <a:latin typeface="+mn-ea"/>
                <a:ea typeface="+mn-ea"/>
              </a:rPr>
              <a:t>1</a:t>
            </a:r>
            <a:r>
              <a:rPr lang="zh-CN" altLang="en-US" b="0" kern="0" dirty="0">
                <a:latin typeface="+mn-ea"/>
                <a:ea typeface="+mn-ea"/>
              </a:rPr>
              <a:t>在第 </a:t>
            </a:r>
            <a:r>
              <a:rPr lang="en-US" altLang="zh-CN" b="0" kern="0" dirty="0">
                <a:latin typeface="+mn-ea"/>
                <a:ea typeface="+mn-ea"/>
              </a:rPr>
              <a:t>2 </a:t>
            </a:r>
            <a:r>
              <a:rPr lang="zh-CN" altLang="en-US" b="0" kern="0" dirty="0">
                <a:latin typeface="+mn-ea"/>
                <a:ea typeface="+mn-ea"/>
              </a:rPr>
              <a:t>位，</a:t>
            </a:r>
            <a:r>
              <a:rPr lang="en-US" altLang="zh-CN" b="0" kern="0" dirty="0">
                <a:latin typeface="+mn-ea"/>
                <a:ea typeface="+mn-ea"/>
              </a:rPr>
              <a:t>1</a:t>
            </a:r>
            <a:r>
              <a:rPr lang="zh-CN" altLang="en-US" b="0" kern="0" dirty="0">
                <a:latin typeface="+mn-ea"/>
                <a:ea typeface="+mn-ea"/>
              </a:rPr>
              <a:t>左侧</a:t>
            </a:r>
            <a:r>
              <a:rPr lang="en-US" altLang="zh-CN" b="0" kern="0" dirty="0">
                <a:latin typeface="+mn-ea"/>
                <a:ea typeface="+mn-ea"/>
              </a:rPr>
              <a:t>1</a:t>
            </a:r>
            <a:r>
              <a:rPr lang="zh-CN" altLang="en-US" b="0" kern="0" dirty="0">
                <a:latin typeface="+mn-ea"/>
                <a:ea typeface="+mn-ea"/>
              </a:rPr>
              <a:t>个数，右侧</a:t>
            </a:r>
            <a:r>
              <a:rPr lang="en-US" altLang="zh-CN" b="0" kern="0" dirty="0">
                <a:latin typeface="+mn-ea"/>
                <a:ea typeface="+mn-ea"/>
              </a:rPr>
              <a:t>1</a:t>
            </a:r>
            <a:r>
              <a:rPr lang="zh-CN" altLang="en-US" b="0" kern="0" dirty="0">
                <a:latin typeface="+mn-ea"/>
                <a:ea typeface="+mn-ea"/>
              </a:rPr>
              <a:t>个数，有</a:t>
            </a:r>
            <a:r>
              <a:rPr lang="en-US" altLang="zh-CN" b="0" kern="0" dirty="0">
                <a:latin typeface="+mn-ea"/>
                <a:ea typeface="+mn-ea"/>
              </a:rPr>
              <a:t>m</a:t>
            </a:r>
            <a:r>
              <a:rPr lang="en-US" altLang="zh-CN" b="0" kern="0" baseline="-25000" dirty="0">
                <a:latin typeface="+mn-ea"/>
                <a:ea typeface="+mn-ea"/>
              </a:rPr>
              <a:t>1</a:t>
            </a:r>
            <a:r>
              <a:rPr lang="en-US" altLang="zh-CN" b="0" kern="0" dirty="0">
                <a:latin typeface="+mn-ea"/>
                <a:ea typeface="+mn-ea"/>
              </a:rPr>
              <a:t>*m</a:t>
            </a:r>
            <a:r>
              <a:rPr lang="en-US" altLang="zh-CN" b="0" kern="0" baseline="-25000" dirty="0">
                <a:latin typeface="+mn-ea"/>
                <a:ea typeface="+mn-ea"/>
              </a:rPr>
              <a:t>1</a:t>
            </a:r>
            <a:r>
              <a:rPr lang="en-US" altLang="zh-CN" b="0" kern="0" dirty="0">
                <a:latin typeface="+mn-ea"/>
                <a:ea typeface="+mn-ea"/>
              </a:rPr>
              <a:t> = 1 </a:t>
            </a:r>
            <a:r>
              <a:rPr lang="zh-CN" altLang="en-US" b="0" kern="0" dirty="0">
                <a:latin typeface="+mn-ea"/>
                <a:ea typeface="+mn-ea"/>
              </a:rPr>
              <a:t>种出栈序列：</a:t>
            </a:r>
            <a:r>
              <a:rPr lang="en-US" altLang="zh-CN" b="0" kern="0" dirty="0">
                <a:latin typeface="+mn-ea"/>
                <a:ea typeface="+mn-ea"/>
              </a:rPr>
              <a:t>{2,1,3}</a:t>
            </a:r>
            <a:r>
              <a:rPr lang="zh-CN" altLang="en-US" b="0" kern="0" dirty="0">
                <a:latin typeface="+mn-ea"/>
                <a:ea typeface="+mn-ea"/>
              </a:rPr>
              <a:t>。</a:t>
            </a:r>
          </a:p>
          <a:p>
            <a:pPr marL="648000" lvl="2">
              <a:buClr>
                <a:schemeClr val="tx2"/>
              </a:buClr>
            </a:pPr>
            <a:r>
              <a:rPr lang="zh-CN" altLang="en-US" b="0" kern="0" dirty="0">
                <a:latin typeface="+mn-ea"/>
                <a:ea typeface="+mn-ea"/>
              </a:rPr>
              <a:t>出栈序列中</a:t>
            </a:r>
            <a:r>
              <a:rPr lang="en-US" altLang="zh-CN" b="0" kern="0" dirty="0">
                <a:latin typeface="+mn-ea"/>
                <a:ea typeface="+mn-ea"/>
              </a:rPr>
              <a:t>1</a:t>
            </a:r>
            <a:r>
              <a:rPr lang="zh-CN" altLang="en-US" b="0" kern="0" dirty="0">
                <a:latin typeface="+mn-ea"/>
                <a:ea typeface="+mn-ea"/>
              </a:rPr>
              <a:t>在第 </a:t>
            </a:r>
            <a:r>
              <a:rPr lang="en-US" altLang="zh-CN" b="0" kern="0" dirty="0">
                <a:latin typeface="+mn-ea"/>
                <a:ea typeface="+mn-ea"/>
              </a:rPr>
              <a:t>3 </a:t>
            </a:r>
            <a:r>
              <a:rPr lang="zh-CN" altLang="en-US" b="0" kern="0" dirty="0">
                <a:latin typeface="+mn-ea"/>
                <a:ea typeface="+mn-ea"/>
              </a:rPr>
              <a:t>位。</a:t>
            </a:r>
            <a:r>
              <a:rPr lang="en-US" altLang="zh-CN" b="0" kern="0" dirty="0">
                <a:latin typeface="+mn-ea"/>
                <a:ea typeface="+mn-ea"/>
              </a:rPr>
              <a:t>1</a:t>
            </a:r>
            <a:r>
              <a:rPr lang="zh-CN" altLang="en-US" b="0" kern="0" dirty="0">
                <a:latin typeface="+mn-ea"/>
                <a:ea typeface="+mn-ea"/>
              </a:rPr>
              <a:t>左侧</a:t>
            </a:r>
            <a:r>
              <a:rPr lang="en-US" altLang="zh-CN" b="0" kern="0" dirty="0">
                <a:latin typeface="+mn-ea"/>
                <a:ea typeface="+mn-ea"/>
              </a:rPr>
              <a:t>2</a:t>
            </a:r>
            <a:r>
              <a:rPr lang="zh-CN" altLang="en-US" b="0" kern="0" dirty="0">
                <a:latin typeface="+mn-ea"/>
                <a:ea typeface="+mn-ea"/>
              </a:rPr>
              <a:t>个数，右侧</a:t>
            </a:r>
            <a:r>
              <a:rPr lang="en-US" altLang="zh-CN" b="0" kern="0" dirty="0">
                <a:latin typeface="+mn-ea"/>
                <a:ea typeface="+mn-ea"/>
              </a:rPr>
              <a:t>0</a:t>
            </a:r>
            <a:r>
              <a:rPr lang="zh-CN" altLang="en-US" b="0" kern="0" dirty="0">
                <a:latin typeface="+mn-ea"/>
                <a:ea typeface="+mn-ea"/>
              </a:rPr>
              <a:t>个数，有</a:t>
            </a:r>
            <a:r>
              <a:rPr lang="en-US" altLang="zh-CN" b="0" kern="0" dirty="0">
                <a:latin typeface="+mn-ea"/>
                <a:ea typeface="+mn-ea"/>
              </a:rPr>
              <a:t>m</a:t>
            </a:r>
            <a:r>
              <a:rPr lang="en-US" altLang="zh-CN" b="0" kern="0" baseline="-25000" dirty="0">
                <a:latin typeface="+mn-ea"/>
                <a:ea typeface="+mn-ea"/>
              </a:rPr>
              <a:t>2</a:t>
            </a:r>
            <a:r>
              <a:rPr lang="en-US" altLang="zh-CN" b="0" kern="0" dirty="0">
                <a:latin typeface="+mn-ea"/>
                <a:ea typeface="+mn-ea"/>
              </a:rPr>
              <a:t>*m</a:t>
            </a:r>
            <a:r>
              <a:rPr lang="en-US" altLang="zh-CN" b="0" kern="0" baseline="-25000" dirty="0">
                <a:latin typeface="+mn-ea"/>
                <a:ea typeface="+mn-ea"/>
              </a:rPr>
              <a:t>0</a:t>
            </a:r>
            <a:r>
              <a:rPr lang="en-US" altLang="zh-CN" b="0" kern="0" dirty="0">
                <a:latin typeface="+mn-ea"/>
                <a:ea typeface="+mn-ea"/>
              </a:rPr>
              <a:t> = 2 </a:t>
            </a:r>
            <a:r>
              <a:rPr lang="zh-CN" altLang="en-US" b="0" kern="0" dirty="0">
                <a:latin typeface="+mn-ea"/>
                <a:ea typeface="+mn-ea"/>
              </a:rPr>
              <a:t>种出栈序列：</a:t>
            </a:r>
            <a:r>
              <a:rPr lang="en-US" altLang="zh-CN" b="0" kern="0" dirty="0">
                <a:latin typeface="+mn-ea"/>
                <a:ea typeface="+mn-ea"/>
              </a:rPr>
              <a:t>{2,3,1}, {3,2,1}</a:t>
            </a:r>
            <a:r>
              <a:rPr lang="zh-CN" altLang="en-US" b="0" kern="0" dirty="0">
                <a:latin typeface="+mn-ea"/>
                <a:ea typeface="+mn-ea"/>
              </a:rPr>
              <a:t>。</a:t>
            </a:r>
          </a:p>
          <a:p>
            <a:pPr marL="648000" lvl="2">
              <a:buClr>
                <a:schemeClr val="tx2"/>
              </a:buClr>
            </a:pPr>
            <a:r>
              <a:rPr lang="zh-CN" altLang="en-US" b="0" kern="0" dirty="0">
                <a:latin typeface="+mn-ea"/>
                <a:ea typeface="+mn-ea"/>
              </a:rPr>
              <a:t>可能出栈序列有 </a:t>
            </a:r>
            <a:r>
              <a:rPr lang="en-US" altLang="zh-CN" b="0" kern="0" dirty="0">
                <a:solidFill>
                  <a:srgbClr val="0000FF"/>
                </a:solidFill>
                <a:latin typeface="+mn-ea"/>
                <a:ea typeface="+mn-ea"/>
              </a:rPr>
              <a:t>m</a:t>
            </a:r>
            <a:r>
              <a:rPr lang="en-US" altLang="zh-CN" b="0" kern="0" baseline="-25000" dirty="0">
                <a:solidFill>
                  <a:srgbClr val="0000FF"/>
                </a:solidFill>
                <a:latin typeface="+mn-ea"/>
                <a:ea typeface="+mn-ea"/>
              </a:rPr>
              <a:t>0</a:t>
            </a:r>
            <a:r>
              <a:rPr lang="en-US" altLang="zh-CN" b="0" kern="0" dirty="0">
                <a:solidFill>
                  <a:srgbClr val="0000FF"/>
                </a:solidFill>
                <a:latin typeface="+mn-ea"/>
                <a:ea typeface="+mn-ea"/>
              </a:rPr>
              <a:t>*m</a:t>
            </a:r>
            <a:r>
              <a:rPr lang="en-US" altLang="zh-CN" b="0" kern="0" baseline="-25000" dirty="0">
                <a:solidFill>
                  <a:srgbClr val="0000FF"/>
                </a:solidFill>
                <a:latin typeface="+mn-ea"/>
                <a:ea typeface="+mn-ea"/>
              </a:rPr>
              <a:t>2</a:t>
            </a:r>
            <a:r>
              <a:rPr lang="en-US" altLang="zh-CN" b="0" kern="0" dirty="0">
                <a:solidFill>
                  <a:srgbClr val="0000FF"/>
                </a:solidFill>
                <a:latin typeface="+mn-ea"/>
                <a:ea typeface="+mn-ea"/>
              </a:rPr>
              <a:t>+m</a:t>
            </a:r>
            <a:r>
              <a:rPr lang="en-US" altLang="zh-CN" b="0" kern="0" baseline="-25000" dirty="0">
                <a:solidFill>
                  <a:srgbClr val="0000FF"/>
                </a:solidFill>
                <a:latin typeface="+mn-ea"/>
                <a:ea typeface="+mn-ea"/>
              </a:rPr>
              <a:t>1</a:t>
            </a:r>
            <a:r>
              <a:rPr lang="en-US" altLang="zh-CN" b="0" kern="0" dirty="0">
                <a:solidFill>
                  <a:srgbClr val="0000FF"/>
                </a:solidFill>
                <a:latin typeface="+mn-ea"/>
                <a:ea typeface="+mn-ea"/>
              </a:rPr>
              <a:t>*m</a:t>
            </a:r>
            <a:r>
              <a:rPr lang="en-US" altLang="zh-CN" b="0" kern="0" baseline="-25000" dirty="0">
                <a:solidFill>
                  <a:srgbClr val="0000FF"/>
                </a:solidFill>
                <a:latin typeface="+mn-ea"/>
                <a:ea typeface="+mn-ea"/>
              </a:rPr>
              <a:t>1</a:t>
            </a:r>
            <a:r>
              <a:rPr lang="en-US" altLang="zh-CN" b="0" kern="0" dirty="0">
                <a:solidFill>
                  <a:srgbClr val="0000FF"/>
                </a:solidFill>
                <a:latin typeface="+mn-ea"/>
                <a:ea typeface="+mn-ea"/>
              </a:rPr>
              <a:t>+m</a:t>
            </a:r>
            <a:r>
              <a:rPr lang="en-US" altLang="zh-CN" b="0" kern="0" baseline="-25000" dirty="0">
                <a:solidFill>
                  <a:srgbClr val="0000FF"/>
                </a:solidFill>
                <a:latin typeface="+mn-ea"/>
                <a:ea typeface="+mn-ea"/>
              </a:rPr>
              <a:t>2</a:t>
            </a:r>
            <a:r>
              <a:rPr lang="en-US" altLang="zh-CN" b="0" kern="0" dirty="0">
                <a:solidFill>
                  <a:srgbClr val="0000FF"/>
                </a:solidFill>
                <a:latin typeface="+mn-ea"/>
                <a:ea typeface="+mn-ea"/>
              </a:rPr>
              <a:t>*m</a:t>
            </a:r>
            <a:r>
              <a:rPr lang="en-US" altLang="zh-CN" b="0" kern="0" baseline="-25000" dirty="0">
                <a:solidFill>
                  <a:srgbClr val="0000FF"/>
                </a:solidFill>
                <a:latin typeface="+mn-ea"/>
                <a:ea typeface="+mn-ea"/>
              </a:rPr>
              <a:t>0</a:t>
            </a:r>
            <a:r>
              <a:rPr lang="en-US" altLang="zh-CN" b="0" kern="0" dirty="0">
                <a:solidFill>
                  <a:srgbClr val="0000FF"/>
                </a:solidFill>
                <a:latin typeface="+mn-ea"/>
                <a:ea typeface="+mn-ea"/>
              </a:rPr>
              <a:t> </a:t>
            </a:r>
            <a:r>
              <a:rPr lang="en-US" altLang="zh-CN" b="0" kern="0" dirty="0">
                <a:latin typeface="+mn-ea"/>
                <a:ea typeface="+mn-ea"/>
              </a:rPr>
              <a:t>= </a:t>
            </a:r>
            <a:r>
              <a:rPr lang="en-US" altLang="zh-CN" b="0" kern="0" dirty="0">
                <a:solidFill>
                  <a:srgbClr val="0000FF"/>
                </a:solidFill>
                <a:latin typeface="+mn-ea"/>
                <a:ea typeface="+mn-ea"/>
              </a:rPr>
              <a:t>5</a:t>
            </a:r>
            <a:r>
              <a:rPr lang="en-US" altLang="zh-CN" b="0" kern="0" dirty="0">
                <a:latin typeface="+mn-ea"/>
                <a:ea typeface="+mn-ea"/>
              </a:rPr>
              <a:t> </a:t>
            </a:r>
            <a:r>
              <a:rPr lang="zh-CN" altLang="en-US" b="0" kern="0" dirty="0">
                <a:latin typeface="+mn-ea"/>
                <a:ea typeface="+mn-ea"/>
              </a:rPr>
              <a:t>种。</a:t>
            </a:r>
          </a:p>
          <a:p>
            <a:pPr lvl="1">
              <a:buClr>
                <a:schemeClr val="tx2"/>
              </a:buClr>
              <a:buFont typeface="Wingdings" panose="05000000000000000000" pitchFamily="2" charset="2"/>
              <a:buChar char="ü"/>
            </a:pPr>
            <a:r>
              <a:rPr lang="en-US" altLang="zh-CN" b="0" i="1" kern="0" dirty="0">
                <a:solidFill>
                  <a:srgbClr val="FF0000"/>
                </a:solidFill>
                <a:latin typeface="+mn-ea"/>
                <a:ea typeface="+mn-ea"/>
              </a:rPr>
              <a:t>n</a:t>
            </a:r>
            <a:r>
              <a:rPr lang="en-US" altLang="zh-CN" b="0" kern="0" dirty="0">
                <a:solidFill>
                  <a:srgbClr val="FF0000"/>
                </a:solidFill>
                <a:latin typeface="+mn-ea"/>
                <a:ea typeface="+mn-ea"/>
              </a:rPr>
              <a:t> = 4</a:t>
            </a:r>
            <a:r>
              <a:rPr lang="zh-CN" altLang="en-US" b="0" kern="0" dirty="0">
                <a:solidFill>
                  <a:srgbClr val="FF0000"/>
                </a:solidFill>
                <a:latin typeface="+mn-ea"/>
                <a:ea typeface="+mn-ea"/>
              </a:rPr>
              <a:t>时，</a:t>
            </a:r>
            <a:r>
              <a:rPr lang="en-US" altLang="zh-CN" b="0" i="1" kern="0" dirty="0">
                <a:solidFill>
                  <a:srgbClr val="FF0000"/>
                </a:solidFill>
                <a:latin typeface="+mn-ea"/>
                <a:ea typeface="+mn-ea"/>
              </a:rPr>
              <a:t>m</a:t>
            </a:r>
            <a:r>
              <a:rPr lang="en-US" altLang="zh-CN" b="0" kern="0" baseline="-25000" dirty="0">
                <a:solidFill>
                  <a:srgbClr val="FF0000"/>
                </a:solidFill>
                <a:latin typeface="+mn-ea"/>
                <a:ea typeface="+mn-ea"/>
              </a:rPr>
              <a:t>4</a:t>
            </a:r>
            <a:r>
              <a:rPr lang="en-US" altLang="zh-CN" b="0" kern="0" dirty="0">
                <a:solidFill>
                  <a:srgbClr val="FF0000"/>
                </a:solidFill>
                <a:latin typeface="+mn-ea"/>
                <a:ea typeface="+mn-ea"/>
              </a:rPr>
              <a:t> = 14</a:t>
            </a:r>
            <a:r>
              <a:rPr lang="en-US" altLang="zh-CN" b="0" kern="0" dirty="0">
                <a:latin typeface="+mn-ea"/>
                <a:ea typeface="+mn-ea"/>
              </a:rPr>
              <a:t>:</a:t>
            </a:r>
            <a:endParaRPr lang="en-US" altLang="zh-CN" b="0" kern="0" baseline="-25000" dirty="0">
              <a:solidFill>
                <a:schemeClr val="tx2"/>
              </a:solidFill>
              <a:latin typeface="+mn-ea"/>
              <a:ea typeface="+mn-ea"/>
            </a:endParaRPr>
          </a:p>
          <a:p>
            <a:pPr marL="648000" lvl="2">
              <a:buClr>
                <a:schemeClr val="tx2"/>
              </a:buClr>
            </a:pPr>
            <a:r>
              <a:rPr lang="zh-CN" altLang="en-US" b="0" kern="0" dirty="0">
                <a:latin typeface="+mn-ea"/>
                <a:ea typeface="+mn-ea"/>
              </a:rPr>
              <a:t>出栈序列中</a:t>
            </a:r>
            <a:r>
              <a:rPr lang="en-US" altLang="zh-CN" b="0" kern="0" dirty="0">
                <a:latin typeface="+mn-ea"/>
                <a:ea typeface="+mn-ea"/>
              </a:rPr>
              <a:t>1</a:t>
            </a:r>
            <a:r>
              <a:rPr lang="zh-CN" altLang="en-US" b="0" kern="0" dirty="0">
                <a:latin typeface="+mn-ea"/>
                <a:ea typeface="+mn-ea"/>
              </a:rPr>
              <a:t>在第 </a:t>
            </a:r>
            <a:r>
              <a:rPr lang="en-US" altLang="zh-CN" b="0" kern="0" dirty="0">
                <a:latin typeface="+mn-ea"/>
                <a:ea typeface="+mn-ea"/>
              </a:rPr>
              <a:t>1 </a:t>
            </a:r>
            <a:r>
              <a:rPr lang="zh-CN" altLang="en-US" b="0" kern="0" dirty="0">
                <a:latin typeface="+mn-ea"/>
                <a:ea typeface="+mn-ea"/>
              </a:rPr>
              <a:t>位。</a:t>
            </a:r>
            <a:r>
              <a:rPr lang="en-US" altLang="zh-CN" b="0" kern="0" dirty="0">
                <a:latin typeface="+mn-ea"/>
                <a:ea typeface="+mn-ea"/>
              </a:rPr>
              <a:t>1</a:t>
            </a:r>
            <a:r>
              <a:rPr lang="zh-CN" altLang="en-US" b="0" kern="0" dirty="0">
                <a:latin typeface="+mn-ea"/>
                <a:ea typeface="+mn-ea"/>
              </a:rPr>
              <a:t>左侧</a:t>
            </a:r>
            <a:r>
              <a:rPr lang="en-US" altLang="zh-CN" b="0" kern="0" dirty="0">
                <a:latin typeface="+mn-ea"/>
                <a:ea typeface="+mn-ea"/>
              </a:rPr>
              <a:t>0</a:t>
            </a:r>
            <a:r>
              <a:rPr lang="zh-CN" altLang="en-US" b="0" kern="0" dirty="0">
                <a:latin typeface="+mn-ea"/>
                <a:ea typeface="+mn-ea"/>
              </a:rPr>
              <a:t>个数，右侧</a:t>
            </a:r>
            <a:r>
              <a:rPr lang="en-US" altLang="zh-CN" b="0" kern="0" dirty="0">
                <a:latin typeface="+mn-ea"/>
                <a:ea typeface="+mn-ea"/>
              </a:rPr>
              <a:t>3</a:t>
            </a:r>
            <a:r>
              <a:rPr lang="zh-CN" altLang="en-US" b="0" kern="0" dirty="0">
                <a:latin typeface="+mn-ea"/>
                <a:ea typeface="+mn-ea"/>
              </a:rPr>
              <a:t>个数，有</a:t>
            </a:r>
            <a:r>
              <a:rPr lang="en-US" altLang="zh-CN" b="0" kern="0" dirty="0">
                <a:latin typeface="+mn-ea"/>
                <a:ea typeface="+mn-ea"/>
              </a:rPr>
              <a:t>m</a:t>
            </a:r>
            <a:r>
              <a:rPr lang="en-US" altLang="zh-CN" b="0" kern="0" baseline="-25000" dirty="0">
                <a:latin typeface="+mn-ea"/>
                <a:ea typeface="+mn-ea"/>
              </a:rPr>
              <a:t>0</a:t>
            </a:r>
            <a:r>
              <a:rPr lang="en-US" altLang="zh-CN" b="0" kern="0" dirty="0">
                <a:latin typeface="+mn-ea"/>
                <a:ea typeface="+mn-ea"/>
              </a:rPr>
              <a:t>*m</a:t>
            </a:r>
            <a:r>
              <a:rPr lang="en-US" altLang="zh-CN" b="0" kern="0" baseline="-25000" dirty="0">
                <a:latin typeface="+mn-ea"/>
                <a:ea typeface="+mn-ea"/>
              </a:rPr>
              <a:t>3</a:t>
            </a:r>
            <a:r>
              <a:rPr lang="en-US" altLang="zh-CN" b="0" kern="0" dirty="0">
                <a:latin typeface="+mn-ea"/>
                <a:ea typeface="+mn-ea"/>
              </a:rPr>
              <a:t> = 5 </a:t>
            </a:r>
            <a:r>
              <a:rPr lang="zh-CN" altLang="en-US" b="0" kern="0" dirty="0">
                <a:latin typeface="+mn-ea"/>
                <a:ea typeface="+mn-ea"/>
              </a:rPr>
              <a:t>种出栈序列：</a:t>
            </a:r>
            <a:r>
              <a:rPr lang="en-US" altLang="zh-CN" b="0" kern="0" dirty="0">
                <a:latin typeface="+mn-ea"/>
                <a:ea typeface="+mn-ea"/>
              </a:rPr>
              <a:t>{1,2,3,4}, {1,2,4,3}, {1,3,2,4}, {1,3,4,2}, {1,4,3,2}</a:t>
            </a:r>
            <a:r>
              <a:rPr lang="zh-CN" altLang="en-US" b="0" kern="0" dirty="0">
                <a:latin typeface="+mn-ea"/>
                <a:ea typeface="+mn-ea"/>
              </a:rPr>
              <a:t>。</a:t>
            </a:r>
          </a:p>
          <a:p>
            <a:pPr marL="648000" lvl="2">
              <a:buClr>
                <a:schemeClr val="tx2"/>
              </a:buClr>
            </a:pPr>
            <a:r>
              <a:rPr lang="zh-CN" altLang="en-US" b="0" kern="0" dirty="0">
                <a:latin typeface="+mn-ea"/>
                <a:ea typeface="+mn-ea"/>
              </a:rPr>
              <a:t>出栈序列中</a:t>
            </a:r>
            <a:r>
              <a:rPr lang="en-US" altLang="zh-CN" b="0" kern="0" dirty="0">
                <a:latin typeface="+mn-ea"/>
                <a:ea typeface="+mn-ea"/>
              </a:rPr>
              <a:t>1</a:t>
            </a:r>
            <a:r>
              <a:rPr lang="zh-CN" altLang="en-US" b="0" kern="0" dirty="0">
                <a:latin typeface="+mn-ea"/>
                <a:ea typeface="+mn-ea"/>
              </a:rPr>
              <a:t>在第 </a:t>
            </a:r>
            <a:r>
              <a:rPr lang="en-US" altLang="zh-CN" b="0" kern="0" dirty="0">
                <a:latin typeface="+mn-ea"/>
                <a:ea typeface="+mn-ea"/>
              </a:rPr>
              <a:t>2 </a:t>
            </a:r>
            <a:r>
              <a:rPr lang="zh-CN" altLang="en-US" b="0" kern="0" dirty="0">
                <a:latin typeface="+mn-ea"/>
                <a:ea typeface="+mn-ea"/>
              </a:rPr>
              <a:t>位。</a:t>
            </a:r>
            <a:r>
              <a:rPr lang="en-US" altLang="zh-CN" b="0" kern="0" dirty="0">
                <a:latin typeface="+mn-ea"/>
                <a:ea typeface="+mn-ea"/>
              </a:rPr>
              <a:t>1</a:t>
            </a:r>
            <a:r>
              <a:rPr lang="zh-CN" altLang="en-US" b="0" kern="0" dirty="0">
                <a:latin typeface="+mn-ea"/>
                <a:ea typeface="+mn-ea"/>
              </a:rPr>
              <a:t>左侧</a:t>
            </a:r>
            <a:r>
              <a:rPr lang="en-US" altLang="zh-CN" b="0" kern="0" dirty="0">
                <a:latin typeface="+mn-ea"/>
                <a:ea typeface="+mn-ea"/>
              </a:rPr>
              <a:t>1</a:t>
            </a:r>
            <a:r>
              <a:rPr lang="zh-CN" altLang="en-US" b="0" kern="0" dirty="0">
                <a:latin typeface="+mn-ea"/>
                <a:ea typeface="+mn-ea"/>
              </a:rPr>
              <a:t>个数，右侧</a:t>
            </a:r>
            <a:r>
              <a:rPr lang="en-US" altLang="zh-CN" b="0" kern="0" dirty="0">
                <a:latin typeface="+mn-ea"/>
                <a:ea typeface="+mn-ea"/>
              </a:rPr>
              <a:t>2</a:t>
            </a:r>
            <a:r>
              <a:rPr lang="zh-CN" altLang="en-US" b="0" kern="0" dirty="0">
                <a:latin typeface="+mn-ea"/>
                <a:ea typeface="+mn-ea"/>
              </a:rPr>
              <a:t>个数，有</a:t>
            </a:r>
            <a:r>
              <a:rPr lang="en-US" altLang="zh-CN" b="0" kern="0" dirty="0">
                <a:latin typeface="+mn-ea"/>
                <a:ea typeface="+mn-ea"/>
              </a:rPr>
              <a:t>m</a:t>
            </a:r>
            <a:r>
              <a:rPr lang="en-US" altLang="zh-CN" b="0" kern="0" baseline="-25000" dirty="0">
                <a:latin typeface="+mn-ea"/>
                <a:ea typeface="+mn-ea"/>
              </a:rPr>
              <a:t>1</a:t>
            </a:r>
            <a:r>
              <a:rPr lang="en-US" altLang="zh-CN" b="0" kern="0" dirty="0">
                <a:latin typeface="+mn-ea"/>
                <a:ea typeface="+mn-ea"/>
              </a:rPr>
              <a:t>*m</a:t>
            </a:r>
            <a:r>
              <a:rPr lang="en-US" altLang="zh-CN" b="0" kern="0" baseline="-25000" dirty="0">
                <a:latin typeface="+mn-ea"/>
                <a:ea typeface="+mn-ea"/>
              </a:rPr>
              <a:t>2</a:t>
            </a:r>
            <a:r>
              <a:rPr lang="en-US" altLang="zh-CN" b="0" kern="0" dirty="0">
                <a:latin typeface="+mn-ea"/>
                <a:ea typeface="+mn-ea"/>
              </a:rPr>
              <a:t> = 2</a:t>
            </a:r>
            <a:r>
              <a:rPr lang="zh-CN" altLang="en-US" b="0" kern="0" dirty="0">
                <a:latin typeface="+mn-ea"/>
                <a:ea typeface="+mn-ea"/>
              </a:rPr>
              <a:t>种出栈序列：</a:t>
            </a:r>
            <a:r>
              <a:rPr lang="en-US" altLang="zh-CN" b="0" kern="0" dirty="0">
                <a:latin typeface="+mn-ea"/>
                <a:ea typeface="+mn-ea"/>
              </a:rPr>
              <a:t>{2,1,3,4}, {2,1,4,3}</a:t>
            </a:r>
            <a:r>
              <a:rPr lang="zh-CN" altLang="en-US" b="0" kern="0" dirty="0">
                <a:latin typeface="+mn-ea"/>
                <a:ea typeface="+mn-ea"/>
              </a:rPr>
              <a:t>。</a:t>
            </a:r>
          </a:p>
        </p:txBody>
      </p:sp>
      <p:sp>
        <p:nvSpPr>
          <p:cNvPr id="5" name="Line 8">
            <a:extLst>
              <a:ext uri="{FF2B5EF4-FFF2-40B4-BE49-F238E27FC236}">
                <a16:creationId xmlns:a16="http://schemas.microsoft.com/office/drawing/2014/main" id="{E55CC7BF-C39E-4297-8719-C264CBBCE09F}"/>
              </a:ext>
            </a:extLst>
          </p:cNvPr>
          <p:cNvSpPr>
            <a:spLocks noChangeShapeType="1"/>
          </p:cNvSpPr>
          <p:nvPr/>
        </p:nvSpPr>
        <p:spPr bwMode="auto">
          <a:xfrm>
            <a:off x="251520" y="3501008"/>
            <a:ext cx="8460680" cy="0"/>
          </a:xfrm>
          <a:prstGeom prst="line">
            <a:avLst/>
          </a:prstGeom>
          <a:noFill/>
          <a:ln w="28575">
            <a:solidFill>
              <a:srgbClr val="008000"/>
            </a:solidFill>
            <a:round/>
            <a:headEnd type="none" w="lg" len="lg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839052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93CE476-4670-45F3-8FBE-219B1693A5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关于栈的进一步讨论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2BD26BF-035B-4894-8BD3-7BDC58841072}"/>
              </a:ext>
            </a:extLst>
          </p:cNvPr>
          <p:cNvSpPr txBox="1">
            <a:spLocks noChangeArrowheads="1"/>
          </p:cNvSpPr>
          <p:nvPr/>
        </p:nvSpPr>
        <p:spPr>
          <a:xfrm>
            <a:off x="251520" y="692696"/>
            <a:ext cx="8640960" cy="6093296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457200" indent="-457200" algn="l" rtl="0" eaLnBrk="0" fontAlgn="base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342900" indent="-342900" algn="l" rtl="0" eaLnBrk="0" fontAlgn="base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342900" indent="-342900" algn="l" rtl="0" eaLnBrk="0" fontAlgn="base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3pPr>
            <a:lvl4pPr marL="17145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648000" lvl="2">
              <a:buClr>
                <a:schemeClr val="tx2"/>
              </a:buClr>
            </a:pPr>
            <a:r>
              <a:rPr lang="zh-CN" altLang="en-US" b="0" kern="0" dirty="0">
                <a:latin typeface="+mn-ea"/>
                <a:ea typeface="+mn-ea"/>
              </a:rPr>
              <a:t>出栈序列中</a:t>
            </a:r>
            <a:r>
              <a:rPr lang="en-US" altLang="zh-CN" b="0" kern="0" dirty="0">
                <a:latin typeface="+mn-ea"/>
                <a:ea typeface="+mn-ea"/>
              </a:rPr>
              <a:t>1</a:t>
            </a:r>
            <a:r>
              <a:rPr lang="zh-CN" altLang="en-US" b="0" kern="0" dirty="0">
                <a:latin typeface="+mn-ea"/>
                <a:ea typeface="+mn-ea"/>
              </a:rPr>
              <a:t>在第 </a:t>
            </a:r>
            <a:r>
              <a:rPr lang="en-US" altLang="zh-CN" b="0" kern="0" dirty="0">
                <a:latin typeface="+mn-ea"/>
                <a:ea typeface="+mn-ea"/>
              </a:rPr>
              <a:t>3 </a:t>
            </a:r>
            <a:r>
              <a:rPr lang="zh-CN" altLang="en-US" b="0" kern="0" dirty="0">
                <a:latin typeface="+mn-ea"/>
                <a:ea typeface="+mn-ea"/>
              </a:rPr>
              <a:t>位。</a:t>
            </a:r>
            <a:r>
              <a:rPr lang="en-US" altLang="zh-CN" b="0" kern="0" dirty="0">
                <a:latin typeface="+mn-ea"/>
                <a:ea typeface="+mn-ea"/>
              </a:rPr>
              <a:t>1</a:t>
            </a:r>
            <a:r>
              <a:rPr lang="zh-CN" altLang="en-US" b="0" kern="0" dirty="0">
                <a:latin typeface="+mn-ea"/>
                <a:ea typeface="+mn-ea"/>
              </a:rPr>
              <a:t>左侧</a:t>
            </a:r>
            <a:r>
              <a:rPr lang="en-US" altLang="zh-CN" b="0" kern="0" dirty="0">
                <a:latin typeface="+mn-ea"/>
                <a:ea typeface="+mn-ea"/>
              </a:rPr>
              <a:t>2</a:t>
            </a:r>
            <a:r>
              <a:rPr lang="zh-CN" altLang="en-US" b="0" kern="0" dirty="0">
                <a:latin typeface="+mn-ea"/>
                <a:ea typeface="+mn-ea"/>
              </a:rPr>
              <a:t>个数，右侧</a:t>
            </a:r>
            <a:r>
              <a:rPr lang="en-US" altLang="zh-CN" b="0" kern="0" dirty="0">
                <a:latin typeface="+mn-ea"/>
                <a:ea typeface="+mn-ea"/>
              </a:rPr>
              <a:t>1</a:t>
            </a:r>
            <a:r>
              <a:rPr lang="zh-CN" altLang="en-US" b="0" kern="0" dirty="0">
                <a:latin typeface="+mn-ea"/>
                <a:ea typeface="+mn-ea"/>
              </a:rPr>
              <a:t>个数，有</a:t>
            </a:r>
            <a:r>
              <a:rPr lang="en-US" altLang="zh-CN" b="0" kern="0" dirty="0">
                <a:latin typeface="+mn-ea"/>
                <a:ea typeface="+mn-ea"/>
              </a:rPr>
              <a:t>m</a:t>
            </a:r>
            <a:r>
              <a:rPr lang="en-US" altLang="zh-CN" b="0" kern="0" baseline="-25000" dirty="0">
                <a:latin typeface="+mn-ea"/>
                <a:ea typeface="+mn-ea"/>
              </a:rPr>
              <a:t>2</a:t>
            </a:r>
            <a:r>
              <a:rPr lang="en-US" altLang="zh-CN" b="0" kern="0" dirty="0">
                <a:latin typeface="+mn-ea"/>
                <a:ea typeface="+mn-ea"/>
              </a:rPr>
              <a:t>*m</a:t>
            </a:r>
            <a:r>
              <a:rPr lang="en-US" altLang="zh-CN" b="0" kern="0" baseline="-25000" dirty="0">
                <a:latin typeface="+mn-ea"/>
                <a:ea typeface="+mn-ea"/>
              </a:rPr>
              <a:t>1</a:t>
            </a:r>
            <a:r>
              <a:rPr lang="en-US" altLang="zh-CN" b="0" kern="0" dirty="0">
                <a:latin typeface="+mn-ea"/>
                <a:ea typeface="+mn-ea"/>
              </a:rPr>
              <a:t> = 2</a:t>
            </a:r>
            <a:r>
              <a:rPr lang="zh-CN" altLang="en-US" b="0" kern="0" dirty="0">
                <a:latin typeface="+mn-ea"/>
                <a:ea typeface="+mn-ea"/>
              </a:rPr>
              <a:t>种出栈序列：</a:t>
            </a:r>
            <a:r>
              <a:rPr lang="en-US" altLang="zh-CN" b="0" kern="0" dirty="0">
                <a:latin typeface="+mn-ea"/>
                <a:ea typeface="+mn-ea"/>
              </a:rPr>
              <a:t>{2,3,1,4}, {3,2,1,4}</a:t>
            </a:r>
            <a:r>
              <a:rPr lang="zh-CN" altLang="en-US" b="0" kern="0" dirty="0">
                <a:latin typeface="+mn-ea"/>
                <a:ea typeface="+mn-ea"/>
              </a:rPr>
              <a:t>。</a:t>
            </a:r>
          </a:p>
          <a:p>
            <a:pPr marL="648000" lvl="2">
              <a:buClr>
                <a:schemeClr val="tx2"/>
              </a:buClr>
            </a:pPr>
            <a:r>
              <a:rPr lang="zh-CN" altLang="en-US" b="0" kern="0" dirty="0">
                <a:latin typeface="+mn-ea"/>
                <a:ea typeface="+mn-ea"/>
              </a:rPr>
              <a:t>出栈序列中</a:t>
            </a:r>
            <a:r>
              <a:rPr lang="en-US" altLang="zh-CN" b="0" kern="0" dirty="0">
                <a:latin typeface="+mn-ea"/>
                <a:ea typeface="+mn-ea"/>
              </a:rPr>
              <a:t>1</a:t>
            </a:r>
            <a:r>
              <a:rPr lang="zh-CN" altLang="en-US" b="0" kern="0" dirty="0">
                <a:latin typeface="+mn-ea"/>
                <a:ea typeface="+mn-ea"/>
              </a:rPr>
              <a:t>在第 </a:t>
            </a:r>
            <a:r>
              <a:rPr lang="en-US" altLang="zh-CN" b="0" kern="0" dirty="0">
                <a:latin typeface="+mn-ea"/>
                <a:ea typeface="+mn-ea"/>
              </a:rPr>
              <a:t>4 </a:t>
            </a:r>
            <a:r>
              <a:rPr lang="zh-CN" altLang="en-US" b="0" kern="0" dirty="0">
                <a:latin typeface="+mn-ea"/>
                <a:ea typeface="+mn-ea"/>
              </a:rPr>
              <a:t>位。</a:t>
            </a:r>
            <a:r>
              <a:rPr lang="en-US" altLang="zh-CN" b="0" kern="0" dirty="0">
                <a:latin typeface="+mn-ea"/>
                <a:ea typeface="+mn-ea"/>
              </a:rPr>
              <a:t>1</a:t>
            </a:r>
            <a:r>
              <a:rPr lang="zh-CN" altLang="en-US" b="0" kern="0" dirty="0">
                <a:latin typeface="+mn-ea"/>
                <a:ea typeface="+mn-ea"/>
              </a:rPr>
              <a:t>左侧</a:t>
            </a:r>
            <a:r>
              <a:rPr lang="en-US" altLang="zh-CN" b="0" kern="0" dirty="0">
                <a:latin typeface="+mn-ea"/>
                <a:ea typeface="+mn-ea"/>
              </a:rPr>
              <a:t>3</a:t>
            </a:r>
            <a:r>
              <a:rPr lang="zh-CN" altLang="en-US" b="0" kern="0" dirty="0">
                <a:latin typeface="+mn-ea"/>
                <a:ea typeface="+mn-ea"/>
              </a:rPr>
              <a:t>个数，右侧</a:t>
            </a:r>
            <a:r>
              <a:rPr lang="en-US" altLang="zh-CN" b="0" kern="0" dirty="0">
                <a:latin typeface="+mn-ea"/>
                <a:ea typeface="+mn-ea"/>
              </a:rPr>
              <a:t>0</a:t>
            </a:r>
            <a:r>
              <a:rPr lang="zh-CN" altLang="en-US" b="0" kern="0" dirty="0">
                <a:latin typeface="+mn-ea"/>
                <a:ea typeface="+mn-ea"/>
              </a:rPr>
              <a:t>个数，有</a:t>
            </a:r>
            <a:r>
              <a:rPr lang="en-US" altLang="zh-CN" b="0" kern="0" dirty="0">
                <a:latin typeface="+mn-ea"/>
                <a:ea typeface="+mn-ea"/>
              </a:rPr>
              <a:t>m</a:t>
            </a:r>
            <a:r>
              <a:rPr lang="en-US" altLang="zh-CN" b="0" kern="0" baseline="-25000" dirty="0">
                <a:latin typeface="+mn-ea"/>
                <a:ea typeface="+mn-ea"/>
              </a:rPr>
              <a:t>3</a:t>
            </a:r>
            <a:r>
              <a:rPr lang="en-US" altLang="zh-CN" b="0" kern="0" dirty="0">
                <a:latin typeface="+mn-ea"/>
                <a:ea typeface="+mn-ea"/>
              </a:rPr>
              <a:t>*m</a:t>
            </a:r>
            <a:r>
              <a:rPr lang="en-US" altLang="zh-CN" b="0" kern="0" baseline="-25000" dirty="0">
                <a:latin typeface="+mn-ea"/>
                <a:ea typeface="+mn-ea"/>
              </a:rPr>
              <a:t>0</a:t>
            </a:r>
            <a:r>
              <a:rPr lang="en-US" altLang="zh-CN" b="0" kern="0" dirty="0">
                <a:latin typeface="+mn-ea"/>
                <a:ea typeface="+mn-ea"/>
              </a:rPr>
              <a:t> = 5</a:t>
            </a:r>
            <a:r>
              <a:rPr lang="zh-CN" altLang="en-US" b="0" kern="0" dirty="0">
                <a:latin typeface="+mn-ea"/>
                <a:ea typeface="+mn-ea"/>
              </a:rPr>
              <a:t>种出栈序列：</a:t>
            </a:r>
            <a:r>
              <a:rPr lang="en-US" altLang="zh-CN" b="0" kern="0" dirty="0">
                <a:latin typeface="+mn-ea"/>
                <a:ea typeface="+mn-ea"/>
              </a:rPr>
              <a:t>{2,3,4,1}, {2,4,3,1}, {3,2,4,1}, {3,4,2,1}, {4,3,2,1}</a:t>
            </a:r>
            <a:r>
              <a:rPr lang="zh-CN" altLang="en-US" b="0" kern="0" dirty="0">
                <a:latin typeface="+mn-ea"/>
                <a:ea typeface="+mn-ea"/>
              </a:rPr>
              <a:t>。</a:t>
            </a:r>
          </a:p>
          <a:p>
            <a:pPr marL="648000" lvl="2">
              <a:buClr>
                <a:schemeClr val="tx2"/>
              </a:buClr>
            </a:pPr>
            <a:r>
              <a:rPr lang="zh-CN" altLang="en-US" b="0" kern="0" dirty="0">
                <a:latin typeface="+mn-ea"/>
                <a:ea typeface="+mn-ea"/>
              </a:rPr>
              <a:t>可能出栈序列 </a:t>
            </a:r>
            <a:r>
              <a:rPr lang="en-US" altLang="zh-CN" b="0" kern="0" dirty="0">
                <a:solidFill>
                  <a:srgbClr val="0000FF"/>
                </a:solidFill>
                <a:latin typeface="+mn-ea"/>
                <a:ea typeface="+mn-ea"/>
              </a:rPr>
              <a:t>m</a:t>
            </a:r>
            <a:r>
              <a:rPr lang="en-US" altLang="zh-CN" b="0" kern="0" baseline="-25000" dirty="0">
                <a:solidFill>
                  <a:srgbClr val="0000FF"/>
                </a:solidFill>
                <a:latin typeface="+mn-ea"/>
                <a:ea typeface="+mn-ea"/>
              </a:rPr>
              <a:t>0</a:t>
            </a:r>
            <a:r>
              <a:rPr lang="en-US" altLang="zh-CN" b="0" kern="0" dirty="0">
                <a:solidFill>
                  <a:srgbClr val="0000FF"/>
                </a:solidFill>
                <a:latin typeface="+mn-ea"/>
                <a:ea typeface="+mn-ea"/>
              </a:rPr>
              <a:t>*m</a:t>
            </a:r>
            <a:r>
              <a:rPr lang="en-US" altLang="zh-CN" b="0" kern="0" baseline="-25000" dirty="0">
                <a:solidFill>
                  <a:srgbClr val="0000FF"/>
                </a:solidFill>
                <a:latin typeface="+mn-ea"/>
                <a:ea typeface="+mn-ea"/>
              </a:rPr>
              <a:t>3</a:t>
            </a:r>
            <a:r>
              <a:rPr lang="en-US" altLang="zh-CN" b="0" kern="0" dirty="0">
                <a:solidFill>
                  <a:srgbClr val="0000FF"/>
                </a:solidFill>
                <a:latin typeface="+mn-ea"/>
                <a:ea typeface="+mn-ea"/>
              </a:rPr>
              <a:t>+m</a:t>
            </a:r>
            <a:r>
              <a:rPr lang="en-US" altLang="zh-CN" b="0" kern="0" baseline="-25000" dirty="0">
                <a:solidFill>
                  <a:srgbClr val="0000FF"/>
                </a:solidFill>
                <a:latin typeface="+mn-ea"/>
                <a:ea typeface="+mn-ea"/>
              </a:rPr>
              <a:t>1</a:t>
            </a:r>
            <a:r>
              <a:rPr lang="en-US" altLang="zh-CN" b="0" kern="0" dirty="0">
                <a:solidFill>
                  <a:srgbClr val="0000FF"/>
                </a:solidFill>
                <a:latin typeface="+mn-ea"/>
                <a:ea typeface="+mn-ea"/>
              </a:rPr>
              <a:t>*m</a:t>
            </a:r>
            <a:r>
              <a:rPr lang="en-US" altLang="zh-CN" b="0" kern="0" baseline="-25000" dirty="0">
                <a:solidFill>
                  <a:srgbClr val="0000FF"/>
                </a:solidFill>
                <a:latin typeface="+mn-ea"/>
                <a:ea typeface="+mn-ea"/>
              </a:rPr>
              <a:t>2</a:t>
            </a:r>
            <a:r>
              <a:rPr lang="en-US" altLang="zh-CN" b="0" kern="0" dirty="0">
                <a:solidFill>
                  <a:srgbClr val="0000FF"/>
                </a:solidFill>
                <a:latin typeface="+mn-ea"/>
                <a:ea typeface="+mn-ea"/>
              </a:rPr>
              <a:t>+m</a:t>
            </a:r>
            <a:r>
              <a:rPr lang="en-US" altLang="zh-CN" b="0" kern="0" baseline="-25000" dirty="0">
                <a:solidFill>
                  <a:srgbClr val="0000FF"/>
                </a:solidFill>
                <a:latin typeface="+mn-ea"/>
                <a:ea typeface="+mn-ea"/>
              </a:rPr>
              <a:t>2</a:t>
            </a:r>
            <a:r>
              <a:rPr lang="en-US" altLang="zh-CN" b="0" kern="0" dirty="0">
                <a:solidFill>
                  <a:srgbClr val="0000FF"/>
                </a:solidFill>
                <a:latin typeface="+mn-ea"/>
                <a:ea typeface="+mn-ea"/>
              </a:rPr>
              <a:t>*m</a:t>
            </a:r>
            <a:r>
              <a:rPr lang="en-US" altLang="zh-CN" b="0" kern="0" baseline="-25000" dirty="0">
                <a:solidFill>
                  <a:srgbClr val="0000FF"/>
                </a:solidFill>
                <a:latin typeface="+mn-ea"/>
                <a:ea typeface="+mn-ea"/>
              </a:rPr>
              <a:t>1</a:t>
            </a:r>
            <a:r>
              <a:rPr lang="en-US" altLang="zh-CN" b="0" kern="0" dirty="0">
                <a:solidFill>
                  <a:srgbClr val="0000FF"/>
                </a:solidFill>
                <a:latin typeface="+mn-ea"/>
                <a:ea typeface="+mn-ea"/>
              </a:rPr>
              <a:t>+m</a:t>
            </a:r>
            <a:r>
              <a:rPr lang="en-US" altLang="zh-CN" b="0" kern="0" baseline="-25000" dirty="0">
                <a:solidFill>
                  <a:srgbClr val="0000FF"/>
                </a:solidFill>
                <a:latin typeface="+mn-ea"/>
                <a:ea typeface="+mn-ea"/>
              </a:rPr>
              <a:t>3</a:t>
            </a:r>
            <a:r>
              <a:rPr lang="en-US" altLang="zh-CN" b="0" kern="0" dirty="0">
                <a:solidFill>
                  <a:srgbClr val="0000FF"/>
                </a:solidFill>
                <a:latin typeface="+mn-ea"/>
                <a:ea typeface="+mn-ea"/>
              </a:rPr>
              <a:t>*m</a:t>
            </a:r>
            <a:r>
              <a:rPr lang="en-US" altLang="zh-CN" b="0" kern="0" baseline="-25000" dirty="0">
                <a:solidFill>
                  <a:srgbClr val="0000FF"/>
                </a:solidFill>
                <a:latin typeface="+mn-ea"/>
                <a:ea typeface="+mn-ea"/>
              </a:rPr>
              <a:t>0</a:t>
            </a:r>
            <a:r>
              <a:rPr lang="en-US" altLang="zh-CN" b="0" kern="0" dirty="0">
                <a:solidFill>
                  <a:srgbClr val="0000FF"/>
                </a:solidFill>
                <a:latin typeface="+mn-ea"/>
                <a:ea typeface="+mn-ea"/>
              </a:rPr>
              <a:t> </a:t>
            </a:r>
            <a:r>
              <a:rPr lang="en-US" altLang="zh-CN" b="0" kern="0" dirty="0">
                <a:latin typeface="+mn-ea"/>
                <a:ea typeface="+mn-ea"/>
              </a:rPr>
              <a:t>= 5+2+2+5 = </a:t>
            </a:r>
            <a:r>
              <a:rPr lang="en-US" altLang="zh-CN" b="0" kern="0" dirty="0">
                <a:solidFill>
                  <a:srgbClr val="0000FF"/>
                </a:solidFill>
                <a:latin typeface="+mn-ea"/>
                <a:ea typeface="+mn-ea"/>
              </a:rPr>
              <a:t>14</a:t>
            </a:r>
            <a:r>
              <a:rPr lang="en-US" altLang="zh-CN" b="0" kern="0" dirty="0">
                <a:latin typeface="+mn-ea"/>
                <a:ea typeface="+mn-ea"/>
              </a:rPr>
              <a:t> </a:t>
            </a:r>
            <a:r>
              <a:rPr lang="zh-CN" altLang="en-US" b="0" kern="0" dirty="0">
                <a:latin typeface="+mn-ea"/>
                <a:ea typeface="+mn-ea"/>
              </a:rPr>
              <a:t>种。</a:t>
            </a:r>
            <a:endParaRPr lang="en-US" altLang="zh-CN" b="0" kern="0" dirty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2752981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0A20F99-F895-43EE-89A7-40E661BC6D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关于栈的进一步讨论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92FBE5F-0E4D-412B-9007-9C68F1F10243}"/>
              </a:ext>
            </a:extLst>
          </p:cNvPr>
          <p:cNvSpPr txBox="1">
            <a:spLocks noChangeArrowheads="1"/>
          </p:cNvSpPr>
          <p:nvPr/>
        </p:nvSpPr>
        <p:spPr>
          <a:xfrm>
            <a:off x="251520" y="815585"/>
            <a:ext cx="8568952" cy="5904656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457200" indent="-457200" algn="l" rtl="0" eaLnBrk="0" fontAlgn="base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342900" indent="-342900" algn="l" rtl="0" eaLnBrk="0" fontAlgn="base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342900" indent="-342900" algn="l" rtl="0" eaLnBrk="0" fontAlgn="base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3pPr>
            <a:lvl4pPr marL="17145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>
              <a:buClr>
                <a:schemeClr val="tx2"/>
              </a:buClr>
              <a:buFont typeface="Wingdings" panose="05000000000000000000" pitchFamily="2" charset="2"/>
              <a:buChar char="ü"/>
            </a:pPr>
            <a:r>
              <a:rPr lang="zh-CN" altLang="en-US" b="0" kern="0" dirty="0">
                <a:latin typeface="+mn-ea"/>
                <a:ea typeface="+mn-ea"/>
              </a:rPr>
              <a:t>一般地，设有 </a:t>
            </a:r>
            <a:r>
              <a:rPr lang="en-US" altLang="zh-CN" b="0" kern="0" dirty="0">
                <a:latin typeface="+mn-ea"/>
                <a:ea typeface="+mn-ea"/>
              </a:rPr>
              <a:t>n </a:t>
            </a:r>
            <a:r>
              <a:rPr lang="zh-CN" altLang="en-US" b="0" kern="0" dirty="0">
                <a:latin typeface="+mn-ea"/>
                <a:ea typeface="+mn-ea"/>
              </a:rPr>
              <a:t>个元素按序号</a:t>
            </a:r>
            <a:r>
              <a:rPr lang="en-US" altLang="zh-CN" b="0" kern="0" dirty="0">
                <a:latin typeface="+mn-ea"/>
                <a:ea typeface="+mn-ea"/>
              </a:rPr>
              <a:t>1, 2, …, n </a:t>
            </a:r>
            <a:r>
              <a:rPr lang="zh-CN" altLang="en-US" b="0" kern="0" dirty="0">
                <a:latin typeface="+mn-ea"/>
                <a:ea typeface="+mn-ea"/>
              </a:rPr>
              <a:t>进栈，轮流让 </a:t>
            </a:r>
            <a:r>
              <a:rPr lang="en-US" altLang="zh-CN" b="0" kern="0" dirty="0">
                <a:latin typeface="+mn-ea"/>
                <a:ea typeface="+mn-ea"/>
              </a:rPr>
              <a:t>1 </a:t>
            </a:r>
            <a:r>
              <a:rPr lang="zh-CN" altLang="en-US" b="0" kern="0" dirty="0">
                <a:latin typeface="+mn-ea"/>
                <a:ea typeface="+mn-ea"/>
              </a:rPr>
              <a:t>在出栈序列的第</a:t>
            </a:r>
            <a:r>
              <a:rPr lang="en-US" altLang="zh-CN" b="0" kern="0" dirty="0">
                <a:latin typeface="+mn-ea"/>
                <a:ea typeface="+mn-ea"/>
              </a:rPr>
              <a:t>1, </a:t>
            </a:r>
            <a:r>
              <a:rPr lang="zh-CN" altLang="en-US" b="0" kern="0" dirty="0">
                <a:latin typeface="+mn-ea"/>
                <a:ea typeface="+mn-ea"/>
              </a:rPr>
              <a:t>第</a:t>
            </a:r>
            <a:r>
              <a:rPr lang="en-US" altLang="zh-CN" b="0" kern="0" dirty="0">
                <a:latin typeface="+mn-ea"/>
                <a:ea typeface="+mn-ea"/>
              </a:rPr>
              <a:t>2, … </a:t>
            </a:r>
            <a:r>
              <a:rPr lang="zh-CN" altLang="en-US" b="0" kern="0" dirty="0">
                <a:latin typeface="+mn-ea"/>
                <a:ea typeface="+mn-ea"/>
              </a:rPr>
              <a:t>第</a:t>
            </a:r>
            <a:r>
              <a:rPr lang="en-US" altLang="zh-CN" b="0" kern="0" dirty="0">
                <a:latin typeface="+mn-ea"/>
                <a:ea typeface="+mn-ea"/>
              </a:rPr>
              <a:t>n</a:t>
            </a:r>
            <a:r>
              <a:rPr lang="zh-CN" altLang="en-US" b="0" kern="0" dirty="0">
                <a:latin typeface="+mn-ea"/>
                <a:ea typeface="+mn-ea"/>
              </a:rPr>
              <a:t>位，则可能的出栈序列数为</a:t>
            </a:r>
            <a:r>
              <a:rPr lang="zh-CN" altLang="en-US" sz="2800" dirty="0">
                <a:solidFill>
                  <a:srgbClr val="0000FF"/>
                </a:solidFill>
                <a:latin typeface="+mn-ea"/>
                <a:ea typeface="+mn-ea"/>
              </a:rPr>
              <a:t>卡特兰数</a:t>
            </a:r>
            <a:r>
              <a:rPr lang="zh-CN" altLang="en-US" b="0" kern="0" dirty="0">
                <a:latin typeface="+mn-ea"/>
                <a:ea typeface="+mn-ea"/>
              </a:rPr>
              <a:t>：</a:t>
            </a:r>
          </a:p>
          <a:p>
            <a:pPr marL="0" indent="0">
              <a:buClr>
                <a:schemeClr val="tx2"/>
              </a:buClr>
              <a:buNone/>
            </a:pPr>
            <a:endParaRPr lang="zh-CN" altLang="en-US" b="0" kern="0" dirty="0">
              <a:latin typeface="+mn-ea"/>
              <a:ea typeface="+mn-ea"/>
            </a:endParaRPr>
          </a:p>
          <a:p>
            <a:pPr marL="0" indent="0">
              <a:buClr>
                <a:schemeClr val="tx2"/>
              </a:buClr>
              <a:buNone/>
            </a:pPr>
            <a:endParaRPr lang="en-US" altLang="zh-CN" b="0" kern="0" dirty="0">
              <a:latin typeface="+mn-ea"/>
              <a:ea typeface="+mn-ea"/>
            </a:endParaRPr>
          </a:p>
          <a:p>
            <a:pPr marL="0" indent="0">
              <a:buClr>
                <a:schemeClr val="tx2"/>
              </a:buClr>
              <a:buNone/>
            </a:pPr>
            <a:r>
              <a:rPr lang="zh-CN" altLang="en-US" b="0" kern="0" dirty="0">
                <a:latin typeface="+mn-ea"/>
                <a:ea typeface="+mn-ea"/>
              </a:rPr>
              <a:t>推导结果为：</a:t>
            </a:r>
          </a:p>
        </p:txBody>
      </p:sp>
      <p:graphicFrame>
        <p:nvGraphicFramePr>
          <p:cNvPr id="5" name="Object 3">
            <a:extLst>
              <a:ext uri="{FF2B5EF4-FFF2-40B4-BE49-F238E27FC236}">
                <a16:creationId xmlns:a16="http://schemas.microsoft.com/office/drawing/2014/main" id="{DA75F617-45A3-4C8F-BAD9-D7598E975A1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63588" y="2992163"/>
          <a:ext cx="7416824" cy="96254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754" name="公式" r:id="rId3" imgW="3327120" imgH="431640" progId="Equation.3">
                  <p:embed/>
                </p:oleObj>
              </mc:Choice>
              <mc:Fallback>
                <p:oleObj name="公式" r:id="rId3" imgW="3327120" imgH="431640" progId="Equation.3">
                  <p:embed/>
                  <p:pic>
                    <p:nvPicPr>
                      <p:cNvPr id="5" name="Object 3">
                        <a:extLst>
                          <a:ext uri="{FF2B5EF4-FFF2-40B4-BE49-F238E27FC236}">
                            <a16:creationId xmlns:a16="http://schemas.microsoft.com/office/drawing/2014/main" id="{DA75F617-45A3-4C8F-BAD9-D7598E975A1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3588" y="2992163"/>
                        <a:ext cx="7416824" cy="96254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6">
            <a:extLst>
              <a:ext uri="{FF2B5EF4-FFF2-40B4-BE49-F238E27FC236}">
                <a16:creationId xmlns:a16="http://schemas.microsoft.com/office/drawing/2014/main" id="{9D1465F7-4229-4278-B630-08365393D6A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195736" y="4546765"/>
          <a:ext cx="4680520" cy="119390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755" name="公式" r:id="rId5" imgW="1625400" imgH="431640" progId="Equation.3">
                  <p:embed/>
                </p:oleObj>
              </mc:Choice>
              <mc:Fallback>
                <p:oleObj name="公式" r:id="rId5" imgW="1625400" imgH="431640" progId="Equation.3">
                  <p:embed/>
                  <p:pic>
                    <p:nvPicPr>
                      <p:cNvPr id="6" name="Object 6">
                        <a:extLst>
                          <a:ext uri="{FF2B5EF4-FFF2-40B4-BE49-F238E27FC236}">
                            <a16:creationId xmlns:a16="http://schemas.microsoft.com/office/drawing/2014/main" id="{9D1465F7-4229-4278-B630-08365393D6A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95736" y="4546765"/>
                        <a:ext cx="4680520" cy="119390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9210178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C86C8A6-1BAC-4D98-88BF-5E611B2C52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栈的主要基本操作</a:t>
            </a:r>
          </a:p>
        </p:txBody>
      </p:sp>
      <p:sp>
        <p:nvSpPr>
          <p:cNvPr id="4" name="Text Box 3">
            <a:extLst>
              <a:ext uri="{FF2B5EF4-FFF2-40B4-BE49-F238E27FC236}">
                <a16:creationId xmlns:a16="http://schemas.microsoft.com/office/drawing/2014/main" id="{5593A013-B00F-435D-84BE-A8B2D6F5BE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052736"/>
            <a:ext cx="9144000" cy="5013039"/>
          </a:xfrm>
          <a:prstGeom prst="rect">
            <a:avLst/>
          </a:prstGeom>
          <a:noFill/>
          <a:ln>
            <a:noFill/>
            <a:headEnd/>
            <a:tailEnd/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altLang="zh-CN" b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itchFamily="49" charset="0"/>
                <a:sym typeface="Wingdings"/>
              </a:rPr>
              <a:t>  </a:t>
            </a:r>
            <a:r>
              <a:rPr lang="en-US" altLang="zh-CN" b="0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itchFamily="49" charset="0"/>
              </a:rPr>
              <a:t>InitStack</a:t>
            </a:r>
            <a:r>
              <a:rPr lang="en-US" altLang="zh-CN" b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itchFamily="49" charset="0"/>
              </a:rPr>
              <a:t>(&amp;S)</a:t>
            </a:r>
            <a:r>
              <a:rPr lang="zh-CN" altLang="en-US" b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itchFamily="49" charset="0"/>
              </a:rPr>
              <a:t>：</a:t>
            </a:r>
            <a:r>
              <a:rPr lang="zh-CN" altLang="en-US" b="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itchFamily="49" charset="0"/>
              </a:rPr>
              <a:t>初始化栈</a:t>
            </a:r>
            <a:r>
              <a:rPr lang="zh-CN" altLang="en-US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itchFamily="49" charset="0"/>
              </a:rPr>
              <a:t>。构造一个空栈 </a:t>
            </a:r>
            <a:r>
              <a:rPr lang="en-US" altLang="zh-CN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itchFamily="49" charset="0"/>
              </a:rPr>
              <a:t>S</a:t>
            </a:r>
            <a:r>
              <a:rPr lang="zh-CN" altLang="en-US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itchFamily="49" charset="0"/>
              </a:rPr>
              <a:t>。</a:t>
            </a:r>
          </a:p>
          <a:p>
            <a:pPr algn="l">
              <a:lnSpc>
                <a:spcPct val="150000"/>
              </a:lnSpc>
            </a:pPr>
            <a:r>
              <a:rPr lang="en-US" altLang="zh-CN" b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itchFamily="49" charset="0"/>
                <a:sym typeface="Wingdings"/>
              </a:rPr>
              <a:t>  </a:t>
            </a:r>
            <a:r>
              <a:rPr lang="en-US" altLang="zh-CN" b="0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itchFamily="49" charset="0"/>
              </a:rPr>
              <a:t>DestroyStack</a:t>
            </a:r>
            <a:r>
              <a:rPr lang="en-US" altLang="zh-CN" b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itchFamily="49" charset="0"/>
              </a:rPr>
              <a:t>(&amp;S)</a:t>
            </a:r>
            <a:r>
              <a:rPr lang="zh-CN" altLang="en-US" b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itchFamily="49" charset="0"/>
              </a:rPr>
              <a:t>：</a:t>
            </a:r>
            <a:r>
              <a:rPr lang="zh-CN" altLang="en-US" b="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itchFamily="49" charset="0"/>
              </a:rPr>
              <a:t>销毁栈</a:t>
            </a:r>
            <a:r>
              <a:rPr lang="zh-CN" altLang="en-US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itchFamily="49" charset="0"/>
              </a:rPr>
              <a:t>。</a:t>
            </a:r>
            <a:r>
              <a:rPr lang="zh-CN" altLang="en-US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释放栈 </a:t>
            </a:r>
            <a:r>
              <a:rPr lang="en-US" altLang="zh-CN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 </a:t>
            </a:r>
            <a:r>
              <a:rPr lang="zh-CN" altLang="en-US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占用的存储空间。</a:t>
            </a:r>
          </a:p>
          <a:p>
            <a:pPr algn="l">
              <a:lnSpc>
                <a:spcPct val="150000"/>
              </a:lnSpc>
            </a:pPr>
            <a:r>
              <a:rPr lang="en-US" altLang="zh-CN" b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itchFamily="49" charset="0"/>
                <a:sym typeface="Wingdings"/>
              </a:rPr>
              <a:t>  </a:t>
            </a:r>
            <a:r>
              <a:rPr lang="en-US" altLang="zh-CN" b="0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itchFamily="49" charset="0"/>
              </a:rPr>
              <a:t>StackEmpty</a:t>
            </a:r>
            <a:r>
              <a:rPr lang="en-US" altLang="zh-CN" b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itchFamily="49" charset="0"/>
              </a:rPr>
              <a:t>(S)</a:t>
            </a:r>
            <a:r>
              <a:rPr lang="zh-CN" altLang="en-US" b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itchFamily="49" charset="0"/>
              </a:rPr>
              <a:t>：</a:t>
            </a:r>
            <a:r>
              <a:rPr lang="zh-CN" altLang="en-US" b="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判断栈是否为空</a:t>
            </a:r>
            <a:r>
              <a:rPr lang="zh-CN" altLang="en-US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。若栈 </a:t>
            </a:r>
            <a:r>
              <a:rPr lang="en-US" altLang="zh-CN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 </a:t>
            </a:r>
            <a:r>
              <a:rPr lang="zh-CN" altLang="en-US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为空，则返回真；否则返回假。</a:t>
            </a:r>
          </a:p>
          <a:p>
            <a:pPr algn="l">
              <a:lnSpc>
                <a:spcPct val="150000"/>
              </a:lnSpc>
            </a:pPr>
            <a:r>
              <a:rPr lang="en-US" altLang="zh-CN" b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itchFamily="49" charset="0"/>
                <a:sym typeface="Wingdings"/>
              </a:rPr>
              <a:t>  </a:t>
            </a:r>
            <a:r>
              <a:rPr lang="en-US" altLang="zh-CN" b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itchFamily="49" charset="0"/>
              </a:rPr>
              <a:t>Push(&amp;S</a:t>
            </a:r>
            <a:r>
              <a:rPr lang="zh-CN" altLang="en-US" b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itchFamily="49" charset="0"/>
              </a:rPr>
              <a:t>，</a:t>
            </a:r>
            <a:r>
              <a:rPr lang="en-US" altLang="zh-CN" b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itchFamily="49" charset="0"/>
              </a:rPr>
              <a:t>e)</a:t>
            </a:r>
            <a:r>
              <a:rPr lang="zh-CN" altLang="en-US" b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itchFamily="49" charset="0"/>
              </a:rPr>
              <a:t>：</a:t>
            </a:r>
            <a:r>
              <a:rPr lang="zh-CN" altLang="en-US" b="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进栈</a:t>
            </a:r>
            <a:r>
              <a:rPr lang="zh-CN" altLang="en-US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。将元素 </a:t>
            </a:r>
            <a:r>
              <a:rPr lang="en-US" altLang="zh-CN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 </a:t>
            </a:r>
            <a:r>
              <a:rPr lang="zh-CN" altLang="en-US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插入到栈 </a:t>
            </a:r>
            <a:r>
              <a:rPr lang="en-US" altLang="zh-CN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 </a:t>
            </a:r>
            <a:r>
              <a:rPr lang="zh-CN" altLang="en-US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中作为栈顶元素。</a:t>
            </a:r>
          </a:p>
          <a:p>
            <a:pPr algn="l">
              <a:lnSpc>
                <a:spcPct val="150000"/>
              </a:lnSpc>
            </a:pPr>
            <a:r>
              <a:rPr lang="en-US" altLang="zh-CN" b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itchFamily="49" charset="0"/>
                <a:sym typeface="Wingdings"/>
              </a:rPr>
              <a:t>  </a:t>
            </a:r>
            <a:r>
              <a:rPr lang="en-US" altLang="zh-CN" b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itchFamily="49" charset="0"/>
              </a:rPr>
              <a:t>Pop(&amp;S</a:t>
            </a:r>
            <a:r>
              <a:rPr lang="zh-CN" altLang="en-US" b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itchFamily="49" charset="0"/>
              </a:rPr>
              <a:t>，</a:t>
            </a:r>
            <a:r>
              <a:rPr lang="en-US" altLang="zh-CN" b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itchFamily="49" charset="0"/>
              </a:rPr>
              <a:t>&amp;e)</a:t>
            </a:r>
            <a:r>
              <a:rPr lang="zh-CN" altLang="en-US" b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itchFamily="49" charset="0"/>
              </a:rPr>
              <a:t>：</a:t>
            </a:r>
            <a:r>
              <a:rPr lang="zh-CN" altLang="en-US" b="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出栈</a:t>
            </a:r>
            <a:r>
              <a:rPr lang="zh-CN" altLang="en-US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。从栈 </a:t>
            </a:r>
            <a:r>
              <a:rPr lang="en-US" altLang="zh-CN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 </a:t>
            </a:r>
            <a:r>
              <a:rPr lang="zh-CN" altLang="en-US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中退出栈顶元素，并将其值赋给</a:t>
            </a:r>
            <a:r>
              <a:rPr lang="en-US" altLang="zh-CN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</a:t>
            </a:r>
            <a:r>
              <a:rPr lang="zh-CN" altLang="en-US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pPr marL="342900" indent="-342900" algn="l">
              <a:lnSpc>
                <a:spcPct val="150000"/>
              </a:lnSpc>
              <a:buFont typeface="Wingdings" panose="05000000000000000000" pitchFamily="2" charset="2"/>
              <a:buChar char=""/>
            </a:pPr>
            <a:r>
              <a:rPr lang="en-US" altLang="zh-CN" b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itchFamily="49" charset="0"/>
              </a:rPr>
              <a:t> </a:t>
            </a:r>
            <a:r>
              <a:rPr lang="en-US" altLang="zh-CN" b="0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itchFamily="49" charset="0"/>
              </a:rPr>
              <a:t>GetTop</a:t>
            </a:r>
            <a:r>
              <a:rPr lang="en-US" altLang="zh-CN" b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itchFamily="49" charset="0"/>
              </a:rPr>
              <a:t>(S</a:t>
            </a:r>
            <a:r>
              <a:rPr lang="zh-CN" altLang="en-US" b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itchFamily="49" charset="0"/>
              </a:rPr>
              <a:t>，</a:t>
            </a:r>
            <a:r>
              <a:rPr lang="en-US" altLang="zh-CN" b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itchFamily="49" charset="0"/>
              </a:rPr>
              <a:t>&amp;e)</a:t>
            </a:r>
            <a:r>
              <a:rPr lang="zh-CN" altLang="en-US" b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itchFamily="49" charset="0"/>
              </a:rPr>
              <a:t>：</a:t>
            </a:r>
            <a:r>
              <a:rPr lang="zh-CN" altLang="en-US" b="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取栈顶元素</a:t>
            </a:r>
            <a:r>
              <a:rPr lang="zh-CN" altLang="en-US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。返回栈 </a:t>
            </a:r>
            <a:r>
              <a:rPr lang="en-US" altLang="zh-CN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 </a:t>
            </a:r>
            <a:r>
              <a:rPr lang="zh-CN" altLang="en-US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当前的栈顶元素，并将其值赋给 </a:t>
            </a:r>
            <a:r>
              <a:rPr lang="en-US" altLang="zh-CN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</a:t>
            </a:r>
            <a:r>
              <a:rPr lang="zh-CN" altLang="en-US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33923422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44FF6BC-CF7C-4F6B-9A78-5CF855D187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955576"/>
          </a:xfrm>
        </p:spPr>
        <p:txBody>
          <a:bodyPr/>
          <a:lstStyle/>
          <a:p>
            <a:pPr algn="ctr"/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目录（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Contents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F1C5CE0-1323-4255-9417-D46EBFCC9F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552" y="1700808"/>
            <a:ext cx="8064896" cy="4896544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栈</a:t>
            </a:r>
            <a:endParaRPr lang="en-US" altLang="zh-CN" sz="28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lvl="1">
              <a:lnSpc>
                <a:spcPct val="150000"/>
              </a:lnSpc>
            </a:pPr>
            <a:r>
              <a:rPr lang="zh-CN" altLang="en-US" sz="2400" dirty="0">
                <a:solidFill>
                  <a:schemeClr val="tx1">
                    <a:lumMod val="20000"/>
                    <a:lumOff val="8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栈的抽象数据类型定义</a:t>
            </a:r>
            <a:endParaRPr lang="en-US" altLang="zh-CN" sz="2400" dirty="0">
              <a:solidFill>
                <a:schemeClr val="tx1">
                  <a:lumMod val="20000"/>
                  <a:lumOff val="80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lvl="1">
              <a:lnSpc>
                <a:spcPct val="150000"/>
              </a:lnSpc>
            </a:pP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栈的顺序存储表示</a:t>
            </a:r>
            <a:endParaRPr lang="en-US" altLang="zh-CN" sz="24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lvl="1">
              <a:lnSpc>
                <a:spcPct val="150000"/>
              </a:lnSpc>
            </a:pPr>
            <a:r>
              <a:rPr lang="zh-CN" altLang="en-US" sz="2400" dirty="0">
                <a:solidFill>
                  <a:schemeClr val="tx1">
                    <a:lumMod val="20000"/>
                    <a:lumOff val="8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栈的链式存储表示</a:t>
            </a:r>
          </a:p>
          <a:p>
            <a:pPr>
              <a:lnSpc>
                <a:spcPct val="150000"/>
              </a:lnSpc>
            </a:pPr>
            <a:r>
              <a:rPr lang="zh-CN" altLang="en-US" sz="2800" dirty="0">
                <a:solidFill>
                  <a:schemeClr val="tx1">
                    <a:lumMod val="20000"/>
                    <a:lumOff val="8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栈的应用举例</a:t>
            </a:r>
            <a:endParaRPr lang="en-US" altLang="zh-CN" sz="2800" dirty="0">
              <a:solidFill>
                <a:schemeClr val="tx1">
                  <a:lumMod val="20000"/>
                  <a:lumOff val="80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800" dirty="0">
                <a:solidFill>
                  <a:schemeClr val="tx1">
                    <a:lumMod val="20000"/>
                    <a:lumOff val="8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队列</a:t>
            </a:r>
            <a:endParaRPr lang="zh-CN" altLang="en-US" sz="2400" dirty="0">
              <a:solidFill>
                <a:schemeClr val="tx1">
                  <a:lumMod val="20000"/>
                  <a:lumOff val="80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800" dirty="0">
                <a:solidFill>
                  <a:schemeClr val="tx1">
                    <a:lumMod val="20000"/>
                    <a:lumOff val="8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队列的应用举例</a:t>
            </a:r>
          </a:p>
        </p:txBody>
      </p:sp>
    </p:spTree>
    <p:extLst>
      <p:ext uri="{BB962C8B-B14F-4D97-AF65-F5344CB8AC3E}">
        <p14:creationId xmlns:p14="http://schemas.microsoft.com/office/powerpoint/2010/main" val="2522530985"/>
      </p:ext>
    </p:extLst>
  </p:cSld>
  <p:clrMapOvr>
    <a:masterClrMapping/>
  </p:clrMapOvr>
  <p:transition>
    <p:wipe dir="r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矩形 38">
            <a:extLst>
              <a:ext uri="{FF2B5EF4-FFF2-40B4-BE49-F238E27FC236}">
                <a16:creationId xmlns:a16="http://schemas.microsoft.com/office/drawing/2014/main" id="{E7338EA9-98F9-4530-BFF6-4015F3A1B5B2}"/>
              </a:ext>
            </a:extLst>
          </p:cNvPr>
          <p:cNvSpPr/>
          <p:nvPr/>
        </p:nvSpPr>
        <p:spPr bwMode="auto">
          <a:xfrm>
            <a:off x="0" y="748215"/>
            <a:ext cx="9144000" cy="4342251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342900" marR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仿宋_GB2312" pitchFamily="49" charset="-122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9A70E80A-37A3-4D18-9BA3-9770E0BAA3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栈的顺序存储表示</a:t>
            </a:r>
            <a:r>
              <a:rPr lang="en-US" altLang="zh-CN" dirty="0"/>
              <a:t>---</a:t>
            </a:r>
            <a:r>
              <a:rPr lang="zh-CN" altLang="en-US" dirty="0"/>
              <a:t>顺序栈</a:t>
            </a:r>
          </a:p>
        </p:txBody>
      </p:sp>
      <p:grpSp>
        <p:nvGrpSpPr>
          <p:cNvPr id="4" name="Group 39">
            <a:extLst>
              <a:ext uri="{FF2B5EF4-FFF2-40B4-BE49-F238E27FC236}">
                <a16:creationId xmlns:a16="http://schemas.microsoft.com/office/drawing/2014/main" id="{76DCFAFD-AAF4-47B1-ACD2-7F3EFC1F5BED}"/>
              </a:ext>
            </a:extLst>
          </p:cNvPr>
          <p:cNvGrpSpPr>
            <a:grpSpLocks/>
          </p:cNvGrpSpPr>
          <p:nvPr/>
        </p:nvGrpSpPr>
        <p:grpSpPr bwMode="auto">
          <a:xfrm>
            <a:off x="451619" y="5118943"/>
            <a:ext cx="8307386" cy="1622425"/>
            <a:chOff x="241" y="3058"/>
            <a:chExt cx="5233" cy="1022"/>
          </a:xfrm>
        </p:grpSpPr>
        <p:sp>
          <p:nvSpPr>
            <p:cNvPr id="5" name="Rectangle 5">
              <a:extLst>
                <a:ext uri="{FF2B5EF4-FFF2-40B4-BE49-F238E27FC236}">
                  <a16:creationId xmlns:a16="http://schemas.microsoft.com/office/drawing/2014/main" id="{BACA4B58-DA55-4065-8DD6-080D377A2C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0" y="3430"/>
              <a:ext cx="4320" cy="288"/>
            </a:xfrm>
            <a:prstGeom prst="rect">
              <a:avLst/>
            </a:prstGeom>
            <a:solidFill>
              <a:srgbClr val="FFFF99"/>
            </a:solidFill>
            <a:ln w="9525">
              <a:miter lim="800000"/>
              <a:headEnd/>
              <a:tailEnd/>
            </a:ln>
            <a:effectLst/>
            <a:scene3d>
              <a:camera prst="legacyObliqueTopRight"/>
              <a:lightRig rig="legacyFlat3" dir="b"/>
            </a:scene3d>
            <a:sp3d extrusionH="430200" prstMaterial="legacyMatte">
              <a:bevelT w="13500" h="13500" prst="angle"/>
              <a:bevelB w="13500" h="13500" prst="angle"/>
              <a:extrusionClr>
                <a:srgbClr val="FFFF99"/>
              </a:extrusionClr>
              <a:contourClr>
                <a:srgbClr val="FFFF99"/>
              </a:contourClr>
            </a:sp3d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flatTx/>
            </a:bodyPr>
            <a:lstStyle/>
            <a:p>
              <a:endParaRPr lang="zh-CN" altLang="en-US"/>
            </a:p>
          </p:txBody>
        </p:sp>
        <p:sp>
          <p:nvSpPr>
            <p:cNvPr id="6" name="Line 6">
              <a:extLst>
                <a:ext uri="{FF2B5EF4-FFF2-40B4-BE49-F238E27FC236}">
                  <a16:creationId xmlns:a16="http://schemas.microsoft.com/office/drawing/2014/main" id="{2FC822C0-2705-4E76-9E5D-D392654E17E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08" y="3430"/>
              <a:ext cx="0" cy="288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" name="Line 7">
              <a:extLst>
                <a:ext uri="{FF2B5EF4-FFF2-40B4-BE49-F238E27FC236}">
                  <a16:creationId xmlns:a16="http://schemas.microsoft.com/office/drawing/2014/main" id="{C6DF290F-FAB1-4D34-9BC5-A77F1543CDB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008" y="3334"/>
              <a:ext cx="96" cy="96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" name="Line 8">
              <a:extLst>
                <a:ext uri="{FF2B5EF4-FFF2-40B4-BE49-F238E27FC236}">
                  <a16:creationId xmlns:a16="http://schemas.microsoft.com/office/drawing/2014/main" id="{BEB69D91-BB16-4D81-AAAD-78770BDB58D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96" y="3430"/>
              <a:ext cx="0" cy="288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" name="Line 9">
              <a:extLst>
                <a:ext uri="{FF2B5EF4-FFF2-40B4-BE49-F238E27FC236}">
                  <a16:creationId xmlns:a16="http://schemas.microsoft.com/office/drawing/2014/main" id="{685D0648-252E-4107-949F-967658A5441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296" y="3334"/>
              <a:ext cx="96" cy="96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" name="Line 10">
              <a:extLst>
                <a:ext uri="{FF2B5EF4-FFF2-40B4-BE49-F238E27FC236}">
                  <a16:creationId xmlns:a16="http://schemas.microsoft.com/office/drawing/2014/main" id="{3615446A-CF62-495D-A1CA-1E49D240262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84" y="3430"/>
              <a:ext cx="0" cy="288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" name="Line 11">
              <a:extLst>
                <a:ext uri="{FF2B5EF4-FFF2-40B4-BE49-F238E27FC236}">
                  <a16:creationId xmlns:a16="http://schemas.microsoft.com/office/drawing/2014/main" id="{656EDE28-89FF-4F02-874E-E83B90FC281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584" y="3334"/>
              <a:ext cx="96" cy="96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" name="Line 12">
              <a:extLst>
                <a:ext uri="{FF2B5EF4-FFF2-40B4-BE49-F238E27FC236}">
                  <a16:creationId xmlns:a16="http://schemas.microsoft.com/office/drawing/2014/main" id="{7C9EA493-75A0-4FD8-98B4-6FC57958442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72" y="3430"/>
              <a:ext cx="0" cy="288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" name="Line 13">
              <a:extLst>
                <a:ext uri="{FF2B5EF4-FFF2-40B4-BE49-F238E27FC236}">
                  <a16:creationId xmlns:a16="http://schemas.microsoft.com/office/drawing/2014/main" id="{F4EABF3D-9251-4892-A0AC-35A52DC7A1A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872" y="3334"/>
              <a:ext cx="96" cy="96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" name="Line 14">
              <a:extLst>
                <a:ext uri="{FF2B5EF4-FFF2-40B4-BE49-F238E27FC236}">
                  <a16:creationId xmlns:a16="http://schemas.microsoft.com/office/drawing/2014/main" id="{F440AD16-C76C-430A-9445-C399AA40113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60" y="3430"/>
              <a:ext cx="0" cy="288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" name="Line 15">
              <a:extLst>
                <a:ext uri="{FF2B5EF4-FFF2-40B4-BE49-F238E27FC236}">
                  <a16:creationId xmlns:a16="http://schemas.microsoft.com/office/drawing/2014/main" id="{D937FF65-CDBF-417D-AF14-7D1A8427942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160" y="3334"/>
              <a:ext cx="96" cy="96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" name="Line 16">
              <a:extLst>
                <a:ext uri="{FF2B5EF4-FFF2-40B4-BE49-F238E27FC236}">
                  <a16:creationId xmlns:a16="http://schemas.microsoft.com/office/drawing/2014/main" id="{211B665E-E540-474A-9DA2-E739F27F230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48" y="3430"/>
              <a:ext cx="0" cy="288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" name="Line 17">
              <a:extLst>
                <a:ext uri="{FF2B5EF4-FFF2-40B4-BE49-F238E27FC236}">
                  <a16:creationId xmlns:a16="http://schemas.microsoft.com/office/drawing/2014/main" id="{FCB2679D-2326-4564-B20C-0BB26E2AC68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448" y="3334"/>
              <a:ext cx="96" cy="96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" name="Line 18">
              <a:extLst>
                <a:ext uri="{FF2B5EF4-FFF2-40B4-BE49-F238E27FC236}">
                  <a16:creationId xmlns:a16="http://schemas.microsoft.com/office/drawing/2014/main" id="{0227F071-C905-4673-9573-80BF731E014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36" y="3430"/>
              <a:ext cx="0" cy="288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" name="Line 19">
              <a:extLst>
                <a:ext uri="{FF2B5EF4-FFF2-40B4-BE49-F238E27FC236}">
                  <a16:creationId xmlns:a16="http://schemas.microsoft.com/office/drawing/2014/main" id="{C75B37C9-17E1-43B4-B290-D510ECC6A0E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736" y="3334"/>
              <a:ext cx="96" cy="96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" name="Line 20">
              <a:extLst>
                <a:ext uri="{FF2B5EF4-FFF2-40B4-BE49-F238E27FC236}">
                  <a16:creationId xmlns:a16="http://schemas.microsoft.com/office/drawing/2014/main" id="{426DD5DF-5748-4A02-A521-47078E758EF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24" y="3430"/>
              <a:ext cx="0" cy="288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" name="Line 21">
              <a:extLst>
                <a:ext uri="{FF2B5EF4-FFF2-40B4-BE49-F238E27FC236}">
                  <a16:creationId xmlns:a16="http://schemas.microsoft.com/office/drawing/2014/main" id="{A54D66BF-D9F8-4370-A1FB-3C1C485EBE8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024" y="3334"/>
              <a:ext cx="96" cy="96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" name="Line 22">
              <a:extLst>
                <a:ext uri="{FF2B5EF4-FFF2-40B4-BE49-F238E27FC236}">
                  <a16:creationId xmlns:a16="http://schemas.microsoft.com/office/drawing/2014/main" id="{6267C5B6-647F-4F42-86F1-8ABEA2BAFA3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12" y="3430"/>
              <a:ext cx="0" cy="288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" name="Line 23">
              <a:extLst>
                <a:ext uri="{FF2B5EF4-FFF2-40B4-BE49-F238E27FC236}">
                  <a16:creationId xmlns:a16="http://schemas.microsoft.com/office/drawing/2014/main" id="{4F4E47B4-ADF9-418D-8CE9-277F5DF884E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12" y="3334"/>
              <a:ext cx="96" cy="96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4" name="Line 24">
              <a:extLst>
                <a:ext uri="{FF2B5EF4-FFF2-40B4-BE49-F238E27FC236}">
                  <a16:creationId xmlns:a16="http://schemas.microsoft.com/office/drawing/2014/main" id="{F6B0F305-D998-413B-9EC7-1B3CCF34AF4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00" y="3430"/>
              <a:ext cx="0" cy="288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" name="Line 25">
              <a:extLst>
                <a:ext uri="{FF2B5EF4-FFF2-40B4-BE49-F238E27FC236}">
                  <a16:creationId xmlns:a16="http://schemas.microsoft.com/office/drawing/2014/main" id="{8962997C-8EBC-458D-AAA8-94C229D116A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600" y="3334"/>
              <a:ext cx="96" cy="96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" name="Line 26">
              <a:extLst>
                <a:ext uri="{FF2B5EF4-FFF2-40B4-BE49-F238E27FC236}">
                  <a16:creationId xmlns:a16="http://schemas.microsoft.com/office/drawing/2014/main" id="{9C7D8BCC-F4FE-4F44-8804-533F8A382D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88" y="3430"/>
              <a:ext cx="0" cy="288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" name="Line 27">
              <a:extLst>
                <a:ext uri="{FF2B5EF4-FFF2-40B4-BE49-F238E27FC236}">
                  <a16:creationId xmlns:a16="http://schemas.microsoft.com/office/drawing/2014/main" id="{509B57FE-9020-4972-9798-BCE8D4018E3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888" y="3334"/>
              <a:ext cx="96" cy="96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8" name="Line 28">
              <a:extLst>
                <a:ext uri="{FF2B5EF4-FFF2-40B4-BE49-F238E27FC236}">
                  <a16:creationId xmlns:a16="http://schemas.microsoft.com/office/drawing/2014/main" id="{B3B0446B-D40F-4976-8520-F1CF16F3FB6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76" y="3430"/>
              <a:ext cx="0" cy="288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" name="Line 29">
              <a:extLst>
                <a:ext uri="{FF2B5EF4-FFF2-40B4-BE49-F238E27FC236}">
                  <a16:creationId xmlns:a16="http://schemas.microsoft.com/office/drawing/2014/main" id="{DF0383A9-BCC0-442B-BAC8-2FCB8868EB3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176" y="3334"/>
              <a:ext cx="96" cy="96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0" name="Line 30">
              <a:extLst>
                <a:ext uri="{FF2B5EF4-FFF2-40B4-BE49-F238E27FC236}">
                  <a16:creationId xmlns:a16="http://schemas.microsoft.com/office/drawing/2014/main" id="{35CADA9F-B94D-43C5-BBF4-C2F23CAE855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64" y="3430"/>
              <a:ext cx="0" cy="288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" name="Line 31">
              <a:extLst>
                <a:ext uri="{FF2B5EF4-FFF2-40B4-BE49-F238E27FC236}">
                  <a16:creationId xmlns:a16="http://schemas.microsoft.com/office/drawing/2014/main" id="{B1D15F43-A772-4C67-B899-8C4548CAE91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464" y="3334"/>
              <a:ext cx="96" cy="96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2" name="Line 32">
              <a:extLst>
                <a:ext uri="{FF2B5EF4-FFF2-40B4-BE49-F238E27FC236}">
                  <a16:creationId xmlns:a16="http://schemas.microsoft.com/office/drawing/2014/main" id="{578FAF35-D59F-4D6F-A9C9-A588D3108BB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52" y="3430"/>
              <a:ext cx="0" cy="288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3" name="Line 33">
              <a:extLst>
                <a:ext uri="{FF2B5EF4-FFF2-40B4-BE49-F238E27FC236}">
                  <a16:creationId xmlns:a16="http://schemas.microsoft.com/office/drawing/2014/main" id="{2DF39174-CC0A-4BD5-AC82-FA56A7224F9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752" y="3334"/>
              <a:ext cx="96" cy="96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4" name="Text Box 34">
              <a:extLst>
                <a:ext uri="{FF2B5EF4-FFF2-40B4-BE49-F238E27FC236}">
                  <a16:creationId xmlns:a16="http://schemas.microsoft.com/office/drawing/2014/main" id="{0804CCDF-1356-4136-8691-A8F7BE629DF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52" y="3058"/>
              <a:ext cx="4622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dirty="0">
                  <a:latin typeface="Times New Roman" panose="02020603050405020304" pitchFamily="18" charset="0"/>
                </a:rPr>
                <a:t>0    1    2    3    4    5    6    7    8    9                   maxSize</a:t>
              </a:r>
              <a:r>
                <a:rPr kumimoji="1" lang="en-US" altLang="zh-CN" dirty="0">
                  <a:latin typeface="楷体_GB2312" pitchFamily="49" charset="-122"/>
                  <a:ea typeface="楷体_GB2312" pitchFamily="49" charset="-122"/>
                </a:rPr>
                <a:t>-</a:t>
              </a:r>
              <a:r>
                <a:rPr kumimoji="1" lang="en-US" altLang="zh-CN" dirty="0"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35" name="Line 35">
              <a:extLst>
                <a:ext uri="{FF2B5EF4-FFF2-40B4-BE49-F238E27FC236}">
                  <a16:creationId xmlns:a16="http://schemas.microsoft.com/office/drawing/2014/main" id="{00B0AD49-17FA-44FF-8B36-F0813E63972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24" y="3718"/>
              <a:ext cx="0" cy="240"/>
            </a:xfrm>
            <a:prstGeom prst="line">
              <a:avLst/>
            </a:prstGeom>
            <a:noFill/>
            <a:ln w="28575">
              <a:solidFill>
                <a:srgbClr val="008000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6" name="Text Box 36">
              <a:extLst>
                <a:ext uri="{FF2B5EF4-FFF2-40B4-BE49-F238E27FC236}">
                  <a16:creationId xmlns:a16="http://schemas.microsoft.com/office/drawing/2014/main" id="{807AE8A2-E250-4EF9-8C42-DCAA748A7E0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4" y="3792"/>
              <a:ext cx="89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b="1">
                  <a:solidFill>
                    <a:schemeClr val="accent2"/>
                  </a:solidFill>
                  <a:latin typeface="Times New Roman" panose="02020603050405020304" pitchFamily="18" charset="0"/>
                </a:rPr>
                <a:t>top(</a:t>
              </a:r>
              <a:r>
                <a:rPr kumimoji="1" lang="zh-CN" altLang="zh-CN" b="1">
                  <a:solidFill>
                    <a:schemeClr val="accent2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仿宋_GB2312" pitchFamily="49" charset="-122"/>
                </a:rPr>
                <a:t>栈空</a:t>
              </a:r>
              <a:r>
                <a:rPr kumimoji="1" lang="en-US" altLang="zh-CN" b="1">
                  <a:solidFill>
                    <a:schemeClr val="accent2"/>
                  </a:solidFill>
                  <a:latin typeface="Times New Roman" panose="02020603050405020304" pitchFamily="18" charset="0"/>
                </a:rPr>
                <a:t>)</a:t>
              </a:r>
              <a:endParaRPr kumimoji="1" lang="en-US" altLang="zh-CN">
                <a:latin typeface="Times New Roman" panose="02020603050405020304" pitchFamily="18" charset="0"/>
              </a:endParaRPr>
            </a:p>
          </p:txBody>
        </p:sp>
        <p:sp>
          <p:nvSpPr>
            <p:cNvPr id="37" name="Text Box 37">
              <a:extLst>
                <a:ext uri="{FF2B5EF4-FFF2-40B4-BE49-F238E27FC236}">
                  <a16:creationId xmlns:a16="http://schemas.microsoft.com/office/drawing/2014/main" id="{1F7AFEBB-98F5-4196-81E9-3ACF1BFBA83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1" y="3430"/>
              <a:ext cx="499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b="1">
                  <a:solidFill>
                    <a:schemeClr val="accent2"/>
                  </a:solidFill>
                  <a:latin typeface="Times New Roman" panose="02020603050405020304" pitchFamily="18" charset="0"/>
                </a:rPr>
                <a:t>elem</a:t>
              </a:r>
              <a:endParaRPr kumimoji="1" lang="en-US" altLang="zh-CN">
                <a:latin typeface="Times New Roman" panose="02020603050405020304" pitchFamily="18" charset="0"/>
              </a:endParaRPr>
            </a:p>
          </p:txBody>
        </p:sp>
      </p:grpSp>
      <p:sp>
        <p:nvSpPr>
          <p:cNvPr id="38" name="Rectangle 38">
            <a:extLst>
              <a:ext uri="{FF2B5EF4-FFF2-40B4-BE49-F238E27FC236}">
                <a16:creationId xmlns:a16="http://schemas.microsoft.com/office/drawing/2014/main" id="{0FFE1969-0700-4DD6-9D9D-657C0EA77F6C}"/>
              </a:ext>
            </a:extLst>
          </p:cNvPr>
          <p:cNvSpPr txBox="1">
            <a:spLocks noChangeArrowheads="1"/>
          </p:cNvSpPr>
          <p:nvPr/>
        </p:nvSpPr>
        <p:spPr>
          <a:xfrm>
            <a:off x="831032" y="605242"/>
            <a:ext cx="4495800" cy="4627413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457200" indent="-457200" algn="l" rtl="0" eaLnBrk="0" fontAlgn="base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342900" indent="-342900" algn="l" rtl="0" eaLnBrk="0" fontAlgn="base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342900" indent="-342900" algn="l" rtl="0" eaLnBrk="0" fontAlgn="base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3pPr>
            <a:lvl4pPr marL="17145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>
              <a:buFont typeface="Wingdings" panose="05000000000000000000" pitchFamily="2" charset="2"/>
              <a:buNone/>
            </a:pPr>
            <a:r>
              <a:rPr kumimoji="1" lang="en-US" altLang="zh-CN" sz="2400" b="0" kern="0" dirty="0">
                <a:latin typeface="+mn-lt"/>
              </a:rPr>
              <a:t>#define </a:t>
            </a:r>
            <a:r>
              <a:rPr kumimoji="1" lang="en-US" altLang="zh-CN" sz="2400" b="0" kern="0" cap="all" dirty="0" err="1">
                <a:latin typeface="+mn-lt"/>
              </a:rPr>
              <a:t>InitSize</a:t>
            </a:r>
            <a:r>
              <a:rPr kumimoji="1" lang="en-US" altLang="zh-CN" sz="2400" b="0" kern="0" dirty="0">
                <a:latin typeface="+mn-lt"/>
              </a:rPr>
              <a:t> 100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kumimoji="1" lang="en-US" altLang="zh-CN" sz="2400" b="0" kern="0" dirty="0">
                <a:latin typeface="+mn-lt"/>
              </a:rPr>
              <a:t>#define </a:t>
            </a:r>
            <a:r>
              <a:rPr kumimoji="1" lang="en-US" altLang="zh-CN" sz="2400" b="0" kern="0" cap="all" dirty="0">
                <a:latin typeface="+mn-lt"/>
              </a:rPr>
              <a:t>Increment</a:t>
            </a:r>
            <a:r>
              <a:rPr kumimoji="1" lang="en-US" altLang="zh-CN" sz="2400" b="0" kern="0" dirty="0">
                <a:latin typeface="+mn-lt"/>
              </a:rPr>
              <a:t> 20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kumimoji="1" lang="en-US" altLang="zh-CN" sz="2400" b="0" kern="0" dirty="0">
                <a:latin typeface="+mn-lt"/>
              </a:rPr>
              <a:t>typedef char </a:t>
            </a:r>
            <a:r>
              <a:rPr kumimoji="1" lang="en-US" altLang="zh-CN" sz="2400" b="0" kern="0" dirty="0" err="1">
                <a:latin typeface="+mn-lt"/>
              </a:rPr>
              <a:t>SElemType</a:t>
            </a:r>
            <a:r>
              <a:rPr kumimoji="1" lang="en-US" altLang="zh-CN" sz="2400" b="0" kern="0" dirty="0">
                <a:latin typeface="+mn-lt"/>
              </a:rPr>
              <a:t>;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kumimoji="1" lang="en-US" altLang="zh-CN" sz="2400" b="0" kern="0" dirty="0">
                <a:latin typeface="+mn-lt"/>
              </a:rPr>
              <a:t>typedef struct {</a:t>
            </a:r>
            <a:endParaRPr kumimoji="1" lang="zh-CN" altLang="en-US" sz="2400" b="0" kern="0" dirty="0">
              <a:solidFill>
                <a:srgbClr val="00B050"/>
              </a:solidFill>
              <a:latin typeface="+mn-lt"/>
              <a:ea typeface="隶书" panose="02010509060101010101" pitchFamily="49" charset="-122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kumimoji="1" lang="zh-CN" altLang="en-US" sz="2400" b="0" kern="0" dirty="0">
                <a:latin typeface="+mn-lt"/>
              </a:rPr>
              <a:t>     </a:t>
            </a:r>
            <a:r>
              <a:rPr kumimoji="1" lang="en-US" altLang="zh-CN" sz="2400" b="0" kern="0" dirty="0" err="1">
                <a:latin typeface="+mn-lt"/>
              </a:rPr>
              <a:t>SElemType</a:t>
            </a:r>
            <a:r>
              <a:rPr kumimoji="1" lang="en-US" altLang="zh-CN" sz="2400" b="0" kern="0" dirty="0">
                <a:latin typeface="+mn-lt"/>
              </a:rPr>
              <a:t> *</a:t>
            </a:r>
            <a:r>
              <a:rPr kumimoji="1" lang="en-US" altLang="zh-CN" sz="2400" b="0" kern="0" dirty="0" err="1">
                <a:latin typeface="+mn-lt"/>
              </a:rPr>
              <a:t>elem</a:t>
            </a:r>
            <a:r>
              <a:rPr kumimoji="1" lang="en-US" altLang="zh-CN" sz="2400" b="0" kern="0" dirty="0">
                <a:latin typeface="+mn-lt"/>
              </a:rPr>
              <a:t>;	  </a:t>
            </a:r>
            <a:r>
              <a:rPr kumimoji="1" lang="en-US" altLang="zh-CN" sz="2400" b="0" kern="0" dirty="0">
                <a:solidFill>
                  <a:srgbClr val="00B050"/>
                </a:solidFill>
                <a:latin typeface="+mn-lt"/>
              </a:rPr>
              <a:t>// </a:t>
            </a:r>
            <a:r>
              <a:rPr kumimoji="1" lang="zh-CN" altLang="en-US" sz="2400" b="0" kern="0" dirty="0">
                <a:solidFill>
                  <a:srgbClr val="00B050"/>
                </a:solidFill>
                <a:latin typeface="+mn-lt"/>
                <a:ea typeface="隶书" panose="02010509060101010101" pitchFamily="49" charset="-122"/>
              </a:rPr>
              <a:t>栈数组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kumimoji="1" lang="zh-CN" altLang="en-US" sz="2400" b="0" kern="0" dirty="0">
                <a:latin typeface="+mn-lt"/>
              </a:rPr>
              <a:t>     </a:t>
            </a:r>
            <a:r>
              <a:rPr kumimoji="1" lang="en-US" altLang="zh-CN" sz="2400" b="0" kern="0" dirty="0">
                <a:solidFill>
                  <a:srgbClr val="FF0000"/>
                </a:solidFill>
                <a:latin typeface="+mn-lt"/>
              </a:rPr>
              <a:t>int top;           </a:t>
            </a:r>
            <a:r>
              <a:rPr kumimoji="1" lang="en-US" altLang="zh-CN" sz="2400" b="0" kern="0" dirty="0">
                <a:solidFill>
                  <a:srgbClr val="00B050"/>
                </a:solidFill>
                <a:latin typeface="+mn-lt"/>
              </a:rPr>
              <a:t>// </a:t>
            </a:r>
            <a:r>
              <a:rPr kumimoji="1" lang="zh-CN" altLang="en-US" sz="2400" b="0" kern="0" dirty="0">
                <a:solidFill>
                  <a:srgbClr val="00B050"/>
                </a:solidFill>
                <a:latin typeface="+mn-lt"/>
                <a:ea typeface="隶书" panose="02010509060101010101" pitchFamily="49" charset="-122"/>
              </a:rPr>
              <a:t>栈顶指针</a:t>
            </a:r>
            <a:endParaRPr kumimoji="1" lang="en-US" altLang="zh-CN" sz="2400" b="0" kern="0" dirty="0">
              <a:solidFill>
                <a:srgbClr val="00B050"/>
              </a:solidFill>
              <a:latin typeface="+mn-lt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kumimoji="1" lang="en-US" altLang="zh-CN" sz="2400" b="0" kern="0" dirty="0">
                <a:latin typeface="+mn-lt"/>
              </a:rPr>
              <a:t>     int </a:t>
            </a:r>
            <a:r>
              <a:rPr kumimoji="1" lang="en-US" altLang="zh-CN" sz="2400" b="0" kern="0" dirty="0" err="1">
                <a:latin typeface="+mn-lt"/>
              </a:rPr>
              <a:t>maxSize</a:t>
            </a:r>
            <a:r>
              <a:rPr kumimoji="1" lang="en-US" altLang="zh-CN" sz="2400" b="0" kern="0" dirty="0">
                <a:latin typeface="+mn-lt"/>
              </a:rPr>
              <a:t>; </a:t>
            </a:r>
            <a:r>
              <a:rPr kumimoji="1" lang="en-US" altLang="zh-CN" sz="2400" b="0" kern="0" dirty="0">
                <a:solidFill>
                  <a:srgbClr val="00B050"/>
                </a:solidFill>
                <a:latin typeface="+mn-lt"/>
              </a:rPr>
              <a:t> // </a:t>
            </a:r>
            <a:r>
              <a:rPr kumimoji="1" lang="zh-CN" altLang="en-US" sz="2400" b="0" kern="0" dirty="0">
                <a:solidFill>
                  <a:srgbClr val="00B050"/>
                </a:solidFill>
                <a:latin typeface="+mn-lt"/>
                <a:ea typeface="隶书" panose="02010509060101010101" pitchFamily="49" charset="-122"/>
              </a:rPr>
              <a:t>栈大小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kumimoji="1" lang="en-US" altLang="zh-CN" sz="2400" b="0" kern="0" dirty="0">
                <a:latin typeface="+mn-lt"/>
              </a:rPr>
              <a:t>} </a:t>
            </a:r>
            <a:r>
              <a:rPr kumimoji="1" lang="en-US" altLang="zh-CN" sz="2400" b="0" kern="0" dirty="0" err="1">
                <a:latin typeface="+mn-lt"/>
              </a:rPr>
              <a:t>SeqStack</a:t>
            </a:r>
            <a:r>
              <a:rPr kumimoji="1" lang="en-US" altLang="zh-CN" sz="2400" b="0" kern="0" dirty="0">
                <a:latin typeface="+mn-lt"/>
              </a:rPr>
              <a:t>;</a:t>
            </a:r>
          </a:p>
        </p:txBody>
      </p:sp>
      <p:sp>
        <p:nvSpPr>
          <p:cNvPr id="40" name="Rectangle 2">
            <a:extLst>
              <a:ext uri="{FF2B5EF4-FFF2-40B4-BE49-F238E27FC236}">
                <a16:creationId xmlns:a16="http://schemas.microsoft.com/office/drawing/2014/main" id="{A00F96A0-369F-4434-8B49-6A07BD5B9A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71915" y="2240776"/>
            <a:ext cx="3155443" cy="2849690"/>
          </a:xfrm>
          <a:prstGeom prst="rect">
            <a:avLst/>
          </a:prstGeom>
          <a:solidFill>
            <a:schemeClr val="bg1">
              <a:lumMod val="90000"/>
            </a:schemeClr>
          </a:solidFill>
          <a:ln>
            <a:noFill/>
          </a:ln>
        </p:spPr>
        <p:txBody>
          <a:bodyPr/>
          <a:lstStyle>
            <a:lvl1pPr marL="342900" indent="-3429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typedef struct {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b="0" dirty="0">
                <a:latin typeface="+mn-lt"/>
                <a:ea typeface="+mn-ea"/>
                <a:cs typeface="+mn-ea"/>
                <a:sym typeface="+mn-lt"/>
              </a:rPr>
              <a:t>     </a:t>
            </a:r>
            <a:r>
              <a:rPr kumimoji="0" lang="en-US" altLang="zh-CN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SElemType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  *base;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b="0" dirty="0">
                <a:solidFill>
                  <a:srgbClr val="FF0000"/>
                </a:solidFill>
                <a:latin typeface="+mn-lt"/>
                <a:ea typeface="+mn-ea"/>
                <a:cs typeface="+mn-ea"/>
                <a:sym typeface="+mn-lt"/>
              </a:rPr>
              <a:t>     </a:t>
            </a:r>
            <a:r>
              <a:rPr kumimoji="0" lang="en-US" altLang="zh-CN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SElemType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  *top;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b="0" dirty="0">
                <a:latin typeface="+mn-lt"/>
                <a:ea typeface="+mn-ea"/>
                <a:cs typeface="+mn-ea"/>
                <a:sym typeface="+mn-lt"/>
              </a:rPr>
              <a:t>     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int </a:t>
            </a:r>
            <a:r>
              <a:rPr kumimoji="0" lang="en-US" altLang="zh-CN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stacksize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;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} </a:t>
            </a:r>
            <a:r>
              <a:rPr kumimoji="0" lang="en-US" altLang="zh-CN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SeqStack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390116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5B44CFF-4FFA-41CF-82A9-1D1B03FA02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顺序栈的各种状态</a:t>
            </a:r>
          </a:p>
        </p:txBody>
      </p:sp>
      <p:sp>
        <p:nvSpPr>
          <p:cNvPr id="116" name="Text Box 4">
            <a:extLst>
              <a:ext uri="{FF2B5EF4-FFF2-40B4-BE49-F238E27FC236}">
                <a16:creationId xmlns:a16="http://schemas.microsoft.com/office/drawing/2014/main" id="{AE646E54-805B-4108-9533-B852D6331C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4089" y="3803720"/>
            <a:ext cx="8175822" cy="2922824"/>
          </a:xfrm>
          <a:prstGeom prst="rect">
            <a:avLst/>
          </a:prstGeom>
          <a:noFill/>
          <a:ln w="9525" cap="flat" cmpd="sng" algn="ctr">
            <a:noFill/>
            <a:prstDash val="solid"/>
            <a:headEnd/>
            <a:tailEnd/>
          </a:ln>
          <a:effectLst/>
        </p:spPr>
        <p:txBody>
          <a:bodyPr wrap="square" lIns="180000" tIns="108000" bIns="108000">
            <a:spAutoFit/>
          </a:bodyPr>
          <a:lstStyle>
            <a:defPPr>
              <a:defRPr lang="zh-CN"/>
            </a:defPPr>
            <a:lvl1pPr marL="342900" indent="-342900" algn="l">
              <a:buClr>
                <a:srgbClr val="F39801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Consolas" pitchFamily="49" charset="0"/>
              </a:defRPr>
            </a:lvl1pPr>
          </a:lstStyle>
          <a:p>
            <a:pPr marL="0" marR="0" lvl="0" indent="0" algn="l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39801"/>
              </a:buClr>
              <a:buSzTx/>
              <a:buFont typeface="Wingdings" panose="05000000000000000000" pitchFamily="2" charset="2"/>
              <a:buChar char="l"/>
              <a:tabLst/>
              <a:defRPr/>
            </a:pPr>
            <a:r>
              <a:rPr kumimoji="1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CE3B37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kumimoji="1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栈空条件：</a:t>
            </a:r>
            <a:r>
              <a:rPr kumimoji="1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top==-1</a:t>
            </a:r>
            <a:r>
              <a:rPr kumimoji="1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endParaRPr kumimoji="1" lang="en-US" altLang="zh-CN" sz="2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l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39801"/>
              </a:buClr>
              <a:buSzTx/>
              <a:buFont typeface="Wingdings" panose="05000000000000000000" pitchFamily="2" charset="2"/>
              <a:buChar char="l"/>
              <a:tabLst/>
              <a:defRPr/>
            </a:pPr>
            <a:r>
              <a:rPr kumimoji="1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kumimoji="1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栈满条件：</a:t>
            </a:r>
            <a:r>
              <a:rPr kumimoji="1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top==maxSize-1</a:t>
            </a:r>
            <a:r>
              <a:rPr kumimoji="1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endParaRPr kumimoji="1" lang="en-US" altLang="zh-CN" sz="2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l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39801"/>
              </a:buClr>
              <a:buSzTx/>
              <a:buFont typeface="Wingdings" panose="05000000000000000000" pitchFamily="2" charset="2"/>
              <a:buChar char="l"/>
              <a:tabLst/>
              <a:defRPr/>
            </a:pPr>
            <a:r>
              <a:rPr kumimoji="1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kumimoji="1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进栈操作：</a:t>
            </a:r>
            <a:r>
              <a:rPr kumimoji="1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top++</a:t>
            </a:r>
            <a:r>
              <a:rPr kumimoji="1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；将 </a:t>
            </a:r>
            <a:r>
              <a:rPr kumimoji="1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e </a:t>
            </a:r>
            <a:r>
              <a:rPr kumimoji="1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放在 </a:t>
            </a:r>
            <a:r>
              <a:rPr kumimoji="1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top </a:t>
            </a:r>
            <a:r>
              <a:rPr kumimoji="1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处；</a:t>
            </a:r>
          </a:p>
          <a:p>
            <a:pPr marL="0" marR="0" lvl="0" indent="0" algn="l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39801"/>
              </a:buClr>
              <a:buSzTx/>
              <a:buFont typeface="Wingdings" panose="05000000000000000000" pitchFamily="2" charset="2"/>
              <a:buChar char="l"/>
              <a:tabLst/>
              <a:defRPr/>
            </a:pPr>
            <a:r>
              <a:rPr kumimoji="1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kumimoji="1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退栈操作：</a:t>
            </a:r>
            <a:r>
              <a:rPr kumimoji="1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从 </a:t>
            </a:r>
            <a:r>
              <a:rPr kumimoji="1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top </a:t>
            </a:r>
            <a:r>
              <a:rPr kumimoji="1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处取出元素 </a:t>
            </a:r>
            <a:r>
              <a:rPr kumimoji="1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e</a:t>
            </a:r>
            <a:r>
              <a:rPr kumimoji="1" lang="zh-CN" altLang="en-US" sz="2400" b="0" kern="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r>
              <a:rPr kumimoji="1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top--</a:t>
            </a:r>
            <a:r>
              <a:rPr kumimoji="1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endParaRPr kumimoji="1" lang="en-US" altLang="zh-CN" sz="2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l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39801"/>
              </a:buClr>
              <a:buSzTx/>
              <a:buFont typeface="Wingdings" panose="05000000000000000000" pitchFamily="2" charset="2"/>
              <a:buChar char="l"/>
              <a:tabLst/>
              <a:defRPr/>
            </a:pPr>
            <a:r>
              <a:rPr kumimoji="1" lang="zh-CN" altLang="en-US" sz="2400" b="0" kern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取栈顶元素：</a:t>
            </a:r>
            <a:r>
              <a:rPr kumimoji="1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从 </a:t>
            </a:r>
            <a:r>
              <a:rPr kumimoji="1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top </a:t>
            </a:r>
            <a:r>
              <a:rPr kumimoji="1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处取出元素 </a:t>
            </a:r>
            <a:r>
              <a:rPr kumimoji="1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e</a:t>
            </a:r>
            <a:r>
              <a:rPr kumimoji="1" lang="zh-CN" altLang="en-US" sz="2400" b="0" kern="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endParaRPr kumimoji="1" lang="en-US" altLang="zh-CN" sz="2400" b="0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70" name="组合 169">
            <a:extLst>
              <a:ext uri="{FF2B5EF4-FFF2-40B4-BE49-F238E27FC236}">
                <a16:creationId xmlns:a16="http://schemas.microsoft.com/office/drawing/2014/main" id="{AD2D1B4A-9701-4F7F-853F-2F2AE2E95300}"/>
              </a:ext>
            </a:extLst>
          </p:cNvPr>
          <p:cNvGrpSpPr/>
          <p:nvPr/>
        </p:nvGrpSpPr>
        <p:grpSpPr>
          <a:xfrm>
            <a:off x="-67692" y="1156732"/>
            <a:ext cx="9139391" cy="2588040"/>
            <a:chOff x="-67692" y="1124744"/>
            <a:chExt cx="9139391" cy="2588040"/>
          </a:xfrm>
        </p:grpSpPr>
        <p:sp>
          <p:nvSpPr>
            <p:cNvPr id="117" name="Rectangle 6">
              <a:extLst>
                <a:ext uri="{FF2B5EF4-FFF2-40B4-BE49-F238E27FC236}">
                  <a16:creationId xmlns:a16="http://schemas.microsoft.com/office/drawing/2014/main" id="{D2BC148B-E38A-4403-BD13-281F0AF8E4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1796" y="1162843"/>
              <a:ext cx="576263" cy="360362"/>
            </a:xfrm>
            <a:prstGeom prst="rect">
              <a:avLst/>
            </a:prstGeom>
            <a:gradFill rotWithShape="1">
              <a:gsLst>
                <a:gs pos="0">
                  <a:srgbClr val="9BBB59">
                    <a:tint val="50000"/>
                    <a:satMod val="300000"/>
                  </a:srgbClr>
                </a:gs>
                <a:gs pos="35000">
                  <a:srgbClr val="9BBB59">
                    <a:tint val="37000"/>
                    <a:satMod val="300000"/>
                  </a:srgbClr>
                </a:gs>
                <a:gs pos="100000">
                  <a:srgbClr val="9BBB59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9BBB59">
                  <a:shade val="95000"/>
                  <a:satMod val="105000"/>
                </a:srgbClr>
              </a:solidFill>
              <a:prstDash val="solid"/>
              <a:headEnd/>
              <a:tailEnd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8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zh-CN" sz="20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宋体" panose="02010600030101010101" pitchFamily="2" charset="-122"/>
                <a:cs typeface="Consolas" pitchFamily="49" charset="0"/>
              </a:endParaRPr>
            </a:p>
          </p:txBody>
        </p:sp>
        <p:sp>
          <p:nvSpPr>
            <p:cNvPr id="118" name="Text Box 7">
              <a:extLst>
                <a:ext uri="{FF2B5EF4-FFF2-40B4-BE49-F238E27FC236}">
                  <a16:creationId xmlns:a16="http://schemas.microsoft.com/office/drawing/2014/main" id="{35FA8C1D-9705-4B2E-97B4-6E74A39781F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81720" y="1124744"/>
              <a:ext cx="431800" cy="342979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 eaLnBrk="1" hangingPunct="1">
                <a:lnSpc>
                  <a:spcPct val="80000"/>
                </a:lnSpc>
                <a:spcBef>
                  <a:spcPct val="50000"/>
                </a:spcBef>
              </a:pPr>
              <a:r>
                <a:rPr kumimoji="1" lang="en-US" altLang="zh-CN" sz="2000">
                  <a:solidFill>
                    <a:prstClr val="black"/>
                  </a:solidFill>
                  <a:latin typeface="Consolas" pitchFamily="49" charset="0"/>
                  <a:cs typeface="Consolas" pitchFamily="49" charset="0"/>
                </a:rPr>
                <a:t>4</a:t>
              </a:r>
            </a:p>
          </p:txBody>
        </p:sp>
        <p:sp>
          <p:nvSpPr>
            <p:cNvPr id="119" name="Rectangle 8">
              <a:extLst>
                <a:ext uri="{FF2B5EF4-FFF2-40B4-BE49-F238E27FC236}">
                  <a16:creationId xmlns:a16="http://schemas.microsoft.com/office/drawing/2014/main" id="{14271ABF-034E-4B2A-988B-A7B7C0C6B3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1796" y="1523206"/>
              <a:ext cx="576263" cy="360363"/>
            </a:xfrm>
            <a:prstGeom prst="rect">
              <a:avLst/>
            </a:prstGeom>
            <a:gradFill rotWithShape="1">
              <a:gsLst>
                <a:gs pos="0">
                  <a:srgbClr val="9BBB59">
                    <a:tint val="50000"/>
                    <a:satMod val="300000"/>
                  </a:srgbClr>
                </a:gs>
                <a:gs pos="35000">
                  <a:srgbClr val="9BBB59">
                    <a:tint val="37000"/>
                    <a:satMod val="300000"/>
                  </a:srgbClr>
                </a:gs>
                <a:gs pos="100000">
                  <a:srgbClr val="9BBB59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9BBB59">
                  <a:shade val="95000"/>
                  <a:satMod val="105000"/>
                </a:srgbClr>
              </a:solidFill>
              <a:prstDash val="solid"/>
              <a:headEnd/>
              <a:tailEnd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8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zh-CN" sz="20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宋体" panose="02010600030101010101" pitchFamily="2" charset="-122"/>
                <a:cs typeface="Consolas" pitchFamily="49" charset="0"/>
              </a:endParaRPr>
            </a:p>
          </p:txBody>
        </p:sp>
        <p:sp>
          <p:nvSpPr>
            <p:cNvPr id="120" name="Text Box 9">
              <a:extLst>
                <a:ext uri="{FF2B5EF4-FFF2-40B4-BE49-F238E27FC236}">
                  <a16:creationId xmlns:a16="http://schemas.microsoft.com/office/drawing/2014/main" id="{D22EA569-FB25-479F-BF70-2BA2463BF21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81720" y="1485106"/>
              <a:ext cx="431800" cy="342979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 eaLnBrk="1" hangingPunct="1">
                <a:lnSpc>
                  <a:spcPct val="80000"/>
                </a:lnSpc>
                <a:spcBef>
                  <a:spcPct val="50000"/>
                </a:spcBef>
              </a:pPr>
              <a:r>
                <a:rPr kumimoji="1" lang="en-US" altLang="zh-CN" sz="2000">
                  <a:solidFill>
                    <a:prstClr val="black"/>
                  </a:solidFill>
                  <a:latin typeface="Consolas" pitchFamily="49" charset="0"/>
                  <a:cs typeface="Consolas" pitchFamily="49" charset="0"/>
                </a:rPr>
                <a:t>3</a:t>
              </a:r>
            </a:p>
          </p:txBody>
        </p:sp>
        <p:sp>
          <p:nvSpPr>
            <p:cNvPr id="121" name="Rectangle 10">
              <a:extLst>
                <a:ext uri="{FF2B5EF4-FFF2-40B4-BE49-F238E27FC236}">
                  <a16:creationId xmlns:a16="http://schemas.microsoft.com/office/drawing/2014/main" id="{77C0AEF1-8AF2-49B5-9B40-7811A8B2260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1796" y="1881981"/>
              <a:ext cx="576263" cy="360363"/>
            </a:xfrm>
            <a:prstGeom prst="rect">
              <a:avLst/>
            </a:prstGeom>
            <a:gradFill rotWithShape="1">
              <a:gsLst>
                <a:gs pos="0">
                  <a:srgbClr val="9BBB59">
                    <a:tint val="50000"/>
                    <a:satMod val="300000"/>
                  </a:srgbClr>
                </a:gs>
                <a:gs pos="35000">
                  <a:srgbClr val="9BBB59">
                    <a:tint val="37000"/>
                    <a:satMod val="300000"/>
                  </a:srgbClr>
                </a:gs>
                <a:gs pos="100000">
                  <a:srgbClr val="9BBB59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9BBB59">
                  <a:shade val="95000"/>
                  <a:satMod val="105000"/>
                </a:srgbClr>
              </a:solidFill>
              <a:prstDash val="solid"/>
              <a:headEnd/>
              <a:tailEnd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8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zh-CN" sz="20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宋体" panose="02010600030101010101" pitchFamily="2" charset="-122"/>
                <a:cs typeface="Consolas" pitchFamily="49" charset="0"/>
              </a:endParaRPr>
            </a:p>
          </p:txBody>
        </p:sp>
        <p:sp>
          <p:nvSpPr>
            <p:cNvPr id="122" name="Text Box 11">
              <a:extLst>
                <a:ext uri="{FF2B5EF4-FFF2-40B4-BE49-F238E27FC236}">
                  <a16:creationId xmlns:a16="http://schemas.microsoft.com/office/drawing/2014/main" id="{7479772C-E5C3-483E-AC00-CF697608EA4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81720" y="1843881"/>
              <a:ext cx="431800" cy="342979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 eaLnBrk="1" hangingPunct="1">
                <a:lnSpc>
                  <a:spcPct val="80000"/>
                </a:lnSpc>
                <a:spcBef>
                  <a:spcPct val="50000"/>
                </a:spcBef>
              </a:pPr>
              <a:r>
                <a:rPr kumimoji="1" lang="en-US" altLang="zh-CN" sz="2000">
                  <a:solidFill>
                    <a:prstClr val="black"/>
                  </a:solidFill>
                  <a:latin typeface="Consolas" pitchFamily="49" charset="0"/>
                  <a:cs typeface="Consolas" pitchFamily="49" charset="0"/>
                </a:rPr>
                <a:t>2</a:t>
              </a:r>
            </a:p>
          </p:txBody>
        </p:sp>
        <p:sp>
          <p:nvSpPr>
            <p:cNvPr id="123" name="Rectangle 12">
              <a:extLst>
                <a:ext uri="{FF2B5EF4-FFF2-40B4-BE49-F238E27FC236}">
                  <a16:creationId xmlns:a16="http://schemas.microsoft.com/office/drawing/2014/main" id="{8AC130F2-F80E-4F37-BE1D-CD2BBA651A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1796" y="2242343"/>
              <a:ext cx="576263" cy="360362"/>
            </a:xfrm>
            <a:prstGeom prst="rect">
              <a:avLst/>
            </a:prstGeom>
            <a:gradFill rotWithShape="1">
              <a:gsLst>
                <a:gs pos="0">
                  <a:srgbClr val="9BBB59">
                    <a:tint val="50000"/>
                    <a:satMod val="300000"/>
                  </a:srgbClr>
                </a:gs>
                <a:gs pos="35000">
                  <a:srgbClr val="9BBB59">
                    <a:tint val="37000"/>
                    <a:satMod val="300000"/>
                  </a:srgbClr>
                </a:gs>
                <a:gs pos="100000">
                  <a:srgbClr val="9BBB59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9BBB59">
                  <a:shade val="95000"/>
                  <a:satMod val="105000"/>
                </a:srgbClr>
              </a:solidFill>
              <a:prstDash val="solid"/>
              <a:headEnd/>
              <a:tailEnd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8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zh-CN" sz="20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宋体" panose="02010600030101010101" pitchFamily="2" charset="-122"/>
                <a:cs typeface="Consolas" pitchFamily="49" charset="0"/>
              </a:endParaRPr>
            </a:p>
          </p:txBody>
        </p:sp>
        <p:sp>
          <p:nvSpPr>
            <p:cNvPr id="124" name="Text Box 13">
              <a:extLst>
                <a:ext uri="{FF2B5EF4-FFF2-40B4-BE49-F238E27FC236}">
                  <a16:creationId xmlns:a16="http://schemas.microsoft.com/office/drawing/2014/main" id="{041814A1-575D-466B-ACCB-3EB94C8D00D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81720" y="2294676"/>
              <a:ext cx="431800" cy="342979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 eaLnBrk="1" hangingPunct="1">
                <a:lnSpc>
                  <a:spcPct val="80000"/>
                </a:lnSpc>
                <a:spcBef>
                  <a:spcPct val="50000"/>
                </a:spcBef>
              </a:pPr>
              <a:r>
                <a:rPr kumimoji="1" lang="en-US" altLang="zh-CN" sz="2000">
                  <a:solidFill>
                    <a:prstClr val="black"/>
                  </a:solidFill>
                  <a:latin typeface="Consolas" pitchFamily="49" charset="0"/>
                  <a:cs typeface="Consolas" pitchFamily="49" charset="0"/>
                </a:rPr>
                <a:t>1</a:t>
              </a:r>
            </a:p>
          </p:txBody>
        </p:sp>
        <p:sp>
          <p:nvSpPr>
            <p:cNvPr id="125" name="Rectangle 14">
              <a:extLst>
                <a:ext uri="{FF2B5EF4-FFF2-40B4-BE49-F238E27FC236}">
                  <a16:creationId xmlns:a16="http://schemas.microsoft.com/office/drawing/2014/main" id="{B44A0257-43B3-4FF9-B066-C28AC5462E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1796" y="2602706"/>
              <a:ext cx="576263" cy="360363"/>
            </a:xfrm>
            <a:prstGeom prst="rect">
              <a:avLst/>
            </a:prstGeom>
            <a:gradFill rotWithShape="1">
              <a:gsLst>
                <a:gs pos="0">
                  <a:srgbClr val="9BBB59">
                    <a:tint val="50000"/>
                    <a:satMod val="300000"/>
                  </a:srgbClr>
                </a:gs>
                <a:gs pos="35000">
                  <a:srgbClr val="9BBB59">
                    <a:tint val="37000"/>
                    <a:satMod val="300000"/>
                  </a:srgbClr>
                </a:gs>
                <a:gs pos="100000">
                  <a:srgbClr val="9BBB59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9BBB59">
                  <a:shade val="95000"/>
                  <a:satMod val="105000"/>
                </a:srgbClr>
              </a:solidFill>
              <a:prstDash val="solid"/>
              <a:headEnd/>
              <a:tailEnd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8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zh-CN" sz="20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宋体" panose="02010600030101010101" pitchFamily="2" charset="-122"/>
                <a:cs typeface="Consolas" pitchFamily="49" charset="0"/>
              </a:endParaRPr>
            </a:p>
          </p:txBody>
        </p:sp>
        <p:sp>
          <p:nvSpPr>
            <p:cNvPr id="126" name="Text Box 15">
              <a:extLst>
                <a:ext uri="{FF2B5EF4-FFF2-40B4-BE49-F238E27FC236}">
                  <a16:creationId xmlns:a16="http://schemas.microsoft.com/office/drawing/2014/main" id="{5617FD5D-02D4-4C1C-9D2C-F0E9FB55BD8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81720" y="2655038"/>
              <a:ext cx="431800" cy="342979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 eaLnBrk="1" hangingPunct="1">
                <a:lnSpc>
                  <a:spcPct val="80000"/>
                </a:lnSpc>
                <a:spcBef>
                  <a:spcPct val="50000"/>
                </a:spcBef>
              </a:pPr>
              <a:r>
                <a:rPr kumimoji="1" lang="en-US" altLang="zh-CN" sz="2000">
                  <a:solidFill>
                    <a:prstClr val="black"/>
                  </a:solidFill>
                  <a:latin typeface="Consolas" pitchFamily="49" charset="0"/>
                  <a:cs typeface="Consolas" pitchFamily="49" charset="0"/>
                </a:rPr>
                <a:t>0</a:t>
              </a:r>
            </a:p>
          </p:txBody>
        </p:sp>
        <p:sp>
          <p:nvSpPr>
            <p:cNvPr id="127" name="Line 16">
              <a:extLst>
                <a:ext uri="{FF2B5EF4-FFF2-40B4-BE49-F238E27FC236}">
                  <a16:creationId xmlns:a16="http://schemas.microsoft.com/office/drawing/2014/main" id="{894805C3-D020-49FF-AB14-8E4C4218C52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0633" y="3107530"/>
              <a:ext cx="431800" cy="0"/>
            </a:xfrm>
            <a:prstGeom prst="line">
              <a:avLst/>
            </a:prstGeom>
            <a:noFill/>
            <a:ln w="38100">
              <a:solidFill>
                <a:srgbClr val="CE3B37"/>
              </a:solidFill>
              <a:round/>
              <a:headEnd/>
              <a:tailEnd type="triangle" w="med" len="med"/>
            </a:ln>
            <a:effectLst/>
          </p:spPr>
          <p:txBody>
            <a:bodyPr wrap="none"/>
            <a:lstStyle/>
            <a:p>
              <a:pPr algn="ctr" eaLnBrk="1" hangingPunct="1">
                <a:lnSpc>
                  <a:spcPct val="80000"/>
                </a:lnSpc>
                <a:spcBef>
                  <a:spcPct val="50000"/>
                </a:spcBef>
              </a:pPr>
              <a:endParaRPr kumimoji="1" lang="zh-CN" altLang="en-US" sz="2000">
                <a:solidFill>
                  <a:prstClr val="black"/>
                </a:solidFill>
                <a:latin typeface="Consolas" pitchFamily="49" charset="0"/>
                <a:cs typeface="Consolas" pitchFamily="49" charset="0"/>
              </a:endParaRPr>
            </a:p>
          </p:txBody>
        </p:sp>
        <p:sp>
          <p:nvSpPr>
            <p:cNvPr id="128" name="Text Box 17">
              <a:extLst>
                <a:ext uri="{FF2B5EF4-FFF2-40B4-BE49-F238E27FC236}">
                  <a16:creationId xmlns:a16="http://schemas.microsoft.com/office/drawing/2014/main" id="{63726A3B-EDA3-40AA-B303-1F22D1BE9D1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67692" y="2904330"/>
              <a:ext cx="679452" cy="342979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ctr" eaLnBrk="1" hangingPunct="1">
                <a:lnSpc>
                  <a:spcPct val="80000"/>
                </a:lnSpc>
                <a:spcBef>
                  <a:spcPct val="50000"/>
                </a:spcBef>
              </a:pPr>
              <a:r>
                <a:rPr kumimoji="1" lang="en-US" altLang="zh-CN" sz="2000" dirty="0">
                  <a:solidFill>
                    <a:prstClr val="black"/>
                  </a:solidFill>
                  <a:latin typeface="Consolas" pitchFamily="49" charset="0"/>
                  <a:cs typeface="Consolas" pitchFamily="49" charset="0"/>
                </a:rPr>
                <a:t>top</a:t>
              </a:r>
            </a:p>
          </p:txBody>
        </p:sp>
        <p:sp>
          <p:nvSpPr>
            <p:cNvPr id="129" name="Text Box 18">
              <a:extLst>
                <a:ext uri="{FF2B5EF4-FFF2-40B4-BE49-F238E27FC236}">
                  <a16:creationId xmlns:a16="http://schemas.microsoft.com/office/drawing/2014/main" id="{4DCC46D9-806F-4676-B40A-9343460B588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9996" y="3374230"/>
              <a:ext cx="1439862" cy="338554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 eaLnBrk="1" hangingPunct="1">
                <a:lnSpc>
                  <a:spcPct val="80000"/>
                </a:lnSpc>
                <a:spcBef>
                  <a:spcPct val="50000"/>
                </a:spcBef>
              </a:pPr>
              <a:r>
                <a:rPr kumimoji="1" lang="zh-CN" altLang="en-US" sz="2000" dirty="0">
                  <a:solidFill>
                    <a:prstClr val="black"/>
                  </a:solidFill>
                  <a:latin typeface="Consolas" pitchFamily="49" charset="0"/>
                  <a:ea typeface="楷体" pitchFamily="49" charset="-122"/>
                  <a:cs typeface="Consolas" pitchFamily="49" charset="0"/>
                </a:rPr>
                <a:t>（</a:t>
              </a:r>
              <a:r>
                <a:rPr kumimoji="1" lang="en-US" altLang="zh-CN" sz="2000" dirty="0">
                  <a:solidFill>
                    <a:prstClr val="black"/>
                  </a:solidFill>
                  <a:latin typeface="Consolas" pitchFamily="49" charset="0"/>
                  <a:ea typeface="楷体" pitchFamily="49" charset="-122"/>
                  <a:cs typeface="Consolas" pitchFamily="49" charset="0"/>
                </a:rPr>
                <a:t>a</a:t>
              </a:r>
              <a:r>
                <a:rPr kumimoji="1" lang="zh-CN" altLang="en-US" sz="2000" dirty="0">
                  <a:solidFill>
                    <a:prstClr val="black"/>
                  </a:solidFill>
                  <a:latin typeface="Consolas" pitchFamily="49" charset="0"/>
                  <a:ea typeface="楷体" pitchFamily="49" charset="-122"/>
                  <a:cs typeface="Consolas" pitchFamily="49" charset="0"/>
                </a:rPr>
                <a:t>）空栈</a:t>
              </a:r>
            </a:p>
          </p:txBody>
        </p:sp>
        <p:sp>
          <p:nvSpPr>
            <p:cNvPr id="130" name="Rectangle 19">
              <a:extLst>
                <a:ext uri="{FF2B5EF4-FFF2-40B4-BE49-F238E27FC236}">
                  <a16:creationId xmlns:a16="http://schemas.microsoft.com/office/drawing/2014/main" id="{3DE2647A-CFE0-4AEC-806C-733E41973D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12083" y="1180306"/>
              <a:ext cx="576262" cy="360363"/>
            </a:xfrm>
            <a:prstGeom prst="rect">
              <a:avLst/>
            </a:prstGeom>
            <a:gradFill rotWithShape="1">
              <a:gsLst>
                <a:gs pos="0">
                  <a:srgbClr val="9BBB59">
                    <a:tint val="50000"/>
                    <a:satMod val="300000"/>
                  </a:srgbClr>
                </a:gs>
                <a:gs pos="35000">
                  <a:srgbClr val="9BBB59">
                    <a:tint val="37000"/>
                    <a:satMod val="300000"/>
                  </a:srgbClr>
                </a:gs>
                <a:gs pos="100000">
                  <a:srgbClr val="9BBB59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9BBB59">
                  <a:shade val="95000"/>
                  <a:satMod val="105000"/>
                </a:srgbClr>
              </a:solidFill>
              <a:prstDash val="solid"/>
              <a:headEnd/>
              <a:tailEnd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8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zh-CN" sz="20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宋体" panose="02010600030101010101" pitchFamily="2" charset="-122"/>
                <a:cs typeface="Consolas" pitchFamily="49" charset="0"/>
              </a:endParaRPr>
            </a:p>
          </p:txBody>
        </p:sp>
        <p:sp>
          <p:nvSpPr>
            <p:cNvPr id="131" name="Text Box 20">
              <a:extLst>
                <a:ext uri="{FF2B5EF4-FFF2-40B4-BE49-F238E27FC236}">
                  <a16:creationId xmlns:a16="http://schemas.microsoft.com/office/drawing/2014/main" id="{BE9D9E90-C6F3-49B2-AB84-EE5E16B49FB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82008" y="1142206"/>
              <a:ext cx="431800" cy="342979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 eaLnBrk="1" hangingPunct="1">
                <a:lnSpc>
                  <a:spcPct val="80000"/>
                </a:lnSpc>
                <a:spcBef>
                  <a:spcPct val="50000"/>
                </a:spcBef>
              </a:pPr>
              <a:r>
                <a:rPr kumimoji="1" lang="en-US" altLang="zh-CN" sz="2000">
                  <a:solidFill>
                    <a:prstClr val="black"/>
                  </a:solidFill>
                  <a:latin typeface="Consolas" pitchFamily="49" charset="0"/>
                  <a:cs typeface="Consolas" pitchFamily="49" charset="0"/>
                </a:rPr>
                <a:t>4</a:t>
              </a:r>
            </a:p>
          </p:txBody>
        </p:sp>
        <p:sp>
          <p:nvSpPr>
            <p:cNvPr id="132" name="Rectangle 21">
              <a:extLst>
                <a:ext uri="{FF2B5EF4-FFF2-40B4-BE49-F238E27FC236}">
                  <a16:creationId xmlns:a16="http://schemas.microsoft.com/office/drawing/2014/main" id="{43C0968A-3F19-4A8D-B6A4-6C3F749D0E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12083" y="1540668"/>
              <a:ext cx="576262" cy="360362"/>
            </a:xfrm>
            <a:prstGeom prst="rect">
              <a:avLst/>
            </a:prstGeom>
            <a:gradFill rotWithShape="1">
              <a:gsLst>
                <a:gs pos="0">
                  <a:srgbClr val="9BBB59">
                    <a:tint val="50000"/>
                    <a:satMod val="300000"/>
                  </a:srgbClr>
                </a:gs>
                <a:gs pos="35000">
                  <a:srgbClr val="9BBB59">
                    <a:tint val="37000"/>
                    <a:satMod val="300000"/>
                  </a:srgbClr>
                </a:gs>
                <a:gs pos="100000">
                  <a:srgbClr val="9BBB59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9BBB59">
                  <a:shade val="95000"/>
                  <a:satMod val="105000"/>
                </a:srgbClr>
              </a:solidFill>
              <a:prstDash val="solid"/>
              <a:headEnd/>
              <a:tailEnd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8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zh-CN" sz="20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宋体" panose="02010600030101010101" pitchFamily="2" charset="-122"/>
                <a:cs typeface="Consolas" pitchFamily="49" charset="0"/>
              </a:endParaRPr>
            </a:p>
          </p:txBody>
        </p:sp>
        <p:sp>
          <p:nvSpPr>
            <p:cNvPr id="133" name="Text Box 22">
              <a:extLst>
                <a:ext uri="{FF2B5EF4-FFF2-40B4-BE49-F238E27FC236}">
                  <a16:creationId xmlns:a16="http://schemas.microsoft.com/office/drawing/2014/main" id="{2B5CA3C9-EB92-45FB-A2C0-BF1CB69D7F5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82008" y="1502569"/>
              <a:ext cx="431800" cy="342979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 eaLnBrk="1" hangingPunct="1">
                <a:lnSpc>
                  <a:spcPct val="80000"/>
                </a:lnSpc>
                <a:spcBef>
                  <a:spcPct val="50000"/>
                </a:spcBef>
              </a:pPr>
              <a:r>
                <a:rPr kumimoji="1" lang="en-US" altLang="zh-CN" sz="2000">
                  <a:solidFill>
                    <a:prstClr val="black"/>
                  </a:solidFill>
                  <a:latin typeface="Consolas" pitchFamily="49" charset="0"/>
                  <a:cs typeface="Consolas" pitchFamily="49" charset="0"/>
                </a:rPr>
                <a:t>3</a:t>
              </a:r>
            </a:p>
          </p:txBody>
        </p:sp>
        <p:sp>
          <p:nvSpPr>
            <p:cNvPr id="134" name="Rectangle 23">
              <a:extLst>
                <a:ext uri="{FF2B5EF4-FFF2-40B4-BE49-F238E27FC236}">
                  <a16:creationId xmlns:a16="http://schemas.microsoft.com/office/drawing/2014/main" id="{944FD8BF-644A-4159-A75D-AA999D688C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12083" y="1899443"/>
              <a:ext cx="576262" cy="360362"/>
            </a:xfrm>
            <a:prstGeom prst="rect">
              <a:avLst/>
            </a:prstGeom>
            <a:gradFill rotWithShape="1">
              <a:gsLst>
                <a:gs pos="0">
                  <a:srgbClr val="9BBB59">
                    <a:tint val="50000"/>
                    <a:satMod val="300000"/>
                  </a:srgbClr>
                </a:gs>
                <a:gs pos="35000">
                  <a:srgbClr val="9BBB59">
                    <a:tint val="37000"/>
                    <a:satMod val="300000"/>
                  </a:srgbClr>
                </a:gs>
                <a:gs pos="100000">
                  <a:srgbClr val="9BBB59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9BBB59">
                  <a:shade val="95000"/>
                  <a:satMod val="105000"/>
                </a:srgbClr>
              </a:solidFill>
              <a:prstDash val="solid"/>
              <a:headEnd/>
              <a:tailEnd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8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zh-CN" sz="20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宋体" panose="02010600030101010101" pitchFamily="2" charset="-122"/>
                <a:cs typeface="Consolas" pitchFamily="49" charset="0"/>
              </a:endParaRPr>
            </a:p>
          </p:txBody>
        </p:sp>
        <p:sp>
          <p:nvSpPr>
            <p:cNvPr id="135" name="Text Box 24">
              <a:extLst>
                <a:ext uri="{FF2B5EF4-FFF2-40B4-BE49-F238E27FC236}">
                  <a16:creationId xmlns:a16="http://schemas.microsoft.com/office/drawing/2014/main" id="{658F99E9-1200-4F70-A562-A3233D0845A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82008" y="1861344"/>
              <a:ext cx="431800" cy="342979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 eaLnBrk="1" hangingPunct="1">
                <a:lnSpc>
                  <a:spcPct val="80000"/>
                </a:lnSpc>
                <a:spcBef>
                  <a:spcPct val="50000"/>
                </a:spcBef>
              </a:pPr>
              <a:r>
                <a:rPr kumimoji="1" lang="en-US" altLang="zh-CN" sz="2000">
                  <a:solidFill>
                    <a:prstClr val="black"/>
                  </a:solidFill>
                  <a:latin typeface="Consolas" pitchFamily="49" charset="0"/>
                  <a:cs typeface="Consolas" pitchFamily="49" charset="0"/>
                </a:rPr>
                <a:t>2</a:t>
              </a:r>
            </a:p>
          </p:txBody>
        </p:sp>
        <p:sp>
          <p:nvSpPr>
            <p:cNvPr id="136" name="Rectangle 25">
              <a:extLst>
                <a:ext uri="{FF2B5EF4-FFF2-40B4-BE49-F238E27FC236}">
                  <a16:creationId xmlns:a16="http://schemas.microsoft.com/office/drawing/2014/main" id="{FA88F19A-1097-4A5D-BCB2-1B84EFB220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12083" y="2259806"/>
              <a:ext cx="576262" cy="360363"/>
            </a:xfrm>
            <a:prstGeom prst="rect">
              <a:avLst/>
            </a:prstGeom>
            <a:gradFill rotWithShape="1">
              <a:gsLst>
                <a:gs pos="0">
                  <a:srgbClr val="9BBB59">
                    <a:tint val="50000"/>
                    <a:satMod val="300000"/>
                  </a:srgbClr>
                </a:gs>
                <a:gs pos="35000">
                  <a:srgbClr val="9BBB59">
                    <a:tint val="37000"/>
                    <a:satMod val="300000"/>
                  </a:srgbClr>
                </a:gs>
                <a:gs pos="100000">
                  <a:srgbClr val="9BBB59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9BBB59">
                  <a:shade val="95000"/>
                  <a:satMod val="105000"/>
                </a:srgbClr>
              </a:solidFill>
              <a:prstDash val="solid"/>
              <a:headEnd/>
              <a:tailEnd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8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zh-CN" sz="20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宋体" panose="02010600030101010101" pitchFamily="2" charset="-122"/>
                <a:cs typeface="Consolas" pitchFamily="49" charset="0"/>
              </a:endParaRPr>
            </a:p>
          </p:txBody>
        </p:sp>
        <p:sp>
          <p:nvSpPr>
            <p:cNvPr id="137" name="Text Box 26">
              <a:extLst>
                <a:ext uri="{FF2B5EF4-FFF2-40B4-BE49-F238E27FC236}">
                  <a16:creationId xmlns:a16="http://schemas.microsoft.com/office/drawing/2014/main" id="{3D15B7C3-9698-4240-9B63-C11D262E86A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82008" y="2271946"/>
              <a:ext cx="431800" cy="342979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 eaLnBrk="1" hangingPunct="1">
                <a:lnSpc>
                  <a:spcPct val="80000"/>
                </a:lnSpc>
                <a:spcBef>
                  <a:spcPct val="50000"/>
                </a:spcBef>
              </a:pPr>
              <a:r>
                <a:rPr kumimoji="1" lang="en-US" altLang="zh-CN" sz="2000">
                  <a:solidFill>
                    <a:prstClr val="black"/>
                  </a:solidFill>
                  <a:latin typeface="Consolas" pitchFamily="49" charset="0"/>
                  <a:cs typeface="Consolas" pitchFamily="49" charset="0"/>
                </a:rPr>
                <a:t>1</a:t>
              </a:r>
            </a:p>
          </p:txBody>
        </p:sp>
        <p:sp>
          <p:nvSpPr>
            <p:cNvPr id="138" name="Rectangle 27">
              <a:extLst>
                <a:ext uri="{FF2B5EF4-FFF2-40B4-BE49-F238E27FC236}">
                  <a16:creationId xmlns:a16="http://schemas.microsoft.com/office/drawing/2014/main" id="{76AC0124-4DA6-4DC6-A33C-F7E800A6F5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12083" y="2620168"/>
              <a:ext cx="576262" cy="360362"/>
            </a:xfrm>
            <a:prstGeom prst="rect">
              <a:avLst/>
            </a:prstGeom>
            <a:gradFill rotWithShape="1">
              <a:gsLst>
                <a:gs pos="0">
                  <a:srgbClr val="4BACC6">
                    <a:tint val="50000"/>
                    <a:satMod val="300000"/>
                  </a:srgbClr>
                </a:gs>
                <a:gs pos="35000">
                  <a:srgbClr val="4BACC6">
                    <a:tint val="37000"/>
                    <a:satMod val="300000"/>
                  </a:srgbClr>
                </a:gs>
                <a:gs pos="100000">
                  <a:srgbClr val="4BACC6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4BACC6">
                  <a:shade val="95000"/>
                  <a:satMod val="105000"/>
                </a:srgbClr>
              </a:solidFill>
              <a:prstDash val="solid"/>
              <a:headEnd/>
              <a:tailEnd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8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0" i="1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nsolas" pitchFamily="49" charset="0"/>
                  <a:ea typeface="宋体" panose="02010600030101010101" pitchFamily="2" charset="-122"/>
                  <a:cs typeface="Consolas" pitchFamily="49" charset="0"/>
                </a:rPr>
                <a:t>a</a:t>
              </a:r>
            </a:p>
          </p:txBody>
        </p:sp>
        <p:sp>
          <p:nvSpPr>
            <p:cNvPr id="139" name="Text Box 28">
              <a:extLst>
                <a:ext uri="{FF2B5EF4-FFF2-40B4-BE49-F238E27FC236}">
                  <a16:creationId xmlns:a16="http://schemas.microsoft.com/office/drawing/2014/main" id="{96B0C4AE-8E60-4344-80FB-1CEE4ABD3A4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82008" y="2632309"/>
              <a:ext cx="431800" cy="342979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 eaLnBrk="1" hangingPunct="1">
                <a:lnSpc>
                  <a:spcPct val="80000"/>
                </a:lnSpc>
                <a:spcBef>
                  <a:spcPct val="50000"/>
                </a:spcBef>
              </a:pPr>
              <a:r>
                <a:rPr kumimoji="1" lang="en-US" altLang="zh-CN" sz="2000">
                  <a:solidFill>
                    <a:prstClr val="black"/>
                  </a:solidFill>
                  <a:latin typeface="Consolas" pitchFamily="49" charset="0"/>
                  <a:cs typeface="Consolas" pitchFamily="49" charset="0"/>
                </a:rPr>
                <a:t>0</a:t>
              </a:r>
            </a:p>
          </p:txBody>
        </p:sp>
        <p:sp>
          <p:nvSpPr>
            <p:cNvPr id="140" name="Line 29">
              <a:extLst>
                <a:ext uri="{FF2B5EF4-FFF2-40B4-BE49-F238E27FC236}">
                  <a16:creationId xmlns:a16="http://schemas.microsoft.com/office/drawing/2014/main" id="{724541DF-0DDF-471F-B54E-BF2A7ABEC14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00920" y="2797968"/>
              <a:ext cx="431800" cy="0"/>
            </a:xfrm>
            <a:prstGeom prst="line">
              <a:avLst/>
            </a:prstGeom>
            <a:noFill/>
            <a:ln w="38100">
              <a:solidFill>
                <a:srgbClr val="CE3B37"/>
              </a:solidFill>
              <a:round/>
              <a:headEnd/>
              <a:tailEnd type="triangle" w="med" len="med"/>
            </a:ln>
            <a:effectLst/>
          </p:spPr>
          <p:txBody>
            <a:bodyPr wrap="none"/>
            <a:lstStyle/>
            <a:p>
              <a:pPr algn="ctr" eaLnBrk="1" hangingPunct="1">
                <a:lnSpc>
                  <a:spcPct val="80000"/>
                </a:lnSpc>
                <a:spcBef>
                  <a:spcPct val="50000"/>
                </a:spcBef>
              </a:pPr>
              <a:endParaRPr kumimoji="1" lang="zh-CN" altLang="en-US" sz="2000">
                <a:solidFill>
                  <a:prstClr val="black"/>
                </a:solidFill>
                <a:latin typeface="Consolas" pitchFamily="49" charset="0"/>
                <a:cs typeface="Consolas" pitchFamily="49" charset="0"/>
              </a:endParaRPr>
            </a:p>
          </p:txBody>
        </p:sp>
        <p:sp>
          <p:nvSpPr>
            <p:cNvPr id="141" name="Text Box 30">
              <a:extLst>
                <a:ext uri="{FF2B5EF4-FFF2-40B4-BE49-F238E27FC236}">
                  <a16:creationId xmlns:a16="http://schemas.microsoft.com/office/drawing/2014/main" id="{88CFE1A6-2F3C-4924-A4DD-D32B378C368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75459" y="2594768"/>
              <a:ext cx="611186" cy="342979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ctr" eaLnBrk="1" hangingPunct="1">
                <a:lnSpc>
                  <a:spcPct val="80000"/>
                </a:lnSpc>
                <a:spcBef>
                  <a:spcPct val="50000"/>
                </a:spcBef>
              </a:pPr>
              <a:r>
                <a:rPr kumimoji="1" lang="en-US" altLang="zh-CN" sz="2000" dirty="0">
                  <a:solidFill>
                    <a:prstClr val="black"/>
                  </a:solidFill>
                  <a:latin typeface="Consolas" pitchFamily="49" charset="0"/>
                  <a:cs typeface="Consolas" pitchFamily="49" charset="0"/>
                </a:rPr>
                <a:t>top</a:t>
              </a:r>
            </a:p>
          </p:txBody>
        </p:sp>
        <p:sp>
          <p:nvSpPr>
            <p:cNvPr id="142" name="Text Box 31">
              <a:extLst>
                <a:ext uri="{FF2B5EF4-FFF2-40B4-BE49-F238E27FC236}">
                  <a16:creationId xmlns:a16="http://schemas.microsoft.com/office/drawing/2014/main" id="{1D4261EB-D8A1-4BFF-8243-3548586024C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44434" y="3370329"/>
              <a:ext cx="1731962" cy="338554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 eaLnBrk="1" hangingPunct="1">
                <a:lnSpc>
                  <a:spcPct val="80000"/>
                </a:lnSpc>
                <a:spcBef>
                  <a:spcPct val="50000"/>
                </a:spcBef>
              </a:pPr>
              <a:r>
                <a:rPr kumimoji="1" lang="zh-CN" altLang="en-US" sz="2000" dirty="0">
                  <a:solidFill>
                    <a:prstClr val="black"/>
                  </a:solidFill>
                  <a:latin typeface="Consolas" pitchFamily="49" charset="0"/>
                  <a:ea typeface="楷体" pitchFamily="49" charset="-122"/>
                  <a:cs typeface="Consolas" pitchFamily="49" charset="0"/>
                </a:rPr>
                <a:t>（</a:t>
              </a:r>
              <a:r>
                <a:rPr kumimoji="1" lang="en-US" altLang="zh-CN" sz="2000" dirty="0">
                  <a:solidFill>
                    <a:prstClr val="black"/>
                  </a:solidFill>
                  <a:latin typeface="Consolas" pitchFamily="49" charset="0"/>
                  <a:ea typeface="楷体" pitchFamily="49" charset="-122"/>
                  <a:cs typeface="Consolas" pitchFamily="49" charset="0"/>
                </a:rPr>
                <a:t>b</a:t>
              </a:r>
              <a:r>
                <a:rPr kumimoji="1" lang="zh-CN" altLang="en-US" sz="2000" dirty="0">
                  <a:solidFill>
                    <a:prstClr val="black"/>
                  </a:solidFill>
                  <a:latin typeface="Consolas" pitchFamily="49" charset="0"/>
                  <a:ea typeface="楷体" pitchFamily="49" charset="-122"/>
                  <a:cs typeface="Consolas" pitchFamily="49" charset="0"/>
                </a:rPr>
                <a:t>）</a:t>
              </a:r>
              <a:r>
                <a:rPr kumimoji="1" lang="en-US" altLang="zh-CN" sz="2000" i="1" dirty="0">
                  <a:solidFill>
                    <a:prstClr val="black"/>
                  </a:solidFill>
                  <a:latin typeface="Consolas" pitchFamily="49" charset="0"/>
                  <a:ea typeface="楷体" pitchFamily="49" charset="-122"/>
                  <a:cs typeface="Consolas" pitchFamily="49" charset="0"/>
                </a:rPr>
                <a:t>a</a:t>
              </a:r>
              <a:r>
                <a:rPr kumimoji="1" lang="zh-CN" altLang="en-US" sz="2000" dirty="0">
                  <a:solidFill>
                    <a:prstClr val="black"/>
                  </a:solidFill>
                  <a:latin typeface="Consolas" pitchFamily="49" charset="0"/>
                  <a:ea typeface="楷体" pitchFamily="49" charset="-122"/>
                  <a:cs typeface="Consolas" pitchFamily="49" charset="0"/>
                </a:rPr>
                <a:t>进栈</a:t>
              </a:r>
            </a:p>
          </p:txBody>
        </p:sp>
        <p:sp>
          <p:nvSpPr>
            <p:cNvPr id="143" name="Rectangle 32">
              <a:extLst>
                <a:ext uri="{FF2B5EF4-FFF2-40B4-BE49-F238E27FC236}">
                  <a16:creationId xmlns:a16="http://schemas.microsoft.com/office/drawing/2014/main" id="{E6E8F37E-D46A-4CE7-B18F-75872D0559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59077" y="1180306"/>
              <a:ext cx="576262" cy="360363"/>
            </a:xfrm>
            <a:prstGeom prst="rect">
              <a:avLst/>
            </a:prstGeom>
            <a:gradFill rotWithShape="1">
              <a:gsLst>
                <a:gs pos="0">
                  <a:srgbClr val="4BACC6">
                    <a:tint val="50000"/>
                    <a:satMod val="300000"/>
                  </a:srgbClr>
                </a:gs>
                <a:gs pos="35000">
                  <a:srgbClr val="4BACC6">
                    <a:tint val="37000"/>
                    <a:satMod val="300000"/>
                  </a:srgbClr>
                </a:gs>
                <a:gs pos="100000">
                  <a:srgbClr val="4BACC6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4BACC6">
                  <a:shade val="95000"/>
                  <a:satMod val="105000"/>
                </a:srgbClr>
              </a:solidFill>
              <a:prstDash val="solid"/>
              <a:headEnd/>
              <a:tailEnd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8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0" i="1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nsolas" pitchFamily="49" charset="0"/>
                  <a:ea typeface="宋体" panose="02010600030101010101" pitchFamily="2" charset="-122"/>
                  <a:cs typeface="Consolas" pitchFamily="49" charset="0"/>
                </a:rPr>
                <a:t>e</a:t>
              </a:r>
            </a:p>
          </p:txBody>
        </p:sp>
        <p:sp>
          <p:nvSpPr>
            <p:cNvPr id="144" name="Text Box 33">
              <a:extLst>
                <a:ext uri="{FF2B5EF4-FFF2-40B4-BE49-F238E27FC236}">
                  <a16:creationId xmlns:a16="http://schemas.microsoft.com/office/drawing/2014/main" id="{9168E527-7306-416C-A8A3-39E9261DA62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29002" y="1142206"/>
              <a:ext cx="431800" cy="342979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 eaLnBrk="1" hangingPunct="1">
                <a:lnSpc>
                  <a:spcPct val="80000"/>
                </a:lnSpc>
                <a:spcBef>
                  <a:spcPct val="50000"/>
                </a:spcBef>
              </a:pPr>
              <a:r>
                <a:rPr kumimoji="1" lang="en-US" altLang="zh-CN" sz="2000">
                  <a:solidFill>
                    <a:prstClr val="black"/>
                  </a:solidFill>
                  <a:latin typeface="Consolas" pitchFamily="49" charset="0"/>
                  <a:cs typeface="Consolas" pitchFamily="49" charset="0"/>
                </a:rPr>
                <a:t>4</a:t>
              </a:r>
            </a:p>
          </p:txBody>
        </p:sp>
        <p:sp>
          <p:nvSpPr>
            <p:cNvPr id="145" name="Rectangle 34">
              <a:extLst>
                <a:ext uri="{FF2B5EF4-FFF2-40B4-BE49-F238E27FC236}">
                  <a16:creationId xmlns:a16="http://schemas.microsoft.com/office/drawing/2014/main" id="{270ACCC6-524A-4E7A-AFC3-974D758855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59077" y="1540668"/>
              <a:ext cx="576262" cy="360362"/>
            </a:xfrm>
            <a:prstGeom prst="rect">
              <a:avLst/>
            </a:prstGeom>
            <a:gradFill rotWithShape="1">
              <a:gsLst>
                <a:gs pos="0">
                  <a:srgbClr val="4BACC6">
                    <a:tint val="50000"/>
                    <a:satMod val="300000"/>
                  </a:srgbClr>
                </a:gs>
                <a:gs pos="35000">
                  <a:srgbClr val="4BACC6">
                    <a:tint val="37000"/>
                    <a:satMod val="300000"/>
                  </a:srgbClr>
                </a:gs>
                <a:gs pos="100000">
                  <a:srgbClr val="4BACC6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4BACC6">
                  <a:shade val="95000"/>
                  <a:satMod val="105000"/>
                </a:srgbClr>
              </a:solidFill>
              <a:prstDash val="solid"/>
              <a:headEnd/>
              <a:tailEnd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8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0" i="1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nsolas" pitchFamily="49" charset="0"/>
                  <a:ea typeface="宋体" panose="02010600030101010101" pitchFamily="2" charset="-122"/>
                  <a:cs typeface="Consolas" pitchFamily="49" charset="0"/>
                </a:rPr>
                <a:t>d</a:t>
              </a:r>
            </a:p>
          </p:txBody>
        </p:sp>
        <p:sp>
          <p:nvSpPr>
            <p:cNvPr id="146" name="Text Box 35">
              <a:extLst>
                <a:ext uri="{FF2B5EF4-FFF2-40B4-BE49-F238E27FC236}">
                  <a16:creationId xmlns:a16="http://schemas.microsoft.com/office/drawing/2014/main" id="{730CAA1A-DB52-41A0-BF66-2B2BB390A76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29002" y="1502569"/>
              <a:ext cx="431800" cy="342979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 eaLnBrk="1" hangingPunct="1">
                <a:lnSpc>
                  <a:spcPct val="80000"/>
                </a:lnSpc>
                <a:spcBef>
                  <a:spcPct val="50000"/>
                </a:spcBef>
              </a:pPr>
              <a:r>
                <a:rPr kumimoji="1" lang="en-US" altLang="zh-CN" sz="2000">
                  <a:solidFill>
                    <a:prstClr val="black"/>
                  </a:solidFill>
                  <a:latin typeface="Consolas" pitchFamily="49" charset="0"/>
                  <a:cs typeface="Consolas" pitchFamily="49" charset="0"/>
                </a:rPr>
                <a:t>3</a:t>
              </a:r>
            </a:p>
          </p:txBody>
        </p:sp>
        <p:sp>
          <p:nvSpPr>
            <p:cNvPr id="147" name="Rectangle 36">
              <a:extLst>
                <a:ext uri="{FF2B5EF4-FFF2-40B4-BE49-F238E27FC236}">
                  <a16:creationId xmlns:a16="http://schemas.microsoft.com/office/drawing/2014/main" id="{9D727CC8-9379-4134-9A10-7CA08815A2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59077" y="1899443"/>
              <a:ext cx="576262" cy="360362"/>
            </a:xfrm>
            <a:prstGeom prst="rect">
              <a:avLst/>
            </a:prstGeom>
            <a:gradFill rotWithShape="1">
              <a:gsLst>
                <a:gs pos="0">
                  <a:srgbClr val="4BACC6">
                    <a:tint val="50000"/>
                    <a:satMod val="300000"/>
                  </a:srgbClr>
                </a:gs>
                <a:gs pos="35000">
                  <a:srgbClr val="4BACC6">
                    <a:tint val="37000"/>
                    <a:satMod val="300000"/>
                  </a:srgbClr>
                </a:gs>
                <a:gs pos="100000">
                  <a:srgbClr val="4BACC6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4BACC6">
                  <a:shade val="95000"/>
                  <a:satMod val="105000"/>
                </a:srgbClr>
              </a:solidFill>
              <a:prstDash val="solid"/>
              <a:headEnd/>
              <a:tailEnd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8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0" i="1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nsolas" pitchFamily="49" charset="0"/>
                  <a:ea typeface="宋体" panose="02010600030101010101" pitchFamily="2" charset="-122"/>
                  <a:cs typeface="Consolas" pitchFamily="49" charset="0"/>
                </a:rPr>
                <a:t>c</a:t>
              </a:r>
            </a:p>
          </p:txBody>
        </p:sp>
        <p:sp>
          <p:nvSpPr>
            <p:cNvPr id="148" name="Text Box 37">
              <a:extLst>
                <a:ext uri="{FF2B5EF4-FFF2-40B4-BE49-F238E27FC236}">
                  <a16:creationId xmlns:a16="http://schemas.microsoft.com/office/drawing/2014/main" id="{83DECA99-7186-4D1A-A93D-1D95EA36471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29002" y="1861344"/>
              <a:ext cx="431800" cy="342979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 eaLnBrk="1" hangingPunct="1">
                <a:lnSpc>
                  <a:spcPct val="80000"/>
                </a:lnSpc>
                <a:spcBef>
                  <a:spcPct val="50000"/>
                </a:spcBef>
              </a:pPr>
              <a:r>
                <a:rPr kumimoji="1" lang="en-US" altLang="zh-CN" sz="2000">
                  <a:solidFill>
                    <a:prstClr val="black"/>
                  </a:solidFill>
                  <a:latin typeface="Consolas" pitchFamily="49" charset="0"/>
                  <a:cs typeface="Consolas" pitchFamily="49" charset="0"/>
                </a:rPr>
                <a:t>2</a:t>
              </a:r>
            </a:p>
          </p:txBody>
        </p:sp>
        <p:sp>
          <p:nvSpPr>
            <p:cNvPr id="149" name="Rectangle 38">
              <a:extLst>
                <a:ext uri="{FF2B5EF4-FFF2-40B4-BE49-F238E27FC236}">
                  <a16:creationId xmlns:a16="http://schemas.microsoft.com/office/drawing/2014/main" id="{95B8C529-A82D-440D-A1A6-496AEC5F89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59077" y="2259806"/>
              <a:ext cx="576262" cy="360363"/>
            </a:xfrm>
            <a:prstGeom prst="rect">
              <a:avLst/>
            </a:prstGeom>
            <a:gradFill rotWithShape="1">
              <a:gsLst>
                <a:gs pos="0">
                  <a:srgbClr val="4BACC6">
                    <a:tint val="50000"/>
                    <a:satMod val="300000"/>
                  </a:srgbClr>
                </a:gs>
                <a:gs pos="35000">
                  <a:srgbClr val="4BACC6">
                    <a:tint val="37000"/>
                    <a:satMod val="300000"/>
                  </a:srgbClr>
                </a:gs>
                <a:gs pos="100000">
                  <a:srgbClr val="4BACC6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4BACC6">
                  <a:shade val="95000"/>
                  <a:satMod val="105000"/>
                </a:srgbClr>
              </a:solidFill>
              <a:prstDash val="solid"/>
              <a:headEnd/>
              <a:tailEnd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8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0" i="1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nsolas" pitchFamily="49" charset="0"/>
                  <a:ea typeface="宋体" panose="02010600030101010101" pitchFamily="2" charset="-122"/>
                  <a:cs typeface="Consolas" pitchFamily="49" charset="0"/>
                </a:rPr>
                <a:t>b</a:t>
              </a:r>
            </a:p>
          </p:txBody>
        </p:sp>
        <p:sp>
          <p:nvSpPr>
            <p:cNvPr id="150" name="Text Box 39">
              <a:extLst>
                <a:ext uri="{FF2B5EF4-FFF2-40B4-BE49-F238E27FC236}">
                  <a16:creationId xmlns:a16="http://schemas.microsoft.com/office/drawing/2014/main" id="{AB76C24B-8E4D-489C-A013-1DED4FABC70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29002" y="2281994"/>
              <a:ext cx="431800" cy="342979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 eaLnBrk="1" hangingPunct="1">
                <a:lnSpc>
                  <a:spcPct val="80000"/>
                </a:lnSpc>
                <a:spcBef>
                  <a:spcPct val="50000"/>
                </a:spcBef>
              </a:pPr>
              <a:r>
                <a:rPr kumimoji="1" lang="en-US" altLang="zh-CN" sz="2000">
                  <a:solidFill>
                    <a:prstClr val="black"/>
                  </a:solidFill>
                  <a:latin typeface="Consolas" pitchFamily="49" charset="0"/>
                  <a:cs typeface="Consolas" pitchFamily="49" charset="0"/>
                </a:rPr>
                <a:t>1</a:t>
              </a:r>
            </a:p>
          </p:txBody>
        </p:sp>
        <p:sp>
          <p:nvSpPr>
            <p:cNvPr id="151" name="Rectangle 40">
              <a:extLst>
                <a:ext uri="{FF2B5EF4-FFF2-40B4-BE49-F238E27FC236}">
                  <a16:creationId xmlns:a16="http://schemas.microsoft.com/office/drawing/2014/main" id="{04067202-8B1C-4303-A4CE-B1BEE6CE04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59077" y="2620168"/>
              <a:ext cx="576262" cy="360362"/>
            </a:xfrm>
            <a:prstGeom prst="rect">
              <a:avLst/>
            </a:prstGeom>
            <a:gradFill rotWithShape="1">
              <a:gsLst>
                <a:gs pos="0">
                  <a:srgbClr val="4BACC6">
                    <a:tint val="50000"/>
                    <a:satMod val="300000"/>
                  </a:srgbClr>
                </a:gs>
                <a:gs pos="35000">
                  <a:srgbClr val="4BACC6">
                    <a:tint val="37000"/>
                    <a:satMod val="300000"/>
                  </a:srgbClr>
                </a:gs>
                <a:gs pos="100000">
                  <a:srgbClr val="4BACC6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4BACC6">
                  <a:shade val="95000"/>
                  <a:satMod val="105000"/>
                </a:srgbClr>
              </a:solidFill>
              <a:prstDash val="solid"/>
              <a:headEnd/>
              <a:tailEnd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8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0" i="1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nsolas" pitchFamily="49" charset="0"/>
                  <a:ea typeface="宋体" panose="02010600030101010101" pitchFamily="2" charset="-122"/>
                  <a:cs typeface="Consolas" pitchFamily="49" charset="0"/>
                </a:rPr>
                <a:t>a</a:t>
              </a:r>
            </a:p>
          </p:txBody>
        </p:sp>
        <p:sp>
          <p:nvSpPr>
            <p:cNvPr id="152" name="Text Box 41">
              <a:extLst>
                <a:ext uri="{FF2B5EF4-FFF2-40B4-BE49-F238E27FC236}">
                  <a16:creationId xmlns:a16="http://schemas.microsoft.com/office/drawing/2014/main" id="{1D25BE1A-EA6A-4E79-B0D5-DF05D438BB2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29002" y="2642357"/>
              <a:ext cx="431800" cy="342979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 eaLnBrk="1" hangingPunct="1">
                <a:lnSpc>
                  <a:spcPct val="80000"/>
                </a:lnSpc>
                <a:spcBef>
                  <a:spcPct val="50000"/>
                </a:spcBef>
              </a:pPr>
              <a:r>
                <a:rPr kumimoji="1" lang="en-US" altLang="zh-CN" sz="2000">
                  <a:solidFill>
                    <a:prstClr val="black"/>
                  </a:solidFill>
                  <a:latin typeface="Consolas" pitchFamily="49" charset="0"/>
                  <a:cs typeface="Consolas" pitchFamily="49" charset="0"/>
                </a:rPr>
                <a:t>0</a:t>
              </a:r>
            </a:p>
          </p:txBody>
        </p:sp>
        <p:sp>
          <p:nvSpPr>
            <p:cNvPr id="153" name="Line 42">
              <a:extLst>
                <a:ext uri="{FF2B5EF4-FFF2-40B4-BE49-F238E27FC236}">
                  <a16:creationId xmlns:a16="http://schemas.microsoft.com/office/drawing/2014/main" id="{EC2402F7-F9A7-49E3-A30B-0FDCE352647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47914" y="1404143"/>
              <a:ext cx="431800" cy="0"/>
            </a:xfrm>
            <a:prstGeom prst="line">
              <a:avLst/>
            </a:prstGeom>
            <a:noFill/>
            <a:ln w="38100">
              <a:solidFill>
                <a:srgbClr val="CE3B37"/>
              </a:solidFill>
              <a:round/>
              <a:headEnd/>
              <a:tailEnd type="triangle" w="med" len="med"/>
            </a:ln>
            <a:effectLst/>
          </p:spPr>
          <p:txBody>
            <a:bodyPr wrap="none"/>
            <a:lstStyle/>
            <a:p>
              <a:pPr algn="ctr" eaLnBrk="1" hangingPunct="1">
                <a:lnSpc>
                  <a:spcPct val="80000"/>
                </a:lnSpc>
                <a:spcBef>
                  <a:spcPct val="50000"/>
                </a:spcBef>
              </a:pPr>
              <a:endParaRPr kumimoji="1" lang="zh-CN" altLang="en-US" sz="2000">
                <a:solidFill>
                  <a:prstClr val="black"/>
                </a:solidFill>
                <a:latin typeface="Consolas" pitchFamily="49" charset="0"/>
                <a:cs typeface="Consolas" pitchFamily="49" charset="0"/>
              </a:endParaRPr>
            </a:p>
          </p:txBody>
        </p:sp>
        <p:sp>
          <p:nvSpPr>
            <p:cNvPr id="154" name="Text Box 43">
              <a:extLst>
                <a:ext uri="{FF2B5EF4-FFF2-40B4-BE49-F238E27FC236}">
                  <a16:creationId xmlns:a16="http://schemas.microsoft.com/office/drawing/2014/main" id="{15A4D92D-6A5F-4E94-B978-C9E38650896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72000" y="1200943"/>
              <a:ext cx="661639" cy="342979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ctr" eaLnBrk="1" hangingPunct="1">
                <a:lnSpc>
                  <a:spcPct val="80000"/>
                </a:lnSpc>
                <a:spcBef>
                  <a:spcPct val="50000"/>
                </a:spcBef>
              </a:pPr>
              <a:r>
                <a:rPr kumimoji="1" lang="en-US" altLang="zh-CN" sz="2000" dirty="0">
                  <a:solidFill>
                    <a:prstClr val="black"/>
                  </a:solidFill>
                  <a:latin typeface="Consolas" pitchFamily="49" charset="0"/>
                  <a:cs typeface="Consolas" pitchFamily="49" charset="0"/>
                </a:rPr>
                <a:t>top</a:t>
              </a:r>
            </a:p>
          </p:txBody>
        </p:sp>
        <p:sp>
          <p:nvSpPr>
            <p:cNvPr id="155" name="Text Box 44">
              <a:extLst>
                <a:ext uri="{FF2B5EF4-FFF2-40B4-BE49-F238E27FC236}">
                  <a16:creationId xmlns:a16="http://schemas.microsoft.com/office/drawing/2014/main" id="{227D7453-A136-4259-A6EC-8366EF28230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67790" y="3346795"/>
              <a:ext cx="2708872" cy="338554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ctr" eaLnBrk="1" hangingPunct="1">
                <a:lnSpc>
                  <a:spcPct val="80000"/>
                </a:lnSpc>
                <a:spcBef>
                  <a:spcPct val="50000"/>
                </a:spcBef>
              </a:pPr>
              <a:r>
                <a:rPr kumimoji="1" lang="zh-CN" altLang="en-US" sz="2000" dirty="0">
                  <a:solidFill>
                    <a:prstClr val="black"/>
                  </a:solidFill>
                  <a:latin typeface="Consolas" pitchFamily="49" charset="0"/>
                  <a:ea typeface="楷体" pitchFamily="49" charset="-122"/>
                  <a:cs typeface="Consolas" pitchFamily="49" charset="0"/>
                </a:rPr>
                <a:t>（</a:t>
              </a:r>
              <a:r>
                <a:rPr kumimoji="1" lang="en-US" altLang="zh-CN" sz="2000" dirty="0">
                  <a:solidFill>
                    <a:prstClr val="black"/>
                  </a:solidFill>
                  <a:latin typeface="Consolas" pitchFamily="49" charset="0"/>
                  <a:ea typeface="楷体" pitchFamily="49" charset="-122"/>
                  <a:cs typeface="Consolas" pitchFamily="49" charset="0"/>
                </a:rPr>
                <a:t>c</a:t>
              </a:r>
              <a:r>
                <a:rPr kumimoji="1" lang="zh-CN" altLang="en-US" sz="2000" dirty="0">
                  <a:solidFill>
                    <a:prstClr val="black"/>
                  </a:solidFill>
                  <a:latin typeface="Consolas" pitchFamily="49" charset="0"/>
                  <a:ea typeface="楷体" pitchFamily="49" charset="-122"/>
                  <a:cs typeface="Consolas" pitchFamily="49" charset="0"/>
                </a:rPr>
                <a:t>）</a:t>
              </a:r>
              <a:r>
                <a:rPr kumimoji="1" lang="en-US" altLang="zh-CN" sz="2000" i="1" dirty="0">
                  <a:solidFill>
                    <a:prstClr val="black"/>
                  </a:solidFill>
                  <a:latin typeface="Consolas" pitchFamily="49" charset="0"/>
                  <a:ea typeface="楷体" pitchFamily="49" charset="-122"/>
                  <a:cs typeface="Consolas" pitchFamily="49" charset="0"/>
                </a:rPr>
                <a:t>b</a:t>
              </a:r>
              <a:r>
                <a:rPr kumimoji="1" lang="zh-CN" altLang="en-US" sz="2000" dirty="0">
                  <a:solidFill>
                    <a:prstClr val="black"/>
                  </a:solidFill>
                  <a:latin typeface="Consolas" pitchFamily="49" charset="0"/>
                  <a:ea typeface="楷体" pitchFamily="49" charset="-122"/>
                  <a:cs typeface="Consolas" pitchFamily="49" charset="0"/>
                </a:rPr>
                <a:t>、</a:t>
              </a:r>
              <a:r>
                <a:rPr kumimoji="1" lang="en-US" altLang="zh-CN" sz="2000" i="1" dirty="0">
                  <a:solidFill>
                    <a:prstClr val="black"/>
                  </a:solidFill>
                  <a:latin typeface="Consolas" pitchFamily="49" charset="0"/>
                  <a:ea typeface="楷体" pitchFamily="49" charset="-122"/>
                  <a:cs typeface="Consolas" pitchFamily="49" charset="0"/>
                </a:rPr>
                <a:t>c</a:t>
              </a:r>
              <a:r>
                <a:rPr kumimoji="1" lang="zh-CN" altLang="en-US" sz="2000" dirty="0">
                  <a:solidFill>
                    <a:prstClr val="black"/>
                  </a:solidFill>
                  <a:latin typeface="Consolas" pitchFamily="49" charset="0"/>
                  <a:ea typeface="楷体" pitchFamily="49" charset="-122"/>
                  <a:cs typeface="Consolas" pitchFamily="49" charset="0"/>
                </a:rPr>
                <a:t>、</a:t>
              </a:r>
              <a:r>
                <a:rPr kumimoji="1" lang="en-US" altLang="zh-CN" sz="2000" i="1" dirty="0">
                  <a:solidFill>
                    <a:prstClr val="black"/>
                  </a:solidFill>
                  <a:latin typeface="Consolas" pitchFamily="49" charset="0"/>
                  <a:ea typeface="楷体" pitchFamily="49" charset="-122"/>
                  <a:cs typeface="Consolas" pitchFamily="49" charset="0"/>
                </a:rPr>
                <a:t>d</a:t>
              </a:r>
              <a:r>
                <a:rPr kumimoji="1" lang="zh-CN" altLang="en-US" sz="2000" dirty="0">
                  <a:solidFill>
                    <a:prstClr val="black"/>
                  </a:solidFill>
                  <a:latin typeface="Consolas" pitchFamily="49" charset="0"/>
                  <a:ea typeface="楷体" pitchFamily="49" charset="-122"/>
                  <a:cs typeface="Consolas" pitchFamily="49" charset="0"/>
                </a:rPr>
                <a:t>、</a:t>
              </a:r>
              <a:r>
                <a:rPr kumimoji="1" lang="en-US" altLang="zh-CN" sz="2000" i="1" dirty="0">
                  <a:solidFill>
                    <a:prstClr val="black"/>
                  </a:solidFill>
                  <a:latin typeface="Consolas" pitchFamily="49" charset="0"/>
                  <a:ea typeface="楷体" pitchFamily="49" charset="-122"/>
                  <a:cs typeface="Consolas" pitchFamily="49" charset="0"/>
                </a:rPr>
                <a:t>e</a:t>
              </a:r>
              <a:r>
                <a:rPr kumimoji="1" lang="zh-CN" altLang="en-US" sz="2000" dirty="0">
                  <a:solidFill>
                    <a:prstClr val="black"/>
                  </a:solidFill>
                  <a:latin typeface="Consolas" pitchFamily="49" charset="0"/>
                  <a:ea typeface="楷体" pitchFamily="49" charset="-122"/>
                  <a:cs typeface="Consolas" pitchFamily="49" charset="0"/>
                </a:rPr>
                <a:t>进栈</a:t>
              </a:r>
            </a:p>
          </p:txBody>
        </p:sp>
        <p:sp>
          <p:nvSpPr>
            <p:cNvPr id="156" name="Rectangle 45">
              <a:extLst>
                <a:ext uri="{FF2B5EF4-FFF2-40B4-BE49-F238E27FC236}">
                  <a16:creationId xmlns:a16="http://schemas.microsoft.com/office/drawing/2014/main" id="{CE562E8B-E2F2-4CDB-89C1-B1720A44C7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935465" y="1180306"/>
              <a:ext cx="576263" cy="360363"/>
            </a:xfrm>
            <a:prstGeom prst="rect">
              <a:avLst/>
            </a:prstGeom>
            <a:gradFill rotWithShape="1">
              <a:gsLst>
                <a:gs pos="0">
                  <a:srgbClr val="9BBB59">
                    <a:tint val="50000"/>
                    <a:satMod val="300000"/>
                  </a:srgbClr>
                </a:gs>
                <a:gs pos="35000">
                  <a:srgbClr val="9BBB59">
                    <a:tint val="37000"/>
                    <a:satMod val="300000"/>
                  </a:srgbClr>
                </a:gs>
                <a:gs pos="100000">
                  <a:srgbClr val="9BBB59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9BBB59">
                  <a:shade val="95000"/>
                  <a:satMod val="105000"/>
                </a:srgbClr>
              </a:solidFill>
              <a:prstDash val="solid"/>
              <a:headEnd/>
              <a:tailEnd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8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zh-CN" sz="2000" b="0" i="1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宋体" panose="02010600030101010101" pitchFamily="2" charset="-122"/>
                <a:cs typeface="Consolas" pitchFamily="49" charset="0"/>
              </a:endParaRPr>
            </a:p>
          </p:txBody>
        </p:sp>
        <p:sp>
          <p:nvSpPr>
            <p:cNvPr id="157" name="Text Box 46">
              <a:extLst>
                <a:ext uri="{FF2B5EF4-FFF2-40B4-BE49-F238E27FC236}">
                  <a16:creationId xmlns:a16="http://schemas.microsoft.com/office/drawing/2014/main" id="{14EF2C96-E998-49F8-989B-49434F4AD96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605389" y="1142206"/>
              <a:ext cx="431800" cy="342979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 eaLnBrk="1" hangingPunct="1">
                <a:lnSpc>
                  <a:spcPct val="80000"/>
                </a:lnSpc>
                <a:spcBef>
                  <a:spcPct val="50000"/>
                </a:spcBef>
              </a:pPr>
              <a:r>
                <a:rPr kumimoji="1" lang="en-US" altLang="zh-CN" sz="2000">
                  <a:solidFill>
                    <a:prstClr val="black"/>
                  </a:solidFill>
                  <a:latin typeface="Consolas" pitchFamily="49" charset="0"/>
                  <a:cs typeface="Consolas" pitchFamily="49" charset="0"/>
                </a:rPr>
                <a:t>4</a:t>
              </a:r>
            </a:p>
          </p:txBody>
        </p:sp>
        <p:sp>
          <p:nvSpPr>
            <p:cNvPr id="158" name="Rectangle 47">
              <a:extLst>
                <a:ext uri="{FF2B5EF4-FFF2-40B4-BE49-F238E27FC236}">
                  <a16:creationId xmlns:a16="http://schemas.microsoft.com/office/drawing/2014/main" id="{F9494151-D206-4260-973A-BD84BF9BAC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935465" y="1540668"/>
              <a:ext cx="576263" cy="360362"/>
            </a:xfrm>
            <a:prstGeom prst="rect">
              <a:avLst/>
            </a:prstGeom>
            <a:gradFill rotWithShape="1">
              <a:gsLst>
                <a:gs pos="0">
                  <a:srgbClr val="4BACC6">
                    <a:tint val="50000"/>
                    <a:satMod val="300000"/>
                  </a:srgbClr>
                </a:gs>
                <a:gs pos="35000">
                  <a:srgbClr val="4BACC6">
                    <a:tint val="37000"/>
                    <a:satMod val="300000"/>
                  </a:srgbClr>
                </a:gs>
                <a:gs pos="100000">
                  <a:srgbClr val="4BACC6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4BACC6">
                  <a:shade val="95000"/>
                  <a:satMod val="105000"/>
                </a:srgbClr>
              </a:solidFill>
              <a:prstDash val="solid"/>
              <a:headEnd/>
              <a:tailEnd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8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0" i="1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nsolas" pitchFamily="49" charset="0"/>
                  <a:ea typeface="宋体" panose="02010600030101010101" pitchFamily="2" charset="-122"/>
                  <a:cs typeface="Consolas" pitchFamily="49" charset="0"/>
                </a:rPr>
                <a:t>d</a:t>
              </a:r>
            </a:p>
          </p:txBody>
        </p:sp>
        <p:sp>
          <p:nvSpPr>
            <p:cNvPr id="159" name="Text Box 48">
              <a:extLst>
                <a:ext uri="{FF2B5EF4-FFF2-40B4-BE49-F238E27FC236}">
                  <a16:creationId xmlns:a16="http://schemas.microsoft.com/office/drawing/2014/main" id="{32AB8447-BB53-4E5D-85E5-234E32B88A6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605389" y="1502569"/>
              <a:ext cx="431800" cy="342979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 eaLnBrk="1" hangingPunct="1">
                <a:lnSpc>
                  <a:spcPct val="80000"/>
                </a:lnSpc>
                <a:spcBef>
                  <a:spcPct val="50000"/>
                </a:spcBef>
              </a:pPr>
              <a:r>
                <a:rPr kumimoji="1" lang="en-US" altLang="zh-CN" sz="2000">
                  <a:solidFill>
                    <a:prstClr val="black"/>
                  </a:solidFill>
                  <a:latin typeface="Consolas" pitchFamily="49" charset="0"/>
                  <a:cs typeface="Consolas" pitchFamily="49" charset="0"/>
                </a:rPr>
                <a:t>3</a:t>
              </a:r>
            </a:p>
          </p:txBody>
        </p:sp>
        <p:sp>
          <p:nvSpPr>
            <p:cNvPr id="160" name="Rectangle 49">
              <a:extLst>
                <a:ext uri="{FF2B5EF4-FFF2-40B4-BE49-F238E27FC236}">
                  <a16:creationId xmlns:a16="http://schemas.microsoft.com/office/drawing/2014/main" id="{D7FF54BF-A901-4DC8-B935-4BC7890221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935465" y="1899443"/>
              <a:ext cx="576263" cy="360362"/>
            </a:xfrm>
            <a:prstGeom prst="rect">
              <a:avLst/>
            </a:prstGeom>
            <a:gradFill rotWithShape="1">
              <a:gsLst>
                <a:gs pos="0">
                  <a:srgbClr val="4BACC6">
                    <a:tint val="50000"/>
                    <a:satMod val="300000"/>
                  </a:srgbClr>
                </a:gs>
                <a:gs pos="35000">
                  <a:srgbClr val="4BACC6">
                    <a:tint val="37000"/>
                    <a:satMod val="300000"/>
                  </a:srgbClr>
                </a:gs>
                <a:gs pos="100000">
                  <a:srgbClr val="4BACC6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4BACC6">
                  <a:shade val="95000"/>
                  <a:satMod val="105000"/>
                </a:srgbClr>
              </a:solidFill>
              <a:prstDash val="solid"/>
              <a:headEnd/>
              <a:tailEnd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8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0" i="1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nsolas" pitchFamily="49" charset="0"/>
                  <a:ea typeface="宋体" panose="02010600030101010101" pitchFamily="2" charset="-122"/>
                  <a:cs typeface="Consolas" pitchFamily="49" charset="0"/>
                </a:rPr>
                <a:t>c</a:t>
              </a:r>
            </a:p>
          </p:txBody>
        </p:sp>
        <p:sp>
          <p:nvSpPr>
            <p:cNvPr id="161" name="Text Box 50">
              <a:extLst>
                <a:ext uri="{FF2B5EF4-FFF2-40B4-BE49-F238E27FC236}">
                  <a16:creationId xmlns:a16="http://schemas.microsoft.com/office/drawing/2014/main" id="{90EA7E47-1D8C-400D-A4E1-730E548E8C2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605389" y="1861344"/>
              <a:ext cx="431800" cy="342979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 eaLnBrk="1" hangingPunct="1">
                <a:lnSpc>
                  <a:spcPct val="80000"/>
                </a:lnSpc>
                <a:spcBef>
                  <a:spcPct val="50000"/>
                </a:spcBef>
              </a:pPr>
              <a:r>
                <a:rPr kumimoji="1" lang="en-US" altLang="zh-CN" sz="2000">
                  <a:solidFill>
                    <a:prstClr val="black"/>
                  </a:solidFill>
                  <a:latin typeface="Consolas" pitchFamily="49" charset="0"/>
                  <a:cs typeface="Consolas" pitchFamily="49" charset="0"/>
                </a:rPr>
                <a:t>2</a:t>
              </a:r>
            </a:p>
          </p:txBody>
        </p:sp>
        <p:sp>
          <p:nvSpPr>
            <p:cNvPr id="162" name="Rectangle 51">
              <a:extLst>
                <a:ext uri="{FF2B5EF4-FFF2-40B4-BE49-F238E27FC236}">
                  <a16:creationId xmlns:a16="http://schemas.microsoft.com/office/drawing/2014/main" id="{006B0B45-A8DA-46C7-939A-51F9D042D7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935465" y="2259806"/>
              <a:ext cx="576263" cy="360363"/>
            </a:xfrm>
            <a:prstGeom prst="rect">
              <a:avLst/>
            </a:prstGeom>
            <a:gradFill rotWithShape="1">
              <a:gsLst>
                <a:gs pos="0">
                  <a:srgbClr val="4BACC6">
                    <a:tint val="50000"/>
                    <a:satMod val="300000"/>
                  </a:srgbClr>
                </a:gs>
                <a:gs pos="35000">
                  <a:srgbClr val="4BACC6">
                    <a:tint val="37000"/>
                    <a:satMod val="300000"/>
                  </a:srgbClr>
                </a:gs>
                <a:gs pos="100000">
                  <a:srgbClr val="4BACC6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4BACC6">
                  <a:shade val="95000"/>
                  <a:satMod val="105000"/>
                </a:srgbClr>
              </a:solidFill>
              <a:prstDash val="solid"/>
              <a:headEnd/>
              <a:tailEnd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8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0" i="1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nsolas" pitchFamily="49" charset="0"/>
                  <a:ea typeface="宋体" panose="02010600030101010101" pitchFamily="2" charset="-122"/>
                  <a:cs typeface="Consolas" pitchFamily="49" charset="0"/>
                </a:rPr>
                <a:t>b</a:t>
              </a:r>
            </a:p>
          </p:txBody>
        </p:sp>
        <p:sp>
          <p:nvSpPr>
            <p:cNvPr id="163" name="Text Box 52">
              <a:extLst>
                <a:ext uri="{FF2B5EF4-FFF2-40B4-BE49-F238E27FC236}">
                  <a16:creationId xmlns:a16="http://schemas.microsoft.com/office/drawing/2014/main" id="{1E98C1B0-634F-40B0-B3B4-5F27340DCA8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605389" y="2261898"/>
              <a:ext cx="431800" cy="342979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 eaLnBrk="1" hangingPunct="1">
                <a:lnSpc>
                  <a:spcPct val="80000"/>
                </a:lnSpc>
                <a:spcBef>
                  <a:spcPct val="50000"/>
                </a:spcBef>
              </a:pPr>
              <a:r>
                <a:rPr kumimoji="1" lang="en-US" altLang="zh-CN" sz="2000">
                  <a:solidFill>
                    <a:prstClr val="black"/>
                  </a:solidFill>
                  <a:latin typeface="Consolas" pitchFamily="49" charset="0"/>
                  <a:cs typeface="Consolas" pitchFamily="49" charset="0"/>
                </a:rPr>
                <a:t>1</a:t>
              </a:r>
            </a:p>
          </p:txBody>
        </p:sp>
        <p:sp>
          <p:nvSpPr>
            <p:cNvPr id="164" name="Rectangle 53">
              <a:extLst>
                <a:ext uri="{FF2B5EF4-FFF2-40B4-BE49-F238E27FC236}">
                  <a16:creationId xmlns:a16="http://schemas.microsoft.com/office/drawing/2014/main" id="{5155D336-40F9-4228-B7BC-A8F034D2D1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935465" y="2620168"/>
              <a:ext cx="576263" cy="360362"/>
            </a:xfrm>
            <a:prstGeom prst="rect">
              <a:avLst/>
            </a:prstGeom>
            <a:gradFill rotWithShape="1">
              <a:gsLst>
                <a:gs pos="0">
                  <a:srgbClr val="4BACC6">
                    <a:tint val="50000"/>
                    <a:satMod val="300000"/>
                  </a:srgbClr>
                </a:gs>
                <a:gs pos="35000">
                  <a:srgbClr val="4BACC6">
                    <a:tint val="37000"/>
                    <a:satMod val="300000"/>
                  </a:srgbClr>
                </a:gs>
                <a:gs pos="100000">
                  <a:srgbClr val="4BACC6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4BACC6">
                  <a:shade val="95000"/>
                  <a:satMod val="105000"/>
                </a:srgbClr>
              </a:solidFill>
              <a:prstDash val="solid"/>
              <a:headEnd/>
              <a:tailEnd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8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0" i="1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nsolas" pitchFamily="49" charset="0"/>
                  <a:ea typeface="宋体" panose="02010600030101010101" pitchFamily="2" charset="-122"/>
                  <a:cs typeface="Consolas" pitchFamily="49" charset="0"/>
                </a:rPr>
                <a:t>a</a:t>
              </a:r>
            </a:p>
          </p:txBody>
        </p:sp>
        <p:sp>
          <p:nvSpPr>
            <p:cNvPr id="165" name="Text Box 54">
              <a:extLst>
                <a:ext uri="{FF2B5EF4-FFF2-40B4-BE49-F238E27FC236}">
                  <a16:creationId xmlns:a16="http://schemas.microsoft.com/office/drawing/2014/main" id="{55828E7B-EC89-449F-8545-A682E1E2B7E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605389" y="2622261"/>
              <a:ext cx="431800" cy="342979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 eaLnBrk="1" hangingPunct="1">
                <a:lnSpc>
                  <a:spcPct val="80000"/>
                </a:lnSpc>
                <a:spcBef>
                  <a:spcPct val="50000"/>
                </a:spcBef>
              </a:pPr>
              <a:r>
                <a:rPr kumimoji="1" lang="en-US" altLang="zh-CN" sz="2000">
                  <a:solidFill>
                    <a:prstClr val="black"/>
                  </a:solidFill>
                  <a:latin typeface="Consolas" pitchFamily="49" charset="0"/>
                  <a:cs typeface="Consolas" pitchFamily="49" charset="0"/>
                </a:rPr>
                <a:t>0</a:t>
              </a:r>
            </a:p>
          </p:txBody>
        </p:sp>
        <p:sp>
          <p:nvSpPr>
            <p:cNvPr id="166" name="Line 55">
              <a:extLst>
                <a:ext uri="{FF2B5EF4-FFF2-40B4-BE49-F238E27FC236}">
                  <a16:creationId xmlns:a16="http://schemas.microsoft.com/office/drawing/2014/main" id="{CC907F8A-9A51-49A3-960A-C82CD33226A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524302" y="1739105"/>
              <a:ext cx="431800" cy="0"/>
            </a:xfrm>
            <a:prstGeom prst="line">
              <a:avLst/>
            </a:prstGeom>
            <a:noFill/>
            <a:ln w="38100">
              <a:solidFill>
                <a:srgbClr val="CE3B37"/>
              </a:solidFill>
              <a:round/>
              <a:headEnd/>
              <a:tailEnd type="triangle" w="med" len="med"/>
            </a:ln>
            <a:effectLst/>
          </p:spPr>
          <p:txBody>
            <a:bodyPr wrap="none"/>
            <a:lstStyle/>
            <a:p>
              <a:pPr algn="ctr" eaLnBrk="1" hangingPunct="1">
                <a:lnSpc>
                  <a:spcPct val="80000"/>
                </a:lnSpc>
                <a:spcBef>
                  <a:spcPct val="50000"/>
                </a:spcBef>
              </a:pPr>
              <a:endParaRPr kumimoji="1" lang="zh-CN" altLang="en-US" sz="2000">
                <a:solidFill>
                  <a:prstClr val="black"/>
                </a:solidFill>
                <a:latin typeface="Consolas" pitchFamily="49" charset="0"/>
                <a:cs typeface="Consolas" pitchFamily="49" charset="0"/>
              </a:endParaRPr>
            </a:p>
          </p:txBody>
        </p:sp>
        <p:sp>
          <p:nvSpPr>
            <p:cNvPr id="167" name="Text Box 56">
              <a:extLst>
                <a:ext uri="{FF2B5EF4-FFF2-40B4-BE49-F238E27FC236}">
                  <a16:creationId xmlns:a16="http://schemas.microsoft.com/office/drawing/2014/main" id="{95199952-2354-43C5-B0A1-6D3AA7FE760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968677" y="1535905"/>
              <a:ext cx="641352" cy="342979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ctr" eaLnBrk="1" hangingPunct="1">
                <a:lnSpc>
                  <a:spcPct val="80000"/>
                </a:lnSpc>
                <a:spcBef>
                  <a:spcPct val="50000"/>
                </a:spcBef>
              </a:pPr>
              <a:r>
                <a:rPr kumimoji="1" lang="en-US" altLang="zh-CN" sz="2000" dirty="0">
                  <a:solidFill>
                    <a:prstClr val="black"/>
                  </a:solidFill>
                  <a:latin typeface="Consolas" pitchFamily="49" charset="0"/>
                  <a:cs typeface="Consolas" pitchFamily="49" charset="0"/>
                </a:rPr>
                <a:t>top</a:t>
              </a:r>
            </a:p>
          </p:txBody>
        </p:sp>
        <p:sp>
          <p:nvSpPr>
            <p:cNvPr id="168" name="Text Box 57">
              <a:extLst>
                <a:ext uri="{FF2B5EF4-FFF2-40B4-BE49-F238E27FC236}">
                  <a16:creationId xmlns:a16="http://schemas.microsoft.com/office/drawing/2014/main" id="{05D06D30-EB4B-4EEB-9A83-A0CAA34CD54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07974" y="3337389"/>
              <a:ext cx="1863725" cy="338554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 eaLnBrk="1" hangingPunct="1">
                <a:lnSpc>
                  <a:spcPct val="80000"/>
                </a:lnSpc>
                <a:spcBef>
                  <a:spcPct val="50000"/>
                </a:spcBef>
              </a:pPr>
              <a:r>
                <a:rPr kumimoji="1" lang="zh-CN" altLang="en-US" sz="2000" dirty="0">
                  <a:solidFill>
                    <a:prstClr val="black"/>
                  </a:solidFill>
                  <a:latin typeface="Consolas" pitchFamily="49" charset="0"/>
                  <a:ea typeface="楷体" pitchFamily="49" charset="-122"/>
                  <a:cs typeface="Consolas" pitchFamily="49" charset="0"/>
                </a:rPr>
                <a:t>（</a:t>
              </a:r>
              <a:r>
                <a:rPr kumimoji="1" lang="en-US" altLang="zh-CN" sz="2000" dirty="0">
                  <a:solidFill>
                    <a:prstClr val="black"/>
                  </a:solidFill>
                  <a:latin typeface="Consolas" pitchFamily="49" charset="0"/>
                  <a:ea typeface="楷体" pitchFamily="49" charset="-122"/>
                  <a:cs typeface="Consolas" pitchFamily="49" charset="0"/>
                </a:rPr>
                <a:t>d</a:t>
              </a:r>
              <a:r>
                <a:rPr kumimoji="1" lang="zh-CN" altLang="en-US" sz="2000" dirty="0">
                  <a:solidFill>
                    <a:prstClr val="black"/>
                  </a:solidFill>
                  <a:latin typeface="Consolas" pitchFamily="49" charset="0"/>
                  <a:ea typeface="楷体" pitchFamily="49" charset="-122"/>
                  <a:cs typeface="Consolas" pitchFamily="49" charset="0"/>
                </a:rPr>
                <a:t>）出栈一次</a:t>
              </a:r>
            </a:p>
          </p:txBody>
        </p:sp>
      </p:grpSp>
      <p:sp>
        <p:nvSpPr>
          <p:cNvPr id="169" name="文本框 168">
            <a:extLst>
              <a:ext uri="{FF2B5EF4-FFF2-40B4-BE49-F238E27FC236}">
                <a16:creationId xmlns:a16="http://schemas.microsoft.com/office/drawing/2014/main" id="{28CE74B1-51E3-4AF9-8051-C41DD0F7A1D1}"/>
              </a:ext>
            </a:extLst>
          </p:cNvPr>
          <p:cNvSpPr txBox="1"/>
          <p:nvPr/>
        </p:nvSpPr>
        <p:spPr>
          <a:xfrm>
            <a:off x="7146799" y="3987505"/>
            <a:ext cx="1863725" cy="17015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0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如果</a:t>
            </a:r>
            <a:r>
              <a:rPr lang="en-US" altLang="zh-CN" b="0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top</a:t>
            </a:r>
            <a:r>
              <a:rPr lang="zh-CN" altLang="en-US" b="0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是</a:t>
            </a:r>
            <a:r>
              <a:rPr lang="en-US" altLang="zh-CN" b="0" dirty="0" err="1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SElemType</a:t>
            </a:r>
            <a:r>
              <a:rPr lang="en-US" altLang="zh-CN" b="0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*</a:t>
            </a:r>
            <a:r>
              <a:rPr lang="zh-CN" altLang="en-US" b="0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类型</a:t>
            </a:r>
            <a:r>
              <a:rPr lang="en-US" altLang="zh-CN" b="0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zh-CN" altLang="en-US" b="0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呢？</a:t>
            </a:r>
          </a:p>
        </p:txBody>
      </p:sp>
    </p:spTree>
    <p:extLst>
      <p:ext uri="{BB962C8B-B14F-4D97-AF65-F5344CB8AC3E}">
        <p14:creationId xmlns:p14="http://schemas.microsoft.com/office/powerpoint/2010/main" val="30741996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9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标题 3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顺序栈的各种状态</a:t>
            </a:r>
          </a:p>
        </p:txBody>
      </p:sp>
      <p:grpSp>
        <p:nvGrpSpPr>
          <p:cNvPr id="2" name="Group 18"/>
          <p:cNvGrpSpPr/>
          <p:nvPr/>
        </p:nvGrpSpPr>
        <p:grpSpPr>
          <a:xfrm>
            <a:off x="2047875" y="1379091"/>
            <a:ext cx="1828800" cy="2193925"/>
            <a:chOff x="1056" y="1440"/>
            <a:chExt cx="1152" cy="1382"/>
          </a:xfrm>
        </p:grpSpPr>
        <p:sp>
          <p:nvSpPr>
            <p:cNvPr id="28678" name="Text Box 19"/>
            <p:cNvSpPr txBox="1">
              <a:spLocks noChangeArrowheads="1"/>
            </p:cNvSpPr>
            <p:nvPr/>
          </p:nvSpPr>
          <p:spPr bwMode="auto">
            <a:xfrm>
              <a:off x="1104" y="2140"/>
              <a:ext cx="768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top</a:t>
              </a:r>
            </a:p>
          </p:txBody>
        </p:sp>
        <p:sp>
          <p:nvSpPr>
            <p:cNvPr id="28679" name="Rectangle 20"/>
            <p:cNvSpPr>
              <a:spLocks noChangeArrowheads="1"/>
            </p:cNvSpPr>
            <p:nvPr/>
          </p:nvSpPr>
          <p:spPr bwMode="auto">
            <a:xfrm>
              <a:off x="1776" y="1440"/>
              <a:ext cx="432" cy="1296"/>
            </a:xfrm>
            <a:prstGeom prst="rect">
              <a:avLst/>
            </a:prstGeom>
            <a:solidFill>
              <a:srgbClr val="FFFFFF"/>
            </a:solidFill>
            <a:ln w="38100">
              <a:solidFill>
                <a:srgbClr val="000000"/>
              </a:solidFill>
              <a:miter lim="800000"/>
            </a:ln>
          </p:spPr>
          <p:txBody>
            <a:bodyPr wrap="none" anchor="ctr"/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8680" name="Line 21"/>
            <p:cNvSpPr>
              <a:spLocks noChangeShapeType="1"/>
            </p:cNvSpPr>
            <p:nvPr/>
          </p:nvSpPr>
          <p:spPr bwMode="auto">
            <a:xfrm>
              <a:off x="1776" y="2112"/>
              <a:ext cx="432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8681" name="Line 22"/>
            <p:cNvSpPr>
              <a:spLocks noChangeShapeType="1"/>
            </p:cNvSpPr>
            <p:nvPr/>
          </p:nvSpPr>
          <p:spPr bwMode="auto">
            <a:xfrm>
              <a:off x="1776" y="2400"/>
              <a:ext cx="432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8682" name="Line 23"/>
            <p:cNvSpPr>
              <a:spLocks noChangeShapeType="1"/>
            </p:cNvSpPr>
            <p:nvPr/>
          </p:nvSpPr>
          <p:spPr bwMode="auto">
            <a:xfrm>
              <a:off x="1776" y="1776"/>
              <a:ext cx="432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8683" name="Line 24"/>
            <p:cNvSpPr>
              <a:spLocks noChangeShapeType="1"/>
            </p:cNvSpPr>
            <p:nvPr/>
          </p:nvSpPr>
          <p:spPr bwMode="auto">
            <a:xfrm>
              <a:off x="1584" y="2688"/>
              <a:ext cx="192" cy="0"/>
            </a:xfrm>
            <a:prstGeom prst="line">
              <a:avLst/>
            </a:prstGeom>
            <a:noFill/>
            <a:ln w="19050">
              <a:solidFill>
                <a:schemeClr val="folHlink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8684" name="Line 25"/>
            <p:cNvSpPr>
              <a:spLocks noChangeShapeType="1"/>
            </p:cNvSpPr>
            <p:nvPr/>
          </p:nvSpPr>
          <p:spPr bwMode="auto">
            <a:xfrm>
              <a:off x="1584" y="2256"/>
              <a:ext cx="192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8685" name="Text Box 26"/>
            <p:cNvSpPr txBox="1">
              <a:spLocks noChangeArrowheads="1"/>
            </p:cNvSpPr>
            <p:nvPr/>
          </p:nvSpPr>
          <p:spPr bwMode="auto">
            <a:xfrm>
              <a:off x="1824" y="2448"/>
              <a:ext cx="38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A</a:t>
              </a:r>
            </a:p>
          </p:txBody>
        </p:sp>
        <p:sp>
          <p:nvSpPr>
            <p:cNvPr id="28686" name="Text Box 27"/>
            <p:cNvSpPr txBox="1">
              <a:spLocks noChangeArrowheads="1"/>
            </p:cNvSpPr>
            <p:nvPr/>
          </p:nvSpPr>
          <p:spPr bwMode="auto">
            <a:xfrm>
              <a:off x="1056" y="2572"/>
              <a:ext cx="768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chemeClr val="folHlink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base</a:t>
              </a:r>
            </a:p>
          </p:txBody>
        </p:sp>
      </p:grpSp>
      <p:grpSp>
        <p:nvGrpSpPr>
          <p:cNvPr id="3" name="Group 28"/>
          <p:cNvGrpSpPr/>
          <p:nvPr/>
        </p:nvGrpSpPr>
        <p:grpSpPr>
          <a:xfrm>
            <a:off x="3657600" y="1379091"/>
            <a:ext cx="1828800" cy="2193925"/>
            <a:chOff x="2304" y="1440"/>
            <a:chExt cx="1152" cy="1382"/>
          </a:xfrm>
        </p:grpSpPr>
        <p:sp>
          <p:nvSpPr>
            <p:cNvPr id="28688" name="Text Box 29"/>
            <p:cNvSpPr txBox="1">
              <a:spLocks noChangeArrowheads="1"/>
            </p:cNvSpPr>
            <p:nvPr/>
          </p:nvSpPr>
          <p:spPr bwMode="auto">
            <a:xfrm>
              <a:off x="2304" y="2572"/>
              <a:ext cx="768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chemeClr val="folHlink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base</a:t>
              </a:r>
            </a:p>
          </p:txBody>
        </p:sp>
        <p:sp>
          <p:nvSpPr>
            <p:cNvPr id="28689" name="Text Box 30"/>
            <p:cNvSpPr txBox="1">
              <a:spLocks noChangeArrowheads="1"/>
            </p:cNvSpPr>
            <p:nvPr/>
          </p:nvSpPr>
          <p:spPr bwMode="auto">
            <a:xfrm>
              <a:off x="2352" y="1852"/>
              <a:ext cx="768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top</a:t>
              </a:r>
            </a:p>
          </p:txBody>
        </p:sp>
        <p:grpSp>
          <p:nvGrpSpPr>
            <p:cNvPr id="37941" name="Group 31"/>
            <p:cNvGrpSpPr/>
            <p:nvPr/>
          </p:nvGrpSpPr>
          <p:grpSpPr>
            <a:xfrm>
              <a:off x="2832" y="1440"/>
              <a:ext cx="624" cy="1296"/>
              <a:chOff x="2832" y="1440"/>
              <a:chExt cx="624" cy="1296"/>
            </a:xfrm>
          </p:grpSpPr>
          <p:sp>
            <p:nvSpPr>
              <p:cNvPr id="28691" name="Rectangle 32"/>
              <p:cNvSpPr>
                <a:spLocks noChangeArrowheads="1"/>
              </p:cNvSpPr>
              <p:nvPr/>
            </p:nvSpPr>
            <p:spPr bwMode="auto">
              <a:xfrm>
                <a:off x="3024" y="1440"/>
                <a:ext cx="432" cy="1296"/>
              </a:xfrm>
              <a:prstGeom prst="rect">
                <a:avLst/>
              </a:prstGeom>
              <a:solidFill>
                <a:srgbClr val="FFFFFF"/>
              </a:solidFill>
              <a:ln w="38100">
                <a:solidFill>
                  <a:srgbClr val="000000"/>
                </a:solidFill>
                <a:miter lim="800000"/>
              </a:ln>
            </p:spPr>
            <p:txBody>
              <a:bodyPr wrap="none" anchor="ctr"/>
              <a:lstStyle>
                <a:lvl1pPr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1pPr>
                <a:lvl2pPr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2pPr>
                <a:lvl3pPr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3pPr>
                <a:lvl4pPr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4pPr>
                <a:lvl5pPr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28692" name="Line 33"/>
              <p:cNvSpPr>
                <a:spLocks noChangeShapeType="1"/>
              </p:cNvSpPr>
              <p:nvPr/>
            </p:nvSpPr>
            <p:spPr bwMode="auto">
              <a:xfrm>
                <a:off x="3024" y="2112"/>
                <a:ext cx="432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28693" name="Line 34"/>
              <p:cNvSpPr>
                <a:spLocks noChangeShapeType="1"/>
              </p:cNvSpPr>
              <p:nvPr/>
            </p:nvSpPr>
            <p:spPr bwMode="auto">
              <a:xfrm>
                <a:off x="3024" y="2400"/>
                <a:ext cx="432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28694" name="Line 35"/>
              <p:cNvSpPr>
                <a:spLocks noChangeShapeType="1"/>
              </p:cNvSpPr>
              <p:nvPr/>
            </p:nvSpPr>
            <p:spPr bwMode="auto">
              <a:xfrm>
                <a:off x="3024" y="1776"/>
                <a:ext cx="432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28695" name="Line 36"/>
              <p:cNvSpPr>
                <a:spLocks noChangeShapeType="1"/>
              </p:cNvSpPr>
              <p:nvPr/>
            </p:nvSpPr>
            <p:spPr bwMode="auto">
              <a:xfrm>
                <a:off x="2832" y="2688"/>
                <a:ext cx="192" cy="0"/>
              </a:xfrm>
              <a:prstGeom prst="line">
                <a:avLst/>
              </a:prstGeom>
              <a:noFill/>
              <a:ln w="19050">
                <a:solidFill>
                  <a:schemeClr val="folHlink"/>
                </a:solidFill>
                <a:rou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28696" name="Text Box 37"/>
              <p:cNvSpPr txBox="1">
                <a:spLocks noChangeArrowheads="1"/>
              </p:cNvSpPr>
              <p:nvPr/>
            </p:nvSpPr>
            <p:spPr bwMode="auto">
              <a:xfrm>
                <a:off x="3072" y="2448"/>
                <a:ext cx="384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1pPr>
                <a:lvl2pPr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2pPr>
                <a:lvl3pPr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3pPr>
                <a:lvl4pPr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4pPr>
                <a:lvl5pPr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r>
                  <a:rPr kumimoji="0" lang="en-US" altLang="zh-CN" sz="2000" b="1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n-lt"/>
                    <a:ea typeface="+mn-ea"/>
                    <a:cs typeface="+mn-ea"/>
                    <a:sym typeface="+mn-lt"/>
                  </a:rPr>
                  <a:t>A</a:t>
                </a:r>
              </a:p>
            </p:txBody>
          </p:sp>
          <p:sp>
            <p:nvSpPr>
              <p:cNvPr id="28697" name="Line 38"/>
              <p:cNvSpPr>
                <a:spLocks noChangeShapeType="1"/>
              </p:cNvSpPr>
              <p:nvPr/>
            </p:nvSpPr>
            <p:spPr bwMode="auto">
              <a:xfrm>
                <a:off x="2832" y="1968"/>
                <a:ext cx="192" cy="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28698" name="Text Box 39"/>
              <p:cNvSpPr txBox="1">
                <a:spLocks noChangeArrowheads="1"/>
              </p:cNvSpPr>
              <p:nvPr/>
            </p:nvSpPr>
            <p:spPr bwMode="auto">
              <a:xfrm>
                <a:off x="3072" y="2160"/>
                <a:ext cx="384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1pPr>
                <a:lvl2pPr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2pPr>
                <a:lvl3pPr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3pPr>
                <a:lvl4pPr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4pPr>
                <a:lvl5pPr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r>
                  <a:rPr kumimoji="0" lang="en-US" altLang="zh-CN" sz="2000" b="1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n-lt"/>
                    <a:ea typeface="+mn-ea"/>
                    <a:cs typeface="+mn-ea"/>
                    <a:sym typeface="+mn-lt"/>
                  </a:rPr>
                  <a:t>B</a:t>
                </a:r>
              </a:p>
            </p:txBody>
          </p:sp>
        </p:grpSp>
      </p:grpSp>
      <p:grpSp>
        <p:nvGrpSpPr>
          <p:cNvPr id="5" name="Group 40"/>
          <p:cNvGrpSpPr/>
          <p:nvPr/>
        </p:nvGrpSpPr>
        <p:grpSpPr>
          <a:xfrm>
            <a:off x="5410200" y="1379091"/>
            <a:ext cx="1828800" cy="2193925"/>
            <a:chOff x="3456" y="1440"/>
            <a:chExt cx="1152" cy="1382"/>
          </a:xfrm>
        </p:grpSpPr>
        <p:grpSp>
          <p:nvGrpSpPr>
            <p:cNvPr id="37927" name="Group 41"/>
            <p:cNvGrpSpPr/>
            <p:nvPr/>
          </p:nvGrpSpPr>
          <p:grpSpPr>
            <a:xfrm>
              <a:off x="3984" y="1440"/>
              <a:ext cx="624" cy="1296"/>
              <a:chOff x="3984" y="1440"/>
              <a:chExt cx="624" cy="1296"/>
            </a:xfrm>
          </p:grpSpPr>
          <p:sp>
            <p:nvSpPr>
              <p:cNvPr id="28701" name="Rectangle 42"/>
              <p:cNvSpPr>
                <a:spLocks noChangeArrowheads="1"/>
              </p:cNvSpPr>
              <p:nvPr/>
            </p:nvSpPr>
            <p:spPr bwMode="auto">
              <a:xfrm>
                <a:off x="4176" y="1440"/>
                <a:ext cx="432" cy="1296"/>
              </a:xfrm>
              <a:prstGeom prst="rect">
                <a:avLst/>
              </a:prstGeom>
              <a:solidFill>
                <a:srgbClr val="FFFFFF"/>
              </a:solidFill>
              <a:ln w="38100">
                <a:solidFill>
                  <a:srgbClr val="000000"/>
                </a:solidFill>
                <a:miter lim="800000"/>
              </a:ln>
            </p:spPr>
            <p:txBody>
              <a:bodyPr wrap="none" anchor="ctr"/>
              <a:lstStyle>
                <a:lvl1pPr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1pPr>
                <a:lvl2pPr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2pPr>
                <a:lvl3pPr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3pPr>
                <a:lvl4pPr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4pPr>
                <a:lvl5pPr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28702" name="Line 43"/>
              <p:cNvSpPr>
                <a:spLocks noChangeShapeType="1"/>
              </p:cNvSpPr>
              <p:nvPr/>
            </p:nvSpPr>
            <p:spPr bwMode="auto">
              <a:xfrm>
                <a:off x="4176" y="2112"/>
                <a:ext cx="432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28703" name="Line 44"/>
              <p:cNvSpPr>
                <a:spLocks noChangeShapeType="1"/>
              </p:cNvSpPr>
              <p:nvPr/>
            </p:nvSpPr>
            <p:spPr bwMode="auto">
              <a:xfrm>
                <a:off x="4176" y="2400"/>
                <a:ext cx="432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28704" name="Line 45"/>
              <p:cNvSpPr>
                <a:spLocks noChangeShapeType="1"/>
              </p:cNvSpPr>
              <p:nvPr/>
            </p:nvSpPr>
            <p:spPr bwMode="auto">
              <a:xfrm>
                <a:off x="4176" y="1776"/>
                <a:ext cx="432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28705" name="Line 46"/>
              <p:cNvSpPr>
                <a:spLocks noChangeShapeType="1"/>
              </p:cNvSpPr>
              <p:nvPr/>
            </p:nvSpPr>
            <p:spPr bwMode="auto">
              <a:xfrm>
                <a:off x="3984" y="2688"/>
                <a:ext cx="192" cy="0"/>
              </a:xfrm>
              <a:prstGeom prst="line">
                <a:avLst/>
              </a:prstGeom>
              <a:noFill/>
              <a:ln w="19050">
                <a:solidFill>
                  <a:schemeClr val="folHlink"/>
                </a:solidFill>
                <a:rou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28706" name="Text Box 47"/>
              <p:cNvSpPr txBox="1">
                <a:spLocks noChangeArrowheads="1"/>
              </p:cNvSpPr>
              <p:nvPr/>
            </p:nvSpPr>
            <p:spPr bwMode="auto">
              <a:xfrm>
                <a:off x="4224" y="2448"/>
                <a:ext cx="384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1pPr>
                <a:lvl2pPr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2pPr>
                <a:lvl3pPr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3pPr>
                <a:lvl4pPr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4pPr>
                <a:lvl5pPr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r>
                  <a:rPr kumimoji="0" lang="en-US" altLang="zh-CN" sz="2000" b="1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n-lt"/>
                    <a:ea typeface="+mn-ea"/>
                    <a:cs typeface="+mn-ea"/>
                    <a:sym typeface="+mn-lt"/>
                  </a:rPr>
                  <a:t>A</a:t>
                </a:r>
              </a:p>
            </p:txBody>
          </p:sp>
          <p:sp>
            <p:nvSpPr>
              <p:cNvPr id="28707" name="Text Box 48"/>
              <p:cNvSpPr txBox="1">
                <a:spLocks noChangeArrowheads="1"/>
              </p:cNvSpPr>
              <p:nvPr/>
            </p:nvSpPr>
            <p:spPr bwMode="auto">
              <a:xfrm>
                <a:off x="4224" y="2160"/>
                <a:ext cx="384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1pPr>
                <a:lvl2pPr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2pPr>
                <a:lvl3pPr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3pPr>
                <a:lvl4pPr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4pPr>
                <a:lvl5pPr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r>
                  <a:rPr kumimoji="0" lang="en-US" altLang="zh-CN" sz="2000" b="1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n-lt"/>
                    <a:ea typeface="+mn-ea"/>
                    <a:cs typeface="+mn-ea"/>
                    <a:sym typeface="+mn-lt"/>
                  </a:rPr>
                  <a:t>B</a:t>
                </a:r>
              </a:p>
            </p:txBody>
          </p:sp>
          <p:sp>
            <p:nvSpPr>
              <p:cNvPr id="28708" name="Text Box 49"/>
              <p:cNvSpPr txBox="1">
                <a:spLocks noChangeArrowheads="1"/>
              </p:cNvSpPr>
              <p:nvPr/>
            </p:nvSpPr>
            <p:spPr bwMode="auto">
              <a:xfrm>
                <a:off x="4224" y="1872"/>
                <a:ext cx="384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1pPr>
                <a:lvl2pPr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2pPr>
                <a:lvl3pPr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3pPr>
                <a:lvl4pPr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4pPr>
                <a:lvl5pPr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r>
                  <a:rPr kumimoji="0" lang="en-US" altLang="zh-CN" sz="2000" b="1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n-lt"/>
                    <a:ea typeface="+mn-ea"/>
                    <a:cs typeface="+mn-ea"/>
                    <a:sym typeface="+mn-lt"/>
                  </a:rPr>
                  <a:t>C</a:t>
                </a:r>
              </a:p>
            </p:txBody>
          </p:sp>
          <p:sp>
            <p:nvSpPr>
              <p:cNvPr id="28709" name="Line 50"/>
              <p:cNvSpPr>
                <a:spLocks noChangeShapeType="1"/>
              </p:cNvSpPr>
              <p:nvPr/>
            </p:nvSpPr>
            <p:spPr bwMode="auto">
              <a:xfrm>
                <a:off x="3984" y="1584"/>
                <a:ext cx="192" cy="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</p:grpSp>
        <p:sp>
          <p:nvSpPr>
            <p:cNvPr id="28710" name="Text Box 51"/>
            <p:cNvSpPr txBox="1">
              <a:spLocks noChangeArrowheads="1"/>
            </p:cNvSpPr>
            <p:nvPr/>
          </p:nvSpPr>
          <p:spPr bwMode="auto">
            <a:xfrm>
              <a:off x="3456" y="1468"/>
              <a:ext cx="768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top</a:t>
              </a:r>
            </a:p>
          </p:txBody>
        </p:sp>
        <p:sp>
          <p:nvSpPr>
            <p:cNvPr id="28711" name="Text Box 52"/>
            <p:cNvSpPr txBox="1">
              <a:spLocks noChangeArrowheads="1"/>
            </p:cNvSpPr>
            <p:nvPr/>
          </p:nvSpPr>
          <p:spPr bwMode="auto">
            <a:xfrm>
              <a:off x="3456" y="2572"/>
              <a:ext cx="768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chemeClr val="folHlink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base</a:t>
              </a:r>
            </a:p>
          </p:txBody>
        </p:sp>
      </p:grpSp>
      <p:grpSp>
        <p:nvGrpSpPr>
          <p:cNvPr id="7" name="Group 53"/>
          <p:cNvGrpSpPr/>
          <p:nvPr/>
        </p:nvGrpSpPr>
        <p:grpSpPr>
          <a:xfrm>
            <a:off x="7162800" y="890141"/>
            <a:ext cx="1828800" cy="2682875"/>
            <a:chOff x="4560" y="1132"/>
            <a:chExt cx="1152" cy="1690"/>
          </a:xfrm>
        </p:grpSpPr>
        <p:sp>
          <p:nvSpPr>
            <p:cNvPr id="28713" name="Text Box 54"/>
            <p:cNvSpPr txBox="1">
              <a:spLocks noChangeArrowheads="1"/>
            </p:cNvSpPr>
            <p:nvPr/>
          </p:nvSpPr>
          <p:spPr bwMode="auto">
            <a:xfrm>
              <a:off x="4608" y="1132"/>
              <a:ext cx="768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top</a:t>
              </a:r>
            </a:p>
          </p:txBody>
        </p:sp>
        <p:sp>
          <p:nvSpPr>
            <p:cNvPr id="28714" name="Text Box 55"/>
            <p:cNvSpPr txBox="1">
              <a:spLocks noChangeArrowheads="1"/>
            </p:cNvSpPr>
            <p:nvPr/>
          </p:nvSpPr>
          <p:spPr bwMode="auto">
            <a:xfrm>
              <a:off x="4560" y="2572"/>
              <a:ext cx="768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chemeClr val="folHlink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base</a:t>
              </a:r>
            </a:p>
          </p:txBody>
        </p:sp>
        <p:grpSp>
          <p:nvGrpSpPr>
            <p:cNvPr id="37916" name="Group 56"/>
            <p:cNvGrpSpPr/>
            <p:nvPr/>
          </p:nvGrpSpPr>
          <p:grpSpPr>
            <a:xfrm>
              <a:off x="5088" y="1248"/>
              <a:ext cx="624" cy="1488"/>
              <a:chOff x="5088" y="1248"/>
              <a:chExt cx="624" cy="1488"/>
            </a:xfrm>
          </p:grpSpPr>
          <p:sp>
            <p:nvSpPr>
              <p:cNvPr id="28716" name="Rectangle 57"/>
              <p:cNvSpPr>
                <a:spLocks noChangeArrowheads="1"/>
              </p:cNvSpPr>
              <p:nvPr/>
            </p:nvSpPr>
            <p:spPr bwMode="auto">
              <a:xfrm>
                <a:off x="5280" y="1440"/>
                <a:ext cx="432" cy="1296"/>
              </a:xfrm>
              <a:prstGeom prst="rect">
                <a:avLst/>
              </a:prstGeom>
              <a:solidFill>
                <a:srgbClr val="FFFFFF"/>
              </a:solidFill>
              <a:ln w="38100">
                <a:solidFill>
                  <a:srgbClr val="000000"/>
                </a:solidFill>
                <a:miter lim="800000"/>
              </a:ln>
            </p:spPr>
            <p:txBody>
              <a:bodyPr wrap="none" anchor="ctr"/>
              <a:lstStyle>
                <a:lvl1pPr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1pPr>
                <a:lvl2pPr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2pPr>
                <a:lvl3pPr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3pPr>
                <a:lvl4pPr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4pPr>
                <a:lvl5pPr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28717" name="Line 58"/>
              <p:cNvSpPr>
                <a:spLocks noChangeShapeType="1"/>
              </p:cNvSpPr>
              <p:nvPr/>
            </p:nvSpPr>
            <p:spPr bwMode="auto">
              <a:xfrm>
                <a:off x="5280" y="2112"/>
                <a:ext cx="432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28718" name="Line 59"/>
              <p:cNvSpPr>
                <a:spLocks noChangeShapeType="1"/>
              </p:cNvSpPr>
              <p:nvPr/>
            </p:nvSpPr>
            <p:spPr bwMode="auto">
              <a:xfrm>
                <a:off x="5280" y="2400"/>
                <a:ext cx="432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28719" name="Line 60"/>
              <p:cNvSpPr>
                <a:spLocks noChangeShapeType="1"/>
              </p:cNvSpPr>
              <p:nvPr/>
            </p:nvSpPr>
            <p:spPr bwMode="auto">
              <a:xfrm>
                <a:off x="5280" y="1776"/>
                <a:ext cx="432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28720" name="Line 61"/>
              <p:cNvSpPr>
                <a:spLocks noChangeShapeType="1"/>
              </p:cNvSpPr>
              <p:nvPr/>
            </p:nvSpPr>
            <p:spPr bwMode="auto">
              <a:xfrm>
                <a:off x="5088" y="2688"/>
                <a:ext cx="192" cy="0"/>
              </a:xfrm>
              <a:prstGeom prst="line">
                <a:avLst/>
              </a:prstGeom>
              <a:noFill/>
              <a:ln w="19050">
                <a:solidFill>
                  <a:schemeClr val="folHlink"/>
                </a:solidFill>
                <a:rou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28721" name="Text Box 62"/>
              <p:cNvSpPr txBox="1">
                <a:spLocks noChangeArrowheads="1"/>
              </p:cNvSpPr>
              <p:nvPr/>
            </p:nvSpPr>
            <p:spPr bwMode="auto">
              <a:xfrm>
                <a:off x="5328" y="2448"/>
                <a:ext cx="384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1pPr>
                <a:lvl2pPr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2pPr>
                <a:lvl3pPr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3pPr>
                <a:lvl4pPr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4pPr>
                <a:lvl5pPr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r>
                  <a:rPr kumimoji="0" lang="en-US" altLang="zh-CN" sz="2000" b="1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n-lt"/>
                    <a:ea typeface="+mn-ea"/>
                    <a:cs typeface="+mn-ea"/>
                    <a:sym typeface="+mn-lt"/>
                  </a:rPr>
                  <a:t>A</a:t>
                </a:r>
              </a:p>
            </p:txBody>
          </p:sp>
          <p:sp>
            <p:nvSpPr>
              <p:cNvPr id="28722" name="Text Box 63"/>
              <p:cNvSpPr txBox="1">
                <a:spLocks noChangeArrowheads="1"/>
              </p:cNvSpPr>
              <p:nvPr/>
            </p:nvSpPr>
            <p:spPr bwMode="auto">
              <a:xfrm>
                <a:off x="5328" y="2160"/>
                <a:ext cx="384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1pPr>
                <a:lvl2pPr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2pPr>
                <a:lvl3pPr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3pPr>
                <a:lvl4pPr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4pPr>
                <a:lvl5pPr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r>
                  <a:rPr kumimoji="0" lang="en-US" altLang="zh-CN" sz="2000" b="1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n-lt"/>
                    <a:ea typeface="+mn-ea"/>
                    <a:cs typeface="+mn-ea"/>
                    <a:sym typeface="+mn-lt"/>
                  </a:rPr>
                  <a:t>B</a:t>
                </a:r>
              </a:p>
            </p:txBody>
          </p:sp>
          <p:sp>
            <p:nvSpPr>
              <p:cNvPr id="28723" name="Text Box 64"/>
              <p:cNvSpPr txBox="1">
                <a:spLocks noChangeArrowheads="1"/>
              </p:cNvSpPr>
              <p:nvPr/>
            </p:nvSpPr>
            <p:spPr bwMode="auto">
              <a:xfrm>
                <a:off x="5328" y="1872"/>
                <a:ext cx="384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1pPr>
                <a:lvl2pPr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2pPr>
                <a:lvl3pPr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3pPr>
                <a:lvl4pPr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4pPr>
                <a:lvl5pPr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r>
                  <a:rPr kumimoji="0" lang="en-US" altLang="zh-CN" sz="2000" b="1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n-lt"/>
                    <a:ea typeface="+mn-ea"/>
                    <a:cs typeface="+mn-ea"/>
                    <a:sym typeface="+mn-lt"/>
                  </a:rPr>
                  <a:t>C</a:t>
                </a:r>
              </a:p>
            </p:txBody>
          </p:sp>
          <p:sp>
            <p:nvSpPr>
              <p:cNvPr id="28724" name="Line 65"/>
              <p:cNvSpPr>
                <a:spLocks noChangeShapeType="1"/>
              </p:cNvSpPr>
              <p:nvPr/>
            </p:nvSpPr>
            <p:spPr bwMode="auto">
              <a:xfrm>
                <a:off x="5136" y="1248"/>
                <a:ext cx="192" cy="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28725" name="Text Box 66"/>
              <p:cNvSpPr txBox="1">
                <a:spLocks noChangeArrowheads="1"/>
              </p:cNvSpPr>
              <p:nvPr/>
            </p:nvSpPr>
            <p:spPr bwMode="auto">
              <a:xfrm>
                <a:off x="5328" y="1497"/>
                <a:ext cx="384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1pPr>
                <a:lvl2pPr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2pPr>
                <a:lvl3pPr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3pPr>
                <a:lvl4pPr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4pPr>
                <a:lvl5pPr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r>
                  <a:rPr kumimoji="0" lang="en-US" altLang="zh-CN" sz="2000" b="1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n-lt"/>
                    <a:ea typeface="+mn-ea"/>
                    <a:cs typeface="+mn-ea"/>
                    <a:sym typeface="+mn-lt"/>
                  </a:rPr>
                  <a:t>D</a:t>
                </a:r>
              </a:p>
            </p:txBody>
          </p:sp>
        </p:grpSp>
      </p:grpSp>
      <p:grpSp>
        <p:nvGrpSpPr>
          <p:cNvPr id="37896" name="Group 73"/>
          <p:cNvGrpSpPr/>
          <p:nvPr/>
        </p:nvGrpSpPr>
        <p:grpSpPr>
          <a:xfrm>
            <a:off x="-252412" y="1379091"/>
            <a:ext cx="2300287" cy="2166938"/>
            <a:chOff x="207" y="614"/>
            <a:chExt cx="1449" cy="1365"/>
          </a:xfrm>
        </p:grpSpPr>
        <p:sp>
          <p:nvSpPr>
            <p:cNvPr id="28727" name="Text Box 15"/>
            <p:cNvSpPr txBox="1">
              <a:spLocks noChangeArrowheads="1"/>
            </p:cNvSpPr>
            <p:nvPr/>
          </p:nvSpPr>
          <p:spPr bwMode="auto">
            <a:xfrm>
              <a:off x="207" y="1729"/>
              <a:ext cx="768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chemeClr val="folHlink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base</a:t>
              </a:r>
            </a:p>
          </p:txBody>
        </p:sp>
        <p:grpSp>
          <p:nvGrpSpPr>
            <p:cNvPr id="37902" name="Group 72"/>
            <p:cNvGrpSpPr/>
            <p:nvPr/>
          </p:nvGrpSpPr>
          <p:grpSpPr>
            <a:xfrm>
              <a:off x="264" y="614"/>
              <a:ext cx="1392" cy="1306"/>
              <a:chOff x="-240" y="624"/>
              <a:chExt cx="1392" cy="1306"/>
            </a:xfrm>
          </p:grpSpPr>
          <p:sp>
            <p:nvSpPr>
              <p:cNvPr id="28729" name="Rectangle 9"/>
              <p:cNvSpPr>
                <a:spLocks noChangeArrowheads="1"/>
              </p:cNvSpPr>
              <p:nvPr/>
            </p:nvSpPr>
            <p:spPr bwMode="auto">
              <a:xfrm>
                <a:off x="528" y="624"/>
                <a:ext cx="432" cy="1296"/>
              </a:xfrm>
              <a:prstGeom prst="rect">
                <a:avLst/>
              </a:prstGeom>
              <a:solidFill>
                <a:srgbClr val="FFFFFF"/>
              </a:solidFill>
              <a:ln w="38100">
                <a:solidFill>
                  <a:srgbClr val="000000"/>
                </a:solidFill>
                <a:miter lim="800000"/>
              </a:ln>
            </p:spPr>
            <p:txBody>
              <a:bodyPr wrap="none" anchor="ctr"/>
              <a:lstStyle>
                <a:lvl1pPr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1pPr>
                <a:lvl2pPr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2pPr>
                <a:lvl3pPr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3pPr>
                <a:lvl4pPr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4pPr>
                <a:lvl5pPr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28730" name="Line 10"/>
              <p:cNvSpPr>
                <a:spLocks noChangeShapeType="1"/>
              </p:cNvSpPr>
              <p:nvPr/>
            </p:nvSpPr>
            <p:spPr bwMode="auto">
              <a:xfrm>
                <a:off x="528" y="1296"/>
                <a:ext cx="432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28731" name="Line 11"/>
              <p:cNvSpPr>
                <a:spLocks noChangeShapeType="1"/>
              </p:cNvSpPr>
              <p:nvPr/>
            </p:nvSpPr>
            <p:spPr bwMode="auto">
              <a:xfrm>
                <a:off x="528" y="1584"/>
                <a:ext cx="432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28732" name="Line 12"/>
              <p:cNvSpPr>
                <a:spLocks noChangeShapeType="1"/>
              </p:cNvSpPr>
              <p:nvPr/>
            </p:nvSpPr>
            <p:spPr bwMode="auto">
              <a:xfrm>
                <a:off x="528" y="960"/>
                <a:ext cx="432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28733" name="Line 13"/>
              <p:cNvSpPr>
                <a:spLocks noChangeShapeType="1"/>
              </p:cNvSpPr>
              <p:nvPr/>
            </p:nvSpPr>
            <p:spPr bwMode="auto">
              <a:xfrm>
                <a:off x="288" y="1728"/>
                <a:ext cx="240" cy="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28734" name="Line 14"/>
              <p:cNvSpPr>
                <a:spLocks noChangeShapeType="1"/>
              </p:cNvSpPr>
              <p:nvPr/>
            </p:nvSpPr>
            <p:spPr bwMode="auto">
              <a:xfrm>
                <a:off x="288" y="1872"/>
                <a:ext cx="240" cy="0"/>
              </a:xfrm>
              <a:prstGeom prst="line">
                <a:avLst/>
              </a:prstGeom>
              <a:noFill/>
              <a:ln w="19050">
                <a:solidFill>
                  <a:schemeClr val="folHlink"/>
                </a:solidFill>
                <a:rou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28735" name="Text Box 16"/>
              <p:cNvSpPr txBox="1">
                <a:spLocks noChangeArrowheads="1"/>
              </p:cNvSpPr>
              <p:nvPr/>
            </p:nvSpPr>
            <p:spPr bwMode="auto">
              <a:xfrm>
                <a:off x="-240" y="1612"/>
                <a:ext cx="768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1pPr>
                <a:lvl2pPr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2pPr>
                <a:lvl3pPr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3pPr>
                <a:lvl4pPr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4pPr>
                <a:lvl5pPr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r>
                  <a:rPr kumimoji="0" lang="en-US" altLang="zh-CN" sz="2000" b="1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n-lt"/>
                    <a:ea typeface="+mn-ea"/>
                    <a:cs typeface="+mn-ea"/>
                    <a:sym typeface="+mn-lt"/>
                  </a:rPr>
                  <a:t>top</a:t>
                </a:r>
              </a:p>
            </p:txBody>
          </p:sp>
          <p:sp>
            <p:nvSpPr>
              <p:cNvPr id="28736" name="Text Box 68"/>
              <p:cNvSpPr txBox="1">
                <a:spLocks noChangeArrowheads="1"/>
              </p:cNvSpPr>
              <p:nvPr/>
            </p:nvSpPr>
            <p:spPr bwMode="auto">
              <a:xfrm>
                <a:off x="960" y="672"/>
                <a:ext cx="192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1pPr>
                <a:lvl2pPr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2pPr>
                <a:lvl3pPr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3pPr>
                <a:lvl4pPr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4pPr>
                <a:lvl5pPr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r>
                  <a:rPr kumimoji="0" lang="en-US" altLang="zh-CN" sz="2000" b="1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n-lt"/>
                    <a:ea typeface="+mn-ea"/>
                    <a:cs typeface="+mn-ea"/>
                    <a:sym typeface="+mn-lt"/>
                  </a:rPr>
                  <a:t>3</a:t>
                </a:r>
              </a:p>
            </p:txBody>
          </p:sp>
          <p:sp>
            <p:nvSpPr>
              <p:cNvPr id="28737" name="Text Box 69"/>
              <p:cNvSpPr txBox="1">
                <a:spLocks noChangeArrowheads="1"/>
              </p:cNvSpPr>
              <p:nvPr/>
            </p:nvSpPr>
            <p:spPr bwMode="auto">
              <a:xfrm>
                <a:off x="960" y="1344"/>
                <a:ext cx="192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1pPr>
                <a:lvl2pPr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2pPr>
                <a:lvl3pPr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3pPr>
                <a:lvl4pPr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4pPr>
                <a:lvl5pPr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r>
                  <a:rPr kumimoji="0" lang="en-US" altLang="zh-CN" sz="2000" b="1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n-lt"/>
                    <a:ea typeface="+mn-ea"/>
                    <a:cs typeface="+mn-ea"/>
                    <a:sym typeface="+mn-lt"/>
                  </a:rPr>
                  <a:t>1</a:t>
                </a:r>
              </a:p>
            </p:txBody>
          </p:sp>
          <p:sp>
            <p:nvSpPr>
              <p:cNvPr id="28738" name="Text Box 70"/>
              <p:cNvSpPr txBox="1">
                <a:spLocks noChangeArrowheads="1"/>
              </p:cNvSpPr>
              <p:nvPr/>
            </p:nvSpPr>
            <p:spPr bwMode="auto">
              <a:xfrm>
                <a:off x="960" y="1008"/>
                <a:ext cx="192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1pPr>
                <a:lvl2pPr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2pPr>
                <a:lvl3pPr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3pPr>
                <a:lvl4pPr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4pPr>
                <a:lvl5pPr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r>
                  <a:rPr kumimoji="0" lang="en-US" altLang="zh-CN" sz="2000" b="1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n-lt"/>
                    <a:ea typeface="+mn-ea"/>
                    <a:cs typeface="+mn-ea"/>
                    <a:sym typeface="+mn-lt"/>
                  </a:rPr>
                  <a:t>2</a:t>
                </a:r>
              </a:p>
            </p:txBody>
          </p:sp>
          <p:sp>
            <p:nvSpPr>
              <p:cNvPr id="28739" name="Text Box 71"/>
              <p:cNvSpPr txBox="1">
                <a:spLocks noChangeArrowheads="1"/>
              </p:cNvSpPr>
              <p:nvPr/>
            </p:nvSpPr>
            <p:spPr bwMode="auto">
              <a:xfrm>
                <a:off x="960" y="1680"/>
                <a:ext cx="192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1pPr>
                <a:lvl2pPr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2pPr>
                <a:lvl3pPr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3pPr>
                <a:lvl4pPr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4pPr>
                <a:lvl5pPr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r>
                  <a:rPr kumimoji="0" lang="en-US" altLang="zh-CN" sz="2000" b="1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n-lt"/>
                    <a:ea typeface="+mn-ea"/>
                    <a:cs typeface="+mn-ea"/>
                    <a:sym typeface="+mn-lt"/>
                  </a:rPr>
                  <a:t>0</a:t>
                </a:r>
              </a:p>
            </p:txBody>
          </p:sp>
        </p:grpSp>
      </p:grpSp>
      <p:sp>
        <p:nvSpPr>
          <p:cNvPr id="71" name="Text Box 4">
            <a:extLst>
              <a:ext uri="{FF2B5EF4-FFF2-40B4-BE49-F238E27FC236}">
                <a16:creationId xmlns:a16="http://schemas.microsoft.com/office/drawing/2014/main" id="{14EE2818-F6C6-4139-9AD5-8FF904495B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4089" y="3803720"/>
            <a:ext cx="8175822" cy="2922824"/>
          </a:xfrm>
          <a:prstGeom prst="rect">
            <a:avLst/>
          </a:prstGeom>
          <a:noFill/>
          <a:ln w="9525" cap="flat" cmpd="sng" algn="ctr">
            <a:noFill/>
            <a:prstDash val="solid"/>
            <a:headEnd/>
            <a:tailEnd/>
          </a:ln>
          <a:effectLst/>
        </p:spPr>
        <p:txBody>
          <a:bodyPr wrap="square" lIns="180000" tIns="108000" bIns="108000">
            <a:spAutoFit/>
          </a:bodyPr>
          <a:lstStyle>
            <a:defPPr>
              <a:defRPr lang="zh-CN"/>
            </a:defPPr>
            <a:lvl1pPr marL="342900" indent="-342900" algn="l">
              <a:buClr>
                <a:srgbClr val="F39801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Consolas" pitchFamily="49" charset="0"/>
              </a:defRPr>
            </a:lvl1pPr>
          </a:lstStyle>
          <a:p>
            <a:pPr marL="0" marR="0" lvl="0" indent="0" algn="l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39801"/>
              </a:buClr>
              <a:buSzTx/>
              <a:buFont typeface="Wingdings" panose="05000000000000000000" pitchFamily="2" charset="2"/>
              <a:buChar char="l"/>
              <a:tabLst/>
              <a:defRPr/>
            </a:pPr>
            <a:r>
              <a:rPr kumimoji="1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CE3B37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kumimoji="1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栈空条件：</a:t>
            </a:r>
            <a:r>
              <a:rPr kumimoji="1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top==base</a:t>
            </a:r>
            <a:r>
              <a:rPr kumimoji="1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endParaRPr kumimoji="1" lang="en-US" altLang="zh-CN" sz="2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l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39801"/>
              </a:buClr>
              <a:buSzTx/>
              <a:buFont typeface="Wingdings" panose="05000000000000000000" pitchFamily="2" charset="2"/>
              <a:buChar char="l"/>
              <a:tabLst/>
              <a:defRPr/>
            </a:pPr>
            <a:r>
              <a:rPr kumimoji="1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kumimoji="1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栈满条件：</a:t>
            </a:r>
            <a:r>
              <a:rPr kumimoji="1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top – base == </a:t>
            </a:r>
            <a:r>
              <a:rPr kumimoji="1" lang="en-US" altLang="zh-CN" sz="24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maxSize</a:t>
            </a:r>
            <a:r>
              <a:rPr kumimoji="1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endParaRPr kumimoji="1" lang="en-US" altLang="zh-CN" sz="2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0" indent="0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kumimoji="1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kumimoji="1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进栈操作：</a:t>
            </a:r>
            <a:r>
              <a:rPr kumimoji="1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将 </a:t>
            </a:r>
            <a:r>
              <a:rPr kumimoji="1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e </a:t>
            </a:r>
            <a:r>
              <a:rPr kumimoji="1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放在 </a:t>
            </a:r>
            <a:r>
              <a:rPr kumimoji="1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top </a:t>
            </a:r>
            <a:r>
              <a:rPr kumimoji="1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处；</a:t>
            </a:r>
            <a:r>
              <a:rPr kumimoji="1" lang="en-US" altLang="zh-CN" sz="2400" b="0" kern="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top++</a:t>
            </a:r>
            <a:r>
              <a:rPr kumimoji="1" lang="zh-CN" altLang="en-US" sz="2400" b="0" kern="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endParaRPr kumimoji="1" lang="zh-CN" altLang="en-US" sz="2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0" indent="0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kumimoji="1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kumimoji="1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退栈操作：</a:t>
            </a:r>
            <a:r>
              <a:rPr kumimoji="1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top--</a:t>
            </a:r>
            <a:r>
              <a:rPr kumimoji="1" lang="zh-CN" altLang="en-US" sz="2400" b="0" kern="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；从 </a:t>
            </a:r>
            <a:r>
              <a:rPr kumimoji="1" lang="en-US" altLang="zh-CN" sz="2400" b="0" kern="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top </a:t>
            </a:r>
            <a:r>
              <a:rPr kumimoji="1" lang="zh-CN" altLang="en-US" sz="2400" b="0" kern="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处取出元素 </a:t>
            </a:r>
            <a:r>
              <a:rPr kumimoji="1" lang="en-US" altLang="zh-CN" sz="2400" b="0" kern="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</a:t>
            </a:r>
            <a:r>
              <a:rPr kumimoji="1" lang="zh-CN" altLang="en-US" sz="2400" b="0" kern="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endParaRPr kumimoji="1" lang="en-US" altLang="zh-CN" sz="2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l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39801"/>
              </a:buClr>
              <a:buSzTx/>
              <a:buFont typeface="Wingdings" panose="05000000000000000000" pitchFamily="2" charset="2"/>
              <a:buChar char="l"/>
              <a:tabLst/>
              <a:defRPr/>
            </a:pPr>
            <a:r>
              <a:rPr kumimoji="1" lang="zh-CN" altLang="en-US" sz="2400" b="0" kern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取栈顶元素：</a:t>
            </a:r>
            <a:r>
              <a:rPr kumimoji="1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从 </a:t>
            </a:r>
            <a:r>
              <a:rPr kumimoji="1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(top-1) </a:t>
            </a:r>
            <a:r>
              <a:rPr kumimoji="1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处取出元素 </a:t>
            </a:r>
            <a:r>
              <a:rPr kumimoji="1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e</a:t>
            </a:r>
            <a:r>
              <a:rPr kumimoji="1" lang="zh-CN" altLang="en-US" sz="2400" b="0" kern="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endParaRPr kumimoji="1" lang="en-US" altLang="zh-CN" sz="2400" b="0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矩形 5"/>
          <p:cNvSpPr>
            <a:spLocks noChangeArrowheads="1"/>
          </p:cNvSpPr>
          <p:nvPr/>
        </p:nvSpPr>
        <p:spPr bwMode="auto">
          <a:xfrm>
            <a:off x="0" y="1268760"/>
            <a:ext cx="9144000" cy="5128490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txBody>
          <a:bodyPr/>
          <a:lstStyle>
            <a:lvl1pPr marL="342900" indent="-342900">
              <a:lnSpc>
                <a:spcPct val="130000"/>
              </a:lnSpc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1747" name="Rectangle 2"/>
          <p:cNvSpPr>
            <a:spLocks noChangeArrowheads="1"/>
          </p:cNvSpPr>
          <p:nvPr/>
        </p:nvSpPr>
        <p:spPr bwMode="auto">
          <a:xfrm>
            <a:off x="467544" y="1295124"/>
            <a:ext cx="8136904" cy="50926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Status </a:t>
            </a:r>
            <a:r>
              <a:rPr kumimoji="0" lang="en-US" altLang="zh-CN" sz="28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InitStack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(</a:t>
            </a:r>
            <a:r>
              <a:rPr kumimoji="0" lang="en-US" altLang="zh-CN" sz="28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SqStack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&amp;S) {</a:t>
            </a:r>
          </a:p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0" dirty="0">
                <a:solidFill>
                  <a:srgbClr val="FF0000"/>
                </a:solidFill>
                <a:latin typeface="+mn-lt"/>
                <a:ea typeface="仿宋_GB2312" pitchFamily="49" charset="-122"/>
              </a:rPr>
              <a:t>    </a:t>
            </a:r>
            <a:r>
              <a:rPr kumimoji="1" lang="en-US" altLang="zh-CN" sz="2800" b="0" i="0" u="none" strike="noStrike" kern="120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仿宋_GB2312" pitchFamily="49" charset="-122"/>
              </a:rPr>
              <a:t>S.elem</a:t>
            </a: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仿宋_GB2312" pitchFamily="49" charset="-122"/>
              </a:rPr>
              <a:t> = new </a:t>
            </a:r>
            <a:r>
              <a:rPr kumimoji="1" lang="en-US" altLang="zh-CN" sz="2800" b="0" i="0" u="none" strike="noStrike" kern="120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仿宋_GB2312" pitchFamily="49" charset="-122"/>
              </a:rPr>
              <a:t>SElemType</a:t>
            </a: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仿宋_GB2312" pitchFamily="49" charset="-122"/>
              </a:rPr>
              <a:t>[</a:t>
            </a:r>
            <a:r>
              <a:rPr kumimoji="1" lang="en-US" altLang="zh-CN" sz="2800" b="0" i="0" u="none" strike="noStrike" kern="1200" cap="all" spc="0" normalizeH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仿宋_GB2312" pitchFamily="49" charset="-122"/>
              </a:rPr>
              <a:t>InitSize</a:t>
            </a: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仿宋_GB2312" pitchFamily="49" charset="-122"/>
              </a:rPr>
              <a:t>];</a:t>
            </a:r>
          </a:p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仿宋_GB2312" pitchFamily="49" charset="-122"/>
              </a:rPr>
              <a:t>    if (</a:t>
            </a:r>
            <a:r>
              <a:rPr kumimoji="1" lang="en-US" altLang="zh-CN" sz="28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+mn-lt"/>
                <a:ea typeface="仿宋_GB2312" pitchFamily="49" charset="-122"/>
              </a:rPr>
              <a:t>S.elem</a:t>
            </a: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仿宋_GB2312" pitchFamily="49" charset="-122"/>
              </a:rPr>
              <a:t>==NULL) {</a:t>
            </a:r>
          </a:p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仿宋_GB2312" pitchFamily="49" charset="-122"/>
              </a:rPr>
              <a:t>        </a:t>
            </a:r>
            <a:r>
              <a:rPr kumimoji="1" lang="en-US" altLang="zh-CN" sz="28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+mn-lt"/>
                <a:ea typeface="仿宋_GB2312" pitchFamily="49" charset="-122"/>
              </a:rPr>
              <a:t>printf</a:t>
            </a: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仿宋_GB2312" pitchFamily="49" charset="-122"/>
              </a:rPr>
              <a:t> (“</a:t>
            </a: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仿宋_GB2312" pitchFamily="49" charset="-122"/>
              </a:rPr>
              <a:t>存储分配失败</a:t>
            </a: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仿宋_GB2312" pitchFamily="49" charset="-122"/>
              </a:rPr>
              <a:t>!\n”);</a:t>
            </a:r>
            <a:r>
              <a:rPr kumimoji="1" lang="en-US" altLang="zh-CN" sz="2800" b="0" dirty="0">
                <a:latin typeface="+mn-lt"/>
                <a:ea typeface="仿宋_GB2312" pitchFamily="49" charset="-122"/>
              </a:rPr>
              <a:t>  </a:t>
            </a: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仿宋_GB2312" pitchFamily="49" charset="-122"/>
              </a:rPr>
              <a:t>  exit(1); }</a:t>
            </a:r>
          </a:p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仿宋_GB2312" pitchFamily="49" charset="-122"/>
              </a:rPr>
              <a:t>    </a:t>
            </a:r>
            <a:r>
              <a:rPr kumimoji="1" lang="en-US" altLang="zh-CN" sz="2800" b="0" i="0" u="none" strike="noStrike" kern="120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仿宋_GB2312" pitchFamily="49" charset="-122"/>
              </a:rPr>
              <a:t>S.top</a:t>
            </a:r>
            <a:r>
              <a:rPr kumimoji="1" lang="en-US" altLang="zh-CN" sz="2800" b="0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仿宋_GB2312" pitchFamily="49" charset="-122"/>
              </a:rPr>
              <a:t> = </a:t>
            </a: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</a:rPr>
              <a:t>-</a:t>
            </a: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仿宋_GB2312" pitchFamily="49" charset="-122"/>
              </a:rPr>
              <a:t>1;</a:t>
            </a:r>
          </a:p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0" dirty="0">
                <a:solidFill>
                  <a:srgbClr val="0000FF"/>
                </a:solidFill>
                <a:latin typeface="+mn-lt"/>
                <a:ea typeface="仿宋_GB2312" pitchFamily="49" charset="-122"/>
              </a:rPr>
              <a:t>   </a:t>
            </a: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仿宋_GB2312" pitchFamily="49" charset="-122"/>
              </a:rPr>
              <a:t> </a:t>
            </a:r>
            <a:r>
              <a:rPr kumimoji="1" lang="en-US" altLang="zh-CN" sz="2800" b="0" i="0" u="none" strike="noStrike" kern="120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仿宋_GB2312" pitchFamily="49" charset="-122"/>
              </a:rPr>
              <a:t>S.maxSize</a:t>
            </a: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仿宋_GB2312" pitchFamily="49" charset="-122"/>
              </a:rPr>
              <a:t> = </a:t>
            </a:r>
            <a:r>
              <a:rPr kumimoji="1" lang="en-US" altLang="zh-CN" sz="2800" b="0" i="0" u="none" strike="noStrike" kern="1200" cap="all" spc="0" normalizeH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仿宋_GB2312" pitchFamily="49" charset="-122"/>
              </a:rPr>
              <a:t>InitSize</a:t>
            </a: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仿宋_GB2312" pitchFamily="49" charset="-122"/>
              </a:rPr>
              <a:t>;</a:t>
            </a:r>
          </a:p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0" dirty="0">
                <a:solidFill>
                  <a:srgbClr val="CC3300"/>
                </a:solidFill>
                <a:latin typeface="+mn-lt"/>
                <a:ea typeface="仿宋_GB2312" pitchFamily="49" charset="-122"/>
                <a:cs typeface="+mn-ea"/>
                <a:sym typeface="+mn-lt"/>
              </a:rPr>
              <a:t>   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return OK;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}</a:t>
            </a:r>
          </a:p>
        </p:txBody>
      </p:sp>
      <p:sp>
        <p:nvSpPr>
          <p:cNvPr id="31748" name="Rectangle 3"/>
          <p:cNvSpPr>
            <a:spLocks noChangeArrowheads="1"/>
          </p:cNvSpPr>
          <p:nvPr/>
        </p:nvSpPr>
        <p:spPr bwMode="auto">
          <a:xfrm>
            <a:off x="954088" y="207963"/>
            <a:ext cx="3524250" cy="515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顺序栈初始化</a:t>
            </a:r>
          </a:p>
        </p:txBody>
      </p:sp>
    </p:spTree>
  </p:cSld>
  <p:clrMapOvr>
    <a:masterClrMapping/>
  </p:clrMapOvr>
  <p:transition>
    <p:split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矩形 19"/>
          <p:cNvSpPr>
            <a:spLocks noChangeArrowheads="1"/>
          </p:cNvSpPr>
          <p:nvPr/>
        </p:nvSpPr>
        <p:spPr bwMode="auto">
          <a:xfrm>
            <a:off x="0" y="1628775"/>
            <a:ext cx="9144000" cy="3960813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txBody>
          <a:bodyPr/>
          <a:lstStyle>
            <a:lvl1pPr marL="342900" indent="-342900">
              <a:lnSpc>
                <a:spcPct val="130000"/>
              </a:lnSpc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2771" name="Rectangle 1039"/>
          <p:cNvSpPr>
            <a:spLocks noChangeArrowheads="1"/>
          </p:cNvSpPr>
          <p:nvPr/>
        </p:nvSpPr>
        <p:spPr bwMode="auto">
          <a:xfrm>
            <a:off x="900113" y="223838"/>
            <a:ext cx="3956050" cy="515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判断顺序栈是否为空</a:t>
            </a:r>
          </a:p>
        </p:txBody>
      </p:sp>
      <p:sp>
        <p:nvSpPr>
          <p:cNvPr id="32772" name="Rectangle 1040"/>
          <p:cNvSpPr>
            <a:spLocks noChangeArrowheads="1"/>
          </p:cNvSpPr>
          <p:nvPr/>
        </p:nvSpPr>
        <p:spPr bwMode="auto">
          <a:xfrm>
            <a:off x="942378" y="1731281"/>
            <a:ext cx="5038725" cy="36724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bool </a:t>
            </a:r>
            <a:r>
              <a:rPr kumimoji="0" lang="en-US" altLang="zh-CN" sz="28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StackEmpty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(</a:t>
            </a:r>
            <a:r>
              <a:rPr kumimoji="0" lang="en-US" altLang="zh-CN" sz="28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SqStack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S) {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sz="2800" b="0" dirty="0">
                <a:latin typeface="+mn-lt"/>
                <a:ea typeface="+mn-ea"/>
                <a:cs typeface="+mn-ea"/>
                <a:sym typeface="+mn-lt"/>
              </a:rPr>
              <a:t>   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return </a:t>
            </a:r>
            <a:r>
              <a:rPr kumimoji="0" lang="en-US" altLang="zh-CN" sz="2800" b="0" i="0" u="none" strike="noStrike" kern="120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S.top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== -1;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}</a:t>
            </a:r>
          </a:p>
        </p:txBody>
      </p: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416EB15C-2191-4415-8027-5267B9C11645}"/>
              </a:ext>
            </a:extLst>
          </p:cNvPr>
          <p:cNvGrpSpPr/>
          <p:nvPr/>
        </p:nvGrpSpPr>
        <p:grpSpPr>
          <a:xfrm>
            <a:off x="6102953" y="2333743"/>
            <a:ext cx="2736304" cy="3111482"/>
            <a:chOff x="-67692" y="1162843"/>
            <a:chExt cx="2081212" cy="2084466"/>
          </a:xfrm>
        </p:grpSpPr>
        <p:sp>
          <p:nvSpPr>
            <p:cNvPr id="24" name="Rectangle 6">
              <a:extLst>
                <a:ext uri="{FF2B5EF4-FFF2-40B4-BE49-F238E27FC236}">
                  <a16:creationId xmlns:a16="http://schemas.microsoft.com/office/drawing/2014/main" id="{6DC2B1BE-D4F7-49C6-B6E0-416D26EC7F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1796" y="1162843"/>
              <a:ext cx="576263" cy="360362"/>
            </a:xfrm>
            <a:prstGeom prst="rect">
              <a:avLst/>
            </a:prstGeom>
            <a:gradFill rotWithShape="1">
              <a:gsLst>
                <a:gs pos="0">
                  <a:srgbClr val="9BBB59">
                    <a:tint val="50000"/>
                    <a:satMod val="300000"/>
                  </a:srgbClr>
                </a:gs>
                <a:gs pos="35000">
                  <a:srgbClr val="9BBB59">
                    <a:tint val="37000"/>
                    <a:satMod val="300000"/>
                  </a:srgbClr>
                </a:gs>
                <a:gs pos="100000">
                  <a:srgbClr val="9BBB59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9BBB59">
                  <a:shade val="95000"/>
                  <a:satMod val="105000"/>
                </a:srgbClr>
              </a:solidFill>
              <a:prstDash val="solid"/>
              <a:headEnd/>
              <a:tailEnd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8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zh-CN" sz="20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宋体" panose="02010600030101010101" pitchFamily="2" charset="-122"/>
                <a:cs typeface="Consolas" pitchFamily="49" charset="0"/>
              </a:endParaRPr>
            </a:p>
          </p:txBody>
        </p:sp>
        <p:sp>
          <p:nvSpPr>
            <p:cNvPr id="25" name="Text Box 7">
              <a:extLst>
                <a:ext uri="{FF2B5EF4-FFF2-40B4-BE49-F238E27FC236}">
                  <a16:creationId xmlns:a16="http://schemas.microsoft.com/office/drawing/2014/main" id="{777ACD86-F5D5-4924-B499-A0DBA621E3E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81720" y="1250112"/>
              <a:ext cx="431800" cy="229771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pPr algn="ctr" eaLnBrk="1" hangingPunct="1">
                <a:lnSpc>
                  <a:spcPct val="80000"/>
                </a:lnSpc>
                <a:spcBef>
                  <a:spcPct val="50000"/>
                </a:spcBef>
              </a:pPr>
              <a:r>
                <a:rPr kumimoji="1" lang="en-US" altLang="zh-CN" sz="2000">
                  <a:solidFill>
                    <a:prstClr val="black"/>
                  </a:solidFill>
                  <a:latin typeface="Consolas" pitchFamily="49" charset="0"/>
                  <a:cs typeface="Consolas" pitchFamily="49" charset="0"/>
                </a:rPr>
                <a:t>4</a:t>
              </a:r>
            </a:p>
          </p:txBody>
        </p:sp>
        <p:sp>
          <p:nvSpPr>
            <p:cNvPr id="26" name="Rectangle 8">
              <a:extLst>
                <a:ext uri="{FF2B5EF4-FFF2-40B4-BE49-F238E27FC236}">
                  <a16:creationId xmlns:a16="http://schemas.microsoft.com/office/drawing/2014/main" id="{78F0FA46-8459-49D2-9646-5CC71E8EC6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1796" y="1523206"/>
              <a:ext cx="576263" cy="360363"/>
            </a:xfrm>
            <a:prstGeom prst="rect">
              <a:avLst/>
            </a:prstGeom>
            <a:gradFill rotWithShape="1">
              <a:gsLst>
                <a:gs pos="0">
                  <a:srgbClr val="9BBB59">
                    <a:tint val="50000"/>
                    <a:satMod val="300000"/>
                  </a:srgbClr>
                </a:gs>
                <a:gs pos="35000">
                  <a:srgbClr val="9BBB59">
                    <a:tint val="37000"/>
                    <a:satMod val="300000"/>
                  </a:srgbClr>
                </a:gs>
                <a:gs pos="100000">
                  <a:srgbClr val="9BBB59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9BBB59">
                  <a:shade val="95000"/>
                  <a:satMod val="105000"/>
                </a:srgbClr>
              </a:solidFill>
              <a:prstDash val="solid"/>
              <a:headEnd/>
              <a:tailEnd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8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zh-CN" sz="20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宋体" panose="02010600030101010101" pitchFamily="2" charset="-122"/>
                <a:cs typeface="Consolas" pitchFamily="49" charset="0"/>
              </a:endParaRPr>
            </a:p>
          </p:txBody>
        </p:sp>
        <p:sp>
          <p:nvSpPr>
            <p:cNvPr id="27" name="Text Box 9">
              <a:extLst>
                <a:ext uri="{FF2B5EF4-FFF2-40B4-BE49-F238E27FC236}">
                  <a16:creationId xmlns:a16="http://schemas.microsoft.com/office/drawing/2014/main" id="{754E761E-601C-4CE7-A7E5-17FF60E7AF3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81720" y="1588502"/>
              <a:ext cx="431800" cy="229771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pPr algn="ctr" eaLnBrk="1" hangingPunct="1">
                <a:lnSpc>
                  <a:spcPct val="80000"/>
                </a:lnSpc>
                <a:spcBef>
                  <a:spcPct val="50000"/>
                </a:spcBef>
              </a:pPr>
              <a:r>
                <a:rPr kumimoji="1" lang="en-US" altLang="zh-CN" sz="2000" dirty="0">
                  <a:solidFill>
                    <a:prstClr val="black"/>
                  </a:solidFill>
                  <a:latin typeface="Consolas" pitchFamily="49" charset="0"/>
                  <a:cs typeface="Consolas" pitchFamily="49" charset="0"/>
                </a:rPr>
                <a:t>3</a:t>
              </a:r>
            </a:p>
          </p:txBody>
        </p:sp>
        <p:sp>
          <p:nvSpPr>
            <p:cNvPr id="28" name="Rectangle 10">
              <a:extLst>
                <a:ext uri="{FF2B5EF4-FFF2-40B4-BE49-F238E27FC236}">
                  <a16:creationId xmlns:a16="http://schemas.microsoft.com/office/drawing/2014/main" id="{9A609805-8F24-4ED0-B4CF-DD8651F71B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1796" y="1881981"/>
              <a:ext cx="576263" cy="360363"/>
            </a:xfrm>
            <a:prstGeom prst="rect">
              <a:avLst/>
            </a:prstGeom>
            <a:gradFill rotWithShape="1">
              <a:gsLst>
                <a:gs pos="0">
                  <a:srgbClr val="9BBB59">
                    <a:tint val="50000"/>
                    <a:satMod val="300000"/>
                  </a:srgbClr>
                </a:gs>
                <a:gs pos="35000">
                  <a:srgbClr val="9BBB59">
                    <a:tint val="37000"/>
                    <a:satMod val="300000"/>
                  </a:srgbClr>
                </a:gs>
                <a:gs pos="100000">
                  <a:srgbClr val="9BBB59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9BBB59">
                  <a:shade val="95000"/>
                  <a:satMod val="105000"/>
                </a:srgbClr>
              </a:solidFill>
              <a:prstDash val="solid"/>
              <a:headEnd/>
              <a:tailEnd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8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zh-CN" sz="20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宋体" panose="02010600030101010101" pitchFamily="2" charset="-122"/>
                <a:cs typeface="Consolas" pitchFamily="49" charset="0"/>
              </a:endParaRPr>
            </a:p>
          </p:txBody>
        </p:sp>
        <p:sp>
          <p:nvSpPr>
            <p:cNvPr id="29" name="Text Box 11">
              <a:extLst>
                <a:ext uri="{FF2B5EF4-FFF2-40B4-BE49-F238E27FC236}">
                  <a16:creationId xmlns:a16="http://schemas.microsoft.com/office/drawing/2014/main" id="{B3D3E7AD-59F1-44CE-A1BC-811F09B3643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81720" y="1969084"/>
              <a:ext cx="431800" cy="229771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pPr algn="ctr" eaLnBrk="1" hangingPunct="1">
                <a:lnSpc>
                  <a:spcPct val="80000"/>
                </a:lnSpc>
                <a:spcBef>
                  <a:spcPct val="50000"/>
                </a:spcBef>
              </a:pPr>
              <a:r>
                <a:rPr kumimoji="1" lang="en-US" altLang="zh-CN" sz="2000" dirty="0">
                  <a:solidFill>
                    <a:prstClr val="black"/>
                  </a:solidFill>
                  <a:latin typeface="Consolas" pitchFamily="49" charset="0"/>
                  <a:cs typeface="Consolas" pitchFamily="49" charset="0"/>
                </a:rPr>
                <a:t>2</a:t>
              </a:r>
            </a:p>
          </p:txBody>
        </p:sp>
        <p:sp>
          <p:nvSpPr>
            <p:cNvPr id="30" name="Rectangle 12">
              <a:extLst>
                <a:ext uri="{FF2B5EF4-FFF2-40B4-BE49-F238E27FC236}">
                  <a16:creationId xmlns:a16="http://schemas.microsoft.com/office/drawing/2014/main" id="{74A5484D-BD13-43B4-BA70-D56CBC5B74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1796" y="2242343"/>
              <a:ext cx="576263" cy="360362"/>
            </a:xfrm>
            <a:prstGeom prst="rect">
              <a:avLst/>
            </a:prstGeom>
            <a:gradFill rotWithShape="1">
              <a:gsLst>
                <a:gs pos="0">
                  <a:srgbClr val="9BBB59">
                    <a:tint val="50000"/>
                    <a:satMod val="300000"/>
                  </a:srgbClr>
                </a:gs>
                <a:gs pos="35000">
                  <a:srgbClr val="9BBB59">
                    <a:tint val="37000"/>
                    <a:satMod val="300000"/>
                  </a:srgbClr>
                </a:gs>
                <a:gs pos="100000">
                  <a:srgbClr val="9BBB59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9BBB59">
                  <a:shade val="95000"/>
                  <a:satMod val="105000"/>
                </a:srgbClr>
              </a:solidFill>
              <a:prstDash val="solid"/>
              <a:headEnd/>
              <a:tailEnd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8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zh-CN" sz="20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宋体" panose="02010600030101010101" pitchFamily="2" charset="-122"/>
                <a:cs typeface="Consolas" pitchFamily="49" charset="0"/>
              </a:endParaRPr>
            </a:p>
          </p:txBody>
        </p:sp>
        <p:sp>
          <p:nvSpPr>
            <p:cNvPr id="31" name="Text Box 13">
              <a:extLst>
                <a:ext uri="{FF2B5EF4-FFF2-40B4-BE49-F238E27FC236}">
                  <a16:creationId xmlns:a16="http://schemas.microsoft.com/office/drawing/2014/main" id="{5E179C4E-1D52-4C24-8292-47DE9BE20E4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81720" y="2351280"/>
              <a:ext cx="431800" cy="229771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pPr algn="ctr" eaLnBrk="1" hangingPunct="1">
                <a:lnSpc>
                  <a:spcPct val="80000"/>
                </a:lnSpc>
                <a:spcBef>
                  <a:spcPct val="50000"/>
                </a:spcBef>
              </a:pPr>
              <a:r>
                <a:rPr kumimoji="1" lang="en-US" altLang="zh-CN" sz="2000" dirty="0">
                  <a:solidFill>
                    <a:prstClr val="black"/>
                  </a:solidFill>
                  <a:latin typeface="Consolas" pitchFamily="49" charset="0"/>
                  <a:cs typeface="Consolas" pitchFamily="49" charset="0"/>
                </a:rPr>
                <a:t>1</a:t>
              </a:r>
            </a:p>
          </p:txBody>
        </p:sp>
        <p:sp>
          <p:nvSpPr>
            <p:cNvPr id="32" name="Rectangle 14">
              <a:extLst>
                <a:ext uri="{FF2B5EF4-FFF2-40B4-BE49-F238E27FC236}">
                  <a16:creationId xmlns:a16="http://schemas.microsoft.com/office/drawing/2014/main" id="{9CE882D8-51E7-44A7-8165-E2F80DA8C7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1796" y="2602706"/>
              <a:ext cx="576263" cy="360363"/>
            </a:xfrm>
            <a:prstGeom prst="rect">
              <a:avLst/>
            </a:prstGeom>
            <a:gradFill rotWithShape="1">
              <a:gsLst>
                <a:gs pos="0">
                  <a:srgbClr val="9BBB59">
                    <a:tint val="50000"/>
                    <a:satMod val="300000"/>
                  </a:srgbClr>
                </a:gs>
                <a:gs pos="35000">
                  <a:srgbClr val="9BBB59">
                    <a:tint val="37000"/>
                    <a:satMod val="300000"/>
                  </a:srgbClr>
                </a:gs>
                <a:gs pos="100000">
                  <a:srgbClr val="9BBB59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9BBB59">
                  <a:shade val="95000"/>
                  <a:satMod val="105000"/>
                </a:srgbClr>
              </a:solidFill>
              <a:prstDash val="solid"/>
              <a:headEnd/>
              <a:tailEnd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8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zh-CN" sz="20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宋体" panose="02010600030101010101" pitchFamily="2" charset="-122"/>
                <a:cs typeface="Consolas" pitchFamily="49" charset="0"/>
              </a:endParaRPr>
            </a:p>
          </p:txBody>
        </p:sp>
        <p:sp>
          <p:nvSpPr>
            <p:cNvPr id="33" name="Text Box 15">
              <a:extLst>
                <a:ext uri="{FF2B5EF4-FFF2-40B4-BE49-F238E27FC236}">
                  <a16:creationId xmlns:a16="http://schemas.microsoft.com/office/drawing/2014/main" id="{ADC84A57-33BD-408C-B691-9460113BD42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81720" y="2711642"/>
              <a:ext cx="431800" cy="229771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pPr algn="ctr" eaLnBrk="1" hangingPunct="1">
                <a:lnSpc>
                  <a:spcPct val="80000"/>
                </a:lnSpc>
                <a:spcBef>
                  <a:spcPct val="50000"/>
                </a:spcBef>
              </a:pPr>
              <a:r>
                <a:rPr kumimoji="1" lang="en-US" altLang="zh-CN" sz="2000" dirty="0">
                  <a:solidFill>
                    <a:prstClr val="black"/>
                  </a:solidFill>
                  <a:latin typeface="Consolas" pitchFamily="49" charset="0"/>
                  <a:cs typeface="Consolas" pitchFamily="49" charset="0"/>
                </a:rPr>
                <a:t>0</a:t>
              </a:r>
            </a:p>
          </p:txBody>
        </p:sp>
        <p:sp>
          <p:nvSpPr>
            <p:cNvPr id="34" name="Line 16">
              <a:extLst>
                <a:ext uri="{FF2B5EF4-FFF2-40B4-BE49-F238E27FC236}">
                  <a16:creationId xmlns:a16="http://schemas.microsoft.com/office/drawing/2014/main" id="{3E434C73-3A1E-46A4-AA4D-95573BF60CC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0633" y="3107530"/>
              <a:ext cx="431800" cy="0"/>
            </a:xfrm>
            <a:prstGeom prst="line">
              <a:avLst/>
            </a:prstGeom>
            <a:noFill/>
            <a:ln w="38100">
              <a:solidFill>
                <a:srgbClr val="CE3B37"/>
              </a:solidFill>
              <a:round/>
              <a:headEnd/>
              <a:tailEnd type="triangle" w="med" len="med"/>
            </a:ln>
            <a:effectLst/>
          </p:spPr>
          <p:txBody>
            <a:bodyPr wrap="none"/>
            <a:lstStyle/>
            <a:p>
              <a:pPr algn="ctr" eaLnBrk="1" hangingPunct="1">
                <a:lnSpc>
                  <a:spcPct val="80000"/>
                </a:lnSpc>
                <a:spcBef>
                  <a:spcPct val="50000"/>
                </a:spcBef>
              </a:pPr>
              <a:endParaRPr kumimoji="1" lang="zh-CN" altLang="en-US" sz="2000">
                <a:solidFill>
                  <a:prstClr val="black"/>
                </a:solidFill>
                <a:latin typeface="Consolas" pitchFamily="49" charset="0"/>
                <a:cs typeface="Consolas" pitchFamily="49" charset="0"/>
              </a:endParaRPr>
            </a:p>
          </p:txBody>
        </p:sp>
        <p:sp>
          <p:nvSpPr>
            <p:cNvPr id="35" name="Text Box 17">
              <a:extLst>
                <a:ext uri="{FF2B5EF4-FFF2-40B4-BE49-F238E27FC236}">
                  <a16:creationId xmlns:a16="http://schemas.microsoft.com/office/drawing/2014/main" id="{506D6F85-4FFA-447E-95A3-163B2196CD7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67692" y="2904330"/>
              <a:ext cx="679452" cy="342979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ctr" eaLnBrk="1" hangingPunct="1">
                <a:lnSpc>
                  <a:spcPct val="80000"/>
                </a:lnSpc>
                <a:spcBef>
                  <a:spcPct val="50000"/>
                </a:spcBef>
              </a:pPr>
              <a:r>
                <a:rPr kumimoji="1" lang="en-US" altLang="zh-CN" sz="2000" dirty="0">
                  <a:solidFill>
                    <a:prstClr val="black"/>
                  </a:solidFill>
                  <a:latin typeface="Consolas" pitchFamily="49" charset="0"/>
                  <a:cs typeface="Consolas" pitchFamily="49" charset="0"/>
                </a:rPr>
                <a:t>top</a:t>
              </a:r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矩形 18"/>
          <p:cNvSpPr>
            <a:spLocks noChangeArrowheads="1"/>
          </p:cNvSpPr>
          <p:nvPr/>
        </p:nvSpPr>
        <p:spPr bwMode="auto">
          <a:xfrm>
            <a:off x="0" y="1628775"/>
            <a:ext cx="9144000" cy="3960813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txBody>
          <a:bodyPr/>
          <a:lstStyle>
            <a:lvl1pPr marL="342900" indent="-342900">
              <a:lnSpc>
                <a:spcPct val="130000"/>
              </a:lnSpc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41990" name="标题 1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求顺序栈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中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的元素个数</a:t>
            </a:r>
          </a:p>
        </p:txBody>
      </p:sp>
      <p:sp>
        <p:nvSpPr>
          <p:cNvPr id="34820" name="Rectangle 10"/>
          <p:cNvSpPr>
            <a:spLocks noChangeArrowheads="1"/>
          </p:cNvSpPr>
          <p:nvPr/>
        </p:nvSpPr>
        <p:spPr bwMode="auto">
          <a:xfrm>
            <a:off x="1043608" y="1842544"/>
            <a:ext cx="5367338" cy="19538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int </a:t>
            </a:r>
            <a:r>
              <a:rPr kumimoji="0" lang="en-US" altLang="zh-CN" sz="28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StackLength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(</a:t>
            </a:r>
            <a:r>
              <a:rPr kumimoji="0" lang="en-US" altLang="zh-CN" sz="28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SqStack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S) {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sz="2800" b="0" dirty="0">
                <a:latin typeface="+mn-lt"/>
                <a:ea typeface="+mn-ea"/>
                <a:cs typeface="+mn-ea"/>
                <a:sym typeface="+mn-lt"/>
              </a:rPr>
              <a:t>   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return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S.top+1;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}</a:t>
            </a: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2E69937E-7A43-47C6-8BC0-54D6EF9FC173}"/>
              </a:ext>
            </a:extLst>
          </p:cNvPr>
          <p:cNvGrpSpPr/>
          <p:nvPr/>
        </p:nvGrpSpPr>
        <p:grpSpPr>
          <a:xfrm>
            <a:off x="6088027" y="2484158"/>
            <a:ext cx="2733054" cy="2989511"/>
            <a:chOff x="6968677" y="1180306"/>
            <a:chExt cx="2068512" cy="1800224"/>
          </a:xfrm>
        </p:grpSpPr>
        <p:sp>
          <p:nvSpPr>
            <p:cNvPr id="64" name="Rectangle 45">
              <a:extLst>
                <a:ext uri="{FF2B5EF4-FFF2-40B4-BE49-F238E27FC236}">
                  <a16:creationId xmlns:a16="http://schemas.microsoft.com/office/drawing/2014/main" id="{A1C184CF-7DC4-45E0-912C-A71FE37517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935465" y="1180306"/>
              <a:ext cx="576263" cy="360363"/>
            </a:xfrm>
            <a:prstGeom prst="rect">
              <a:avLst/>
            </a:prstGeom>
            <a:gradFill rotWithShape="1">
              <a:gsLst>
                <a:gs pos="0">
                  <a:srgbClr val="9BBB59">
                    <a:tint val="50000"/>
                    <a:satMod val="300000"/>
                  </a:srgbClr>
                </a:gs>
                <a:gs pos="35000">
                  <a:srgbClr val="9BBB59">
                    <a:tint val="37000"/>
                    <a:satMod val="300000"/>
                  </a:srgbClr>
                </a:gs>
                <a:gs pos="100000">
                  <a:srgbClr val="9BBB59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9BBB59">
                  <a:shade val="95000"/>
                  <a:satMod val="105000"/>
                </a:srgbClr>
              </a:solidFill>
              <a:prstDash val="solid"/>
              <a:headEnd/>
              <a:tailEnd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8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zh-CN" sz="2000" b="0" i="1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宋体" panose="02010600030101010101" pitchFamily="2" charset="-122"/>
                <a:cs typeface="Consolas" pitchFamily="49" charset="0"/>
              </a:endParaRPr>
            </a:p>
          </p:txBody>
        </p:sp>
        <p:sp>
          <p:nvSpPr>
            <p:cNvPr id="65" name="Text Box 46">
              <a:extLst>
                <a:ext uri="{FF2B5EF4-FFF2-40B4-BE49-F238E27FC236}">
                  <a16:creationId xmlns:a16="http://schemas.microsoft.com/office/drawing/2014/main" id="{602E5242-F6E4-4590-B102-B124B691AE5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605389" y="1287342"/>
              <a:ext cx="431800" cy="206535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/>
            </a:ln>
            <a:effectLst/>
          </p:spPr>
          <p:txBody>
            <a:bodyPr wrap="square" anchor="ctr">
              <a:spAutoFit/>
            </a:bodyPr>
            <a:lstStyle/>
            <a:p>
              <a:pPr algn="ctr" eaLnBrk="1" hangingPunct="1">
                <a:lnSpc>
                  <a:spcPct val="80000"/>
                </a:lnSpc>
                <a:spcBef>
                  <a:spcPct val="50000"/>
                </a:spcBef>
              </a:pPr>
              <a:r>
                <a:rPr kumimoji="1" lang="en-US" altLang="zh-CN" sz="2000" dirty="0">
                  <a:solidFill>
                    <a:prstClr val="black"/>
                  </a:solidFill>
                  <a:latin typeface="Consolas" pitchFamily="49" charset="0"/>
                  <a:cs typeface="Consolas" pitchFamily="49" charset="0"/>
                </a:rPr>
                <a:t>4</a:t>
              </a:r>
            </a:p>
          </p:txBody>
        </p:sp>
        <p:sp>
          <p:nvSpPr>
            <p:cNvPr id="66" name="Rectangle 47">
              <a:extLst>
                <a:ext uri="{FF2B5EF4-FFF2-40B4-BE49-F238E27FC236}">
                  <a16:creationId xmlns:a16="http://schemas.microsoft.com/office/drawing/2014/main" id="{2FA6FFAE-4F74-4CB5-BE89-6AE1065AB1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935465" y="1540668"/>
              <a:ext cx="576263" cy="360362"/>
            </a:xfrm>
            <a:prstGeom prst="rect">
              <a:avLst/>
            </a:prstGeom>
            <a:gradFill rotWithShape="1">
              <a:gsLst>
                <a:gs pos="0">
                  <a:srgbClr val="4BACC6">
                    <a:tint val="50000"/>
                    <a:satMod val="300000"/>
                  </a:srgbClr>
                </a:gs>
                <a:gs pos="35000">
                  <a:srgbClr val="4BACC6">
                    <a:tint val="37000"/>
                    <a:satMod val="300000"/>
                  </a:srgbClr>
                </a:gs>
                <a:gs pos="100000">
                  <a:srgbClr val="4BACC6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4BACC6">
                  <a:shade val="95000"/>
                  <a:satMod val="105000"/>
                </a:srgbClr>
              </a:solidFill>
              <a:prstDash val="solid"/>
              <a:headEnd/>
              <a:tailEnd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8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0" i="1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nsolas" pitchFamily="49" charset="0"/>
                  <a:ea typeface="宋体" panose="02010600030101010101" pitchFamily="2" charset="-122"/>
                  <a:cs typeface="Consolas" pitchFamily="49" charset="0"/>
                </a:rPr>
                <a:t>d</a:t>
              </a:r>
            </a:p>
          </p:txBody>
        </p:sp>
        <p:sp>
          <p:nvSpPr>
            <p:cNvPr id="67" name="Text Box 48">
              <a:extLst>
                <a:ext uri="{FF2B5EF4-FFF2-40B4-BE49-F238E27FC236}">
                  <a16:creationId xmlns:a16="http://schemas.microsoft.com/office/drawing/2014/main" id="{FED7F829-0159-47C0-84BB-DB9DF864EB2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604345" y="1635837"/>
              <a:ext cx="431800" cy="206535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pPr algn="ctr" eaLnBrk="1" hangingPunct="1">
                <a:lnSpc>
                  <a:spcPct val="80000"/>
                </a:lnSpc>
                <a:spcBef>
                  <a:spcPct val="50000"/>
                </a:spcBef>
              </a:pPr>
              <a:r>
                <a:rPr kumimoji="1" lang="en-US" altLang="zh-CN" sz="2000">
                  <a:solidFill>
                    <a:prstClr val="black"/>
                  </a:solidFill>
                  <a:latin typeface="Consolas" pitchFamily="49" charset="0"/>
                  <a:cs typeface="Consolas" pitchFamily="49" charset="0"/>
                </a:rPr>
                <a:t>3</a:t>
              </a:r>
            </a:p>
          </p:txBody>
        </p:sp>
        <p:sp>
          <p:nvSpPr>
            <p:cNvPr id="68" name="Rectangle 49">
              <a:extLst>
                <a:ext uri="{FF2B5EF4-FFF2-40B4-BE49-F238E27FC236}">
                  <a16:creationId xmlns:a16="http://schemas.microsoft.com/office/drawing/2014/main" id="{1C223479-1E1A-4CE0-9F72-5795F9564F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935465" y="1899443"/>
              <a:ext cx="576263" cy="360362"/>
            </a:xfrm>
            <a:prstGeom prst="rect">
              <a:avLst/>
            </a:prstGeom>
            <a:gradFill rotWithShape="1">
              <a:gsLst>
                <a:gs pos="0">
                  <a:srgbClr val="4BACC6">
                    <a:tint val="50000"/>
                    <a:satMod val="300000"/>
                  </a:srgbClr>
                </a:gs>
                <a:gs pos="35000">
                  <a:srgbClr val="4BACC6">
                    <a:tint val="37000"/>
                    <a:satMod val="300000"/>
                  </a:srgbClr>
                </a:gs>
                <a:gs pos="100000">
                  <a:srgbClr val="4BACC6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4BACC6">
                  <a:shade val="95000"/>
                  <a:satMod val="105000"/>
                </a:srgbClr>
              </a:solidFill>
              <a:prstDash val="solid"/>
              <a:headEnd/>
              <a:tailEnd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8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0" i="1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nsolas" pitchFamily="49" charset="0"/>
                  <a:ea typeface="宋体" panose="02010600030101010101" pitchFamily="2" charset="-122"/>
                  <a:cs typeface="Consolas" pitchFamily="49" charset="0"/>
                </a:rPr>
                <a:t>c</a:t>
              </a:r>
            </a:p>
          </p:txBody>
        </p:sp>
        <p:sp>
          <p:nvSpPr>
            <p:cNvPr id="69" name="Text Box 50">
              <a:extLst>
                <a:ext uri="{FF2B5EF4-FFF2-40B4-BE49-F238E27FC236}">
                  <a16:creationId xmlns:a16="http://schemas.microsoft.com/office/drawing/2014/main" id="{C8A95123-5352-4FA6-BB4E-08BF3C35D19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605389" y="1981625"/>
              <a:ext cx="431800" cy="206535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pPr algn="ctr" eaLnBrk="1" hangingPunct="1">
                <a:lnSpc>
                  <a:spcPct val="80000"/>
                </a:lnSpc>
                <a:spcBef>
                  <a:spcPct val="50000"/>
                </a:spcBef>
              </a:pPr>
              <a:r>
                <a:rPr kumimoji="1" lang="en-US" altLang="zh-CN" sz="2000" dirty="0">
                  <a:solidFill>
                    <a:prstClr val="black"/>
                  </a:solidFill>
                  <a:latin typeface="Consolas" pitchFamily="49" charset="0"/>
                  <a:cs typeface="Consolas" pitchFamily="49" charset="0"/>
                </a:rPr>
                <a:t>2</a:t>
              </a:r>
            </a:p>
          </p:txBody>
        </p:sp>
        <p:sp>
          <p:nvSpPr>
            <p:cNvPr id="70" name="Rectangle 51">
              <a:extLst>
                <a:ext uri="{FF2B5EF4-FFF2-40B4-BE49-F238E27FC236}">
                  <a16:creationId xmlns:a16="http://schemas.microsoft.com/office/drawing/2014/main" id="{33600D57-C987-4A1D-BA79-0C81BE3B20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935465" y="2259806"/>
              <a:ext cx="576263" cy="360363"/>
            </a:xfrm>
            <a:prstGeom prst="rect">
              <a:avLst/>
            </a:prstGeom>
            <a:gradFill rotWithShape="1">
              <a:gsLst>
                <a:gs pos="0">
                  <a:srgbClr val="4BACC6">
                    <a:tint val="50000"/>
                    <a:satMod val="300000"/>
                  </a:srgbClr>
                </a:gs>
                <a:gs pos="35000">
                  <a:srgbClr val="4BACC6">
                    <a:tint val="37000"/>
                    <a:satMod val="300000"/>
                  </a:srgbClr>
                </a:gs>
                <a:gs pos="100000">
                  <a:srgbClr val="4BACC6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4BACC6">
                  <a:shade val="95000"/>
                  <a:satMod val="105000"/>
                </a:srgbClr>
              </a:solidFill>
              <a:prstDash val="solid"/>
              <a:headEnd/>
              <a:tailEnd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8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0" i="1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nsolas" pitchFamily="49" charset="0"/>
                  <a:ea typeface="宋体" panose="02010600030101010101" pitchFamily="2" charset="-122"/>
                  <a:cs typeface="Consolas" pitchFamily="49" charset="0"/>
                </a:rPr>
                <a:t>b</a:t>
              </a:r>
            </a:p>
          </p:txBody>
        </p:sp>
        <p:sp>
          <p:nvSpPr>
            <p:cNvPr id="71" name="Text Box 52">
              <a:extLst>
                <a:ext uri="{FF2B5EF4-FFF2-40B4-BE49-F238E27FC236}">
                  <a16:creationId xmlns:a16="http://schemas.microsoft.com/office/drawing/2014/main" id="{780CA08A-F2E6-4351-AFED-08628363037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605389" y="2330120"/>
              <a:ext cx="431800" cy="206535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pPr algn="ctr" eaLnBrk="1" hangingPunct="1">
                <a:lnSpc>
                  <a:spcPct val="80000"/>
                </a:lnSpc>
                <a:spcBef>
                  <a:spcPct val="50000"/>
                </a:spcBef>
              </a:pPr>
              <a:r>
                <a:rPr kumimoji="1" lang="en-US" altLang="zh-CN" sz="2000">
                  <a:solidFill>
                    <a:prstClr val="black"/>
                  </a:solidFill>
                  <a:latin typeface="Consolas" pitchFamily="49" charset="0"/>
                  <a:cs typeface="Consolas" pitchFamily="49" charset="0"/>
                </a:rPr>
                <a:t>1</a:t>
              </a:r>
            </a:p>
          </p:txBody>
        </p:sp>
        <p:sp>
          <p:nvSpPr>
            <p:cNvPr id="72" name="Rectangle 53">
              <a:extLst>
                <a:ext uri="{FF2B5EF4-FFF2-40B4-BE49-F238E27FC236}">
                  <a16:creationId xmlns:a16="http://schemas.microsoft.com/office/drawing/2014/main" id="{491ADEB9-636F-47F6-A240-1DC5B75261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935465" y="2620168"/>
              <a:ext cx="576263" cy="360362"/>
            </a:xfrm>
            <a:prstGeom prst="rect">
              <a:avLst/>
            </a:prstGeom>
            <a:gradFill rotWithShape="1">
              <a:gsLst>
                <a:gs pos="0">
                  <a:srgbClr val="4BACC6">
                    <a:tint val="50000"/>
                    <a:satMod val="300000"/>
                  </a:srgbClr>
                </a:gs>
                <a:gs pos="35000">
                  <a:srgbClr val="4BACC6">
                    <a:tint val="37000"/>
                    <a:satMod val="300000"/>
                  </a:srgbClr>
                </a:gs>
                <a:gs pos="100000">
                  <a:srgbClr val="4BACC6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4BACC6">
                  <a:shade val="95000"/>
                  <a:satMod val="105000"/>
                </a:srgbClr>
              </a:solidFill>
              <a:prstDash val="solid"/>
              <a:headEnd/>
              <a:tailEnd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8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0" i="1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nsolas" pitchFamily="49" charset="0"/>
                  <a:ea typeface="宋体" panose="02010600030101010101" pitchFamily="2" charset="-122"/>
                  <a:cs typeface="Consolas" pitchFamily="49" charset="0"/>
                </a:rPr>
                <a:t>a</a:t>
              </a:r>
            </a:p>
          </p:txBody>
        </p:sp>
        <p:sp>
          <p:nvSpPr>
            <p:cNvPr id="73" name="Text Box 54">
              <a:extLst>
                <a:ext uri="{FF2B5EF4-FFF2-40B4-BE49-F238E27FC236}">
                  <a16:creationId xmlns:a16="http://schemas.microsoft.com/office/drawing/2014/main" id="{CC951A28-FC0E-4A73-B490-E5B5C8A05BA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605389" y="2690483"/>
              <a:ext cx="431800" cy="206535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pPr algn="ctr" eaLnBrk="1" hangingPunct="1">
                <a:lnSpc>
                  <a:spcPct val="80000"/>
                </a:lnSpc>
                <a:spcBef>
                  <a:spcPct val="50000"/>
                </a:spcBef>
              </a:pPr>
              <a:r>
                <a:rPr kumimoji="1" lang="en-US" altLang="zh-CN" sz="2000">
                  <a:solidFill>
                    <a:prstClr val="black"/>
                  </a:solidFill>
                  <a:latin typeface="Consolas" pitchFamily="49" charset="0"/>
                  <a:cs typeface="Consolas" pitchFamily="49" charset="0"/>
                </a:rPr>
                <a:t>0</a:t>
              </a:r>
            </a:p>
          </p:txBody>
        </p:sp>
        <p:sp>
          <p:nvSpPr>
            <p:cNvPr id="74" name="Line 55">
              <a:extLst>
                <a:ext uri="{FF2B5EF4-FFF2-40B4-BE49-F238E27FC236}">
                  <a16:creationId xmlns:a16="http://schemas.microsoft.com/office/drawing/2014/main" id="{992E4A8C-C581-4753-8CCE-64502F4B191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524302" y="1739105"/>
              <a:ext cx="431800" cy="0"/>
            </a:xfrm>
            <a:prstGeom prst="line">
              <a:avLst/>
            </a:prstGeom>
            <a:noFill/>
            <a:ln w="38100">
              <a:solidFill>
                <a:srgbClr val="CE3B37"/>
              </a:solidFill>
              <a:round/>
              <a:headEnd/>
              <a:tailEnd type="triangle" w="med" len="med"/>
            </a:ln>
            <a:effectLst/>
          </p:spPr>
          <p:txBody>
            <a:bodyPr wrap="none"/>
            <a:lstStyle/>
            <a:p>
              <a:pPr algn="ctr" eaLnBrk="1" hangingPunct="1">
                <a:lnSpc>
                  <a:spcPct val="80000"/>
                </a:lnSpc>
                <a:spcBef>
                  <a:spcPct val="50000"/>
                </a:spcBef>
              </a:pPr>
              <a:endParaRPr kumimoji="1" lang="zh-CN" altLang="en-US" sz="2000">
                <a:solidFill>
                  <a:prstClr val="black"/>
                </a:solidFill>
                <a:latin typeface="Consolas" pitchFamily="49" charset="0"/>
                <a:cs typeface="Consolas" pitchFamily="49" charset="0"/>
              </a:endParaRPr>
            </a:p>
          </p:txBody>
        </p:sp>
        <p:sp>
          <p:nvSpPr>
            <p:cNvPr id="75" name="Text Box 56">
              <a:extLst>
                <a:ext uri="{FF2B5EF4-FFF2-40B4-BE49-F238E27FC236}">
                  <a16:creationId xmlns:a16="http://schemas.microsoft.com/office/drawing/2014/main" id="{C97A73A8-EC33-4E05-AB5E-81046017423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968677" y="1535905"/>
              <a:ext cx="641352" cy="342979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ctr" eaLnBrk="1" hangingPunct="1">
                <a:lnSpc>
                  <a:spcPct val="80000"/>
                </a:lnSpc>
                <a:spcBef>
                  <a:spcPct val="50000"/>
                </a:spcBef>
              </a:pPr>
              <a:r>
                <a:rPr kumimoji="1" lang="en-US" altLang="zh-CN" sz="2000" dirty="0">
                  <a:solidFill>
                    <a:prstClr val="black"/>
                  </a:solidFill>
                  <a:latin typeface="Consolas" pitchFamily="49" charset="0"/>
                  <a:cs typeface="Consolas" pitchFamily="49" charset="0"/>
                </a:rPr>
                <a:t>top</a:t>
              </a:r>
            </a:p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矩形 20"/>
          <p:cNvSpPr>
            <a:spLocks noChangeArrowheads="1"/>
          </p:cNvSpPr>
          <p:nvPr/>
        </p:nvSpPr>
        <p:spPr bwMode="auto">
          <a:xfrm>
            <a:off x="0" y="1628775"/>
            <a:ext cx="9144000" cy="3960813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txBody>
          <a:bodyPr/>
          <a:lstStyle>
            <a:lvl1pPr marL="342900" indent="-342900">
              <a:lnSpc>
                <a:spcPct val="130000"/>
              </a:lnSpc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43013" name="标题 1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判断顺序栈是否满</a:t>
            </a:r>
          </a:p>
        </p:txBody>
      </p:sp>
      <p:sp>
        <p:nvSpPr>
          <p:cNvPr id="35843" name="Rectangle 7"/>
          <p:cNvSpPr>
            <a:spLocks noChangeArrowheads="1"/>
          </p:cNvSpPr>
          <p:nvPr/>
        </p:nvSpPr>
        <p:spPr bwMode="auto">
          <a:xfrm>
            <a:off x="536574" y="1626844"/>
            <a:ext cx="5907633" cy="2952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bool </a:t>
            </a:r>
            <a:r>
              <a:rPr kumimoji="0" lang="en-US" altLang="zh-CN" sz="28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StackFull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(</a:t>
            </a:r>
            <a:r>
              <a:rPr kumimoji="0" lang="en-US" altLang="zh-CN" sz="28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SqStack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S) {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sz="2800" b="0" dirty="0">
                <a:latin typeface="+mn-lt"/>
                <a:ea typeface="+mn-ea"/>
                <a:cs typeface="+mn-ea"/>
                <a:sym typeface="+mn-lt"/>
              </a:rPr>
              <a:t>   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return </a:t>
            </a:r>
            <a:r>
              <a:rPr kumimoji="0" lang="en-US" altLang="zh-CN" sz="2800" b="0" i="0" u="none" strike="noStrike" kern="120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S.top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== S</a:t>
            </a:r>
            <a:r>
              <a:rPr lang="en-US" altLang="zh-CN" sz="2800" b="0" dirty="0">
                <a:solidFill>
                  <a:srgbClr val="0000FF"/>
                </a:solidFill>
                <a:latin typeface="+mn-lt"/>
                <a:ea typeface="+mn-ea"/>
                <a:cs typeface="+mn-ea"/>
                <a:sym typeface="+mn-lt"/>
              </a:rPr>
              <a:t>.</a:t>
            </a:r>
            <a:r>
              <a:rPr lang="en-US" altLang="zh-CN" sz="2800" b="0" dirty="0" err="1">
                <a:solidFill>
                  <a:srgbClr val="0000FF"/>
                </a:solidFill>
                <a:latin typeface="+mn-lt"/>
                <a:ea typeface="+mn-ea"/>
                <a:cs typeface="+mn-ea"/>
                <a:sym typeface="+mn-lt"/>
              </a:rPr>
              <a:t>maxSize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-1;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}</a:t>
            </a:r>
          </a:p>
        </p:txBody>
      </p: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E6FDDA08-7AA2-4B46-8C84-E8F4A3206228}"/>
              </a:ext>
            </a:extLst>
          </p:cNvPr>
          <p:cNvGrpSpPr/>
          <p:nvPr/>
        </p:nvGrpSpPr>
        <p:grpSpPr>
          <a:xfrm>
            <a:off x="6012160" y="2412739"/>
            <a:ext cx="2743089" cy="3017333"/>
            <a:chOff x="4572000" y="1180306"/>
            <a:chExt cx="2088802" cy="1800224"/>
          </a:xfrm>
        </p:grpSpPr>
        <p:sp>
          <p:nvSpPr>
            <p:cNvPr id="53" name="Rectangle 32">
              <a:extLst>
                <a:ext uri="{FF2B5EF4-FFF2-40B4-BE49-F238E27FC236}">
                  <a16:creationId xmlns:a16="http://schemas.microsoft.com/office/drawing/2014/main" id="{33E9CB04-E026-416C-8F54-BAFFBC2A52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59077" y="1180306"/>
              <a:ext cx="576262" cy="360363"/>
            </a:xfrm>
            <a:prstGeom prst="rect">
              <a:avLst/>
            </a:prstGeom>
            <a:gradFill rotWithShape="1">
              <a:gsLst>
                <a:gs pos="0">
                  <a:srgbClr val="4BACC6">
                    <a:tint val="50000"/>
                    <a:satMod val="300000"/>
                  </a:srgbClr>
                </a:gs>
                <a:gs pos="35000">
                  <a:srgbClr val="4BACC6">
                    <a:tint val="37000"/>
                    <a:satMod val="300000"/>
                  </a:srgbClr>
                </a:gs>
                <a:gs pos="100000">
                  <a:srgbClr val="4BACC6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4BACC6">
                  <a:shade val="95000"/>
                  <a:satMod val="105000"/>
                </a:srgbClr>
              </a:solidFill>
              <a:prstDash val="solid"/>
              <a:headEnd/>
              <a:tailEnd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8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0" i="1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nsolas" pitchFamily="49" charset="0"/>
                  <a:ea typeface="宋体" panose="02010600030101010101" pitchFamily="2" charset="-122"/>
                  <a:cs typeface="Consolas" pitchFamily="49" charset="0"/>
                </a:rPr>
                <a:t>e</a:t>
              </a:r>
            </a:p>
          </p:txBody>
        </p:sp>
        <p:sp>
          <p:nvSpPr>
            <p:cNvPr id="54" name="Text Box 33">
              <a:extLst>
                <a:ext uri="{FF2B5EF4-FFF2-40B4-BE49-F238E27FC236}">
                  <a16:creationId xmlns:a16="http://schemas.microsoft.com/office/drawing/2014/main" id="{5CCAEBA6-A8D1-4732-86FC-E04047E634E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29002" y="1270116"/>
              <a:ext cx="431800" cy="204631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pPr algn="ctr" eaLnBrk="1" hangingPunct="1">
                <a:lnSpc>
                  <a:spcPct val="80000"/>
                </a:lnSpc>
                <a:spcBef>
                  <a:spcPct val="50000"/>
                </a:spcBef>
              </a:pPr>
              <a:r>
                <a:rPr kumimoji="1" lang="en-US" altLang="zh-CN" sz="2000">
                  <a:solidFill>
                    <a:prstClr val="black"/>
                  </a:solidFill>
                  <a:latin typeface="Consolas" pitchFamily="49" charset="0"/>
                  <a:cs typeface="Consolas" pitchFamily="49" charset="0"/>
                </a:rPr>
                <a:t>4</a:t>
              </a:r>
            </a:p>
          </p:txBody>
        </p:sp>
        <p:sp>
          <p:nvSpPr>
            <p:cNvPr id="55" name="Rectangle 34">
              <a:extLst>
                <a:ext uri="{FF2B5EF4-FFF2-40B4-BE49-F238E27FC236}">
                  <a16:creationId xmlns:a16="http://schemas.microsoft.com/office/drawing/2014/main" id="{F643AA05-995C-4D28-8BFE-B7ABF9B832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59077" y="1540668"/>
              <a:ext cx="576262" cy="360362"/>
            </a:xfrm>
            <a:prstGeom prst="rect">
              <a:avLst/>
            </a:prstGeom>
            <a:gradFill rotWithShape="1">
              <a:gsLst>
                <a:gs pos="0">
                  <a:srgbClr val="4BACC6">
                    <a:tint val="50000"/>
                    <a:satMod val="300000"/>
                  </a:srgbClr>
                </a:gs>
                <a:gs pos="35000">
                  <a:srgbClr val="4BACC6">
                    <a:tint val="37000"/>
                    <a:satMod val="300000"/>
                  </a:srgbClr>
                </a:gs>
                <a:gs pos="100000">
                  <a:srgbClr val="4BACC6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4BACC6">
                  <a:shade val="95000"/>
                  <a:satMod val="105000"/>
                </a:srgbClr>
              </a:solidFill>
              <a:prstDash val="solid"/>
              <a:headEnd/>
              <a:tailEnd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8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0" i="1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nsolas" pitchFamily="49" charset="0"/>
                  <a:ea typeface="宋体" panose="02010600030101010101" pitchFamily="2" charset="-122"/>
                  <a:cs typeface="Consolas" pitchFamily="49" charset="0"/>
                </a:rPr>
                <a:t>d</a:t>
              </a:r>
            </a:p>
          </p:txBody>
        </p:sp>
        <p:sp>
          <p:nvSpPr>
            <p:cNvPr id="56" name="Text Box 35">
              <a:extLst>
                <a:ext uri="{FF2B5EF4-FFF2-40B4-BE49-F238E27FC236}">
                  <a16:creationId xmlns:a16="http://schemas.microsoft.com/office/drawing/2014/main" id="{3B192C40-F836-4A50-A78F-49E1C007930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29002" y="1618533"/>
              <a:ext cx="431800" cy="204631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pPr algn="ctr" eaLnBrk="1" hangingPunct="1">
                <a:lnSpc>
                  <a:spcPct val="80000"/>
                </a:lnSpc>
                <a:spcBef>
                  <a:spcPct val="50000"/>
                </a:spcBef>
              </a:pPr>
              <a:r>
                <a:rPr kumimoji="1" lang="en-US" altLang="zh-CN" sz="2000">
                  <a:solidFill>
                    <a:prstClr val="black"/>
                  </a:solidFill>
                  <a:latin typeface="Consolas" pitchFamily="49" charset="0"/>
                  <a:cs typeface="Consolas" pitchFamily="49" charset="0"/>
                </a:rPr>
                <a:t>3</a:t>
              </a:r>
            </a:p>
          </p:txBody>
        </p:sp>
        <p:sp>
          <p:nvSpPr>
            <p:cNvPr id="57" name="Rectangle 36">
              <a:extLst>
                <a:ext uri="{FF2B5EF4-FFF2-40B4-BE49-F238E27FC236}">
                  <a16:creationId xmlns:a16="http://schemas.microsoft.com/office/drawing/2014/main" id="{63064B02-0644-4692-BCDD-6D3F61703E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59077" y="1899443"/>
              <a:ext cx="576262" cy="360362"/>
            </a:xfrm>
            <a:prstGeom prst="rect">
              <a:avLst/>
            </a:prstGeom>
            <a:gradFill rotWithShape="1">
              <a:gsLst>
                <a:gs pos="0">
                  <a:srgbClr val="4BACC6">
                    <a:tint val="50000"/>
                    <a:satMod val="300000"/>
                  </a:srgbClr>
                </a:gs>
                <a:gs pos="35000">
                  <a:srgbClr val="4BACC6">
                    <a:tint val="37000"/>
                    <a:satMod val="300000"/>
                  </a:srgbClr>
                </a:gs>
                <a:gs pos="100000">
                  <a:srgbClr val="4BACC6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4BACC6">
                  <a:shade val="95000"/>
                  <a:satMod val="105000"/>
                </a:srgbClr>
              </a:solidFill>
              <a:prstDash val="solid"/>
              <a:headEnd/>
              <a:tailEnd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8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0" i="1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nsolas" pitchFamily="49" charset="0"/>
                  <a:ea typeface="宋体" panose="02010600030101010101" pitchFamily="2" charset="-122"/>
                  <a:cs typeface="Consolas" pitchFamily="49" charset="0"/>
                </a:rPr>
                <a:t>c</a:t>
              </a:r>
            </a:p>
          </p:txBody>
        </p:sp>
        <p:sp>
          <p:nvSpPr>
            <p:cNvPr id="58" name="Text Box 37">
              <a:extLst>
                <a:ext uri="{FF2B5EF4-FFF2-40B4-BE49-F238E27FC236}">
                  <a16:creationId xmlns:a16="http://schemas.microsoft.com/office/drawing/2014/main" id="{820600FF-91E4-4B9E-A09B-148B20A90ED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29002" y="1986205"/>
              <a:ext cx="431800" cy="204631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pPr algn="ctr" eaLnBrk="1" hangingPunct="1">
                <a:lnSpc>
                  <a:spcPct val="80000"/>
                </a:lnSpc>
                <a:spcBef>
                  <a:spcPct val="50000"/>
                </a:spcBef>
              </a:pPr>
              <a:r>
                <a:rPr kumimoji="1" lang="en-US" altLang="zh-CN" sz="2000" dirty="0">
                  <a:solidFill>
                    <a:prstClr val="black"/>
                  </a:solidFill>
                  <a:latin typeface="Consolas" pitchFamily="49" charset="0"/>
                  <a:cs typeface="Consolas" pitchFamily="49" charset="0"/>
                </a:rPr>
                <a:t>2</a:t>
              </a:r>
            </a:p>
          </p:txBody>
        </p:sp>
        <p:sp>
          <p:nvSpPr>
            <p:cNvPr id="59" name="Rectangle 38">
              <a:extLst>
                <a:ext uri="{FF2B5EF4-FFF2-40B4-BE49-F238E27FC236}">
                  <a16:creationId xmlns:a16="http://schemas.microsoft.com/office/drawing/2014/main" id="{7C296520-222E-4236-A6EB-1F284C7A12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59077" y="2259806"/>
              <a:ext cx="576262" cy="360363"/>
            </a:xfrm>
            <a:prstGeom prst="rect">
              <a:avLst/>
            </a:prstGeom>
            <a:gradFill rotWithShape="1">
              <a:gsLst>
                <a:gs pos="0">
                  <a:srgbClr val="4BACC6">
                    <a:tint val="50000"/>
                    <a:satMod val="300000"/>
                  </a:srgbClr>
                </a:gs>
                <a:gs pos="35000">
                  <a:srgbClr val="4BACC6">
                    <a:tint val="37000"/>
                    <a:satMod val="300000"/>
                  </a:srgbClr>
                </a:gs>
                <a:gs pos="100000">
                  <a:srgbClr val="4BACC6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4BACC6">
                  <a:shade val="95000"/>
                  <a:satMod val="105000"/>
                </a:srgbClr>
              </a:solidFill>
              <a:prstDash val="solid"/>
              <a:headEnd/>
              <a:tailEnd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8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0" i="1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nsolas" pitchFamily="49" charset="0"/>
                  <a:ea typeface="宋体" panose="02010600030101010101" pitchFamily="2" charset="-122"/>
                  <a:cs typeface="Consolas" pitchFamily="49" charset="0"/>
                </a:rPr>
                <a:t>b</a:t>
              </a:r>
            </a:p>
          </p:txBody>
        </p:sp>
        <p:sp>
          <p:nvSpPr>
            <p:cNvPr id="60" name="Text Box 39">
              <a:extLst>
                <a:ext uri="{FF2B5EF4-FFF2-40B4-BE49-F238E27FC236}">
                  <a16:creationId xmlns:a16="http://schemas.microsoft.com/office/drawing/2014/main" id="{2BBF05C1-DEE6-4821-B408-9AC879EF4C7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29002" y="2351168"/>
              <a:ext cx="431800" cy="204631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pPr algn="ctr" eaLnBrk="1" hangingPunct="1">
                <a:lnSpc>
                  <a:spcPct val="80000"/>
                </a:lnSpc>
                <a:spcBef>
                  <a:spcPct val="50000"/>
                </a:spcBef>
              </a:pPr>
              <a:r>
                <a:rPr kumimoji="1" lang="en-US" altLang="zh-CN" sz="2000">
                  <a:solidFill>
                    <a:prstClr val="black"/>
                  </a:solidFill>
                  <a:latin typeface="Consolas" pitchFamily="49" charset="0"/>
                  <a:cs typeface="Consolas" pitchFamily="49" charset="0"/>
                </a:rPr>
                <a:t>1</a:t>
              </a:r>
            </a:p>
          </p:txBody>
        </p:sp>
        <p:sp>
          <p:nvSpPr>
            <p:cNvPr id="61" name="Rectangle 40">
              <a:extLst>
                <a:ext uri="{FF2B5EF4-FFF2-40B4-BE49-F238E27FC236}">
                  <a16:creationId xmlns:a16="http://schemas.microsoft.com/office/drawing/2014/main" id="{FA39809D-951A-4F9D-9D6B-3A02121026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59077" y="2620168"/>
              <a:ext cx="576262" cy="360362"/>
            </a:xfrm>
            <a:prstGeom prst="rect">
              <a:avLst/>
            </a:prstGeom>
            <a:gradFill rotWithShape="1">
              <a:gsLst>
                <a:gs pos="0">
                  <a:srgbClr val="4BACC6">
                    <a:tint val="50000"/>
                    <a:satMod val="300000"/>
                  </a:srgbClr>
                </a:gs>
                <a:gs pos="35000">
                  <a:srgbClr val="4BACC6">
                    <a:tint val="37000"/>
                    <a:satMod val="300000"/>
                  </a:srgbClr>
                </a:gs>
                <a:gs pos="100000">
                  <a:srgbClr val="4BACC6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4BACC6">
                  <a:shade val="95000"/>
                  <a:satMod val="105000"/>
                </a:srgbClr>
              </a:solidFill>
              <a:prstDash val="solid"/>
              <a:headEnd/>
              <a:tailEnd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8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0" i="1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nsolas" pitchFamily="49" charset="0"/>
                  <a:ea typeface="宋体" panose="02010600030101010101" pitchFamily="2" charset="-122"/>
                  <a:cs typeface="Consolas" pitchFamily="49" charset="0"/>
                </a:rPr>
                <a:t>a</a:t>
              </a:r>
            </a:p>
          </p:txBody>
        </p:sp>
        <p:sp>
          <p:nvSpPr>
            <p:cNvPr id="62" name="Text Box 41">
              <a:extLst>
                <a:ext uri="{FF2B5EF4-FFF2-40B4-BE49-F238E27FC236}">
                  <a16:creationId xmlns:a16="http://schemas.microsoft.com/office/drawing/2014/main" id="{080F49A9-730E-4DB7-98F4-B3B51241AFC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29002" y="2711531"/>
              <a:ext cx="431800" cy="204631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pPr algn="ctr" eaLnBrk="1" hangingPunct="1">
                <a:lnSpc>
                  <a:spcPct val="80000"/>
                </a:lnSpc>
                <a:spcBef>
                  <a:spcPct val="50000"/>
                </a:spcBef>
              </a:pPr>
              <a:r>
                <a:rPr kumimoji="1" lang="en-US" altLang="zh-CN" sz="2000">
                  <a:solidFill>
                    <a:prstClr val="black"/>
                  </a:solidFill>
                  <a:latin typeface="Consolas" pitchFamily="49" charset="0"/>
                  <a:cs typeface="Consolas" pitchFamily="49" charset="0"/>
                </a:rPr>
                <a:t>0</a:t>
              </a:r>
            </a:p>
          </p:txBody>
        </p:sp>
        <p:sp>
          <p:nvSpPr>
            <p:cNvPr id="63" name="Line 42">
              <a:extLst>
                <a:ext uri="{FF2B5EF4-FFF2-40B4-BE49-F238E27FC236}">
                  <a16:creationId xmlns:a16="http://schemas.microsoft.com/office/drawing/2014/main" id="{25067ECD-6AC8-4B0F-B2AF-682D01C0565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47914" y="1404143"/>
              <a:ext cx="431800" cy="0"/>
            </a:xfrm>
            <a:prstGeom prst="line">
              <a:avLst/>
            </a:prstGeom>
            <a:noFill/>
            <a:ln w="38100">
              <a:solidFill>
                <a:srgbClr val="CE3B37"/>
              </a:solidFill>
              <a:round/>
              <a:headEnd/>
              <a:tailEnd type="triangle" w="med" len="med"/>
            </a:ln>
            <a:effectLst/>
          </p:spPr>
          <p:txBody>
            <a:bodyPr wrap="none"/>
            <a:lstStyle/>
            <a:p>
              <a:pPr algn="ctr" eaLnBrk="1" hangingPunct="1">
                <a:lnSpc>
                  <a:spcPct val="80000"/>
                </a:lnSpc>
                <a:spcBef>
                  <a:spcPct val="50000"/>
                </a:spcBef>
              </a:pPr>
              <a:endParaRPr kumimoji="1" lang="zh-CN" altLang="en-US" sz="2000">
                <a:solidFill>
                  <a:prstClr val="black"/>
                </a:solidFill>
                <a:latin typeface="Consolas" pitchFamily="49" charset="0"/>
                <a:cs typeface="Consolas" pitchFamily="49" charset="0"/>
              </a:endParaRPr>
            </a:p>
          </p:txBody>
        </p:sp>
        <p:sp>
          <p:nvSpPr>
            <p:cNvPr id="64" name="Text Box 43">
              <a:extLst>
                <a:ext uri="{FF2B5EF4-FFF2-40B4-BE49-F238E27FC236}">
                  <a16:creationId xmlns:a16="http://schemas.microsoft.com/office/drawing/2014/main" id="{6843F332-0889-4723-AA0A-D888B0F9391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72000" y="1200943"/>
              <a:ext cx="661639" cy="342979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ctr" eaLnBrk="1" hangingPunct="1">
                <a:lnSpc>
                  <a:spcPct val="80000"/>
                </a:lnSpc>
                <a:spcBef>
                  <a:spcPct val="50000"/>
                </a:spcBef>
              </a:pPr>
              <a:r>
                <a:rPr kumimoji="1" lang="en-US" altLang="zh-CN" sz="2000" dirty="0">
                  <a:solidFill>
                    <a:prstClr val="black"/>
                  </a:solidFill>
                  <a:latin typeface="Consolas" pitchFamily="49" charset="0"/>
                  <a:cs typeface="Consolas" pitchFamily="49" charset="0"/>
                </a:rPr>
                <a:t>top</a:t>
              </a:r>
            </a:p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矩形 5">
            <a:extLst>
              <a:ext uri="{FF2B5EF4-FFF2-40B4-BE49-F238E27FC236}">
                <a16:creationId xmlns:a16="http://schemas.microsoft.com/office/drawing/2014/main" id="{A0AE4FE5-54CF-4FA5-AE4C-9E4A6D2028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717550"/>
            <a:ext cx="9144000" cy="6140450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txBody>
          <a:bodyPr/>
          <a:lstStyle>
            <a:lvl1pPr marL="342900" indent="-342900">
              <a:lnSpc>
                <a:spcPct val="130000"/>
              </a:lnSpc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45059" name="标题 1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顺序栈进栈</a:t>
            </a:r>
          </a:p>
        </p:txBody>
      </p:sp>
      <p:sp>
        <p:nvSpPr>
          <p:cNvPr id="641031" name="Rectangle 7"/>
          <p:cNvSpPr>
            <a:spLocks noChangeArrowheads="1"/>
          </p:cNvSpPr>
          <p:nvPr/>
        </p:nvSpPr>
        <p:spPr bwMode="auto">
          <a:xfrm>
            <a:off x="0" y="692696"/>
            <a:ext cx="9144000" cy="61653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Status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Push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(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SqStack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&amp;S,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SElemType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e) {</a:t>
            </a:r>
          </a:p>
          <a:p>
            <a:pPr marL="0" lvl="0" indent="0">
              <a:lnSpc>
                <a:spcPct val="150000"/>
              </a:lnSpc>
              <a:spcBef>
                <a:spcPts val="0"/>
              </a:spcBef>
              <a:defRPr/>
            </a:pPr>
            <a:r>
              <a:rPr lang="en-US" altLang="zh-CN" b="0" dirty="0">
                <a:latin typeface="+mn-lt"/>
                <a:ea typeface="+mn-ea"/>
                <a:cs typeface="+mn-ea"/>
                <a:sym typeface="+mn-lt"/>
              </a:rPr>
              <a:t>    if (</a:t>
            </a:r>
            <a:r>
              <a:rPr lang="en-US" altLang="zh-CN" b="0" dirty="0" err="1">
                <a:latin typeface="+mn-lt"/>
                <a:ea typeface="+mn-ea"/>
                <a:cs typeface="+mn-ea"/>
                <a:sym typeface="+mn-lt"/>
              </a:rPr>
              <a:t>StackFull</a:t>
            </a:r>
            <a:r>
              <a:rPr lang="en-US" altLang="zh-CN" b="0" dirty="0">
                <a:latin typeface="+mn-lt"/>
                <a:ea typeface="+mn-ea"/>
                <a:cs typeface="+mn-ea"/>
                <a:sym typeface="+mn-lt"/>
              </a:rPr>
              <a:t>(S)) {   </a:t>
            </a:r>
            <a:r>
              <a:rPr lang="en-US" altLang="zh-CN" b="0" dirty="0">
                <a:solidFill>
                  <a:srgbClr val="00B050"/>
                </a:solidFill>
                <a:latin typeface="+mn-lt"/>
                <a:ea typeface="+mn-ea"/>
                <a:cs typeface="+mn-ea"/>
                <a:sym typeface="+mn-lt"/>
              </a:rPr>
              <a:t>// </a:t>
            </a:r>
            <a:r>
              <a:rPr lang="zh-CN" altLang="en-US" b="0" dirty="0">
                <a:solidFill>
                  <a:srgbClr val="00B050"/>
                </a:solidFill>
                <a:latin typeface="+mn-lt"/>
                <a:ea typeface="+mn-ea"/>
                <a:cs typeface="+mn-ea"/>
                <a:sym typeface="+mn-lt"/>
              </a:rPr>
              <a:t>栈满，溢出处理</a:t>
            </a:r>
            <a:endParaRPr lang="en-US" altLang="zh-CN" b="0" dirty="0">
              <a:solidFill>
                <a:srgbClr val="00B050"/>
              </a:solidFill>
              <a:latin typeface="+mn-lt"/>
              <a:ea typeface="+mn-ea"/>
              <a:cs typeface="+mn-ea"/>
              <a:sym typeface="+mn-lt"/>
            </a:endParaRPr>
          </a:p>
          <a:p>
            <a:pPr>
              <a:lnSpc>
                <a:spcPct val="150000"/>
              </a:lnSpc>
            </a:pPr>
            <a:r>
              <a:rPr lang="en-US" altLang="zh-CN" b="0" dirty="0"/>
              <a:t>        </a:t>
            </a:r>
            <a:r>
              <a:rPr lang="en-US" altLang="zh-CN" b="0" dirty="0" err="1"/>
              <a:t>SElemType</a:t>
            </a:r>
            <a:r>
              <a:rPr lang="en-US" altLang="zh-CN" b="0" dirty="0"/>
              <a:t> *</a:t>
            </a:r>
            <a:r>
              <a:rPr lang="en-US" altLang="zh-CN" b="0" dirty="0" err="1"/>
              <a:t>newS</a:t>
            </a:r>
            <a:r>
              <a:rPr lang="en-US" altLang="zh-CN" b="0" dirty="0"/>
              <a:t> = new </a:t>
            </a:r>
            <a:r>
              <a:rPr lang="en-US" altLang="zh-CN" b="0" dirty="0" err="1"/>
              <a:t>SElemType</a:t>
            </a:r>
            <a:r>
              <a:rPr lang="en-US" altLang="zh-CN" b="0" dirty="0"/>
              <a:t>[</a:t>
            </a:r>
            <a:r>
              <a:rPr lang="en-US" altLang="zh-CN" b="0" dirty="0" err="1"/>
              <a:t>S.maxSize+</a:t>
            </a:r>
            <a:r>
              <a:rPr lang="en-US" altLang="zh-CN" b="0" cap="all" dirty="0" err="1"/>
              <a:t>Increment</a:t>
            </a:r>
            <a:r>
              <a:rPr lang="en-US" altLang="zh-CN" b="0" dirty="0"/>
              <a:t>];</a:t>
            </a:r>
          </a:p>
          <a:p>
            <a:pPr>
              <a:lnSpc>
                <a:spcPct val="150000"/>
              </a:lnSpc>
            </a:pPr>
            <a:r>
              <a:rPr lang="en-US" altLang="zh-CN" b="0" dirty="0"/>
              <a:t>        if (</a:t>
            </a:r>
            <a:r>
              <a:rPr lang="en-US" altLang="zh-CN" b="0" dirty="0" err="1"/>
              <a:t>newS</a:t>
            </a:r>
            <a:r>
              <a:rPr lang="en-US" altLang="zh-CN" b="0" dirty="0"/>
              <a:t>==NULL) { </a:t>
            </a:r>
            <a:r>
              <a:rPr lang="en-US" altLang="zh-CN" b="0" dirty="0" err="1"/>
              <a:t>cout</a:t>
            </a:r>
            <a:r>
              <a:rPr lang="en-US" altLang="zh-CN" b="0" dirty="0"/>
              <a:t> &lt;&lt; “</a:t>
            </a:r>
            <a:r>
              <a:rPr lang="zh-CN" altLang="en-US" b="0" dirty="0"/>
              <a:t>数组创建失败</a:t>
            </a:r>
            <a:r>
              <a:rPr lang="en-US" altLang="zh-CN" b="0" dirty="0"/>
              <a:t>!”;   exit(1); }</a:t>
            </a:r>
          </a:p>
          <a:p>
            <a:pPr>
              <a:lnSpc>
                <a:spcPct val="150000"/>
              </a:lnSpc>
            </a:pPr>
            <a:r>
              <a:rPr lang="en-US" altLang="zh-CN" b="0" dirty="0"/>
              <a:t>        for (int </a:t>
            </a:r>
            <a:r>
              <a:rPr lang="en-US" altLang="zh-CN" b="0" dirty="0" err="1"/>
              <a:t>i</a:t>
            </a:r>
            <a:r>
              <a:rPr lang="en-US" altLang="zh-CN" b="0" dirty="0"/>
              <a:t> = 0; </a:t>
            </a:r>
            <a:r>
              <a:rPr lang="en-US" altLang="zh-CN" b="0" dirty="0" err="1"/>
              <a:t>i</a:t>
            </a:r>
            <a:r>
              <a:rPr lang="en-US" altLang="zh-CN" b="0" dirty="0"/>
              <a:t> &lt;= </a:t>
            </a:r>
            <a:r>
              <a:rPr lang="en-US" altLang="zh-CN" b="0" dirty="0" err="1"/>
              <a:t>S.top</a:t>
            </a:r>
            <a:r>
              <a:rPr lang="en-US" altLang="zh-CN" b="0" dirty="0"/>
              <a:t>; </a:t>
            </a:r>
            <a:r>
              <a:rPr lang="en-US" altLang="zh-CN" b="0" dirty="0" err="1"/>
              <a:t>i</a:t>
            </a:r>
            <a:r>
              <a:rPr lang="en-US" altLang="zh-CN" b="0" dirty="0"/>
              <a:t>++) </a:t>
            </a:r>
            <a:r>
              <a:rPr lang="en-US" altLang="zh-CN" b="0" dirty="0" err="1"/>
              <a:t>newS</a:t>
            </a:r>
            <a:r>
              <a:rPr lang="en-US" altLang="zh-CN" b="0" dirty="0"/>
              <a:t>[</a:t>
            </a:r>
            <a:r>
              <a:rPr lang="en-US" altLang="zh-CN" b="0" dirty="0" err="1"/>
              <a:t>i</a:t>
            </a:r>
            <a:r>
              <a:rPr lang="en-US" altLang="zh-CN" b="0" dirty="0"/>
              <a:t>] = </a:t>
            </a:r>
            <a:r>
              <a:rPr lang="en-US" altLang="zh-CN" b="0" dirty="0" err="1"/>
              <a:t>S.elem</a:t>
            </a:r>
            <a:r>
              <a:rPr lang="en-US" altLang="zh-CN" b="0" dirty="0"/>
              <a:t>[</a:t>
            </a:r>
            <a:r>
              <a:rPr lang="en-US" altLang="zh-CN" b="0" dirty="0" err="1"/>
              <a:t>i</a:t>
            </a:r>
            <a:r>
              <a:rPr lang="en-US" altLang="zh-CN" b="0" dirty="0"/>
              <a:t>]; </a:t>
            </a:r>
            <a:endParaRPr lang="zh-CN" altLang="en-US" b="0" dirty="0"/>
          </a:p>
          <a:p>
            <a:pPr>
              <a:lnSpc>
                <a:spcPct val="150000"/>
              </a:lnSpc>
            </a:pPr>
            <a:r>
              <a:rPr lang="zh-CN" altLang="en-US" b="0" dirty="0"/>
              <a:t>        </a:t>
            </a:r>
            <a:r>
              <a:rPr lang="en-US" altLang="zh-CN" b="0" dirty="0"/>
              <a:t>delete [ ] </a:t>
            </a:r>
            <a:r>
              <a:rPr lang="en-US" altLang="zh-CN" b="0" dirty="0" err="1"/>
              <a:t>S.elem</a:t>
            </a:r>
            <a:r>
              <a:rPr lang="en-US" altLang="zh-CN" b="0" dirty="0"/>
              <a:t>;</a:t>
            </a:r>
            <a:endParaRPr lang="zh-CN" altLang="en-US" b="0" dirty="0"/>
          </a:p>
          <a:p>
            <a:pPr>
              <a:lnSpc>
                <a:spcPct val="150000"/>
              </a:lnSpc>
            </a:pPr>
            <a:r>
              <a:rPr lang="zh-CN" altLang="en-US" b="0" dirty="0"/>
              <a:t>        </a:t>
            </a:r>
            <a:r>
              <a:rPr lang="en-US" altLang="zh-CN" b="0" dirty="0" err="1"/>
              <a:t>S.elem</a:t>
            </a:r>
            <a:r>
              <a:rPr lang="en-US" altLang="zh-CN" b="0" dirty="0"/>
              <a:t> = </a:t>
            </a:r>
            <a:r>
              <a:rPr lang="en-US" altLang="zh-CN" b="0" dirty="0" err="1"/>
              <a:t>newS</a:t>
            </a:r>
            <a:r>
              <a:rPr lang="en-US" altLang="zh-CN" b="0" dirty="0"/>
              <a:t>;        </a:t>
            </a:r>
            <a:r>
              <a:rPr lang="en-US" altLang="zh-CN" b="0" dirty="0" err="1"/>
              <a:t>S.maxSize</a:t>
            </a:r>
            <a:r>
              <a:rPr lang="en-US" altLang="zh-CN" b="0" dirty="0"/>
              <a:t> += </a:t>
            </a:r>
            <a:r>
              <a:rPr lang="en-US" altLang="zh-CN" b="0" cap="all" dirty="0"/>
              <a:t>Increment</a:t>
            </a:r>
            <a:r>
              <a:rPr lang="en-US" altLang="zh-CN" b="0" dirty="0"/>
              <a:t>;</a:t>
            </a:r>
          </a:p>
          <a:p>
            <a:pPr>
              <a:lnSpc>
                <a:spcPct val="150000"/>
              </a:lnSpc>
            </a:pPr>
            <a:r>
              <a:rPr lang="en-US" altLang="zh-CN" b="0" dirty="0"/>
              <a:t>    } </a:t>
            </a:r>
            <a:endParaRPr lang="zh-CN" altLang="en-US" b="0" dirty="0">
              <a:solidFill>
                <a:srgbClr val="00B050"/>
              </a:solidFill>
              <a:latin typeface="+mn-lt"/>
              <a:ea typeface="+mn-ea"/>
              <a:cs typeface="+mn-ea"/>
              <a:sym typeface="+mn-lt"/>
            </a:endParaRPr>
          </a:p>
          <a:p>
            <a:pPr marL="0" lvl="0" indent="0">
              <a:lnSpc>
                <a:spcPct val="150000"/>
              </a:lnSpc>
              <a:spcBef>
                <a:spcPts val="0"/>
              </a:spcBef>
              <a:defRPr/>
            </a:pPr>
            <a:r>
              <a:rPr lang="en-US" altLang="zh-CN" b="0" dirty="0">
                <a:latin typeface="+mn-lt"/>
                <a:ea typeface="+mn-ea"/>
                <a:cs typeface="+mn-ea"/>
                <a:sym typeface="+mn-lt"/>
              </a:rPr>
              <a:t>    </a:t>
            </a:r>
            <a:r>
              <a:rPr lang="en-US" altLang="zh-CN" b="0" dirty="0" err="1">
                <a:solidFill>
                  <a:srgbClr val="0000FF"/>
                </a:solidFill>
                <a:latin typeface="+mn-lt"/>
                <a:ea typeface="+mn-ea"/>
                <a:cs typeface="+mn-ea"/>
                <a:sym typeface="+mn-lt"/>
              </a:rPr>
              <a:t>S.elem</a:t>
            </a:r>
            <a:r>
              <a:rPr lang="en-US" altLang="zh-CN" b="0" dirty="0">
                <a:solidFill>
                  <a:srgbClr val="0000FF"/>
                </a:solidFill>
                <a:latin typeface="+mn-lt"/>
                <a:ea typeface="+mn-ea"/>
                <a:cs typeface="+mn-ea"/>
                <a:sym typeface="+mn-lt"/>
              </a:rPr>
              <a:t>[++</a:t>
            </a:r>
            <a:r>
              <a:rPr lang="en-US" altLang="zh-CN" b="0" dirty="0" err="1">
                <a:solidFill>
                  <a:srgbClr val="0000FF"/>
                </a:solidFill>
                <a:latin typeface="+mn-lt"/>
                <a:ea typeface="+mn-ea"/>
                <a:cs typeface="+mn-ea"/>
                <a:sym typeface="+mn-lt"/>
              </a:rPr>
              <a:t>S.top</a:t>
            </a:r>
            <a:r>
              <a:rPr lang="en-US" altLang="zh-CN" b="0" dirty="0">
                <a:solidFill>
                  <a:srgbClr val="0000FF"/>
                </a:solidFill>
                <a:latin typeface="+mn-lt"/>
                <a:ea typeface="+mn-ea"/>
                <a:cs typeface="+mn-ea"/>
                <a:sym typeface="+mn-lt"/>
              </a:rPr>
              <a:t>] = e;    </a:t>
            </a:r>
            <a:r>
              <a:rPr lang="en-US" altLang="zh-CN" b="0" dirty="0">
                <a:solidFill>
                  <a:srgbClr val="00B050"/>
                </a:solidFill>
                <a:latin typeface="+mn-lt"/>
                <a:ea typeface="+mn-ea"/>
                <a:cs typeface="+mn-ea"/>
                <a:sym typeface="+mn-lt"/>
              </a:rPr>
              <a:t>// </a:t>
            </a:r>
            <a:r>
              <a:rPr lang="zh-CN" altLang="en-US" b="0" dirty="0">
                <a:solidFill>
                  <a:srgbClr val="00B050"/>
                </a:solidFill>
                <a:latin typeface="+mn-lt"/>
                <a:ea typeface="+mn-ea"/>
                <a:cs typeface="+mn-ea"/>
                <a:sym typeface="+mn-lt"/>
              </a:rPr>
              <a:t>加入新元素</a:t>
            </a:r>
            <a:endParaRPr lang="en-US" altLang="zh-CN" b="0" dirty="0">
              <a:solidFill>
                <a:srgbClr val="00B050"/>
              </a:solidFill>
              <a:latin typeface="+mn-lt"/>
              <a:ea typeface="+mn-ea"/>
              <a:cs typeface="+mn-ea"/>
              <a:sym typeface="+mn-lt"/>
            </a:endParaRPr>
          </a:p>
          <a:p>
            <a:pPr marL="0" lvl="0" indent="0">
              <a:lnSpc>
                <a:spcPct val="150000"/>
              </a:lnSpc>
              <a:spcBef>
                <a:spcPts val="0"/>
              </a:spcBef>
              <a:defRPr/>
            </a:pPr>
            <a:r>
              <a:rPr lang="en-US" altLang="zh-CN" b="0" dirty="0">
                <a:latin typeface="+mn-lt"/>
                <a:ea typeface="+mn-ea"/>
                <a:cs typeface="+mn-ea"/>
                <a:sym typeface="+mn-lt"/>
              </a:rPr>
              <a:t>   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return OK;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}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18">
            <a:extLst>
              <a:ext uri="{FF2B5EF4-FFF2-40B4-BE49-F238E27FC236}">
                <a16:creationId xmlns:a16="http://schemas.microsoft.com/office/drawing/2014/main" id="{0012338B-F73D-4ED0-923E-3769B60FBE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628775"/>
            <a:ext cx="9144000" cy="3456409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txBody>
          <a:bodyPr/>
          <a:lstStyle>
            <a:lvl1pPr marL="342900" indent="-342900">
              <a:lnSpc>
                <a:spcPct val="130000"/>
              </a:lnSpc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46087" name="标题 1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顺序栈出栈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B96AB6E5-5716-4BA0-B214-B62D183B79ED}"/>
              </a:ext>
            </a:extLst>
          </p:cNvPr>
          <p:cNvSpPr txBox="1"/>
          <p:nvPr/>
        </p:nvSpPr>
        <p:spPr>
          <a:xfrm>
            <a:off x="811361" y="1808311"/>
            <a:ext cx="7842125" cy="32465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800" b="0" dirty="0">
                <a:latin typeface="+mn-lt"/>
              </a:rPr>
              <a:t>Status </a:t>
            </a:r>
            <a:r>
              <a:rPr lang="en-US" altLang="zh-CN" sz="2800" b="0" dirty="0">
                <a:solidFill>
                  <a:srgbClr val="FF0000"/>
                </a:solidFill>
                <a:latin typeface="+mn-lt"/>
              </a:rPr>
              <a:t>Pop </a:t>
            </a:r>
            <a:r>
              <a:rPr lang="en-US" altLang="zh-CN" sz="2800" b="0" dirty="0">
                <a:latin typeface="+mn-lt"/>
              </a:rPr>
              <a:t>(</a:t>
            </a:r>
            <a:r>
              <a:rPr lang="en-US" altLang="zh-CN" sz="2800" b="0" dirty="0" err="1">
                <a:latin typeface="+mn-lt"/>
              </a:rPr>
              <a:t>SqStack</a:t>
            </a:r>
            <a:r>
              <a:rPr lang="en-US" altLang="zh-CN" sz="2800" b="0" dirty="0">
                <a:latin typeface="+mn-lt"/>
              </a:rPr>
              <a:t>&amp; S, </a:t>
            </a:r>
            <a:r>
              <a:rPr lang="en-US" altLang="zh-CN" sz="2800" b="0" dirty="0" err="1">
                <a:latin typeface="+mn-lt"/>
              </a:rPr>
              <a:t>SElemType</a:t>
            </a:r>
            <a:r>
              <a:rPr lang="en-US" altLang="zh-CN" sz="2800" b="0" dirty="0">
                <a:latin typeface="+mn-lt"/>
              </a:rPr>
              <a:t>&amp; e) {</a:t>
            </a:r>
          </a:p>
          <a:p>
            <a:pPr>
              <a:lnSpc>
                <a:spcPct val="150000"/>
              </a:lnSpc>
            </a:pPr>
            <a:r>
              <a:rPr lang="en-US" altLang="zh-CN" sz="2800" b="0" dirty="0">
                <a:latin typeface="+mn-lt"/>
              </a:rPr>
              <a:t>    if (</a:t>
            </a:r>
            <a:r>
              <a:rPr lang="en-US" altLang="zh-CN" sz="2800" b="0" dirty="0" err="1">
                <a:latin typeface="+mn-lt"/>
              </a:rPr>
              <a:t>StackEmpty</a:t>
            </a:r>
            <a:r>
              <a:rPr lang="en-US" altLang="zh-CN" sz="2800" b="0" dirty="0">
                <a:latin typeface="+mn-lt"/>
              </a:rPr>
              <a:t>(S)) return ERROR;  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// 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栈空</a:t>
            </a:r>
            <a:endParaRPr lang="en-US" altLang="zh-CN" sz="2800" b="0" dirty="0">
              <a:solidFill>
                <a:srgbClr val="00B050"/>
              </a:solidFill>
              <a:latin typeface="+mn-lt"/>
            </a:endParaRPr>
          </a:p>
          <a:p>
            <a:pPr>
              <a:lnSpc>
                <a:spcPct val="150000"/>
              </a:lnSpc>
            </a:pPr>
            <a:r>
              <a:rPr lang="en-US" altLang="zh-CN" sz="2800" b="0" dirty="0">
                <a:latin typeface="+mn-lt"/>
              </a:rPr>
              <a:t>    </a:t>
            </a:r>
            <a:r>
              <a:rPr lang="en-US" altLang="zh-CN" sz="2800" b="0" dirty="0">
                <a:solidFill>
                  <a:srgbClr val="0000FF"/>
                </a:solidFill>
                <a:latin typeface="+mn-lt"/>
              </a:rPr>
              <a:t>e = </a:t>
            </a:r>
            <a:r>
              <a:rPr lang="en-US" altLang="zh-CN" sz="2800" b="0" dirty="0" err="1">
                <a:solidFill>
                  <a:srgbClr val="0000FF"/>
                </a:solidFill>
                <a:latin typeface="+mn-lt"/>
              </a:rPr>
              <a:t>S.elem</a:t>
            </a:r>
            <a:r>
              <a:rPr lang="en-US" altLang="zh-CN" sz="2800" b="0" dirty="0">
                <a:solidFill>
                  <a:srgbClr val="0000FF"/>
                </a:solidFill>
                <a:latin typeface="+mn-lt"/>
              </a:rPr>
              <a:t>[</a:t>
            </a:r>
            <a:r>
              <a:rPr lang="en-US" altLang="zh-CN" sz="2800" b="0" dirty="0" err="1">
                <a:solidFill>
                  <a:srgbClr val="0000FF"/>
                </a:solidFill>
                <a:latin typeface="+mn-lt"/>
              </a:rPr>
              <a:t>S.top</a:t>
            </a:r>
            <a:r>
              <a:rPr lang="en-US" altLang="zh-CN" sz="2800" b="0" dirty="0">
                <a:solidFill>
                  <a:srgbClr val="0000FF"/>
                </a:solidFill>
                <a:latin typeface="+mn-lt"/>
              </a:rPr>
              <a:t>--];</a:t>
            </a:r>
          </a:p>
          <a:p>
            <a:pPr>
              <a:lnSpc>
                <a:spcPct val="150000"/>
              </a:lnSpc>
            </a:pPr>
            <a:r>
              <a:rPr lang="en-US" altLang="zh-CN" sz="2800" b="0" dirty="0">
                <a:latin typeface="+mn-lt"/>
              </a:rPr>
              <a:t>    return OK;</a:t>
            </a:r>
          </a:p>
          <a:p>
            <a:pPr>
              <a:lnSpc>
                <a:spcPct val="150000"/>
              </a:lnSpc>
            </a:pPr>
            <a:r>
              <a:rPr lang="en-US" altLang="zh-CN" sz="2800" b="0" dirty="0">
                <a:latin typeface="+mn-lt"/>
              </a:rPr>
              <a:t>}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矩形 18">
            <a:extLst>
              <a:ext uri="{FF2B5EF4-FFF2-40B4-BE49-F238E27FC236}">
                <a16:creationId xmlns:a16="http://schemas.microsoft.com/office/drawing/2014/main" id="{AADE8DB2-98FB-42A4-9605-7529D8507D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628775"/>
            <a:ext cx="9144000" cy="3456409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txBody>
          <a:bodyPr/>
          <a:lstStyle>
            <a:lvl1pPr marL="342900" indent="-342900">
              <a:lnSpc>
                <a:spcPct val="130000"/>
              </a:lnSpc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47107" name="标题 1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取顺序栈的栈顶元素</a:t>
            </a:r>
          </a:p>
        </p:txBody>
      </p:sp>
      <p:sp>
        <p:nvSpPr>
          <p:cNvPr id="526348" name="Rectangle 12"/>
          <p:cNvSpPr>
            <a:spLocks noChangeArrowheads="1"/>
          </p:cNvSpPr>
          <p:nvPr/>
        </p:nvSpPr>
        <p:spPr bwMode="auto">
          <a:xfrm>
            <a:off x="844551" y="1786204"/>
            <a:ext cx="7471866" cy="31683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Status </a:t>
            </a:r>
            <a:r>
              <a:rPr kumimoji="0" lang="en-US" altLang="zh-CN" sz="28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GetTop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(</a:t>
            </a:r>
            <a:r>
              <a:rPr kumimoji="0" lang="en-US" altLang="zh-CN" sz="28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SqStack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S, </a:t>
            </a:r>
            <a:r>
              <a:rPr kumimoji="0" lang="en-US" altLang="zh-CN" sz="28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SElemType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&amp;e) {</a:t>
            </a:r>
          </a:p>
          <a:p>
            <a:pPr marL="0" lvl="0" indent="0">
              <a:lnSpc>
                <a:spcPct val="150000"/>
              </a:lnSpc>
              <a:spcBef>
                <a:spcPts val="0"/>
              </a:spcBef>
              <a:defRPr/>
            </a:pPr>
            <a:r>
              <a:rPr lang="en-US" altLang="zh-CN" sz="2800" b="0" dirty="0">
                <a:latin typeface="+mn-lt"/>
              </a:rPr>
              <a:t>    if (</a:t>
            </a:r>
            <a:r>
              <a:rPr lang="en-US" altLang="zh-CN" sz="2800" b="0" dirty="0" err="1">
                <a:latin typeface="+mn-lt"/>
              </a:rPr>
              <a:t>StackEmpty</a:t>
            </a:r>
            <a:r>
              <a:rPr lang="en-US" altLang="zh-CN" sz="2800" b="0" dirty="0">
                <a:latin typeface="+mn-lt"/>
              </a:rPr>
              <a:t>(S)) return ERROR;   </a:t>
            </a:r>
            <a:r>
              <a:rPr lang="en-US" altLang="zh-CN" sz="2800" b="0" dirty="0">
                <a:solidFill>
                  <a:srgbClr val="00B050"/>
                </a:solidFill>
                <a:latin typeface="+mn-lt"/>
                <a:cs typeface="+mn-ea"/>
                <a:sym typeface="+mn-lt"/>
              </a:rPr>
              <a:t>// </a:t>
            </a:r>
            <a:r>
              <a:rPr lang="zh-CN" altLang="en-US" sz="2800" b="0" dirty="0">
                <a:solidFill>
                  <a:srgbClr val="00B050"/>
                </a:solidFill>
                <a:latin typeface="+mn-lt"/>
                <a:cs typeface="+mn-ea"/>
                <a:sym typeface="+mn-lt"/>
              </a:rPr>
              <a:t>栈空</a:t>
            </a:r>
            <a:endParaRPr lang="en-US" altLang="zh-CN" sz="2800" b="0" dirty="0">
              <a:latin typeface="+mn-lt"/>
              <a:ea typeface="+mn-ea"/>
              <a:cs typeface="+mn-ea"/>
              <a:sym typeface="+mn-lt"/>
            </a:endParaRPr>
          </a:p>
          <a:p>
            <a:pPr marL="0" lvl="0" indent="0">
              <a:lnSpc>
                <a:spcPct val="150000"/>
              </a:lnSpc>
              <a:spcBef>
                <a:spcPts val="0"/>
              </a:spcBef>
              <a:defRPr/>
            </a:pPr>
            <a:r>
              <a:rPr lang="en-US" altLang="zh-CN" sz="2800" b="0" dirty="0">
                <a:latin typeface="+mn-lt"/>
                <a:ea typeface="+mn-ea"/>
                <a:cs typeface="+mn-ea"/>
                <a:sym typeface="+mn-lt"/>
              </a:rPr>
              <a:t>    </a:t>
            </a:r>
            <a:r>
              <a:rPr lang="en-US" altLang="zh-CN" sz="2800" b="0" dirty="0">
                <a:solidFill>
                  <a:srgbClr val="0000FF"/>
                </a:solidFill>
                <a:latin typeface="+mn-lt"/>
                <a:ea typeface="+mn-ea"/>
                <a:cs typeface="+mn-ea"/>
                <a:sym typeface="+mn-lt"/>
              </a:rPr>
              <a:t>e = </a:t>
            </a:r>
            <a:r>
              <a:rPr lang="en-US" altLang="zh-CN" sz="2800" b="0" dirty="0" err="1">
                <a:solidFill>
                  <a:srgbClr val="0000FF"/>
                </a:solidFill>
                <a:latin typeface="+mn-lt"/>
                <a:ea typeface="+mn-ea"/>
                <a:cs typeface="+mn-ea"/>
                <a:sym typeface="+mn-lt"/>
              </a:rPr>
              <a:t>S.elem</a:t>
            </a:r>
            <a:r>
              <a:rPr lang="en-US" altLang="zh-CN" sz="2800" b="0" dirty="0">
                <a:solidFill>
                  <a:srgbClr val="0000FF"/>
                </a:solidFill>
                <a:latin typeface="+mn-lt"/>
                <a:ea typeface="+mn-ea"/>
                <a:cs typeface="+mn-ea"/>
                <a:sym typeface="+mn-lt"/>
              </a:rPr>
              <a:t>[</a:t>
            </a:r>
            <a:r>
              <a:rPr lang="en-US" altLang="zh-CN" sz="2800" b="0" dirty="0" err="1">
                <a:solidFill>
                  <a:srgbClr val="0000FF"/>
                </a:solidFill>
                <a:latin typeface="+mn-lt"/>
                <a:ea typeface="+mn-ea"/>
                <a:cs typeface="+mn-ea"/>
                <a:sym typeface="+mn-lt"/>
              </a:rPr>
              <a:t>S.top</a:t>
            </a:r>
            <a:r>
              <a:rPr lang="en-US" altLang="zh-CN" sz="2800" b="0" dirty="0">
                <a:solidFill>
                  <a:srgbClr val="0000FF"/>
                </a:solidFill>
                <a:latin typeface="+mn-lt"/>
                <a:ea typeface="+mn-ea"/>
                <a:cs typeface="+mn-ea"/>
                <a:sym typeface="+mn-lt"/>
              </a:rPr>
              <a:t>];</a:t>
            </a:r>
          </a:p>
          <a:p>
            <a:pPr marL="0" lvl="0" indent="0">
              <a:lnSpc>
                <a:spcPct val="150000"/>
              </a:lnSpc>
              <a:spcBef>
                <a:spcPts val="0"/>
              </a:spcBef>
              <a:defRPr/>
            </a:pPr>
            <a:r>
              <a:rPr lang="en-US" altLang="zh-CN" sz="2800" b="0" dirty="0">
                <a:latin typeface="+mn-lt"/>
                <a:ea typeface="+mn-ea"/>
                <a:cs typeface="+mn-ea"/>
                <a:sym typeface="+mn-lt"/>
              </a:rPr>
              <a:t>    return OK;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}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 bwMode="auto">
          <a:xfrm>
            <a:off x="0" y="2205038"/>
            <a:ext cx="9144000" cy="2879725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grpSp>
        <p:nvGrpSpPr>
          <p:cNvPr id="52227" name="Group 6"/>
          <p:cNvGrpSpPr/>
          <p:nvPr/>
        </p:nvGrpSpPr>
        <p:grpSpPr>
          <a:xfrm>
            <a:off x="574675" y="2474913"/>
            <a:ext cx="7839075" cy="2028825"/>
            <a:chOff x="374" y="1857"/>
            <a:chExt cx="4938" cy="1278"/>
          </a:xfrm>
        </p:grpSpPr>
        <p:sp>
          <p:nvSpPr>
            <p:cNvPr id="44037" name="Text Box 7"/>
            <p:cNvSpPr txBox="1">
              <a:spLocks noChangeArrowheads="1"/>
            </p:cNvSpPr>
            <p:nvPr/>
          </p:nvSpPr>
          <p:spPr bwMode="auto">
            <a:xfrm>
              <a:off x="384" y="2808"/>
              <a:ext cx="492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28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b</a:t>
              </a:r>
              <a:r>
                <a:rPr kumimoji="0" lang="en-US" altLang="zh-CN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[0]                              </a:t>
              </a:r>
              <a:r>
                <a:rPr kumimoji="0" lang="en-US" altLang="zh-CN" sz="28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t</a:t>
              </a:r>
              <a:r>
                <a:rPr kumimoji="0" lang="en-US" altLang="zh-CN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[0]     </a:t>
              </a:r>
              <a:r>
                <a:rPr kumimoji="0" lang="en-US" altLang="zh-CN" sz="28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t</a:t>
              </a:r>
              <a:r>
                <a:rPr kumimoji="0" lang="en-US" altLang="zh-CN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[1]                         </a:t>
              </a:r>
              <a:r>
                <a:rPr kumimoji="0" lang="en-US" altLang="zh-CN" sz="28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b</a:t>
              </a:r>
              <a:r>
                <a:rPr kumimoji="0" lang="en-US" altLang="zh-CN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[1]</a:t>
              </a:r>
              <a:endPara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44038" name="Line 8"/>
            <p:cNvSpPr>
              <a:spLocks noChangeShapeType="1"/>
            </p:cNvSpPr>
            <p:nvPr/>
          </p:nvSpPr>
          <p:spPr bwMode="auto">
            <a:xfrm flipV="1">
              <a:off x="672" y="2635"/>
              <a:ext cx="0" cy="24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44039" name="Line 9"/>
            <p:cNvSpPr>
              <a:spLocks noChangeShapeType="1"/>
            </p:cNvSpPr>
            <p:nvPr/>
          </p:nvSpPr>
          <p:spPr bwMode="auto">
            <a:xfrm flipV="1">
              <a:off x="2640" y="2616"/>
              <a:ext cx="0" cy="24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44040" name="Line 10"/>
            <p:cNvSpPr>
              <a:spLocks noChangeShapeType="1"/>
            </p:cNvSpPr>
            <p:nvPr/>
          </p:nvSpPr>
          <p:spPr bwMode="auto">
            <a:xfrm flipV="1">
              <a:off x="3264" y="2616"/>
              <a:ext cx="0" cy="24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44041" name="Line 11"/>
            <p:cNvSpPr>
              <a:spLocks noChangeShapeType="1"/>
            </p:cNvSpPr>
            <p:nvPr/>
          </p:nvSpPr>
          <p:spPr bwMode="auto">
            <a:xfrm flipV="1">
              <a:off x="5024" y="2616"/>
              <a:ext cx="0" cy="24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44042" name="Rectangle 12"/>
            <p:cNvSpPr>
              <a:spLocks noChangeArrowheads="1"/>
            </p:cNvSpPr>
            <p:nvPr/>
          </p:nvSpPr>
          <p:spPr bwMode="auto">
            <a:xfrm>
              <a:off x="672" y="2280"/>
              <a:ext cx="2064" cy="33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scene3d>
              <a:camera prst="legacyObliqueTopRight"/>
              <a:lightRig rig="legacyFlat3" dir="b"/>
            </a:scene3d>
            <a:sp3d extrusionH="430200" prstMaterial="legacyMatte">
              <a:bevelT w="13500" h="13500" prst="angle"/>
              <a:bevelB w="13500" h="13500" prst="angle"/>
              <a:extrusionClr>
                <a:schemeClr val="accent1"/>
              </a:extrusionClr>
              <a:contourClr>
                <a:schemeClr val="accent1"/>
              </a:contourClr>
            </a:sp3d>
            <a:extLst>
              <a:ext uri="{91240B29-F687-4F45-9708-019B960494DF}">
                <a14:hiddenLine xmlns:a14="http://schemas.microsoft.com/office/drawing/2010/main" w="9525">
                  <a:noFill/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flatTx/>
            </a:bodyPr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44043" name="Rectangle 13"/>
            <p:cNvSpPr>
              <a:spLocks noChangeArrowheads="1"/>
            </p:cNvSpPr>
            <p:nvPr/>
          </p:nvSpPr>
          <p:spPr bwMode="auto">
            <a:xfrm>
              <a:off x="2736" y="2280"/>
              <a:ext cx="432" cy="336"/>
            </a:xfrm>
            <a:prstGeom prst="rect">
              <a:avLst/>
            </a:prstGeom>
            <a:solidFill>
              <a:srgbClr val="FFFFCC"/>
            </a:solidFill>
            <a:ln>
              <a:noFill/>
            </a:ln>
            <a:scene3d>
              <a:camera prst="legacyObliqueTopRight"/>
              <a:lightRig rig="legacyFlat3" dir="b"/>
            </a:scene3d>
            <a:sp3d extrusionH="430200" prstMaterial="legacyMatte">
              <a:bevelT w="13500" h="13500" prst="angle"/>
              <a:bevelB w="13500" h="13500" prst="angle"/>
              <a:extrusionClr>
                <a:srgbClr val="FFFFCC"/>
              </a:extrusionClr>
              <a:contourClr>
                <a:srgbClr val="FFFFCC"/>
              </a:contourClr>
            </a:sp3d>
            <a:extLst>
              <a:ext uri="{91240B29-F687-4F45-9708-019B960494DF}">
                <a14:hiddenLine xmlns:a14="http://schemas.microsoft.com/office/drawing/2010/main" w="9525">
                  <a:noFill/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flatTx/>
            </a:bodyPr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44044" name="Rectangle 14"/>
            <p:cNvSpPr>
              <a:spLocks noChangeArrowheads="1"/>
            </p:cNvSpPr>
            <p:nvPr/>
          </p:nvSpPr>
          <p:spPr bwMode="auto">
            <a:xfrm>
              <a:off x="3168" y="2280"/>
              <a:ext cx="1728" cy="33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scene3d>
              <a:camera prst="legacyObliqueTopRight"/>
              <a:lightRig rig="legacyFlat3" dir="b"/>
            </a:scene3d>
            <a:sp3d extrusionH="430200" prstMaterial="legacyMatte">
              <a:bevelT w="13500" h="13500" prst="angle"/>
              <a:bevelB w="13500" h="13500" prst="angle"/>
              <a:extrusionClr>
                <a:schemeClr val="accent2"/>
              </a:extrusionClr>
              <a:contourClr>
                <a:schemeClr val="accent2"/>
              </a:contourClr>
            </a:sp3d>
            <a:extLst>
              <a:ext uri="{91240B29-F687-4F45-9708-019B960494DF}">
                <a14:hiddenLine xmlns:a14="http://schemas.microsoft.com/office/drawing/2010/main" w="9525">
                  <a:noFill/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flatTx/>
            </a:bodyPr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44045" name="Text Box 15"/>
            <p:cNvSpPr txBox="1">
              <a:spLocks noChangeArrowheads="1"/>
            </p:cNvSpPr>
            <p:nvPr/>
          </p:nvSpPr>
          <p:spPr bwMode="auto">
            <a:xfrm>
              <a:off x="720" y="1857"/>
              <a:ext cx="4283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28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2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0                                                                 m-1</a:t>
              </a:r>
              <a:endPara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44046" name="Text Box 16"/>
            <p:cNvSpPr txBox="1">
              <a:spLocks noChangeArrowheads="1"/>
            </p:cNvSpPr>
            <p:nvPr/>
          </p:nvSpPr>
          <p:spPr bwMode="auto">
            <a:xfrm>
              <a:off x="374" y="2251"/>
              <a:ext cx="301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3200" b="1" i="0" u="none" strike="noStrike" kern="120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V</a:t>
              </a:r>
              <a:endPara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44047" name="Line 17"/>
            <p:cNvSpPr>
              <a:spLocks noChangeShapeType="1"/>
            </p:cNvSpPr>
            <p:nvPr/>
          </p:nvSpPr>
          <p:spPr bwMode="auto">
            <a:xfrm>
              <a:off x="720" y="2424"/>
              <a:ext cx="1968" cy="0"/>
            </a:xfrm>
            <a:prstGeom prst="line">
              <a:avLst/>
            </a:prstGeom>
            <a:noFill/>
            <a:ln w="38100">
              <a:solidFill>
                <a:srgbClr val="969696"/>
              </a:solidFill>
              <a:rou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44048" name="Line 18"/>
            <p:cNvSpPr>
              <a:spLocks noChangeShapeType="1"/>
            </p:cNvSpPr>
            <p:nvPr/>
          </p:nvSpPr>
          <p:spPr bwMode="auto">
            <a:xfrm>
              <a:off x="3216" y="2424"/>
              <a:ext cx="1632" cy="0"/>
            </a:xfrm>
            <a:prstGeom prst="line">
              <a:avLst/>
            </a:prstGeom>
            <a:noFill/>
            <a:ln w="38100">
              <a:solidFill>
                <a:srgbClr val="969696"/>
              </a:solidFill>
              <a:round/>
              <a:headEnd type="triangle" w="med" len="lg"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</p:grpSp>
      <p:sp>
        <p:nvSpPr>
          <p:cNvPr id="44049" name="Rectangle 19"/>
          <p:cNvSpPr>
            <a:spLocks noChangeArrowheads="1"/>
          </p:cNvSpPr>
          <p:nvPr/>
        </p:nvSpPr>
        <p:spPr bwMode="auto">
          <a:xfrm>
            <a:off x="620713" y="1387475"/>
            <a:ext cx="4565650" cy="571500"/>
          </a:xfrm>
          <a:prstGeom prst="round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双栈共享一个栈空间</a:t>
            </a:r>
          </a:p>
        </p:txBody>
      </p:sp>
      <p:sp>
        <p:nvSpPr>
          <p:cNvPr id="643092" name="Rectangle 20"/>
          <p:cNvSpPr>
            <a:spLocks noChangeArrowheads="1"/>
          </p:cNvSpPr>
          <p:nvPr/>
        </p:nvSpPr>
        <p:spPr bwMode="auto">
          <a:xfrm>
            <a:off x="903288" y="5503863"/>
            <a:ext cx="7407275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优点：互相调剂，灵活性强，减少溢出机会 </a:t>
            </a:r>
          </a:p>
        </p:txBody>
      </p:sp>
      <p:sp>
        <p:nvSpPr>
          <p:cNvPr id="50182" name="标题 1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考研试题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3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430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3092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标题 1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考研试题</a:t>
            </a:r>
          </a:p>
        </p:txBody>
      </p:sp>
      <p:sp>
        <p:nvSpPr>
          <p:cNvPr id="45059" name="Rectangle 4"/>
          <p:cNvSpPr>
            <a:spLocks noChangeArrowheads="1"/>
          </p:cNvSpPr>
          <p:nvPr/>
        </p:nvSpPr>
        <p:spPr bwMode="auto">
          <a:xfrm>
            <a:off x="251522" y="717550"/>
            <a:ext cx="8640952" cy="32476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tabLst>
                <a:tab pos="762000" algn="l"/>
              </a:tabLs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>
              <a:tabLst>
                <a:tab pos="762000" algn="l"/>
              </a:tabLs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>
              <a:tabLst>
                <a:tab pos="762000" algn="l"/>
              </a:tabLs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>
              <a:tabLst>
                <a:tab pos="762000" algn="l"/>
              </a:tabLs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>
              <a:tabLst>
                <a:tab pos="762000" algn="l"/>
              </a:tabLs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tabLst>
                <a:tab pos="762000" algn="l"/>
              </a:tabLs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tabLst>
                <a:tab pos="762000" algn="l"/>
              </a:tabLs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tabLst>
                <a:tab pos="762000" algn="l"/>
              </a:tabLs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tabLst>
                <a:tab pos="762000" algn="l"/>
              </a:tabLs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FF0000"/>
              </a:buClr>
              <a:buSzPct val="50000"/>
              <a:buFont typeface="Arial" panose="020B0604020202020204" pitchFamily="34" charset="0"/>
              <a:buNone/>
              <a:tabLst>
                <a:tab pos="762000" algn="l"/>
              </a:tabLst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将编号为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0 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和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1 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的两个栈存放于一个数组空间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V[m] 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中，栈底分别处于数组的两端。第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0 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号栈的栈顶指针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top[0] 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等于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-1 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时该栈为空，第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1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号栈的栈顶指针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top[1] 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等于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m 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时该栈为空。两个栈均从两端向中间增长（如下图所示） 。</a:t>
            </a:r>
          </a:p>
        </p:txBody>
      </p:sp>
      <p:grpSp>
        <p:nvGrpSpPr>
          <p:cNvPr id="53252" name="Group 10"/>
          <p:cNvGrpSpPr/>
          <p:nvPr/>
        </p:nvGrpSpPr>
        <p:grpSpPr>
          <a:xfrm>
            <a:off x="611188" y="4136480"/>
            <a:ext cx="7753350" cy="2033588"/>
            <a:chOff x="374" y="1857"/>
            <a:chExt cx="4884" cy="1281"/>
          </a:xfrm>
        </p:grpSpPr>
        <p:sp>
          <p:nvSpPr>
            <p:cNvPr id="45062" name="Text Box 11"/>
            <p:cNvSpPr txBox="1">
              <a:spLocks noChangeArrowheads="1"/>
            </p:cNvSpPr>
            <p:nvPr/>
          </p:nvSpPr>
          <p:spPr bwMode="auto">
            <a:xfrm>
              <a:off x="384" y="2808"/>
              <a:ext cx="4874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28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bot</a:t>
              </a:r>
              <a:r>
                <a:rPr kumimoji="0" lang="en-US" altLang="zh-CN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[0]                        </a:t>
              </a:r>
              <a:r>
                <a:rPr kumimoji="0" lang="en-US" altLang="zh-CN" sz="28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top</a:t>
              </a:r>
              <a:r>
                <a:rPr kumimoji="0" lang="en-US" altLang="zh-CN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[0]    </a:t>
              </a:r>
              <a:r>
                <a:rPr kumimoji="0" lang="en-US" altLang="zh-CN" sz="28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top</a:t>
              </a:r>
              <a:r>
                <a:rPr kumimoji="0" lang="en-US" altLang="zh-CN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[1]                 </a:t>
              </a:r>
              <a:r>
                <a:rPr kumimoji="0" lang="en-US" altLang="zh-CN" sz="28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bot</a:t>
              </a:r>
              <a:r>
                <a:rPr kumimoji="0" lang="en-US" altLang="zh-CN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[1]</a:t>
              </a:r>
              <a:endPara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45063" name="Line 12"/>
            <p:cNvSpPr>
              <a:spLocks noChangeShapeType="1"/>
            </p:cNvSpPr>
            <p:nvPr/>
          </p:nvSpPr>
          <p:spPr bwMode="auto">
            <a:xfrm flipV="1">
              <a:off x="672" y="2616"/>
              <a:ext cx="0" cy="240"/>
            </a:xfrm>
            <a:prstGeom prst="line">
              <a:avLst/>
            </a:prstGeom>
            <a:noFill/>
            <a:ln w="38100">
              <a:solidFill>
                <a:srgbClr val="FF6600"/>
              </a:solidFill>
              <a:rou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45064" name="Line 13"/>
            <p:cNvSpPr>
              <a:spLocks noChangeShapeType="1"/>
            </p:cNvSpPr>
            <p:nvPr/>
          </p:nvSpPr>
          <p:spPr bwMode="auto">
            <a:xfrm flipV="1">
              <a:off x="2640" y="2616"/>
              <a:ext cx="0" cy="240"/>
            </a:xfrm>
            <a:prstGeom prst="line">
              <a:avLst/>
            </a:prstGeom>
            <a:noFill/>
            <a:ln w="38100">
              <a:solidFill>
                <a:srgbClr val="FF6600"/>
              </a:solidFill>
              <a:rou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45065" name="Line 14"/>
            <p:cNvSpPr>
              <a:spLocks noChangeShapeType="1"/>
            </p:cNvSpPr>
            <p:nvPr/>
          </p:nvSpPr>
          <p:spPr bwMode="auto">
            <a:xfrm flipV="1">
              <a:off x="3264" y="2616"/>
              <a:ext cx="0" cy="240"/>
            </a:xfrm>
            <a:prstGeom prst="line">
              <a:avLst/>
            </a:prstGeom>
            <a:noFill/>
            <a:ln w="38100">
              <a:solidFill>
                <a:srgbClr val="FF6600"/>
              </a:solidFill>
              <a:rou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45066" name="Line 15"/>
            <p:cNvSpPr>
              <a:spLocks noChangeShapeType="1"/>
            </p:cNvSpPr>
            <p:nvPr/>
          </p:nvSpPr>
          <p:spPr bwMode="auto">
            <a:xfrm flipV="1">
              <a:off x="4994" y="2616"/>
              <a:ext cx="0" cy="240"/>
            </a:xfrm>
            <a:prstGeom prst="line">
              <a:avLst/>
            </a:prstGeom>
            <a:noFill/>
            <a:ln w="38100">
              <a:solidFill>
                <a:srgbClr val="FF6600"/>
              </a:solidFill>
              <a:rou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45067" name="Rectangle 16"/>
            <p:cNvSpPr>
              <a:spLocks noChangeArrowheads="1"/>
            </p:cNvSpPr>
            <p:nvPr/>
          </p:nvSpPr>
          <p:spPr bwMode="auto">
            <a:xfrm>
              <a:off x="672" y="2280"/>
              <a:ext cx="2064" cy="33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scene3d>
              <a:camera prst="legacyObliqueTopRight"/>
              <a:lightRig rig="legacyFlat3" dir="b"/>
            </a:scene3d>
            <a:sp3d extrusionH="430200" prstMaterial="legacyMatte">
              <a:bevelT w="13500" h="13500" prst="angle"/>
              <a:bevelB w="13500" h="13500" prst="angle"/>
              <a:extrusionClr>
                <a:schemeClr val="accent1"/>
              </a:extrusionClr>
              <a:contourClr>
                <a:schemeClr val="accent1"/>
              </a:contourClr>
            </a:sp3d>
            <a:extLst>
              <a:ext uri="{91240B29-F687-4F45-9708-019B960494DF}">
                <a14:hiddenLine xmlns:a14="http://schemas.microsoft.com/office/drawing/2010/main" w="9525">
                  <a:noFill/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flatTx/>
            </a:bodyPr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45068" name="Rectangle 17"/>
            <p:cNvSpPr>
              <a:spLocks noChangeArrowheads="1"/>
            </p:cNvSpPr>
            <p:nvPr/>
          </p:nvSpPr>
          <p:spPr bwMode="auto">
            <a:xfrm>
              <a:off x="2736" y="2280"/>
              <a:ext cx="432" cy="336"/>
            </a:xfrm>
            <a:prstGeom prst="rect">
              <a:avLst/>
            </a:prstGeom>
            <a:solidFill>
              <a:srgbClr val="FFFFCC"/>
            </a:solidFill>
            <a:ln>
              <a:noFill/>
            </a:ln>
            <a:scene3d>
              <a:camera prst="legacyObliqueTopRight"/>
              <a:lightRig rig="legacyFlat3" dir="b"/>
            </a:scene3d>
            <a:sp3d extrusionH="430200" prstMaterial="legacyMatte">
              <a:bevelT w="13500" h="13500" prst="angle"/>
              <a:bevelB w="13500" h="13500" prst="angle"/>
              <a:extrusionClr>
                <a:srgbClr val="FFFFCC"/>
              </a:extrusionClr>
              <a:contourClr>
                <a:srgbClr val="FFFFCC"/>
              </a:contourClr>
            </a:sp3d>
            <a:extLst>
              <a:ext uri="{91240B29-F687-4F45-9708-019B960494DF}">
                <a14:hiddenLine xmlns:a14="http://schemas.microsoft.com/office/drawing/2010/main" w="9525">
                  <a:noFill/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flatTx/>
            </a:bodyPr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45069" name="Rectangle 18"/>
            <p:cNvSpPr>
              <a:spLocks noChangeArrowheads="1"/>
            </p:cNvSpPr>
            <p:nvPr/>
          </p:nvSpPr>
          <p:spPr bwMode="auto">
            <a:xfrm>
              <a:off x="3168" y="2280"/>
              <a:ext cx="1728" cy="33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scene3d>
              <a:camera prst="legacyObliqueTopRight"/>
              <a:lightRig rig="legacyFlat3" dir="b"/>
            </a:scene3d>
            <a:sp3d extrusionH="430200" prstMaterial="legacyMatte">
              <a:bevelT w="13500" h="13500" prst="angle"/>
              <a:bevelB w="13500" h="13500" prst="angle"/>
              <a:extrusionClr>
                <a:schemeClr val="accent2"/>
              </a:extrusionClr>
              <a:contourClr>
                <a:schemeClr val="accent2"/>
              </a:contourClr>
            </a:sp3d>
            <a:extLst>
              <a:ext uri="{91240B29-F687-4F45-9708-019B960494DF}">
                <a14:hiddenLine xmlns:a14="http://schemas.microsoft.com/office/drawing/2010/main" w="9525">
                  <a:noFill/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flatTx/>
            </a:bodyPr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45070" name="Text Box 19"/>
            <p:cNvSpPr txBox="1">
              <a:spLocks noChangeArrowheads="1"/>
            </p:cNvSpPr>
            <p:nvPr/>
          </p:nvSpPr>
          <p:spPr bwMode="auto">
            <a:xfrm>
              <a:off x="720" y="1857"/>
              <a:ext cx="4283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28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2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0                                                                 m-1</a:t>
              </a:r>
              <a:endPara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45071" name="Text Box 20"/>
            <p:cNvSpPr txBox="1">
              <a:spLocks noChangeArrowheads="1"/>
            </p:cNvSpPr>
            <p:nvPr/>
          </p:nvSpPr>
          <p:spPr bwMode="auto">
            <a:xfrm>
              <a:off x="374" y="2251"/>
              <a:ext cx="301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3200" b="1" i="0" u="none" strike="noStrike" kern="120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V</a:t>
              </a:r>
              <a:endPara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45072" name="Line 21"/>
            <p:cNvSpPr>
              <a:spLocks noChangeShapeType="1"/>
            </p:cNvSpPr>
            <p:nvPr/>
          </p:nvSpPr>
          <p:spPr bwMode="auto">
            <a:xfrm>
              <a:off x="720" y="2424"/>
              <a:ext cx="1968" cy="0"/>
            </a:xfrm>
            <a:prstGeom prst="line">
              <a:avLst/>
            </a:prstGeom>
            <a:noFill/>
            <a:ln w="38100">
              <a:solidFill>
                <a:srgbClr val="969696"/>
              </a:solidFill>
              <a:rou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45073" name="Line 22"/>
            <p:cNvSpPr>
              <a:spLocks noChangeShapeType="1"/>
            </p:cNvSpPr>
            <p:nvPr/>
          </p:nvSpPr>
          <p:spPr bwMode="auto">
            <a:xfrm>
              <a:off x="3216" y="2424"/>
              <a:ext cx="1632" cy="0"/>
            </a:xfrm>
            <a:prstGeom prst="line">
              <a:avLst/>
            </a:prstGeom>
            <a:noFill/>
            <a:ln w="38100">
              <a:solidFill>
                <a:srgbClr val="969696"/>
              </a:solidFill>
              <a:round/>
              <a:headEnd type="triangle" w="med" len="lg"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</p:grp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标题 1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考研试题</a:t>
            </a:r>
          </a:p>
        </p:txBody>
      </p:sp>
      <p:sp>
        <p:nvSpPr>
          <p:cNvPr id="46083" name="Rectangle 4"/>
          <p:cNvSpPr>
            <a:spLocks noChangeArrowheads="1"/>
          </p:cNvSpPr>
          <p:nvPr/>
        </p:nvSpPr>
        <p:spPr bwMode="auto">
          <a:xfrm>
            <a:off x="725118" y="1793168"/>
            <a:ext cx="7667625" cy="3451523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38100">
            <a:noFill/>
            <a:miter lim="800000"/>
          </a:ln>
        </p:spPr>
        <p:txBody>
          <a:bodyPr/>
          <a:lstStyle>
            <a:lvl1pPr marL="342900" indent="-3429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typedef struct {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sz="2800" b="0" dirty="0">
                <a:latin typeface="+mn-lt"/>
                <a:ea typeface="+mn-ea"/>
                <a:cs typeface="+mn-ea"/>
                <a:sym typeface="+mn-lt"/>
              </a:rPr>
              <a:t>   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int top[2], bot[2];    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// 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栈顶和栈底指针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　</a:t>
            </a:r>
            <a:r>
              <a:rPr kumimoji="0" lang="en-US" altLang="zh-CN" sz="28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SElemType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*V;      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// 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栈数组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sz="2800" b="0" dirty="0">
                <a:latin typeface="+mn-lt"/>
                <a:ea typeface="+mn-ea"/>
                <a:cs typeface="+mn-ea"/>
                <a:sym typeface="+mn-lt"/>
              </a:rPr>
              <a:t>   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int m;                      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// 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栈最大可容纳元素个数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} </a:t>
            </a:r>
            <a:r>
              <a:rPr kumimoji="0" lang="en-US" altLang="zh-CN" sz="28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DblStack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;</a:t>
            </a:r>
          </a:p>
        </p:txBody>
      </p:sp>
      <p:sp>
        <p:nvSpPr>
          <p:cNvPr id="46084" name="Rectangle 10"/>
          <p:cNvSpPr>
            <a:spLocks noChangeArrowheads="1"/>
          </p:cNvSpPr>
          <p:nvPr/>
        </p:nvSpPr>
        <p:spPr bwMode="auto">
          <a:xfrm>
            <a:off x="738187" y="1223030"/>
            <a:ext cx="7667625" cy="523220"/>
          </a:xfrm>
          <a:prstGeom prst="rect">
            <a:avLst/>
          </a:prstGeom>
          <a:solidFill>
            <a:srgbClr val="6C4C8F"/>
          </a:solidFill>
          <a:ln>
            <a:noFill/>
          </a:ln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1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50000"/>
              <a:buFont typeface="Arial" panose="020B0604020202020204" pitchFamily="34" charset="0"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数据结构定义如下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1" name="标题 1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考研试题</a:t>
            </a:r>
          </a:p>
        </p:txBody>
      </p:sp>
      <p:sp>
        <p:nvSpPr>
          <p:cNvPr id="47107" name="Rectangle 4"/>
          <p:cNvSpPr>
            <a:spLocks noChangeArrowheads="1"/>
          </p:cNvSpPr>
          <p:nvPr/>
        </p:nvSpPr>
        <p:spPr bwMode="auto">
          <a:xfrm>
            <a:off x="0" y="2636913"/>
            <a:ext cx="9144000" cy="2242858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38100">
            <a:noFill/>
            <a:miter lim="800000"/>
          </a:ln>
        </p:spPr>
        <p:txBody>
          <a:bodyPr wrap="square" anchor="ctr">
            <a:spAutoFit/>
          </a:bodyPr>
          <a:lstStyle>
            <a:lvl1pPr indent="269875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int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IsEmpty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(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DblStack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s, int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i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) ;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//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判断栈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i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是否空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,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空返回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1,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否则返回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0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int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IsFull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(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DblStack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s) ;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//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判断栈是否满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,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满返回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1,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否则返回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0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void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DblPush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(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DblStack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&amp;s,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SElemType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x, int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i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) ;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//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把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x </a:t>
            </a:r>
            <a:r>
              <a:rPr lang="zh-CN" altLang="en-US" b="0" dirty="0">
                <a:solidFill>
                  <a:srgbClr val="00B050"/>
                </a:solidFill>
                <a:latin typeface="+mn-lt"/>
                <a:ea typeface="+mn-ea"/>
                <a:cs typeface="+mn-ea"/>
                <a:sym typeface="+mn-lt"/>
              </a:rPr>
              <a:t>压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入到栈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i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int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DblPop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(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DblStack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&amp;s, int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i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,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SElemType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&amp;x) ;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// </a:t>
            </a:r>
            <a:r>
              <a:rPr lang="zh-CN" altLang="en-US" b="0" dirty="0">
                <a:solidFill>
                  <a:srgbClr val="00B050"/>
                </a:solidFill>
                <a:latin typeface="+mn-lt"/>
                <a:ea typeface="+mn-ea"/>
                <a:cs typeface="+mn-ea"/>
                <a:sym typeface="+mn-lt"/>
              </a:rPr>
              <a:t>弹出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栈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i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栈顶的元素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47108" name="Rectangle 5"/>
          <p:cNvSpPr>
            <a:spLocks noChangeArrowheads="1"/>
          </p:cNvSpPr>
          <p:nvPr/>
        </p:nvSpPr>
        <p:spPr bwMode="auto">
          <a:xfrm>
            <a:off x="395288" y="836712"/>
            <a:ext cx="8353425" cy="13086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1" indent="0" algn="l" defTabSz="914400" rtl="0" eaLnBrk="0" fontAlgn="base" latinLnBrk="0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FF0000"/>
              </a:buClr>
              <a:buSzPct val="50000"/>
              <a:buFont typeface="Arial" panose="020B0604020202020204" pitchFamily="34" charset="0"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试编写判断栈空、栈满、进栈和出栈四个算法的函数</a:t>
            </a:r>
            <a:r>
              <a:rPr lang="zh-CN" altLang="en-US" sz="2800" b="0" dirty="0">
                <a:solidFill>
                  <a:schemeClr val="hlink"/>
                </a:solidFill>
                <a:latin typeface="+mn-lt"/>
                <a:ea typeface="+mn-ea"/>
                <a:cs typeface="+mn-ea"/>
                <a:sym typeface="+mn-lt"/>
              </a:rPr>
              <a:t>（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函数定义方式如下）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322" name="Group 8"/>
          <p:cNvGrpSpPr/>
          <p:nvPr/>
        </p:nvGrpSpPr>
        <p:grpSpPr>
          <a:xfrm>
            <a:off x="652462" y="2852937"/>
            <a:ext cx="7734300" cy="2033588"/>
            <a:chOff x="374" y="1857"/>
            <a:chExt cx="4872" cy="1281"/>
          </a:xfrm>
        </p:grpSpPr>
        <p:sp>
          <p:nvSpPr>
            <p:cNvPr id="48132" name="Text Box 9"/>
            <p:cNvSpPr txBox="1">
              <a:spLocks noChangeArrowheads="1"/>
            </p:cNvSpPr>
            <p:nvPr/>
          </p:nvSpPr>
          <p:spPr bwMode="auto">
            <a:xfrm>
              <a:off x="384" y="2808"/>
              <a:ext cx="4862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2800" b="0" i="1" u="none" strike="noStrike" kern="120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b</a:t>
              </a:r>
              <a:r>
                <a:rPr kumimoji="0" lang="en-US" altLang="zh-CN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[0]                             </a:t>
              </a:r>
              <a:r>
                <a:rPr kumimoji="0" lang="en-US" altLang="zh-CN" sz="2800" b="0" i="1" u="none" strike="noStrike" kern="120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t</a:t>
              </a:r>
              <a:r>
                <a:rPr kumimoji="0" lang="en-US" altLang="zh-CN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[0]     </a:t>
              </a:r>
              <a:r>
                <a:rPr kumimoji="0" lang="en-US" altLang="zh-CN" sz="2800" b="0" i="1" u="none" strike="noStrike" kern="120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t</a:t>
              </a:r>
              <a:r>
                <a:rPr kumimoji="0" lang="en-US" altLang="zh-CN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[1]                         </a:t>
              </a:r>
              <a:r>
                <a:rPr kumimoji="0" lang="en-US" altLang="zh-CN" sz="2800" b="0" i="1" u="none" strike="noStrike" kern="120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b</a:t>
              </a:r>
              <a:r>
                <a:rPr kumimoji="0" lang="en-US" altLang="zh-CN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[1]</a:t>
              </a:r>
              <a:endPara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48133" name="Line 10"/>
            <p:cNvSpPr>
              <a:spLocks noChangeShapeType="1"/>
            </p:cNvSpPr>
            <p:nvPr/>
          </p:nvSpPr>
          <p:spPr bwMode="auto">
            <a:xfrm flipV="1">
              <a:off x="576" y="2616"/>
              <a:ext cx="0" cy="240"/>
            </a:xfrm>
            <a:prstGeom prst="line">
              <a:avLst/>
            </a:prstGeom>
            <a:noFill/>
            <a:ln w="38100">
              <a:solidFill>
                <a:srgbClr val="FF6600"/>
              </a:solidFill>
              <a:rou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48134" name="Line 11"/>
            <p:cNvSpPr>
              <a:spLocks noChangeShapeType="1"/>
            </p:cNvSpPr>
            <p:nvPr/>
          </p:nvSpPr>
          <p:spPr bwMode="auto">
            <a:xfrm flipV="1">
              <a:off x="2640" y="2616"/>
              <a:ext cx="0" cy="240"/>
            </a:xfrm>
            <a:prstGeom prst="line">
              <a:avLst/>
            </a:prstGeom>
            <a:noFill/>
            <a:ln w="38100">
              <a:solidFill>
                <a:srgbClr val="FF6600"/>
              </a:solidFill>
              <a:rou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48135" name="Line 12"/>
            <p:cNvSpPr>
              <a:spLocks noChangeShapeType="1"/>
            </p:cNvSpPr>
            <p:nvPr/>
          </p:nvSpPr>
          <p:spPr bwMode="auto">
            <a:xfrm flipV="1">
              <a:off x="3264" y="2616"/>
              <a:ext cx="0" cy="240"/>
            </a:xfrm>
            <a:prstGeom prst="line">
              <a:avLst/>
            </a:prstGeom>
            <a:noFill/>
            <a:ln w="38100">
              <a:solidFill>
                <a:srgbClr val="FF6600"/>
              </a:solidFill>
              <a:rou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48136" name="Line 13"/>
            <p:cNvSpPr>
              <a:spLocks noChangeShapeType="1"/>
            </p:cNvSpPr>
            <p:nvPr/>
          </p:nvSpPr>
          <p:spPr bwMode="auto">
            <a:xfrm flipV="1">
              <a:off x="5020" y="2616"/>
              <a:ext cx="0" cy="240"/>
            </a:xfrm>
            <a:prstGeom prst="line">
              <a:avLst/>
            </a:prstGeom>
            <a:noFill/>
            <a:ln w="38100">
              <a:solidFill>
                <a:srgbClr val="FF6600"/>
              </a:solidFill>
              <a:rou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48137" name="Rectangle 14"/>
            <p:cNvSpPr>
              <a:spLocks noChangeArrowheads="1"/>
            </p:cNvSpPr>
            <p:nvPr/>
          </p:nvSpPr>
          <p:spPr bwMode="auto">
            <a:xfrm>
              <a:off x="672" y="2280"/>
              <a:ext cx="2064" cy="33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scene3d>
              <a:camera prst="legacyObliqueTopRight"/>
              <a:lightRig rig="legacyFlat3" dir="b"/>
            </a:scene3d>
            <a:sp3d extrusionH="430200" prstMaterial="legacyMatte">
              <a:bevelT w="13500" h="13500" prst="angle"/>
              <a:bevelB w="13500" h="13500" prst="angle"/>
              <a:extrusionClr>
                <a:schemeClr val="accent1"/>
              </a:extrusionClr>
              <a:contourClr>
                <a:schemeClr val="accent1"/>
              </a:contourClr>
            </a:sp3d>
            <a:extLst>
              <a:ext uri="{91240B29-F687-4F45-9708-019B960494DF}">
                <a14:hiddenLine xmlns:a14="http://schemas.microsoft.com/office/drawing/2010/main" w="9525">
                  <a:noFill/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flatTx/>
            </a:bodyPr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48138" name="Rectangle 15"/>
            <p:cNvSpPr>
              <a:spLocks noChangeArrowheads="1"/>
            </p:cNvSpPr>
            <p:nvPr/>
          </p:nvSpPr>
          <p:spPr bwMode="auto">
            <a:xfrm>
              <a:off x="2736" y="2280"/>
              <a:ext cx="432" cy="336"/>
            </a:xfrm>
            <a:prstGeom prst="rect">
              <a:avLst/>
            </a:prstGeom>
            <a:solidFill>
              <a:srgbClr val="FFFFCC"/>
            </a:solidFill>
            <a:ln>
              <a:noFill/>
            </a:ln>
            <a:scene3d>
              <a:camera prst="legacyObliqueTopRight"/>
              <a:lightRig rig="legacyFlat3" dir="b"/>
            </a:scene3d>
            <a:sp3d extrusionH="430200" prstMaterial="legacyMatte">
              <a:bevelT w="13500" h="13500" prst="angle"/>
              <a:bevelB w="13500" h="13500" prst="angle"/>
              <a:extrusionClr>
                <a:srgbClr val="FFFFCC"/>
              </a:extrusionClr>
              <a:contourClr>
                <a:srgbClr val="FFFFCC"/>
              </a:contourClr>
            </a:sp3d>
            <a:extLst>
              <a:ext uri="{91240B29-F687-4F45-9708-019B960494DF}">
                <a14:hiddenLine xmlns:a14="http://schemas.microsoft.com/office/drawing/2010/main" w="9525">
                  <a:noFill/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flatTx/>
            </a:bodyPr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48139" name="Rectangle 16"/>
            <p:cNvSpPr>
              <a:spLocks noChangeArrowheads="1"/>
            </p:cNvSpPr>
            <p:nvPr/>
          </p:nvSpPr>
          <p:spPr bwMode="auto">
            <a:xfrm>
              <a:off x="3168" y="2280"/>
              <a:ext cx="1728" cy="33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scene3d>
              <a:camera prst="legacyObliqueTopRight"/>
              <a:lightRig rig="legacyFlat3" dir="b"/>
            </a:scene3d>
            <a:sp3d extrusionH="430200" prstMaterial="legacyMatte">
              <a:bevelT w="13500" h="13500" prst="angle"/>
              <a:bevelB w="13500" h="13500" prst="angle"/>
              <a:extrusionClr>
                <a:schemeClr val="accent2"/>
              </a:extrusionClr>
              <a:contourClr>
                <a:schemeClr val="accent2"/>
              </a:contourClr>
            </a:sp3d>
            <a:extLst>
              <a:ext uri="{91240B29-F687-4F45-9708-019B960494DF}">
                <a14:hiddenLine xmlns:a14="http://schemas.microsoft.com/office/drawing/2010/main" w="9525">
                  <a:noFill/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flatTx/>
            </a:bodyPr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48140" name="Text Box 17"/>
            <p:cNvSpPr txBox="1">
              <a:spLocks noChangeArrowheads="1"/>
            </p:cNvSpPr>
            <p:nvPr/>
          </p:nvSpPr>
          <p:spPr bwMode="auto">
            <a:xfrm>
              <a:off x="720" y="1857"/>
              <a:ext cx="413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2800" b="0" i="0" u="none" strike="noStrike" kern="1200" cap="none" spc="0" normalizeH="0" baseline="0" noProof="0">
                  <a:ln>
                    <a:noFill/>
                  </a:ln>
                  <a:solidFill>
                    <a:schemeClr val="tx2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0                                                               m-1</a:t>
              </a:r>
              <a:endPara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48141" name="Text Box 18"/>
            <p:cNvSpPr txBox="1">
              <a:spLocks noChangeArrowheads="1"/>
            </p:cNvSpPr>
            <p:nvPr/>
          </p:nvSpPr>
          <p:spPr bwMode="auto">
            <a:xfrm>
              <a:off x="374" y="2251"/>
              <a:ext cx="301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3200" b="0" i="0" u="none" strike="noStrike" kern="120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V</a:t>
              </a:r>
              <a:endPara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48142" name="Line 19"/>
            <p:cNvSpPr>
              <a:spLocks noChangeShapeType="1"/>
            </p:cNvSpPr>
            <p:nvPr/>
          </p:nvSpPr>
          <p:spPr bwMode="auto">
            <a:xfrm>
              <a:off x="720" y="2424"/>
              <a:ext cx="1968" cy="0"/>
            </a:xfrm>
            <a:prstGeom prst="line">
              <a:avLst/>
            </a:prstGeom>
            <a:noFill/>
            <a:ln w="38100">
              <a:solidFill>
                <a:srgbClr val="969696"/>
              </a:solidFill>
              <a:rou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48143" name="Line 20"/>
            <p:cNvSpPr>
              <a:spLocks noChangeShapeType="1"/>
            </p:cNvSpPr>
            <p:nvPr/>
          </p:nvSpPr>
          <p:spPr bwMode="auto">
            <a:xfrm>
              <a:off x="3216" y="2424"/>
              <a:ext cx="1632" cy="0"/>
            </a:xfrm>
            <a:prstGeom prst="line">
              <a:avLst/>
            </a:prstGeom>
            <a:noFill/>
            <a:ln w="38100">
              <a:solidFill>
                <a:srgbClr val="969696"/>
              </a:solidFill>
              <a:round/>
              <a:headEnd type="triangle" w="med" len="lg"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</p:grpSp>
      <p:sp>
        <p:nvSpPr>
          <p:cNvPr id="542742" name="Rectangle 22"/>
          <p:cNvSpPr>
            <a:spLocks noChangeArrowheads="1"/>
          </p:cNvSpPr>
          <p:nvPr/>
        </p:nvSpPr>
        <p:spPr bwMode="auto">
          <a:xfrm>
            <a:off x="701675" y="1311805"/>
            <a:ext cx="7823200" cy="1308628"/>
          </a:xfrm>
          <a:prstGeom prst="rect">
            <a:avLst/>
          </a:prstGeom>
          <a:solidFill>
            <a:srgbClr val="D4E6F4"/>
          </a:solidFill>
          <a:ln w="38100">
            <a:solidFill>
              <a:srgbClr val="6C4C8F"/>
            </a:solidFill>
            <a:miter lim="800000"/>
          </a:ln>
        </p:spPr>
        <p:txBody>
          <a:bodyPr anchor="ctr">
            <a:spAutoFit/>
          </a:bodyPr>
          <a:lstStyle>
            <a:lvl1pPr>
              <a:tabLst>
                <a:tab pos="990600" algn="l"/>
              </a:tabLs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>
              <a:tabLst>
                <a:tab pos="990600" algn="l"/>
              </a:tabLs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>
              <a:tabLst>
                <a:tab pos="990600" algn="l"/>
              </a:tabLs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>
              <a:tabLst>
                <a:tab pos="990600" algn="l"/>
              </a:tabLs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>
              <a:tabLst>
                <a:tab pos="990600" algn="l"/>
              </a:tabLs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tabLst>
                <a:tab pos="990600" algn="l"/>
              </a:tabLs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tabLst>
                <a:tab pos="990600" algn="l"/>
              </a:tabLs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tabLst>
                <a:tab pos="990600" algn="l"/>
              </a:tabLs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tabLst>
                <a:tab pos="990600" algn="l"/>
              </a:tabLs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1" indent="0" algn="l" defTabSz="914400" rtl="0" eaLnBrk="0" fontAlgn="base" latinLnBrk="0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>
                <a:tab pos="990600" algn="l"/>
              </a:tabLst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栈空：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top[</a:t>
            </a:r>
            <a:r>
              <a:rPr kumimoji="0" lang="en-US" altLang="zh-CN" sz="28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i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] == bot[</a:t>
            </a:r>
            <a:r>
              <a:rPr kumimoji="0" lang="en-US" altLang="zh-CN" sz="28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i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]  </a:t>
            </a:r>
            <a:r>
              <a:rPr kumimoji="0" lang="en-US" altLang="zh-CN" sz="28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i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表示栈的编号        </a:t>
            </a:r>
          </a:p>
          <a:p>
            <a:pPr marL="0" marR="0" lvl="1" indent="0" algn="l" defTabSz="914400" rtl="0" eaLnBrk="0" fontAlgn="base" latinLnBrk="0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>
                <a:tab pos="990600" algn="l"/>
              </a:tabLst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栈满：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top[0]+1==top[1] 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或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top[1]-1==top[0]</a:t>
            </a:r>
          </a:p>
        </p:txBody>
      </p:sp>
      <p:sp>
        <p:nvSpPr>
          <p:cNvPr id="54276" name="标题 1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提示</a:t>
            </a:r>
          </a:p>
        </p:txBody>
      </p:sp>
      <p:sp>
        <p:nvSpPr>
          <p:cNvPr id="2" name="爆炸形: 14 pt  1">
            <a:extLst>
              <a:ext uri="{FF2B5EF4-FFF2-40B4-BE49-F238E27FC236}">
                <a16:creationId xmlns:a16="http://schemas.microsoft.com/office/drawing/2014/main" id="{CFA6D931-666F-48AF-9849-93DF905E1B5F}"/>
              </a:ext>
            </a:extLst>
          </p:cNvPr>
          <p:cNvSpPr/>
          <p:nvPr/>
        </p:nvSpPr>
        <p:spPr bwMode="auto">
          <a:xfrm>
            <a:off x="2987824" y="5114265"/>
            <a:ext cx="2952328" cy="1605399"/>
          </a:xfrm>
          <a:prstGeom prst="irregularSeal2">
            <a:avLst/>
          </a:prstGeom>
          <a:solidFill>
            <a:srgbClr val="FFFF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342900" marR="0" indent="-342900" algn="ctr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zh-CN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</a:rPr>
              <a:t>作业！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5427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2742" grpId="0" animBg="1"/>
      <p:bldP spid="2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44FF6BC-CF7C-4F6B-9A78-5CF855D187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955576"/>
          </a:xfrm>
        </p:spPr>
        <p:txBody>
          <a:bodyPr/>
          <a:lstStyle/>
          <a:p>
            <a:pPr algn="ctr"/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目录（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Contents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F1C5CE0-1323-4255-9417-D46EBFCC9F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552" y="1700808"/>
            <a:ext cx="8064896" cy="4896544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栈</a:t>
            </a:r>
            <a:endParaRPr lang="en-US" altLang="zh-CN" sz="28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lvl="1">
              <a:lnSpc>
                <a:spcPct val="150000"/>
              </a:lnSpc>
            </a:pPr>
            <a:r>
              <a:rPr lang="zh-CN" altLang="en-US" sz="2400" dirty="0">
                <a:solidFill>
                  <a:schemeClr val="tx1">
                    <a:lumMod val="20000"/>
                    <a:lumOff val="8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栈的抽象数据类型定义</a:t>
            </a:r>
            <a:endParaRPr lang="en-US" altLang="zh-CN" sz="2400" dirty="0">
              <a:solidFill>
                <a:schemeClr val="tx1">
                  <a:lumMod val="20000"/>
                  <a:lumOff val="80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lvl="1">
              <a:lnSpc>
                <a:spcPct val="150000"/>
              </a:lnSpc>
            </a:pPr>
            <a:r>
              <a:rPr lang="zh-CN" altLang="en-US" sz="2400" dirty="0">
                <a:solidFill>
                  <a:schemeClr val="tx1">
                    <a:lumMod val="20000"/>
                    <a:lumOff val="8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栈的顺序存储表示</a:t>
            </a:r>
            <a:endParaRPr lang="en-US" altLang="zh-CN" sz="2400" dirty="0">
              <a:solidFill>
                <a:schemeClr val="tx1">
                  <a:lumMod val="20000"/>
                  <a:lumOff val="80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lvl="1">
              <a:lnSpc>
                <a:spcPct val="150000"/>
              </a:lnSpc>
            </a:pP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栈的链式存储表示</a:t>
            </a:r>
          </a:p>
          <a:p>
            <a:pPr>
              <a:lnSpc>
                <a:spcPct val="150000"/>
              </a:lnSpc>
            </a:pPr>
            <a:r>
              <a:rPr lang="zh-CN" altLang="en-US" sz="2800" dirty="0">
                <a:solidFill>
                  <a:schemeClr val="tx1">
                    <a:lumMod val="20000"/>
                    <a:lumOff val="8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栈的应用举例</a:t>
            </a:r>
            <a:endParaRPr lang="en-US" altLang="zh-CN" sz="2800" dirty="0">
              <a:solidFill>
                <a:schemeClr val="tx1">
                  <a:lumMod val="20000"/>
                  <a:lumOff val="80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800" dirty="0">
                <a:solidFill>
                  <a:schemeClr val="tx1">
                    <a:lumMod val="20000"/>
                    <a:lumOff val="8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队列</a:t>
            </a:r>
            <a:endParaRPr lang="zh-CN" altLang="en-US" sz="2400" dirty="0">
              <a:solidFill>
                <a:schemeClr val="tx1">
                  <a:lumMod val="20000"/>
                  <a:lumOff val="80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800" dirty="0">
                <a:solidFill>
                  <a:schemeClr val="tx1">
                    <a:lumMod val="20000"/>
                    <a:lumOff val="8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队列的应用举例</a:t>
            </a:r>
          </a:p>
        </p:txBody>
      </p:sp>
    </p:spTree>
    <p:extLst>
      <p:ext uri="{BB962C8B-B14F-4D97-AF65-F5344CB8AC3E}">
        <p14:creationId xmlns:p14="http://schemas.microsoft.com/office/powerpoint/2010/main" val="2617560939"/>
      </p:ext>
    </p:extLst>
  </p:cSld>
  <p:clrMapOvr>
    <a:masterClrMapping/>
  </p:clrMapOvr>
  <p:transition>
    <p:wipe dir="r"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 bwMode="auto">
          <a:xfrm>
            <a:off x="4932363" y="2728913"/>
            <a:ext cx="4052888" cy="3735388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55299" name="标题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栈的链式存储表示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---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链栈</a:t>
            </a:r>
          </a:p>
        </p:txBody>
      </p:sp>
      <p:sp>
        <p:nvSpPr>
          <p:cNvPr id="49156" name="Rectangle 5"/>
          <p:cNvSpPr>
            <a:spLocks noChangeArrowheads="1"/>
          </p:cNvSpPr>
          <p:nvPr/>
        </p:nvSpPr>
        <p:spPr bwMode="auto">
          <a:xfrm>
            <a:off x="177660" y="1071503"/>
            <a:ext cx="8799513" cy="1235075"/>
          </a:xfrm>
          <a:prstGeom prst="rect">
            <a:avLst/>
          </a:prstGeom>
          <a:solidFill>
            <a:srgbClr val="D4E6F4"/>
          </a:solidFill>
          <a:ln>
            <a:noFill/>
          </a:ln>
        </p:spPr>
        <p:txBody>
          <a:bodyPr anchor="ctr"/>
          <a:lstStyle>
            <a:lvl1pPr marL="342900" indent="-3429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FF0000"/>
              </a:buClr>
              <a:buSzTx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栈是运算受限的单链表，只能在链表头部进行操作，故没有必要附加头结点。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栈顶指针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就是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链表的头指针。</a:t>
            </a:r>
          </a:p>
        </p:txBody>
      </p:sp>
      <p:sp>
        <p:nvSpPr>
          <p:cNvPr id="49157" name="Rectangle 37"/>
          <p:cNvSpPr>
            <a:spLocks noChangeArrowheads="1"/>
          </p:cNvSpPr>
          <p:nvPr/>
        </p:nvSpPr>
        <p:spPr bwMode="auto">
          <a:xfrm>
            <a:off x="209550" y="2728913"/>
            <a:ext cx="4621213" cy="373538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8100">
            <a:noFill/>
            <a:miter lim="800000"/>
          </a:ln>
        </p:spPr>
        <p:txBody>
          <a:bodyPr>
            <a:spAutoFit/>
          </a:bodyPr>
          <a:lstStyle>
            <a:lvl1pPr marL="342900" indent="-3429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typedef  struct </a:t>
            </a:r>
            <a:r>
              <a:rPr kumimoji="0" lang="en-US" altLang="zh-CN" sz="28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StackNode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{</a:t>
            </a:r>
          </a:p>
          <a:p>
            <a:pPr marL="342900" marR="0" lvl="0" indent="-342900" algn="l" defTabSz="914400" rtl="0" eaLnBrk="0" fontAlgn="base" latinLnBrk="0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     </a:t>
            </a:r>
            <a:r>
              <a:rPr kumimoji="0" lang="en-US" altLang="zh-CN" sz="28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SElemType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 data;</a:t>
            </a:r>
          </a:p>
          <a:p>
            <a:pPr marL="342900" marR="0" lvl="0" indent="-342900" algn="l" defTabSz="914400" rtl="0" eaLnBrk="0" fontAlgn="base" latinLnBrk="0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     struct </a:t>
            </a:r>
            <a:r>
              <a:rPr kumimoji="0" lang="en-US" altLang="zh-CN" sz="28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StackNode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*next;</a:t>
            </a:r>
          </a:p>
          <a:p>
            <a:pPr marL="342900" marR="0" lvl="0" indent="-342900" algn="l" defTabSz="914400" rtl="0" eaLnBrk="0" fontAlgn="base" latinLnBrk="0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} </a:t>
            </a:r>
            <a:r>
              <a:rPr kumimoji="0" lang="en-US" altLang="zh-CN" sz="28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StackNode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,  *</a:t>
            </a:r>
            <a:r>
              <a:rPr kumimoji="0" lang="en-US" altLang="zh-CN" sz="28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LinkStack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;</a:t>
            </a:r>
          </a:p>
          <a:p>
            <a:pPr marL="342900" marR="0" lvl="0" indent="-342900" algn="l" defTabSz="914400" rtl="0" eaLnBrk="0" fontAlgn="base" latinLnBrk="0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LinkStack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S;   </a:t>
            </a:r>
          </a:p>
          <a:p>
            <a:pPr marL="342900" marR="0" lvl="0" indent="-342900" algn="l" defTabSz="914400" rtl="0" eaLnBrk="0" fontAlgn="base" latinLnBrk="0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grpSp>
        <p:nvGrpSpPr>
          <p:cNvPr id="2" name="Group 38"/>
          <p:cNvGrpSpPr/>
          <p:nvPr/>
        </p:nvGrpSpPr>
        <p:grpSpPr>
          <a:xfrm>
            <a:off x="5148263" y="2852738"/>
            <a:ext cx="3810000" cy="3314700"/>
            <a:chOff x="3792" y="864"/>
            <a:chExt cx="2400" cy="1564"/>
          </a:xfrm>
        </p:grpSpPr>
        <p:sp>
          <p:nvSpPr>
            <p:cNvPr id="49159" name="Rectangle 39"/>
            <p:cNvSpPr>
              <a:spLocks noChangeArrowheads="1"/>
            </p:cNvSpPr>
            <p:nvPr/>
          </p:nvSpPr>
          <p:spPr bwMode="auto">
            <a:xfrm>
              <a:off x="4512" y="1132"/>
              <a:ext cx="768" cy="192"/>
            </a:xfrm>
            <a:prstGeom prst="rect">
              <a:avLst/>
            </a:prstGeom>
            <a:solidFill>
              <a:srgbClr val="FFFFFF"/>
            </a:solidFill>
            <a:ln w="38100">
              <a:solidFill>
                <a:srgbClr val="000000"/>
              </a:solidFill>
              <a:miter lim="800000"/>
            </a:ln>
          </p:spPr>
          <p:txBody>
            <a:bodyPr wrap="none" anchor="ctr"/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49160" name="Line 40"/>
            <p:cNvSpPr>
              <a:spLocks noChangeShapeType="1"/>
            </p:cNvSpPr>
            <p:nvPr/>
          </p:nvSpPr>
          <p:spPr bwMode="auto">
            <a:xfrm>
              <a:off x="4896" y="1132"/>
              <a:ext cx="0" cy="192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49161" name="Text Box 41"/>
            <p:cNvSpPr txBox="1">
              <a:spLocks noChangeArrowheads="1"/>
            </p:cNvSpPr>
            <p:nvPr/>
          </p:nvSpPr>
          <p:spPr bwMode="auto">
            <a:xfrm>
              <a:off x="4464" y="864"/>
              <a:ext cx="816" cy="1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zh-CN" sz="16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 </a:t>
              </a:r>
              <a:r>
                <a:rPr kumimoji="0" lang="en-US" altLang="zh-CN" sz="16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data   next</a:t>
              </a:r>
            </a:p>
          </p:txBody>
        </p:sp>
        <p:sp>
          <p:nvSpPr>
            <p:cNvPr id="49162" name="Text Box 42"/>
            <p:cNvSpPr txBox="1">
              <a:spLocks noChangeArrowheads="1"/>
            </p:cNvSpPr>
            <p:nvPr/>
          </p:nvSpPr>
          <p:spPr bwMode="auto">
            <a:xfrm>
              <a:off x="5328" y="1112"/>
              <a:ext cx="816" cy="1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zh-CN" sz="16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 栈顶</a:t>
              </a:r>
              <a:endParaRPr kumimoji="0" lang="zh-CN" altLang="en-US" sz="16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49163" name="Text Box 43"/>
            <p:cNvSpPr txBox="1">
              <a:spLocks noChangeArrowheads="1"/>
            </p:cNvSpPr>
            <p:nvPr/>
          </p:nvSpPr>
          <p:spPr bwMode="auto">
            <a:xfrm>
              <a:off x="5376" y="2236"/>
              <a:ext cx="816" cy="1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zh-CN" sz="16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栈底</a:t>
              </a:r>
              <a:endParaRPr kumimoji="0" lang="zh-CN" altLang="en-US" sz="16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49164" name="Rectangle 44"/>
            <p:cNvSpPr>
              <a:spLocks noChangeArrowheads="1"/>
            </p:cNvSpPr>
            <p:nvPr/>
          </p:nvSpPr>
          <p:spPr bwMode="auto">
            <a:xfrm>
              <a:off x="4512" y="1516"/>
              <a:ext cx="768" cy="193"/>
            </a:xfrm>
            <a:prstGeom prst="rect">
              <a:avLst/>
            </a:prstGeom>
            <a:solidFill>
              <a:srgbClr val="FFFFFF"/>
            </a:solidFill>
            <a:ln w="38100">
              <a:solidFill>
                <a:srgbClr val="000000"/>
              </a:solidFill>
              <a:miter lim="800000"/>
            </a:ln>
          </p:spPr>
          <p:txBody>
            <a:bodyPr wrap="none" anchor="ctr"/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49165" name="Line 45"/>
            <p:cNvSpPr>
              <a:spLocks noChangeShapeType="1"/>
            </p:cNvSpPr>
            <p:nvPr/>
          </p:nvSpPr>
          <p:spPr bwMode="auto">
            <a:xfrm>
              <a:off x="4896" y="1516"/>
              <a:ext cx="0" cy="193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49166" name="Rectangle 46"/>
            <p:cNvSpPr>
              <a:spLocks noChangeArrowheads="1"/>
            </p:cNvSpPr>
            <p:nvPr/>
          </p:nvSpPr>
          <p:spPr bwMode="auto">
            <a:xfrm>
              <a:off x="4512" y="2236"/>
              <a:ext cx="768" cy="192"/>
            </a:xfrm>
            <a:prstGeom prst="rect">
              <a:avLst/>
            </a:prstGeom>
            <a:solidFill>
              <a:srgbClr val="FFFFFF"/>
            </a:solidFill>
            <a:ln w="38100">
              <a:solidFill>
                <a:srgbClr val="000000"/>
              </a:solidFill>
              <a:miter lim="800000"/>
            </a:ln>
          </p:spPr>
          <p:txBody>
            <a:bodyPr wrap="none" anchor="ctr"/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49167" name="Line 47"/>
            <p:cNvSpPr>
              <a:spLocks noChangeShapeType="1"/>
            </p:cNvSpPr>
            <p:nvPr/>
          </p:nvSpPr>
          <p:spPr bwMode="auto">
            <a:xfrm>
              <a:off x="4896" y="2236"/>
              <a:ext cx="0" cy="192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49168" name="Line 48"/>
            <p:cNvSpPr>
              <a:spLocks noChangeShapeType="1"/>
            </p:cNvSpPr>
            <p:nvPr/>
          </p:nvSpPr>
          <p:spPr bwMode="auto">
            <a:xfrm>
              <a:off x="5088" y="1346"/>
              <a:ext cx="0" cy="163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49169" name="Line 49"/>
            <p:cNvSpPr>
              <a:spLocks noChangeShapeType="1"/>
            </p:cNvSpPr>
            <p:nvPr/>
          </p:nvSpPr>
          <p:spPr bwMode="auto">
            <a:xfrm>
              <a:off x="5088" y="1728"/>
              <a:ext cx="0" cy="24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49170" name="Line 50"/>
            <p:cNvSpPr>
              <a:spLocks noChangeShapeType="1"/>
            </p:cNvSpPr>
            <p:nvPr/>
          </p:nvSpPr>
          <p:spPr bwMode="auto">
            <a:xfrm>
              <a:off x="5088" y="2016"/>
              <a:ext cx="0" cy="192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prstDash val="sysDot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49171" name="Text Box 51"/>
            <p:cNvSpPr txBox="1">
              <a:spLocks noChangeArrowheads="1"/>
            </p:cNvSpPr>
            <p:nvPr/>
          </p:nvSpPr>
          <p:spPr bwMode="auto">
            <a:xfrm>
              <a:off x="4944" y="2255"/>
              <a:ext cx="288" cy="1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16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∧</a:t>
              </a:r>
            </a:p>
          </p:txBody>
        </p:sp>
        <p:sp>
          <p:nvSpPr>
            <p:cNvPr id="49172" name="Line 52"/>
            <p:cNvSpPr>
              <a:spLocks noChangeShapeType="1"/>
            </p:cNvSpPr>
            <p:nvPr/>
          </p:nvSpPr>
          <p:spPr bwMode="auto">
            <a:xfrm>
              <a:off x="4032" y="1248"/>
              <a:ext cx="480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49173" name="Text Box 53"/>
            <p:cNvSpPr txBox="1">
              <a:spLocks noChangeArrowheads="1"/>
            </p:cNvSpPr>
            <p:nvPr/>
          </p:nvSpPr>
          <p:spPr bwMode="auto">
            <a:xfrm>
              <a:off x="3792" y="1152"/>
              <a:ext cx="288" cy="1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16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S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矩形 3"/>
          <p:cNvSpPr>
            <a:spLocks noChangeArrowheads="1"/>
          </p:cNvSpPr>
          <p:nvPr/>
        </p:nvSpPr>
        <p:spPr bwMode="auto">
          <a:xfrm>
            <a:off x="-3175" y="2872344"/>
            <a:ext cx="9144000" cy="2665413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txBody>
          <a:bodyPr/>
          <a:lstStyle>
            <a:lvl1pPr marL="342900" indent="-342900">
              <a:lnSpc>
                <a:spcPct val="130000"/>
              </a:lnSpc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50180" name="Rectangle 37"/>
          <p:cNvSpPr>
            <a:spLocks noChangeArrowheads="1"/>
          </p:cNvSpPr>
          <p:nvPr/>
        </p:nvSpPr>
        <p:spPr bwMode="auto">
          <a:xfrm>
            <a:off x="534988" y="3154363"/>
            <a:ext cx="7925444" cy="2074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void </a:t>
            </a:r>
            <a:r>
              <a:rPr kumimoji="0" lang="en-US" altLang="zh-CN" sz="28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InitStack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(</a:t>
            </a:r>
            <a:r>
              <a:rPr kumimoji="0" lang="en-US" altLang="zh-CN" sz="28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LinkStack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&amp;S) {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sz="2800" b="0" dirty="0">
                <a:latin typeface="+mn-lt"/>
                <a:ea typeface="+mn-ea"/>
                <a:cs typeface="+mn-ea"/>
                <a:sym typeface="+mn-lt"/>
              </a:rPr>
              <a:t>   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S=NULL;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}</a:t>
            </a:r>
          </a:p>
        </p:txBody>
      </p:sp>
      <p:grpSp>
        <p:nvGrpSpPr>
          <p:cNvPr id="2" name="Group 38"/>
          <p:cNvGrpSpPr/>
          <p:nvPr/>
        </p:nvGrpSpPr>
        <p:grpSpPr>
          <a:xfrm>
            <a:off x="830263" y="1779588"/>
            <a:ext cx="2867025" cy="531812"/>
            <a:chOff x="705" y="3388"/>
            <a:chExt cx="1023" cy="248"/>
          </a:xfrm>
        </p:grpSpPr>
        <p:sp>
          <p:nvSpPr>
            <p:cNvPr id="50182" name="Text Box 39"/>
            <p:cNvSpPr txBox="1">
              <a:spLocks noChangeArrowheads="1"/>
            </p:cNvSpPr>
            <p:nvPr/>
          </p:nvSpPr>
          <p:spPr bwMode="auto">
            <a:xfrm>
              <a:off x="1440" y="3388"/>
              <a:ext cx="288" cy="245"/>
            </a:xfrm>
            <a:prstGeom prst="rect">
              <a:avLst/>
            </a:prstGeom>
            <a:solidFill>
              <a:srgbClr val="D4E6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28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∧</a:t>
              </a:r>
            </a:p>
          </p:txBody>
        </p:sp>
        <p:sp>
          <p:nvSpPr>
            <p:cNvPr id="50183" name="Line 40"/>
            <p:cNvSpPr>
              <a:spLocks noChangeShapeType="1"/>
            </p:cNvSpPr>
            <p:nvPr/>
          </p:nvSpPr>
          <p:spPr bwMode="auto">
            <a:xfrm>
              <a:off x="1023" y="3528"/>
              <a:ext cx="389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50184" name="Text Box 41"/>
            <p:cNvSpPr txBox="1">
              <a:spLocks noChangeArrowheads="1"/>
            </p:cNvSpPr>
            <p:nvPr/>
          </p:nvSpPr>
          <p:spPr bwMode="auto">
            <a:xfrm>
              <a:off x="705" y="3391"/>
              <a:ext cx="288" cy="245"/>
            </a:xfrm>
            <a:prstGeom prst="rect">
              <a:avLst/>
            </a:prstGeom>
            <a:solidFill>
              <a:srgbClr val="D4E6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2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S</a:t>
              </a:r>
            </a:p>
          </p:txBody>
        </p:sp>
      </p:grpSp>
      <p:sp>
        <p:nvSpPr>
          <p:cNvPr id="56325" name="标题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链栈的初始化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矩形 6"/>
          <p:cNvSpPr>
            <a:spLocks noChangeArrowheads="1"/>
          </p:cNvSpPr>
          <p:nvPr/>
        </p:nvSpPr>
        <p:spPr bwMode="auto">
          <a:xfrm>
            <a:off x="-3175" y="1989138"/>
            <a:ext cx="9144000" cy="2952750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txBody>
          <a:bodyPr/>
          <a:lstStyle>
            <a:lvl1pPr marL="342900" indent="-342900">
              <a:lnSpc>
                <a:spcPct val="130000"/>
              </a:lnSpc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57347" name="标题 1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判断链栈是否为空</a:t>
            </a:r>
          </a:p>
        </p:txBody>
      </p:sp>
      <p:sp>
        <p:nvSpPr>
          <p:cNvPr id="51204" name="Rectangle 5"/>
          <p:cNvSpPr>
            <a:spLocks noChangeArrowheads="1"/>
          </p:cNvSpPr>
          <p:nvPr/>
        </p:nvSpPr>
        <p:spPr bwMode="auto">
          <a:xfrm>
            <a:off x="611560" y="2005162"/>
            <a:ext cx="7632700" cy="2600199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marL="342900" indent="-3429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bool </a:t>
            </a:r>
            <a:r>
              <a:rPr kumimoji="0" lang="en-US" altLang="zh-CN" sz="28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StackEmpty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(</a:t>
            </a:r>
            <a:r>
              <a:rPr kumimoji="0" lang="en-US" altLang="zh-CN" sz="28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LinkStack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S) {</a:t>
            </a:r>
            <a:b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</a:b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   if (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S==NULL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) return TRUE;</a:t>
            </a:r>
            <a:b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</a:b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   else return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FALSE;</a:t>
            </a:r>
            <a:b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</a:b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}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442" name="Group 6"/>
          <p:cNvGrpSpPr/>
          <p:nvPr/>
        </p:nvGrpSpPr>
        <p:grpSpPr>
          <a:xfrm>
            <a:off x="4716785" y="1172491"/>
            <a:ext cx="4103688" cy="2286000"/>
            <a:chOff x="2647" y="1990"/>
            <a:chExt cx="2585" cy="1440"/>
          </a:xfrm>
        </p:grpSpPr>
        <p:sp>
          <p:nvSpPr>
            <p:cNvPr id="53253" name="Rectangle 7"/>
            <p:cNvSpPr>
              <a:spLocks noChangeArrowheads="1"/>
            </p:cNvSpPr>
            <p:nvPr/>
          </p:nvSpPr>
          <p:spPr bwMode="auto">
            <a:xfrm>
              <a:off x="3120" y="2066"/>
              <a:ext cx="768" cy="192"/>
            </a:xfrm>
            <a:prstGeom prst="rect">
              <a:avLst/>
            </a:prstGeom>
            <a:solidFill>
              <a:srgbClr val="FFFFFF"/>
            </a:solidFill>
            <a:ln w="38100">
              <a:solidFill>
                <a:srgbClr val="000000"/>
              </a:solidFill>
              <a:miter lim="800000"/>
            </a:ln>
          </p:spPr>
          <p:txBody>
            <a:bodyPr wrap="none" anchor="ctr"/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53254" name="Line 8"/>
            <p:cNvSpPr>
              <a:spLocks noChangeShapeType="1"/>
            </p:cNvSpPr>
            <p:nvPr/>
          </p:nvSpPr>
          <p:spPr bwMode="auto">
            <a:xfrm>
              <a:off x="3504" y="2066"/>
              <a:ext cx="0" cy="192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53255" name="Line 9"/>
            <p:cNvSpPr>
              <a:spLocks noChangeShapeType="1"/>
            </p:cNvSpPr>
            <p:nvPr/>
          </p:nvSpPr>
          <p:spPr bwMode="auto">
            <a:xfrm>
              <a:off x="2880" y="2163"/>
              <a:ext cx="240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53256" name="Text Box 10"/>
            <p:cNvSpPr txBox="1">
              <a:spLocks noChangeArrowheads="1"/>
            </p:cNvSpPr>
            <p:nvPr/>
          </p:nvSpPr>
          <p:spPr bwMode="auto">
            <a:xfrm>
              <a:off x="2647" y="2005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p</a:t>
              </a:r>
            </a:p>
          </p:txBody>
        </p:sp>
        <p:sp>
          <p:nvSpPr>
            <p:cNvPr id="53257" name="Rectangle 11"/>
            <p:cNvSpPr>
              <a:spLocks noChangeArrowheads="1"/>
            </p:cNvSpPr>
            <p:nvPr/>
          </p:nvSpPr>
          <p:spPr bwMode="auto">
            <a:xfrm>
              <a:off x="4464" y="2066"/>
              <a:ext cx="768" cy="192"/>
            </a:xfrm>
            <a:prstGeom prst="rect">
              <a:avLst/>
            </a:prstGeom>
            <a:solidFill>
              <a:srgbClr val="FFFFFF"/>
            </a:solidFill>
            <a:ln w="38100">
              <a:solidFill>
                <a:srgbClr val="000000"/>
              </a:solidFill>
              <a:miter lim="800000"/>
            </a:ln>
          </p:spPr>
          <p:txBody>
            <a:bodyPr wrap="none" anchor="ctr"/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53258" name="Line 12"/>
            <p:cNvSpPr>
              <a:spLocks noChangeShapeType="1"/>
            </p:cNvSpPr>
            <p:nvPr/>
          </p:nvSpPr>
          <p:spPr bwMode="auto">
            <a:xfrm>
              <a:off x="4848" y="2066"/>
              <a:ext cx="0" cy="192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53259" name="Rectangle 13"/>
            <p:cNvSpPr>
              <a:spLocks noChangeArrowheads="1"/>
            </p:cNvSpPr>
            <p:nvPr/>
          </p:nvSpPr>
          <p:spPr bwMode="auto">
            <a:xfrm>
              <a:off x="4464" y="2450"/>
              <a:ext cx="768" cy="192"/>
            </a:xfrm>
            <a:prstGeom prst="rect">
              <a:avLst/>
            </a:prstGeom>
            <a:solidFill>
              <a:srgbClr val="FFFFFF"/>
            </a:solidFill>
            <a:ln w="38100">
              <a:solidFill>
                <a:srgbClr val="000000"/>
              </a:solidFill>
              <a:miter lim="800000"/>
            </a:ln>
          </p:spPr>
          <p:txBody>
            <a:bodyPr wrap="none" anchor="ctr"/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53260" name="Line 14"/>
            <p:cNvSpPr>
              <a:spLocks noChangeShapeType="1"/>
            </p:cNvSpPr>
            <p:nvPr/>
          </p:nvSpPr>
          <p:spPr bwMode="auto">
            <a:xfrm>
              <a:off x="4848" y="2450"/>
              <a:ext cx="0" cy="192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53261" name="Rectangle 15"/>
            <p:cNvSpPr>
              <a:spLocks noChangeArrowheads="1"/>
            </p:cNvSpPr>
            <p:nvPr/>
          </p:nvSpPr>
          <p:spPr bwMode="auto">
            <a:xfrm>
              <a:off x="4464" y="3170"/>
              <a:ext cx="768" cy="192"/>
            </a:xfrm>
            <a:prstGeom prst="rect">
              <a:avLst/>
            </a:prstGeom>
            <a:solidFill>
              <a:srgbClr val="FFFFFF"/>
            </a:solidFill>
            <a:ln w="38100">
              <a:solidFill>
                <a:srgbClr val="000000"/>
              </a:solidFill>
              <a:miter lim="800000"/>
            </a:ln>
          </p:spPr>
          <p:txBody>
            <a:bodyPr wrap="none" anchor="ctr"/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53262" name="Line 16"/>
            <p:cNvSpPr>
              <a:spLocks noChangeShapeType="1"/>
            </p:cNvSpPr>
            <p:nvPr/>
          </p:nvSpPr>
          <p:spPr bwMode="auto">
            <a:xfrm>
              <a:off x="4848" y="3170"/>
              <a:ext cx="0" cy="192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53263" name="Line 17"/>
            <p:cNvSpPr>
              <a:spLocks noChangeShapeType="1"/>
            </p:cNvSpPr>
            <p:nvPr/>
          </p:nvSpPr>
          <p:spPr bwMode="auto">
            <a:xfrm>
              <a:off x="5040" y="2230"/>
              <a:ext cx="0" cy="24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53264" name="Line 18"/>
            <p:cNvSpPr>
              <a:spLocks noChangeShapeType="1"/>
            </p:cNvSpPr>
            <p:nvPr/>
          </p:nvSpPr>
          <p:spPr bwMode="auto">
            <a:xfrm>
              <a:off x="5040" y="2662"/>
              <a:ext cx="0" cy="24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53265" name="Line 19"/>
            <p:cNvSpPr>
              <a:spLocks noChangeShapeType="1"/>
            </p:cNvSpPr>
            <p:nvPr/>
          </p:nvSpPr>
          <p:spPr bwMode="auto">
            <a:xfrm>
              <a:off x="5040" y="2950"/>
              <a:ext cx="0" cy="192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prstDash val="sysDot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53266" name="Text Box 20"/>
            <p:cNvSpPr txBox="1">
              <a:spLocks noChangeArrowheads="1"/>
            </p:cNvSpPr>
            <p:nvPr/>
          </p:nvSpPr>
          <p:spPr bwMode="auto">
            <a:xfrm>
              <a:off x="4896" y="3142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∧</a:t>
              </a:r>
            </a:p>
          </p:txBody>
        </p:sp>
        <p:sp>
          <p:nvSpPr>
            <p:cNvPr id="53267" name="Line 21"/>
            <p:cNvSpPr>
              <a:spLocks noChangeShapeType="1"/>
            </p:cNvSpPr>
            <p:nvPr/>
          </p:nvSpPr>
          <p:spPr bwMode="auto">
            <a:xfrm>
              <a:off x="4224" y="2136"/>
              <a:ext cx="240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53268" name="Text Box 22"/>
            <p:cNvSpPr txBox="1">
              <a:spLocks noChangeArrowheads="1"/>
            </p:cNvSpPr>
            <p:nvPr/>
          </p:nvSpPr>
          <p:spPr bwMode="auto">
            <a:xfrm>
              <a:off x="4007" y="1990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S</a:t>
              </a:r>
            </a:p>
          </p:txBody>
        </p:sp>
      </p:grpSp>
      <p:sp>
        <p:nvSpPr>
          <p:cNvPr id="53269" name="Text Box 23"/>
          <p:cNvSpPr txBox="1">
            <a:spLocks noChangeArrowheads="1"/>
          </p:cNvSpPr>
          <p:nvPr/>
        </p:nvSpPr>
        <p:spPr bwMode="auto">
          <a:xfrm flipH="1">
            <a:off x="5543871" y="1182353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e</a:t>
            </a:r>
          </a:p>
        </p:txBody>
      </p:sp>
      <p:sp>
        <p:nvSpPr>
          <p:cNvPr id="59397" name="标题 1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链栈进栈</a:t>
            </a:r>
          </a:p>
        </p:txBody>
      </p:sp>
      <p:sp>
        <p:nvSpPr>
          <p:cNvPr id="22" name="Rectangle 125">
            <a:extLst>
              <a:ext uri="{FF2B5EF4-FFF2-40B4-BE49-F238E27FC236}">
                <a16:creationId xmlns:a16="http://schemas.microsoft.com/office/drawing/2014/main" id="{3BC5D351-DC25-453D-AA45-29EBADFDF6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528" y="2259013"/>
            <a:ext cx="6552726" cy="4539191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txBody>
          <a:bodyPr wrap="square">
            <a:spAutoFit/>
          </a:bodyPr>
          <a:lstStyle>
            <a:lvl1pPr marL="342900" indent="-3429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Status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Push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(</a:t>
            </a:r>
            <a:r>
              <a:rPr kumimoji="0" lang="en-US" altLang="zh-CN" sz="28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LinkStack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&amp;S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, </a:t>
            </a:r>
            <a:r>
              <a:rPr kumimoji="0" lang="en-US" altLang="zh-CN" sz="28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SElemType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e) {</a:t>
            </a:r>
            <a:b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</a:br>
            <a:r>
              <a:rPr lang="en-US" altLang="zh-CN" sz="2800" b="0" dirty="0">
                <a:solidFill>
                  <a:srgbClr val="000000"/>
                </a:solidFill>
                <a:latin typeface="+mn-lt"/>
                <a:ea typeface="+mn-ea"/>
                <a:cs typeface="+mn-ea"/>
                <a:sym typeface="+mn-lt"/>
              </a:rPr>
              <a:t>   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p = new </a:t>
            </a:r>
            <a:r>
              <a:rPr kumimoji="0" lang="en-US" altLang="zh-CN" sz="28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StackNode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;     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// 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生成新结点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p </a:t>
            </a:r>
            <a:b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</a:b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   if (!p) exit(OVERFLOW);</a:t>
            </a:r>
            <a:b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</a:b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  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p-&gt;data = e;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sz="2800" b="0" dirty="0">
                <a:latin typeface="+mn-lt"/>
                <a:ea typeface="+mn-ea"/>
                <a:cs typeface="+mn-ea"/>
                <a:sym typeface="+mn-lt"/>
              </a:rPr>
              <a:t>   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return OK;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}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标题 1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链栈进栈</a:t>
            </a: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561D419E-352E-4EDC-B534-BC8F43A9AD37}"/>
              </a:ext>
            </a:extLst>
          </p:cNvPr>
          <p:cNvGrpSpPr/>
          <p:nvPr/>
        </p:nvGrpSpPr>
        <p:grpSpPr>
          <a:xfrm>
            <a:off x="4791772" y="1161853"/>
            <a:ext cx="4038600" cy="2286000"/>
            <a:chOff x="4110038" y="1636713"/>
            <a:chExt cx="4038600" cy="2286000"/>
          </a:xfrm>
        </p:grpSpPr>
        <p:grpSp>
          <p:nvGrpSpPr>
            <p:cNvPr id="62467" name="Group 6"/>
            <p:cNvGrpSpPr/>
            <p:nvPr/>
          </p:nvGrpSpPr>
          <p:grpSpPr>
            <a:xfrm>
              <a:off x="4110038" y="1636713"/>
              <a:ext cx="4038600" cy="2286000"/>
              <a:chOff x="2688" y="1990"/>
              <a:chExt cx="2544" cy="1440"/>
            </a:xfrm>
          </p:grpSpPr>
          <p:sp>
            <p:nvSpPr>
              <p:cNvPr id="54277" name="Rectangle 7"/>
              <p:cNvSpPr>
                <a:spLocks noChangeArrowheads="1"/>
              </p:cNvSpPr>
              <p:nvPr/>
            </p:nvSpPr>
            <p:spPr bwMode="auto">
              <a:xfrm>
                <a:off x="3120" y="2066"/>
                <a:ext cx="768" cy="192"/>
              </a:xfrm>
              <a:prstGeom prst="rect">
                <a:avLst/>
              </a:prstGeom>
              <a:solidFill>
                <a:srgbClr val="FFFFFF"/>
              </a:solidFill>
              <a:ln w="38100">
                <a:solidFill>
                  <a:srgbClr val="000000"/>
                </a:solidFill>
                <a:miter lim="800000"/>
              </a:ln>
            </p:spPr>
            <p:txBody>
              <a:bodyPr wrap="none" anchor="ctr"/>
              <a:lstStyle>
                <a:lvl1pPr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1pPr>
                <a:lvl2pPr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2pPr>
                <a:lvl3pPr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3pPr>
                <a:lvl4pPr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4pPr>
                <a:lvl5pPr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54278" name="Line 8"/>
              <p:cNvSpPr>
                <a:spLocks noChangeShapeType="1"/>
              </p:cNvSpPr>
              <p:nvPr/>
            </p:nvSpPr>
            <p:spPr bwMode="auto">
              <a:xfrm>
                <a:off x="3504" y="2066"/>
                <a:ext cx="0" cy="192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54279" name="Line 9"/>
              <p:cNvSpPr>
                <a:spLocks noChangeShapeType="1"/>
              </p:cNvSpPr>
              <p:nvPr/>
            </p:nvSpPr>
            <p:spPr bwMode="auto">
              <a:xfrm>
                <a:off x="2880" y="2182"/>
                <a:ext cx="240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54280" name="Text Box 10"/>
              <p:cNvSpPr txBox="1">
                <a:spLocks noChangeArrowheads="1"/>
              </p:cNvSpPr>
              <p:nvPr/>
            </p:nvSpPr>
            <p:spPr bwMode="auto">
              <a:xfrm>
                <a:off x="2688" y="2066"/>
                <a:ext cx="288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1pPr>
                <a:lvl2pPr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2pPr>
                <a:lvl3pPr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3pPr>
                <a:lvl4pPr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4pPr>
                <a:lvl5pPr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r>
                  <a:rPr kumimoji="0" lang="en-US" altLang="zh-CN" sz="2400" b="1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n-lt"/>
                    <a:ea typeface="+mn-ea"/>
                    <a:cs typeface="+mn-ea"/>
                    <a:sym typeface="+mn-lt"/>
                  </a:rPr>
                  <a:t>p</a:t>
                </a:r>
              </a:p>
            </p:txBody>
          </p:sp>
          <p:sp>
            <p:nvSpPr>
              <p:cNvPr id="54281" name="Rectangle 11"/>
              <p:cNvSpPr>
                <a:spLocks noChangeArrowheads="1"/>
              </p:cNvSpPr>
              <p:nvPr/>
            </p:nvSpPr>
            <p:spPr bwMode="auto">
              <a:xfrm>
                <a:off x="4464" y="2066"/>
                <a:ext cx="768" cy="192"/>
              </a:xfrm>
              <a:prstGeom prst="rect">
                <a:avLst/>
              </a:prstGeom>
              <a:solidFill>
                <a:srgbClr val="FFFFFF"/>
              </a:solidFill>
              <a:ln w="38100">
                <a:solidFill>
                  <a:srgbClr val="000000"/>
                </a:solidFill>
                <a:miter lim="800000"/>
              </a:ln>
            </p:spPr>
            <p:txBody>
              <a:bodyPr wrap="none" anchor="ctr"/>
              <a:lstStyle>
                <a:lvl1pPr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1pPr>
                <a:lvl2pPr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2pPr>
                <a:lvl3pPr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3pPr>
                <a:lvl4pPr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4pPr>
                <a:lvl5pPr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54282" name="Line 12"/>
              <p:cNvSpPr>
                <a:spLocks noChangeShapeType="1"/>
              </p:cNvSpPr>
              <p:nvPr/>
            </p:nvSpPr>
            <p:spPr bwMode="auto">
              <a:xfrm>
                <a:off x="4848" y="2066"/>
                <a:ext cx="0" cy="192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54283" name="Rectangle 13"/>
              <p:cNvSpPr>
                <a:spLocks noChangeArrowheads="1"/>
              </p:cNvSpPr>
              <p:nvPr/>
            </p:nvSpPr>
            <p:spPr bwMode="auto">
              <a:xfrm>
                <a:off x="4464" y="2450"/>
                <a:ext cx="768" cy="192"/>
              </a:xfrm>
              <a:prstGeom prst="rect">
                <a:avLst/>
              </a:prstGeom>
              <a:solidFill>
                <a:srgbClr val="FFFFFF"/>
              </a:solidFill>
              <a:ln w="38100">
                <a:solidFill>
                  <a:srgbClr val="000000"/>
                </a:solidFill>
                <a:miter lim="800000"/>
              </a:ln>
            </p:spPr>
            <p:txBody>
              <a:bodyPr wrap="none" anchor="ctr"/>
              <a:lstStyle>
                <a:lvl1pPr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1pPr>
                <a:lvl2pPr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2pPr>
                <a:lvl3pPr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3pPr>
                <a:lvl4pPr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4pPr>
                <a:lvl5pPr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54284" name="Line 14"/>
              <p:cNvSpPr>
                <a:spLocks noChangeShapeType="1"/>
              </p:cNvSpPr>
              <p:nvPr/>
            </p:nvSpPr>
            <p:spPr bwMode="auto">
              <a:xfrm>
                <a:off x="4848" y="2450"/>
                <a:ext cx="0" cy="192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54285" name="Rectangle 15"/>
              <p:cNvSpPr>
                <a:spLocks noChangeArrowheads="1"/>
              </p:cNvSpPr>
              <p:nvPr/>
            </p:nvSpPr>
            <p:spPr bwMode="auto">
              <a:xfrm>
                <a:off x="4464" y="3170"/>
                <a:ext cx="768" cy="192"/>
              </a:xfrm>
              <a:prstGeom prst="rect">
                <a:avLst/>
              </a:prstGeom>
              <a:solidFill>
                <a:srgbClr val="FFFFFF"/>
              </a:solidFill>
              <a:ln w="38100">
                <a:solidFill>
                  <a:srgbClr val="000000"/>
                </a:solidFill>
                <a:miter lim="800000"/>
              </a:ln>
            </p:spPr>
            <p:txBody>
              <a:bodyPr wrap="none" anchor="ctr"/>
              <a:lstStyle>
                <a:lvl1pPr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1pPr>
                <a:lvl2pPr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2pPr>
                <a:lvl3pPr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3pPr>
                <a:lvl4pPr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4pPr>
                <a:lvl5pPr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54286" name="Line 16"/>
              <p:cNvSpPr>
                <a:spLocks noChangeShapeType="1"/>
              </p:cNvSpPr>
              <p:nvPr/>
            </p:nvSpPr>
            <p:spPr bwMode="auto">
              <a:xfrm>
                <a:off x="4848" y="3170"/>
                <a:ext cx="0" cy="192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54287" name="Line 17"/>
              <p:cNvSpPr>
                <a:spLocks noChangeShapeType="1"/>
              </p:cNvSpPr>
              <p:nvPr/>
            </p:nvSpPr>
            <p:spPr bwMode="auto">
              <a:xfrm>
                <a:off x="5040" y="2230"/>
                <a:ext cx="0" cy="24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54288" name="Line 18"/>
              <p:cNvSpPr>
                <a:spLocks noChangeShapeType="1"/>
              </p:cNvSpPr>
              <p:nvPr/>
            </p:nvSpPr>
            <p:spPr bwMode="auto">
              <a:xfrm>
                <a:off x="5040" y="2662"/>
                <a:ext cx="0" cy="24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54289" name="Line 19"/>
              <p:cNvSpPr>
                <a:spLocks noChangeShapeType="1"/>
              </p:cNvSpPr>
              <p:nvPr/>
            </p:nvSpPr>
            <p:spPr bwMode="auto">
              <a:xfrm>
                <a:off x="5040" y="2950"/>
                <a:ext cx="0" cy="192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prstDash val="sysDot"/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54290" name="Text Box 20"/>
              <p:cNvSpPr txBox="1">
                <a:spLocks noChangeArrowheads="1"/>
              </p:cNvSpPr>
              <p:nvPr/>
            </p:nvSpPr>
            <p:spPr bwMode="auto">
              <a:xfrm>
                <a:off x="4896" y="3142"/>
                <a:ext cx="288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1pPr>
                <a:lvl2pPr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2pPr>
                <a:lvl3pPr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3pPr>
                <a:lvl4pPr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4pPr>
                <a:lvl5pPr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r>
                  <a:rPr kumimoji="0" lang="en-US" altLang="zh-CN" sz="2400" b="1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n-lt"/>
                    <a:ea typeface="+mn-ea"/>
                    <a:cs typeface="+mn-ea"/>
                    <a:sym typeface="+mn-lt"/>
                  </a:rPr>
                  <a:t>∧</a:t>
                </a:r>
              </a:p>
            </p:txBody>
          </p:sp>
          <p:sp>
            <p:nvSpPr>
              <p:cNvPr id="54291" name="Line 21"/>
              <p:cNvSpPr>
                <a:spLocks noChangeShapeType="1"/>
              </p:cNvSpPr>
              <p:nvPr/>
            </p:nvSpPr>
            <p:spPr bwMode="auto">
              <a:xfrm>
                <a:off x="4224" y="2106"/>
                <a:ext cx="240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54292" name="Text Box 22"/>
              <p:cNvSpPr txBox="1">
                <a:spLocks noChangeArrowheads="1"/>
              </p:cNvSpPr>
              <p:nvPr/>
            </p:nvSpPr>
            <p:spPr bwMode="auto">
              <a:xfrm>
                <a:off x="4032" y="1990"/>
                <a:ext cx="288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1pPr>
                <a:lvl2pPr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2pPr>
                <a:lvl3pPr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3pPr>
                <a:lvl4pPr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4pPr>
                <a:lvl5pPr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r>
                  <a:rPr kumimoji="0" lang="en-US" altLang="zh-CN" sz="2400" b="1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n-lt"/>
                    <a:ea typeface="+mn-ea"/>
                    <a:cs typeface="+mn-ea"/>
                    <a:sym typeface="+mn-lt"/>
                  </a:rPr>
                  <a:t>S</a:t>
                </a:r>
              </a:p>
            </p:txBody>
          </p:sp>
        </p:grpSp>
        <p:sp>
          <p:nvSpPr>
            <p:cNvPr id="54293" name="Line 23"/>
            <p:cNvSpPr>
              <a:spLocks noChangeShapeType="1"/>
            </p:cNvSpPr>
            <p:nvPr/>
          </p:nvSpPr>
          <p:spPr bwMode="auto">
            <a:xfrm>
              <a:off x="5862638" y="1941513"/>
              <a:ext cx="1066800" cy="7620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54294" name="Text Box 24"/>
            <p:cNvSpPr txBox="1">
              <a:spLocks noChangeArrowheads="1"/>
            </p:cNvSpPr>
            <p:nvPr/>
          </p:nvSpPr>
          <p:spPr bwMode="auto">
            <a:xfrm flipH="1">
              <a:off x="4872037" y="1636713"/>
              <a:ext cx="4572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e</a:t>
              </a:r>
            </a:p>
          </p:txBody>
        </p:sp>
      </p:grpSp>
      <p:sp>
        <p:nvSpPr>
          <p:cNvPr id="23" name="Rectangle 125">
            <a:extLst>
              <a:ext uri="{FF2B5EF4-FFF2-40B4-BE49-F238E27FC236}">
                <a16:creationId xmlns:a16="http://schemas.microsoft.com/office/drawing/2014/main" id="{524AAAD6-5913-4D68-8954-64C02331B2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528" y="2259013"/>
            <a:ext cx="6552726" cy="4539191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txBody>
          <a:bodyPr wrap="square">
            <a:spAutoFit/>
          </a:bodyPr>
          <a:lstStyle>
            <a:lvl1pPr marL="342900" indent="-3429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Status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Push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(</a:t>
            </a:r>
            <a:r>
              <a:rPr kumimoji="0" lang="en-US" altLang="zh-CN" sz="28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LinkStack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&amp;S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, </a:t>
            </a:r>
            <a:r>
              <a:rPr kumimoji="0" lang="en-US" altLang="zh-CN" sz="28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SElemType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e) {</a:t>
            </a:r>
            <a:b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</a:br>
            <a:r>
              <a:rPr lang="en-US" altLang="zh-CN" sz="2800" b="0" dirty="0">
                <a:solidFill>
                  <a:srgbClr val="000000"/>
                </a:solidFill>
                <a:latin typeface="+mn-lt"/>
                <a:ea typeface="+mn-ea"/>
                <a:cs typeface="+mn-ea"/>
                <a:sym typeface="+mn-lt"/>
              </a:rPr>
              <a:t>   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p = new </a:t>
            </a:r>
            <a:r>
              <a:rPr kumimoji="0" lang="en-US" altLang="zh-CN" sz="28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StackNode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;     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// 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生成新结点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p </a:t>
            </a:r>
            <a:b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</a:b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   if (!p) exit(OVERFLOW);</a:t>
            </a:r>
            <a:b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</a:b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   p-&gt;data = e;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sz="2800" b="0" dirty="0">
                <a:solidFill>
                  <a:srgbClr val="0000FF"/>
                </a:solidFill>
                <a:latin typeface="+mn-lt"/>
                <a:ea typeface="+mn-ea"/>
                <a:cs typeface="+mn-ea"/>
                <a:sym typeface="+mn-lt"/>
              </a:rPr>
              <a:t>  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p-&gt;next = S;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  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return OK;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}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550CB440-92AF-464D-835F-2EDE140FA265}"/>
              </a:ext>
            </a:extLst>
          </p:cNvPr>
          <p:cNvGrpSpPr/>
          <p:nvPr/>
        </p:nvGrpSpPr>
        <p:grpSpPr>
          <a:xfrm>
            <a:off x="4705672" y="978282"/>
            <a:ext cx="4114800" cy="2459450"/>
            <a:chOff x="4179888" y="1333088"/>
            <a:chExt cx="4114800" cy="2459450"/>
          </a:xfrm>
        </p:grpSpPr>
        <p:grpSp>
          <p:nvGrpSpPr>
            <p:cNvPr id="63490" name="Group 6"/>
            <p:cNvGrpSpPr/>
            <p:nvPr/>
          </p:nvGrpSpPr>
          <p:grpSpPr>
            <a:xfrm>
              <a:off x="4256088" y="1627188"/>
              <a:ext cx="4038600" cy="2165350"/>
              <a:chOff x="2688" y="2066"/>
              <a:chExt cx="2544" cy="1364"/>
            </a:xfrm>
          </p:grpSpPr>
          <p:sp>
            <p:nvSpPr>
              <p:cNvPr id="55301" name="Rectangle 7"/>
              <p:cNvSpPr>
                <a:spLocks noChangeArrowheads="1"/>
              </p:cNvSpPr>
              <p:nvPr/>
            </p:nvSpPr>
            <p:spPr bwMode="auto">
              <a:xfrm>
                <a:off x="3120" y="2066"/>
                <a:ext cx="768" cy="192"/>
              </a:xfrm>
              <a:prstGeom prst="rect">
                <a:avLst/>
              </a:prstGeom>
              <a:solidFill>
                <a:srgbClr val="FFFFFF"/>
              </a:solidFill>
              <a:ln w="38100">
                <a:solidFill>
                  <a:srgbClr val="000000"/>
                </a:solidFill>
                <a:miter lim="800000"/>
              </a:ln>
            </p:spPr>
            <p:txBody>
              <a:bodyPr wrap="none" anchor="ctr"/>
              <a:lstStyle>
                <a:lvl1pPr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1pPr>
                <a:lvl2pPr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2pPr>
                <a:lvl3pPr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3pPr>
                <a:lvl4pPr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4pPr>
                <a:lvl5pPr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55302" name="Line 8"/>
              <p:cNvSpPr>
                <a:spLocks noChangeShapeType="1"/>
              </p:cNvSpPr>
              <p:nvPr/>
            </p:nvSpPr>
            <p:spPr bwMode="auto">
              <a:xfrm>
                <a:off x="3504" y="2066"/>
                <a:ext cx="0" cy="192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55303" name="Line 9"/>
              <p:cNvSpPr>
                <a:spLocks noChangeShapeType="1"/>
              </p:cNvSpPr>
              <p:nvPr/>
            </p:nvSpPr>
            <p:spPr bwMode="auto">
              <a:xfrm>
                <a:off x="2880" y="2182"/>
                <a:ext cx="240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55304" name="Text Box 10"/>
              <p:cNvSpPr txBox="1">
                <a:spLocks noChangeArrowheads="1"/>
              </p:cNvSpPr>
              <p:nvPr/>
            </p:nvSpPr>
            <p:spPr bwMode="auto">
              <a:xfrm>
                <a:off x="2688" y="2066"/>
                <a:ext cx="288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1pPr>
                <a:lvl2pPr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2pPr>
                <a:lvl3pPr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3pPr>
                <a:lvl4pPr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4pPr>
                <a:lvl5pPr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r>
                  <a:rPr kumimoji="0" lang="en-US" altLang="zh-CN" sz="2400" b="1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n-lt"/>
                    <a:ea typeface="+mn-ea"/>
                    <a:cs typeface="+mn-ea"/>
                    <a:sym typeface="+mn-lt"/>
                  </a:rPr>
                  <a:t>p</a:t>
                </a:r>
              </a:p>
            </p:txBody>
          </p:sp>
          <p:sp>
            <p:nvSpPr>
              <p:cNvPr id="55305" name="Rectangle 11"/>
              <p:cNvSpPr>
                <a:spLocks noChangeArrowheads="1"/>
              </p:cNvSpPr>
              <p:nvPr/>
            </p:nvSpPr>
            <p:spPr bwMode="auto">
              <a:xfrm>
                <a:off x="4464" y="2066"/>
                <a:ext cx="768" cy="192"/>
              </a:xfrm>
              <a:prstGeom prst="rect">
                <a:avLst/>
              </a:prstGeom>
              <a:solidFill>
                <a:srgbClr val="FFFFFF"/>
              </a:solidFill>
              <a:ln w="38100">
                <a:solidFill>
                  <a:srgbClr val="000000"/>
                </a:solidFill>
                <a:miter lim="800000"/>
              </a:ln>
            </p:spPr>
            <p:txBody>
              <a:bodyPr wrap="none" anchor="ctr"/>
              <a:lstStyle>
                <a:lvl1pPr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1pPr>
                <a:lvl2pPr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2pPr>
                <a:lvl3pPr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3pPr>
                <a:lvl4pPr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4pPr>
                <a:lvl5pPr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55306" name="Line 12"/>
              <p:cNvSpPr>
                <a:spLocks noChangeShapeType="1"/>
              </p:cNvSpPr>
              <p:nvPr/>
            </p:nvSpPr>
            <p:spPr bwMode="auto">
              <a:xfrm>
                <a:off x="4848" y="2066"/>
                <a:ext cx="0" cy="192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55307" name="Rectangle 13"/>
              <p:cNvSpPr>
                <a:spLocks noChangeArrowheads="1"/>
              </p:cNvSpPr>
              <p:nvPr/>
            </p:nvSpPr>
            <p:spPr bwMode="auto">
              <a:xfrm>
                <a:off x="4464" y="2450"/>
                <a:ext cx="768" cy="192"/>
              </a:xfrm>
              <a:prstGeom prst="rect">
                <a:avLst/>
              </a:prstGeom>
              <a:solidFill>
                <a:srgbClr val="FFFFFF"/>
              </a:solidFill>
              <a:ln w="38100">
                <a:solidFill>
                  <a:srgbClr val="000000"/>
                </a:solidFill>
                <a:miter lim="800000"/>
              </a:ln>
            </p:spPr>
            <p:txBody>
              <a:bodyPr wrap="none" anchor="ctr"/>
              <a:lstStyle>
                <a:lvl1pPr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1pPr>
                <a:lvl2pPr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2pPr>
                <a:lvl3pPr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3pPr>
                <a:lvl4pPr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4pPr>
                <a:lvl5pPr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55308" name="Line 14"/>
              <p:cNvSpPr>
                <a:spLocks noChangeShapeType="1"/>
              </p:cNvSpPr>
              <p:nvPr/>
            </p:nvSpPr>
            <p:spPr bwMode="auto">
              <a:xfrm>
                <a:off x="4848" y="2450"/>
                <a:ext cx="0" cy="192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55309" name="Rectangle 15"/>
              <p:cNvSpPr>
                <a:spLocks noChangeArrowheads="1"/>
              </p:cNvSpPr>
              <p:nvPr/>
            </p:nvSpPr>
            <p:spPr bwMode="auto">
              <a:xfrm>
                <a:off x="4464" y="3170"/>
                <a:ext cx="768" cy="192"/>
              </a:xfrm>
              <a:prstGeom prst="rect">
                <a:avLst/>
              </a:prstGeom>
              <a:solidFill>
                <a:srgbClr val="FFFFFF"/>
              </a:solidFill>
              <a:ln w="38100">
                <a:solidFill>
                  <a:srgbClr val="000000"/>
                </a:solidFill>
                <a:miter lim="800000"/>
              </a:ln>
            </p:spPr>
            <p:txBody>
              <a:bodyPr wrap="none" anchor="ctr"/>
              <a:lstStyle>
                <a:lvl1pPr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1pPr>
                <a:lvl2pPr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2pPr>
                <a:lvl3pPr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3pPr>
                <a:lvl4pPr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4pPr>
                <a:lvl5pPr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55310" name="Line 16"/>
              <p:cNvSpPr>
                <a:spLocks noChangeShapeType="1"/>
              </p:cNvSpPr>
              <p:nvPr/>
            </p:nvSpPr>
            <p:spPr bwMode="auto">
              <a:xfrm>
                <a:off x="4848" y="3170"/>
                <a:ext cx="0" cy="192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55311" name="Line 17"/>
              <p:cNvSpPr>
                <a:spLocks noChangeShapeType="1"/>
              </p:cNvSpPr>
              <p:nvPr/>
            </p:nvSpPr>
            <p:spPr bwMode="auto">
              <a:xfrm>
                <a:off x="5040" y="2230"/>
                <a:ext cx="0" cy="24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55312" name="Line 18"/>
              <p:cNvSpPr>
                <a:spLocks noChangeShapeType="1"/>
              </p:cNvSpPr>
              <p:nvPr/>
            </p:nvSpPr>
            <p:spPr bwMode="auto">
              <a:xfrm>
                <a:off x="5040" y="2662"/>
                <a:ext cx="0" cy="24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55313" name="Line 19"/>
              <p:cNvSpPr>
                <a:spLocks noChangeShapeType="1"/>
              </p:cNvSpPr>
              <p:nvPr/>
            </p:nvSpPr>
            <p:spPr bwMode="auto">
              <a:xfrm>
                <a:off x="5040" y="2950"/>
                <a:ext cx="0" cy="192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prstDash val="sysDot"/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55314" name="Text Box 20"/>
              <p:cNvSpPr txBox="1">
                <a:spLocks noChangeArrowheads="1"/>
              </p:cNvSpPr>
              <p:nvPr/>
            </p:nvSpPr>
            <p:spPr bwMode="auto">
              <a:xfrm>
                <a:off x="4896" y="3142"/>
                <a:ext cx="288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1pPr>
                <a:lvl2pPr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2pPr>
                <a:lvl3pPr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3pPr>
                <a:lvl4pPr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4pPr>
                <a:lvl5pPr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r>
                  <a:rPr kumimoji="0" lang="en-US" altLang="zh-CN" sz="2400" b="1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n-lt"/>
                    <a:ea typeface="+mn-ea"/>
                    <a:cs typeface="+mn-ea"/>
                    <a:sym typeface="+mn-lt"/>
                  </a:rPr>
                  <a:t>∧</a:t>
                </a:r>
              </a:p>
            </p:txBody>
          </p:sp>
        </p:grpSp>
        <p:sp>
          <p:nvSpPr>
            <p:cNvPr id="55317" name="Line 23"/>
            <p:cNvSpPr>
              <a:spLocks noChangeShapeType="1"/>
            </p:cNvSpPr>
            <p:nvPr/>
          </p:nvSpPr>
          <p:spPr bwMode="auto">
            <a:xfrm>
              <a:off x="6008688" y="1811338"/>
              <a:ext cx="1066800" cy="7620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55318" name="Text Box 24"/>
            <p:cNvSpPr txBox="1">
              <a:spLocks noChangeArrowheads="1"/>
            </p:cNvSpPr>
            <p:nvPr/>
          </p:nvSpPr>
          <p:spPr bwMode="auto">
            <a:xfrm flipH="1">
              <a:off x="5018088" y="1502073"/>
              <a:ext cx="45720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e</a:t>
              </a:r>
            </a:p>
          </p:txBody>
        </p:sp>
        <p:sp>
          <p:nvSpPr>
            <p:cNvPr id="55319" name="Line 26"/>
            <p:cNvSpPr>
              <a:spLocks noChangeShapeType="1"/>
            </p:cNvSpPr>
            <p:nvPr/>
          </p:nvSpPr>
          <p:spPr bwMode="auto">
            <a:xfrm>
              <a:off x="4560888" y="1619250"/>
              <a:ext cx="381000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55320" name="Text Box 27"/>
            <p:cNvSpPr txBox="1">
              <a:spLocks noChangeArrowheads="1"/>
            </p:cNvSpPr>
            <p:nvPr/>
          </p:nvSpPr>
          <p:spPr bwMode="auto">
            <a:xfrm>
              <a:off x="4179888" y="1333088"/>
              <a:ext cx="4572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S</a:t>
              </a:r>
            </a:p>
          </p:txBody>
        </p:sp>
      </p:grpSp>
      <p:sp>
        <p:nvSpPr>
          <p:cNvPr id="61448" name="标题 1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链栈进栈</a:t>
            </a:r>
          </a:p>
        </p:txBody>
      </p:sp>
      <p:sp>
        <p:nvSpPr>
          <p:cNvPr id="25" name="Rectangle 125">
            <a:extLst>
              <a:ext uri="{FF2B5EF4-FFF2-40B4-BE49-F238E27FC236}">
                <a16:creationId xmlns:a16="http://schemas.microsoft.com/office/drawing/2014/main" id="{E1D0E3CB-C174-47D9-9D26-D17E54EC7C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528" y="2259013"/>
            <a:ext cx="6552726" cy="4539191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txBody>
          <a:bodyPr wrap="square">
            <a:spAutoFit/>
          </a:bodyPr>
          <a:lstStyle>
            <a:lvl1pPr marL="342900" indent="-3429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Status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Push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(</a:t>
            </a:r>
            <a:r>
              <a:rPr kumimoji="0" lang="en-US" altLang="zh-CN" sz="28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LinkStack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&amp;S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, </a:t>
            </a:r>
            <a:r>
              <a:rPr kumimoji="0" lang="en-US" altLang="zh-CN" sz="28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SElemType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e) {</a:t>
            </a:r>
            <a:b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</a:br>
            <a:r>
              <a:rPr lang="en-US" altLang="zh-CN" sz="2800" b="0" dirty="0">
                <a:solidFill>
                  <a:srgbClr val="000000"/>
                </a:solidFill>
                <a:latin typeface="+mn-lt"/>
                <a:ea typeface="+mn-ea"/>
                <a:cs typeface="+mn-ea"/>
                <a:sym typeface="+mn-lt"/>
              </a:rPr>
              <a:t>   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p = new </a:t>
            </a:r>
            <a:r>
              <a:rPr kumimoji="0" lang="en-US" altLang="zh-CN" sz="28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StackNode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;     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// 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生成新结点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p </a:t>
            </a:r>
            <a:b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</a:b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   if (!p) exit(OVERFLOW);</a:t>
            </a:r>
            <a:b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</a:b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   p-&gt;data = e;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sz="2800" b="0" dirty="0">
                <a:latin typeface="+mn-lt"/>
                <a:ea typeface="+mn-ea"/>
                <a:cs typeface="+mn-ea"/>
                <a:sym typeface="+mn-lt"/>
              </a:rPr>
              <a:t>  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p-&gt;next = S;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S = p;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  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return OK;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}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标题 1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链栈出栈</a:t>
            </a:r>
          </a:p>
        </p:txBody>
      </p:sp>
      <p:grpSp>
        <p:nvGrpSpPr>
          <p:cNvPr id="64515" name="Group 59"/>
          <p:cNvGrpSpPr/>
          <p:nvPr/>
        </p:nvGrpSpPr>
        <p:grpSpPr>
          <a:xfrm>
            <a:off x="6711950" y="1224840"/>
            <a:ext cx="1905000" cy="2493962"/>
            <a:chOff x="1680" y="2878"/>
            <a:chExt cx="1200" cy="1355"/>
          </a:xfrm>
        </p:grpSpPr>
        <p:sp>
          <p:nvSpPr>
            <p:cNvPr id="56325" name="Rectangle 60"/>
            <p:cNvSpPr>
              <a:spLocks noChangeArrowheads="1"/>
            </p:cNvSpPr>
            <p:nvPr/>
          </p:nvSpPr>
          <p:spPr bwMode="auto">
            <a:xfrm>
              <a:off x="2112" y="2908"/>
              <a:ext cx="768" cy="191"/>
            </a:xfrm>
            <a:prstGeom prst="rect">
              <a:avLst/>
            </a:prstGeom>
            <a:solidFill>
              <a:srgbClr val="FFFFFF"/>
            </a:solidFill>
            <a:ln w="38100">
              <a:solidFill>
                <a:srgbClr val="000000"/>
              </a:solidFill>
              <a:miter lim="800000"/>
            </a:ln>
          </p:spPr>
          <p:txBody>
            <a:bodyPr wrap="none" anchor="ctr"/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56326" name="Line 61"/>
            <p:cNvSpPr>
              <a:spLocks noChangeShapeType="1"/>
            </p:cNvSpPr>
            <p:nvPr/>
          </p:nvSpPr>
          <p:spPr bwMode="auto">
            <a:xfrm>
              <a:off x="2496" y="2908"/>
              <a:ext cx="0" cy="191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56327" name="Rectangle 62"/>
            <p:cNvSpPr>
              <a:spLocks noChangeArrowheads="1"/>
            </p:cNvSpPr>
            <p:nvPr/>
          </p:nvSpPr>
          <p:spPr bwMode="auto">
            <a:xfrm>
              <a:off x="2112" y="3292"/>
              <a:ext cx="768" cy="192"/>
            </a:xfrm>
            <a:prstGeom prst="rect">
              <a:avLst/>
            </a:prstGeom>
            <a:solidFill>
              <a:srgbClr val="FFFFFF"/>
            </a:solidFill>
            <a:ln w="38100">
              <a:solidFill>
                <a:srgbClr val="000000"/>
              </a:solidFill>
              <a:miter lim="800000"/>
            </a:ln>
          </p:spPr>
          <p:txBody>
            <a:bodyPr wrap="none" anchor="ctr"/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56328" name="Line 63"/>
            <p:cNvSpPr>
              <a:spLocks noChangeShapeType="1"/>
            </p:cNvSpPr>
            <p:nvPr/>
          </p:nvSpPr>
          <p:spPr bwMode="auto">
            <a:xfrm>
              <a:off x="2496" y="3292"/>
              <a:ext cx="0" cy="192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56329" name="Rectangle 64"/>
            <p:cNvSpPr>
              <a:spLocks noChangeArrowheads="1"/>
            </p:cNvSpPr>
            <p:nvPr/>
          </p:nvSpPr>
          <p:spPr bwMode="auto">
            <a:xfrm>
              <a:off x="2112" y="4012"/>
              <a:ext cx="768" cy="191"/>
            </a:xfrm>
            <a:prstGeom prst="rect">
              <a:avLst/>
            </a:prstGeom>
            <a:solidFill>
              <a:srgbClr val="FFFFFF"/>
            </a:solidFill>
            <a:ln w="38100">
              <a:solidFill>
                <a:srgbClr val="000000"/>
              </a:solidFill>
              <a:miter lim="800000"/>
            </a:ln>
          </p:spPr>
          <p:txBody>
            <a:bodyPr wrap="none" anchor="ctr"/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56330" name="Line 65"/>
            <p:cNvSpPr>
              <a:spLocks noChangeShapeType="1"/>
            </p:cNvSpPr>
            <p:nvPr/>
          </p:nvSpPr>
          <p:spPr bwMode="auto">
            <a:xfrm>
              <a:off x="2496" y="4012"/>
              <a:ext cx="0" cy="191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56331" name="Line 66"/>
            <p:cNvSpPr>
              <a:spLocks noChangeShapeType="1"/>
            </p:cNvSpPr>
            <p:nvPr/>
          </p:nvSpPr>
          <p:spPr bwMode="auto">
            <a:xfrm>
              <a:off x="2688" y="3072"/>
              <a:ext cx="0" cy="24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56332" name="Line 67"/>
            <p:cNvSpPr>
              <a:spLocks noChangeShapeType="1"/>
            </p:cNvSpPr>
            <p:nvPr/>
          </p:nvSpPr>
          <p:spPr bwMode="auto">
            <a:xfrm>
              <a:off x="2688" y="3504"/>
              <a:ext cx="0" cy="24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56333" name="Line 68"/>
            <p:cNvSpPr>
              <a:spLocks noChangeShapeType="1"/>
            </p:cNvSpPr>
            <p:nvPr/>
          </p:nvSpPr>
          <p:spPr bwMode="auto">
            <a:xfrm>
              <a:off x="2688" y="3792"/>
              <a:ext cx="0" cy="191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prstDash val="sysDot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56334" name="Text Box 69"/>
            <p:cNvSpPr txBox="1">
              <a:spLocks noChangeArrowheads="1"/>
            </p:cNvSpPr>
            <p:nvPr/>
          </p:nvSpPr>
          <p:spPr bwMode="auto">
            <a:xfrm>
              <a:off x="2544" y="3984"/>
              <a:ext cx="288" cy="2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∧</a:t>
              </a:r>
            </a:p>
          </p:txBody>
        </p:sp>
        <p:sp>
          <p:nvSpPr>
            <p:cNvPr id="56335" name="Line 70"/>
            <p:cNvSpPr>
              <a:spLocks noChangeShapeType="1"/>
            </p:cNvSpPr>
            <p:nvPr/>
          </p:nvSpPr>
          <p:spPr bwMode="auto">
            <a:xfrm>
              <a:off x="1872" y="3024"/>
              <a:ext cx="240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56336" name="Text Box 71"/>
            <p:cNvSpPr txBox="1">
              <a:spLocks noChangeArrowheads="1"/>
            </p:cNvSpPr>
            <p:nvPr/>
          </p:nvSpPr>
          <p:spPr bwMode="auto">
            <a:xfrm>
              <a:off x="1680" y="2908"/>
              <a:ext cx="288" cy="2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S</a:t>
              </a:r>
            </a:p>
          </p:txBody>
        </p:sp>
        <p:sp>
          <p:nvSpPr>
            <p:cNvPr id="56337" name="Text Box 72"/>
            <p:cNvSpPr txBox="1">
              <a:spLocks noChangeArrowheads="1"/>
            </p:cNvSpPr>
            <p:nvPr/>
          </p:nvSpPr>
          <p:spPr bwMode="auto">
            <a:xfrm>
              <a:off x="2112" y="2878"/>
              <a:ext cx="288" cy="2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A</a:t>
              </a:r>
            </a:p>
          </p:txBody>
        </p:sp>
      </p:grpSp>
      <p:sp>
        <p:nvSpPr>
          <p:cNvPr id="56338" name="Text Box 73"/>
          <p:cNvSpPr txBox="1">
            <a:spLocks noChangeArrowheads="1"/>
          </p:cNvSpPr>
          <p:nvPr/>
        </p:nvSpPr>
        <p:spPr bwMode="auto">
          <a:xfrm flipH="1">
            <a:off x="5056854" y="996240"/>
            <a:ext cx="16002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e = ‘A’</a:t>
            </a:r>
          </a:p>
        </p:txBody>
      </p:sp>
      <p:sp>
        <p:nvSpPr>
          <p:cNvPr id="56339" name="Text Box 74"/>
          <p:cNvSpPr txBox="1">
            <a:spLocks noChangeArrowheads="1"/>
          </p:cNvSpPr>
          <p:nvPr/>
        </p:nvSpPr>
        <p:spPr bwMode="auto">
          <a:xfrm>
            <a:off x="319339" y="2169835"/>
            <a:ext cx="6697411" cy="4539191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txBody>
          <a:bodyPr wrap="squar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R="0" lvl="0" indent="0" algn="l" defTabSz="914400" rtl="0" eaLnBrk="0" fontAlgn="base" latinLnBrk="0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Status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Pop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(</a:t>
            </a:r>
            <a:r>
              <a:rPr kumimoji="0" lang="en-US" altLang="zh-CN" sz="28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LinkStack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&amp;S, </a:t>
            </a:r>
            <a:r>
              <a:rPr kumimoji="0" lang="en-US" altLang="zh-CN" sz="28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SElemType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&amp;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e) {</a:t>
            </a:r>
          </a:p>
          <a:p>
            <a:pPr marL="0" marR="0" lvl="1" indent="0" algn="l" defTabSz="914400" rtl="0" eaLnBrk="0" fontAlgn="base" latinLnBrk="0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   if (S==NULL) return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ERROR;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  <a:p>
            <a:pPr marL="0" marR="0" lvl="1" indent="0" algn="l" defTabSz="914400" rtl="0" eaLnBrk="0" fontAlgn="base" latinLnBrk="0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sz="2800" b="0" dirty="0">
                <a:solidFill>
                  <a:srgbClr val="FF0000"/>
                </a:solidFill>
                <a:latin typeface="+mn-lt"/>
                <a:ea typeface="+mn-ea"/>
                <a:cs typeface="+mn-ea"/>
                <a:sym typeface="+mn-lt"/>
              </a:rPr>
              <a:t>   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e = S-&gt; data;</a:t>
            </a:r>
          </a:p>
          <a:p>
            <a:pPr marL="0" marR="0" lvl="1" indent="0" algn="l" defTabSz="914400" rtl="0" eaLnBrk="0" fontAlgn="base" latinLnBrk="0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  <a:p>
            <a:pPr marL="0" marR="0" lvl="1" indent="0" algn="l" defTabSz="914400" rtl="0" eaLnBrk="0" fontAlgn="base" latinLnBrk="0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  <a:p>
            <a:pPr marL="0" marR="0" lvl="1" indent="0" algn="l" defTabSz="914400" rtl="0" eaLnBrk="0" fontAlgn="base" latinLnBrk="0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   return OK;</a:t>
            </a:r>
          </a:p>
          <a:p>
            <a:pPr marR="0" lvl="0" indent="0" algn="l" defTabSz="914400" rtl="0" eaLnBrk="0" fontAlgn="base" latinLnBrk="0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}  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5538" name="Group 6"/>
          <p:cNvGrpSpPr/>
          <p:nvPr/>
        </p:nvGrpSpPr>
        <p:grpSpPr>
          <a:xfrm>
            <a:off x="6803354" y="1052736"/>
            <a:ext cx="1905000" cy="2491768"/>
            <a:chOff x="1680" y="2879"/>
            <a:chExt cx="1200" cy="1354"/>
          </a:xfrm>
        </p:grpSpPr>
        <p:sp>
          <p:nvSpPr>
            <p:cNvPr id="57349" name="Rectangle 7"/>
            <p:cNvSpPr>
              <a:spLocks noChangeArrowheads="1"/>
            </p:cNvSpPr>
            <p:nvPr/>
          </p:nvSpPr>
          <p:spPr bwMode="auto">
            <a:xfrm>
              <a:off x="2112" y="2908"/>
              <a:ext cx="768" cy="192"/>
            </a:xfrm>
            <a:prstGeom prst="rect">
              <a:avLst/>
            </a:prstGeom>
            <a:solidFill>
              <a:srgbClr val="FFFFFF"/>
            </a:solidFill>
            <a:ln w="38100">
              <a:solidFill>
                <a:srgbClr val="000000"/>
              </a:solidFill>
              <a:miter lim="800000"/>
            </a:ln>
          </p:spPr>
          <p:txBody>
            <a:bodyPr wrap="none" anchor="ctr"/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57350" name="Line 8"/>
            <p:cNvSpPr>
              <a:spLocks noChangeShapeType="1"/>
            </p:cNvSpPr>
            <p:nvPr/>
          </p:nvSpPr>
          <p:spPr bwMode="auto">
            <a:xfrm>
              <a:off x="2496" y="2908"/>
              <a:ext cx="0" cy="192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57351" name="Rectangle 9"/>
            <p:cNvSpPr>
              <a:spLocks noChangeArrowheads="1"/>
            </p:cNvSpPr>
            <p:nvPr/>
          </p:nvSpPr>
          <p:spPr bwMode="auto">
            <a:xfrm>
              <a:off x="2112" y="3292"/>
              <a:ext cx="768" cy="192"/>
            </a:xfrm>
            <a:prstGeom prst="rect">
              <a:avLst/>
            </a:prstGeom>
            <a:solidFill>
              <a:srgbClr val="FFFFFF"/>
            </a:solidFill>
            <a:ln w="38100">
              <a:solidFill>
                <a:srgbClr val="000000"/>
              </a:solidFill>
              <a:miter lim="800000"/>
            </a:ln>
          </p:spPr>
          <p:txBody>
            <a:bodyPr wrap="none" anchor="ctr"/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57352" name="Line 10"/>
            <p:cNvSpPr>
              <a:spLocks noChangeShapeType="1"/>
            </p:cNvSpPr>
            <p:nvPr/>
          </p:nvSpPr>
          <p:spPr bwMode="auto">
            <a:xfrm>
              <a:off x="2496" y="3292"/>
              <a:ext cx="0" cy="192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57353" name="Rectangle 11"/>
            <p:cNvSpPr>
              <a:spLocks noChangeArrowheads="1"/>
            </p:cNvSpPr>
            <p:nvPr/>
          </p:nvSpPr>
          <p:spPr bwMode="auto">
            <a:xfrm>
              <a:off x="2112" y="4012"/>
              <a:ext cx="768" cy="192"/>
            </a:xfrm>
            <a:prstGeom prst="rect">
              <a:avLst/>
            </a:prstGeom>
            <a:solidFill>
              <a:srgbClr val="FFFFFF"/>
            </a:solidFill>
            <a:ln w="38100">
              <a:solidFill>
                <a:srgbClr val="000000"/>
              </a:solidFill>
              <a:miter lim="800000"/>
            </a:ln>
          </p:spPr>
          <p:txBody>
            <a:bodyPr wrap="none" anchor="ctr"/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57354" name="Line 12"/>
            <p:cNvSpPr>
              <a:spLocks noChangeShapeType="1"/>
            </p:cNvSpPr>
            <p:nvPr/>
          </p:nvSpPr>
          <p:spPr bwMode="auto">
            <a:xfrm>
              <a:off x="2496" y="4012"/>
              <a:ext cx="0" cy="192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57355" name="Line 13"/>
            <p:cNvSpPr>
              <a:spLocks noChangeShapeType="1"/>
            </p:cNvSpPr>
            <p:nvPr/>
          </p:nvSpPr>
          <p:spPr bwMode="auto">
            <a:xfrm>
              <a:off x="2688" y="3072"/>
              <a:ext cx="0" cy="24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57356" name="Line 14"/>
            <p:cNvSpPr>
              <a:spLocks noChangeShapeType="1"/>
            </p:cNvSpPr>
            <p:nvPr/>
          </p:nvSpPr>
          <p:spPr bwMode="auto">
            <a:xfrm>
              <a:off x="2688" y="3504"/>
              <a:ext cx="0" cy="24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57357" name="Line 15"/>
            <p:cNvSpPr>
              <a:spLocks noChangeShapeType="1"/>
            </p:cNvSpPr>
            <p:nvPr/>
          </p:nvSpPr>
          <p:spPr bwMode="auto">
            <a:xfrm>
              <a:off x="2688" y="3792"/>
              <a:ext cx="0" cy="192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prstDash val="sysDot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57358" name="Text Box 16"/>
            <p:cNvSpPr txBox="1">
              <a:spLocks noChangeArrowheads="1"/>
            </p:cNvSpPr>
            <p:nvPr/>
          </p:nvSpPr>
          <p:spPr bwMode="auto">
            <a:xfrm>
              <a:off x="2544" y="3984"/>
              <a:ext cx="288" cy="2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∧</a:t>
              </a:r>
            </a:p>
          </p:txBody>
        </p:sp>
        <p:sp>
          <p:nvSpPr>
            <p:cNvPr id="57359" name="Line 17"/>
            <p:cNvSpPr>
              <a:spLocks noChangeShapeType="1"/>
            </p:cNvSpPr>
            <p:nvPr/>
          </p:nvSpPr>
          <p:spPr bwMode="auto">
            <a:xfrm>
              <a:off x="1872" y="3024"/>
              <a:ext cx="240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57360" name="Text Box 18"/>
            <p:cNvSpPr txBox="1">
              <a:spLocks noChangeArrowheads="1"/>
            </p:cNvSpPr>
            <p:nvPr/>
          </p:nvSpPr>
          <p:spPr bwMode="auto">
            <a:xfrm>
              <a:off x="1680" y="2908"/>
              <a:ext cx="288" cy="2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S</a:t>
              </a:r>
            </a:p>
          </p:txBody>
        </p:sp>
        <p:sp>
          <p:nvSpPr>
            <p:cNvPr id="57361" name="Text Box 19"/>
            <p:cNvSpPr txBox="1">
              <a:spLocks noChangeArrowheads="1"/>
            </p:cNvSpPr>
            <p:nvPr/>
          </p:nvSpPr>
          <p:spPr bwMode="auto">
            <a:xfrm>
              <a:off x="2142" y="2879"/>
              <a:ext cx="288" cy="2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A</a:t>
              </a:r>
            </a:p>
          </p:txBody>
        </p:sp>
      </p:grpSp>
      <p:sp>
        <p:nvSpPr>
          <p:cNvPr id="57362" name="Text Box 20"/>
          <p:cNvSpPr txBox="1">
            <a:spLocks noChangeArrowheads="1"/>
          </p:cNvSpPr>
          <p:nvPr/>
        </p:nvSpPr>
        <p:spPr bwMode="auto">
          <a:xfrm flipH="1">
            <a:off x="5246950" y="886224"/>
            <a:ext cx="16002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e = ‘A’</a:t>
            </a:r>
          </a:p>
        </p:txBody>
      </p:sp>
      <p:sp>
        <p:nvSpPr>
          <p:cNvPr id="57363" name="Line 21"/>
          <p:cNvSpPr>
            <a:spLocks noChangeShapeType="1"/>
          </p:cNvSpPr>
          <p:nvPr/>
        </p:nvSpPr>
        <p:spPr bwMode="auto">
          <a:xfrm flipV="1">
            <a:off x="7127204" y="1409443"/>
            <a:ext cx="361950" cy="208265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57364" name="Text Box 22"/>
          <p:cNvSpPr txBox="1">
            <a:spLocks noChangeArrowheads="1"/>
          </p:cNvSpPr>
          <p:nvPr/>
        </p:nvSpPr>
        <p:spPr bwMode="auto">
          <a:xfrm>
            <a:off x="6727154" y="1462088"/>
            <a:ext cx="4572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p</a:t>
            </a:r>
          </a:p>
        </p:txBody>
      </p:sp>
      <p:sp>
        <p:nvSpPr>
          <p:cNvPr id="63495" name="标题 1"/>
          <p:cNvSpPr>
            <a:spLocks noGrp="1" noChangeArrowheads="1"/>
          </p:cNvSpPr>
          <p:nvPr>
            <p:ph type="title"/>
          </p:nvPr>
        </p:nvSpPr>
        <p:spPr>
          <a:xfrm>
            <a:off x="844550" y="241300"/>
            <a:ext cx="6400800" cy="457200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链栈出栈</a:t>
            </a:r>
          </a:p>
        </p:txBody>
      </p:sp>
      <p:sp>
        <p:nvSpPr>
          <p:cNvPr id="21" name="Text Box 74">
            <a:extLst>
              <a:ext uri="{FF2B5EF4-FFF2-40B4-BE49-F238E27FC236}">
                <a16:creationId xmlns:a16="http://schemas.microsoft.com/office/drawing/2014/main" id="{52A42D05-3B32-4FEE-B853-4A2599A563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9339" y="2169835"/>
            <a:ext cx="6697411" cy="4539191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txBody>
          <a:bodyPr wrap="squar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R="0" lvl="0" indent="0" algn="l" defTabSz="914400" rtl="0" eaLnBrk="0" fontAlgn="base" latinLnBrk="0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Status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Pop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(</a:t>
            </a:r>
            <a:r>
              <a:rPr kumimoji="0" lang="en-US" altLang="zh-CN" sz="28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LinkStack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&amp;S, </a:t>
            </a:r>
            <a:r>
              <a:rPr kumimoji="0" lang="en-US" altLang="zh-CN" sz="28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SElemType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&amp;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e) {</a:t>
            </a:r>
          </a:p>
          <a:p>
            <a:pPr marL="0" marR="0" lvl="1" indent="0" algn="l" defTabSz="914400" rtl="0" eaLnBrk="0" fontAlgn="base" latinLnBrk="0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   if (S==NULL) return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ERROR;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  <a:p>
            <a:pPr marL="0" marR="0" lvl="1" indent="0" algn="l" defTabSz="914400" rtl="0" eaLnBrk="0" fontAlgn="base" latinLnBrk="0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sz="2800" b="0" dirty="0">
                <a:latin typeface="+mn-lt"/>
                <a:ea typeface="+mn-ea"/>
                <a:cs typeface="+mn-ea"/>
                <a:sym typeface="+mn-lt"/>
              </a:rPr>
              <a:t>   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e = S-&gt; data;</a:t>
            </a:r>
          </a:p>
          <a:p>
            <a:pPr marL="0" marR="0" lvl="1" indent="0" algn="l" defTabSz="914400" rtl="0" eaLnBrk="0" fontAlgn="base" latinLnBrk="0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sz="2800" b="0" dirty="0">
                <a:solidFill>
                  <a:srgbClr val="0000FF"/>
                </a:solidFill>
                <a:latin typeface="+mn-lt"/>
                <a:ea typeface="+mn-ea"/>
                <a:cs typeface="+mn-ea"/>
                <a:sym typeface="+mn-lt"/>
              </a:rPr>
              <a:t> 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 p = S;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  <a:p>
            <a:pPr marL="0" marR="0" lvl="1" indent="0" algn="l" defTabSz="914400" rtl="0" eaLnBrk="0" fontAlgn="base" latinLnBrk="0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  <a:p>
            <a:pPr marL="0" marR="0" lvl="1" indent="0" algn="l" defTabSz="914400" rtl="0" eaLnBrk="0" fontAlgn="base" latinLnBrk="0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   return OK;</a:t>
            </a:r>
          </a:p>
          <a:p>
            <a:pPr marR="0" lvl="0" indent="0" algn="l" defTabSz="914400" rtl="0" eaLnBrk="0" fontAlgn="base" latinLnBrk="0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}  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1" name="Rectangle 4"/>
          <p:cNvSpPr>
            <a:spLocks noChangeArrowheads="1"/>
          </p:cNvSpPr>
          <p:nvPr/>
        </p:nvSpPr>
        <p:spPr bwMode="auto">
          <a:xfrm>
            <a:off x="827088" y="188913"/>
            <a:ext cx="3405188" cy="515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链栈出栈</a:t>
            </a:r>
          </a:p>
        </p:txBody>
      </p:sp>
      <p:grpSp>
        <p:nvGrpSpPr>
          <p:cNvPr id="66563" name="Group 6"/>
          <p:cNvGrpSpPr/>
          <p:nvPr/>
        </p:nvGrpSpPr>
        <p:grpSpPr>
          <a:xfrm>
            <a:off x="7591425" y="1238859"/>
            <a:ext cx="1219200" cy="2506848"/>
            <a:chOff x="2112" y="2871"/>
            <a:chExt cx="768" cy="1362"/>
          </a:xfrm>
        </p:grpSpPr>
        <p:sp>
          <p:nvSpPr>
            <p:cNvPr id="58373" name="Rectangle 7"/>
            <p:cNvSpPr>
              <a:spLocks noChangeArrowheads="1"/>
            </p:cNvSpPr>
            <p:nvPr/>
          </p:nvSpPr>
          <p:spPr bwMode="auto">
            <a:xfrm>
              <a:off x="2112" y="2908"/>
              <a:ext cx="768" cy="191"/>
            </a:xfrm>
            <a:prstGeom prst="rect">
              <a:avLst/>
            </a:prstGeom>
            <a:solidFill>
              <a:srgbClr val="FFFFFF"/>
            </a:solidFill>
            <a:ln w="38100">
              <a:solidFill>
                <a:srgbClr val="000000"/>
              </a:solidFill>
              <a:miter lim="800000"/>
            </a:ln>
          </p:spPr>
          <p:txBody>
            <a:bodyPr wrap="none" anchor="ctr"/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58374" name="Line 8"/>
            <p:cNvSpPr>
              <a:spLocks noChangeShapeType="1"/>
            </p:cNvSpPr>
            <p:nvPr/>
          </p:nvSpPr>
          <p:spPr bwMode="auto">
            <a:xfrm>
              <a:off x="2496" y="2908"/>
              <a:ext cx="0" cy="191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58375" name="Rectangle 9"/>
            <p:cNvSpPr>
              <a:spLocks noChangeArrowheads="1"/>
            </p:cNvSpPr>
            <p:nvPr/>
          </p:nvSpPr>
          <p:spPr bwMode="auto">
            <a:xfrm>
              <a:off x="2112" y="3292"/>
              <a:ext cx="768" cy="192"/>
            </a:xfrm>
            <a:prstGeom prst="rect">
              <a:avLst/>
            </a:prstGeom>
            <a:solidFill>
              <a:srgbClr val="FFFFFF"/>
            </a:solidFill>
            <a:ln w="38100">
              <a:solidFill>
                <a:srgbClr val="000000"/>
              </a:solidFill>
              <a:miter lim="800000"/>
            </a:ln>
          </p:spPr>
          <p:txBody>
            <a:bodyPr wrap="none" anchor="ctr"/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58376" name="Line 10"/>
            <p:cNvSpPr>
              <a:spLocks noChangeShapeType="1"/>
            </p:cNvSpPr>
            <p:nvPr/>
          </p:nvSpPr>
          <p:spPr bwMode="auto">
            <a:xfrm>
              <a:off x="2496" y="3292"/>
              <a:ext cx="0" cy="192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58377" name="Rectangle 11"/>
            <p:cNvSpPr>
              <a:spLocks noChangeArrowheads="1"/>
            </p:cNvSpPr>
            <p:nvPr/>
          </p:nvSpPr>
          <p:spPr bwMode="auto">
            <a:xfrm>
              <a:off x="2112" y="4012"/>
              <a:ext cx="768" cy="191"/>
            </a:xfrm>
            <a:prstGeom prst="rect">
              <a:avLst/>
            </a:prstGeom>
            <a:solidFill>
              <a:srgbClr val="FFFFFF"/>
            </a:solidFill>
            <a:ln w="38100">
              <a:solidFill>
                <a:srgbClr val="000000"/>
              </a:solidFill>
              <a:miter lim="800000"/>
            </a:ln>
          </p:spPr>
          <p:txBody>
            <a:bodyPr wrap="none" anchor="ctr"/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58378" name="Line 12"/>
            <p:cNvSpPr>
              <a:spLocks noChangeShapeType="1"/>
            </p:cNvSpPr>
            <p:nvPr/>
          </p:nvSpPr>
          <p:spPr bwMode="auto">
            <a:xfrm>
              <a:off x="2496" y="4012"/>
              <a:ext cx="0" cy="191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58379" name="Line 13"/>
            <p:cNvSpPr>
              <a:spLocks noChangeShapeType="1"/>
            </p:cNvSpPr>
            <p:nvPr/>
          </p:nvSpPr>
          <p:spPr bwMode="auto">
            <a:xfrm>
              <a:off x="2688" y="3122"/>
              <a:ext cx="0" cy="153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58380" name="Line 14"/>
            <p:cNvSpPr>
              <a:spLocks noChangeShapeType="1"/>
            </p:cNvSpPr>
            <p:nvPr/>
          </p:nvSpPr>
          <p:spPr bwMode="auto">
            <a:xfrm>
              <a:off x="2688" y="3504"/>
              <a:ext cx="0" cy="24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58381" name="Line 15"/>
            <p:cNvSpPr>
              <a:spLocks noChangeShapeType="1"/>
            </p:cNvSpPr>
            <p:nvPr/>
          </p:nvSpPr>
          <p:spPr bwMode="auto">
            <a:xfrm>
              <a:off x="2688" y="3792"/>
              <a:ext cx="0" cy="191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prstDash val="sysDot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58382" name="Text Box 16"/>
            <p:cNvSpPr txBox="1">
              <a:spLocks noChangeArrowheads="1"/>
            </p:cNvSpPr>
            <p:nvPr/>
          </p:nvSpPr>
          <p:spPr bwMode="auto">
            <a:xfrm>
              <a:off x="2544" y="3984"/>
              <a:ext cx="288" cy="2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∧</a:t>
              </a:r>
            </a:p>
          </p:txBody>
        </p:sp>
        <p:sp>
          <p:nvSpPr>
            <p:cNvPr id="58385" name="Text Box 19"/>
            <p:cNvSpPr txBox="1">
              <a:spLocks noChangeArrowheads="1"/>
            </p:cNvSpPr>
            <p:nvPr/>
          </p:nvSpPr>
          <p:spPr bwMode="auto">
            <a:xfrm>
              <a:off x="2159" y="2871"/>
              <a:ext cx="288" cy="2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A</a:t>
              </a:r>
            </a:p>
          </p:txBody>
        </p:sp>
      </p:grpSp>
      <p:sp>
        <p:nvSpPr>
          <p:cNvPr id="58386" name="Text Box 20"/>
          <p:cNvSpPr txBox="1">
            <a:spLocks noChangeArrowheads="1"/>
          </p:cNvSpPr>
          <p:nvPr/>
        </p:nvSpPr>
        <p:spPr bwMode="auto">
          <a:xfrm flipH="1">
            <a:off x="4878388" y="1083916"/>
            <a:ext cx="16002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e = ‘A’</a:t>
            </a:r>
          </a:p>
        </p:txBody>
      </p:sp>
      <p:sp>
        <p:nvSpPr>
          <p:cNvPr id="58387" name="Line 21"/>
          <p:cNvSpPr>
            <a:spLocks noChangeShapeType="1"/>
          </p:cNvSpPr>
          <p:nvPr/>
        </p:nvSpPr>
        <p:spPr bwMode="auto">
          <a:xfrm>
            <a:off x="7207251" y="1446842"/>
            <a:ext cx="384173" cy="138068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58388" name="Text Box 22"/>
          <p:cNvSpPr txBox="1">
            <a:spLocks noChangeArrowheads="1"/>
          </p:cNvSpPr>
          <p:nvPr/>
        </p:nvSpPr>
        <p:spPr bwMode="auto">
          <a:xfrm>
            <a:off x="6750051" y="991532"/>
            <a:ext cx="4572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p</a:t>
            </a:r>
          </a:p>
        </p:txBody>
      </p:sp>
      <p:sp>
        <p:nvSpPr>
          <p:cNvPr id="58389" name="Line 23"/>
          <p:cNvSpPr>
            <a:spLocks noChangeShapeType="1"/>
          </p:cNvSpPr>
          <p:nvPr/>
        </p:nvSpPr>
        <p:spPr bwMode="auto">
          <a:xfrm>
            <a:off x="7207251" y="2212845"/>
            <a:ext cx="3810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58390" name="Text Box 24"/>
          <p:cNvSpPr txBox="1">
            <a:spLocks noChangeArrowheads="1"/>
          </p:cNvSpPr>
          <p:nvPr/>
        </p:nvSpPr>
        <p:spPr bwMode="auto">
          <a:xfrm>
            <a:off x="6865938" y="1811620"/>
            <a:ext cx="4572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S</a:t>
            </a:r>
          </a:p>
        </p:txBody>
      </p:sp>
      <p:sp>
        <p:nvSpPr>
          <p:cNvPr id="23" name="Text Box 74">
            <a:extLst>
              <a:ext uri="{FF2B5EF4-FFF2-40B4-BE49-F238E27FC236}">
                <a16:creationId xmlns:a16="http://schemas.microsoft.com/office/drawing/2014/main" id="{D2D1648A-747E-464A-9937-45AA7EDF27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1240" y="2182533"/>
            <a:ext cx="6697411" cy="4539191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txBody>
          <a:bodyPr wrap="squar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R="0" lvl="0" indent="0" algn="l" defTabSz="914400" rtl="0" eaLnBrk="0" fontAlgn="base" latinLnBrk="0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Status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Pop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(</a:t>
            </a:r>
            <a:r>
              <a:rPr kumimoji="0" lang="en-US" altLang="zh-CN" sz="28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LinkStack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&amp;S, </a:t>
            </a:r>
            <a:r>
              <a:rPr kumimoji="0" lang="en-US" altLang="zh-CN" sz="28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SElemType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&amp;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e) {</a:t>
            </a:r>
          </a:p>
          <a:p>
            <a:pPr marL="0" marR="0" lvl="1" indent="0" algn="l" defTabSz="914400" rtl="0" eaLnBrk="0" fontAlgn="base" latinLnBrk="0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   if (S==NULL) return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ERROR;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  <a:p>
            <a:pPr marL="0" marR="0" lvl="1" indent="0" algn="l" defTabSz="914400" rtl="0" eaLnBrk="0" fontAlgn="base" latinLnBrk="0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sz="2800" b="0" dirty="0">
                <a:solidFill>
                  <a:srgbClr val="FF0000"/>
                </a:solidFill>
                <a:latin typeface="+mn-lt"/>
                <a:ea typeface="+mn-ea"/>
                <a:cs typeface="+mn-ea"/>
                <a:sym typeface="+mn-lt"/>
              </a:rPr>
              <a:t>   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e = S-&gt; data;</a:t>
            </a:r>
          </a:p>
          <a:p>
            <a:pPr marL="0" marR="0" lvl="1" indent="0" algn="l" defTabSz="914400" rtl="0" eaLnBrk="0" fontAlgn="base" latinLnBrk="0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sz="2800" b="0" dirty="0">
                <a:solidFill>
                  <a:srgbClr val="0000FF"/>
                </a:solidFill>
                <a:latin typeface="+mn-lt"/>
                <a:ea typeface="+mn-ea"/>
                <a:cs typeface="+mn-ea"/>
                <a:sym typeface="+mn-lt"/>
              </a:rPr>
              <a:t> 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p = S;  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S = S-&gt; next;</a:t>
            </a:r>
          </a:p>
          <a:p>
            <a:pPr marL="0" marR="0" lvl="1" indent="0" algn="l" defTabSz="914400" rtl="0" eaLnBrk="0" fontAlgn="base" latinLnBrk="0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  <a:p>
            <a:pPr marL="0" marR="0" lvl="1" indent="0" algn="l" defTabSz="914400" rtl="0" eaLnBrk="0" fontAlgn="base" latinLnBrk="0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sz="2800" b="0" dirty="0">
                <a:solidFill>
                  <a:srgbClr val="000000"/>
                </a:solidFill>
                <a:latin typeface="+mn-lt"/>
                <a:ea typeface="+mn-ea"/>
                <a:cs typeface="+mn-ea"/>
                <a:sym typeface="+mn-lt"/>
              </a:rPr>
              <a:t>   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return OK;</a:t>
            </a:r>
          </a:p>
          <a:p>
            <a:pPr marR="0" lvl="0" indent="0" algn="l" defTabSz="914400" rtl="0" eaLnBrk="0" fontAlgn="base" latinLnBrk="0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}  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5" name="Rectangle 4"/>
          <p:cNvSpPr>
            <a:spLocks noChangeArrowheads="1"/>
          </p:cNvSpPr>
          <p:nvPr/>
        </p:nvSpPr>
        <p:spPr bwMode="auto">
          <a:xfrm>
            <a:off x="900113" y="215900"/>
            <a:ext cx="3405188" cy="515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链栈出栈</a:t>
            </a:r>
          </a:p>
        </p:txBody>
      </p:sp>
      <p:sp>
        <p:nvSpPr>
          <p:cNvPr id="59397" name="Rectangle 9"/>
          <p:cNvSpPr>
            <a:spLocks noChangeArrowheads="1"/>
          </p:cNvSpPr>
          <p:nvPr/>
        </p:nvSpPr>
        <p:spPr bwMode="auto">
          <a:xfrm>
            <a:off x="7385248" y="1409005"/>
            <a:ext cx="1219200" cy="354013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00"/>
            </a:solidFill>
            <a:miter lim="800000"/>
          </a:ln>
        </p:spPr>
        <p:txBody>
          <a:bodyPr wrap="none" anchor="ctr"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59398" name="Line 10"/>
          <p:cNvSpPr>
            <a:spLocks noChangeShapeType="1"/>
          </p:cNvSpPr>
          <p:nvPr/>
        </p:nvSpPr>
        <p:spPr bwMode="auto">
          <a:xfrm>
            <a:off x="7994848" y="1409005"/>
            <a:ext cx="0" cy="354013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59399" name="Rectangle 11"/>
          <p:cNvSpPr>
            <a:spLocks noChangeArrowheads="1"/>
          </p:cNvSpPr>
          <p:nvPr/>
        </p:nvSpPr>
        <p:spPr bwMode="auto">
          <a:xfrm>
            <a:off x="7385248" y="2734568"/>
            <a:ext cx="1219200" cy="352425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00"/>
            </a:solidFill>
            <a:miter lim="800000"/>
          </a:ln>
        </p:spPr>
        <p:txBody>
          <a:bodyPr wrap="none" anchor="ctr"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59400" name="Line 12"/>
          <p:cNvSpPr>
            <a:spLocks noChangeShapeType="1"/>
          </p:cNvSpPr>
          <p:nvPr/>
        </p:nvSpPr>
        <p:spPr bwMode="auto">
          <a:xfrm>
            <a:off x="7994848" y="2734568"/>
            <a:ext cx="0" cy="352425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59401" name="Line 14"/>
          <p:cNvSpPr>
            <a:spLocks noChangeShapeType="1"/>
          </p:cNvSpPr>
          <p:nvPr/>
        </p:nvSpPr>
        <p:spPr bwMode="auto">
          <a:xfrm>
            <a:off x="8299648" y="1799530"/>
            <a:ext cx="0" cy="441325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59402" name="Line 15"/>
          <p:cNvSpPr>
            <a:spLocks noChangeShapeType="1"/>
          </p:cNvSpPr>
          <p:nvPr/>
        </p:nvSpPr>
        <p:spPr bwMode="auto">
          <a:xfrm>
            <a:off x="8299648" y="2329755"/>
            <a:ext cx="0" cy="352425"/>
          </a:xfrm>
          <a:prstGeom prst="line">
            <a:avLst/>
          </a:prstGeom>
          <a:noFill/>
          <a:ln w="38100">
            <a:solidFill>
              <a:srgbClr val="000000"/>
            </a:solidFill>
            <a:prstDash val="sysDot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59403" name="Text Box 16"/>
          <p:cNvSpPr txBox="1">
            <a:spLocks noChangeArrowheads="1"/>
          </p:cNvSpPr>
          <p:nvPr/>
        </p:nvSpPr>
        <p:spPr bwMode="auto">
          <a:xfrm>
            <a:off x="8071048" y="2682180"/>
            <a:ext cx="457200" cy="458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∧</a:t>
            </a:r>
          </a:p>
        </p:txBody>
      </p:sp>
      <p:sp>
        <p:nvSpPr>
          <p:cNvPr id="59404" name="Text Box 20"/>
          <p:cNvSpPr txBox="1">
            <a:spLocks noChangeArrowheads="1"/>
          </p:cNvSpPr>
          <p:nvPr/>
        </p:nvSpPr>
        <p:spPr bwMode="auto">
          <a:xfrm flipH="1">
            <a:off x="5141540" y="968152"/>
            <a:ext cx="16002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e = ‘A’</a:t>
            </a:r>
          </a:p>
        </p:txBody>
      </p:sp>
      <p:sp>
        <p:nvSpPr>
          <p:cNvPr id="59405" name="Line 23"/>
          <p:cNvSpPr>
            <a:spLocks noChangeShapeType="1"/>
          </p:cNvSpPr>
          <p:nvPr/>
        </p:nvSpPr>
        <p:spPr bwMode="auto">
          <a:xfrm>
            <a:off x="7004248" y="1593155"/>
            <a:ext cx="3810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59406" name="Text Box 24"/>
          <p:cNvSpPr txBox="1">
            <a:spLocks noChangeArrowheads="1"/>
          </p:cNvSpPr>
          <p:nvPr/>
        </p:nvSpPr>
        <p:spPr bwMode="auto">
          <a:xfrm>
            <a:off x="6699448" y="1268760"/>
            <a:ext cx="31730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S</a:t>
            </a:r>
          </a:p>
        </p:txBody>
      </p:sp>
      <p:sp>
        <p:nvSpPr>
          <p:cNvPr id="14" name="Text Box 74">
            <a:extLst>
              <a:ext uri="{FF2B5EF4-FFF2-40B4-BE49-F238E27FC236}">
                <a16:creationId xmlns:a16="http://schemas.microsoft.com/office/drawing/2014/main" id="{39956049-B2D5-411B-98BD-3CD90E78A5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9339" y="2169835"/>
            <a:ext cx="6697411" cy="4539191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txBody>
          <a:bodyPr wrap="squar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R="0" lvl="0" indent="0" algn="l" defTabSz="914400" rtl="0" eaLnBrk="0" fontAlgn="base" latinLnBrk="0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Status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Pop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(</a:t>
            </a:r>
            <a:r>
              <a:rPr kumimoji="0" lang="en-US" altLang="zh-CN" sz="28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LinkStack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&amp;S, </a:t>
            </a:r>
            <a:r>
              <a:rPr kumimoji="0" lang="en-US" altLang="zh-CN" sz="28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SElemType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&amp;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e) {</a:t>
            </a:r>
          </a:p>
          <a:p>
            <a:pPr marL="0" marR="0" lvl="1" indent="0" algn="l" defTabSz="914400" rtl="0" eaLnBrk="0" fontAlgn="base" latinLnBrk="0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   if (S==NULL) return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ERROR;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  <a:p>
            <a:pPr marL="0" marR="0" lvl="1" indent="0" algn="l" defTabSz="914400" rtl="0" eaLnBrk="0" fontAlgn="base" latinLnBrk="0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sz="2800" b="0" dirty="0">
                <a:latin typeface="+mn-lt"/>
                <a:ea typeface="+mn-ea"/>
                <a:cs typeface="+mn-ea"/>
                <a:sym typeface="+mn-lt"/>
              </a:rPr>
              <a:t>   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e = S-&gt; data;</a:t>
            </a:r>
          </a:p>
          <a:p>
            <a:pPr marL="0" marR="0" lvl="1" indent="0" algn="l" defTabSz="914400" rtl="0" eaLnBrk="0" fontAlgn="base" latinLnBrk="0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sz="2800" b="0" dirty="0">
                <a:solidFill>
                  <a:srgbClr val="0000FF"/>
                </a:solidFill>
                <a:latin typeface="+mn-lt"/>
                <a:ea typeface="+mn-ea"/>
                <a:cs typeface="+mn-ea"/>
                <a:sym typeface="+mn-lt"/>
              </a:rPr>
              <a:t> 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p = S;   S = S-&gt; next;</a:t>
            </a:r>
          </a:p>
          <a:p>
            <a:pPr marL="0" marR="0" lvl="1" indent="0" algn="l" defTabSz="914400" rtl="0" eaLnBrk="0" fontAlgn="base" latinLnBrk="0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  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delete p;</a:t>
            </a:r>
          </a:p>
          <a:p>
            <a:pPr marL="0" marR="0" lvl="1" indent="0" algn="l" defTabSz="914400" rtl="0" eaLnBrk="0" fontAlgn="base" latinLnBrk="0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   return OK;</a:t>
            </a:r>
          </a:p>
          <a:p>
            <a:pPr marR="0" lvl="0" indent="0" algn="l" defTabSz="914400" rtl="0" eaLnBrk="0" fontAlgn="base" latinLnBrk="0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}  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矩形 1"/>
          <p:cNvSpPr>
            <a:spLocks noChangeArrowheads="1"/>
          </p:cNvSpPr>
          <p:nvPr/>
        </p:nvSpPr>
        <p:spPr bwMode="auto">
          <a:xfrm>
            <a:off x="0" y="1484313"/>
            <a:ext cx="9144000" cy="3528863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txBody>
          <a:bodyPr/>
          <a:lstStyle>
            <a:lvl1pPr marL="342900" indent="-342900">
              <a:lnSpc>
                <a:spcPct val="130000"/>
              </a:lnSpc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60419" name="Rectangle 6"/>
          <p:cNvSpPr>
            <a:spLocks noChangeArrowheads="1"/>
          </p:cNvSpPr>
          <p:nvPr/>
        </p:nvSpPr>
        <p:spPr bwMode="auto">
          <a:xfrm>
            <a:off x="755650" y="211138"/>
            <a:ext cx="3956050" cy="515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取链栈栈顶元素</a:t>
            </a:r>
          </a:p>
        </p:txBody>
      </p:sp>
      <p:sp>
        <p:nvSpPr>
          <p:cNvPr id="556039" name="Rectangle 7"/>
          <p:cNvSpPr>
            <a:spLocks noChangeArrowheads="1"/>
          </p:cNvSpPr>
          <p:nvPr/>
        </p:nvSpPr>
        <p:spPr bwMode="auto">
          <a:xfrm>
            <a:off x="971600" y="1628800"/>
            <a:ext cx="7272808" cy="32403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lvl="0" indent="0">
              <a:lnSpc>
                <a:spcPct val="150000"/>
              </a:lnSpc>
              <a:spcBef>
                <a:spcPts val="0"/>
              </a:spcBef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Status </a:t>
            </a:r>
            <a:r>
              <a:rPr kumimoji="0" lang="en-US" altLang="zh-CN" sz="28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GetTop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(</a:t>
            </a:r>
            <a:r>
              <a:rPr kumimoji="0" lang="en-US" altLang="zh-CN" sz="28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LinkStack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S, </a:t>
            </a:r>
            <a:r>
              <a:rPr lang="en-US" altLang="zh-CN" sz="2800" b="0" dirty="0" err="1">
                <a:cs typeface="+mn-ea"/>
                <a:sym typeface="+mn-lt"/>
              </a:rPr>
              <a:t>SElemType</a:t>
            </a:r>
            <a:r>
              <a:rPr lang="en-US" altLang="zh-CN" sz="2800" b="0" dirty="0">
                <a:cs typeface="+mn-ea"/>
                <a:sym typeface="+mn-lt"/>
              </a:rPr>
              <a:t>&amp; e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)</a:t>
            </a:r>
            <a:r>
              <a:rPr kumimoji="0" lang="en-US" altLang="zh-CN" sz="2800" b="0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{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sz="2800" b="0" dirty="0">
                <a:latin typeface="+mn-lt"/>
                <a:ea typeface="+mn-ea"/>
                <a:cs typeface="+mn-ea"/>
                <a:sym typeface="+mn-lt"/>
              </a:rPr>
              <a:t>   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if (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S==NULL)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exit(1)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；</a:t>
            </a:r>
            <a:b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</a:b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  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e = S–&gt;data;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sz="2800" b="0" dirty="0">
                <a:latin typeface="+mn-lt"/>
                <a:ea typeface="+mn-ea"/>
                <a:cs typeface="+mn-ea"/>
                <a:sym typeface="+mn-lt"/>
              </a:rPr>
              <a:t>    return OK;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}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44FF6BC-CF7C-4F6B-9A78-5CF855D187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955576"/>
          </a:xfrm>
        </p:spPr>
        <p:txBody>
          <a:bodyPr/>
          <a:lstStyle/>
          <a:p>
            <a:pPr algn="ctr"/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目录（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Contents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F1C5CE0-1323-4255-9417-D46EBFCC9F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552" y="1700808"/>
            <a:ext cx="8064896" cy="4896544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sz="2800" dirty="0">
                <a:solidFill>
                  <a:schemeClr val="tx1">
                    <a:lumMod val="20000"/>
                    <a:lumOff val="8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栈</a:t>
            </a:r>
            <a:endParaRPr lang="en-US" altLang="zh-CN" sz="2800" dirty="0">
              <a:solidFill>
                <a:schemeClr val="tx1">
                  <a:lumMod val="20000"/>
                  <a:lumOff val="80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栈的应用举例</a:t>
            </a:r>
            <a:endParaRPr lang="en-US" altLang="zh-CN" sz="28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800" dirty="0">
                <a:solidFill>
                  <a:schemeClr val="tx1">
                    <a:lumMod val="20000"/>
                    <a:lumOff val="8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队列</a:t>
            </a:r>
            <a:endParaRPr lang="zh-CN" altLang="en-US" sz="2400" dirty="0">
              <a:solidFill>
                <a:schemeClr val="tx1">
                  <a:lumMod val="20000"/>
                  <a:lumOff val="80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800" dirty="0">
                <a:solidFill>
                  <a:schemeClr val="tx1">
                    <a:lumMod val="20000"/>
                    <a:lumOff val="8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队列的应用举例</a:t>
            </a:r>
          </a:p>
        </p:txBody>
      </p:sp>
    </p:spTree>
    <p:extLst>
      <p:ext uri="{BB962C8B-B14F-4D97-AF65-F5344CB8AC3E}">
        <p14:creationId xmlns:p14="http://schemas.microsoft.com/office/powerpoint/2010/main" val="3655004317"/>
      </p:ext>
    </p:extLst>
  </p:cSld>
  <p:clrMapOvr>
    <a:masterClrMapping/>
  </p:clrMapOvr>
  <p:transition>
    <p:wipe dir="r"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90343C4-155B-4D61-B311-EFD7EEBC6A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案例 </a:t>
            </a:r>
            <a:r>
              <a:rPr lang="en-US" altLang="zh-CN" dirty="0"/>
              <a:t>1</a:t>
            </a:r>
            <a:r>
              <a:rPr lang="zh-CN" altLang="en-US" dirty="0"/>
              <a:t>：数制转换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C3FB691-D6B4-4250-95FB-82557EE5DA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>
                <a:solidFill>
                  <a:srgbClr val="0000FF"/>
                </a:solidFill>
              </a:rPr>
              <a:t>把十进制数 </a:t>
            </a:r>
            <a:r>
              <a:rPr lang="en-US" altLang="zh-CN" dirty="0">
                <a:solidFill>
                  <a:srgbClr val="0000FF"/>
                </a:solidFill>
              </a:rPr>
              <a:t>N </a:t>
            </a:r>
            <a:r>
              <a:rPr lang="zh-CN" altLang="en-US" dirty="0">
                <a:solidFill>
                  <a:srgbClr val="0000FF"/>
                </a:solidFill>
              </a:rPr>
              <a:t>转换成 </a:t>
            </a:r>
            <a:r>
              <a:rPr lang="en-US" altLang="zh-CN" dirty="0">
                <a:solidFill>
                  <a:srgbClr val="0000FF"/>
                </a:solidFill>
              </a:rPr>
              <a:t>d </a:t>
            </a:r>
            <a:r>
              <a:rPr lang="zh-CN" altLang="en-US" dirty="0">
                <a:solidFill>
                  <a:srgbClr val="0000FF"/>
                </a:solidFill>
              </a:rPr>
              <a:t>进制数</a:t>
            </a:r>
            <a:r>
              <a:rPr lang="zh-CN" altLang="en-US" dirty="0"/>
              <a:t>：</a:t>
            </a:r>
            <a:endParaRPr lang="en-US" altLang="zh-CN" dirty="0"/>
          </a:p>
          <a:p>
            <a:pPr marL="0" indent="0" algn="ctr">
              <a:buNone/>
            </a:pPr>
            <a:r>
              <a:rPr lang="en-US" altLang="zh-CN" sz="2800" b="1" dirty="0">
                <a:solidFill>
                  <a:srgbClr val="FF0000"/>
                </a:solidFill>
                <a:ea typeface="楷体_GB2312" pitchFamily="49" charset="-122"/>
              </a:rPr>
              <a:t>N = (N div d)×d + N mod d</a:t>
            </a:r>
          </a:p>
          <a:p>
            <a:pPr marL="0" indent="0" eaLnBrk="1" hangingPunct="1">
              <a:buNone/>
            </a:pPr>
            <a:r>
              <a:rPr lang="zh-CN" altLang="en-US" sz="2800" dirty="0">
                <a:latin typeface="+mn-ea"/>
                <a:ea typeface="+mn-ea"/>
              </a:rPr>
              <a:t>    例如：（</a:t>
            </a:r>
            <a:r>
              <a:rPr lang="en-US" altLang="zh-CN" sz="2800" dirty="0">
                <a:latin typeface="+mn-ea"/>
                <a:ea typeface="+mn-ea"/>
              </a:rPr>
              <a:t>1348)</a:t>
            </a:r>
            <a:r>
              <a:rPr lang="en-US" altLang="zh-CN" sz="2800" baseline="-25000" dirty="0">
                <a:latin typeface="+mn-ea"/>
                <a:ea typeface="+mn-ea"/>
              </a:rPr>
              <a:t>10</a:t>
            </a:r>
            <a:r>
              <a:rPr lang="en-US" altLang="zh-CN" sz="2800" dirty="0">
                <a:latin typeface="+mn-ea"/>
                <a:ea typeface="+mn-ea"/>
              </a:rPr>
              <a:t> = (2504)</a:t>
            </a:r>
            <a:r>
              <a:rPr lang="en-US" altLang="zh-CN" sz="2800" baseline="-25000" dirty="0">
                <a:latin typeface="+mn-ea"/>
                <a:ea typeface="+mn-ea"/>
              </a:rPr>
              <a:t>8</a:t>
            </a:r>
            <a:r>
              <a:rPr lang="en-US" altLang="zh-CN" sz="2800" dirty="0">
                <a:latin typeface="+mn-ea"/>
                <a:ea typeface="+mn-ea"/>
              </a:rPr>
              <a:t> </a:t>
            </a:r>
            <a:r>
              <a:rPr lang="zh-CN" altLang="en-US" sz="2800" dirty="0">
                <a:latin typeface="+mn-ea"/>
                <a:ea typeface="+mn-ea"/>
              </a:rPr>
              <a:t>，其运算过程如下：</a:t>
            </a:r>
          </a:p>
          <a:p>
            <a:pPr marL="0" lvl="4" indent="0" eaLnBrk="1" hangingPunct="1">
              <a:lnSpc>
                <a:spcPct val="150000"/>
              </a:lnSpc>
              <a:spcBef>
                <a:spcPts val="0"/>
              </a:spcBef>
              <a:buFontTx/>
              <a:buNone/>
            </a:pPr>
            <a:r>
              <a:rPr lang="zh-CN" altLang="en-US" sz="2800" b="1" dirty="0">
                <a:solidFill>
                  <a:srgbClr val="996633"/>
                </a:solidFill>
                <a:ea typeface="楷体_GB2312" pitchFamily="49" charset="-122"/>
              </a:rPr>
              <a:t>                       </a:t>
            </a:r>
            <a:r>
              <a:rPr lang="en-US" altLang="zh-CN" sz="2800" b="1" dirty="0">
                <a:solidFill>
                  <a:srgbClr val="C00000"/>
                </a:solidFill>
                <a:ea typeface="楷体_GB2312" pitchFamily="49" charset="-122"/>
              </a:rPr>
              <a:t>N         </a:t>
            </a:r>
            <a:r>
              <a:rPr lang="en-US" altLang="zh-CN" sz="2800" b="1" dirty="0" err="1">
                <a:solidFill>
                  <a:srgbClr val="C00000"/>
                </a:solidFill>
                <a:ea typeface="楷体_GB2312" pitchFamily="49" charset="-122"/>
              </a:rPr>
              <a:t>N</a:t>
            </a:r>
            <a:r>
              <a:rPr lang="en-US" altLang="zh-CN" sz="2800" b="1" dirty="0">
                <a:solidFill>
                  <a:srgbClr val="C00000"/>
                </a:solidFill>
                <a:ea typeface="楷体_GB2312" pitchFamily="49" charset="-122"/>
              </a:rPr>
              <a:t> div 8        N mod 8</a:t>
            </a:r>
          </a:p>
          <a:p>
            <a:pPr marL="0" lvl="4" indent="0" eaLnBrk="1" hangingPunct="1">
              <a:lnSpc>
                <a:spcPct val="150000"/>
              </a:lnSpc>
              <a:spcBef>
                <a:spcPts val="0"/>
              </a:spcBef>
              <a:buFontTx/>
              <a:buNone/>
            </a:pPr>
            <a:r>
              <a:rPr lang="en-US" altLang="zh-CN" sz="2800" dirty="0">
                <a:ea typeface="楷体_GB2312" pitchFamily="49" charset="-122"/>
              </a:rPr>
              <a:t>                     1348          168                4</a:t>
            </a:r>
            <a:br>
              <a:rPr lang="en-US" altLang="zh-CN" sz="2800" dirty="0">
                <a:ea typeface="楷体_GB2312" pitchFamily="49" charset="-122"/>
              </a:rPr>
            </a:br>
            <a:r>
              <a:rPr lang="en-US" altLang="zh-CN" sz="2800" dirty="0">
                <a:ea typeface="楷体_GB2312" pitchFamily="49" charset="-122"/>
              </a:rPr>
              <a:t>                       168            21                0</a:t>
            </a:r>
            <a:br>
              <a:rPr lang="en-US" altLang="zh-CN" sz="2800" dirty="0">
                <a:ea typeface="楷体_GB2312" pitchFamily="49" charset="-122"/>
              </a:rPr>
            </a:br>
            <a:r>
              <a:rPr lang="en-US" altLang="zh-CN" sz="2800" dirty="0">
                <a:ea typeface="楷体_GB2312" pitchFamily="49" charset="-122"/>
              </a:rPr>
              <a:t>                          21             2                5</a:t>
            </a:r>
            <a:br>
              <a:rPr lang="en-US" altLang="zh-CN" sz="2800" dirty="0">
                <a:ea typeface="楷体_GB2312" pitchFamily="49" charset="-122"/>
              </a:rPr>
            </a:br>
            <a:r>
              <a:rPr lang="en-US" altLang="zh-CN" sz="2800" dirty="0">
                <a:ea typeface="楷体_GB2312" pitchFamily="49" charset="-122"/>
              </a:rPr>
              <a:t>                           2              0                2</a:t>
            </a:r>
            <a:endParaRPr lang="en-US" altLang="zh-CN" sz="2800" b="1" dirty="0">
              <a:solidFill>
                <a:srgbClr val="FF0000"/>
              </a:solidFill>
              <a:ea typeface="楷体_GB2312" pitchFamily="49" charset="-122"/>
            </a:endParaRPr>
          </a:p>
          <a:p>
            <a:pPr marL="0" indent="0">
              <a:buNone/>
            </a:pPr>
            <a:endParaRPr lang="zh-CN" altLang="en-US" dirty="0"/>
          </a:p>
        </p:txBody>
      </p:sp>
      <p:sp>
        <p:nvSpPr>
          <p:cNvPr id="4" name="Line 3">
            <a:extLst>
              <a:ext uri="{FF2B5EF4-FFF2-40B4-BE49-F238E27FC236}">
                <a16:creationId xmlns:a16="http://schemas.microsoft.com/office/drawing/2014/main" id="{E39AE135-ECE8-4080-8D88-03810704A95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051720" y="3123058"/>
            <a:ext cx="0" cy="2898229"/>
          </a:xfrm>
          <a:prstGeom prst="line">
            <a:avLst/>
          </a:prstGeom>
          <a:ln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  <p:txBody>
          <a:bodyPr wrap="none" anchor="ctr"/>
          <a:lstStyle/>
          <a:p>
            <a:endParaRPr lang="zh-CN" altLang="en-US"/>
          </a:p>
        </p:txBody>
      </p:sp>
      <p:sp>
        <p:nvSpPr>
          <p:cNvPr id="5" name="Text Box 4">
            <a:extLst>
              <a:ext uri="{FF2B5EF4-FFF2-40B4-BE49-F238E27FC236}">
                <a16:creationId xmlns:a16="http://schemas.microsoft.com/office/drawing/2014/main" id="{DE4C2130-9B4D-497A-A106-DD08361009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50075" y="3718092"/>
            <a:ext cx="677108" cy="20159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 wrap="non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b="1" spc="6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计算顺序</a:t>
            </a:r>
          </a:p>
        </p:txBody>
      </p:sp>
      <p:sp>
        <p:nvSpPr>
          <p:cNvPr id="6" name="Text Box 5">
            <a:extLst>
              <a:ext uri="{FF2B5EF4-FFF2-40B4-BE49-F238E27FC236}">
                <a16:creationId xmlns:a16="http://schemas.microsoft.com/office/drawing/2014/main" id="{F936F612-7866-4AAB-9547-619EAE06E2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60135" y="3718092"/>
            <a:ext cx="677108" cy="20159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 wrap="non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b="1" spc="6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输出顺序</a:t>
            </a:r>
          </a:p>
        </p:txBody>
      </p:sp>
      <p:sp>
        <p:nvSpPr>
          <p:cNvPr id="7" name="Line 6">
            <a:extLst>
              <a:ext uri="{FF2B5EF4-FFF2-40B4-BE49-F238E27FC236}">
                <a16:creationId xmlns:a16="http://schemas.microsoft.com/office/drawing/2014/main" id="{B7154992-A20E-4C0F-9506-03B4D03073C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092280" y="3199258"/>
            <a:ext cx="0" cy="2751881"/>
          </a:xfrm>
          <a:prstGeom prst="line">
            <a:avLst/>
          </a:prstGeom>
          <a:ln>
            <a:headEnd type="triangle" w="lg" len="lg"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  <p:txBody>
          <a:bodyPr wrap="none" anchor="ctr"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080081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utoUpdateAnimBg="0"/>
      <p:bldP spid="6" grpId="0" autoUpdateAnimBg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87" name="矩形 1"/>
          <p:cNvSpPr/>
          <p:nvPr/>
        </p:nvSpPr>
        <p:spPr>
          <a:xfrm>
            <a:off x="7598" y="1000398"/>
            <a:ext cx="3240087" cy="513308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txBody>
          <a:bodyPr/>
          <a:lstStyle>
            <a:lvl1pPr indent="538480" algn="l" rtl="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2400" b="0">
                <a:solidFill>
                  <a:schemeClr val="tx1"/>
                </a:solidFill>
                <a:latin typeface="+mn-lt"/>
                <a:ea typeface="微软雅黑" panose="020B0503020204020204" pitchFamily="34" charset="-122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5pPr>
          </a:lstStyle>
          <a:p>
            <a:pPr marL="342900" marR="0" lvl="0" indent="-342900" algn="ctr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2800" dirty="0">
                <a:solidFill>
                  <a:schemeClr val="bg1"/>
                </a:solidFill>
                <a:latin typeface="+mn-ea"/>
                <a:ea typeface="+mn-ea"/>
              </a:rPr>
              <a:t>【</a:t>
            </a:r>
            <a:r>
              <a:rPr lang="zh-CN" altLang="en-US" sz="2800" dirty="0">
                <a:solidFill>
                  <a:schemeClr val="bg1"/>
                </a:solidFill>
                <a:latin typeface="+mn-ea"/>
                <a:ea typeface="+mn-ea"/>
              </a:rPr>
              <a:t>算法步骤</a:t>
            </a:r>
            <a:r>
              <a:rPr lang="en-US" altLang="zh-CN" sz="2800" dirty="0">
                <a:solidFill>
                  <a:schemeClr val="bg1"/>
                </a:solidFill>
                <a:latin typeface="+mn-ea"/>
                <a:ea typeface="+mn-ea"/>
              </a:rPr>
              <a:t>】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</p:txBody>
      </p:sp>
      <p:sp>
        <p:nvSpPr>
          <p:cNvPr id="144388" name="Rectangle 154"/>
          <p:cNvSpPr txBox="1"/>
          <p:nvPr/>
        </p:nvSpPr>
        <p:spPr>
          <a:xfrm>
            <a:off x="827088" y="179388"/>
            <a:ext cx="4933950" cy="513308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indent="538480" algn="l" rtl="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2400" b="0">
                <a:solidFill>
                  <a:schemeClr val="tx1"/>
                </a:solidFill>
                <a:latin typeface="+mn-lt"/>
                <a:ea typeface="微软雅黑" panose="020B0503020204020204" pitchFamily="34" charset="-122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5pPr>
          </a:lstStyle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Times New Roman"/>
                <a:ea typeface="微软雅黑" panose="020B0503020204020204" pitchFamily="34" charset="-122"/>
                <a:cs typeface="+mn-cs"/>
                <a:sym typeface="+mn-lt"/>
              </a:rPr>
              <a:t>案例</a:t>
            </a:r>
            <a:r>
              <a:rPr lang="en-US" altLang="zh-CN" sz="2800" dirty="0">
                <a:solidFill>
                  <a:srgbClr val="FEFFFF"/>
                </a:solidFill>
                <a:latin typeface="Times New Roman"/>
                <a:sym typeface="+mn-lt"/>
              </a:rPr>
              <a:t>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Times New Roman"/>
                <a:ea typeface="微软雅黑" panose="020B0503020204020204" pitchFamily="34" charset="-122"/>
                <a:cs typeface="+mn-cs"/>
                <a:sym typeface="+mn-lt"/>
              </a:rPr>
              <a:t>1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Times New Roman"/>
                <a:ea typeface="微软雅黑" panose="020B0503020204020204" pitchFamily="34" charset="-122"/>
                <a:cs typeface="+mn-cs"/>
                <a:sym typeface="+mn-lt"/>
              </a:rPr>
              <a:t>：数制转换</a:t>
            </a:r>
          </a:p>
        </p:txBody>
      </p:sp>
      <p:sp>
        <p:nvSpPr>
          <p:cNvPr id="130055" name="Text Box 5"/>
          <p:cNvSpPr txBox="1">
            <a:spLocks noChangeArrowheads="1"/>
          </p:cNvSpPr>
          <p:nvPr/>
        </p:nvSpPr>
        <p:spPr bwMode="auto">
          <a:xfrm>
            <a:off x="628650" y="1846226"/>
            <a:ext cx="7886700" cy="4540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Tx/>
              <a:tabLst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  <a:cs typeface="+mn-ea"/>
                <a:sym typeface="+mn-lt"/>
              </a:rPr>
              <a:t>① 初始化一个空栈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cs typeface="+mn-ea"/>
                <a:sym typeface="+mn-lt"/>
              </a:rPr>
              <a:t>S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  <a:cs typeface="+mn-ea"/>
                <a:sym typeface="+mn-lt"/>
              </a:rPr>
              <a:t>。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Tx/>
              <a:tabLst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  <a:cs typeface="+mn-ea"/>
                <a:sym typeface="+mn-lt"/>
              </a:rPr>
              <a:t>②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  <a:cs typeface="+mn-ea"/>
                <a:sym typeface="+mn-lt"/>
              </a:rPr>
              <a:t> 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  <a:cs typeface="+mn-ea"/>
                <a:sym typeface="+mn-lt"/>
              </a:rPr>
              <a:t>当十进制数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  <a:cs typeface="+mn-ea"/>
                <a:sym typeface="+mn-lt"/>
              </a:rPr>
              <a:t>N 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  <a:cs typeface="+mn-ea"/>
                <a:sym typeface="+mn-lt"/>
              </a:rPr>
              <a:t>非零时，循环执行以下操作：</a:t>
            </a:r>
          </a:p>
          <a:p>
            <a:pPr marL="800100" lvl="2" indent="-342900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  <a:cs typeface="+mn-ea"/>
                <a:sym typeface="+mn-lt"/>
              </a:rPr>
              <a:t>把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  <a:cs typeface="+mn-ea"/>
                <a:sym typeface="+mn-lt"/>
              </a:rPr>
              <a:t>N 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  <a:cs typeface="+mn-ea"/>
                <a:sym typeface="+mn-lt"/>
              </a:rPr>
              <a:t>与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  <a:cs typeface="+mn-ea"/>
                <a:sym typeface="+mn-lt"/>
              </a:rPr>
              <a:t>8 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  <a:cs typeface="+mn-ea"/>
                <a:sym typeface="+mn-lt"/>
              </a:rPr>
              <a:t>求余得到的八进制数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cs typeface="+mn-ea"/>
                <a:sym typeface="+mn-lt"/>
              </a:rPr>
              <a:t>压入栈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  <a:cs typeface="+mn-ea"/>
                <a:sym typeface="+mn-lt"/>
              </a:rPr>
              <a:t>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  <a:cs typeface="+mn-ea"/>
                <a:sym typeface="+mn-lt"/>
              </a:rPr>
              <a:t>S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  <a:cs typeface="+mn-ea"/>
                <a:sym typeface="+mn-lt"/>
              </a:rPr>
              <a:t>；</a:t>
            </a:r>
          </a:p>
          <a:p>
            <a:pPr marL="800100" lvl="2" indent="-342900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  <a:cs typeface="+mn-ea"/>
                <a:sym typeface="+mn-lt"/>
              </a:rPr>
              <a:t>N 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  <a:cs typeface="+mn-ea"/>
                <a:sym typeface="+mn-lt"/>
              </a:rPr>
              <a:t>更新为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  <a:cs typeface="+mn-ea"/>
                <a:sym typeface="+mn-lt"/>
              </a:rPr>
              <a:t>N 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  <a:cs typeface="+mn-ea"/>
                <a:sym typeface="+mn-lt"/>
              </a:rPr>
              <a:t>与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  <a:cs typeface="+mn-ea"/>
                <a:sym typeface="+mn-lt"/>
              </a:rPr>
              <a:t>8 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  <a:cs typeface="+mn-ea"/>
                <a:sym typeface="+mn-lt"/>
              </a:rPr>
              <a:t>的商。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Tx/>
              <a:tabLst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  <a:cs typeface="+mn-ea"/>
                <a:sym typeface="+mn-lt"/>
              </a:rPr>
              <a:t>③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  <a:cs typeface="+mn-ea"/>
                <a:sym typeface="+mn-lt"/>
              </a:rPr>
              <a:t> 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  <a:cs typeface="+mn-ea"/>
                <a:sym typeface="+mn-lt"/>
              </a:rPr>
              <a:t>当栈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  <a:cs typeface="+mn-ea"/>
                <a:sym typeface="+mn-lt"/>
              </a:rPr>
              <a:t>S 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  <a:cs typeface="+mn-ea"/>
                <a:sym typeface="+mn-lt"/>
              </a:rPr>
              <a:t>非空时，循环执行以下操作：</a:t>
            </a:r>
          </a:p>
          <a:p>
            <a:pPr marL="800100" lvl="2" indent="-342900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cs typeface="+mn-ea"/>
                <a:sym typeface="+mn-lt"/>
              </a:rPr>
              <a:t>弹出栈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  <a:cs typeface="+mn-ea"/>
                <a:sym typeface="+mn-lt"/>
              </a:rPr>
              <a:t>顶元素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  <a:cs typeface="+mn-ea"/>
                <a:sym typeface="+mn-lt"/>
              </a:rPr>
              <a:t>e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  <a:cs typeface="+mn-ea"/>
                <a:sym typeface="+mn-lt"/>
              </a:rPr>
              <a:t>；</a:t>
            </a:r>
          </a:p>
          <a:p>
            <a:pPr marL="800100" lvl="2" indent="-342900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  <a:cs typeface="+mn-ea"/>
                <a:sym typeface="+mn-lt"/>
              </a:rPr>
              <a:t>输出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  <a:cs typeface="+mn-ea"/>
                <a:sym typeface="+mn-lt"/>
              </a:rPr>
              <a:t>e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  <a:cs typeface="+mn-ea"/>
                <a:sym typeface="+mn-lt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349950150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11" name="矩形 4"/>
          <p:cNvSpPr/>
          <p:nvPr/>
        </p:nvSpPr>
        <p:spPr>
          <a:xfrm>
            <a:off x="-19050" y="973609"/>
            <a:ext cx="2790825" cy="511175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txBody>
          <a:bodyPr/>
          <a:lstStyle>
            <a:lvl1pPr indent="538480" algn="l" rtl="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2400" b="0">
                <a:solidFill>
                  <a:schemeClr val="tx1"/>
                </a:solidFill>
                <a:latin typeface="+mn-lt"/>
                <a:ea typeface="微软雅黑" panose="020B0503020204020204" pitchFamily="34" charset="-122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5pPr>
          </a:lstStyle>
          <a:p>
            <a:pPr marL="342900" marR="0" lvl="0" indent="-342900" algn="ctr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/>
                <a:ea typeface="仿宋_GB2312" pitchFamily="49" charset="-122"/>
                <a:cs typeface="+mn-cs"/>
              </a:rPr>
              <a:t>【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/>
                <a:ea typeface="仿宋_GB2312" pitchFamily="49" charset="-122"/>
                <a:cs typeface="+mn-cs"/>
              </a:rPr>
              <a:t>算法描述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/>
                <a:ea typeface="仿宋_GB2312" pitchFamily="49" charset="-122"/>
                <a:cs typeface="+mn-cs"/>
              </a:rPr>
              <a:t>】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/>
              <a:ea typeface="仿宋_GB2312" pitchFamily="49" charset="-122"/>
              <a:cs typeface="+mn-cs"/>
            </a:endParaRPr>
          </a:p>
        </p:txBody>
      </p:sp>
      <p:sp>
        <p:nvSpPr>
          <p:cNvPr id="145412" name="Rectangle 1"/>
          <p:cNvSpPr/>
          <p:nvPr/>
        </p:nvSpPr>
        <p:spPr>
          <a:xfrm>
            <a:off x="251520" y="1682538"/>
            <a:ext cx="8712967" cy="5011949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525">
            <a:noFill/>
          </a:ln>
        </p:spPr>
        <p:txBody>
          <a:bodyPr wrap="square" anchor="ctr" anchorCtr="0">
            <a:spAutoFit/>
          </a:bodyPr>
          <a:lstStyle>
            <a:lvl1pPr indent="538480" algn="l" rtl="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2400" b="0">
                <a:solidFill>
                  <a:schemeClr val="tx1"/>
                </a:solidFill>
                <a:latin typeface="+mn-lt"/>
                <a:ea typeface="微软雅黑" panose="020B0503020204020204" pitchFamily="34" charset="-122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5pPr>
          </a:lstStyle>
          <a:p>
            <a:pPr indent="0">
              <a:lnSpc>
                <a:spcPct val="15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dirty="0">
                <a:ea typeface="楷体_GB2312" pitchFamily="49" charset="-122"/>
              </a:rPr>
              <a:t>void conversion (int N) { </a:t>
            </a:r>
            <a:r>
              <a:rPr lang="en-US" altLang="zh-CN" dirty="0">
                <a:solidFill>
                  <a:srgbClr val="00B050"/>
                </a:solidFill>
                <a:ea typeface="楷体_GB2312" pitchFamily="49" charset="-122"/>
              </a:rPr>
              <a:t>// </a:t>
            </a:r>
            <a:r>
              <a:rPr lang="zh-CN" altLang="en-US" dirty="0">
                <a:solidFill>
                  <a:srgbClr val="00B050"/>
                </a:solidFill>
                <a:ea typeface="楷体_GB2312" pitchFamily="49" charset="-122"/>
              </a:rPr>
              <a:t>将输入整数 </a:t>
            </a:r>
            <a:r>
              <a:rPr lang="en-US" altLang="zh-CN" dirty="0">
                <a:solidFill>
                  <a:srgbClr val="00B050"/>
                </a:solidFill>
                <a:ea typeface="楷体_GB2312" pitchFamily="49" charset="-122"/>
              </a:rPr>
              <a:t>N </a:t>
            </a:r>
            <a:r>
              <a:rPr lang="zh-CN" altLang="en-US" dirty="0">
                <a:solidFill>
                  <a:srgbClr val="00B050"/>
                </a:solidFill>
                <a:ea typeface="楷体_GB2312" pitchFamily="49" charset="-122"/>
              </a:rPr>
              <a:t>转换成八进制</a:t>
            </a:r>
            <a:endParaRPr lang="en-US" altLang="zh-CN" dirty="0">
              <a:solidFill>
                <a:srgbClr val="00B050"/>
              </a:solidFill>
              <a:ea typeface="楷体_GB2312" pitchFamily="49" charset="-122"/>
            </a:endParaRPr>
          </a:p>
          <a:p>
            <a:pPr indent="0">
              <a:lnSpc>
                <a:spcPct val="15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dirty="0">
                <a:solidFill>
                  <a:srgbClr val="FF0000"/>
                </a:solidFill>
                <a:ea typeface="楷体_GB2312" pitchFamily="49" charset="-122"/>
              </a:rPr>
              <a:t>    </a:t>
            </a:r>
            <a:r>
              <a:rPr lang="en-US" altLang="zh-CN" dirty="0" err="1">
                <a:solidFill>
                  <a:srgbClr val="0000FF"/>
                </a:solidFill>
                <a:ea typeface="楷体_GB2312" pitchFamily="49" charset="-122"/>
              </a:rPr>
              <a:t>InitStack</a:t>
            </a:r>
            <a:r>
              <a:rPr lang="en-US" altLang="zh-CN" dirty="0">
                <a:solidFill>
                  <a:srgbClr val="0000FF"/>
                </a:solidFill>
                <a:ea typeface="楷体_GB2312" pitchFamily="49" charset="-122"/>
              </a:rPr>
              <a:t>(S); </a:t>
            </a:r>
          </a:p>
          <a:p>
            <a:pPr indent="0">
              <a:lnSpc>
                <a:spcPct val="15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dirty="0">
                <a:ea typeface="楷体_GB2312" pitchFamily="49" charset="-122"/>
              </a:rPr>
              <a:t>    while (N) { </a:t>
            </a:r>
            <a:r>
              <a:rPr lang="en-US" altLang="zh-CN" dirty="0">
                <a:solidFill>
                  <a:srgbClr val="00B050"/>
                </a:solidFill>
                <a:ea typeface="楷体_GB2312" pitchFamily="49" charset="-122"/>
              </a:rPr>
              <a:t>//</a:t>
            </a:r>
            <a:r>
              <a:rPr lang="zh-CN" altLang="en-US" dirty="0">
                <a:solidFill>
                  <a:srgbClr val="00B050"/>
                </a:solidFill>
                <a:ea typeface="楷体_GB2312" pitchFamily="49" charset="-122"/>
              </a:rPr>
              <a:t> 将每次求余得到的八进制数压栈</a:t>
            </a:r>
            <a:endParaRPr lang="en-US" altLang="zh-CN" dirty="0">
              <a:solidFill>
                <a:srgbClr val="00B050"/>
              </a:solidFill>
              <a:ea typeface="楷体_GB2312" pitchFamily="49" charset="-122"/>
            </a:endParaRPr>
          </a:p>
          <a:p>
            <a:pPr indent="0">
              <a:lnSpc>
                <a:spcPct val="15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dirty="0">
                <a:solidFill>
                  <a:srgbClr val="0000FF"/>
                </a:solidFill>
                <a:ea typeface="楷体_GB2312" pitchFamily="49" charset="-122"/>
              </a:rPr>
              <a:t>        Push(S, N%8);        </a:t>
            </a:r>
            <a:r>
              <a:rPr lang="en-US" altLang="zh-CN" dirty="0">
                <a:ea typeface="楷体_GB2312" pitchFamily="49" charset="-122"/>
              </a:rPr>
              <a:t>N = N/8;</a:t>
            </a:r>
          </a:p>
          <a:p>
            <a:pPr indent="0">
              <a:lnSpc>
                <a:spcPct val="15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dirty="0">
                <a:ea typeface="楷体_GB2312" pitchFamily="49" charset="-122"/>
              </a:rPr>
              <a:t>    }</a:t>
            </a:r>
          </a:p>
          <a:p>
            <a:pPr indent="0">
              <a:lnSpc>
                <a:spcPct val="15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dirty="0">
                <a:ea typeface="楷体_GB2312" pitchFamily="49" charset="-122"/>
              </a:rPr>
              <a:t>    while (!</a:t>
            </a:r>
            <a:r>
              <a:rPr lang="en-US" altLang="zh-CN" dirty="0" err="1">
                <a:solidFill>
                  <a:srgbClr val="0000FF"/>
                </a:solidFill>
                <a:ea typeface="楷体_GB2312" pitchFamily="49" charset="-122"/>
              </a:rPr>
              <a:t>StackEmpty</a:t>
            </a:r>
            <a:r>
              <a:rPr lang="en-US" altLang="zh-CN" dirty="0">
                <a:solidFill>
                  <a:srgbClr val="0000FF"/>
                </a:solidFill>
                <a:ea typeface="楷体_GB2312" pitchFamily="49" charset="-122"/>
              </a:rPr>
              <a:t>(S)</a:t>
            </a:r>
            <a:r>
              <a:rPr lang="en-US" altLang="zh-CN" dirty="0">
                <a:ea typeface="楷体_GB2312" pitchFamily="49" charset="-122"/>
              </a:rPr>
              <a:t>) { </a:t>
            </a:r>
            <a:r>
              <a:rPr lang="en-US" altLang="zh-CN" dirty="0">
                <a:solidFill>
                  <a:srgbClr val="00B050"/>
                </a:solidFill>
                <a:ea typeface="楷体_GB2312" pitchFamily="49" charset="-122"/>
              </a:rPr>
              <a:t>// </a:t>
            </a:r>
            <a:r>
              <a:rPr lang="zh-CN" altLang="en-US" dirty="0">
                <a:solidFill>
                  <a:srgbClr val="00B050"/>
                </a:solidFill>
                <a:ea typeface="楷体_GB2312" pitchFamily="49" charset="-122"/>
              </a:rPr>
              <a:t>弹栈，从高位到低位输出八进制数</a:t>
            </a:r>
            <a:endParaRPr lang="en-US" altLang="zh-CN" dirty="0">
              <a:solidFill>
                <a:srgbClr val="00B050"/>
              </a:solidFill>
              <a:ea typeface="楷体_GB2312" pitchFamily="49" charset="-122"/>
            </a:endParaRPr>
          </a:p>
          <a:p>
            <a:pPr indent="0">
              <a:lnSpc>
                <a:spcPct val="15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dirty="0">
                <a:ea typeface="楷体_GB2312" pitchFamily="49" charset="-122"/>
              </a:rPr>
              <a:t>        </a:t>
            </a:r>
            <a:r>
              <a:rPr lang="en-US" altLang="zh-CN" dirty="0">
                <a:solidFill>
                  <a:srgbClr val="0000FF"/>
                </a:solidFill>
                <a:ea typeface="楷体_GB2312" pitchFamily="49" charset="-122"/>
              </a:rPr>
              <a:t>Pop(S, e);      </a:t>
            </a:r>
            <a:r>
              <a:rPr lang="en-US" altLang="zh-CN" dirty="0" err="1">
                <a:ea typeface="楷体_GB2312" pitchFamily="49" charset="-122"/>
              </a:rPr>
              <a:t>cout</a:t>
            </a:r>
            <a:r>
              <a:rPr lang="en-US" altLang="zh-CN" dirty="0">
                <a:ea typeface="楷体_GB2312" pitchFamily="49" charset="-122"/>
              </a:rPr>
              <a:t> &lt;&lt; e;</a:t>
            </a:r>
          </a:p>
          <a:p>
            <a:pPr indent="0">
              <a:lnSpc>
                <a:spcPct val="15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dirty="0">
                <a:ea typeface="楷体_GB2312" pitchFamily="49" charset="-122"/>
              </a:rPr>
              <a:t>    }</a:t>
            </a:r>
          </a:p>
          <a:p>
            <a:pPr indent="0">
              <a:lnSpc>
                <a:spcPct val="15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dirty="0">
                <a:ea typeface="楷体_GB2312" pitchFamily="49" charset="-122"/>
              </a:rPr>
              <a:t>} </a:t>
            </a:r>
            <a:r>
              <a:rPr lang="en-US" altLang="zh-CN" dirty="0">
                <a:solidFill>
                  <a:srgbClr val="00B050"/>
                </a:solidFill>
                <a:ea typeface="楷体_GB2312" pitchFamily="49" charset="-122"/>
              </a:rPr>
              <a:t>// conversion</a:t>
            </a:r>
            <a:endParaRPr kumimoji="0" lang="en-US" altLang="zh-CN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ea typeface="微软雅黑" panose="020B0503020204020204" pitchFamily="34" charset="-122"/>
              <a:cs typeface="+mn-cs"/>
              <a:sym typeface="+mn-lt"/>
            </a:endParaRPr>
          </a:p>
        </p:txBody>
      </p:sp>
      <p:sp>
        <p:nvSpPr>
          <p:cNvPr id="145413" name="Rectangle 154"/>
          <p:cNvSpPr txBox="1"/>
          <p:nvPr/>
        </p:nvSpPr>
        <p:spPr>
          <a:xfrm>
            <a:off x="827088" y="163513"/>
            <a:ext cx="4933950" cy="6096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indent="538480" algn="l" rtl="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2400" b="0">
                <a:solidFill>
                  <a:schemeClr val="tx1"/>
                </a:solidFill>
                <a:latin typeface="+mn-lt"/>
                <a:ea typeface="微软雅黑" panose="020B0503020204020204" pitchFamily="34" charset="-122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5pPr>
          </a:lstStyle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Times New Roman"/>
                <a:ea typeface="微软雅黑" panose="020B0503020204020204" pitchFamily="34" charset="-122"/>
                <a:cs typeface="+mn-cs"/>
                <a:sym typeface="+mn-lt"/>
              </a:rPr>
              <a:t>案例</a:t>
            </a:r>
            <a:r>
              <a:rPr lang="en-US" altLang="zh-CN" sz="2800" dirty="0">
                <a:solidFill>
                  <a:srgbClr val="FEFFFF"/>
                </a:solidFill>
                <a:latin typeface="Times New Roman"/>
                <a:sym typeface="+mn-lt"/>
              </a:rPr>
              <a:t>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Times New Roman"/>
                <a:ea typeface="微软雅黑" panose="020B0503020204020204" pitchFamily="34" charset="-122"/>
                <a:cs typeface="+mn-cs"/>
                <a:sym typeface="+mn-lt"/>
              </a:rPr>
              <a:t>1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Times New Roman"/>
                <a:ea typeface="微软雅黑" panose="020B0503020204020204" pitchFamily="34" charset="-122"/>
                <a:cs typeface="+mn-cs"/>
                <a:sym typeface="+mn-lt"/>
              </a:rPr>
              <a:t>：数制转换</a:t>
            </a:r>
          </a:p>
        </p:txBody>
      </p:sp>
    </p:spTree>
    <p:extLst>
      <p:ext uri="{BB962C8B-B14F-4D97-AF65-F5344CB8AC3E}">
        <p14:creationId xmlns:p14="http://schemas.microsoft.com/office/powerpoint/2010/main" val="209315116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734D025-0383-498B-B19C-8106578384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案例 </a:t>
            </a:r>
            <a:r>
              <a:rPr lang="en-US" altLang="zh-CN" dirty="0"/>
              <a:t>2</a:t>
            </a:r>
            <a:r>
              <a:rPr lang="zh-CN" altLang="en-US" dirty="0"/>
              <a:t>：括号匹配的检验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BA0DC28-F595-427D-BA1B-E03E26DD50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6087" y="906860"/>
            <a:ext cx="8374385" cy="5472112"/>
          </a:xfrm>
        </p:spPr>
        <p:txBody>
          <a:bodyPr/>
          <a:lstStyle/>
          <a:p>
            <a:pPr marL="0" indent="0">
              <a:buNone/>
            </a:pPr>
            <a:r>
              <a:rPr lang="zh-CN" altLang="en-US" dirty="0"/>
              <a:t>假设表达式中允许包含两种括号：圆括号和方括号。其嵌套顺序随意，即 </a:t>
            </a:r>
            <a:r>
              <a:rPr lang="en-US" altLang="zh-CN" dirty="0">
                <a:solidFill>
                  <a:srgbClr val="0000FF"/>
                </a:solidFill>
              </a:rPr>
              <a:t>([ ]()) </a:t>
            </a:r>
            <a:r>
              <a:rPr lang="zh-CN" altLang="en-US" dirty="0"/>
              <a:t>或 </a:t>
            </a:r>
            <a:r>
              <a:rPr lang="en-US" altLang="zh-CN" dirty="0">
                <a:solidFill>
                  <a:srgbClr val="0000FF"/>
                </a:solidFill>
              </a:rPr>
              <a:t>[([ ][ ])] </a:t>
            </a:r>
            <a:r>
              <a:rPr lang="zh-CN" altLang="en-US" dirty="0"/>
              <a:t>等为正确的格式，</a:t>
            </a:r>
            <a:r>
              <a:rPr lang="en-US" altLang="zh-CN" dirty="0"/>
              <a:t>[( ]) </a:t>
            </a:r>
            <a:r>
              <a:rPr lang="zh-CN" altLang="en-US" dirty="0"/>
              <a:t>或 </a:t>
            </a:r>
            <a:r>
              <a:rPr lang="en-US" altLang="zh-CN" dirty="0"/>
              <a:t>([( )) </a:t>
            </a:r>
            <a:r>
              <a:rPr lang="zh-CN" altLang="en-US" dirty="0"/>
              <a:t>或 </a:t>
            </a:r>
            <a:r>
              <a:rPr lang="en-US" altLang="zh-CN" dirty="0"/>
              <a:t>(( )]) </a:t>
            </a:r>
            <a:r>
              <a:rPr lang="zh-CN" altLang="en-US" dirty="0"/>
              <a:t>均为不正确的格式。</a:t>
            </a:r>
            <a:endParaRPr lang="en-US" altLang="zh-CN" dirty="0"/>
          </a:p>
          <a:p>
            <a:pPr>
              <a:spcBef>
                <a:spcPct val="0"/>
              </a:spcBef>
              <a:buClrTx/>
              <a:buFontTx/>
              <a:buNone/>
            </a:pPr>
            <a:endParaRPr lang="en-US" altLang="zh-CN" sz="28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zh-CN" altLang="en-US" sz="2800" dirty="0">
                <a:latin typeface="楷体" panose="02010609060101010101" pitchFamily="49" charset="-122"/>
                <a:ea typeface="楷体" panose="02010609060101010101" pitchFamily="49" charset="-122"/>
              </a:rPr>
              <a:t>例如：考虑下列括号序列：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zh-CN" altLang="en-US" sz="2800" dirty="0">
                <a:latin typeface="楷体" panose="02010609060101010101" pitchFamily="49" charset="-122"/>
                <a:ea typeface="楷体" panose="02010609060101010101" pitchFamily="49" charset="-122"/>
              </a:rPr>
              <a:t>           </a:t>
            </a:r>
            <a:r>
              <a:rPr lang="en-US" altLang="zh-CN" sz="2800" dirty="0">
                <a:latin typeface="楷体" panose="02010609060101010101" pitchFamily="49" charset="-122"/>
                <a:ea typeface="楷体" panose="02010609060101010101" pitchFamily="49" charset="-122"/>
              </a:rPr>
              <a:t>[  (   [   ]  [   ]   )  ]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800" dirty="0">
                <a:latin typeface="楷体" panose="02010609060101010101" pitchFamily="49" charset="-122"/>
                <a:ea typeface="楷体" panose="02010609060101010101" pitchFamily="49" charset="-122"/>
              </a:rPr>
              <a:t>           1   2  3   4   5  6   7  8</a:t>
            </a:r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zh-CN" altLang="en-US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4952617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35" name="矩形 1"/>
          <p:cNvSpPr/>
          <p:nvPr/>
        </p:nvSpPr>
        <p:spPr>
          <a:xfrm>
            <a:off x="0" y="991714"/>
            <a:ext cx="3131840" cy="469900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txBody>
          <a:bodyPr/>
          <a:lstStyle>
            <a:lvl1pPr indent="538480" algn="l" rtl="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2400" b="0">
                <a:solidFill>
                  <a:schemeClr val="tx1"/>
                </a:solidFill>
                <a:latin typeface="+mn-lt"/>
                <a:ea typeface="微软雅黑" panose="020B0503020204020204" pitchFamily="34" charset="-122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5pPr>
          </a:lstStyle>
          <a:p>
            <a:pPr marL="342900" indent="-342900" algn="ctr">
              <a:lnSpc>
                <a:spcPct val="100000"/>
              </a:lnSpc>
              <a:spcBef>
                <a:spcPct val="20000"/>
              </a:spcBef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Times New Roman"/>
                <a:ea typeface="Microsoft YaHei"/>
                <a:cs typeface="+mn-ea"/>
                <a:sym typeface="+mn-lt"/>
              </a:rPr>
              <a:t>【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Times New Roman"/>
                <a:ea typeface="Microsoft YaHei"/>
                <a:cs typeface="+mn-ea"/>
                <a:sym typeface="+mn-lt"/>
              </a:rPr>
              <a:t>算法基本思想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Times New Roman"/>
                <a:ea typeface="Microsoft YaHei"/>
                <a:cs typeface="+mn-ea"/>
                <a:sym typeface="+mn-lt"/>
              </a:rPr>
              <a:t>】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Microsoft YaHei"/>
              <a:cs typeface="+mn-ea"/>
              <a:sym typeface="+mn-lt"/>
            </a:endParaRPr>
          </a:p>
          <a:p>
            <a:pPr marL="342900" marR="0" lvl="0" indent="-342900" algn="ctr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仿宋_GB2312" pitchFamily="49" charset="-122"/>
              <a:cs typeface="+mn-cs"/>
            </a:endParaRPr>
          </a:p>
        </p:txBody>
      </p:sp>
      <p:sp>
        <p:nvSpPr>
          <p:cNvPr id="146436" name="Rectangle 154"/>
          <p:cNvSpPr txBox="1"/>
          <p:nvPr/>
        </p:nvSpPr>
        <p:spPr>
          <a:xfrm>
            <a:off x="827088" y="134938"/>
            <a:ext cx="4933950" cy="6096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indent="538480" algn="l" rtl="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2400" b="0">
                <a:solidFill>
                  <a:schemeClr val="tx1"/>
                </a:solidFill>
                <a:latin typeface="+mn-lt"/>
                <a:ea typeface="微软雅黑" panose="020B0503020204020204" pitchFamily="34" charset="-122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5pPr>
          </a:lstStyle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Times New Roman"/>
                <a:ea typeface="微软雅黑" panose="020B0503020204020204" pitchFamily="34" charset="-122"/>
                <a:cs typeface="+mn-cs"/>
                <a:sym typeface="+mn-lt"/>
              </a:rPr>
              <a:t>案例</a:t>
            </a:r>
            <a:r>
              <a:rPr lang="en-US" altLang="zh-CN" sz="2800" dirty="0">
                <a:solidFill>
                  <a:srgbClr val="FEFFFF"/>
                </a:solidFill>
                <a:latin typeface="Times New Roman"/>
                <a:sym typeface="+mn-lt"/>
              </a:rPr>
              <a:t>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Times New Roman"/>
                <a:ea typeface="微软雅黑" panose="020B0503020204020204" pitchFamily="34" charset="-122"/>
                <a:cs typeface="+mn-cs"/>
                <a:sym typeface="+mn-lt"/>
              </a:rPr>
              <a:t>2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Times New Roman"/>
                <a:ea typeface="微软雅黑" panose="020B0503020204020204" pitchFamily="34" charset="-122"/>
                <a:cs typeface="+mn-cs"/>
                <a:sym typeface="+mn-lt"/>
              </a:rPr>
              <a:t>：括号匹配的检验</a:t>
            </a:r>
          </a:p>
        </p:txBody>
      </p:sp>
      <p:sp>
        <p:nvSpPr>
          <p:cNvPr id="132100" name="Text Box 5"/>
          <p:cNvSpPr txBox="1">
            <a:spLocks noChangeArrowheads="1"/>
          </p:cNvSpPr>
          <p:nvPr/>
        </p:nvSpPr>
        <p:spPr bwMode="auto">
          <a:xfrm>
            <a:off x="379692" y="1812129"/>
            <a:ext cx="8384615" cy="38942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ea typeface="+mn-ea"/>
                <a:cs typeface="+mn-ea"/>
                <a:sym typeface="+mn-lt"/>
              </a:rPr>
              <a:t>1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ea typeface="+mn-ea"/>
                <a:cs typeface="+mn-ea"/>
                <a:sym typeface="+mn-lt"/>
              </a:rPr>
              <a:t>）凡出现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ea"/>
                <a:ea typeface="+mn-ea"/>
                <a:cs typeface="+mn-ea"/>
                <a:sym typeface="+mn-lt"/>
              </a:rPr>
              <a:t>左括弧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ea typeface="+mn-ea"/>
                <a:cs typeface="+mn-ea"/>
                <a:sym typeface="+mn-lt"/>
              </a:rPr>
              <a:t>，则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cs typeface="+mn-ea"/>
                <a:sym typeface="+mn-lt"/>
              </a:rPr>
              <a:t>进栈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ea typeface="+mn-ea"/>
                <a:cs typeface="+mn-ea"/>
                <a:sym typeface="+mn-lt"/>
              </a:rPr>
              <a:t>；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ea typeface="+mn-ea"/>
                <a:cs typeface="+mn-ea"/>
                <a:sym typeface="+mn-lt"/>
              </a:rPr>
              <a:t>2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ea typeface="+mn-ea"/>
                <a:cs typeface="+mn-ea"/>
                <a:sym typeface="+mn-lt"/>
              </a:rPr>
              <a:t>）凡出现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ea"/>
                <a:ea typeface="+mn-ea"/>
                <a:cs typeface="+mn-ea"/>
                <a:sym typeface="+mn-lt"/>
              </a:rPr>
              <a:t>右括弧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ea typeface="+mn-ea"/>
                <a:cs typeface="+mn-ea"/>
                <a:sym typeface="+mn-lt"/>
              </a:rPr>
              <a:t>，首先检查栈是否空；若栈空，则表明该“右括弧”多余，否则和栈顶元素比较，若相匹配，则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cs typeface="+mn-ea"/>
                <a:sym typeface="+mn-lt"/>
              </a:rPr>
              <a:t>左括弧出栈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ea typeface="+mn-ea"/>
                <a:cs typeface="+mn-ea"/>
                <a:sym typeface="+mn-lt"/>
              </a:rPr>
              <a:t>，否则表明不匹配。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ea typeface="+mn-ea"/>
                <a:cs typeface="+mn-ea"/>
                <a:sym typeface="+mn-lt"/>
              </a:rPr>
              <a:t>3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ea typeface="+mn-ea"/>
                <a:cs typeface="+mn-ea"/>
                <a:sym typeface="+mn-lt"/>
              </a:rPr>
              <a:t>）表达式检验结束时，若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cs typeface="+mn-ea"/>
                <a:sym typeface="+mn-lt"/>
              </a:rPr>
              <a:t>栈空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ea typeface="+mn-ea"/>
                <a:cs typeface="+mn-ea"/>
                <a:sym typeface="+mn-lt"/>
              </a:rPr>
              <a:t>，则表明表达式中匹配正确，否则表明“左括弧”有余。</a:t>
            </a:r>
          </a:p>
        </p:txBody>
      </p:sp>
    </p:spTree>
    <p:extLst>
      <p:ext uri="{BB962C8B-B14F-4D97-AF65-F5344CB8AC3E}">
        <p14:creationId xmlns:p14="http://schemas.microsoft.com/office/powerpoint/2010/main" val="185085706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35" name="矩形 1"/>
          <p:cNvSpPr/>
          <p:nvPr/>
        </p:nvSpPr>
        <p:spPr>
          <a:xfrm>
            <a:off x="0" y="939689"/>
            <a:ext cx="2771775" cy="469900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txBody>
          <a:bodyPr/>
          <a:lstStyle>
            <a:lvl1pPr indent="538480" algn="l" rtl="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2400" b="0">
                <a:solidFill>
                  <a:schemeClr val="tx1"/>
                </a:solidFill>
                <a:latin typeface="+mn-lt"/>
                <a:ea typeface="微软雅黑" panose="020B0503020204020204" pitchFamily="34" charset="-122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5pPr>
          </a:lstStyle>
          <a:p>
            <a:pPr marL="342900" indent="-342900" algn="ctr">
              <a:lnSpc>
                <a:spcPct val="100000"/>
              </a:lnSpc>
              <a:spcBef>
                <a:spcPct val="20000"/>
              </a:spcBef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Times New Roman"/>
                <a:ea typeface="Microsoft YaHei"/>
                <a:cs typeface="+mn-ea"/>
                <a:sym typeface="+mn-lt"/>
              </a:rPr>
              <a:t>【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Times New Roman"/>
                <a:ea typeface="Microsoft YaHei"/>
                <a:cs typeface="+mn-ea"/>
                <a:sym typeface="+mn-lt"/>
              </a:rPr>
              <a:t>算法步骤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Times New Roman"/>
                <a:ea typeface="Microsoft YaHei"/>
                <a:cs typeface="+mn-ea"/>
                <a:sym typeface="+mn-lt"/>
              </a:rPr>
              <a:t>】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Microsoft YaHei"/>
              <a:cs typeface="+mn-ea"/>
              <a:sym typeface="+mn-lt"/>
            </a:endParaRPr>
          </a:p>
          <a:p>
            <a:pPr marL="342900" marR="0" lvl="0" indent="-342900" algn="ctr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仿宋_GB2312" pitchFamily="49" charset="-122"/>
              <a:cs typeface="+mn-cs"/>
            </a:endParaRPr>
          </a:p>
        </p:txBody>
      </p:sp>
      <p:sp>
        <p:nvSpPr>
          <p:cNvPr id="146436" name="Rectangle 154"/>
          <p:cNvSpPr txBox="1"/>
          <p:nvPr/>
        </p:nvSpPr>
        <p:spPr>
          <a:xfrm>
            <a:off x="827088" y="134938"/>
            <a:ext cx="4933950" cy="6096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indent="538480" algn="l" rtl="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2400" b="0">
                <a:solidFill>
                  <a:schemeClr val="tx1"/>
                </a:solidFill>
                <a:latin typeface="+mn-lt"/>
                <a:ea typeface="微软雅黑" panose="020B0503020204020204" pitchFamily="34" charset="-122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5pPr>
          </a:lstStyle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Times New Roman"/>
                <a:ea typeface="微软雅黑" panose="020B0503020204020204" pitchFamily="34" charset="-122"/>
                <a:cs typeface="+mn-cs"/>
                <a:sym typeface="+mn-lt"/>
              </a:rPr>
              <a:t>案例</a:t>
            </a:r>
            <a:r>
              <a:rPr lang="en-US" altLang="zh-CN" sz="2800" dirty="0">
                <a:solidFill>
                  <a:srgbClr val="FEFFFF"/>
                </a:solidFill>
                <a:latin typeface="Times New Roman"/>
                <a:sym typeface="+mn-lt"/>
              </a:rPr>
              <a:t>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Times New Roman"/>
                <a:ea typeface="微软雅黑" panose="020B0503020204020204" pitchFamily="34" charset="-122"/>
                <a:cs typeface="+mn-cs"/>
                <a:sym typeface="+mn-lt"/>
              </a:rPr>
              <a:t>2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Times New Roman"/>
                <a:ea typeface="微软雅黑" panose="020B0503020204020204" pitchFamily="34" charset="-122"/>
                <a:cs typeface="+mn-cs"/>
                <a:sym typeface="+mn-lt"/>
              </a:rPr>
              <a:t>：括号匹配的检验</a:t>
            </a:r>
          </a:p>
        </p:txBody>
      </p:sp>
      <p:sp>
        <p:nvSpPr>
          <p:cNvPr id="132100" name="Text Box 5"/>
          <p:cNvSpPr txBox="1">
            <a:spLocks noChangeArrowheads="1"/>
          </p:cNvSpPr>
          <p:nvPr/>
        </p:nvSpPr>
        <p:spPr bwMode="auto">
          <a:xfrm>
            <a:off x="179512" y="1614744"/>
            <a:ext cx="8784976" cy="51053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cs typeface="+mn-ea"/>
                <a:sym typeface="+mn-lt"/>
              </a:rPr>
              <a:t>①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  <a:cs typeface="+mn-ea"/>
                <a:sym typeface="+mn-lt"/>
              </a:rPr>
              <a:t> 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  <a:cs typeface="+mn-ea"/>
                <a:sym typeface="+mn-lt"/>
              </a:rPr>
              <a:t>初始化一个空栈 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  <a:cs typeface="+mn-ea"/>
                <a:sym typeface="+mn-lt"/>
              </a:rPr>
              <a:t>S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  <a:cs typeface="+mn-ea"/>
                <a:sym typeface="+mn-lt"/>
              </a:rPr>
              <a:t>。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cs typeface="+mn-ea"/>
                <a:sym typeface="+mn-lt"/>
              </a:rPr>
              <a:t>②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  <a:cs typeface="+mn-ea"/>
                <a:sym typeface="+mn-lt"/>
              </a:rPr>
              <a:t> 设置一标记变量 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  <a:cs typeface="+mn-ea"/>
                <a:sym typeface="+mn-lt"/>
              </a:rPr>
              <a:t>match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  <a:cs typeface="+mn-ea"/>
                <a:sym typeface="+mn-lt"/>
              </a:rPr>
              <a:t>，用来标记匹配结果</a:t>
            </a:r>
            <a:r>
              <a:rPr lang="zh-CN" altLang="en-US" b="0" dirty="0">
                <a:solidFill>
                  <a:srgbClr val="000000"/>
                </a:solidFill>
                <a:latin typeface="+mn-ea"/>
                <a:ea typeface="+mn-ea"/>
                <a:cs typeface="+mn-ea"/>
                <a:sym typeface="+mn-lt"/>
              </a:rPr>
              <a:t>，初始值为</a:t>
            </a:r>
            <a:r>
              <a:rPr lang="en-US" altLang="zh-CN" b="0" dirty="0">
                <a:solidFill>
                  <a:srgbClr val="000000"/>
                </a:solidFill>
                <a:latin typeface="+mn-ea"/>
                <a:ea typeface="+mn-ea"/>
                <a:cs typeface="+mn-ea"/>
                <a:sym typeface="+mn-lt"/>
              </a:rPr>
              <a:t> 1</a:t>
            </a:r>
            <a:r>
              <a:rPr lang="zh-CN" altLang="en-US" b="0" dirty="0">
                <a:solidFill>
                  <a:srgbClr val="000000"/>
                </a:solidFill>
                <a:latin typeface="+mn-ea"/>
                <a:ea typeface="+mn-ea"/>
                <a:cs typeface="+mn-ea"/>
                <a:sym typeface="+mn-lt"/>
              </a:rPr>
              <a:t>。</a:t>
            </a:r>
            <a:endParaRPr kumimoji="0" lang="en-US" altLang="zh-CN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  <a:ea typeface="+mn-ea"/>
              <a:cs typeface="+mn-ea"/>
              <a:sym typeface="+mn-lt"/>
            </a:endParaRP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cs typeface="+mn-ea"/>
                <a:sym typeface="+mn-lt"/>
              </a:rPr>
              <a:t>③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  <a:cs typeface="+mn-ea"/>
                <a:sym typeface="+mn-lt"/>
              </a:rPr>
              <a:t> 从左到右扫描表达式依次读入字符 </a:t>
            </a:r>
            <a:r>
              <a:rPr kumimoji="0" lang="en-US" altLang="zh-CN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  <a:cs typeface="+mn-ea"/>
                <a:sym typeface="+mn-lt"/>
              </a:rPr>
              <a:t>ch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  <a:cs typeface="+mn-ea"/>
                <a:sym typeface="+mn-lt"/>
              </a:rPr>
              <a:t>，循环执行以下操作：</a:t>
            </a:r>
          </a:p>
          <a:p>
            <a:pPr marL="800100" lvl="2" indent="-342900">
              <a:lnSpc>
                <a:spcPct val="150000"/>
              </a:lnSpc>
              <a:spcBef>
                <a:spcPts val="0"/>
              </a:spcBef>
              <a:buClr>
                <a:srgbClr val="6C4C8F">
                  <a:lumMod val="75000"/>
                </a:srgbClr>
              </a:buClr>
              <a:buFont typeface="Arial" panose="020B0604020202020204" pitchFamily="34" charset="0"/>
              <a:buChar char="•"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  <a:cs typeface="+mn-ea"/>
                <a:sym typeface="+mn-lt"/>
              </a:rPr>
              <a:t>若 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  <a:cs typeface="+mn-ea"/>
                <a:sym typeface="+mn-lt"/>
              </a:rPr>
              <a:t>ch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  <a:cs typeface="+mn-ea"/>
                <a:sym typeface="+mn-lt"/>
              </a:rPr>
              <a:t>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  <a:cs typeface="+mn-ea"/>
                <a:sym typeface="+mn-lt"/>
              </a:rPr>
              <a:t>是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ea"/>
                <a:ea typeface="+mn-ea"/>
                <a:cs typeface="+mn-ea"/>
                <a:sym typeface="+mn-lt"/>
              </a:rPr>
              <a:t>左括号“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ea"/>
                <a:ea typeface="+mn-ea"/>
                <a:cs typeface="+mn-ea"/>
                <a:sym typeface="+mn-lt"/>
              </a:rPr>
              <a:t>[”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ea"/>
                <a:ea typeface="+mn-ea"/>
                <a:cs typeface="+mn-ea"/>
                <a:sym typeface="+mn-lt"/>
              </a:rPr>
              <a:t>或“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ea"/>
                <a:ea typeface="+mn-ea"/>
                <a:cs typeface="+mn-ea"/>
                <a:sym typeface="+mn-lt"/>
              </a:rPr>
              <a:t>(”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  <a:cs typeface="+mn-ea"/>
                <a:sym typeface="+mn-lt"/>
              </a:rPr>
              <a:t>，则将其压入栈；</a:t>
            </a:r>
          </a:p>
          <a:p>
            <a:pPr marL="800100" lvl="2" indent="-342900">
              <a:lnSpc>
                <a:spcPct val="150000"/>
              </a:lnSpc>
              <a:spcBef>
                <a:spcPts val="0"/>
              </a:spcBef>
              <a:buClr>
                <a:srgbClr val="6C4C8F">
                  <a:lumMod val="75000"/>
                </a:srgbClr>
              </a:buClr>
              <a:buFont typeface="Arial" panose="020B0604020202020204" pitchFamily="34" charset="0"/>
              <a:buChar char="•"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  <a:cs typeface="+mn-ea"/>
                <a:sym typeface="+mn-lt"/>
              </a:rPr>
              <a:t>若 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  <a:cs typeface="+mn-ea"/>
                <a:sym typeface="+mn-lt"/>
              </a:rPr>
              <a:t>ch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  <a:cs typeface="+mn-ea"/>
                <a:sym typeface="+mn-lt"/>
              </a:rPr>
              <a:t>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  <a:cs typeface="+mn-ea"/>
                <a:sym typeface="+mn-lt"/>
              </a:rPr>
              <a:t>是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ea"/>
                <a:ea typeface="+mn-ea"/>
                <a:cs typeface="+mn-ea"/>
                <a:sym typeface="+mn-lt"/>
              </a:rPr>
              <a:t>右括号“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ea"/>
                <a:ea typeface="+mn-ea"/>
                <a:cs typeface="+mn-ea"/>
                <a:sym typeface="+mn-lt"/>
              </a:rPr>
              <a:t>)”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  <a:cs typeface="+mn-ea"/>
                <a:sym typeface="+mn-lt"/>
              </a:rPr>
              <a:t>，则分情况考虑：若栈非空且栈顶元素是“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  <a:cs typeface="+mn-ea"/>
                <a:sym typeface="+mn-lt"/>
              </a:rPr>
              <a:t>(”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  <a:cs typeface="+mn-ea"/>
                <a:sym typeface="+mn-lt"/>
              </a:rPr>
              <a:t>，则正确匹配；否则错误匹配，</a:t>
            </a:r>
            <a:r>
              <a:rPr lang="en-US" altLang="zh-CN" sz="2000" b="0" dirty="0">
                <a:solidFill>
                  <a:srgbClr val="000000"/>
                </a:solidFill>
                <a:latin typeface="+mn-ea"/>
                <a:ea typeface="+mn-ea"/>
                <a:cs typeface="+mn-ea"/>
                <a:sym typeface="+mn-lt"/>
              </a:rPr>
              <a:t>match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  <a:cs typeface="+mn-ea"/>
                <a:sym typeface="+mn-lt"/>
              </a:rPr>
              <a:t>置为 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  <a:cs typeface="+mn-ea"/>
                <a:sym typeface="+mn-lt"/>
              </a:rPr>
              <a:t>0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  <a:cs typeface="+mn-ea"/>
                <a:sym typeface="+mn-lt"/>
              </a:rPr>
              <a:t>，退出循环；</a:t>
            </a:r>
          </a:p>
          <a:p>
            <a:pPr marL="800100" lvl="2" indent="-342900">
              <a:lnSpc>
                <a:spcPct val="150000"/>
              </a:lnSpc>
              <a:spcBef>
                <a:spcPts val="0"/>
              </a:spcBef>
              <a:buClr>
                <a:srgbClr val="6C4C8F">
                  <a:lumMod val="75000"/>
                </a:srgbClr>
              </a:buClr>
              <a:buFont typeface="Arial" panose="020B0604020202020204" pitchFamily="34" charset="0"/>
              <a:buChar char="•"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  <a:cs typeface="+mn-ea"/>
                <a:sym typeface="+mn-lt"/>
              </a:rPr>
              <a:t>若 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  <a:cs typeface="+mn-ea"/>
                <a:sym typeface="+mn-lt"/>
              </a:rPr>
              <a:t>ch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  <a:cs typeface="+mn-ea"/>
                <a:sym typeface="+mn-lt"/>
              </a:rPr>
              <a:t>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  <a:cs typeface="+mn-ea"/>
                <a:sym typeface="+mn-lt"/>
              </a:rPr>
              <a:t>是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ea"/>
                <a:ea typeface="+mn-ea"/>
                <a:cs typeface="+mn-ea"/>
                <a:sym typeface="+mn-lt"/>
              </a:rPr>
              <a:t>右括号“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ea"/>
                <a:ea typeface="+mn-ea"/>
                <a:cs typeface="+mn-ea"/>
                <a:sym typeface="+mn-lt"/>
              </a:rPr>
              <a:t>]”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  <a:cs typeface="+mn-ea"/>
                <a:sym typeface="+mn-lt"/>
              </a:rPr>
              <a:t>，则分情况考虑：若栈非空且栈顶元素是“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  <a:cs typeface="+mn-ea"/>
                <a:sym typeface="+mn-lt"/>
              </a:rPr>
              <a:t>[”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  <a:cs typeface="+mn-ea"/>
                <a:sym typeface="+mn-lt"/>
              </a:rPr>
              <a:t>，则正确匹配；否则错误匹配，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  <a:cs typeface="+mn-ea"/>
                <a:sym typeface="+mn-lt"/>
              </a:rPr>
              <a:t>match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  <a:cs typeface="+mn-ea"/>
                <a:sym typeface="+mn-lt"/>
              </a:rPr>
              <a:t>置为 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  <a:cs typeface="+mn-ea"/>
                <a:sym typeface="+mn-lt"/>
              </a:rPr>
              <a:t>0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  <a:cs typeface="+mn-ea"/>
                <a:sym typeface="+mn-lt"/>
              </a:rPr>
              <a:t>，退出循环。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cs typeface="+mn-ea"/>
                <a:sym typeface="+mn-lt"/>
              </a:rPr>
              <a:t>④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  <a:cs typeface="+mn-ea"/>
                <a:sym typeface="+mn-lt"/>
              </a:rPr>
              <a:t> 退出循环后，如果栈空且 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  <a:cs typeface="+mn-ea"/>
                <a:sym typeface="+mn-lt"/>
              </a:rPr>
              <a:t>match 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  <a:cs typeface="+mn-ea"/>
                <a:sym typeface="+mn-lt"/>
              </a:rPr>
              <a:t>值为 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  <a:cs typeface="+mn-ea"/>
                <a:sym typeface="+mn-lt"/>
              </a:rPr>
              <a:t>1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  <a:cs typeface="+mn-ea"/>
                <a:sym typeface="+mn-lt"/>
              </a:rPr>
              <a:t>，则匹配成功，返回 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  <a:cs typeface="+mn-ea"/>
                <a:sym typeface="+mn-lt"/>
              </a:rPr>
              <a:t>TRUE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  <a:cs typeface="+mn-ea"/>
                <a:sym typeface="+mn-lt"/>
              </a:rPr>
              <a:t>，否则返回 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  <a:cs typeface="+mn-ea"/>
                <a:sym typeface="+mn-lt"/>
              </a:rPr>
              <a:t>FALSE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  <a:cs typeface="+mn-ea"/>
                <a:sym typeface="+mn-lt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408670852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12" name="Rectangle 1"/>
          <p:cNvSpPr/>
          <p:nvPr/>
        </p:nvSpPr>
        <p:spPr>
          <a:xfrm>
            <a:off x="-8551" y="101725"/>
            <a:ext cx="9144000" cy="6673943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525">
            <a:noFill/>
          </a:ln>
        </p:spPr>
        <p:txBody>
          <a:bodyPr wrap="square" anchor="ctr" anchorCtr="0">
            <a:spAutoFit/>
          </a:bodyPr>
          <a:lstStyle>
            <a:lvl1pPr indent="538480" algn="l" rtl="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2400" b="0">
                <a:solidFill>
                  <a:schemeClr val="tx1"/>
                </a:solidFill>
                <a:latin typeface="+mn-lt"/>
                <a:ea typeface="微软雅黑" panose="020B0503020204020204" pitchFamily="34" charset="-122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5pPr>
          </a:lstStyle>
          <a:p>
            <a:pPr indent="0" eaLnBrk="1" hangingPunct="1">
              <a:lnSpc>
                <a:spcPct val="15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dirty="0">
                <a:ea typeface="楷体_GB2312" pitchFamily="49" charset="-122"/>
              </a:rPr>
              <a:t>bool matching (char exp[],</a:t>
            </a:r>
            <a:r>
              <a:rPr lang="zh-CN" altLang="en-US" dirty="0">
                <a:ea typeface="楷体_GB2312" pitchFamily="49" charset="-122"/>
              </a:rPr>
              <a:t> </a:t>
            </a:r>
            <a:r>
              <a:rPr lang="en-US" altLang="zh-CN" dirty="0">
                <a:ea typeface="楷体_GB2312" pitchFamily="49" charset="-122"/>
              </a:rPr>
              <a:t>int</a:t>
            </a:r>
            <a:r>
              <a:rPr lang="zh-CN" altLang="en-US" dirty="0">
                <a:ea typeface="楷体_GB2312" pitchFamily="49" charset="-122"/>
              </a:rPr>
              <a:t> </a:t>
            </a:r>
            <a:r>
              <a:rPr lang="en-US" altLang="zh-CN" dirty="0">
                <a:ea typeface="楷体_GB2312" pitchFamily="49" charset="-122"/>
              </a:rPr>
              <a:t>n) {</a:t>
            </a:r>
            <a:endParaRPr lang="zh-CN" altLang="en-US" dirty="0">
              <a:ea typeface="楷体_GB2312" pitchFamily="49" charset="-122"/>
            </a:endParaRPr>
          </a:p>
          <a:p>
            <a:pPr indent="0" eaLnBrk="1" hangingPunct="1">
              <a:lnSpc>
                <a:spcPct val="15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dirty="0">
                <a:ea typeface="楷体_GB2312" pitchFamily="49" charset="-122"/>
              </a:rPr>
              <a:t> </a:t>
            </a:r>
            <a:r>
              <a:rPr lang="en-US" altLang="zh-CN" dirty="0">
                <a:ea typeface="楷体_GB2312" pitchFamily="49" charset="-122"/>
              </a:rPr>
              <a:t>   match = TRUE;     </a:t>
            </a:r>
            <a:r>
              <a:rPr lang="en-US" altLang="zh-CN" dirty="0" err="1">
                <a:solidFill>
                  <a:srgbClr val="0000FF"/>
                </a:solidFill>
                <a:ea typeface="楷体_GB2312" pitchFamily="49" charset="-122"/>
              </a:rPr>
              <a:t>InitStack</a:t>
            </a:r>
            <a:r>
              <a:rPr lang="en-US" altLang="zh-CN" dirty="0">
                <a:solidFill>
                  <a:srgbClr val="0000FF"/>
                </a:solidFill>
                <a:ea typeface="楷体_GB2312" pitchFamily="49" charset="-122"/>
              </a:rPr>
              <a:t>(S);</a:t>
            </a:r>
          </a:p>
          <a:p>
            <a:pPr indent="0" eaLnBrk="1" hangingPunct="1">
              <a:lnSpc>
                <a:spcPct val="15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dirty="0">
                <a:ea typeface="楷体_GB2312" pitchFamily="49" charset="-122"/>
              </a:rPr>
              <a:t>    for (int </a:t>
            </a:r>
            <a:r>
              <a:rPr lang="en-US" altLang="zh-CN" dirty="0" err="1">
                <a:ea typeface="楷体_GB2312" pitchFamily="49" charset="-122"/>
              </a:rPr>
              <a:t>i</a:t>
            </a:r>
            <a:r>
              <a:rPr lang="en-US" altLang="zh-CN" dirty="0">
                <a:ea typeface="楷体_GB2312" pitchFamily="49" charset="-122"/>
              </a:rPr>
              <a:t>=0; </a:t>
            </a:r>
            <a:r>
              <a:rPr lang="en-US" altLang="zh-CN" dirty="0" err="1">
                <a:ea typeface="楷体_GB2312" pitchFamily="49" charset="-122"/>
              </a:rPr>
              <a:t>i</a:t>
            </a:r>
            <a:r>
              <a:rPr lang="en-US" altLang="zh-CN" dirty="0">
                <a:ea typeface="楷体_GB2312" pitchFamily="49" charset="-122"/>
              </a:rPr>
              <a:t>&lt;n &amp;&amp; match; </a:t>
            </a:r>
            <a:r>
              <a:rPr lang="en-US" altLang="zh-CN" dirty="0" err="1">
                <a:ea typeface="楷体_GB2312" pitchFamily="49" charset="-122"/>
              </a:rPr>
              <a:t>i</a:t>
            </a:r>
            <a:r>
              <a:rPr lang="en-US" altLang="zh-CN" dirty="0">
                <a:ea typeface="楷体_GB2312" pitchFamily="49" charset="-122"/>
              </a:rPr>
              <a:t>++) {</a:t>
            </a:r>
          </a:p>
          <a:p>
            <a:pPr indent="0" eaLnBrk="1" hangingPunct="1">
              <a:lnSpc>
                <a:spcPct val="15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dirty="0">
                <a:ea typeface="楷体_GB2312" pitchFamily="49" charset="-122"/>
              </a:rPr>
              <a:t>        </a:t>
            </a:r>
            <a:r>
              <a:rPr lang="en-US" altLang="zh-CN" dirty="0" err="1">
                <a:ea typeface="楷体_GB2312" pitchFamily="49" charset="-122"/>
              </a:rPr>
              <a:t>ch</a:t>
            </a:r>
            <a:r>
              <a:rPr lang="en-US" altLang="zh-CN" dirty="0">
                <a:ea typeface="楷体_GB2312" pitchFamily="49" charset="-122"/>
              </a:rPr>
              <a:t> = exp[</a:t>
            </a:r>
            <a:r>
              <a:rPr lang="en-US" altLang="zh-CN" dirty="0" err="1">
                <a:ea typeface="楷体_GB2312" pitchFamily="49" charset="-122"/>
              </a:rPr>
              <a:t>i</a:t>
            </a:r>
            <a:r>
              <a:rPr lang="en-US" altLang="zh-CN" dirty="0">
                <a:ea typeface="楷体_GB2312" pitchFamily="49" charset="-122"/>
              </a:rPr>
              <a:t>]; </a:t>
            </a:r>
          </a:p>
          <a:p>
            <a:pPr indent="0" eaLnBrk="1" hangingPunct="1">
              <a:lnSpc>
                <a:spcPct val="15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dirty="0">
                <a:ea typeface="楷体_GB2312" pitchFamily="49" charset="-122"/>
              </a:rPr>
              <a:t>        if (</a:t>
            </a:r>
            <a:r>
              <a:rPr lang="en-US" altLang="zh-CN" dirty="0" err="1">
                <a:ea typeface="楷体_GB2312" pitchFamily="49" charset="-122"/>
              </a:rPr>
              <a:t>ch</a:t>
            </a:r>
            <a:r>
              <a:rPr lang="en-US" altLang="zh-CN" dirty="0">
                <a:ea typeface="楷体_GB2312" pitchFamily="49" charset="-122"/>
              </a:rPr>
              <a:t> == </a:t>
            </a:r>
            <a:r>
              <a:rPr lang="en-US" altLang="zh-CN" dirty="0">
                <a:solidFill>
                  <a:srgbClr val="FF0000"/>
                </a:solidFill>
                <a:ea typeface="楷体_GB2312" pitchFamily="49" charset="-122"/>
              </a:rPr>
              <a:t>‘(’</a:t>
            </a:r>
            <a:r>
              <a:rPr lang="en-US" altLang="zh-CN" dirty="0">
                <a:ea typeface="楷体_GB2312" pitchFamily="49" charset="-122"/>
              </a:rPr>
              <a:t> || </a:t>
            </a:r>
            <a:r>
              <a:rPr lang="en-US" altLang="zh-CN" dirty="0" err="1">
                <a:ea typeface="楷体_GB2312" pitchFamily="49" charset="-122"/>
              </a:rPr>
              <a:t>ch</a:t>
            </a:r>
            <a:r>
              <a:rPr lang="en-US" altLang="zh-CN" dirty="0">
                <a:ea typeface="楷体_GB2312" pitchFamily="49" charset="-122"/>
              </a:rPr>
              <a:t> == </a:t>
            </a:r>
            <a:r>
              <a:rPr lang="en-US" altLang="zh-CN" dirty="0">
                <a:solidFill>
                  <a:srgbClr val="FF0000"/>
                </a:solidFill>
                <a:ea typeface="楷体_GB2312" pitchFamily="49" charset="-122"/>
              </a:rPr>
              <a:t>‘[’</a:t>
            </a:r>
            <a:r>
              <a:rPr lang="en-US" altLang="zh-CN" dirty="0">
                <a:ea typeface="楷体_GB2312" pitchFamily="49" charset="-122"/>
              </a:rPr>
              <a:t>)  </a:t>
            </a:r>
            <a:r>
              <a:rPr lang="en-US" altLang="zh-CN" dirty="0">
                <a:solidFill>
                  <a:srgbClr val="0000FF"/>
                </a:solidFill>
                <a:ea typeface="楷体_GB2312" pitchFamily="49" charset="-122"/>
              </a:rPr>
              <a:t>Push(S, </a:t>
            </a:r>
            <a:r>
              <a:rPr lang="en-US" altLang="zh-CN" dirty="0" err="1">
                <a:solidFill>
                  <a:srgbClr val="0000FF"/>
                </a:solidFill>
                <a:ea typeface="楷体_GB2312" pitchFamily="49" charset="-122"/>
              </a:rPr>
              <a:t>ch</a:t>
            </a:r>
            <a:r>
              <a:rPr lang="en-US" altLang="zh-CN" dirty="0">
                <a:solidFill>
                  <a:srgbClr val="0000FF"/>
                </a:solidFill>
                <a:ea typeface="楷体_GB2312" pitchFamily="49" charset="-122"/>
              </a:rPr>
              <a:t>);  </a:t>
            </a:r>
            <a:r>
              <a:rPr lang="en-US" altLang="zh-CN" dirty="0">
                <a:ea typeface="楷体_GB2312" pitchFamily="49" charset="-122"/>
              </a:rPr>
              <a:t> </a:t>
            </a:r>
            <a:r>
              <a:rPr lang="en-US" altLang="zh-CN" dirty="0">
                <a:solidFill>
                  <a:srgbClr val="00B050"/>
                </a:solidFill>
                <a:ea typeface="楷体_GB2312" pitchFamily="49" charset="-122"/>
              </a:rPr>
              <a:t>// </a:t>
            </a:r>
            <a:r>
              <a:rPr lang="zh-CN" altLang="en-US" dirty="0">
                <a:solidFill>
                  <a:srgbClr val="00B050"/>
                </a:solidFill>
                <a:ea typeface="楷体_GB2312" pitchFamily="49" charset="-122"/>
              </a:rPr>
              <a:t>左括弧一律入栈</a:t>
            </a:r>
            <a:endParaRPr lang="en-US" altLang="zh-CN" dirty="0">
              <a:solidFill>
                <a:srgbClr val="00B050"/>
              </a:solidFill>
              <a:ea typeface="楷体_GB2312" pitchFamily="49" charset="-122"/>
            </a:endParaRPr>
          </a:p>
          <a:p>
            <a:pPr indent="0" eaLnBrk="1" hangingPunct="1">
              <a:lnSpc>
                <a:spcPct val="15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dirty="0">
                <a:ea typeface="楷体_GB2312" pitchFamily="49" charset="-122"/>
              </a:rPr>
              <a:t>        else if (</a:t>
            </a:r>
            <a:r>
              <a:rPr lang="en-US" altLang="zh-CN" dirty="0" err="1">
                <a:ea typeface="楷体_GB2312" pitchFamily="49" charset="-122"/>
              </a:rPr>
              <a:t>ch</a:t>
            </a:r>
            <a:r>
              <a:rPr lang="en-US" altLang="zh-CN" dirty="0">
                <a:ea typeface="楷体_GB2312" pitchFamily="49" charset="-122"/>
              </a:rPr>
              <a:t> == </a:t>
            </a:r>
            <a:r>
              <a:rPr lang="en-US" altLang="zh-CN" dirty="0">
                <a:solidFill>
                  <a:srgbClr val="FF0000"/>
                </a:solidFill>
                <a:ea typeface="楷体_GB2312" pitchFamily="49" charset="-122"/>
              </a:rPr>
              <a:t>‘)’</a:t>
            </a:r>
            <a:r>
              <a:rPr lang="en-US" altLang="zh-CN" dirty="0">
                <a:ea typeface="楷体_GB2312" pitchFamily="49" charset="-122"/>
              </a:rPr>
              <a:t>)   </a:t>
            </a:r>
            <a:r>
              <a:rPr lang="en-US" altLang="zh-CN" dirty="0">
                <a:solidFill>
                  <a:srgbClr val="00B050"/>
                </a:solidFill>
                <a:ea typeface="楷体_GB2312" pitchFamily="49" charset="-122"/>
              </a:rPr>
              <a:t>// </a:t>
            </a:r>
            <a:r>
              <a:rPr lang="zh-CN" altLang="en-US" dirty="0">
                <a:solidFill>
                  <a:srgbClr val="00B050"/>
                </a:solidFill>
                <a:ea typeface="楷体_GB2312" pitchFamily="49" charset="-122"/>
              </a:rPr>
              <a:t>右圆括弧必须匹配一个左圆括弧</a:t>
            </a:r>
            <a:endParaRPr lang="en-US" altLang="zh-CN" dirty="0">
              <a:solidFill>
                <a:srgbClr val="00B050"/>
              </a:solidFill>
              <a:ea typeface="楷体_GB2312" pitchFamily="49" charset="-122"/>
            </a:endParaRPr>
          </a:p>
          <a:p>
            <a:pPr indent="0" eaLnBrk="1" hangingPunct="1">
              <a:lnSpc>
                <a:spcPct val="15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dirty="0">
                <a:ea typeface="楷体_GB2312" pitchFamily="49" charset="-122"/>
              </a:rPr>
              <a:t>            if (</a:t>
            </a:r>
            <a:r>
              <a:rPr lang="en-US" altLang="zh-CN" dirty="0" err="1">
                <a:solidFill>
                  <a:srgbClr val="0000FF"/>
                </a:solidFill>
                <a:ea typeface="楷体_GB2312" pitchFamily="49" charset="-122"/>
              </a:rPr>
              <a:t>GetTop</a:t>
            </a:r>
            <a:r>
              <a:rPr lang="en-US" altLang="zh-CN" dirty="0">
                <a:solidFill>
                  <a:srgbClr val="0000FF"/>
                </a:solidFill>
                <a:ea typeface="楷体_GB2312" pitchFamily="49" charset="-122"/>
              </a:rPr>
              <a:t>(S)</a:t>
            </a:r>
            <a:r>
              <a:rPr lang="en-US" altLang="zh-CN" dirty="0">
                <a:ea typeface="楷体_GB2312" pitchFamily="49" charset="-122"/>
              </a:rPr>
              <a:t> == </a:t>
            </a:r>
            <a:r>
              <a:rPr lang="en-US" altLang="zh-CN" dirty="0">
                <a:solidFill>
                  <a:srgbClr val="FF0000"/>
                </a:solidFill>
                <a:ea typeface="楷体_GB2312" pitchFamily="49" charset="-122"/>
              </a:rPr>
              <a:t>'('</a:t>
            </a:r>
            <a:r>
              <a:rPr lang="en-US" altLang="zh-CN" dirty="0">
                <a:ea typeface="楷体_GB2312" pitchFamily="49" charset="-122"/>
              </a:rPr>
              <a:t> ) </a:t>
            </a:r>
            <a:r>
              <a:rPr lang="en-US" altLang="zh-CN" dirty="0">
                <a:solidFill>
                  <a:srgbClr val="0000FF"/>
                </a:solidFill>
                <a:ea typeface="楷体_GB2312" pitchFamily="49" charset="-122"/>
              </a:rPr>
              <a:t>Pop(S, e); </a:t>
            </a:r>
            <a:r>
              <a:rPr lang="en-US" altLang="zh-CN" dirty="0">
                <a:ea typeface="楷体_GB2312" pitchFamily="49" charset="-122"/>
              </a:rPr>
              <a:t>else { match = FALSE; break; }</a:t>
            </a:r>
          </a:p>
          <a:p>
            <a:pPr indent="0" eaLnBrk="1" hangingPunct="1">
              <a:lnSpc>
                <a:spcPct val="150000"/>
              </a:lnSpc>
            </a:pPr>
            <a:r>
              <a:rPr lang="en-US" altLang="zh-CN" dirty="0">
                <a:ea typeface="楷体_GB2312" pitchFamily="49" charset="-122"/>
              </a:rPr>
              <a:t>        else if(</a:t>
            </a:r>
            <a:r>
              <a:rPr lang="en-US" altLang="zh-CN" dirty="0" err="1">
                <a:ea typeface="楷体_GB2312" pitchFamily="49" charset="-122"/>
              </a:rPr>
              <a:t>ch</a:t>
            </a:r>
            <a:r>
              <a:rPr lang="en-US" altLang="zh-CN" dirty="0">
                <a:ea typeface="楷体_GB2312" pitchFamily="49" charset="-122"/>
              </a:rPr>
              <a:t> ==</a:t>
            </a:r>
            <a:r>
              <a:rPr lang="en-US" altLang="zh-CN" dirty="0">
                <a:solidFill>
                  <a:srgbClr val="FF0000"/>
                </a:solidFill>
                <a:ea typeface="楷体_GB2312" pitchFamily="49" charset="-122"/>
              </a:rPr>
              <a:t>‘]’</a:t>
            </a:r>
            <a:r>
              <a:rPr lang="en-US" altLang="zh-CN" dirty="0">
                <a:ea typeface="楷体_GB2312" pitchFamily="49" charset="-122"/>
              </a:rPr>
              <a:t>)</a:t>
            </a:r>
            <a:r>
              <a:rPr lang="en-US" altLang="zh-CN" dirty="0">
                <a:solidFill>
                  <a:srgbClr val="FF0000"/>
                </a:solidFill>
                <a:ea typeface="楷体_GB2312" pitchFamily="49" charset="-122"/>
              </a:rPr>
              <a:t>  </a:t>
            </a:r>
            <a:r>
              <a:rPr lang="en-US" altLang="zh-CN" dirty="0">
                <a:ea typeface="楷体_GB2312" pitchFamily="49" charset="-122"/>
              </a:rPr>
              <a:t>  </a:t>
            </a:r>
            <a:r>
              <a:rPr lang="en-US" altLang="zh-CN" dirty="0">
                <a:solidFill>
                  <a:srgbClr val="00B050"/>
                </a:solidFill>
                <a:ea typeface="楷体_GB2312" pitchFamily="49" charset="-122"/>
              </a:rPr>
              <a:t>// </a:t>
            </a:r>
            <a:r>
              <a:rPr lang="zh-CN" altLang="en-US" dirty="0">
                <a:solidFill>
                  <a:srgbClr val="00B050"/>
                </a:solidFill>
                <a:ea typeface="楷体_GB2312" pitchFamily="49" charset="-122"/>
              </a:rPr>
              <a:t>右方括弧必须匹配一个左方括弧</a:t>
            </a:r>
            <a:endParaRPr lang="en-US" altLang="zh-CN" dirty="0">
              <a:solidFill>
                <a:srgbClr val="00B050"/>
              </a:solidFill>
              <a:ea typeface="楷体_GB2312" pitchFamily="49" charset="-122"/>
            </a:endParaRPr>
          </a:p>
          <a:p>
            <a:pPr indent="0" eaLnBrk="1" hangingPunct="1">
              <a:lnSpc>
                <a:spcPct val="15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dirty="0">
                <a:ea typeface="楷体_GB2312" pitchFamily="49" charset="-122"/>
              </a:rPr>
              <a:t>            if (</a:t>
            </a:r>
            <a:r>
              <a:rPr lang="en-US" altLang="zh-CN" dirty="0" err="1">
                <a:solidFill>
                  <a:srgbClr val="0000FF"/>
                </a:solidFill>
                <a:ea typeface="楷体_GB2312" pitchFamily="49" charset="-122"/>
              </a:rPr>
              <a:t>GetTop</a:t>
            </a:r>
            <a:r>
              <a:rPr lang="en-US" altLang="zh-CN" dirty="0">
                <a:solidFill>
                  <a:srgbClr val="0000FF"/>
                </a:solidFill>
                <a:ea typeface="楷体_GB2312" pitchFamily="49" charset="-122"/>
              </a:rPr>
              <a:t>(S) </a:t>
            </a:r>
            <a:r>
              <a:rPr lang="en-US" altLang="zh-CN" dirty="0">
                <a:ea typeface="楷体_GB2312" pitchFamily="49" charset="-122"/>
              </a:rPr>
              <a:t>== </a:t>
            </a:r>
            <a:r>
              <a:rPr lang="en-US" altLang="zh-CN" dirty="0">
                <a:solidFill>
                  <a:srgbClr val="FF0000"/>
                </a:solidFill>
                <a:ea typeface="楷体_GB2312" pitchFamily="49" charset="-122"/>
              </a:rPr>
              <a:t>‘['</a:t>
            </a:r>
            <a:r>
              <a:rPr lang="en-US" altLang="zh-CN" dirty="0">
                <a:ea typeface="楷体_GB2312" pitchFamily="49" charset="-122"/>
              </a:rPr>
              <a:t> ) </a:t>
            </a:r>
            <a:r>
              <a:rPr lang="en-US" altLang="zh-CN" dirty="0">
                <a:solidFill>
                  <a:srgbClr val="0000FF"/>
                </a:solidFill>
                <a:ea typeface="楷体_GB2312" pitchFamily="49" charset="-122"/>
              </a:rPr>
              <a:t>Pop(S, e); </a:t>
            </a:r>
            <a:r>
              <a:rPr lang="en-US" altLang="zh-CN" dirty="0">
                <a:ea typeface="楷体_GB2312" pitchFamily="49" charset="-122"/>
              </a:rPr>
              <a:t>else { match = FALSE; break; }</a:t>
            </a:r>
          </a:p>
          <a:p>
            <a:pPr indent="0" eaLnBrk="1" hangingPunct="1">
              <a:lnSpc>
                <a:spcPct val="150000"/>
              </a:lnSpc>
              <a:spcBef>
                <a:spcPct val="0"/>
              </a:spcBef>
              <a:buClrTx/>
              <a:buFont typeface="Monotype Sorts" pitchFamily="2" charset="2"/>
              <a:buNone/>
            </a:pPr>
            <a:r>
              <a:rPr lang="en-US" altLang="zh-CN" dirty="0">
                <a:ea typeface="楷体_GB2312" pitchFamily="49" charset="-122"/>
              </a:rPr>
              <a:t>    } </a:t>
            </a:r>
            <a:r>
              <a:rPr lang="en-US" altLang="zh-CN" dirty="0">
                <a:solidFill>
                  <a:srgbClr val="00B050"/>
                </a:solidFill>
                <a:ea typeface="楷体_GB2312" pitchFamily="49" charset="-122"/>
              </a:rPr>
              <a:t>// for </a:t>
            </a:r>
          </a:p>
          <a:p>
            <a:pPr indent="0" eaLnBrk="1" hangingPunct="1">
              <a:lnSpc>
                <a:spcPct val="15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dirty="0">
                <a:ea typeface="楷体_GB2312" pitchFamily="49" charset="-122"/>
              </a:rPr>
              <a:t>    if (match &amp;&amp; </a:t>
            </a:r>
            <a:r>
              <a:rPr lang="en-US" altLang="zh-CN" dirty="0" err="1">
                <a:solidFill>
                  <a:srgbClr val="0000FF"/>
                </a:solidFill>
                <a:ea typeface="楷体_GB2312" pitchFamily="49" charset="-122"/>
              </a:rPr>
              <a:t>StackEmpty</a:t>
            </a:r>
            <a:r>
              <a:rPr lang="en-US" altLang="zh-CN" dirty="0">
                <a:solidFill>
                  <a:srgbClr val="0000FF"/>
                </a:solidFill>
                <a:ea typeface="楷体_GB2312" pitchFamily="49" charset="-122"/>
              </a:rPr>
              <a:t>(S)</a:t>
            </a:r>
            <a:r>
              <a:rPr lang="en-US" altLang="zh-CN" dirty="0">
                <a:ea typeface="楷体_GB2312" pitchFamily="49" charset="-122"/>
              </a:rPr>
              <a:t>) return TRUE; else return FALSE; </a:t>
            </a:r>
          </a:p>
          <a:p>
            <a:pPr indent="0" eaLnBrk="1" hangingPunct="1">
              <a:lnSpc>
                <a:spcPct val="15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dirty="0">
                <a:ea typeface="楷体_GB2312" pitchFamily="49" charset="-122"/>
              </a:rPr>
              <a:t>} </a:t>
            </a:r>
            <a:r>
              <a:rPr lang="en-US" altLang="zh-CN" dirty="0">
                <a:solidFill>
                  <a:srgbClr val="00B050"/>
                </a:solidFill>
                <a:ea typeface="楷体_GB2312" pitchFamily="49" charset="-122"/>
              </a:rPr>
              <a:t>// matching </a:t>
            </a:r>
          </a:p>
        </p:txBody>
      </p:sp>
    </p:spTree>
    <p:extLst>
      <p:ext uri="{BB962C8B-B14F-4D97-AF65-F5344CB8AC3E}">
        <p14:creationId xmlns:p14="http://schemas.microsoft.com/office/powerpoint/2010/main" val="180512676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06E1F6C-78DF-47EF-986D-E2A7CB36E4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案例 </a:t>
            </a:r>
            <a:r>
              <a:rPr lang="en-US" altLang="zh-CN" dirty="0"/>
              <a:t>3</a:t>
            </a:r>
            <a:r>
              <a:rPr lang="zh-CN" altLang="en-US" dirty="0"/>
              <a:t>：表达式求值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E29BEEE-D7E9-4B21-8579-4335AD7622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520" y="764704"/>
            <a:ext cx="8640959" cy="6048672"/>
          </a:xfrm>
        </p:spPr>
        <p:txBody>
          <a:bodyPr/>
          <a:lstStyle/>
          <a:p>
            <a:r>
              <a:rPr lang="zh-CN" altLang="en-US" dirty="0"/>
              <a:t>表达式求值是一种典型的栈的应用。</a:t>
            </a:r>
          </a:p>
          <a:p>
            <a:r>
              <a:rPr lang="zh-CN" altLang="en-US" dirty="0"/>
              <a:t>一个表达式由</a:t>
            </a:r>
            <a:r>
              <a:rPr lang="zh-CN" altLang="en-US" dirty="0">
                <a:solidFill>
                  <a:srgbClr val="0000FF"/>
                </a:solidFill>
              </a:rPr>
              <a:t>操作数</a:t>
            </a:r>
            <a:r>
              <a:rPr lang="zh-CN" altLang="en-US" dirty="0"/>
              <a:t>（运算对象）、</a:t>
            </a:r>
            <a:r>
              <a:rPr lang="zh-CN" altLang="en-US" dirty="0">
                <a:solidFill>
                  <a:srgbClr val="0000FF"/>
                </a:solidFill>
              </a:rPr>
              <a:t>操作符</a:t>
            </a:r>
            <a:r>
              <a:rPr lang="zh-CN" altLang="en-US" dirty="0"/>
              <a:t>（运算符）和</a:t>
            </a:r>
            <a:r>
              <a:rPr lang="zh-CN" altLang="en-US" dirty="0">
                <a:solidFill>
                  <a:srgbClr val="0000FF"/>
                </a:solidFill>
              </a:rPr>
              <a:t>分界符</a:t>
            </a:r>
            <a:r>
              <a:rPr lang="zh-CN" altLang="en-US" dirty="0"/>
              <a:t>组成。</a:t>
            </a:r>
          </a:p>
          <a:p>
            <a:r>
              <a:rPr lang="zh-CN" altLang="en-US" dirty="0"/>
              <a:t>算术表达式有三种表示：</a:t>
            </a:r>
          </a:p>
          <a:p>
            <a:pPr marL="684000" lvl="1"/>
            <a:r>
              <a:rPr lang="zh-CN" altLang="en-US" dirty="0">
                <a:solidFill>
                  <a:srgbClr val="FF0000"/>
                </a:solidFill>
              </a:rPr>
              <a:t>中缀表示（</a:t>
            </a:r>
            <a:r>
              <a:rPr lang="en-US" altLang="zh-CN" dirty="0">
                <a:solidFill>
                  <a:srgbClr val="FF0000"/>
                </a:solidFill>
              </a:rPr>
              <a:t>infix</a:t>
            </a:r>
            <a:r>
              <a:rPr lang="zh-CN" altLang="en-US" dirty="0">
                <a:solidFill>
                  <a:srgbClr val="FF0000"/>
                </a:solidFill>
              </a:rPr>
              <a:t>）： </a:t>
            </a:r>
          </a:p>
          <a:p>
            <a:pPr marL="341100" lvl="1" indent="0">
              <a:buNone/>
            </a:pPr>
            <a:r>
              <a:rPr lang="zh-CN" altLang="en-US" dirty="0"/>
              <a:t>    </a:t>
            </a:r>
            <a:r>
              <a:rPr lang="en-US" altLang="zh-CN" i="1" dirty="0"/>
              <a:t>&lt;</a:t>
            </a:r>
            <a:r>
              <a:rPr lang="zh-CN" altLang="en-US" i="1" dirty="0"/>
              <a:t>操作数</a:t>
            </a:r>
            <a:r>
              <a:rPr lang="en-US" altLang="zh-CN" i="1" dirty="0"/>
              <a:t>&gt; </a:t>
            </a:r>
            <a:r>
              <a:rPr lang="en-US" altLang="zh-CN" i="1" dirty="0">
                <a:solidFill>
                  <a:srgbClr val="0000FF"/>
                </a:solidFill>
              </a:rPr>
              <a:t>&lt;</a:t>
            </a:r>
            <a:r>
              <a:rPr lang="zh-CN" altLang="en-US" i="1" dirty="0">
                <a:solidFill>
                  <a:srgbClr val="0000FF"/>
                </a:solidFill>
              </a:rPr>
              <a:t>操作符</a:t>
            </a:r>
            <a:r>
              <a:rPr lang="en-US" altLang="zh-CN" i="1" dirty="0">
                <a:solidFill>
                  <a:srgbClr val="0000FF"/>
                </a:solidFill>
              </a:rPr>
              <a:t>&gt; </a:t>
            </a:r>
            <a:r>
              <a:rPr lang="en-US" altLang="zh-CN" i="1" dirty="0"/>
              <a:t>&lt;</a:t>
            </a:r>
            <a:r>
              <a:rPr lang="zh-CN" altLang="en-US" i="1" dirty="0"/>
              <a:t>操作数</a:t>
            </a:r>
            <a:r>
              <a:rPr lang="en-US" altLang="zh-CN" i="1" dirty="0"/>
              <a:t>&gt;</a:t>
            </a:r>
            <a:r>
              <a:rPr lang="zh-CN" altLang="en-US" dirty="0"/>
              <a:t>，如 </a:t>
            </a:r>
            <a:r>
              <a:rPr lang="en-US" altLang="zh-CN" dirty="0">
                <a:solidFill>
                  <a:srgbClr val="00B050"/>
                </a:solidFill>
              </a:rPr>
              <a:t>A+B</a:t>
            </a:r>
            <a:r>
              <a:rPr lang="zh-CN" altLang="en-US" dirty="0"/>
              <a:t>；</a:t>
            </a:r>
          </a:p>
          <a:p>
            <a:pPr marL="684000" lvl="1"/>
            <a:r>
              <a:rPr lang="zh-CN" altLang="en-US" dirty="0">
                <a:solidFill>
                  <a:srgbClr val="FF0000"/>
                </a:solidFill>
              </a:rPr>
              <a:t>前缀表示（</a:t>
            </a:r>
            <a:r>
              <a:rPr lang="en-US" altLang="zh-CN" dirty="0">
                <a:solidFill>
                  <a:srgbClr val="FF0000"/>
                </a:solidFill>
              </a:rPr>
              <a:t>prefix</a:t>
            </a:r>
            <a:r>
              <a:rPr lang="zh-CN" altLang="en-US" dirty="0">
                <a:solidFill>
                  <a:srgbClr val="FF0000"/>
                </a:solidFill>
              </a:rPr>
              <a:t>）：</a:t>
            </a:r>
          </a:p>
          <a:p>
            <a:pPr marL="341100" lvl="1" indent="0">
              <a:buNone/>
            </a:pPr>
            <a:r>
              <a:rPr lang="zh-CN" altLang="en-US" dirty="0"/>
              <a:t>    </a:t>
            </a:r>
            <a:r>
              <a:rPr lang="en-US" altLang="zh-CN" i="1" dirty="0">
                <a:solidFill>
                  <a:srgbClr val="0000FF"/>
                </a:solidFill>
              </a:rPr>
              <a:t>&lt;</a:t>
            </a:r>
            <a:r>
              <a:rPr lang="zh-CN" altLang="en-US" i="1" dirty="0">
                <a:solidFill>
                  <a:srgbClr val="0000FF"/>
                </a:solidFill>
              </a:rPr>
              <a:t>操作符</a:t>
            </a:r>
            <a:r>
              <a:rPr lang="en-US" altLang="zh-CN" i="1" dirty="0">
                <a:solidFill>
                  <a:srgbClr val="0000FF"/>
                </a:solidFill>
              </a:rPr>
              <a:t>&gt; </a:t>
            </a:r>
            <a:r>
              <a:rPr lang="en-US" altLang="zh-CN" i="1" dirty="0"/>
              <a:t>&lt;</a:t>
            </a:r>
            <a:r>
              <a:rPr lang="zh-CN" altLang="en-US" i="1" dirty="0"/>
              <a:t>操作数</a:t>
            </a:r>
            <a:r>
              <a:rPr lang="en-US" altLang="zh-CN" i="1" dirty="0"/>
              <a:t>&gt; &lt;</a:t>
            </a:r>
            <a:r>
              <a:rPr lang="zh-CN" altLang="en-US" i="1" dirty="0"/>
              <a:t>操作数</a:t>
            </a:r>
            <a:r>
              <a:rPr lang="en-US" altLang="zh-CN" i="1" dirty="0"/>
              <a:t>&gt;</a:t>
            </a:r>
            <a:r>
              <a:rPr lang="zh-CN" altLang="en-US" dirty="0"/>
              <a:t>，如 </a:t>
            </a:r>
            <a:r>
              <a:rPr lang="en-US" altLang="zh-CN" dirty="0">
                <a:solidFill>
                  <a:srgbClr val="00B050"/>
                </a:solidFill>
              </a:rPr>
              <a:t>+AB</a:t>
            </a:r>
            <a:r>
              <a:rPr lang="zh-CN" altLang="en-US" dirty="0"/>
              <a:t>；</a:t>
            </a:r>
          </a:p>
          <a:p>
            <a:pPr marL="684000" lvl="1"/>
            <a:r>
              <a:rPr lang="zh-CN" altLang="en-US" dirty="0">
                <a:solidFill>
                  <a:srgbClr val="FF0000"/>
                </a:solidFill>
              </a:rPr>
              <a:t>后缀表示（</a:t>
            </a:r>
            <a:r>
              <a:rPr lang="en-US" altLang="zh-CN" dirty="0">
                <a:solidFill>
                  <a:srgbClr val="FF0000"/>
                </a:solidFill>
              </a:rPr>
              <a:t>postfix</a:t>
            </a:r>
            <a:r>
              <a:rPr lang="zh-CN" altLang="en-US" dirty="0">
                <a:solidFill>
                  <a:srgbClr val="FF0000"/>
                </a:solidFill>
              </a:rPr>
              <a:t>）：</a:t>
            </a:r>
          </a:p>
          <a:p>
            <a:pPr marL="341100" lvl="1" indent="0">
              <a:buNone/>
            </a:pPr>
            <a:r>
              <a:rPr lang="zh-CN" altLang="en-US" dirty="0"/>
              <a:t>     </a:t>
            </a:r>
            <a:r>
              <a:rPr lang="en-US" altLang="zh-CN" i="1" dirty="0"/>
              <a:t>&lt;</a:t>
            </a:r>
            <a:r>
              <a:rPr lang="zh-CN" altLang="en-US" i="1" dirty="0"/>
              <a:t>操作数</a:t>
            </a:r>
            <a:r>
              <a:rPr lang="en-US" altLang="zh-CN" i="1" dirty="0"/>
              <a:t>&gt; &lt;</a:t>
            </a:r>
            <a:r>
              <a:rPr lang="zh-CN" altLang="en-US" i="1" dirty="0"/>
              <a:t>操作数</a:t>
            </a:r>
            <a:r>
              <a:rPr lang="en-US" altLang="zh-CN" i="1" dirty="0"/>
              <a:t>&gt; </a:t>
            </a:r>
            <a:r>
              <a:rPr lang="en-US" altLang="zh-CN" i="1" dirty="0">
                <a:solidFill>
                  <a:srgbClr val="0000FF"/>
                </a:solidFill>
              </a:rPr>
              <a:t>&lt;</a:t>
            </a:r>
            <a:r>
              <a:rPr lang="zh-CN" altLang="en-US" i="1" dirty="0">
                <a:solidFill>
                  <a:srgbClr val="0000FF"/>
                </a:solidFill>
              </a:rPr>
              <a:t>操作符</a:t>
            </a:r>
            <a:r>
              <a:rPr lang="en-US" altLang="zh-CN" i="1" dirty="0">
                <a:solidFill>
                  <a:srgbClr val="0000FF"/>
                </a:solidFill>
              </a:rPr>
              <a:t>&gt;</a:t>
            </a:r>
            <a:r>
              <a:rPr lang="zh-CN" altLang="en-US" dirty="0"/>
              <a:t>，如 </a:t>
            </a:r>
            <a:r>
              <a:rPr lang="en-US" altLang="zh-CN" dirty="0">
                <a:solidFill>
                  <a:srgbClr val="00B050"/>
                </a:solidFill>
              </a:rPr>
              <a:t>AB+</a:t>
            </a:r>
            <a:r>
              <a:rPr lang="zh-CN" altLang="en-US" dirty="0"/>
              <a:t>；</a:t>
            </a:r>
          </a:p>
        </p:txBody>
      </p:sp>
    </p:spTree>
    <p:extLst>
      <p:ext uri="{BB962C8B-B14F-4D97-AF65-F5344CB8AC3E}">
        <p14:creationId xmlns:p14="http://schemas.microsoft.com/office/powerpoint/2010/main" val="65434612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581A28B-6A4F-4206-938B-B355E206AF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案例 </a:t>
            </a:r>
            <a:r>
              <a:rPr lang="en-US" altLang="zh-CN" dirty="0"/>
              <a:t>3</a:t>
            </a:r>
            <a:r>
              <a:rPr lang="zh-CN" altLang="en-US" dirty="0"/>
              <a:t>：表达式求值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ACA83ED-DF96-4FE6-829D-0AC9980905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FF0000"/>
                </a:solidFill>
              </a:rPr>
              <a:t>中缀表达式    </a:t>
            </a:r>
            <a:r>
              <a:rPr lang="en-US" altLang="zh-CN" dirty="0"/>
              <a:t>a + b * ( c - d ) - e / f</a:t>
            </a:r>
          </a:p>
          <a:p>
            <a:r>
              <a:rPr lang="zh-CN" altLang="en-US" dirty="0">
                <a:solidFill>
                  <a:srgbClr val="FF0000"/>
                </a:solidFill>
              </a:rPr>
              <a:t>后缀表达式    </a:t>
            </a:r>
            <a:r>
              <a:rPr lang="en-US" altLang="zh-CN" dirty="0"/>
              <a:t>a b c d - * + e f / -</a:t>
            </a:r>
          </a:p>
          <a:p>
            <a:r>
              <a:rPr lang="zh-CN" altLang="en-US" dirty="0">
                <a:solidFill>
                  <a:srgbClr val="FF0000"/>
                </a:solidFill>
              </a:rPr>
              <a:t>前缀表达式    </a:t>
            </a:r>
            <a:r>
              <a:rPr lang="en-US" altLang="zh-CN" dirty="0"/>
              <a:t>- + a * b – c d / e f</a:t>
            </a:r>
          </a:p>
          <a:p>
            <a:endParaRPr lang="en-US" altLang="zh-CN" dirty="0"/>
          </a:p>
          <a:p>
            <a:r>
              <a:rPr lang="zh-CN" altLang="en-US" dirty="0">
                <a:solidFill>
                  <a:srgbClr val="FF0000"/>
                </a:solidFill>
              </a:rPr>
              <a:t>中缀表达式的运算规则</a:t>
            </a:r>
            <a:r>
              <a:rPr lang="zh-CN" altLang="en-US" dirty="0"/>
              <a:t>是：</a:t>
            </a:r>
          </a:p>
          <a:p>
            <a:pPr marL="684000" lvl="1"/>
            <a:r>
              <a:rPr lang="zh-CN" altLang="en-US" dirty="0"/>
              <a:t>对于表达式中相邻的两个操作符</a:t>
            </a:r>
          </a:p>
          <a:p>
            <a:pPr marL="1008000" lvl="2"/>
            <a:r>
              <a:rPr lang="zh-CN" altLang="en-US" b="1" dirty="0">
                <a:solidFill>
                  <a:srgbClr val="0000FF"/>
                </a:solidFill>
              </a:rPr>
              <a:t>优先级高</a:t>
            </a:r>
            <a:r>
              <a:rPr lang="zh-CN" altLang="en-US" dirty="0">
                <a:solidFill>
                  <a:srgbClr val="0000FF"/>
                </a:solidFill>
              </a:rPr>
              <a:t>的先计算；</a:t>
            </a:r>
          </a:p>
          <a:p>
            <a:pPr marL="1008000" lvl="2"/>
            <a:r>
              <a:rPr lang="zh-CN" altLang="en-US" dirty="0">
                <a:solidFill>
                  <a:srgbClr val="0000FF"/>
                </a:solidFill>
              </a:rPr>
              <a:t>优先级相同的</a:t>
            </a:r>
            <a:r>
              <a:rPr lang="zh-CN" altLang="en-US" b="1" dirty="0">
                <a:solidFill>
                  <a:srgbClr val="0000FF"/>
                </a:solidFill>
              </a:rPr>
              <a:t>自左向右</a:t>
            </a:r>
            <a:r>
              <a:rPr lang="zh-CN" altLang="en-US" dirty="0">
                <a:solidFill>
                  <a:srgbClr val="0000FF"/>
                </a:solidFill>
              </a:rPr>
              <a:t>计算；</a:t>
            </a:r>
          </a:p>
          <a:p>
            <a:pPr marL="1008000" lvl="2"/>
            <a:r>
              <a:rPr lang="zh-CN" altLang="en-US" dirty="0">
                <a:solidFill>
                  <a:srgbClr val="0000FF"/>
                </a:solidFill>
              </a:rPr>
              <a:t>当使用括号时从</a:t>
            </a:r>
            <a:r>
              <a:rPr lang="zh-CN" altLang="en-US" b="1" dirty="0">
                <a:solidFill>
                  <a:srgbClr val="0000FF"/>
                </a:solidFill>
              </a:rPr>
              <a:t>最内层括号</a:t>
            </a:r>
            <a:r>
              <a:rPr lang="zh-CN" altLang="en-US" dirty="0">
                <a:solidFill>
                  <a:srgbClr val="0000FF"/>
                </a:solidFill>
              </a:rPr>
              <a:t>开始计算。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10D67077-CC5A-4512-8A49-4F08CD4ED606}"/>
              </a:ext>
            </a:extLst>
          </p:cNvPr>
          <p:cNvSpPr txBox="1"/>
          <p:nvPr/>
        </p:nvSpPr>
        <p:spPr>
          <a:xfrm>
            <a:off x="6804248" y="1737742"/>
            <a:ext cx="23391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0" dirty="0">
                <a:solidFill>
                  <a:srgbClr val="00B05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逆波兰表达式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0E547A1-6667-4C02-B437-15FC4DAD5BC5}"/>
              </a:ext>
            </a:extLst>
          </p:cNvPr>
          <p:cNvSpPr txBox="1"/>
          <p:nvPr/>
        </p:nvSpPr>
        <p:spPr>
          <a:xfrm>
            <a:off x="6804248" y="2306489"/>
            <a:ext cx="198002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0" dirty="0">
                <a:solidFill>
                  <a:srgbClr val="00B05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波兰表达式</a:t>
            </a:r>
          </a:p>
        </p:txBody>
      </p:sp>
    </p:spTree>
    <p:extLst>
      <p:ext uri="{BB962C8B-B14F-4D97-AF65-F5344CB8AC3E}">
        <p14:creationId xmlns:p14="http://schemas.microsoft.com/office/powerpoint/2010/main" val="7870015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59" name="Rectangle 154"/>
          <p:cNvSpPr txBox="1"/>
          <p:nvPr/>
        </p:nvSpPr>
        <p:spPr>
          <a:xfrm>
            <a:off x="809625" y="171450"/>
            <a:ext cx="4933950" cy="6096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indent="538480" algn="l" rtl="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2400" b="0">
                <a:solidFill>
                  <a:schemeClr val="tx1"/>
                </a:solidFill>
                <a:latin typeface="+mn-lt"/>
                <a:ea typeface="微软雅黑" panose="020B0503020204020204" pitchFamily="34" charset="-122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5pPr>
          </a:lstStyle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800" dirty="0">
                <a:solidFill>
                  <a:srgbClr val="FEFFFF"/>
                </a:solidFill>
                <a:latin typeface="Times New Roman"/>
                <a:sym typeface="+mn-lt"/>
              </a:rPr>
              <a:t>用后缀表示计算表达式的值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FEFFFF"/>
              </a:solidFill>
              <a:effectLst/>
              <a:uLnTx/>
              <a:uFillTx/>
              <a:latin typeface="Times New Roman"/>
              <a:ea typeface="微软雅黑" panose="020B0503020204020204" pitchFamily="34" charset="-122"/>
              <a:cs typeface="+mn-cs"/>
              <a:sym typeface="+mn-lt"/>
            </a:endParaRPr>
          </a:p>
        </p:txBody>
      </p:sp>
      <p:sp>
        <p:nvSpPr>
          <p:cNvPr id="23" name="Rectangle 3">
            <a:extLst>
              <a:ext uri="{FF2B5EF4-FFF2-40B4-BE49-F238E27FC236}">
                <a16:creationId xmlns:a16="http://schemas.microsoft.com/office/drawing/2014/main" id="{4FA6AD69-9511-4CF7-A07F-1376DFB14B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528" y="908720"/>
            <a:ext cx="8496944" cy="37807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457200" indent="-457200" algn="just">
              <a:lnSpc>
                <a:spcPct val="150000"/>
              </a:lnSpc>
              <a:spcBef>
                <a:spcPts val="0"/>
              </a:spcBef>
              <a:buClr>
                <a:srgbClr val="800080"/>
              </a:buClr>
              <a:buSzPct val="50000"/>
              <a:buFont typeface="Wingdings" panose="05000000000000000000" pitchFamily="2" charset="2"/>
              <a:buChar char="n"/>
            </a:pPr>
            <a:r>
              <a:rPr kumimoji="1" lang="zh-CN" altLang="en-US" sz="2800" b="0" baseline="0" dirty="0">
                <a:solidFill>
                  <a:srgbClr val="0000FF"/>
                </a:solidFill>
                <a:latin typeface="+mn-ea"/>
                <a:ea typeface="+mn-ea"/>
              </a:rPr>
              <a:t>从左向右</a:t>
            </a:r>
            <a:r>
              <a:rPr kumimoji="1" lang="zh-CN" altLang="en-US" sz="2800" b="0" baseline="0" dirty="0">
                <a:latin typeface="+mn-ea"/>
                <a:ea typeface="+mn-ea"/>
              </a:rPr>
              <a:t>顺序地扫描表达式，并用一个</a:t>
            </a:r>
            <a:r>
              <a:rPr kumimoji="1" lang="zh-CN" altLang="en-US" sz="2800" b="0" baseline="0" dirty="0">
                <a:solidFill>
                  <a:srgbClr val="0000FF"/>
                </a:solidFill>
                <a:latin typeface="+mn-ea"/>
                <a:ea typeface="+mn-ea"/>
              </a:rPr>
              <a:t>栈</a:t>
            </a:r>
            <a:r>
              <a:rPr kumimoji="1" lang="zh-CN" altLang="en-US" sz="2800" b="0" baseline="0" dirty="0">
                <a:latin typeface="+mn-ea"/>
                <a:ea typeface="+mn-ea"/>
              </a:rPr>
              <a:t>暂存扫描到的操作数或计算结果。</a:t>
            </a:r>
          </a:p>
          <a:p>
            <a:pPr marL="457200" indent="-457200" algn="just">
              <a:lnSpc>
                <a:spcPct val="150000"/>
              </a:lnSpc>
              <a:spcBef>
                <a:spcPts val="0"/>
              </a:spcBef>
              <a:buClr>
                <a:srgbClr val="800080"/>
              </a:buClr>
              <a:buSzPct val="50000"/>
              <a:buFont typeface="Wingdings" panose="05000000000000000000" pitchFamily="2" charset="2"/>
              <a:buChar char="n"/>
            </a:pPr>
            <a:r>
              <a:rPr kumimoji="1" lang="zh-CN" altLang="en-US" sz="2800" b="0" baseline="0" dirty="0">
                <a:latin typeface="+mn-ea"/>
                <a:ea typeface="+mn-ea"/>
              </a:rPr>
              <a:t>在后缀表达式的</a:t>
            </a:r>
            <a:r>
              <a:rPr kumimoji="1" lang="zh-CN" altLang="en-US" sz="2800" b="0" baseline="0" dirty="0">
                <a:solidFill>
                  <a:srgbClr val="FF0000"/>
                </a:solidFill>
                <a:latin typeface="+mn-ea"/>
                <a:ea typeface="+mn-ea"/>
              </a:rPr>
              <a:t>计算顺序中已隐含了加括号的优先次序</a:t>
            </a:r>
            <a:r>
              <a:rPr kumimoji="1" lang="zh-CN" altLang="en-US" sz="2800" b="0" baseline="0" dirty="0">
                <a:latin typeface="+mn-ea"/>
                <a:ea typeface="+mn-ea"/>
              </a:rPr>
              <a:t>，括号在后缀表达式中不出现。</a:t>
            </a:r>
          </a:p>
          <a:p>
            <a:pPr marL="457200" indent="-457200" algn="just">
              <a:lnSpc>
                <a:spcPct val="150000"/>
              </a:lnSpc>
              <a:spcBef>
                <a:spcPts val="0"/>
              </a:spcBef>
              <a:buClr>
                <a:srgbClr val="800080"/>
              </a:buClr>
              <a:buSzPct val="50000"/>
              <a:buFont typeface="Wingdings" panose="05000000000000000000" pitchFamily="2" charset="2"/>
              <a:buChar char="n"/>
            </a:pPr>
            <a:r>
              <a:rPr kumimoji="1" lang="zh-CN" altLang="en-US" sz="2800" b="0" baseline="0" dirty="0">
                <a:latin typeface="+mn-ea"/>
                <a:ea typeface="+mn-ea"/>
              </a:rPr>
              <a:t>计算例  </a:t>
            </a:r>
            <a:r>
              <a:rPr kumimoji="1" lang="en-US" altLang="zh-CN" sz="2800" b="0" baseline="0" dirty="0">
                <a:solidFill>
                  <a:srgbClr val="0000FF"/>
                </a:solidFill>
                <a:latin typeface="+mn-ea"/>
                <a:ea typeface="+mn-ea"/>
              </a:rPr>
              <a:t>a b c d - * + e f  / -</a:t>
            </a:r>
          </a:p>
        </p:txBody>
      </p:sp>
      <p:sp>
        <p:nvSpPr>
          <p:cNvPr id="24" name="AutoShape 4">
            <a:extLst>
              <a:ext uri="{FF2B5EF4-FFF2-40B4-BE49-F238E27FC236}">
                <a16:creationId xmlns:a16="http://schemas.microsoft.com/office/drawing/2014/main" id="{73B85B19-22A6-41C0-9B9B-E95D1757ED6B}"/>
              </a:ext>
            </a:extLst>
          </p:cNvPr>
          <p:cNvSpPr>
            <a:spLocks/>
          </p:cNvSpPr>
          <p:nvPr/>
        </p:nvSpPr>
        <p:spPr bwMode="auto">
          <a:xfrm rot="16200000">
            <a:off x="3077021" y="3771031"/>
            <a:ext cx="144463" cy="755650"/>
          </a:xfrm>
          <a:prstGeom prst="leftBrace">
            <a:avLst>
              <a:gd name="adj1" fmla="val 43590"/>
              <a:gd name="adj2" fmla="val 50000"/>
            </a:avLst>
          </a:prstGeom>
          <a:noFill/>
          <a:ln w="28575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5" name="Text Box 5">
            <a:extLst>
              <a:ext uri="{FF2B5EF4-FFF2-40B4-BE49-F238E27FC236}">
                <a16:creationId xmlns:a16="http://schemas.microsoft.com/office/drawing/2014/main" id="{AA96E406-27E8-4204-A3D6-C47D3A0D3F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07940" y="4134023"/>
            <a:ext cx="77628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2800" b="1" baseline="0" dirty="0">
                <a:solidFill>
                  <a:srgbClr val="000099"/>
                </a:solidFill>
                <a:latin typeface="Times New Roman" panose="02020603050405020304" pitchFamily="18" charset="0"/>
              </a:rPr>
              <a:t>rst1</a:t>
            </a:r>
            <a:endParaRPr kumimoji="1" lang="en-US" altLang="zh-CN" sz="2400" baseline="0" dirty="0">
              <a:latin typeface="Times New Roman" panose="02020603050405020304" pitchFamily="18" charset="0"/>
            </a:endParaRPr>
          </a:p>
        </p:txBody>
      </p:sp>
      <p:sp>
        <p:nvSpPr>
          <p:cNvPr id="26" name="AutoShape 6">
            <a:extLst>
              <a:ext uri="{FF2B5EF4-FFF2-40B4-BE49-F238E27FC236}">
                <a16:creationId xmlns:a16="http://schemas.microsoft.com/office/drawing/2014/main" id="{86ABDD46-3E77-4A9E-96A6-CDD68BB1CDF7}"/>
              </a:ext>
            </a:extLst>
          </p:cNvPr>
          <p:cNvSpPr>
            <a:spLocks/>
          </p:cNvSpPr>
          <p:nvPr/>
        </p:nvSpPr>
        <p:spPr bwMode="auto">
          <a:xfrm rot="16200000">
            <a:off x="3023047" y="4062214"/>
            <a:ext cx="144462" cy="1225550"/>
          </a:xfrm>
          <a:prstGeom prst="leftBrace">
            <a:avLst>
              <a:gd name="adj1" fmla="val 70696"/>
              <a:gd name="adj2" fmla="val 50000"/>
            </a:avLst>
          </a:prstGeom>
          <a:noFill/>
          <a:ln w="28575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7" name="Text Box 7">
            <a:extLst>
              <a:ext uri="{FF2B5EF4-FFF2-40B4-BE49-F238E27FC236}">
                <a16:creationId xmlns:a16="http://schemas.microsoft.com/office/drawing/2014/main" id="{816CB9B6-79F6-4080-A5E9-9F5928809A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87303" y="4674195"/>
            <a:ext cx="776287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2800" b="1" baseline="0">
                <a:solidFill>
                  <a:srgbClr val="000099"/>
                </a:solidFill>
                <a:latin typeface="Times New Roman" panose="02020603050405020304" pitchFamily="18" charset="0"/>
              </a:rPr>
              <a:t>rst2</a:t>
            </a:r>
            <a:endParaRPr kumimoji="1" lang="en-US" altLang="zh-CN" sz="2400" baseline="0">
              <a:latin typeface="Times New Roman" panose="02020603050405020304" pitchFamily="18" charset="0"/>
            </a:endParaRPr>
          </a:p>
        </p:txBody>
      </p:sp>
      <p:sp>
        <p:nvSpPr>
          <p:cNvPr id="28" name="AutoShape 8">
            <a:extLst>
              <a:ext uri="{FF2B5EF4-FFF2-40B4-BE49-F238E27FC236}">
                <a16:creationId xmlns:a16="http://schemas.microsoft.com/office/drawing/2014/main" id="{BC50FDF0-ED35-4857-ACBB-75D2083E246F}"/>
              </a:ext>
            </a:extLst>
          </p:cNvPr>
          <p:cNvSpPr>
            <a:spLocks/>
          </p:cNvSpPr>
          <p:nvPr/>
        </p:nvSpPr>
        <p:spPr bwMode="auto">
          <a:xfrm rot="16200000">
            <a:off x="3035275" y="4262239"/>
            <a:ext cx="152400" cy="1912937"/>
          </a:xfrm>
          <a:prstGeom prst="leftBrace">
            <a:avLst>
              <a:gd name="adj1" fmla="val 104601"/>
              <a:gd name="adj2" fmla="val 50000"/>
            </a:avLst>
          </a:prstGeom>
          <a:noFill/>
          <a:ln w="28575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9" name="Text Box 9">
            <a:extLst>
              <a:ext uri="{FF2B5EF4-FFF2-40B4-BE49-F238E27FC236}">
                <a16:creationId xmlns:a16="http://schemas.microsoft.com/office/drawing/2014/main" id="{258A5126-8E7A-4A1E-9239-95995B0668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71428" y="5215533"/>
            <a:ext cx="776287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2800" b="1" baseline="0">
                <a:solidFill>
                  <a:srgbClr val="000099"/>
                </a:solidFill>
                <a:latin typeface="Times New Roman" panose="02020603050405020304" pitchFamily="18" charset="0"/>
              </a:rPr>
              <a:t>rst3</a:t>
            </a:r>
            <a:endParaRPr kumimoji="1" lang="en-US" altLang="zh-CN" sz="2400" baseline="0">
              <a:latin typeface="Times New Roman" panose="02020603050405020304" pitchFamily="18" charset="0"/>
            </a:endParaRPr>
          </a:p>
        </p:txBody>
      </p:sp>
      <p:sp>
        <p:nvSpPr>
          <p:cNvPr id="30" name="AutoShape 10">
            <a:extLst>
              <a:ext uri="{FF2B5EF4-FFF2-40B4-BE49-F238E27FC236}">
                <a16:creationId xmlns:a16="http://schemas.microsoft.com/office/drawing/2014/main" id="{8599B604-75BD-448A-8FFB-01284CA33FE0}"/>
              </a:ext>
            </a:extLst>
          </p:cNvPr>
          <p:cNvSpPr>
            <a:spLocks/>
          </p:cNvSpPr>
          <p:nvPr/>
        </p:nvSpPr>
        <p:spPr bwMode="auto">
          <a:xfrm rot="16200000">
            <a:off x="4571454" y="4854376"/>
            <a:ext cx="144462" cy="720725"/>
          </a:xfrm>
          <a:prstGeom prst="leftBrace">
            <a:avLst>
              <a:gd name="adj1" fmla="val 41575"/>
              <a:gd name="adj2" fmla="val 50000"/>
            </a:avLst>
          </a:prstGeom>
          <a:noFill/>
          <a:ln w="28575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1" name="Text Box 11">
            <a:extLst>
              <a:ext uri="{FF2B5EF4-FFF2-40B4-BE49-F238E27FC236}">
                <a16:creationId xmlns:a16="http://schemas.microsoft.com/office/drawing/2014/main" id="{DE7CD5D9-EC7B-4980-87DF-D4E928B12D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11960" y="5215533"/>
            <a:ext cx="776287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2800" b="1" baseline="0" dirty="0">
                <a:solidFill>
                  <a:srgbClr val="000099"/>
                </a:solidFill>
                <a:latin typeface="Times New Roman" panose="02020603050405020304" pitchFamily="18" charset="0"/>
              </a:rPr>
              <a:t>rst4</a:t>
            </a:r>
            <a:endParaRPr kumimoji="1" lang="en-US" altLang="zh-CN" sz="2400" baseline="0" dirty="0">
              <a:latin typeface="Times New Roman" panose="02020603050405020304" pitchFamily="18" charset="0"/>
            </a:endParaRPr>
          </a:p>
        </p:txBody>
      </p:sp>
      <p:sp>
        <p:nvSpPr>
          <p:cNvPr id="32" name="AutoShape 14">
            <a:extLst>
              <a:ext uri="{FF2B5EF4-FFF2-40B4-BE49-F238E27FC236}">
                <a16:creationId xmlns:a16="http://schemas.microsoft.com/office/drawing/2014/main" id="{32FFC0D5-37FE-4B9C-8BA0-B8139FC6EC32}"/>
              </a:ext>
            </a:extLst>
          </p:cNvPr>
          <p:cNvSpPr>
            <a:spLocks/>
          </p:cNvSpPr>
          <p:nvPr/>
        </p:nvSpPr>
        <p:spPr bwMode="auto">
          <a:xfrm rot="16200000">
            <a:off x="3631704" y="4210793"/>
            <a:ext cx="152400" cy="3168352"/>
          </a:xfrm>
          <a:prstGeom prst="leftBrace">
            <a:avLst>
              <a:gd name="adj1" fmla="val 172344"/>
              <a:gd name="adj2" fmla="val 50000"/>
            </a:avLst>
          </a:prstGeom>
          <a:noFill/>
          <a:ln w="28575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3" name="Text Box 15">
            <a:extLst>
              <a:ext uri="{FF2B5EF4-FFF2-40B4-BE49-F238E27FC236}">
                <a16:creationId xmlns:a16="http://schemas.microsoft.com/office/drawing/2014/main" id="{1D952594-2212-4E7C-B84A-DB09021F05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9740" y="5790208"/>
            <a:ext cx="776288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2800" b="1" baseline="0">
                <a:solidFill>
                  <a:srgbClr val="000099"/>
                </a:solidFill>
                <a:latin typeface="Times New Roman" panose="02020603050405020304" pitchFamily="18" charset="0"/>
              </a:rPr>
              <a:t>rst5</a:t>
            </a:r>
            <a:endParaRPr kumimoji="1" lang="en-US" altLang="zh-CN" sz="2400" baseline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93546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00"/>
                            </p:stCondLst>
                            <p:childTnLst>
                              <p:par>
                                <p:cTn id="53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27" grpId="0"/>
      <p:bldP spid="29" grpId="0"/>
      <p:bldP spid="31" grpId="0"/>
      <p:bldP spid="33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B55C8B0-35A1-487F-B3A7-28502B29B5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用后缀表示计算表达式的值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5F38D9D-AD54-4F22-81AD-CC965A6309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528" y="906860"/>
            <a:ext cx="8496943" cy="5472112"/>
          </a:xfrm>
        </p:spPr>
        <p:txBody>
          <a:bodyPr/>
          <a:lstStyle/>
          <a:p>
            <a:pPr>
              <a:buClr>
                <a:srgbClr val="800080"/>
              </a:buClr>
              <a:buSzPct val="55000"/>
              <a:buFont typeface="Wingdings" panose="05000000000000000000" pitchFamily="2" charset="2"/>
              <a:buChar char="l"/>
            </a:pPr>
            <a:r>
              <a:rPr lang="zh-CN" altLang="en-US" sz="2800" dirty="0">
                <a:latin typeface="+mn-ea"/>
                <a:ea typeface="+mn-ea"/>
              </a:rPr>
              <a:t>顺序扫描表达式的每一项，根据它的类型做如下相应操作：</a:t>
            </a:r>
          </a:p>
          <a:p>
            <a:pPr marL="684000" lvl="2">
              <a:buClr>
                <a:schemeClr val="tx2"/>
              </a:buClr>
            </a:pPr>
            <a:r>
              <a:rPr lang="zh-CN" altLang="en-US" dirty="0">
                <a:latin typeface="+mn-ea"/>
                <a:ea typeface="+mn-ea"/>
              </a:rPr>
              <a:t>若该项是</a:t>
            </a:r>
            <a:r>
              <a:rPr lang="zh-CN" altLang="en-US" dirty="0">
                <a:solidFill>
                  <a:srgbClr val="0000FF"/>
                </a:solidFill>
                <a:latin typeface="+mn-ea"/>
                <a:ea typeface="+mn-ea"/>
              </a:rPr>
              <a:t>操作数</a:t>
            </a:r>
            <a:r>
              <a:rPr lang="zh-CN" altLang="en-US" dirty="0">
                <a:latin typeface="+mn-ea"/>
                <a:ea typeface="+mn-ea"/>
              </a:rPr>
              <a:t>，则将其</a:t>
            </a:r>
            <a:r>
              <a:rPr lang="zh-CN" altLang="en-US" dirty="0">
                <a:solidFill>
                  <a:srgbClr val="FF0000"/>
                </a:solidFill>
                <a:latin typeface="+mn-ea"/>
                <a:ea typeface="+mn-ea"/>
              </a:rPr>
              <a:t>压栈</a:t>
            </a:r>
            <a:r>
              <a:rPr lang="zh-CN" altLang="en-US" dirty="0">
                <a:latin typeface="+mn-ea"/>
                <a:ea typeface="+mn-ea"/>
              </a:rPr>
              <a:t>；</a:t>
            </a:r>
          </a:p>
          <a:p>
            <a:pPr marL="684000" lvl="2">
              <a:buClr>
                <a:schemeClr val="tx2"/>
              </a:buClr>
            </a:pPr>
            <a:r>
              <a:rPr lang="zh-CN" altLang="en-US" dirty="0">
                <a:latin typeface="+mn-ea"/>
                <a:ea typeface="+mn-ea"/>
              </a:rPr>
              <a:t>若该项是</a:t>
            </a:r>
            <a:r>
              <a:rPr lang="zh-CN" altLang="en-US" dirty="0">
                <a:solidFill>
                  <a:srgbClr val="0000FF"/>
                </a:solidFill>
                <a:latin typeface="+mn-ea"/>
                <a:ea typeface="+mn-ea"/>
              </a:rPr>
              <a:t>操作符</a:t>
            </a:r>
            <a:r>
              <a:rPr lang="en-US" altLang="zh-CN" dirty="0">
                <a:latin typeface="+mn-ea"/>
                <a:ea typeface="+mn-ea"/>
              </a:rPr>
              <a:t>&lt;op&gt;</a:t>
            </a:r>
            <a:r>
              <a:rPr lang="zh-CN" altLang="en-US" dirty="0">
                <a:latin typeface="+mn-ea"/>
                <a:ea typeface="+mn-ea"/>
              </a:rPr>
              <a:t>，则连续从栈中退出两个操作数 </a:t>
            </a:r>
            <a:r>
              <a:rPr lang="en-US" altLang="zh-CN" dirty="0">
                <a:latin typeface="+mn-ea"/>
                <a:ea typeface="+mn-ea"/>
              </a:rPr>
              <a:t>Y </a:t>
            </a:r>
            <a:r>
              <a:rPr lang="zh-CN" altLang="en-US" dirty="0">
                <a:latin typeface="+mn-ea"/>
                <a:ea typeface="+mn-ea"/>
              </a:rPr>
              <a:t>和 </a:t>
            </a:r>
            <a:r>
              <a:rPr lang="en-US" altLang="zh-CN" dirty="0">
                <a:latin typeface="+mn-ea"/>
                <a:ea typeface="+mn-ea"/>
              </a:rPr>
              <a:t>X</a:t>
            </a:r>
            <a:r>
              <a:rPr lang="zh-CN" altLang="en-US" dirty="0">
                <a:latin typeface="+mn-ea"/>
                <a:ea typeface="+mn-ea"/>
              </a:rPr>
              <a:t>，形成运算指令 </a:t>
            </a:r>
            <a:r>
              <a:rPr lang="en-US" altLang="zh-CN" dirty="0">
                <a:solidFill>
                  <a:srgbClr val="FF0000"/>
                </a:solidFill>
                <a:latin typeface="+mn-ea"/>
                <a:ea typeface="+mn-ea"/>
              </a:rPr>
              <a:t>X&lt;op&gt;Y</a:t>
            </a:r>
            <a:r>
              <a:rPr lang="zh-CN" altLang="en-US" dirty="0">
                <a:latin typeface="+mn-ea"/>
                <a:ea typeface="+mn-ea"/>
              </a:rPr>
              <a:t>，并将结果重新压栈。</a:t>
            </a:r>
          </a:p>
          <a:p>
            <a:pPr>
              <a:buClr>
                <a:srgbClr val="800080"/>
              </a:buClr>
              <a:buSzPct val="55000"/>
              <a:buFont typeface="Wingdings" panose="05000000000000000000" pitchFamily="2" charset="2"/>
              <a:buChar char="l"/>
            </a:pPr>
            <a:r>
              <a:rPr lang="zh-CN" altLang="en-US" sz="2800" dirty="0">
                <a:latin typeface="+mn-ea"/>
                <a:ea typeface="+mn-ea"/>
              </a:rPr>
              <a:t>当表达式的所有项都扫描并处理完后，</a:t>
            </a:r>
            <a:r>
              <a:rPr lang="zh-CN" altLang="en-US" sz="2800" dirty="0">
                <a:solidFill>
                  <a:srgbClr val="0000FF"/>
                </a:solidFill>
                <a:latin typeface="+mn-ea"/>
                <a:ea typeface="+mn-ea"/>
              </a:rPr>
              <a:t>栈顶存放的就是最后的计算结果</a:t>
            </a:r>
            <a:r>
              <a:rPr lang="zh-CN" altLang="en-US" sz="2800" dirty="0">
                <a:latin typeface="+mn-ea"/>
                <a:ea typeface="+mn-ea"/>
              </a:rPr>
              <a:t>。</a:t>
            </a:r>
          </a:p>
          <a:p>
            <a:pPr>
              <a:buClr>
                <a:srgbClr val="800080"/>
              </a:buClr>
              <a:buSzPct val="55000"/>
              <a:buFont typeface="Wingdings" panose="05000000000000000000" pitchFamily="2" charset="2"/>
              <a:buChar char="l"/>
            </a:pPr>
            <a:r>
              <a:rPr lang="zh-CN" altLang="en-US" sz="2800" dirty="0">
                <a:latin typeface="+mn-ea"/>
                <a:ea typeface="+mn-ea"/>
              </a:rPr>
              <a:t>举</a:t>
            </a:r>
            <a:r>
              <a:rPr kumimoji="1" lang="zh-CN" altLang="en-US" sz="2800" dirty="0">
                <a:latin typeface="+mn-ea"/>
                <a:ea typeface="+mn-ea"/>
              </a:rPr>
              <a:t>例</a:t>
            </a:r>
            <a:r>
              <a:rPr kumimoji="1" lang="zh-CN" altLang="en-US" dirty="0">
                <a:latin typeface="+mn-ea"/>
                <a:ea typeface="+mn-ea"/>
              </a:rPr>
              <a:t>：</a:t>
            </a:r>
            <a:r>
              <a:rPr kumimoji="1" lang="en-US" altLang="zh-CN" sz="2800" dirty="0">
                <a:solidFill>
                  <a:srgbClr val="FF0000"/>
                </a:solidFill>
                <a:latin typeface="+mn-ea"/>
                <a:ea typeface="+mn-ea"/>
              </a:rPr>
              <a:t>a b c d </a:t>
            </a:r>
            <a:r>
              <a:rPr kumimoji="1" lang="en-US" altLang="zh-CN" sz="2800" dirty="0">
                <a:solidFill>
                  <a:srgbClr val="0000FF"/>
                </a:solidFill>
                <a:latin typeface="+mn-ea"/>
                <a:ea typeface="+mn-ea"/>
              </a:rPr>
              <a:t>- * + </a:t>
            </a:r>
            <a:r>
              <a:rPr kumimoji="1" lang="en-US" altLang="zh-CN" sz="2800" dirty="0">
                <a:solidFill>
                  <a:srgbClr val="FF0000"/>
                </a:solidFill>
                <a:latin typeface="+mn-ea"/>
                <a:ea typeface="+mn-ea"/>
              </a:rPr>
              <a:t>e f</a:t>
            </a:r>
            <a:r>
              <a:rPr kumimoji="1" lang="en-US" altLang="zh-CN" sz="2800" dirty="0">
                <a:latin typeface="+mn-ea"/>
                <a:ea typeface="+mn-ea"/>
              </a:rPr>
              <a:t> </a:t>
            </a:r>
            <a:r>
              <a:rPr kumimoji="1" lang="en-US" altLang="zh-CN" sz="2800" dirty="0">
                <a:solidFill>
                  <a:srgbClr val="0000FF"/>
                </a:solidFill>
                <a:latin typeface="+mn-ea"/>
                <a:ea typeface="+mn-ea"/>
              </a:rPr>
              <a:t>/ - </a:t>
            </a:r>
          </a:p>
        </p:txBody>
      </p:sp>
    </p:spTree>
    <p:extLst>
      <p:ext uri="{BB962C8B-B14F-4D97-AF65-F5344CB8AC3E}">
        <p14:creationId xmlns:p14="http://schemas.microsoft.com/office/powerpoint/2010/main" val="3357571334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49C24A2-ECA4-4015-B2DE-DF8C978AB1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用后缀表示计算表达式的值</a:t>
            </a:r>
          </a:p>
        </p:txBody>
      </p:sp>
      <p:graphicFrame>
        <p:nvGraphicFramePr>
          <p:cNvPr id="5" name="Group 272">
            <a:extLst>
              <a:ext uri="{FF2B5EF4-FFF2-40B4-BE49-F238E27FC236}">
                <a16:creationId xmlns:a16="http://schemas.microsoft.com/office/drawing/2014/main" id="{CAD39028-2658-44E4-AF7A-C7B273279C2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89393217"/>
              </p:ext>
            </p:extLst>
          </p:nvPr>
        </p:nvGraphicFramePr>
        <p:xfrm>
          <a:off x="467544" y="792985"/>
          <a:ext cx="8208912" cy="6007608"/>
        </p:xfrm>
        <a:graphic>
          <a:graphicData uri="http://schemas.openxmlformats.org/drawingml/2006/table">
            <a:tbl>
              <a:tblPr/>
              <a:tblGrid>
                <a:gridCol w="693280">
                  <a:extLst>
                    <a:ext uri="{9D8B030D-6E8A-4147-A177-3AD203B41FA5}">
                      <a16:colId xmlns:a16="http://schemas.microsoft.com/office/drawing/2014/main" val="1303743088"/>
                    </a:ext>
                  </a:extLst>
                </a:gridCol>
                <a:gridCol w="1002537">
                  <a:extLst>
                    <a:ext uri="{9D8B030D-6E8A-4147-A177-3AD203B41FA5}">
                      <a16:colId xmlns:a16="http://schemas.microsoft.com/office/drawing/2014/main" val="3515231797"/>
                    </a:ext>
                  </a:extLst>
                </a:gridCol>
                <a:gridCol w="1503805">
                  <a:extLst>
                    <a:ext uri="{9D8B030D-6E8A-4147-A177-3AD203B41FA5}">
                      <a16:colId xmlns:a16="http://schemas.microsoft.com/office/drawing/2014/main" val="2537363672"/>
                    </a:ext>
                  </a:extLst>
                </a:gridCol>
                <a:gridCol w="3197925">
                  <a:extLst>
                    <a:ext uri="{9D8B030D-6E8A-4147-A177-3AD203B41FA5}">
                      <a16:colId xmlns:a16="http://schemas.microsoft.com/office/drawing/2014/main" val="1093097225"/>
                    </a:ext>
                  </a:extLst>
                </a:gridCol>
                <a:gridCol w="1811365">
                  <a:extLst>
                    <a:ext uri="{9D8B030D-6E8A-4147-A177-3AD203B41FA5}">
                      <a16:colId xmlns:a16="http://schemas.microsoft.com/office/drawing/2014/main" val="3668554749"/>
                    </a:ext>
                  </a:extLst>
                </a:gridCol>
              </a:tblGrid>
              <a:tr h="2524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步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lg" len="lg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lg" len="lg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lg" len="lg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输入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lg" len="lg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lg" len="lg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lg" len="lg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lg" len="lg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类型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lg" len="lg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lg" len="lg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lg" len="lg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lg" len="lg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动作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lg" len="lg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lg" len="lg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lg" len="lg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lg" len="lg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栈内容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lg" len="lg"/>
                      <a:tailEnd type="none" w="med" len="med"/>
                    </a:lnL>
                    <a:lnR cap="flat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lg" len="lg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lg" len="lg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3282822"/>
                  </a:ext>
                </a:extLst>
              </a:tr>
              <a:tr h="2492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lg" len="lg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lg" len="lg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lg" len="lg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lg" len="lg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lg" len="lg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lg" len="lg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lg" len="lg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lg" len="lg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lg" len="lg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lg" len="lg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lg" len="lg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0" lang="zh-CN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置空栈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lg" len="lg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lg" len="lg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lg" len="lg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lg" len="lg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0" lang="zh-CN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空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lg" len="lg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lg" len="lg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lg" len="lg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78401093"/>
                  </a:ext>
                </a:extLst>
              </a:tr>
              <a:tr h="3175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lg" len="lg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lg" len="lg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lg" len="lg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lg" len="lg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lg" len="lg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lg" len="lg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lg" len="lg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操作数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lg" len="lg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lg" len="lg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lg" len="lg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lg" len="lg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0" lang="zh-CN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进栈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lg" len="lg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lg" len="lg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lg" len="lg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lg" len="lg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 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lg" len="lg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lg" len="lg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lg" len="lg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11746860"/>
                  </a:ext>
                </a:extLst>
              </a:tr>
              <a:tr h="2063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3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lg" len="lg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lg" len="lg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lg" len="lg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lg" len="lg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lg" len="lg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lg" len="lg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lg" len="lg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操作数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lg" len="lg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lg" len="lg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lg" len="lg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lg" len="lg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0" lang="zh-CN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进栈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lg" len="lg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lg" len="lg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lg" len="lg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lg" len="lg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 a 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lg" len="lg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lg" len="lg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lg" len="lg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6943643"/>
                  </a:ext>
                </a:extLst>
              </a:tr>
              <a:tr h="1809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4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lg" len="lg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lg" len="lg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lg" len="lg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lg" len="lg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lg" len="lg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lg" len="lg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lg" len="lg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操作数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lg" len="lg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lg" len="lg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lg" len="lg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lg" len="lg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0" lang="zh-CN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进栈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lg" len="lg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lg" len="lg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lg" len="lg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lg" len="lg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 a b 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lg" len="lg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lg" len="lg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lg" len="lg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26775207"/>
                  </a:ext>
                </a:extLst>
              </a:tr>
              <a:tr h="1809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5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lg" len="lg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lg" len="lg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lg" len="lg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lg" len="lg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lg" len="lg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lg" len="lg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lg" len="lg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操作数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lg" len="lg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lg" len="lg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lg" len="lg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lg" len="lg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0" lang="zh-CN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进栈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lg" len="lg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lg" len="lg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lg" len="lg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lg" len="lg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 a b c 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lg" len="lg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lg" len="lg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lg" len="lg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88326449"/>
                  </a:ext>
                </a:extLst>
              </a:tr>
              <a:tr h="6635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6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lg" len="lg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lg" len="lg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lg" len="lg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-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lg" len="lg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lg" len="lg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lg" len="lg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lg" len="lg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操作符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lg" len="lg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lg" len="lg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lg" len="lg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lg" len="lg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d, c </a:t>
                      </a:r>
                      <a:r>
                        <a:rPr kumimoji="0" lang="zh-CN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退栈</a:t>
                      </a: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kumimoji="0" lang="zh-CN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计算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c-d, </a:t>
                      </a:r>
                      <a:r>
                        <a:rPr kumimoji="0" lang="zh-CN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结果 </a:t>
                      </a: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r</a:t>
                      </a:r>
                      <a:r>
                        <a:rPr kumimoji="0" lang="en-US" altLang="zh-CN" sz="28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 </a:t>
                      </a:r>
                      <a:r>
                        <a:rPr kumimoji="0" lang="zh-CN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进栈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lg" len="lg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lg" len="lg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lg" len="lg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lg" len="lg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 a b r</a:t>
                      </a:r>
                      <a:r>
                        <a:rPr kumimoji="0" lang="en-US" altLang="zh-CN" sz="2800" b="0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lg" len="lg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lg" len="lg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lg" len="lg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2912246"/>
                  </a:ext>
                </a:extLst>
              </a:tr>
              <a:tr h="8429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7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lg" len="lg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lg" len="lg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lg" len="lg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*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lg" len="lg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lg" len="lg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lg" len="lg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lg" len="lg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操作符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lg" len="lg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lg" len="lg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lg" len="lg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lg" len="lg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r</a:t>
                      </a:r>
                      <a:r>
                        <a:rPr kumimoji="0" lang="en-US" altLang="zh-CN" sz="28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, b </a:t>
                      </a:r>
                      <a:r>
                        <a:rPr kumimoji="0" lang="zh-CN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退栈</a:t>
                      </a: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kumimoji="0" lang="zh-CN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计算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b*r</a:t>
                      </a:r>
                      <a:r>
                        <a:rPr kumimoji="0" lang="en-US" altLang="zh-CN" sz="28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kumimoji="0" lang="zh-CN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结果 </a:t>
                      </a: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r</a:t>
                      </a:r>
                      <a:r>
                        <a:rPr kumimoji="0" lang="en-US" altLang="zh-CN" sz="28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 </a:t>
                      </a:r>
                      <a:r>
                        <a:rPr kumimoji="0" lang="zh-CN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进栈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lg" len="lg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lg" len="lg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lg" len="lg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lg" len="lg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 a r</a:t>
                      </a:r>
                      <a:r>
                        <a:rPr kumimoji="0" lang="en-US" altLang="zh-CN" sz="2800" b="0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lg" len="lg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lg" len="lg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lg" len="lg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475318"/>
                  </a:ext>
                </a:extLst>
              </a:tr>
              <a:tr h="5413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8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lg" len="lg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lg" len="lg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lg" len="lg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+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lg" len="lg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lg" len="lg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lg" len="lg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lg" len="lg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操作符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lg" len="lg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lg" len="lg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lg" len="lg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lg" len="lg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r</a:t>
                      </a:r>
                      <a:r>
                        <a:rPr kumimoji="0" lang="en-US" altLang="zh-CN" sz="28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, a </a:t>
                      </a:r>
                      <a:r>
                        <a:rPr kumimoji="0" lang="zh-CN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退栈</a:t>
                      </a: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kumimoji="0" lang="zh-CN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计算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a*r</a:t>
                      </a:r>
                      <a:r>
                        <a:rPr kumimoji="0" lang="en-US" altLang="zh-CN" sz="28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kumimoji="0" lang="zh-CN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结果 </a:t>
                      </a: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r</a:t>
                      </a:r>
                      <a:r>
                        <a:rPr kumimoji="0" lang="en-US" altLang="zh-CN" sz="28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3 </a:t>
                      </a:r>
                      <a:r>
                        <a:rPr kumimoji="0" lang="zh-CN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进栈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lg" len="lg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lg" len="lg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lg" len="lg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lg" len="lg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 r</a:t>
                      </a:r>
                      <a:r>
                        <a:rPr kumimoji="0" lang="en-US" altLang="zh-CN" sz="2800" b="0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lg" len="lg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lg" len="lg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lg" len="lg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3982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71074198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49C24A2-ECA4-4015-B2DE-DF8C978AB1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用后缀表示计算表达式的值</a:t>
            </a:r>
          </a:p>
        </p:txBody>
      </p:sp>
      <p:graphicFrame>
        <p:nvGraphicFramePr>
          <p:cNvPr id="4" name="Group 151">
            <a:extLst>
              <a:ext uri="{FF2B5EF4-FFF2-40B4-BE49-F238E27FC236}">
                <a16:creationId xmlns:a16="http://schemas.microsoft.com/office/drawing/2014/main" id="{95B5177A-8B37-482D-9FAE-D3F7A175C97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23876543"/>
              </p:ext>
            </p:extLst>
          </p:nvPr>
        </p:nvGraphicFramePr>
        <p:xfrm>
          <a:off x="395536" y="765175"/>
          <a:ext cx="8352927" cy="3486912"/>
        </p:xfrm>
        <a:graphic>
          <a:graphicData uri="http://schemas.openxmlformats.org/drawingml/2006/table">
            <a:tbl>
              <a:tblPr/>
              <a:tblGrid>
                <a:gridCol w="767831">
                  <a:extLst>
                    <a:ext uri="{9D8B030D-6E8A-4147-A177-3AD203B41FA5}">
                      <a16:colId xmlns:a16="http://schemas.microsoft.com/office/drawing/2014/main" val="3409421314"/>
                    </a:ext>
                  </a:extLst>
                </a:gridCol>
                <a:gridCol w="923772">
                  <a:extLst>
                    <a:ext uri="{9D8B030D-6E8A-4147-A177-3AD203B41FA5}">
                      <a16:colId xmlns:a16="http://schemas.microsoft.com/office/drawing/2014/main" val="4018478435"/>
                    </a:ext>
                  </a:extLst>
                </a:gridCol>
                <a:gridCol w="1537358">
                  <a:extLst>
                    <a:ext uri="{9D8B030D-6E8A-4147-A177-3AD203B41FA5}">
                      <a16:colId xmlns:a16="http://schemas.microsoft.com/office/drawing/2014/main" val="1449616557"/>
                    </a:ext>
                  </a:extLst>
                </a:gridCol>
                <a:gridCol w="3452702">
                  <a:extLst>
                    <a:ext uri="{9D8B030D-6E8A-4147-A177-3AD203B41FA5}">
                      <a16:colId xmlns:a16="http://schemas.microsoft.com/office/drawing/2014/main" val="4187607611"/>
                    </a:ext>
                  </a:extLst>
                </a:gridCol>
                <a:gridCol w="1671264">
                  <a:extLst>
                    <a:ext uri="{9D8B030D-6E8A-4147-A177-3AD203B41FA5}">
                      <a16:colId xmlns:a16="http://schemas.microsoft.com/office/drawing/2014/main" val="2798402755"/>
                    </a:ext>
                  </a:extLst>
                </a:gridCol>
              </a:tblGrid>
              <a:tr h="1809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步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lg" len="lg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lg" len="lg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lg" len="lg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输入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lg" len="lg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lg" len="lg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lg" len="lg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lg" len="lg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类型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lg" len="lg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lg" len="lg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lg" len="lg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lg" len="lg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动作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lg" len="lg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lg" len="lg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lg" len="lg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lg" len="lg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栈内容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lg" len="lg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lg" len="lg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lg" len="lg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8374434"/>
                  </a:ext>
                </a:extLst>
              </a:tr>
              <a:tr h="1809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9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lg" len="lg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lg" len="lg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lg" len="lg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lg" len="lg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lg" len="lg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lg" len="lg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lg" len="lg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操作数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lg" len="lg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lg" len="lg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lg" len="lg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lg" len="lg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0" lang="zh-CN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进栈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lg" len="lg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lg" len="lg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lg" len="lg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lg" len="lg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 r</a:t>
                      </a:r>
                      <a:r>
                        <a:rPr kumimoji="0" lang="en-US" altLang="zh-CN" sz="2800" b="0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3</a:t>
                      </a: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 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lg" len="lg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lg" len="lg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lg" len="lg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8363009"/>
                  </a:ext>
                </a:extLst>
              </a:tr>
              <a:tr h="1809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10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lg" len="lg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lg" len="lg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lg" len="lg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lg" len="lg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lg" len="lg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lg" len="lg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lg" len="lg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操作数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lg" len="lg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lg" len="lg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lg" len="lg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lg" len="lg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0" lang="zh-CN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进栈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lg" len="lg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lg" len="lg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lg" len="lg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lg" len="lg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 r</a:t>
                      </a:r>
                      <a:r>
                        <a:rPr kumimoji="0" lang="en-US" altLang="zh-CN" sz="2800" b="0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3</a:t>
                      </a: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 e 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lg" len="lg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lg" len="lg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lg" len="lg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25735270"/>
                  </a:ext>
                </a:extLst>
              </a:tr>
              <a:tr h="7747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11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lg" len="lg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lg" len="lg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lg" len="lg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/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lg" len="lg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lg" len="lg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lg" len="lg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lg" len="lg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操作符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lg" len="lg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lg" len="lg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lg" len="lg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lg" len="lg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f, e </a:t>
                      </a:r>
                      <a:r>
                        <a:rPr kumimoji="0" lang="zh-CN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退栈，计算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e/f, </a:t>
                      </a:r>
                      <a:r>
                        <a:rPr kumimoji="0" lang="zh-CN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结果 </a:t>
                      </a: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r</a:t>
                      </a:r>
                      <a:r>
                        <a:rPr kumimoji="0" lang="en-US" altLang="zh-CN" sz="28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4 </a:t>
                      </a:r>
                      <a:r>
                        <a:rPr kumimoji="0" lang="zh-CN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进栈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lg" len="lg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lg" len="lg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lg" len="lg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lg" len="lg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 r</a:t>
                      </a:r>
                      <a:r>
                        <a:rPr kumimoji="0" lang="en-US" altLang="zh-CN" sz="2800" b="0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3</a:t>
                      </a: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 r</a:t>
                      </a:r>
                      <a:r>
                        <a:rPr kumimoji="0" lang="en-US" altLang="zh-CN" sz="2800" b="0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lg" len="lg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lg" len="lg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lg" len="lg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0549117"/>
                  </a:ext>
                </a:extLst>
              </a:tr>
              <a:tr h="6445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12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lg" len="lg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lg" len="lg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lg" len="lg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-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lg" len="lg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lg" len="lg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lg" len="lg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lg" len="lg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操作符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lg" len="lg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lg" len="lg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lg" len="lg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lg" len="lg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r</a:t>
                      </a:r>
                      <a:r>
                        <a:rPr kumimoji="0" lang="en-US" altLang="zh-CN" sz="28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4</a:t>
                      </a: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, r</a:t>
                      </a:r>
                      <a:r>
                        <a:rPr kumimoji="0" lang="en-US" altLang="zh-CN" sz="28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3 </a:t>
                      </a:r>
                      <a:r>
                        <a:rPr kumimoji="0" lang="zh-CN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退栈，计算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r</a:t>
                      </a:r>
                      <a:r>
                        <a:rPr kumimoji="0" lang="en-US" altLang="zh-CN" sz="28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3</a:t>
                      </a: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-r</a:t>
                      </a:r>
                      <a:r>
                        <a:rPr kumimoji="0" lang="en-US" altLang="zh-CN" sz="28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4</a:t>
                      </a: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kumimoji="0" lang="zh-CN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结果 </a:t>
                      </a: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r</a:t>
                      </a:r>
                      <a:r>
                        <a:rPr kumimoji="0" lang="en-US" altLang="zh-CN" sz="28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5 </a:t>
                      </a:r>
                      <a:r>
                        <a:rPr kumimoji="0" lang="zh-CN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进栈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lg" len="lg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lg" len="lg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lg" len="lg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lg" len="lg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 r</a:t>
                      </a:r>
                      <a:r>
                        <a:rPr kumimoji="0" lang="en-US" altLang="zh-CN" sz="2800" b="1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lg" len="lg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lg" len="lg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lg" len="lg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286303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0566074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94" name="Rectangle 154"/>
          <p:cNvSpPr txBox="1"/>
          <p:nvPr/>
        </p:nvSpPr>
        <p:spPr>
          <a:xfrm>
            <a:off x="827088" y="188913"/>
            <a:ext cx="4933950" cy="50378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indent="538480" algn="l" rtl="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2400" b="0">
                <a:solidFill>
                  <a:schemeClr val="tx1"/>
                </a:solidFill>
                <a:latin typeface="+mn-lt"/>
                <a:ea typeface="微软雅黑" panose="020B0503020204020204" pitchFamily="34" charset="-122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5pPr>
          </a:lstStyle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Times New Roman"/>
                <a:ea typeface="微软雅黑" panose="020B0503020204020204" pitchFamily="34" charset="-122"/>
                <a:cs typeface="+mn-cs"/>
                <a:sym typeface="+mn-lt"/>
              </a:rPr>
              <a:t>将中缀表示转换为后缀表示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216430A2-C926-4527-8C7D-B2A33ED4A6B8}"/>
              </a:ext>
            </a:extLst>
          </p:cNvPr>
          <p:cNvSpPr txBox="1"/>
          <p:nvPr/>
        </p:nvSpPr>
        <p:spPr>
          <a:xfrm>
            <a:off x="107504" y="836712"/>
            <a:ext cx="8856984" cy="32478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lnSpc>
                <a:spcPct val="150000"/>
              </a:lnSpc>
              <a:spcBef>
                <a:spcPts val="0"/>
              </a:spcBef>
              <a:buClr>
                <a:srgbClr val="800080"/>
              </a:buClr>
              <a:buSzPct val="55000"/>
              <a:buFont typeface="Wingdings" panose="05000000000000000000" pitchFamily="2" charset="2"/>
              <a:buChar char="l"/>
            </a:pPr>
            <a:r>
              <a:rPr lang="zh-CN" altLang="en-US" sz="2800" b="0" dirty="0">
                <a:latin typeface="+mn-ea"/>
                <a:ea typeface="+mn-ea"/>
              </a:rPr>
              <a:t>使用</a:t>
            </a:r>
            <a:r>
              <a:rPr lang="zh-CN" altLang="en-US" sz="2800" dirty="0">
                <a:solidFill>
                  <a:srgbClr val="FF0000"/>
                </a:solidFill>
                <a:latin typeface="+mn-ea"/>
                <a:ea typeface="+mn-ea"/>
              </a:rPr>
              <a:t>栈</a:t>
            </a:r>
            <a:r>
              <a:rPr lang="zh-CN" altLang="en-US" sz="2800" b="0" dirty="0">
                <a:latin typeface="+mn-ea"/>
                <a:ea typeface="+mn-ea"/>
              </a:rPr>
              <a:t>可将表达式的中缀表示转换成它的前缀表示和后缀表示。</a:t>
            </a:r>
          </a:p>
          <a:p>
            <a:pPr marL="457200" indent="-457200" algn="just">
              <a:lnSpc>
                <a:spcPct val="150000"/>
              </a:lnSpc>
              <a:spcBef>
                <a:spcPts val="0"/>
              </a:spcBef>
              <a:buClr>
                <a:srgbClr val="800080"/>
              </a:buClr>
              <a:buSzPct val="55000"/>
              <a:buFont typeface="Wingdings" panose="05000000000000000000" pitchFamily="2" charset="2"/>
              <a:buChar char="l"/>
            </a:pPr>
            <a:r>
              <a:rPr lang="zh-CN" altLang="en-US" sz="2800" b="0" dirty="0">
                <a:latin typeface="+mn-ea"/>
                <a:ea typeface="+mn-ea"/>
              </a:rPr>
              <a:t>在把中缀表达式转换为后缀表达式的过程中，需要考虑算术运算符的优先级，以实现运算规则。</a:t>
            </a:r>
            <a:endParaRPr lang="zh-CN" altLang="en-US" sz="2000" b="0" dirty="0">
              <a:latin typeface="+mn-ea"/>
              <a:ea typeface="+mn-ea"/>
            </a:endParaRPr>
          </a:p>
          <a:p>
            <a:pPr algn="ctr">
              <a:lnSpc>
                <a:spcPct val="150000"/>
              </a:lnSpc>
              <a:spcBef>
                <a:spcPts val="0"/>
              </a:spcBef>
            </a:pPr>
            <a:r>
              <a:rPr kumimoji="1" lang="en-US" altLang="zh-CN" sz="2800" u="sng" dirty="0">
                <a:solidFill>
                  <a:srgbClr val="FF0000"/>
                </a:solidFill>
                <a:latin typeface="+mn-ea"/>
                <a:ea typeface="+mn-ea"/>
              </a:rPr>
              <a:t>C/C++</a:t>
            </a:r>
            <a:r>
              <a:rPr kumimoji="1" lang="zh-CN" altLang="en-US" sz="2800" u="sng" dirty="0">
                <a:solidFill>
                  <a:srgbClr val="FF0000"/>
                </a:solidFill>
                <a:latin typeface="+mn-ea"/>
                <a:ea typeface="+mn-ea"/>
              </a:rPr>
              <a:t>中操作符的优先级</a:t>
            </a:r>
          </a:p>
        </p:txBody>
      </p:sp>
      <p:graphicFrame>
        <p:nvGraphicFramePr>
          <p:cNvPr id="36" name="Group 37">
            <a:extLst>
              <a:ext uri="{FF2B5EF4-FFF2-40B4-BE49-F238E27FC236}">
                <a16:creationId xmlns:a16="http://schemas.microsoft.com/office/drawing/2014/main" id="{9B052458-8B3A-46CB-8FD9-69E9AD5EE51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74600335"/>
              </p:ext>
            </p:extLst>
          </p:nvPr>
        </p:nvGraphicFramePr>
        <p:xfrm>
          <a:off x="480219" y="4221088"/>
          <a:ext cx="8183562" cy="2316480"/>
        </p:xfrm>
        <a:graphic>
          <a:graphicData uri="http://schemas.openxmlformats.org/drawingml/2006/table">
            <a:tbl>
              <a:tblPr/>
              <a:tblGrid>
                <a:gridCol w="1325562">
                  <a:extLst>
                    <a:ext uri="{9D8B030D-6E8A-4147-A177-3AD203B41FA5}">
                      <a16:colId xmlns:a16="http://schemas.microsoft.com/office/drawing/2014/main" val="1118551090"/>
                    </a:ext>
                  </a:extLst>
                </a:gridCol>
                <a:gridCol w="1014413">
                  <a:extLst>
                    <a:ext uri="{9D8B030D-6E8A-4147-A177-3AD203B41FA5}">
                      <a16:colId xmlns:a16="http://schemas.microsoft.com/office/drawing/2014/main" val="3683560868"/>
                    </a:ext>
                  </a:extLst>
                </a:gridCol>
                <a:gridCol w="973137">
                  <a:extLst>
                    <a:ext uri="{9D8B030D-6E8A-4147-A177-3AD203B41FA5}">
                      <a16:colId xmlns:a16="http://schemas.microsoft.com/office/drawing/2014/main" val="4165319387"/>
                    </a:ext>
                  </a:extLst>
                </a:gridCol>
                <a:gridCol w="994693">
                  <a:extLst>
                    <a:ext uri="{9D8B030D-6E8A-4147-A177-3AD203B41FA5}">
                      <a16:colId xmlns:a16="http://schemas.microsoft.com/office/drawing/2014/main" val="659653021"/>
                    </a:ext>
                  </a:extLst>
                </a:gridCol>
                <a:gridCol w="948407">
                  <a:extLst>
                    <a:ext uri="{9D8B030D-6E8A-4147-A177-3AD203B41FA5}">
                      <a16:colId xmlns:a16="http://schemas.microsoft.com/office/drawing/2014/main" val="880145492"/>
                    </a:ext>
                  </a:extLst>
                </a:gridCol>
                <a:gridCol w="995809">
                  <a:extLst>
                    <a:ext uri="{9D8B030D-6E8A-4147-A177-3AD203B41FA5}">
                      <a16:colId xmlns:a16="http://schemas.microsoft.com/office/drawing/2014/main" val="3325158382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3796215001"/>
                    </a:ext>
                  </a:extLst>
                </a:gridCol>
                <a:gridCol w="923429">
                  <a:extLst>
                    <a:ext uri="{9D8B030D-6E8A-4147-A177-3AD203B41FA5}">
                      <a16:colId xmlns:a16="http://schemas.microsoft.com/office/drawing/2014/main" val="896064100"/>
                    </a:ext>
                  </a:extLst>
                </a:gridCol>
              </a:tblGrid>
              <a:tr h="3873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6600"/>
                        </a:buClr>
                        <a:buSzPct val="5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zh-CN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优先级</a:t>
                      </a:r>
                      <a:endParaRPr kumimoji="0" lang="zh-CN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43233616"/>
                  </a:ext>
                </a:extLst>
              </a:tr>
              <a:tr h="8731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zh-CN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操作符</a:t>
                      </a:r>
                    </a:p>
                  </a:txBody>
                  <a:tcPr anchor="ctr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zh-CN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+mn-ea"/>
                          <a:ea typeface="+mn-ea"/>
                        </a:rPr>
                        <a:t>单目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+mn-ea"/>
                          <a:ea typeface="+mn-ea"/>
                        </a:rPr>
                        <a:t>-, !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+mn-ea"/>
                          <a:ea typeface="+mn-ea"/>
                        </a:rPr>
                        <a:t>*, /, %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+mn-ea"/>
                          <a:ea typeface="+mn-ea"/>
                        </a:rPr>
                        <a:t>+, -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+mn-ea"/>
                          <a:ea typeface="+mn-ea"/>
                        </a:rPr>
                        <a:t>&lt;, &lt;=, &gt;, &gt;=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+mn-ea"/>
                          <a:ea typeface="+mn-ea"/>
                        </a:rPr>
                        <a:t>==, !=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+mn-ea"/>
                          <a:ea typeface="+mn-ea"/>
                        </a:rPr>
                        <a:t>&amp;&amp;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+mn-ea"/>
                          <a:ea typeface="+mn-ea"/>
                        </a:rPr>
                        <a:t>||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751687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58112843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4312294-1741-4027-9905-BA81590628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算术操作符的优先关系</a:t>
            </a:r>
          </a:p>
        </p:txBody>
      </p:sp>
      <p:graphicFrame>
        <p:nvGraphicFramePr>
          <p:cNvPr id="4" name="Group 173">
            <a:extLst>
              <a:ext uri="{FF2B5EF4-FFF2-40B4-BE49-F238E27FC236}">
                <a16:creationId xmlns:a16="http://schemas.microsoft.com/office/drawing/2014/main" id="{573CFD3B-FCF5-4AE2-8CC2-1930D0F0313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8634552"/>
              </p:ext>
            </p:extLst>
          </p:nvPr>
        </p:nvGraphicFramePr>
        <p:xfrm>
          <a:off x="684213" y="1341438"/>
          <a:ext cx="7786687" cy="4372293"/>
        </p:xfrm>
        <a:graphic>
          <a:graphicData uri="http://schemas.openxmlformats.org/drawingml/2006/table">
            <a:tbl>
              <a:tblPr/>
              <a:tblGrid>
                <a:gridCol w="1236662">
                  <a:extLst>
                    <a:ext uri="{9D8B030D-6E8A-4147-A177-3AD203B41FA5}">
                      <a16:colId xmlns:a16="http://schemas.microsoft.com/office/drawing/2014/main" val="400265037"/>
                    </a:ext>
                  </a:extLst>
                </a:gridCol>
                <a:gridCol w="969963">
                  <a:extLst>
                    <a:ext uri="{9D8B030D-6E8A-4147-A177-3AD203B41FA5}">
                      <a16:colId xmlns:a16="http://schemas.microsoft.com/office/drawing/2014/main" val="2488148858"/>
                    </a:ext>
                  </a:extLst>
                </a:gridCol>
                <a:gridCol w="936625">
                  <a:extLst>
                    <a:ext uri="{9D8B030D-6E8A-4147-A177-3AD203B41FA5}">
                      <a16:colId xmlns:a16="http://schemas.microsoft.com/office/drawing/2014/main" val="232251110"/>
                    </a:ext>
                  </a:extLst>
                </a:gridCol>
                <a:gridCol w="935037">
                  <a:extLst>
                    <a:ext uri="{9D8B030D-6E8A-4147-A177-3AD203B41FA5}">
                      <a16:colId xmlns:a16="http://schemas.microsoft.com/office/drawing/2014/main" val="2587272033"/>
                    </a:ext>
                  </a:extLst>
                </a:gridCol>
                <a:gridCol w="900113">
                  <a:extLst>
                    <a:ext uri="{9D8B030D-6E8A-4147-A177-3AD203B41FA5}">
                      <a16:colId xmlns:a16="http://schemas.microsoft.com/office/drawing/2014/main" val="849228875"/>
                    </a:ext>
                  </a:extLst>
                </a:gridCol>
                <a:gridCol w="936625">
                  <a:extLst>
                    <a:ext uri="{9D8B030D-6E8A-4147-A177-3AD203B41FA5}">
                      <a16:colId xmlns:a16="http://schemas.microsoft.com/office/drawing/2014/main" val="2418416778"/>
                    </a:ext>
                  </a:extLst>
                </a:gridCol>
                <a:gridCol w="936625">
                  <a:extLst>
                    <a:ext uri="{9D8B030D-6E8A-4147-A177-3AD203B41FA5}">
                      <a16:colId xmlns:a16="http://schemas.microsoft.com/office/drawing/2014/main" val="2158214256"/>
                    </a:ext>
                  </a:extLst>
                </a:gridCol>
                <a:gridCol w="935037">
                  <a:extLst>
                    <a:ext uri="{9D8B030D-6E8A-4147-A177-3AD203B41FA5}">
                      <a16:colId xmlns:a16="http://schemas.microsoft.com/office/drawing/2014/main" val="424781813"/>
                    </a:ext>
                  </a:extLst>
                </a:gridCol>
              </a:tblGrid>
              <a:tr h="531813"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</a:t>
                      </a:r>
                      <a:r>
                        <a:rPr kumimoji="0" lang="en-US" altLang="zh-CN" sz="2400" b="1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     </a:t>
                      </a:r>
                      <a:r>
                        <a:rPr kumimoji="0" lang="en-US" altLang="zh-CN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</a:t>
                      </a:r>
                      <a:r>
                        <a:rPr kumimoji="0" lang="en-US" altLang="zh-CN" sz="2400" b="1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0" lang="el-GR" altLang="zh-CN" sz="2400" b="1" i="0" u="none" strike="noStrike" cap="none" normalizeH="0" baseline="-2500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L>
                    <a:lnR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R>
                    <a:lnT w="28575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T>
                    <a:lnB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B>
                    <a:lnTlToBr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+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L>
                    <a:lnR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R>
                    <a:lnT w="28575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T>
                    <a:lnB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-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L>
                    <a:lnR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R>
                    <a:lnT w="28575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T>
                    <a:lnB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*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L>
                    <a:lnR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R>
                    <a:lnT w="28575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T>
                    <a:lnB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/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L>
                    <a:lnR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R>
                    <a:lnT w="28575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T>
                    <a:lnB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(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L>
                    <a:lnR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R>
                    <a:lnT w="28575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T>
                    <a:lnB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L>
                    <a:lnR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R>
                    <a:lnT w="28575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T>
                    <a:lnB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#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L>
                    <a:lnR w="28575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R>
                    <a:lnT w="28575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T>
                    <a:lnB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59436482"/>
                  </a:ext>
                </a:extLst>
              </a:tr>
              <a:tr h="485775"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+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L>
                    <a:lnR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R>
                    <a:lnT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T>
                    <a:lnB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3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&gt;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L>
                    <a:lnR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R>
                    <a:lnT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T>
                    <a:lnB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3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&gt;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L>
                    <a:lnR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R>
                    <a:lnT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T>
                    <a:lnB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3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&lt;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L>
                    <a:lnR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R>
                    <a:lnT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T>
                    <a:lnB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3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&lt;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L>
                    <a:lnR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R>
                    <a:lnT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T>
                    <a:lnB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3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&lt;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L>
                    <a:lnR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R>
                    <a:lnT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T>
                    <a:lnB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3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&gt;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L>
                    <a:lnR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R>
                    <a:lnT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T>
                    <a:lnB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3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&gt;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L>
                    <a:lnR w="28575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R>
                    <a:lnT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T>
                    <a:lnB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9705689"/>
                  </a:ext>
                </a:extLst>
              </a:tr>
              <a:tr h="436563"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-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L>
                    <a:lnR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R>
                    <a:lnT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T>
                    <a:lnB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3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&gt;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L>
                    <a:lnR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R>
                    <a:lnT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T>
                    <a:lnB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3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&gt;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L>
                    <a:lnR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R>
                    <a:lnT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T>
                    <a:lnB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3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&lt;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L>
                    <a:lnR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R>
                    <a:lnT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T>
                    <a:lnB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3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&lt;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L>
                    <a:lnR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R>
                    <a:lnT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T>
                    <a:lnB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3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&lt;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L>
                    <a:lnR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R>
                    <a:lnT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T>
                    <a:lnB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3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&gt;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L>
                    <a:lnR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R>
                    <a:lnT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T>
                    <a:lnB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3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&gt;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L>
                    <a:lnR w="28575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R>
                    <a:lnT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T>
                    <a:lnB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2292752"/>
                  </a:ext>
                </a:extLst>
              </a:tr>
              <a:tr h="423863"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*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L>
                    <a:lnR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R>
                    <a:lnT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T>
                    <a:lnB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3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&gt;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L>
                    <a:lnR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R>
                    <a:lnT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T>
                    <a:lnB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3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&gt;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L>
                    <a:lnR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R>
                    <a:lnT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T>
                    <a:lnB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3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&gt;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L>
                    <a:lnR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R>
                    <a:lnT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T>
                    <a:lnB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3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&gt;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L>
                    <a:lnR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R>
                    <a:lnT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T>
                    <a:lnB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3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&lt;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L>
                    <a:lnR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R>
                    <a:lnT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T>
                    <a:lnB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3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&gt;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L>
                    <a:lnR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R>
                    <a:lnT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T>
                    <a:lnB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3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&gt;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L>
                    <a:lnR w="28575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R>
                    <a:lnT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T>
                    <a:lnB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3674659"/>
                  </a:ext>
                </a:extLst>
              </a:tr>
              <a:tr h="409575"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/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L>
                    <a:lnR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R>
                    <a:lnT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T>
                    <a:lnB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3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&gt;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L>
                    <a:lnR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R>
                    <a:lnT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T>
                    <a:lnB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3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&gt;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L>
                    <a:lnR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R>
                    <a:lnT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T>
                    <a:lnB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3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&gt;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L>
                    <a:lnR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R>
                    <a:lnT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T>
                    <a:lnB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3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&gt;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L>
                    <a:lnR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R>
                    <a:lnT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T>
                    <a:lnB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3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&lt;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L>
                    <a:lnR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R>
                    <a:lnT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T>
                    <a:lnB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3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&gt;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L>
                    <a:lnR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R>
                    <a:lnT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T>
                    <a:lnB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3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&gt;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L>
                    <a:lnR w="28575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R>
                    <a:lnT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T>
                    <a:lnB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8796478"/>
                  </a:ext>
                </a:extLst>
              </a:tr>
              <a:tr h="493713"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(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L>
                    <a:lnR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R>
                    <a:lnT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T>
                    <a:lnB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3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&lt;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L>
                    <a:lnR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R>
                    <a:lnT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T>
                    <a:lnB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3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&lt;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L>
                    <a:lnR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R>
                    <a:lnT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T>
                    <a:lnB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3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&lt;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L>
                    <a:lnR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R>
                    <a:lnT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T>
                    <a:lnB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3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&lt;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L>
                    <a:lnR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R>
                    <a:lnT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T>
                    <a:lnB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3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&lt;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L>
                    <a:lnR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R>
                    <a:lnT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T>
                    <a:lnB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3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=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L>
                    <a:lnR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R>
                    <a:lnT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T>
                    <a:lnB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4B3D7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zh-CN" altLang="zh-CN" sz="3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L>
                    <a:lnR w="28575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R>
                    <a:lnT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T>
                    <a:lnB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15860833"/>
                  </a:ext>
                </a:extLst>
              </a:tr>
              <a:tr h="347663"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)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L>
                    <a:lnR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R>
                    <a:lnT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T>
                    <a:lnB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3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&gt;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L>
                    <a:lnR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R>
                    <a:lnT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T>
                    <a:lnB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3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&gt;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L>
                    <a:lnR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R>
                    <a:lnT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T>
                    <a:lnB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3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&gt;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L>
                    <a:lnR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R>
                    <a:lnT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T>
                    <a:lnB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3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&gt;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L>
                    <a:lnR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R>
                    <a:lnT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T>
                    <a:lnB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zh-CN" altLang="zh-CN" sz="3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L>
                    <a:lnR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R>
                    <a:lnT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T>
                    <a:lnB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3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&gt;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L>
                    <a:lnR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R>
                    <a:lnT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T>
                    <a:lnB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3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&gt;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L>
                    <a:lnR w="28575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R>
                    <a:lnT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T>
                    <a:lnB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3757029"/>
                  </a:ext>
                </a:extLst>
              </a:tr>
              <a:tr h="531813"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#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L>
                    <a:lnR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R>
                    <a:lnT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T>
                    <a:lnB w="28575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3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&lt;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L>
                    <a:lnR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R>
                    <a:lnT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T>
                    <a:lnB w="28575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3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&lt;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L>
                    <a:lnR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R>
                    <a:lnT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T>
                    <a:lnB w="28575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3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&lt;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L>
                    <a:lnR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R>
                    <a:lnT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T>
                    <a:lnB w="28575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3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&lt;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L>
                    <a:lnR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R>
                    <a:lnT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T>
                    <a:lnB w="28575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3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&lt;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L>
                    <a:lnR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R>
                    <a:lnT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T>
                    <a:lnB w="28575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zh-CN" altLang="zh-CN" sz="3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L>
                    <a:lnR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R>
                    <a:lnT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T>
                    <a:lnB w="28575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3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=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L>
                    <a:lnR w="28575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R>
                    <a:lnT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T>
                    <a:lnB w="28575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4B3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256893"/>
                  </a:ext>
                </a:extLst>
              </a:tr>
            </a:tbl>
          </a:graphicData>
        </a:graphic>
      </p:graphicFrame>
      <p:sp>
        <p:nvSpPr>
          <p:cNvPr id="5" name="Text Box 159">
            <a:extLst>
              <a:ext uri="{FF2B5EF4-FFF2-40B4-BE49-F238E27FC236}">
                <a16:creationId xmlns:a16="http://schemas.microsoft.com/office/drawing/2014/main" id="{75BD5D83-9405-4237-A9AD-E710D6C616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2716" y="5949280"/>
            <a:ext cx="669667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8000"/>
                </a:solidFill>
                <a:miter lim="800000"/>
                <a:headEnd type="none" w="lg" len="lg"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zh-CN" sz="2800" b="0" i="1" baseline="0" dirty="0">
                <a:solidFill>
                  <a:srgbClr val="FF0000"/>
                </a:solidFill>
                <a:sym typeface="Symbol" panose="05050102010706020507" pitchFamily="18" charset="2"/>
              </a:rPr>
              <a:t></a:t>
            </a:r>
            <a:r>
              <a:rPr lang="en-US" altLang="zh-CN" sz="2800" b="0" baseline="-25000" dirty="0">
                <a:solidFill>
                  <a:srgbClr val="FF0000"/>
                </a:solidFill>
                <a:sym typeface="Symbol" panose="05050102010706020507" pitchFamily="18" charset="2"/>
              </a:rPr>
              <a:t>1</a:t>
            </a:r>
            <a:r>
              <a:rPr lang="zh-CN" altLang="en-US" sz="2800" b="0" dirty="0">
                <a:solidFill>
                  <a:srgbClr val="FF0000"/>
                </a:solidFill>
                <a:sym typeface="Symbol" panose="05050102010706020507" pitchFamily="18" charset="2"/>
              </a:rPr>
              <a:t>：</a:t>
            </a:r>
            <a:r>
              <a:rPr lang="zh-CN" altLang="en-US" sz="2800" b="0" baseline="0" dirty="0">
                <a:solidFill>
                  <a:srgbClr val="FF0000"/>
                </a:solidFill>
                <a:ea typeface="仿宋_GB2312" pitchFamily="49" charset="-122"/>
                <a:sym typeface="Symbol" panose="05050102010706020507" pitchFamily="18" charset="2"/>
              </a:rPr>
              <a:t>栈顶操作符</a:t>
            </a:r>
            <a:r>
              <a:rPr lang="zh-CN" altLang="en-US" sz="2800" b="0" baseline="0" dirty="0">
                <a:solidFill>
                  <a:srgbClr val="FF0000"/>
                </a:solidFill>
                <a:sym typeface="Symbol" panose="05050102010706020507" pitchFamily="18" charset="2"/>
              </a:rPr>
              <a:t>    </a:t>
            </a:r>
            <a:r>
              <a:rPr lang="zh-CN" altLang="en-US" sz="2800" b="0" i="1" baseline="0" dirty="0">
                <a:solidFill>
                  <a:srgbClr val="0000FF"/>
                </a:solidFill>
                <a:sym typeface="Symbol" panose="05050102010706020507" pitchFamily="18" charset="2"/>
              </a:rPr>
              <a:t></a:t>
            </a:r>
            <a:r>
              <a:rPr lang="en-US" altLang="zh-CN" sz="2800" b="0" baseline="-25000" dirty="0">
                <a:solidFill>
                  <a:srgbClr val="0000FF"/>
                </a:solidFill>
                <a:sym typeface="Symbol" panose="05050102010706020507" pitchFamily="18" charset="2"/>
              </a:rPr>
              <a:t>2</a:t>
            </a:r>
            <a:r>
              <a:rPr lang="zh-CN" altLang="en-US" sz="2800" b="0" dirty="0">
                <a:solidFill>
                  <a:srgbClr val="0000FF"/>
                </a:solidFill>
                <a:sym typeface="Symbol" panose="05050102010706020507" pitchFamily="18" charset="2"/>
              </a:rPr>
              <a:t>：</a:t>
            </a:r>
            <a:r>
              <a:rPr lang="zh-CN" altLang="en-US" sz="2800" b="0" baseline="0" dirty="0">
                <a:solidFill>
                  <a:srgbClr val="0000FF"/>
                </a:solidFill>
                <a:ea typeface="仿宋_GB2312" pitchFamily="49" charset="-122"/>
                <a:sym typeface="Symbol" panose="05050102010706020507" pitchFamily="18" charset="2"/>
              </a:rPr>
              <a:t>当前扫描的操作符</a:t>
            </a:r>
            <a:r>
              <a:rPr lang="zh-CN" altLang="en-US" b="0" dirty="0">
                <a:solidFill>
                  <a:srgbClr val="0000FF"/>
                </a:solidFill>
                <a:sym typeface="Symbol" panose="05050102010706020507" pitchFamily="18" charset="2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933474323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C4A98D5-605D-42B4-9ECD-E0C6D0A982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算术操作符的优先级表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94056B0-4953-44B3-80E4-AC7836BCB1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6087" y="3429000"/>
            <a:ext cx="8251825" cy="3312368"/>
          </a:xfrm>
        </p:spPr>
        <p:txBody>
          <a:bodyPr/>
          <a:lstStyle/>
          <a:p>
            <a:r>
              <a:rPr lang="en-US" altLang="zh-CN" dirty="0" err="1">
                <a:solidFill>
                  <a:srgbClr val="FF0000"/>
                </a:solidFill>
              </a:rPr>
              <a:t>isp</a:t>
            </a:r>
            <a:r>
              <a:rPr lang="en-US" altLang="zh-CN" dirty="0"/>
              <a:t> </a:t>
            </a:r>
            <a:r>
              <a:rPr lang="zh-CN" altLang="en-US" dirty="0"/>
              <a:t>叫做栈内 </a:t>
            </a:r>
            <a:r>
              <a:rPr lang="en-US" altLang="zh-CN" dirty="0"/>
              <a:t>(</a:t>
            </a:r>
            <a:r>
              <a:rPr lang="en-US" altLang="zh-CN" dirty="0">
                <a:solidFill>
                  <a:srgbClr val="0000FF"/>
                </a:solidFill>
              </a:rPr>
              <a:t>in stack priority</a:t>
            </a:r>
            <a:r>
              <a:rPr lang="en-US" altLang="zh-CN" dirty="0"/>
              <a:t>) </a:t>
            </a:r>
            <a:r>
              <a:rPr lang="zh-CN" altLang="en-US" dirty="0"/>
              <a:t>优先级</a:t>
            </a:r>
          </a:p>
          <a:p>
            <a:r>
              <a:rPr lang="en-US" altLang="zh-CN" dirty="0" err="1">
                <a:solidFill>
                  <a:srgbClr val="FF0000"/>
                </a:solidFill>
              </a:rPr>
              <a:t>icp</a:t>
            </a:r>
            <a:r>
              <a:rPr lang="en-US" altLang="zh-CN" dirty="0"/>
              <a:t> </a:t>
            </a:r>
            <a:r>
              <a:rPr lang="zh-CN" altLang="en-US" dirty="0"/>
              <a:t>叫做栈外 </a:t>
            </a:r>
            <a:r>
              <a:rPr lang="en-US" altLang="zh-CN" dirty="0"/>
              <a:t>(</a:t>
            </a:r>
            <a:r>
              <a:rPr lang="en-US" altLang="zh-CN" dirty="0">
                <a:solidFill>
                  <a:srgbClr val="0000FF"/>
                </a:solidFill>
              </a:rPr>
              <a:t>in coming priority</a:t>
            </a:r>
            <a:r>
              <a:rPr lang="en-US" altLang="zh-CN" dirty="0"/>
              <a:t>) </a:t>
            </a:r>
            <a:r>
              <a:rPr lang="zh-CN" altLang="en-US" dirty="0"/>
              <a:t>优先级</a:t>
            </a:r>
            <a:endParaRPr lang="en-US" altLang="zh-CN" dirty="0"/>
          </a:p>
          <a:p>
            <a:r>
              <a:rPr lang="zh-CN" altLang="en-US" dirty="0"/>
              <a:t>操作符优先级相等的情况只出现在</a:t>
            </a:r>
            <a:r>
              <a:rPr lang="zh-CN" altLang="en-US" dirty="0">
                <a:solidFill>
                  <a:srgbClr val="0000FF"/>
                </a:solidFill>
              </a:rPr>
              <a:t>括号配对</a:t>
            </a:r>
            <a:r>
              <a:rPr lang="zh-CN" altLang="en-US" dirty="0"/>
              <a:t>或栈底的“</a:t>
            </a:r>
            <a:r>
              <a:rPr lang="en-US" altLang="zh-CN" dirty="0">
                <a:solidFill>
                  <a:srgbClr val="0000FF"/>
                </a:solidFill>
              </a:rPr>
              <a:t>#</a:t>
            </a:r>
            <a:r>
              <a:rPr lang="en-US" altLang="zh-CN" dirty="0"/>
              <a:t>”</a:t>
            </a:r>
            <a:r>
              <a:rPr lang="zh-CN" altLang="en-US" dirty="0"/>
              <a:t>号与输入流最后的“</a:t>
            </a:r>
            <a:r>
              <a:rPr lang="en-US" altLang="zh-CN" dirty="0">
                <a:solidFill>
                  <a:srgbClr val="0000FF"/>
                </a:solidFill>
              </a:rPr>
              <a:t>#</a:t>
            </a:r>
            <a:r>
              <a:rPr lang="en-US" altLang="zh-CN" dirty="0"/>
              <a:t>”</a:t>
            </a:r>
            <a:r>
              <a:rPr lang="zh-CN" altLang="en-US" dirty="0"/>
              <a:t>号配对时。</a:t>
            </a:r>
          </a:p>
        </p:txBody>
      </p:sp>
      <p:graphicFrame>
        <p:nvGraphicFramePr>
          <p:cNvPr id="4" name="Group 108">
            <a:extLst>
              <a:ext uri="{FF2B5EF4-FFF2-40B4-BE49-F238E27FC236}">
                <a16:creationId xmlns:a16="http://schemas.microsoft.com/office/drawing/2014/main" id="{CBE5B20B-8A48-4F02-AF7B-93B7C0711C0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96935223"/>
              </p:ext>
            </p:extLst>
          </p:nvPr>
        </p:nvGraphicFramePr>
        <p:xfrm>
          <a:off x="701674" y="1340768"/>
          <a:ext cx="7740650" cy="1554480"/>
        </p:xfrm>
        <a:graphic>
          <a:graphicData uri="http://schemas.openxmlformats.org/drawingml/2006/table">
            <a:tbl>
              <a:tblPr firstRow="1" firstCol="1">
                <a:tableStyleId>{7DF18680-E054-41AD-8BC1-D1AEF772440D}</a:tableStyleId>
              </a:tblPr>
              <a:tblGrid>
                <a:gridCol w="1873250">
                  <a:extLst>
                    <a:ext uri="{9D8B030D-6E8A-4147-A177-3AD203B41FA5}">
                      <a16:colId xmlns:a16="http://schemas.microsoft.com/office/drawing/2014/main" val="1921020794"/>
                    </a:ext>
                  </a:extLst>
                </a:gridCol>
                <a:gridCol w="969962">
                  <a:extLst>
                    <a:ext uri="{9D8B030D-6E8A-4147-A177-3AD203B41FA5}">
                      <a16:colId xmlns:a16="http://schemas.microsoft.com/office/drawing/2014/main" val="3013150397"/>
                    </a:ext>
                  </a:extLst>
                </a:gridCol>
                <a:gridCol w="1009650">
                  <a:extLst>
                    <a:ext uri="{9D8B030D-6E8A-4147-A177-3AD203B41FA5}">
                      <a16:colId xmlns:a16="http://schemas.microsoft.com/office/drawing/2014/main" val="220538294"/>
                    </a:ext>
                  </a:extLst>
                </a:gridCol>
                <a:gridCol w="1476375">
                  <a:extLst>
                    <a:ext uri="{9D8B030D-6E8A-4147-A177-3AD203B41FA5}">
                      <a16:colId xmlns:a16="http://schemas.microsoft.com/office/drawing/2014/main" val="3267230119"/>
                    </a:ext>
                  </a:extLst>
                </a:gridCol>
                <a:gridCol w="1331913">
                  <a:extLst>
                    <a:ext uri="{9D8B030D-6E8A-4147-A177-3AD203B41FA5}">
                      <a16:colId xmlns:a16="http://schemas.microsoft.com/office/drawing/2014/main" val="1204804770"/>
                    </a:ext>
                  </a:extLst>
                </a:gridCol>
                <a:gridCol w="1079500">
                  <a:extLst>
                    <a:ext uri="{9D8B030D-6E8A-4147-A177-3AD203B41FA5}">
                      <a16:colId xmlns:a16="http://schemas.microsoft.com/office/drawing/2014/main" val="1610632483"/>
                    </a:ext>
                  </a:extLst>
                </a:gridCol>
              </a:tblGrid>
              <a:tr h="4349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8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操作符</a:t>
                      </a:r>
                      <a:endParaRPr kumimoji="0" lang="en-US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8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#</a:t>
                      </a:r>
                      <a:endParaRPr kumimoji="0" lang="en-US" altLang="zh-CN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8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(</a:t>
                      </a:r>
                      <a:endParaRPr kumimoji="0" lang="zh-CN" altLang="en-US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8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*, /, %</a:t>
                      </a:r>
                      <a:endParaRPr kumimoji="0" lang="en-US" altLang="zh-CN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8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+, -</a:t>
                      </a:r>
                      <a:endParaRPr kumimoji="0" lang="en-US" altLang="zh-CN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8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)</a:t>
                      </a:r>
                      <a:endParaRPr kumimoji="0" lang="en-US" altLang="zh-CN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14289292"/>
                  </a:ext>
                </a:extLst>
              </a:tr>
              <a:tr h="4333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800" b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</a:rPr>
                        <a:t>isp</a:t>
                      </a:r>
                      <a:r>
                        <a:rPr kumimoji="0" lang="en-US" altLang="zh-CN" sz="2800" b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</a:rPr>
                        <a:t> (</a:t>
                      </a:r>
                      <a:r>
                        <a:rPr kumimoji="0" lang="zh-CN" altLang="en-US" sz="2800" b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</a:rPr>
                        <a:t>栈内</a:t>
                      </a:r>
                      <a:r>
                        <a:rPr kumimoji="0" lang="en-US" altLang="zh-CN" sz="2800" b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</a:rPr>
                        <a:t>)</a:t>
                      </a:r>
                      <a:endParaRPr kumimoji="0" lang="en-US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800" b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</a:rPr>
                        <a:t>0</a:t>
                      </a:r>
                      <a:endParaRPr kumimoji="0" lang="en-US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800" b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</a:rPr>
                        <a:t>1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800" b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</a:rPr>
                        <a:t>5</a:t>
                      </a:r>
                      <a:endParaRPr kumimoji="0" lang="en-US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800" b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</a:rPr>
                        <a:t>3</a:t>
                      </a:r>
                      <a:endParaRPr kumimoji="0" lang="en-US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800" b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</a:rPr>
                        <a:t>6</a:t>
                      </a:r>
                      <a:endParaRPr kumimoji="0" lang="en-US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39588538"/>
                  </a:ext>
                </a:extLst>
              </a:tr>
              <a:tr h="4349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800" b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</a:rPr>
                        <a:t>icp</a:t>
                      </a:r>
                      <a:r>
                        <a:rPr kumimoji="0" lang="en-US" altLang="zh-CN" sz="2800" b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</a:rPr>
                        <a:t> (</a:t>
                      </a:r>
                      <a:r>
                        <a:rPr kumimoji="0" lang="zh-CN" altLang="en-US" sz="2800" b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</a:rPr>
                        <a:t>栈外</a:t>
                      </a:r>
                      <a:r>
                        <a:rPr kumimoji="0" lang="en-US" altLang="zh-CN" sz="2800" b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</a:rPr>
                        <a:t>)</a:t>
                      </a:r>
                      <a:endParaRPr kumimoji="0" lang="en-US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800" b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</a:rPr>
                        <a:t>0</a:t>
                      </a:r>
                      <a:endParaRPr kumimoji="0" lang="en-US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800" b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</a:rPr>
                        <a:t>6</a:t>
                      </a:r>
                      <a:endParaRPr kumimoji="0" lang="en-US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800" b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</a:rPr>
                        <a:t>4</a:t>
                      </a:r>
                      <a:endParaRPr kumimoji="0" lang="en-US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800" b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</a:rPr>
                        <a:t>2</a:t>
                      </a:r>
                      <a:endParaRPr kumimoji="0" lang="en-US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800" b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</a:rPr>
                        <a:t>1</a:t>
                      </a:r>
                      <a:endParaRPr kumimoji="0" lang="en-US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532185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83875073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F6979BF-539B-422B-9BED-7A15DF1F12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中缀表示转为后缀表示的算法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FDE0A41D-2BB9-479C-B0AE-BDDD4518E0F3}"/>
              </a:ext>
            </a:extLst>
          </p:cNvPr>
          <p:cNvSpPr txBox="1">
            <a:spLocks noChangeArrowheads="1"/>
          </p:cNvSpPr>
          <p:nvPr/>
        </p:nvSpPr>
        <p:spPr>
          <a:xfrm>
            <a:off x="323528" y="768554"/>
            <a:ext cx="8496944" cy="5900806"/>
          </a:xfrm>
          <a:prstGeom prst="rect">
            <a:avLst/>
          </a:prstGeom>
        </p:spPr>
        <p:txBody>
          <a:bodyPr/>
          <a:lstStyle>
            <a:lvl1pPr marL="457200" indent="-457200" algn="l" rt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+mn-lt"/>
                <a:ea typeface="微软雅黑" panose="020B0503020204020204" pitchFamily="34" charset="-122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algn="just">
              <a:spcBef>
                <a:spcPts val="0"/>
              </a:spcBef>
              <a:buClr>
                <a:srgbClr val="800080"/>
              </a:buClr>
              <a:buSzPct val="55000"/>
              <a:buFont typeface="Wingdings" panose="05000000000000000000" pitchFamily="2" charset="2"/>
              <a:buChar char="l"/>
            </a:pPr>
            <a:r>
              <a:rPr lang="zh-CN" altLang="en-US" b="0" kern="0" dirty="0">
                <a:latin typeface="+mn-ea"/>
                <a:ea typeface="+mn-ea"/>
              </a:rPr>
              <a:t>在把中缀表达式转换为后缀表达式的过程中，需要</a:t>
            </a:r>
            <a:r>
              <a:rPr lang="zh-CN" altLang="en-US" b="0" kern="0" dirty="0">
                <a:solidFill>
                  <a:srgbClr val="0000FF"/>
                </a:solidFill>
                <a:latin typeface="+mn-ea"/>
                <a:ea typeface="+mn-ea"/>
              </a:rPr>
              <a:t>检查算术运算符的优先级，以实现运算规则。</a:t>
            </a:r>
          </a:p>
          <a:p>
            <a:pPr algn="just">
              <a:spcBef>
                <a:spcPts val="0"/>
              </a:spcBef>
              <a:buClr>
                <a:srgbClr val="800080"/>
              </a:buClr>
              <a:buSzPct val="55000"/>
              <a:buFont typeface="Wingdings" panose="05000000000000000000" pitchFamily="2" charset="2"/>
              <a:buChar char="l"/>
            </a:pPr>
            <a:r>
              <a:rPr lang="zh-CN" altLang="en-US" b="0" kern="0" dirty="0">
                <a:latin typeface="+mn-ea"/>
                <a:ea typeface="+mn-ea"/>
              </a:rPr>
              <a:t>操作符栈初始化，将结束符‘</a:t>
            </a:r>
            <a:r>
              <a:rPr lang="en-US" altLang="zh-CN" b="0" kern="0" dirty="0">
                <a:solidFill>
                  <a:srgbClr val="FF0000"/>
                </a:solidFill>
                <a:latin typeface="+mn-ea"/>
                <a:ea typeface="+mn-ea"/>
              </a:rPr>
              <a:t>#</a:t>
            </a:r>
            <a:r>
              <a:rPr lang="en-US" altLang="zh-CN" b="0" kern="0" dirty="0">
                <a:latin typeface="+mn-ea"/>
                <a:ea typeface="+mn-ea"/>
              </a:rPr>
              <a:t>’</a:t>
            </a:r>
            <a:r>
              <a:rPr lang="zh-CN" altLang="en-US" b="0" kern="0" dirty="0">
                <a:latin typeface="+mn-ea"/>
                <a:ea typeface="+mn-ea"/>
              </a:rPr>
              <a:t>进栈。然后读入中缀表达式字符流的首字符 </a:t>
            </a:r>
            <a:r>
              <a:rPr lang="en-US" altLang="zh-CN" b="0" kern="0" dirty="0" err="1">
                <a:solidFill>
                  <a:srgbClr val="0000FF"/>
                </a:solidFill>
                <a:latin typeface="+mn-ea"/>
                <a:ea typeface="+mn-ea"/>
              </a:rPr>
              <a:t>ch</a:t>
            </a:r>
            <a:r>
              <a:rPr lang="zh-CN" altLang="en-US" b="0" kern="0" dirty="0">
                <a:latin typeface="+mn-ea"/>
                <a:ea typeface="+mn-ea"/>
              </a:rPr>
              <a:t>。</a:t>
            </a:r>
          </a:p>
          <a:p>
            <a:pPr algn="just">
              <a:spcBef>
                <a:spcPts val="0"/>
              </a:spcBef>
              <a:buClr>
                <a:srgbClr val="800080"/>
              </a:buClr>
              <a:buSzPct val="55000"/>
              <a:buFont typeface="Wingdings" panose="05000000000000000000" pitchFamily="2" charset="2"/>
              <a:buChar char="l"/>
            </a:pPr>
            <a:r>
              <a:rPr lang="zh-CN" altLang="en-US" b="0" kern="0" dirty="0">
                <a:latin typeface="+mn-ea"/>
                <a:ea typeface="+mn-ea"/>
              </a:rPr>
              <a:t>重复执行以下步骤，直到 </a:t>
            </a:r>
            <a:r>
              <a:rPr lang="en-US" altLang="zh-CN" b="0" kern="0" dirty="0" err="1">
                <a:solidFill>
                  <a:srgbClr val="0000FF"/>
                </a:solidFill>
                <a:latin typeface="+mn-ea"/>
                <a:ea typeface="+mn-ea"/>
              </a:rPr>
              <a:t>ch</a:t>
            </a:r>
            <a:r>
              <a:rPr lang="en-US" altLang="zh-CN" b="0" kern="0" dirty="0">
                <a:solidFill>
                  <a:srgbClr val="0000FF"/>
                </a:solidFill>
                <a:latin typeface="+mn-ea"/>
                <a:ea typeface="+mn-ea"/>
              </a:rPr>
              <a:t> ==‘</a:t>
            </a:r>
            <a:r>
              <a:rPr lang="en-US" altLang="zh-CN" b="0" kern="0" dirty="0">
                <a:solidFill>
                  <a:srgbClr val="FF0000"/>
                </a:solidFill>
                <a:latin typeface="+mn-ea"/>
                <a:ea typeface="+mn-ea"/>
              </a:rPr>
              <a:t>#</a:t>
            </a:r>
            <a:r>
              <a:rPr lang="en-US" altLang="zh-CN" b="0" kern="0" dirty="0">
                <a:solidFill>
                  <a:srgbClr val="0000FF"/>
                </a:solidFill>
                <a:latin typeface="+mn-ea"/>
                <a:ea typeface="+mn-ea"/>
              </a:rPr>
              <a:t>’</a:t>
            </a:r>
            <a:r>
              <a:rPr lang="zh-CN" altLang="en-US" b="0" kern="0" dirty="0">
                <a:latin typeface="+mn-ea"/>
                <a:ea typeface="+mn-ea"/>
              </a:rPr>
              <a:t>并且栈顶的操作符也是‘</a:t>
            </a:r>
            <a:r>
              <a:rPr lang="en-US" altLang="zh-CN" b="0" kern="0" dirty="0">
                <a:solidFill>
                  <a:srgbClr val="FF0000"/>
                </a:solidFill>
                <a:latin typeface="+mn-ea"/>
                <a:ea typeface="+mn-ea"/>
              </a:rPr>
              <a:t>#</a:t>
            </a:r>
            <a:r>
              <a:rPr lang="en-US" altLang="zh-CN" b="0" kern="0" dirty="0">
                <a:latin typeface="+mn-ea"/>
                <a:ea typeface="+mn-ea"/>
              </a:rPr>
              <a:t>’</a:t>
            </a:r>
            <a:r>
              <a:rPr lang="zh-CN" altLang="en-US" b="0" kern="0" dirty="0">
                <a:latin typeface="+mn-ea"/>
                <a:ea typeface="+mn-ea"/>
              </a:rPr>
              <a:t>时，停止循环。</a:t>
            </a:r>
          </a:p>
          <a:p>
            <a:pPr marL="990600" lvl="1" indent="-533400" algn="just">
              <a:lnSpc>
                <a:spcPct val="150000"/>
              </a:lnSpc>
              <a:spcBef>
                <a:spcPts val="0"/>
              </a:spcBef>
              <a:buClr>
                <a:schemeClr val="tx2"/>
              </a:buClr>
              <a:buFont typeface="Wingdings" panose="05000000000000000000" pitchFamily="2" charset="2"/>
              <a:buAutoNum type="alphaLcParenR"/>
            </a:pPr>
            <a:r>
              <a:rPr lang="zh-CN" altLang="en-US" sz="2400" b="0" kern="0" dirty="0">
                <a:latin typeface="+mn-ea"/>
                <a:ea typeface="+mn-ea"/>
              </a:rPr>
              <a:t>若</a:t>
            </a:r>
            <a:r>
              <a:rPr lang="zh-CN" altLang="en-US" sz="2400" b="0" kern="0" dirty="0">
                <a:solidFill>
                  <a:srgbClr val="0000FF"/>
                </a:solidFill>
                <a:latin typeface="+mn-ea"/>
                <a:ea typeface="+mn-ea"/>
              </a:rPr>
              <a:t> </a:t>
            </a:r>
            <a:r>
              <a:rPr lang="en-US" altLang="zh-CN" sz="2400" b="0" kern="0" dirty="0" err="1">
                <a:solidFill>
                  <a:srgbClr val="0000FF"/>
                </a:solidFill>
                <a:latin typeface="+mn-ea"/>
                <a:ea typeface="+mn-ea"/>
              </a:rPr>
              <a:t>ch</a:t>
            </a:r>
            <a:r>
              <a:rPr lang="en-US" altLang="zh-CN" sz="2400" b="0" kern="0" dirty="0">
                <a:solidFill>
                  <a:srgbClr val="0000FF"/>
                </a:solidFill>
                <a:latin typeface="+mn-ea"/>
                <a:ea typeface="+mn-ea"/>
              </a:rPr>
              <a:t> </a:t>
            </a:r>
            <a:r>
              <a:rPr lang="zh-CN" altLang="en-US" sz="2400" b="0" kern="0" dirty="0">
                <a:latin typeface="+mn-ea"/>
                <a:ea typeface="+mn-ea"/>
              </a:rPr>
              <a:t>是</a:t>
            </a:r>
            <a:r>
              <a:rPr lang="zh-CN" altLang="en-US" sz="2400" kern="0" dirty="0">
                <a:latin typeface="+mn-ea"/>
                <a:ea typeface="+mn-ea"/>
              </a:rPr>
              <a:t>操作数</a:t>
            </a:r>
            <a:r>
              <a:rPr lang="zh-CN" altLang="en-US" sz="2400" b="0" kern="0" dirty="0">
                <a:latin typeface="+mn-ea"/>
                <a:ea typeface="+mn-ea"/>
              </a:rPr>
              <a:t>，直接输出，读入下一个字符 </a:t>
            </a:r>
            <a:r>
              <a:rPr lang="en-US" altLang="zh-CN" sz="2400" b="0" kern="0" dirty="0" err="1">
                <a:solidFill>
                  <a:srgbClr val="0000FF"/>
                </a:solidFill>
                <a:latin typeface="+mn-ea"/>
                <a:ea typeface="+mn-ea"/>
              </a:rPr>
              <a:t>ch</a:t>
            </a:r>
            <a:r>
              <a:rPr lang="zh-CN" altLang="en-US" sz="2400" b="0" kern="0" dirty="0">
                <a:latin typeface="+mn-ea"/>
                <a:ea typeface="+mn-ea"/>
              </a:rPr>
              <a:t>。</a:t>
            </a:r>
          </a:p>
          <a:p>
            <a:pPr marL="990600" lvl="1" indent="-533400" algn="just">
              <a:lnSpc>
                <a:spcPct val="150000"/>
              </a:lnSpc>
              <a:spcBef>
                <a:spcPts val="0"/>
              </a:spcBef>
              <a:buClr>
                <a:schemeClr val="tx2"/>
              </a:buClr>
              <a:buFont typeface="Wingdings" panose="05000000000000000000" pitchFamily="2" charset="2"/>
              <a:buAutoNum type="alphaLcParenR"/>
            </a:pPr>
            <a:r>
              <a:rPr lang="zh-CN" altLang="en-US" sz="2400" b="0" kern="0" dirty="0">
                <a:latin typeface="+mn-ea"/>
                <a:ea typeface="+mn-ea"/>
              </a:rPr>
              <a:t>若 </a:t>
            </a:r>
            <a:r>
              <a:rPr lang="en-US" altLang="zh-CN" sz="2400" b="0" kern="0" dirty="0" err="1">
                <a:solidFill>
                  <a:srgbClr val="0000FF"/>
                </a:solidFill>
                <a:latin typeface="+mn-ea"/>
                <a:ea typeface="+mn-ea"/>
              </a:rPr>
              <a:t>ch</a:t>
            </a:r>
            <a:r>
              <a:rPr lang="en-US" altLang="zh-CN" sz="2400" b="0" kern="0" dirty="0">
                <a:solidFill>
                  <a:srgbClr val="0000FF"/>
                </a:solidFill>
                <a:latin typeface="+mn-ea"/>
                <a:ea typeface="+mn-ea"/>
              </a:rPr>
              <a:t> </a:t>
            </a:r>
            <a:r>
              <a:rPr lang="zh-CN" altLang="en-US" sz="2400" b="0" kern="0" dirty="0">
                <a:latin typeface="+mn-ea"/>
                <a:ea typeface="+mn-ea"/>
              </a:rPr>
              <a:t>是</a:t>
            </a:r>
            <a:r>
              <a:rPr lang="zh-CN" altLang="en-US" sz="2400" kern="0" dirty="0">
                <a:latin typeface="+mn-ea"/>
                <a:ea typeface="+mn-ea"/>
              </a:rPr>
              <a:t>操作符</a:t>
            </a:r>
            <a:r>
              <a:rPr lang="zh-CN" altLang="en-US" sz="2400" b="0" kern="0" dirty="0">
                <a:latin typeface="+mn-ea"/>
                <a:ea typeface="+mn-ea"/>
              </a:rPr>
              <a:t>，判断 </a:t>
            </a:r>
            <a:r>
              <a:rPr lang="en-US" altLang="zh-CN" sz="2400" b="0" kern="0" dirty="0" err="1">
                <a:solidFill>
                  <a:srgbClr val="0000FF"/>
                </a:solidFill>
                <a:latin typeface="+mn-ea"/>
                <a:ea typeface="+mn-ea"/>
              </a:rPr>
              <a:t>ch</a:t>
            </a:r>
            <a:r>
              <a:rPr lang="en-US" altLang="zh-CN" sz="2400" b="0" kern="0" dirty="0">
                <a:latin typeface="+mn-ea"/>
                <a:ea typeface="+mn-ea"/>
              </a:rPr>
              <a:t> </a:t>
            </a:r>
            <a:r>
              <a:rPr lang="zh-CN" altLang="en-US" sz="2400" b="0" kern="0" dirty="0">
                <a:latin typeface="+mn-ea"/>
                <a:ea typeface="+mn-ea"/>
              </a:rPr>
              <a:t>的优先级 </a:t>
            </a:r>
            <a:r>
              <a:rPr lang="en-US" altLang="zh-CN" sz="2400" b="0" kern="0" dirty="0" err="1">
                <a:solidFill>
                  <a:srgbClr val="FF0000"/>
                </a:solidFill>
                <a:latin typeface="+mn-ea"/>
                <a:ea typeface="+mn-ea"/>
              </a:rPr>
              <a:t>icp</a:t>
            </a:r>
            <a:r>
              <a:rPr lang="en-US" altLang="zh-CN" sz="2400" b="0" kern="0" dirty="0">
                <a:latin typeface="+mn-ea"/>
                <a:ea typeface="+mn-ea"/>
              </a:rPr>
              <a:t> </a:t>
            </a:r>
            <a:r>
              <a:rPr lang="zh-CN" altLang="en-US" sz="2400" b="0" kern="0" dirty="0">
                <a:latin typeface="+mn-ea"/>
                <a:ea typeface="+mn-ea"/>
              </a:rPr>
              <a:t>和位于栈顶的操作符 </a:t>
            </a:r>
            <a:r>
              <a:rPr lang="en-US" altLang="zh-CN" sz="2400" b="0" kern="0" dirty="0">
                <a:latin typeface="+mn-ea"/>
                <a:ea typeface="+mn-ea"/>
              </a:rPr>
              <a:t>op </a:t>
            </a:r>
            <a:r>
              <a:rPr lang="zh-CN" altLang="en-US" sz="2400" b="0" kern="0" dirty="0">
                <a:latin typeface="+mn-ea"/>
                <a:ea typeface="+mn-ea"/>
              </a:rPr>
              <a:t>的优先级 </a:t>
            </a:r>
            <a:r>
              <a:rPr lang="en-US" altLang="zh-CN" sz="2400" b="0" kern="0" dirty="0" err="1">
                <a:solidFill>
                  <a:srgbClr val="FF0000"/>
                </a:solidFill>
                <a:latin typeface="+mn-ea"/>
                <a:ea typeface="+mn-ea"/>
              </a:rPr>
              <a:t>isp</a:t>
            </a:r>
            <a:r>
              <a:rPr lang="zh-CN" altLang="en-US" sz="2400" b="0" kern="0" dirty="0">
                <a:latin typeface="+mn-ea"/>
                <a:ea typeface="+mn-ea"/>
              </a:rPr>
              <a:t>：</a:t>
            </a:r>
          </a:p>
        </p:txBody>
      </p:sp>
    </p:spTree>
    <p:extLst>
      <p:ext uri="{BB962C8B-B14F-4D97-AF65-F5344CB8AC3E}">
        <p14:creationId xmlns:p14="http://schemas.microsoft.com/office/powerpoint/2010/main" val="1003314030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F6979BF-539B-422B-9BED-7A15DF1F12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中缀表示转为后缀表示的算法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FDE0A41D-2BB9-479C-B0AE-BDDD4518E0F3}"/>
              </a:ext>
            </a:extLst>
          </p:cNvPr>
          <p:cNvSpPr txBox="1">
            <a:spLocks noChangeArrowheads="1"/>
          </p:cNvSpPr>
          <p:nvPr/>
        </p:nvSpPr>
        <p:spPr>
          <a:xfrm>
            <a:off x="251520" y="782964"/>
            <a:ext cx="8784976" cy="5900806"/>
          </a:xfrm>
          <a:prstGeom prst="rect">
            <a:avLst/>
          </a:prstGeom>
        </p:spPr>
        <p:txBody>
          <a:bodyPr/>
          <a:lstStyle>
            <a:lvl1pPr marL="457200" indent="-457200" algn="l" rt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+mn-lt"/>
                <a:ea typeface="微软雅黑" panose="020B0503020204020204" pitchFamily="34" charset="-122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lvl="2" algn="just">
              <a:lnSpc>
                <a:spcPct val="150000"/>
              </a:lnSpc>
              <a:spcBef>
                <a:spcPts val="0"/>
              </a:spcBef>
              <a:buClr>
                <a:srgbClr val="800080"/>
              </a:buClr>
              <a:buSzPct val="55000"/>
              <a:buFont typeface="Wingdings" panose="05000000000000000000" pitchFamily="2" charset="2"/>
              <a:buChar char="l"/>
            </a:pPr>
            <a:r>
              <a:rPr lang="zh-CN" altLang="en-US" b="0" kern="0" dirty="0">
                <a:latin typeface="+mn-ea"/>
                <a:ea typeface="+mn-ea"/>
              </a:rPr>
              <a:t>若 </a:t>
            </a:r>
            <a:r>
              <a:rPr lang="en-US" altLang="zh-CN" b="0" kern="0" dirty="0" err="1">
                <a:solidFill>
                  <a:srgbClr val="0000FF"/>
                </a:solidFill>
                <a:latin typeface="+mn-ea"/>
                <a:ea typeface="+mn-ea"/>
              </a:rPr>
              <a:t>icp</a:t>
            </a:r>
            <a:r>
              <a:rPr lang="en-US" altLang="zh-CN" b="0" kern="0" dirty="0">
                <a:solidFill>
                  <a:srgbClr val="0000FF"/>
                </a:solidFill>
                <a:latin typeface="+mn-ea"/>
                <a:ea typeface="+mn-ea"/>
              </a:rPr>
              <a:t> (</a:t>
            </a:r>
            <a:r>
              <a:rPr lang="en-US" altLang="zh-CN" b="0" kern="0" dirty="0" err="1">
                <a:solidFill>
                  <a:srgbClr val="0000FF"/>
                </a:solidFill>
                <a:latin typeface="+mn-ea"/>
                <a:ea typeface="+mn-ea"/>
              </a:rPr>
              <a:t>ch</a:t>
            </a:r>
            <a:r>
              <a:rPr lang="en-US" altLang="zh-CN" b="0" kern="0" dirty="0">
                <a:solidFill>
                  <a:srgbClr val="0000FF"/>
                </a:solidFill>
                <a:latin typeface="+mn-ea"/>
                <a:ea typeface="+mn-ea"/>
              </a:rPr>
              <a:t>) </a:t>
            </a:r>
            <a:r>
              <a:rPr lang="en-US" altLang="zh-CN" kern="0" dirty="0">
                <a:solidFill>
                  <a:srgbClr val="FF0000"/>
                </a:solidFill>
                <a:latin typeface="+mn-ea"/>
                <a:ea typeface="+mn-ea"/>
              </a:rPr>
              <a:t>&gt;</a:t>
            </a:r>
            <a:r>
              <a:rPr lang="en-US" altLang="zh-CN" b="0" kern="0" dirty="0">
                <a:solidFill>
                  <a:srgbClr val="FF0000"/>
                </a:solidFill>
                <a:latin typeface="+mn-ea"/>
                <a:ea typeface="+mn-ea"/>
              </a:rPr>
              <a:t> </a:t>
            </a:r>
            <a:r>
              <a:rPr lang="en-US" altLang="zh-CN" b="0" kern="0" dirty="0" err="1">
                <a:solidFill>
                  <a:srgbClr val="FF0000"/>
                </a:solidFill>
                <a:latin typeface="+mn-ea"/>
                <a:ea typeface="+mn-ea"/>
              </a:rPr>
              <a:t>isp</a:t>
            </a:r>
            <a:r>
              <a:rPr lang="en-US" altLang="zh-CN" b="0" kern="0" dirty="0">
                <a:solidFill>
                  <a:srgbClr val="FF0000"/>
                </a:solidFill>
                <a:latin typeface="+mn-ea"/>
                <a:ea typeface="+mn-ea"/>
              </a:rPr>
              <a:t> (op)</a:t>
            </a:r>
            <a:r>
              <a:rPr lang="zh-CN" altLang="en-US" b="0" kern="0" dirty="0">
                <a:latin typeface="+mn-ea"/>
                <a:ea typeface="+mn-ea"/>
              </a:rPr>
              <a:t>，令 </a:t>
            </a:r>
            <a:r>
              <a:rPr lang="en-US" altLang="zh-CN" b="0" kern="0" dirty="0" err="1">
                <a:solidFill>
                  <a:srgbClr val="0000FF"/>
                </a:solidFill>
                <a:latin typeface="+mn-ea"/>
                <a:ea typeface="+mn-ea"/>
              </a:rPr>
              <a:t>ch</a:t>
            </a:r>
            <a:r>
              <a:rPr lang="en-US" altLang="zh-CN" b="0" kern="0" dirty="0">
                <a:latin typeface="+mn-ea"/>
                <a:ea typeface="+mn-ea"/>
              </a:rPr>
              <a:t> </a:t>
            </a:r>
            <a:r>
              <a:rPr lang="zh-CN" altLang="en-US" b="0" kern="0" dirty="0">
                <a:latin typeface="+mn-ea"/>
                <a:ea typeface="+mn-ea"/>
              </a:rPr>
              <a:t>进栈，读入下一个字符。（看后面是否有更高的）</a:t>
            </a:r>
            <a:endParaRPr lang="en-US" altLang="zh-CN" b="0" kern="0" dirty="0">
              <a:latin typeface="+mn-ea"/>
              <a:ea typeface="+mn-ea"/>
            </a:endParaRPr>
          </a:p>
          <a:p>
            <a:pPr lvl="2" algn="just">
              <a:lnSpc>
                <a:spcPct val="150000"/>
              </a:lnSpc>
              <a:spcBef>
                <a:spcPts val="0"/>
              </a:spcBef>
              <a:buClr>
                <a:srgbClr val="800080"/>
              </a:buClr>
              <a:buSzPct val="55000"/>
              <a:buFont typeface="Wingdings" panose="05000000000000000000" pitchFamily="2" charset="2"/>
              <a:buChar char="l"/>
            </a:pPr>
            <a:r>
              <a:rPr lang="zh-CN" altLang="en-US" b="0" kern="0" dirty="0">
                <a:latin typeface="+mn-ea"/>
                <a:ea typeface="+mn-ea"/>
              </a:rPr>
              <a:t>若 </a:t>
            </a:r>
            <a:r>
              <a:rPr lang="en-US" altLang="zh-CN" b="0" kern="0" dirty="0" err="1">
                <a:solidFill>
                  <a:srgbClr val="0000FF"/>
                </a:solidFill>
                <a:latin typeface="+mn-ea"/>
                <a:ea typeface="+mn-ea"/>
              </a:rPr>
              <a:t>icp</a:t>
            </a:r>
            <a:r>
              <a:rPr lang="en-US" altLang="zh-CN" b="0" kern="0" dirty="0">
                <a:solidFill>
                  <a:srgbClr val="0000FF"/>
                </a:solidFill>
                <a:latin typeface="+mn-ea"/>
                <a:ea typeface="+mn-ea"/>
              </a:rPr>
              <a:t> (</a:t>
            </a:r>
            <a:r>
              <a:rPr lang="en-US" altLang="zh-CN" b="0" kern="0" dirty="0" err="1">
                <a:solidFill>
                  <a:srgbClr val="0000FF"/>
                </a:solidFill>
                <a:latin typeface="+mn-ea"/>
                <a:ea typeface="+mn-ea"/>
              </a:rPr>
              <a:t>ch</a:t>
            </a:r>
            <a:r>
              <a:rPr lang="en-US" altLang="zh-CN" b="0" kern="0" dirty="0">
                <a:solidFill>
                  <a:srgbClr val="0000FF"/>
                </a:solidFill>
                <a:latin typeface="+mn-ea"/>
                <a:ea typeface="+mn-ea"/>
              </a:rPr>
              <a:t>) </a:t>
            </a:r>
            <a:r>
              <a:rPr lang="en-US" altLang="zh-CN" kern="0" dirty="0">
                <a:solidFill>
                  <a:srgbClr val="FF0000"/>
                </a:solidFill>
                <a:latin typeface="+mn-ea"/>
                <a:ea typeface="+mn-ea"/>
              </a:rPr>
              <a:t>&lt;</a:t>
            </a:r>
            <a:r>
              <a:rPr lang="en-US" altLang="zh-CN" b="0" kern="0" dirty="0">
                <a:solidFill>
                  <a:srgbClr val="FF0000"/>
                </a:solidFill>
                <a:latin typeface="+mn-ea"/>
                <a:ea typeface="+mn-ea"/>
              </a:rPr>
              <a:t> </a:t>
            </a:r>
            <a:r>
              <a:rPr lang="en-US" altLang="zh-CN" b="0" kern="0" dirty="0" err="1">
                <a:solidFill>
                  <a:srgbClr val="FF0000"/>
                </a:solidFill>
                <a:latin typeface="+mn-ea"/>
                <a:ea typeface="+mn-ea"/>
              </a:rPr>
              <a:t>isp</a:t>
            </a:r>
            <a:r>
              <a:rPr lang="en-US" altLang="zh-CN" b="0" kern="0" dirty="0">
                <a:solidFill>
                  <a:srgbClr val="FF0000"/>
                </a:solidFill>
                <a:latin typeface="+mn-ea"/>
                <a:ea typeface="+mn-ea"/>
              </a:rPr>
              <a:t> (op)</a:t>
            </a:r>
            <a:r>
              <a:rPr lang="zh-CN" altLang="en-US" b="0" kern="0" dirty="0">
                <a:latin typeface="+mn-ea"/>
                <a:ea typeface="+mn-ea"/>
              </a:rPr>
              <a:t>，退栈并输出。（执行先前保存在栈内的优先级高的操作符）</a:t>
            </a:r>
            <a:endParaRPr lang="en-US" altLang="zh-CN" b="0" kern="0" dirty="0">
              <a:latin typeface="+mn-ea"/>
              <a:ea typeface="+mn-ea"/>
            </a:endParaRPr>
          </a:p>
          <a:p>
            <a:pPr lvl="2" algn="just">
              <a:lnSpc>
                <a:spcPct val="150000"/>
              </a:lnSpc>
              <a:spcBef>
                <a:spcPts val="0"/>
              </a:spcBef>
              <a:buClr>
                <a:srgbClr val="800080"/>
              </a:buClr>
              <a:buSzPct val="55000"/>
              <a:buFont typeface="Wingdings" panose="05000000000000000000" pitchFamily="2" charset="2"/>
              <a:buChar char="l"/>
            </a:pPr>
            <a:r>
              <a:rPr lang="zh-CN" altLang="en-US" b="0" kern="0" dirty="0">
                <a:latin typeface="+mn-ea"/>
                <a:ea typeface="+mn-ea"/>
              </a:rPr>
              <a:t>若 </a:t>
            </a:r>
            <a:r>
              <a:rPr lang="en-US" altLang="zh-CN" b="0" kern="0" dirty="0" err="1">
                <a:solidFill>
                  <a:srgbClr val="0000FF"/>
                </a:solidFill>
                <a:latin typeface="+mn-ea"/>
                <a:ea typeface="+mn-ea"/>
              </a:rPr>
              <a:t>icp</a:t>
            </a:r>
            <a:r>
              <a:rPr lang="en-US" altLang="zh-CN" b="0" kern="0" dirty="0">
                <a:solidFill>
                  <a:srgbClr val="0000FF"/>
                </a:solidFill>
                <a:latin typeface="+mn-ea"/>
                <a:ea typeface="+mn-ea"/>
              </a:rPr>
              <a:t> (</a:t>
            </a:r>
            <a:r>
              <a:rPr lang="en-US" altLang="zh-CN" b="0" kern="0" dirty="0" err="1">
                <a:solidFill>
                  <a:srgbClr val="0000FF"/>
                </a:solidFill>
                <a:latin typeface="+mn-ea"/>
                <a:ea typeface="+mn-ea"/>
              </a:rPr>
              <a:t>ch</a:t>
            </a:r>
            <a:r>
              <a:rPr lang="en-US" altLang="zh-CN" b="0" kern="0" dirty="0">
                <a:solidFill>
                  <a:srgbClr val="0000FF"/>
                </a:solidFill>
                <a:latin typeface="+mn-ea"/>
                <a:ea typeface="+mn-ea"/>
              </a:rPr>
              <a:t>) </a:t>
            </a:r>
            <a:r>
              <a:rPr lang="en-US" altLang="zh-CN" kern="0" dirty="0">
                <a:solidFill>
                  <a:srgbClr val="FF0000"/>
                </a:solidFill>
                <a:latin typeface="+mn-ea"/>
                <a:ea typeface="+mn-ea"/>
              </a:rPr>
              <a:t>==</a:t>
            </a:r>
            <a:r>
              <a:rPr lang="en-US" altLang="zh-CN" b="0" kern="0" dirty="0">
                <a:solidFill>
                  <a:srgbClr val="FF0000"/>
                </a:solidFill>
                <a:latin typeface="+mn-ea"/>
                <a:ea typeface="+mn-ea"/>
              </a:rPr>
              <a:t> </a:t>
            </a:r>
            <a:r>
              <a:rPr lang="en-US" altLang="zh-CN" b="0" kern="0" dirty="0" err="1">
                <a:solidFill>
                  <a:srgbClr val="FF0000"/>
                </a:solidFill>
                <a:latin typeface="+mn-ea"/>
                <a:ea typeface="+mn-ea"/>
              </a:rPr>
              <a:t>isp</a:t>
            </a:r>
            <a:r>
              <a:rPr lang="en-US" altLang="zh-CN" b="0" kern="0" dirty="0">
                <a:solidFill>
                  <a:srgbClr val="FF0000"/>
                </a:solidFill>
                <a:latin typeface="+mn-ea"/>
                <a:ea typeface="+mn-ea"/>
              </a:rPr>
              <a:t> (op)</a:t>
            </a:r>
            <a:r>
              <a:rPr lang="zh-CN" altLang="en-US" b="0" kern="0" dirty="0">
                <a:latin typeface="+mn-ea"/>
                <a:ea typeface="+mn-ea"/>
              </a:rPr>
              <a:t>，退栈但不输出，若退出的是“</a:t>
            </a:r>
            <a:r>
              <a:rPr lang="en-US" altLang="zh-CN" b="0" kern="0" dirty="0">
                <a:solidFill>
                  <a:srgbClr val="0000FF"/>
                </a:solidFill>
                <a:latin typeface="+mn-ea"/>
                <a:ea typeface="+mn-ea"/>
              </a:rPr>
              <a:t>(</a:t>
            </a:r>
            <a:r>
              <a:rPr lang="en-US" altLang="zh-CN" b="0" kern="0" dirty="0">
                <a:latin typeface="+mn-ea"/>
                <a:ea typeface="+mn-ea"/>
              </a:rPr>
              <a:t>”</a:t>
            </a:r>
            <a:r>
              <a:rPr lang="zh-CN" altLang="en-US" b="0" kern="0" dirty="0">
                <a:latin typeface="+mn-ea"/>
                <a:ea typeface="+mn-ea"/>
              </a:rPr>
              <a:t>号读入下一个字符。（消括号）</a:t>
            </a:r>
            <a:endParaRPr lang="en-US" altLang="zh-CN" b="0" kern="0" dirty="0">
              <a:latin typeface="+mn-ea"/>
              <a:ea typeface="+mn-ea"/>
            </a:endParaRPr>
          </a:p>
          <a:p>
            <a:pPr algn="just">
              <a:spcBef>
                <a:spcPts val="0"/>
              </a:spcBef>
              <a:buClr>
                <a:srgbClr val="800080"/>
              </a:buClr>
              <a:buSzPct val="55000"/>
              <a:buFont typeface="Wingdings" panose="05000000000000000000" pitchFamily="2" charset="2"/>
              <a:buChar char="l"/>
            </a:pPr>
            <a:r>
              <a:rPr lang="zh-CN" altLang="en-US" b="0" kern="0" dirty="0">
                <a:latin typeface="+mn-ea"/>
                <a:ea typeface="+mn-ea"/>
              </a:rPr>
              <a:t>算法结束</a:t>
            </a:r>
            <a:r>
              <a:rPr lang="en-US" altLang="zh-CN" b="0" kern="0" dirty="0">
                <a:latin typeface="+mn-ea"/>
                <a:ea typeface="+mn-ea"/>
              </a:rPr>
              <a:t>, </a:t>
            </a:r>
            <a:r>
              <a:rPr lang="zh-CN" altLang="en-US" b="0" kern="0" dirty="0">
                <a:latin typeface="+mn-ea"/>
                <a:ea typeface="+mn-ea"/>
              </a:rPr>
              <a:t>输出序列即为所需的后缀表达式。</a:t>
            </a:r>
          </a:p>
          <a:p>
            <a:pPr algn="just">
              <a:spcBef>
                <a:spcPts val="0"/>
              </a:spcBef>
              <a:buClr>
                <a:srgbClr val="800080"/>
              </a:buClr>
              <a:buSzPct val="55000"/>
              <a:buFont typeface="Wingdings" panose="05000000000000000000" pitchFamily="2" charset="2"/>
              <a:buChar char="l"/>
            </a:pPr>
            <a:r>
              <a:rPr lang="zh-CN" altLang="en-US" b="0" kern="0" dirty="0">
                <a:latin typeface="+mn-ea"/>
                <a:ea typeface="+mn-ea"/>
              </a:rPr>
              <a:t>举例，将中缀表达式 </a:t>
            </a:r>
            <a:r>
              <a:rPr lang="en-US" altLang="zh-CN" b="0" kern="0" dirty="0">
                <a:solidFill>
                  <a:srgbClr val="0000FF"/>
                </a:solidFill>
                <a:latin typeface="+mn-ea"/>
                <a:ea typeface="+mn-ea"/>
              </a:rPr>
              <a:t>a </a:t>
            </a:r>
            <a:r>
              <a:rPr lang="en-US" altLang="zh-CN" b="0" kern="0" dirty="0">
                <a:solidFill>
                  <a:srgbClr val="FF0000"/>
                </a:solidFill>
                <a:latin typeface="+mn-ea"/>
                <a:ea typeface="+mn-ea"/>
              </a:rPr>
              <a:t>+</a:t>
            </a:r>
            <a:r>
              <a:rPr lang="en-US" altLang="zh-CN" b="0" kern="0" dirty="0">
                <a:solidFill>
                  <a:srgbClr val="0000FF"/>
                </a:solidFill>
                <a:latin typeface="+mn-ea"/>
                <a:ea typeface="+mn-ea"/>
              </a:rPr>
              <a:t> b </a:t>
            </a:r>
            <a:r>
              <a:rPr lang="en-US" altLang="zh-CN" b="0" kern="0" dirty="0">
                <a:solidFill>
                  <a:srgbClr val="FF0000"/>
                </a:solidFill>
                <a:latin typeface="+mn-ea"/>
                <a:ea typeface="+mn-ea"/>
              </a:rPr>
              <a:t>* (</a:t>
            </a:r>
            <a:r>
              <a:rPr lang="en-US" altLang="zh-CN" b="0" kern="0" dirty="0">
                <a:solidFill>
                  <a:srgbClr val="0000FF"/>
                </a:solidFill>
                <a:latin typeface="+mn-ea"/>
                <a:ea typeface="+mn-ea"/>
              </a:rPr>
              <a:t>c </a:t>
            </a:r>
            <a:r>
              <a:rPr lang="en-US" altLang="zh-CN" b="0" kern="0" dirty="0">
                <a:solidFill>
                  <a:srgbClr val="FF0000"/>
                </a:solidFill>
                <a:latin typeface="+mn-ea"/>
                <a:ea typeface="+mn-ea"/>
              </a:rPr>
              <a:t>–</a:t>
            </a:r>
            <a:r>
              <a:rPr lang="en-US" altLang="zh-CN" b="0" kern="0" dirty="0">
                <a:solidFill>
                  <a:srgbClr val="0000FF"/>
                </a:solidFill>
                <a:latin typeface="+mn-ea"/>
                <a:ea typeface="+mn-ea"/>
              </a:rPr>
              <a:t> d</a:t>
            </a:r>
            <a:r>
              <a:rPr lang="en-US" altLang="zh-CN" b="0" kern="0" dirty="0">
                <a:solidFill>
                  <a:srgbClr val="FF0000"/>
                </a:solidFill>
                <a:latin typeface="+mn-ea"/>
                <a:ea typeface="+mn-ea"/>
              </a:rPr>
              <a:t>) –</a:t>
            </a:r>
            <a:r>
              <a:rPr lang="en-US" altLang="zh-CN" b="0" kern="0" dirty="0">
                <a:solidFill>
                  <a:srgbClr val="0000FF"/>
                </a:solidFill>
                <a:latin typeface="+mn-ea"/>
                <a:ea typeface="+mn-ea"/>
              </a:rPr>
              <a:t> e </a:t>
            </a:r>
            <a:r>
              <a:rPr lang="en-US" altLang="zh-CN" b="0" kern="0" dirty="0">
                <a:solidFill>
                  <a:srgbClr val="FF0000"/>
                </a:solidFill>
                <a:latin typeface="+mn-ea"/>
                <a:ea typeface="+mn-ea"/>
              </a:rPr>
              <a:t>/</a:t>
            </a:r>
            <a:r>
              <a:rPr lang="en-US" altLang="zh-CN" b="0" kern="0" dirty="0">
                <a:solidFill>
                  <a:srgbClr val="0000FF"/>
                </a:solidFill>
                <a:latin typeface="+mn-ea"/>
                <a:ea typeface="+mn-ea"/>
              </a:rPr>
              <a:t> f </a:t>
            </a:r>
            <a:r>
              <a:rPr lang="zh-CN" altLang="en-US" b="0" kern="0" dirty="0">
                <a:latin typeface="+mn-ea"/>
                <a:ea typeface="+mn-ea"/>
              </a:rPr>
              <a:t>转换为后缀表达式 </a:t>
            </a:r>
            <a:r>
              <a:rPr lang="en-US" altLang="zh-CN" b="0" kern="0" dirty="0">
                <a:solidFill>
                  <a:srgbClr val="0000FF"/>
                </a:solidFill>
                <a:latin typeface="+mn-ea"/>
                <a:ea typeface="+mn-ea"/>
              </a:rPr>
              <a:t>a b c d </a:t>
            </a:r>
            <a:r>
              <a:rPr lang="en-US" altLang="zh-CN" b="0" kern="0" dirty="0">
                <a:solidFill>
                  <a:srgbClr val="FF0000"/>
                </a:solidFill>
                <a:latin typeface="+mn-ea"/>
                <a:ea typeface="+mn-ea"/>
              </a:rPr>
              <a:t>– * + </a:t>
            </a:r>
            <a:r>
              <a:rPr lang="en-US" altLang="zh-CN" b="0" kern="0" dirty="0">
                <a:solidFill>
                  <a:srgbClr val="0000FF"/>
                </a:solidFill>
                <a:latin typeface="+mn-ea"/>
                <a:ea typeface="+mn-ea"/>
              </a:rPr>
              <a:t>e f </a:t>
            </a:r>
            <a:r>
              <a:rPr lang="en-US" altLang="zh-CN" b="0" kern="0" dirty="0">
                <a:solidFill>
                  <a:srgbClr val="FF0000"/>
                </a:solidFill>
                <a:latin typeface="+mn-ea"/>
                <a:ea typeface="+mn-ea"/>
              </a:rPr>
              <a:t>/ – </a:t>
            </a:r>
            <a:r>
              <a:rPr lang="zh-CN" altLang="en-US" b="0" kern="0" dirty="0">
                <a:latin typeface="+mn-ea"/>
                <a:ea typeface="+mn-ea"/>
              </a:rPr>
              <a:t>的过程如下：</a:t>
            </a:r>
          </a:p>
        </p:txBody>
      </p:sp>
    </p:spTree>
    <p:extLst>
      <p:ext uri="{BB962C8B-B14F-4D97-AF65-F5344CB8AC3E}">
        <p14:creationId xmlns:p14="http://schemas.microsoft.com/office/powerpoint/2010/main" val="2633155508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17B6CFB-5317-48CC-9D75-1B0CC26CD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中缀表示转为后缀表示</a:t>
            </a:r>
          </a:p>
        </p:txBody>
      </p:sp>
      <p:graphicFrame>
        <p:nvGraphicFramePr>
          <p:cNvPr id="5" name="Object 2">
            <a:extLst>
              <a:ext uri="{FF2B5EF4-FFF2-40B4-BE49-F238E27FC236}">
                <a16:creationId xmlns:a16="http://schemas.microsoft.com/office/drawing/2014/main" id="{69D70087-2D15-4927-AEB5-C6A511C4ECB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92189947"/>
              </p:ext>
            </p:extLst>
          </p:nvPr>
        </p:nvGraphicFramePr>
        <p:xfrm>
          <a:off x="251520" y="766763"/>
          <a:ext cx="8892480" cy="69827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48" name="Document" r:id="rId3" imgW="9006302" imgH="7021178" progId="Word.Document.8">
                  <p:embed/>
                </p:oleObj>
              </mc:Choice>
              <mc:Fallback>
                <p:oleObj name="Document" r:id="rId3" imgW="9006302" imgH="7021178" progId="Word.Document.8">
                  <p:embed/>
                  <p:pic>
                    <p:nvPicPr>
                      <p:cNvPr id="509954" name="Object 2">
                        <a:extLst>
                          <a:ext uri="{FF2B5EF4-FFF2-40B4-BE49-F238E27FC236}">
                            <a16:creationId xmlns:a16="http://schemas.microsoft.com/office/drawing/2014/main" id="{2BCE3497-65CE-412D-9665-7B57474EE17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520" y="766763"/>
                        <a:ext cx="8892480" cy="698271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594362097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17B6CFB-5317-48CC-9D75-1B0CC26CD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中缀表示转为后缀表示</a:t>
            </a:r>
          </a:p>
        </p:txBody>
      </p:sp>
      <p:graphicFrame>
        <p:nvGraphicFramePr>
          <p:cNvPr id="4" name="Object 2">
            <a:extLst>
              <a:ext uri="{FF2B5EF4-FFF2-40B4-BE49-F238E27FC236}">
                <a16:creationId xmlns:a16="http://schemas.microsoft.com/office/drawing/2014/main" id="{3DABC806-43D3-4F85-B003-7737868A7DC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27610367"/>
              </p:ext>
            </p:extLst>
          </p:nvPr>
        </p:nvGraphicFramePr>
        <p:xfrm>
          <a:off x="469900" y="906463"/>
          <a:ext cx="9053513" cy="6292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68" name="Document" r:id="rId3" imgW="9415783" imgH="6545261" progId="Word.Document.8">
                  <p:embed/>
                </p:oleObj>
              </mc:Choice>
              <mc:Fallback>
                <p:oleObj name="Document" r:id="rId3" imgW="9415783" imgH="6545261" progId="Word.Document.8">
                  <p:embed/>
                  <p:pic>
                    <p:nvPicPr>
                      <p:cNvPr id="510978" name="Object 2">
                        <a:extLst>
                          <a:ext uri="{FF2B5EF4-FFF2-40B4-BE49-F238E27FC236}">
                            <a16:creationId xmlns:a16="http://schemas.microsoft.com/office/drawing/2014/main" id="{BFDFEF1A-226E-4294-8D10-8E0F5790947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9900" y="906463"/>
                        <a:ext cx="9053513" cy="6292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195328021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BF28739-C34A-4870-908B-F25E6ACD7D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sz="2800" baseline="0" dirty="0">
                <a:latin typeface="+mn-ea"/>
                <a:ea typeface="+mn-ea"/>
              </a:rPr>
              <a:t>用中缀表示计算表达式的值</a:t>
            </a:r>
            <a:endParaRPr lang="zh-CN" altLang="en-US" dirty="0">
              <a:latin typeface="+mn-ea"/>
              <a:ea typeface="+mn-ea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8EDA8A4-D1BC-4999-9BEE-ED472FB13F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6087" y="3892454"/>
            <a:ext cx="8251825" cy="2486518"/>
          </a:xfrm>
        </p:spPr>
        <p:txBody>
          <a:bodyPr/>
          <a:lstStyle/>
          <a:p>
            <a:r>
              <a:rPr lang="zh-CN" altLang="en-US" dirty="0"/>
              <a:t>为实现这种计算，仍需考虑各操作符的优先级</a:t>
            </a:r>
            <a:endParaRPr lang="en-US" altLang="zh-CN" dirty="0"/>
          </a:p>
          <a:p>
            <a:r>
              <a:rPr lang="zh-CN" altLang="en-US" dirty="0"/>
              <a:t>使用两个栈：</a:t>
            </a:r>
            <a:r>
              <a:rPr lang="zh-CN" altLang="en-US" dirty="0">
                <a:solidFill>
                  <a:srgbClr val="FF0000"/>
                </a:solidFill>
              </a:rPr>
              <a:t>操作符栈 </a:t>
            </a:r>
            <a:r>
              <a:rPr lang="en-US" altLang="zh-CN" dirty="0">
                <a:solidFill>
                  <a:srgbClr val="FF0000"/>
                </a:solidFill>
              </a:rPr>
              <a:t>OPTR </a:t>
            </a:r>
            <a:r>
              <a:rPr lang="en-US" altLang="zh-CN" dirty="0"/>
              <a:t>(operator)</a:t>
            </a:r>
            <a:r>
              <a:rPr lang="zh-CN" altLang="en-US" dirty="0"/>
              <a:t>，</a:t>
            </a:r>
            <a:r>
              <a:rPr lang="zh-CN" altLang="en-US" dirty="0">
                <a:solidFill>
                  <a:srgbClr val="0000FF"/>
                </a:solidFill>
              </a:rPr>
              <a:t>操作数栈 </a:t>
            </a:r>
            <a:r>
              <a:rPr lang="en-US" altLang="zh-CN" dirty="0">
                <a:solidFill>
                  <a:srgbClr val="0000FF"/>
                </a:solidFill>
              </a:rPr>
              <a:t>OPND </a:t>
            </a:r>
            <a:r>
              <a:rPr lang="en-US" altLang="zh-CN" dirty="0"/>
              <a:t>(operand)</a:t>
            </a:r>
            <a:endParaRPr lang="zh-CN" altLang="en-US" dirty="0"/>
          </a:p>
        </p:txBody>
      </p:sp>
      <p:grpSp>
        <p:nvGrpSpPr>
          <p:cNvPr id="4" name="Group 17">
            <a:extLst>
              <a:ext uri="{FF2B5EF4-FFF2-40B4-BE49-F238E27FC236}">
                <a16:creationId xmlns:a16="http://schemas.microsoft.com/office/drawing/2014/main" id="{C83C0330-7A56-4AD2-BEF4-6CF51DFB773B}"/>
              </a:ext>
            </a:extLst>
          </p:cNvPr>
          <p:cNvGrpSpPr>
            <a:grpSpLocks/>
          </p:cNvGrpSpPr>
          <p:nvPr/>
        </p:nvGrpSpPr>
        <p:grpSpPr bwMode="auto">
          <a:xfrm>
            <a:off x="2408236" y="1177032"/>
            <a:ext cx="4041775" cy="2540000"/>
            <a:chOff x="970" y="752"/>
            <a:chExt cx="2546" cy="1600"/>
          </a:xfrm>
        </p:grpSpPr>
        <p:sp>
          <p:nvSpPr>
            <p:cNvPr id="5" name="AutoShape 4">
              <a:extLst>
                <a:ext uri="{FF2B5EF4-FFF2-40B4-BE49-F238E27FC236}">
                  <a16:creationId xmlns:a16="http://schemas.microsoft.com/office/drawing/2014/main" id="{C4739012-3B35-4A53-A102-6D6C7C5D8532}"/>
                </a:ext>
              </a:extLst>
            </p:cNvPr>
            <p:cNvSpPr>
              <a:spLocks/>
            </p:cNvSpPr>
            <p:nvPr/>
          </p:nvSpPr>
          <p:spPr bwMode="auto">
            <a:xfrm rot="-5400000">
              <a:off x="2208" y="775"/>
              <a:ext cx="96" cy="768"/>
            </a:xfrm>
            <a:prstGeom prst="leftBrace">
              <a:avLst>
                <a:gd name="adj1" fmla="val 66667"/>
                <a:gd name="adj2" fmla="val 51120"/>
              </a:avLst>
            </a:prstGeom>
            <a:noFill/>
            <a:ln w="28575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anchor="ctr"/>
            <a:lstStyle/>
            <a:p>
              <a:pPr algn="ctr"/>
              <a:endParaRPr kumimoji="1" lang="zh-CN" altLang="zh-CN" sz="2400" baseline="0">
                <a:solidFill>
                  <a:srgbClr val="008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" name="Text Box 5">
              <a:extLst>
                <a:ext uri="{FF2B5EF4-FFF2-40B4-BE49-F238E27FC236}">
                  <a16:creationId xmlns:a16="http://schemas.microsoft.com/office/drawing/2014/main" id="{ECA89295-7797-4342-B4C6-AD9C7450AAE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55" y="1130"/>
              <a:ext cx="489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2800" b="1" baseline="0">
                  <a:solidFill>
                    <a:srgbClr val="0000FF"/>
                  </a:solidFill>
                  <a:latin typeface="Times New Roman" panose="02020603050405020304" pitchFamily="18" charset="0"/>
                </a:rPr>
                <a:t>rst1</a:t>
              </a:r>
              <a:endParaRPr kumimoji="1" lang="en-US" altLang="zh-CN" sz="2400" baseline="0">
                <a:latin typeface="Times New Roman" panose="02020603050405020304" pitchFamily="18" charset="0"/>
              </a:endParaRPr>
            </a:p>
          </p:txBody>
        </p:sp>
        <p:sp>
          <p:nvSpPr>
            <p:cNvPr id="7" name="AutoShape 6">
              <a:extLst>
                <a:ext uri="{FF2B5EF4-FFF2-40B4-BE49-F238E27FC236}">
                  <a16:creationId xmlns:a16="http://schemas.microsoft.com/office/drawing/2014/main" id="{61CF1415-CF0F-4B4F-9556-EA2AF5CB6AFA}"/>
                </a:ext>
              </a:extLst>
            </p:cNvPr>
            <p:cNvSpPr>
              <a:spLocks/>
            </p:cNvSpPr>
            <p:nvPr/>
          </p:nvSpPr>
          <p:spPr bwMode="auto">
            <a:xfrm rot="-5400000">
              <a:off x="1992" y="854"/>
              <a:ext cx="144" cy="1152"/>
            </a:xfrm>
            <a:prstGeom prst="leftBrace">
              <a:avLst>
                <a:gd name="adj1" fmla="val 66667"/>
                <a:gd name="adj2" fmla="val 51037"/>
              </a:avLst>
            </a:prstGeom>
            <a:noFill/>
            <a:ln w="28575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anchor="ctr"/>
            <a:lstStyle/>
            <a:p>
              <a:pPr algn="ctr"/>
              <a:endParaRPr kumimoji="1" lang="zh-CN" altLang="zh-CN" sz="2400" b="1" baseline="0">
                <a:solidFill>
                  <a:srgbClr val="008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8" name="Text Box 7">
              <a:extLst>
                <a:ext uri="{FF2B5EF4-FFF2-40B4-BE49-F238E27FC236}">
                  <a16:creationId xmlns:a16="http://schemas.microsoft.com/office/drawing/2014/main" id="{0D7E09C7-3E88-405B-BEA6-1E7B89FEE5F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63" y="1425"/>
              <a:ext cx="489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2800" b="1" baseline="0" dirty="0">
                  <a:solidFill>
                    <a:srgbClr val="0000FF"/>
                  </a:solidFill>
                  <a:latin typeface="Times New Roman" panose="02020603050405020304" pitchFamily="18" charset="0"/>
                </a:rPr>
                <a:t>rst2</a:t>
              </a:r>
              <a:endParaRPr kumimoji="1" lang="en-US" altLang="zh-CN" sz="2400" baseline="0" dirty="0">
                <a:latin typeface="Times New Roman" panose="02020603050405020304" pitchFamily="18" charset="0"/>
              </a:endParaRPr>
            </a:p>
          </p:txBody>
        </p:sp>
        <p:sp>
          <p:nvSpPr>
            <p:cNvPr id="9" name="AutoShape 8">
              <a:extLst>
                <a:ext uri="{FF2B5EF4-FFF2-40B4-BE49-F238E27FC236}">
                  <a16:creationId xmlns:a16="http://schemas.microsoft.com/office/drawing/2014/main" id="{457B2712-321D-4FA2-A30B-0462FDE7F68E}"/>
                </a:ext>
              </a:extLst>
            </p:cNvPr>
            <p:cNvSpPr>
              <a:spLocks/>
            </p:cNvSpPr>
            <p:nvPr/>
          </p:nvSpPr>
          <p:spPr bwMode="auto">
            <a:xfrm rot="-5400000">
              <a:off x="1800" y="957"/>
              <a:ext cx="144" cy="1536"/>
            </a:xfrm>
            <a:prstGeom prst="leftBrace">
              <a:avLst>
                <a:gd name="adj1" fmla="val 88889"/>
                <a:gd name="adj2" fmla="val 51037"/>
              </a:avLst>
            </a:prstGeom>
            <a:noFill/>
            <a:ln w="28575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anchor="ctr"/>
            <a:lstStyle/>
            <a:p>
              <a:pPr algn="ctr"/>
              <a:endParaRPr kumimoji="1" lang="zh-CN" altLang="zh-CN" sz="2400" b="1" baseline="0">
                <a:solidFill>
                  <a:srgbClr val="008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0" name="Text Box 9">
              <a:extLst>
                <a:ext uri="{FF2B5EF4-FFF2-40B4-BE49-F238E27FC236}">
                  <a16:creationId xmlns:a16="http://schemas.microsoft.com/office/drawing/2014/main" id="{C75CEFF5-A7DA-4DAB-A205-FFC4E18FA34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80" y="1697"/>
              <a:ext cx="489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2800" b="1" baseline="0">
                  <a:solidFill>
                    <a:srgbClr val="0000FF"/>
                  </a:solidFill>
                  <a:latin typeface="Times New Roman" panose="02020603050405020304" pitchFamily="18" charset="0"/>
                </a:rPr>
                <a:t>rst3</a:t>
              </a:r>
              <a:endParaRPr kumimoji="1" lang="en-US" altLang="zh-CN" sz="2400" baseline="0">
                <a:latin typeface="Times New Roman" panose="02020603050405020304" pitchFamily="18" charset="0"/>
              </a:endParaRPr>
            </a:p>
          </p:txBody>
        </p:sp>
        <p:sp>
          <p:nvSpPr>
            <p:cNvPr id="11" name="AutoShape 10">
              <a:extLst>
                <a:ext uri="{FF2B5EF4-FFF2-40B4-BE49-F238E27FC236}">
                  <a16:creationId xmlns:a16="http://schemas.microsoft.com/office/drawing/2014/main" id="{79AB6711-155D-48CA-B957-0B2752A5BC71}"/>
                </a:ext>
              </a:extLst>
            </p:cNvPr>
            <p:cNvSpPr>
              <a:spLocks/>
            </p:cNvSpPr>
            <p:nvPr/>
          </p:nvSpPr>
          <p:spPr bwMode="auto">
            <a:xfrm rot="-5400000">
              <a:off x="3096" y="936"/>
              <a:ext cx="96" cy="432"/>
            </a:xfrm>
            <a:prstGeom prst="leftBrace">
              <a:avLst>
                <a:gd name="adj1" fmla="val 37500"/>
                <a:gd name="adj2" fmla="val 51120"/>
              </a:avLst>
            </a:prstGeom>
            <a:noFill/>
            <a:ln w="28575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anchor="ctr"/>
            <a:lstStyle/>
            <a:p>
              <a:pPr algn="ctr"/>
              <a:endParaRPr kumimoji="1" lang="zh-CN" altLang="zh-CN" sz="2400" baseline="0">
                <a:solidFill>
                  <a:srgbClr val="008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2" name="Text Box 11">
              <a:extLst>
                <a:ext uri="{FF2B5EF4-FFF2-40B4-BE49-F238E27FC236}">
                  <a16:creationId xmlns:a16="http://schemas.microsoft.com/office/drawing/2014/main" id="{4B2F1F65-808A-4A87-AFA4-9CC895CFEB7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19" y="1130"/>
              <a:ext cx="489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2800" b="1" baseline="0">
                  <a:solidFill>
                    <a:srgbClr val="0000FF"/>
                  </a:solidFill>
                  <a:latin typeface="Times New Roman" panose="02020603050405020304" pitchFamily="18" charset="0"/>
                </a:rPr>
                <a:t>rst4</a:t>
              </a:r>
              <a:endParaRPr kumimoji="1" lang="en-US" altLang="zh-CN" sz="2400" baseline="0">
                <a:latin typeface="Times New Roman" panose="02020603050405020304" pitchFamily="18" charset="0"/>
              </a:endParaRPr>
            </a:p>
          </p:txBody>
        </p:sp>
        <p:sp>
          <p:nvSpPr>
            <p:cNvPr id="13" name="AutoShape 14">
              <a:extLst>
                <a:ext uri="{FF2B5EF4-FFF2-40B4-BE49-F238E27FC236}">
                  <a16:creationId xmlns:a16="http://schemas.microsoft.com/office/drawing/2014/main" id="{F788A715-341F-41F0-A705-EC324D06F052}"/>
                </a:ext>
              </a:extLst>
            </p:cNvPr>
            <p:cNvSpPr>
              <a:spLocks/>
            </p:cNvSpPr>
            <p:nvPr/>
          </p:nvSpPr>
          <p:spPr bwMode="auto">
            <a:xfrm rot="16200000">
              <a:off x="2262" y="811"/>
              <a:ext cx="75" cy="2432"/>
            </a:xfrm>
            <a:prstGeom prst="leftBrace">
              <a:avLst>
                <a:gd name="adj1" fmla="val 225000"/>
                <a:gd name="adj2" fmla="val 51037"/>
              </a:avLst>
            </a:prstGeom>
            <a:noFill/>
            <a:ln w="28575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anchor="ctr"/>
            <a:lstStyle/>
            <a:p>
              <a:pPr algn="ctr"/>
              <a:endParaRPr kumimoji="1" lang="zh-CN" altLang="zh-CN" sz="2400" b="1" baseline="0">
                <a:solidFill>
                  <a:srgbClr val="008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4" name="Text Box 15">
              <a:extLst>
                <a:ext uri="{FF2B5EF4-FFF2-40B4-BE49-F238E27FC236}">
                  <a16:creationId xmlns:a16="http://schemas.microsoft.com/office/drawing/2014/main" id="{F8A9D977-3D8A-4C12-AF42-B5D63B60E9E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99" y="2025"/>
              <a:ext cx="489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2800" b="1" baseline="0">
                  <a:solidFill>
                    <a:srgbClr val="0000FF"/>
                  </a:solidFill>
                  <a:latin typeface="Times New Roman" panose="02020603050405020304" pitchFamily="18" charset="0"/>
                </a:rPr>
                <a:t>rst5</a:t>
              </a:r>
              <a:endParaRPr kumimoji="1" lang="en-US" altLang="zh-CN" sz="2400" baseline="0">
                <a:latin typeface="Times New Roman" panose="02020603050405020304" pitchFamily="18" charset="0"/>
              </a:endParaRPr>
            </a:p>
          </p:txBody>
        </p:sp>
        <p:sp>
          <p:nvSpPr>
            <p:cNvPr id="15" name="Rectangle 16">
              <a:extLst>
                <a:ext uri="{FF2B5EF4-FFF2-40B4-BE49-F238E27FC236}">
                  <a16:creationId xmlns:a16="http://schemas.microsoft.com/office/drawing/2014/main" id="{FD57CFCF-A53B-4F49-85B6-C5A02C2C2C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0" y="752"/>
              <a:ext cx="2432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3200" b="1" baseline="0" dirty="0">
                  <a:solidFill>
                    <a:srgbClr val="0000FF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a </a:t>
              </a:r>
              <a:r>
                <a:rPr kumimoji="1" lang="en-US" altLang="zh-CN" sz="3200" b="1" baseline="0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+</a:t>
              </a:r>
              <a:r>
                <a:rPr kumimoji="1" lang="en-US" altLang="zh-CN" sz="3200" b="1" baseline="0" dirty="0">
                  <a:solidFill>
                    <a:srgbClr val="0000FF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 b </a:t>
              </a:r>
              <a:r>
                <a:rPr kumimoji="1" lang="en-US" altLang="zh-CN" sz="3200" b="1" baseline="0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* (</a:t>
              </a:r>
              <a:r>
                <a:rPr kumimoji="1" lang="en-US" altLang="zh-CN" sz="3200" b="1" baseline="0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 </a:t>
              </a:r>
              <a:r>
                <a:rPr kumimoji="1" lang="en-US" altLang="zh-CN" sz="3200" b="1" baseline="0" dirty="0">
                  <a:solidFill>
                    <a:srgbClr val="0000FF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c </a:t>
              </a:r>
              <a:r>
                <a:rPr kumimoji="1" lang="en-US" altLang="zh-CN" sz="3200" b="1" baseline="0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Courier New" panose="02070309020205020404" pitchFamily="49" charset="0"/>
                </a:rPr>
                <a:t>-</a:t>
              </a:r>
              <a:r>
                <a:rPr kumimoji="1" lang="en-US" altLang="zh-CN" sz="3200" b="1" baseline="0" dirty="0">
                  <a:solidFill>
                    <a:srgbClr val="0000FF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 d </a:t>
              </a:r>
              <a:r>
                <a:rPr kumimoji="1" lang="en-US" altLang="zh-CN" sz="3200" b="1" baseline="0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)</a:t>
              </a:r>
              <a:r>
                <a:rPr kumimoji="1" lang="en-US" altLang="zh-CN" sz="3200" b="1" baseline="0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 </a:t>
              </a:r>
              <a:r>
                <a:rPr kumimoji="1" lang="en-US" altLang="zh-CN" sz="3200" b="1" baseline="0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Courier New" panose="02070309020205020404" pitchFamily="49" charset="0"/>
                </a:rPr>
                <a:t>-</a:t>
              </a:r>
              <a:r>
                <a:rPr kumimoji="1" lang="en-US" altLang="zh-CN" sz="3200" b="1" baseline="0" dirty="0">
                  <a:solidFill>
                    <a:srgbClr val="0000FF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 e </a:t>
              </a:r>
              <a:r>
                <a:rPr kumimoji="1" lang="en-US" altLang="zh-CN" sz="3200" b="1" baseline="0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/</a:t>
              </a:r>
              <a:r>
                <a:rPr kumimoji="1" lang="en-US" altLang="zh-CN" sz="3200" b="1" baseline="0" dirty="0">
                  <a:solidFill>
                    <a:srgbClr val="0000FF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 f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736060053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E507A9F-4139-46F8-A8CB-CFBE1B24BF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sz="2800" baseline="0" dirty="0">
                <a:latin typeface="+mn-ea"/>
                <a:ea typeface="+mn-ea"/>
              </a:rPr>
              <a:t>用中缀表示计算表达式的值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2650CF0-9A44-46FA-809E-D10FF608C4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528" y="764704"/>
            <a:ext cx="8496944" cy="5857339"/>
          </a:xfrm>
        </p:spPr>
        <p:txBody>
          <a:bodyPr/>
          <a:lstStyle/>
          <a:p>
            <a:pPr marL="514350" lvl="1" indent="-514350" algn="just">
              <a:buClr>
                <a:srgbClr val="006600"/>
              </a:buClr>
              <a:buFont typeface="+mj-lt"/>
              <a:buAutoNum type="arabicPeriod"/>
            </a:pPr>
            <a:r>
              <a:rPr kumimoji="1" lang="zh-CN" altLang="en-US" sz="2800" baseline="0" dirty="0">
                <a:latin typeface="+mn-ea"/>
                <a:ea typeface="+mn-ea"/>
              </a:rPr>
              <a:t>建立并初始化</a:t>
            </a:r>
            <a:r>
              <a:rPr kumimoji="1" lang="en-US" altLang="zh-CN" sz="2800" baseline="0" dirty="0">
                <a:solidFill>
                  <a:srgbClr val="FF0000"/>
                </a:solidFill>
                <a:latin typeface="+mn-ea"/>
                <a:ea typeface="+mn-ea"/>
              </a:rPr>
              <a:t>OPTR</a:t>
            </a:r>
            <a:r>
              <a:rPr kumimoji="1" lang="zh-CN" altLang="en-US" sz="2800" baseline="0" dirty="0">
                <a:solidFill>
                  <a:srgbClr val="FF0000"/>
                </a:solidFill>
                <a:latin typeface="+mn-ea"/>
                <a:ea typeface="+mn-ea"/>
              </a:rPr>
              <a:t>栈</a:t>
            </a:r>
            <a:r>
              <a:rPr kumimoji="1" lang="zh-CN" altLang="en-US" sz="2800" baseline="0" dirty="0">
                <a:latin typeface="+mn-ea"/>
                <a:ea typeface="+mn-ea"/>
              </a:rPr>
              <a:t>和</a:t>
            </a:r>
            <a:r>
              <a:rPr kumimoji="1" lang="en-US" altLang="zh-CN" sz="2800" baseline="0" dirty="0">
                <a:solidFill>
                  <a:srgbClr val="0000FF"/>
                </a:solidFill>
                <a:latin typeface="+mn-ea"/>
                <a:ea typeface="+mn-ea"/>
              </a:rPr>
              <a:t>OPND</a:t>
            </a:r>
            <a:r>
              <a:rPr kumimoji="1" lang="zh-CN" altLang="en-US" sz="2800" baseline="0" dirty="0">
                <a:solidFill>
                  <a:srgbClr val="0000FF"/>
                </a:solidFill>
                <a:latin typeface="+mn-ea"/>
                <a:ea typeface="+mn-ea"/>
              </a:rPr>
              <a:t>栈</a:t>
            </a:r>
            <a:r>
              <a:rPr kumimoji="1" lang="zh-CN" altLang="en-US" sz="2800" baseline="0" dirty="0">
                <a:latin typeface="+mn-ea"/>
                <a:ea typeface="+mn-ea"/>
              </a:rPr>
              <a:t>，然后在</a:t>
            </a:r>
            <a:r>
              <a:rPr kumimoji="1" lang="en-US" altLang="zh-CN" sz="2800" baseline="0" dirty="0">
                <a:solidFill>
                  <a:srgbClr val="FF0000"/>
                </a:solidFill>
                <a:latin typeface="+mn-ea"/>
                <a:ea typeface="+mn-ea"/>
              </a:rPr>
              <a:t>OPTR</a:t>
            </a:r>
            <a:r>
              <a:rPr kumimoji="1" lang="zh-CN" altLang="en-US" sz="2800" baseline="0" dirty="0">
                <a:solidFill>
                  <a:srgbClr val="FF0000"/>
                </a:solidFill>
                <a:latin typeface="+mn-ea"/>
                <a:ea typeface="+mn-ea"/>
              </a:rPr>
              <a:t>栈</a:t>
            </a:r>
            <a:r>
              <a:rPr kumimoji="1" lang="zh-CN" altLang="en-US" sz="2800" baseline="0" dirty="0">
                <a:latin typeface="+mn-ea"/>
                <a:ea typeface="+mn-ea"/>
              </a:rPr>
              <a:t>中压入一个</a:t>
            </a:r>
            <a:r>
              <a:rPr kumimoji="1" lang="zh-CN" altLang="en-US" sz="2800" baseline="0" dirty="0">
                <a:solidFill>
                  <a:schemeClr val="tx2"/>
                </a:solidFill>
                <a:latin typeface="+mn-ea"/>
                <a:ea typeface="+mn-ea"/>
              </a:rPr>
              <a:t>“</a:t>
            </a:r>
            <a:r>
              <a:rPr kumimoji="1" lang="en-US" altLang="zh-CN" sz="2800" baseline="0" dirty="0">
                <a:solidFill>
                  <a:srgbClr val="FF0000"/>
                </a:solidFill>
                <a:latin typeface="+mn-ea"/>
                <a:ea typeface="+mn-ea"/>
              </a:rPr>
              <a:t>#</a:t>
            </a:r>
            <a:r>
              <a:rPr kumimoji="1" lang="en-US" altLang="zh-CN" sz="2800" baseline="0" dirty="0">
                <a:solidFill>
                  <a:schemeClr val="tx2"/>
                </a:solidFill>
                <a:latin typeface="+mn-ea"/>
                <a:ea typeface="+mn-ea"/>
              </a:rPr>
              <a:t>”</a:t>
            </a:r>
            <a:r>
              <a:rPr kumimoji="1" lang="zh-CN" altLang="en-US" sz="2800" baseline="0" dirty="0">
                <a:solidFill>
                  <a:schemeClr val="tx2"/>
                </a:solidFill>
                <a:latin typeface="+mn-ea"/>
                <a:ea typeface="+mn-ea"/>
              </a:rPr>
              <a:t>。</a:t>
            </a:r>
            <a:endParaRPr kumimoji="1" lang="en-US" altLang="zh-CN" sz="2800" baseline="0" dirty="0">
              <a:solidFill>
                <a:schemeClr val="tx2"/>
              </a:solidFill>
              <a:latin typeface="+mn-ea"/>
              <a:ea typeface="+mn-ea"/>
            </a:endParaRPr>
          </a:p>
          <a:p>
            <a:pPr marL="514350" lvl="1" indent="-514350" algn="just">
              <a:buClr>
                <a:srgbClr val="006600"/>
              </a:buClr>
              <a:buFont typeface="+mj-lt"/>
              <a:buAutoNum type="arabicPeriod"/>
            </a:pPr>
            <a:r>
              <a:rPr kumimoji="1" lang="zh-CN" altLang="en-US" sz="2800" baseline="0" dirty="0">
                <a:latin typeface="+mn-ea"/>
                <a:ea typeface="+mn-ea"/>
              </a:rPr>
              <a:t>扫描中缀表达式，读一字符入 </a:t>
            </a:r>
            <a:r>
              <a:rPr kumimoji="1" lang="en-US" altLang="zh-CN" sz="2800" baseline="0" dirty="0" err="1">
                <a:latin typeface="+mn-ea"/>
                <a:ea typeface="+mn-ea"/>
              </a:rPr>
              <a:t>ch</a:t>
            </a:r>
            <a:r>
              <a:rPr kumimoji="1" lang="zh-CN" altLang="en-US" sz="2800" baseline="0" dirty="0">
                <a:latin typeface="+mn-ea"/>
                <a:ea typeface="+mn-ea"/>
              </a:rPr>
              <a:t>。</a:t>
            </a:r>
          </a:p>
          <a:p>
            <a:pPr marL="514350" lvl="1" indent="-514350" algn="just">
              <a:buClr>
                <a:srgbClr val="006600"/>
              </a:buClr>
              <a:buFont typeface="+mj-lt"/>
              <a:buAutoNum type="arabicPeriod"/>
            </a:pPr>
            <a:r>
              <a:rPr kumimoji="1" lang="zh-CN" altLang="en-US" sz="2800" baseline="0" dirty="0">
                <a:latin typeface="+mn-ea"/>
                <a:ea typeface="+mn-ea"/>
              </a:rPr>
              <a:t>当 </a:t>
            </a:r>
            <a:r>
              <a:rPr kumimoji="1" lang="en-US" altLang="zh-CN" sz="2800" baseline="0" dirty="0" err="1">
                <a:solidFill>
                  <a:srgbClr val="0000FF"/>
                </a:solidFill>
                <a:latin typeface="+mn-ea"/>
                <a:ea typeface="+mn-ea"/>
              </a:rPr>
              <a:t>ch</a:t>
            </a:r>
            <a:r>
              <a:rPr kumimoji="1" lang="en-US" altLang="zh-CN" sz="2800" dirty="0">
                <a:solidFill>
                  <a:srgbClr val="0000FF"/>
                </a:solidFill>
                <a:latin typeface="+mn-ea"/>
                <a:ea typeface="+mn-ea"/>
              </a:rPr>
              <a:t> </a:t>
            </a:r>
            <a:r>
              <a:rPr kumimoji="1" lang="en-US" altLang="zh-CN" sz="2800" baseline="0" dirty="0">
                <a:solidFill>
                  <a:srgbClr val="0000FF"/>
                </a:solidFill>
                <a:latin typeface="+mn-ea"/>
                <a:ea typeface="+mn-ea"/>
              </a:rPr>
              <a:t>!=‘#’</a:t>
            </a:r>
            <a:r>
              <a:rPr kumimoji="1" lang="zh-CN" altLang="en-US" sz="2800" baseline="0" dirty="0">
                <a:latin typeface="+mn-ea"/>
                <a:ea typeface="+mn-ea"/>
              </a:rPr>
              <a:t>或 </a:t>
            </a:r>
            <a:r>
              <a:rPr kumimoji="1" lang="en-US" altLang="zh-CN" sz="2800" baseline="0" dirty="0">
                <a:solidFill>
                  <a:srgbClr val="FF0000"/>
                </a:solidFill>
                <a:latin typeface="+mn-ea"/>
                <a:ea typeface="+mn-ea"/>
              </a:rPr>
              <a:t>OPTR</a:t>
            </a:r>
            <a:r>
              <a:rPr kumimoji="1" lang="zh-CN" altLang="en-US" sz="2800" baseline="0" dirty="0">
                <a:solidFill>
                  <a:srgbClr val="FF0000"/>
                </a:solidFill>
                <a:latin typeface="+mn-ea"/>
                <a:ea typeface="+mn-ea"/>
              </a:rPr>
              <a:t>栈</a:t>
            </a:r>
            <a:r>
              <a:rPr kumimoji="1" lang="zh-CN" altLang="en-US" sz="2800" baseline="0" dirty="0">
                <a:solidFill>
                  <a:srgbClr val="0000FF"/>
                </a:solidFill>
                <a:latin typeface="+mn-ea"/>
                <a:ea typeface="+mn-ea"/>
              </a:rPr>
              <a:t>的栈顶 </a:t>
            </a:r>
            <a:r>
              <a:rPr kumimoji="1" lang="en-US" altLang="zh-CN" sz="2800" baseline="0" dirty="0">
                <a:solidFill>
                  <a:srgbClr val="0000FF"/>
                </a:solidFill>
                <a:latin typeface="+mn-ea"/>
                <a:ea typeface="+mn-ea"/>
              </a:rPr>
              <a:t>!=‘</a:t>
            </a:r>
            <a:r>
              <a:rPr kumimoji="1" lang="en-US" altLang="zh-CN" sz="2800" baseline="0" dirty="0">
                <a:solidFill>
                  <a:srgbClr val="FF0000"/>
                </a:solidFill>
                <a:latin typeface="+mn-ea"/>
                <a:ea typeface="+mn-ea"/>
              </a:rPr>
              <a:t>#</a:t>
            </a:r>
            <a:r>
              <a:rPr kumimoji="1" lang="en-US" altLang="zh-CN" sz="2800" baseline="0" dirty="0">
                <a:solidFill>
                  <a:srgbClr val="0000FF"/>
                </a:solidFill>
                <a:latin typeface="+mn-ea"/>
                <a:ea typeface="+mn-ea"/>
              </a:rPr>
              <a:t>’</a:t>
            </a:r>
            <a:r>
              <a:rPr kumimoji="1" lang="zh-CN" altLang="en-US" sz="2800" baseline="0" dirty="0">
                <a:latin typeface="+mn-ea"/>
                <a:ea typeface="+mn-ea"/>
              </a:rPr>
              <a:t>时</a:t>
            </a:r>
            <a:r>
              <a:rPr kumimoji="1" lang="en-US" altLang="zh-CN" sz="2800" baseline="0" dirty="0">
                <a:latin typeface="+mn-ea"/>
                <a:ea typeface="+mn-ea"/>
              </a:rPr>
              <a:t>, </a:t>
            </a:r>
            <a:r>
              <a:rPr kumimoji="1" lang="zh-CN" altLang="en-US" sz="2800" baseline="0" dirty="0">
                <a:latin typeface="+mn-ea"/>
                <a:ea typeface="+mn-ea"/>
              </a:rPr>
              <a:t>执行以下工作</a:t>
            </a:r>
            <a:r>
              <a:rPr kumimoji="1" lang="en-US" altLang="zh-CN" sz="2800" baseline="0" dirty="0">
                <a:latin typeface="+mn-ea"/>
                <a:ea typeface="+mn-ea"/>
              </a:rPr>
              <a:t>, </a:t>
            </a:r>
            <a:r>
              <a:rPr kumimoji="1" lang="zh-CN" altLang="en-US" sz="2800" baseline="0" dirty="0">
                <a:latin typeface="+mn-ea"/>
                <a:ea typeface="+mn-ea"/>
              </a:rPr>
              <a:t>否则结束算法，在</a:t>
            </a:r>
            <a:r>
              <a:rPr kumimoji="1" lang="en-US" altLang="zh-CN" sz="2800" baseline="0" dirty="0">
                <a:solidFill>
                  <a:srgbClr val="0000FF"/>
                </a:solidFill>
                <a:latin typeface="+mn-ea"/>
                <a:ea typeface="+mn-ea"/>
              </a:rPr>
              <a:t>OPND</a:t>
            </a:r>
            <a:r>
              <a:rPr kumimoji="1" lang="zh-CN" altLang="en-US" sz="2800" baseline="0" dirty="0">
                <a:solidFill>
                  <a:srgbClr val="0000FF"/>
                </a:solidFill>
                <a:latin typeface="+mn-ea"/>
                <a:ea typeface="+mn-ea"/>
              </a:rPr>
              <a:t>栈</a:t>
            </a:r>
            <a:r>
              <a:rPr kumimoji="1" lang="zh-CN" altLang="en-US" sz="2800" baseline="0" dirty="0">
                <a:latin typeface="+mn-ea"/>
                <a:ea typeface="+mn-ea"/>
              </a:rPr>
              <a:t>的栈顶得到运算结果。</a:t>
            </a:r>
          </a:p>
          <a:p>
            <a:pPr marL="1008000" lvl="3" indent="-514350" algn="just">
              <a:lnSpc>
                <a:spcPct val="150000"/>
              </a:lnSpc>
              <a:spcBef>
                <a:spcPts val="0"/>
              </a:spcBef>
              <a:buClr>
                <a:schemeClr val="tx2"/>
              </a:buClr>
              <a:buFont typeface="+mj-ea"/>
              <a:buAutoNum type="circleNumDbPlain"/>
            </a:pPr>
            <a:r>
              <a:rPr kumimoji="1" lang="zh-CN" altLang="en-US" baseline="0" dirty="0">
                <a:latin typeface="+mn-ea"/>
                <a:ea typeface="+mn-ea"/>
              </a:rPr>
              <a:t>若 </a:t>
            </a:r>
            <a:r>
              <a:rPr kumimoji="1" lang="en-US" altLang="zh-CN" baseline="0" dirty="0" err="1">
                <a:latin typeface="+mn-ea"/>
                <a:ea typeface="+mn-ea"/>
              </a:rPr>
              <a:t>ch</a:t>
            </a:r>
            <a:r>
              <a:rPr kumimoji="1" lang="en-US" altLang="zh-CN" baseline="0" dirty="0">
                <a:latin typeface="+mn-ea"/>
                <a:ea typeface="+mn-ea"/>
              </a:rPr>
              <a:t> </a:t>
            </a:r>
            <a:r>
              <a:rPr kumimoji="1" lang="zh-CN" altLang="en-US" baseline="0" dirty="0">
                <a:latin typeface="+mn-ea"/>
                <a:ea typeface="+mn-ea"/>
              </a:rPr>
              <a:t>是</a:t>
            </a:r>
            <a:r>
              <a:rPr kumimoji="1" lang="zh-CN" altLang="en-US" baseline="0" dirty="0">
                <a:solidFill>
                  <a:srgbClr val="0000FF"/>
                </a:solidFill>
                <a:latin typeface="+mn-ea"/>
                <a:ea typeface="+mn-ea"/>
              </a:rPr>
              <a:t>操作数</a:t>
            </a:r>
            <a:r>
              <a:rPr kumimoji="1" lang="zh-CN" altLang="en-US" baseline="0" dirty="0">
                <a:latin typeface="+mn-ea"/>
                <a:ea typeface="+mn-ea"/>
              </a:rPr>
              <a:t>，压进 </a:t>
            </a:r>
            <a:r>
              <a:rPr kumimoji="1" lang="en-US" altLang="zh-CN" baseline="0" dirty="0">
                <a:solidFill>
                  <a:srgbClr val="0000FF"/>
                </a:solidFill>
                <a:latin typeface="+mn-ea"/>
                <a:ea typeface="+mn-ea"/>
              </a:rPr>
              <a:t>OPND</a:t>
            </a:r>
            <a:r>
              <a:rPr kumimoji="1" lang="zh-CN" altLang="en-US" baseline="0" dirty="0">
                <a:solidFill>
                  <a:srgbClr val="0000FF"/>
                </a:solidFill>
                <a:latin typeface="+mn-ea"/>
                <a:ea typeface="+mn-ea"/>
              </a:rPr>
              <a:t>栈</a:t>
            </a:r>
            <a:r>
              <a:rPr kumimoji="1" lang="zh-CN" altLang="en-US" baseline="0" dirty="0">
                <a:latin typeface="+mn-ea"/>
                <a:ea typeface="+mn-ea"/>
              </a:rPr>
              <a:t>，从中缀表达式读下一字符入 </a:t>
            </a:r>
            <a:r>
              <a:rPr kumimoji="1" lang="en-US" altLang="zh-CN" baseline="0" dirty="0" err="1">
                <a:latin typeface="+mn-ea"/>
                <a:ea typeface="+mn-ea"/>
              </a:rPr>
              <a:t>ch</a:t>
            </a:r>
            <a:r>
              <a:rPr kumimoji="1" lang="zh-CN" altLang="en-US" baseline="0" dirty="0">
                <a:latin typeface="+mn-ea"/>
                <a:ea typeface="+mn-ea"/>
              </a:rPr>
              <a:t>；</a:t>
            </a:r>
            <a:endParaRPr kumimoji="1" lang="en-US" altLang="zh-CN" baseline="0" dirty="0">
              <a:latin typeface="+mn-ea"/>
              <a:ea typeface="+mn-ea"/>
            </a:endParaRPr>
          </a:p>
          <a:p>
            <a:pPr marL="1008000" lvl="3" indent="-514350" algn="just">
              <a:lnSpc>
                <a:spcPct val="150000"/>
              </a:lnSpc>
              <a:spcBef>
                <a:spcPts val="0"/>
              </a:spcBef>
              <a:buClr>
                <a:schemeClr val="tx2"/>
              </a:buClr>
              <a:buFont typeface="+mj-ea"/>
              <a:buAutoNum type="circleNumDbPlain"/>
            </a:pPr>
            <a:r>
              <a:rPr kumimoji="1" lang="zh-CN" altLang="en-US" baseline="0" dirty="0">
                <a:latin typeface="+mn-ea"/>
                <a:ea typeface="+mn-ea"/>
              </a:rPr>
              <a:t>若 </a:t>
            </a:r>
            <a:r>
              <a:rPr kumimoji="1" lang="en-US" altLang="zh-CN" baseline="0" dirty="0" err="1">
                <a:latin typeface="+mn-ea"/>
                <a:ea typeface="+mn-ea"/>
              </a:rPr>
              <a:t>ch</a:t>
            </a:r>
            <a:r>
              <a:rPr kumimoji="1" lang="en-US" altLang="zh-CN" baseline="0" dirty="0">
                <a:latin typeface="+mn-ea"/>
                <a:ea typeface="+mn-ea"/>
              </a:rPr>
              <a:t> </a:t>
            </a:r>
            <a:r>
              <a:rPr kumimoji="1" lang="zh-CN" altLang="en-US" baseline="0" dirty="0">
                <a:latin typeface="+mn-ea"/>
                <a:ea typeface="+mn-ea"/>
              </a:rPr>
              <a:t>是</a:t>
            </a:r>
            <a:r>
              <a:rPr kumimoji="1" lang="zh-CN" altLang="en-US" baseline="0" dirty="0">
                <a:solidFill>
                  <a:srgbClr val="FF0000"/>
                </a:solidFill>
                <a:latin typeface="+mn-ea"/>
                <a:ea typeface="+mn-ea"/>
              </a:rPr>
              <a:t>操作符</a:t>
            </a:r>
            <a:r>
              <a:rPr kumimoji="1" lang="zh-CN" altLang="en-US" baseline="0" dirty="0">
                <a:latin typeface="+mn-ea"/>
                <a:ea typeface="+mn-ea"/>
              </a:rPr>
              <a:t>，比较 </a:t>
            </a:r>
            <a:r>
              <a:rPr kumimoji="1" lang="en-US" altLang="zh-CN" baseline="0" dirty="0" err="1">
                <a:solidFill>
                  <a:srgbClr val="FF0000"/>
                </a:solidFill>
                <a:latin typeface="+mn-ea"/>
                <a:ea typeface="+mn-ea"/>
              </a:rPr>
              <a:t>icp</a:t>
            </a:r>
            <a:r>
              <a:rPr kumimoji="1" lang="en-US" altLang="zh-CN" baseline="0" dirty="0">
                <a:solidFill>
                  <a:srgbClr val="FF0000"/>
                </a:solidFill>
                <a:latin typeface="+mn-ea"/>
                <a:ea typeface="+mn-ea"/>
              </a:rPr>
              <a:t>(</a:t>
            </a:r>
            <a:r>
              <a:rPr kumimoji="1" lang="en-US" altLang="zh-CN" baseline="0" dirty="0" err="1">
                <a:solidFill>
                  <a:srgbClr val="FF0000"/>
                </a:solidFill>
                <a:latin typeface="+mn-ea"/>
                <a:ea typeface="+mn-ea"/>
              </a:rPr>
              <a:t>ch</a:t>
            </a:r>
            <a:r>
              <a:rPr kumimoji="1" lang="en-US" altLang="zh-CN" baseline="0" dirty="0">
                <a:solidFill>
                  <a:srgbClr val="FF0000"/>
                </a:solidFill>
                <a:latin typeface="+mn-ea"/>
                <a:ea typeface="+mn-ea"/>
              </a:rPr>
              <a:t>) </a:t>
            </a:r>
            <a:r>
              <a:rPr kumimoji="1" lang="zh-CN" altLang="en-US" baseline="0" dirty="0">
                <a:latin typeface="+mn-ea"/>
                <a:ea typeface="+mn-ea"/>
              </a:rPr>
              <a:t>和 </a:t>
            </a:r>
            <a:r>
              <a:rPr kumimoji="1" lang="en-US" altLang="zh-CN" baseline="0" dirty="0" err="1">
                <a:solidFill>
                  <a:srgbClr val="FF0000"/>
                </a:solidFill>
                <a:latin typeface="+mn-ea"/>
                <a:ea typeface="+mn-ea"/>
              </a:rPr>
              <a:t>isp</a:t>
            </a:r>
            <a:r>
              <a:rPr kumimoji="1" lang="en-US" altLang="zh-CN" baseline="0" dirty="0">
                <a:solidFill>
                  <a:srgbClr val="FF0000"/>
                </a:solidFill>
                <a:latin typeface="+mn-ea"/>
                <a:ea typeface="+mn-ea"/>
              </a:rPr>
              <a:t>(OPTR)</a:t>
            </a:r>
            <a:r>
              <a:rPr kumimoji="1" lang="zh-CN" altLang="en-US" baseline="0" dirty="0">
                <a:latin typeface="+mn-ea"/>
                <a:ea typeface="+mn-ea"/>
              </a:rPr>
              <a:t>：</a:t>
            </a:r>
          </a:p>
        </p:txBody>
      </p:sp>
    </p:spTree>
    <p:extLst>
      <p:ext uri="{BB962C8B-B14F-4D97-AF65-F5344CB8AC3E}">
        <p14:creationId xmlns:p14="http://schemas.microsoft.com/office/powerpoint/2010/main" val="4232131064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E507A9F-4139-46F8-A8CB-CFBE1B24BF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sz="2800" baseline="0" dirty="0">
                <a:latin typeface="+mn-ea"/>
                <a:ea typeface="+mn-ea"/>
              </a:rPr>
              <a:t>用中缀表示计算表达式的值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2650CF0-9A44-46FA-809E-D10FF608C4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528" y="764704"/>
            <a:ext cx="8568952" cy="5472112"/>
          </a:xfrm>
        </p:spPr>
        <p:txBody>
          <a:bodyPr/>
          <a:lstStyle/>
          <a:p>
            <a:pPr marL="1350900" lvl="4" indent="-514350" algn="just">
              <a:lnSpc>
                <a:spcPct val="150000"/>
              </a:lnSpc>
              <a:spcBef>
                <a:spcPts val="0"/>
              </a:spcBef>
              <a:buClr>
                <a:schemeClr val="tx2"/>
              </a:buClr>
              <a:buFont typeface="+mj-ea"/>
              <a:buAutoNum type="circleNumDbPlain"/>
            </a:pPr>
            <a:r>
              <a:rPr kumimoji="1" lang="zh-CN" altLang="en-US" sz="2400" baseline="0" dirty="0">
                <a:latin typeface="+mn-ea"/>
                <a:ea typeface="+mn-ea"/>
              </a:rPr>
              <a:t>若 </a:t>
            </a:r>
            <a:r>
              <a:rPr kumimoji="1" lang="en-US" altLang="zh-CN" sz="2400" baseline="0" dirty="0" err="1">
                <a:solidFill>
                  <a:srgbClr val="FF0000"/>
                </a:solidFill>
                <a:latin typeface="+mn-ea"/>
                <a:ea typeface="+mn-ea"/>
              </a:rPr>
              <a:t>icp</a:t>
            </a:r>
            <a:r>
              <a:rPr kumimoji="1" lang="en-US" altLang="zh-CN" sz="2400" baseline="0" dirty="0">
                <a:solidFill>
                  <a:srgbClr val="FF0000"/>
                </a:solidFill>
                <a:latin typeface="+mn-ea"/>
                <a:ea typeface="+mn-ea"/>
              </a:rPr>
              <a:t>(</a:t>
            </a:r>
            <a:r>
              <a:rPr kumimoji="1" lang="en-US" altLang="zh-CN" sz="2400" baseline="0" dirty="0" err="1">
                <a:solidFill>
                  <a:srgbClr val="FF0000"/>
                </a:solidFill>
                <a:latin typeface="+mn-ea"/>
                <a:ea typeface="+mn-ea"/>
              </a:rPr>
              <a:t>ch</a:t>
            </a:r>
            <a:r>
              <a:rPr kumimoji="1" lang="en-US" altLang="zh-CN" sz="2400" baseline="0" dirty="0">
                <a:solidFill>
                  <a:srgbClr val="FF0000"/>
                </a:solidFill>
                <a:latin typeface="+mn-ea"/>
                <a:ea typeface="+mn-ea"/>
              </a:rPr>
              <a:t>) &gt; </a:t>
            </a:r>
            <a:r>
              <a:rPr kumimoji="1" lang="en-US" altLang="zh-CN" sz="2400" baseline="0" dirty="0" err="1">
                <a:solidFill>
                  <a:srgbClr val="FF0000"/>
                </a:solidFill>
                <a:latin typeface="+mn-ea"/>
                <a:ea typeface="+mn-ea"/>
              </a:rPr>
              <a:t>isp</a:t>
            </a:r>
            <a:r>
              <a:rPr kumimoji="1" lang="en-US" altLang="zh-CN" sz="2400" baseline="0" dirty="0">
                <a:solidFill>
                  <a:srgbClr val="FF0000"/>
                </a:solidFill>
                <a:latin typeface="+mn-ea"/>
                <a:ea typeface="+mn-ea"/>
              </a:rPr>
              <a:t>(OPTR)</a:t>
            </a:r>
            <a:r>
              <a:rPr kumimoji="1" lang="zh-CN" altLang="en-US" sz="2400" baseline="0" dirty="0">
                <a:latin typeface="+mn-ea"/>
                <a:ea typeface="+mn-ea"/>
              </a:rPr>
              <a:t>，则将 </a:t>
            </a:r>
            <a:r>
              <a:rPr kumimoji="1" lang="en-US" altLang="zh-CN" sz="2400" baseline="0" dirty="0" err="1">
                <a:latin typeface="+mn-ea"/>
                <a:ea typeface="+mn-ea"/>
              </a:rPr>
              <a:t>ch</a:t>
            </a:r>
            <a:r>
              <a:rPr kumimoji="1" lang="en-US" altLang="zh-CN" sz="2400" baseline="0" dirty="0">
                <a:latin typeface="+mn-ea"/>
                <a:ea typeface="+mn-ea"/>
              </a:rPr>
              <a:t> </a:t>
            </a:r>
            <a:r>
              <a:rPr kumimoji="1" lang="zh-CN" altLang="en-US" sz="2400" baseline="0" dirty="0">
                <a:latin typeface="+mn-ea"/>
                <a:ea typeface="+mn-ea"/>
              </a:rPr>
              <a:t>压进</a:t>
            </a:r>
            <a:r>
              <a:rPr kumimoji="1" lang="en-US" altLang="zh-CN" sz="2400" baseline="0" dirty="0">
                <a:solidFill>
                  <a:srgbClr val="FF0000"/>
                </a:solidFill>
                <a:latin typeface="+mn-ea"/>
                <a:ea typeface="+mn-ea"/>
              </a:rPr>
              <a:t>OPTR</a:t>
            </a:r>
            <a:r>
              <a:rPr kumimoji="1" lang="zh-CN" altLang="en-US" sz="2400" baseline="0" dirty="0">
                <a:solidFill>
                  <a:srgbClr val="FF0000"/>
                </a:solidFill>
                <a:latin typeface="+mn-ea"/>
                <a:ea typeface="+mn-ea"/>
              </a:rPr>
              <a:t>栈</a:t>
            </a:r>
            <a:r>
              <a:rPr kumimoji="1" lang="zh-CN" altLang="en-US" sz="2400" baseline="0" dirty="0">
                <a:latin typeface="+mn-ea"/>
                <a:ea typeface="+mn-ea"/>
              </a:rPr>
              <a:t>，从中缀表达式读下一字符入 </a:t>
            </a:r>
            <a:r>
              <a:rPr kumimoji="1" lang="en-US" altLang="zh-CN" sz="2400" baseline="0" dirty="0" err="1">
                <a:latin typeface="+mn-ea"/>
                <a:ea typeface="+mn-ea"/>
              </a:rPr>
              <a:t>ch</a:t>
            </a:r>
            <a:r>
              <a:rPr kumimoji="1" lang="zh-CN" altLang="en-US" sz="2400" baseline="0" dirty="0">
                <a:latin typeface="+mn-ea"/>
                <a:ea typeface="+mn-ea"/>
              </a:rPr>
              <a:t>；</a:t>
            </a:r>
          </a:p>
          <a:p>
            <a:pPr marL="1350900" lvl="4" indent="-514350" algn="just">
              <a:lnSpc>
                <a:spcPct val="150000"/>
              </a:lnSpc>
              <a:spcBef>
                <a:spcPts val="0"/>
              </a:spcBef>
              <a:buClr>
                <a:schemeClr val="tx2"/>
              </a:buClr>
              <a:buFont typeface="+mj-ea"/>
              <a:buAutoNum type="circleNumDbPlain"/>
            </a:pPr>
            <a:r>
              <a:rPr kumimoji="1" lang="zh-CN" altLang="en-US" sz="2400" baseline="0" dirty="0">
                <a:latin typeface="+mn-ea"/>
                <a:ea typeface="+mn-ea"/>
              </a:rPr>
              <a:t>若 </a:t>
            </a:r>
            <a:r>
              <a:rPr kumimoji="1" lang="en-US" altLang="zh-CN" sz="2400" baseline="0" dirty="0" err="1">
                <a:solidFill>
                  <a:srgbClr val="FF0000"/>
                </a:solidFill>
                <a:latin typeface="+mn-ea"/>
                <a:ea typeface="+mn-ea"/>
              </a:rPr>
              <a:t>icp</a:t>
            </a:r>
            <a:r>
              <a:rPr kumimoji="1" lang="en-US" altLang="zh-CN" sz="2400" baseline="0" dirty="0">
                <a:solidFill>
                  <a:srgbClr val="FF0000"/>
                </a:solidFill>
                <a:latin typeface="+mn-ea"/>
                <a:ea typeface="+mn-ea"/>
              </a:rPr>
              <a:t>(</a:t>
            </a:r>
            <a:r>
              <a:rPr kumimoji="1" lang="en-US" altLang="zh-CN" sz="2400" baseline="0" dirty="0" err="1">
                <a:solidFill>
                  <a:srgbClr val="FF0000"/>
                </a:solidFill>
                <a:latin typeface="+mn-ea"/>
                <a:ea typeface="+mn-ea"/>
              </a:rPr>
              <a:t>ch</a:t>
            </a:r>
            <a:r>
              <a:rPr kumimoji="1" lang="en-US" altLang="zh-CN" sz="2400" baseline="0" dirty="0">
                <a:solidFill>
                  <a:srgbClr val="FF0000"/>
                </a:solidFill>
                <a:latin typeface="+mn-ea"/>
                <a:ea typeface="+mn-ea"/>
              </a:rPr>
              <a:t>) &lt; </a:t>
            </a:r>
            <a:r>
              <a:rPr kumimoji="1" lang="en-US" altLang="zh-CN" sz="2400" baseline="0" dirty="0" err="1">
                <a:solidFill>
                  <a:srgbClr val="FF0000"/>
                </a:solidFill>
                <a:latin typeface="+mn-ea"/>
                <a:ea typeface="+mn-ea"/>
              </a:rPr>
              <a:t>isp</a:t>
            </a:r>
            <a:r>
              <a:rPr kumimoji="1" lang="en-US" altLang="zh-CN" sz="2400" baseline="0" dirty="0">
                <a:solidFill>
                  <a:srgbClr val="FF0000"/>
                </a:solidFill>
                <a:latin typeface="+mn-ea"/>
                <a:ea typeface="+mn-ea"/>
              </a:rPr>
              <a:t>(OPTR)</a:t>
            </a:r>
            <a:r>
              <a:rPr kumimoji="1" lang="zh-CN" altLang="en-US" sz="2400" baseline="0" dirty="0">
                <a:latin typeface="+mn-ea"/>
                <a:ea typeface="+mn-ea"/>
              </a:rPr>
              <a:t>，则从</a:t>
            </a:r>
            <a:r>
              <a:rPr kumimoji="1" lang="en-US" altLang="zh-CN" sz="2400" baseline="0" dirty="0">
                <a:solidFill>
                  <a:srgbClr val="0000FF"/>
                </a:solidFill>
                <a:latin typeface="+mn-ea"/>
                <a:ea typeface="+mn-ea"/>
              </a:rPr>
              <a:t>OPND</a:t>
            </a:r>
            <a:r>
              <a:rPr kumimoji="1" lang="zh-CN" altLang="en-US" sz="2400" baseline="0" dirty="0">
                <a:solidFill>
                  <a:srgbClr val="0000FF"/>
                </a:solidFill>
                <a:latin typeface="+mn-ea"/>
                <a:ea typeface="+mn-ea"/>
              </a:rPr>
              <a:t>栈</a:t>
            </a:r>
            <a:r>
              <a:rPr kumimoji="1" lang="zh-CN" altLang="en-US" sz="2400" baseline="0" dirty="0">
                <a:latin typeface="+mn-ea"/>
                <a:ea typeface="+mn-ea"/>
              </a:rPr>
              <a:t>退出 </a:t>
            </a:r>
            <a:r>
              <a:rPr kumimoji="1" lang="en-US" altLang="zh-CN" sz="2400" baseline="0" dirty="0">
                <a:latin typeface="+mn-ea"/>
                <a:ea typeface="+mn-ea"/>
              </a:rPr>
              <a:t>a</a:t>
            </a:r>
            <a:r>
              <a:rPr kumimoji="1" lang="en-US" altLang="zh-CN" sz="2400" dirty="0">
                <a:latin typeface="+mn-ea"/>
                <a:ea typeface="+mn-ea"/>
              </a:rPr>
              <a:t>2</a:t>
            </a:r>
            <a:r>
              <a:rPr kumimoji="1" lang="en-US" altLang="zh-CN" sz="2400" baseline="0" dirty="0">
                <a:latin typeface="+mn-ea"/>
                <a:ea typeface="+mn-ea"/>
              </a:rPr>
              <a:t> </a:t>
            </a:r>
            <a:r>
              <a:rPr kumimoji="1" lang="zh-CN" altLang="en-US" sz="2400" baseline="0" dirty="0">
                <a:latin typeface="+mn-ea"/>
                <a:ea typeface="+mn-ea"/>
              </a:rPr>
              <a:t>和 </a:t>
            </a:r>
            <a:r>
              <a:rPr kumimoji="1" lang="en-US" altLang="zh-CN" sz="2400" baseline="0" dirty="0">
                <a:latin typeface="+mn-ea"/>
                <a:ea typeface="+mn-ea"/>
              </a:rPr>
              <a:t>a</a:t>
            </a:r>
            <a:r>
              <a:rPr kumimoji="1" lang="en-US" altLang="zh-CN" sz="2400" dirty="0">
                <a:latin typeface="+mn-ea"/>
                <a:ea typeface="+mn-ea"/>
              </a:rPr>
              <a:t>1</a:t>
            </a:r>
            <a:r>
              <a:rPr kumimoji="1" lang="zh-CN" altLang="en-US" sz="2400" baseline="0" dirty="0">
                <a:latin typeface="+mn-ea"/>
                <a:ea typeface="+mn-ea"/>
              </a:rPr>
              <a:t>，从</a:t>
            </a:r>
            <a:r>
              <a:rPr kumimoji="1" lang="en-US" altLang="zh-CN" sz="2400" baseline="0" dirty="0">
                <a:solidFill>
                  <a:srgbClr val="FF0000"/>
                </a:solidFill>
                <a:latin typeface="+mn-ea"/>
                <a:ea typeface="+mn-ea"/>
              </a:rPr>
              <a:t>OPTR</a:t>
            </a:r>
            <a:r>
              <a:rPr kumimoji="1" lang="zh-CN" altLang="en-US" sz="2400" baseline="0" dirty="0">
                <a:solidFill>
                  <a:srgbClr val="FF0000"/>
                </a:solidFill>
                <a:latin typeface="+mn-ea"/>
                <a:ea typeface="+mn-ea"/>
              </a:rPr>
              <a:t>栈</a:t>
            </a:r>
            <a:r>
              <a:rPr kumimoji="1" lang="zh-CN" altLang="en-US" sz="2400" baseline="0" dirty="0">
                <a:latin typeface="+mn-ea"/>
                <a:ea typeface="+mn-ea"/>
              </a:rPr>
              <a:t>退出 </a:t>
            </a:r>
            <a:r>
              <a:rPr kumimoji="1" lang="en-US" altLang="zh-CN" sz="2400" baseline="0" dirty="0">
                <a:latin typeface="+mn-ea"/>
                <a:ea typeface="+mn-ea"/>
              </a:rPr>
              <a:t>θ, </a:t>
            </a:r>
            <a:r>
              <a:rPr kumimoji="1" lang="zh-CN" altLang="en-US" sz="2400" baseline="0" dirty="0">
                <a:latin typeface="+mn-ea"/>
                <a:ea typeface="+mn-ea"/>
              </a:rPr>
              <a:t>形成运算指令 </a:t>
            </a:r>
            <a:r>
              <a:rPr kumimoji="1" lang="en-US" altLang="zh-CN" sz="2400" baseline="0" dirty="0">
                <a:solidFill>
                  <a:srgbClr val="0000FF"/>
                </a:solidFill>
                <a:latin typeface="+mn-ea"/>
                <a:ea typeface="+mn-ea"/>
              </a:rPr>
              <a:t>(a</a:t>
            </a:r>
            <a:r>
              <a:rPr kumimoji="1" lang="en-US" altLang="zh-CN" sz="2400" dirty="0">
                <a:solidFill>
                  <a:srgbClr val="0000FF"/>
                </a:solidFill>
                <a:latin typeface="+mn-ea"/>
                <a:ea typeface="+mn-ea"/>
              </a:rPr>
              <a:t>1</a:t>
            </a:r>
            <a:r>
              <a:rPr kumimoji="1" lang="en-US" altLang="zh-CN" sz="2400" baseline="0" dirty="0">
                <a:solidFill>
                  <a:srgbClr val="0000FF"/>
                </a:solidFill>
                <a:latin typeface="+mn-ea"/>
                <a:ea typeface="+mn-ea"/>
              </a:rPr>
              <a:t>) θ (a</a:t>
            </a:r>
            <a:r>
              <a:rPr kumimoji="1" lang="en-US" altLang="zh-CN" sz="2400" dirty="0">
                <a:solidFill>
                  <a:srgbClr val="0000FF"/>
                </a:solidFill>
                <a:latin typeface="+mn-ea"/>
                <a:ea typeface="+mn-ea"/>
              </a:rPr>
              <a:t>2</a:t>
            </a:r>
            <a:r>
              <a:rPr kumimoji="1" lang="en-US" altLang="zh-CN" sz="2400" baseline="0" dirty="0">
                <a:solidFill>
                  <a:srgbClr val="0000FF"/>
                </a:solidFill>
                <a:latin typeface="+mn-ea"/>
                <a:ea typeface="+mn-ea"/>
              </a:rPr>
              <a:t>)</a:t>
            </a:r>
            <a:r>
              <a:rPr kumimoji="1" lang="zh-CN" altLang="en-US" sz="2400" baseline="0" dirty="0">
                <a:latin typeface="+mn-ea"/>
                <a:ea typeface="+mn-ea"/>
              </a:rPr>
              <a:t>，结果进</a:t>
            </a:r>
            <a:r>
              <a:rPr kumimoji="1" lang="en-US" altLang="zh-CN" sz="2400" baseline="0" dirty="0">
                <a:solidFill>
                  <a:srgbClr val="0000FF"/>
                </a:solidFill>
                <a:latin typeface="+mn-ea"/>
                <a:ea typeface="+mn-ea"/>
              </a:rPr>
              <a:t>OPND</a:t>
            </a:r>
            <a:r>
              <a:rPr kumimoji="1" lang="zh-CN" altLang="en-US" sz="2400" baseline="0" dirty="0">
                <a:solidFill>
                  <a:srgbClr val="0000FF"/>
                </a:solidFill>
                <a:latin typeface="+mn-ea"/>
                <a:ea typeface="+mn-ea"/>
              </a:rPr>
              <a:t>栈</a:t>
            </a:r>
            <a:r>
              <a:rPr kumimoji="1" lang="zh-CN" altLang="en-US" sz="2400" baseline="0" dirty="0">
                <a:latin typeface="+mn-ea"/>
                <a:ea typeface="+mn-ea"/>
              </a:rPr>
              <a:t>；</a:t>
            </a:r>
          </a:p>
          <a:p>
            <a:pPr marL="1350900" lvl="4" indent="-514350" algn="just">
              <a:lnSpc>
                <a:spcPct val="150000"/>
              </a:lnSpc>
              <a:spcBef>
                <a:spcPts val="0"/>
              </a:spcBef>
              <a:buClr>
                <a:schemeClr val="tx2"/>
              </a:buClr>
              <a:buFont typeface="+mj-ea"/>
              <a:buAutoNum type="circleNumDbPlain"/>
            </a:pPr>
            <a:r>
              <a:rPr kumimoji="1" lang="zh-CN" altLang="en-US" sz="2400" baseline="0" dirty="0">
                <a:latin typeface="+mn-ea"/>
                <a:ea typeface="+mn-ea"/>
              </a:rPr>
              <a:t>若 </a:t>
            </a:r>
            <a:r>
              <a:rPr kumimoji="1" lang="en-US" altLang="zh-CN" sz="2400" baseline="0" dirty="0" err="1">
                <a:solidFill>
                  <a:srgbClr val="FF0000"/>
                </a:solidFill>
                <a:latin typeface="+mn-ea"/>
                <a:ea typeface="+mn-ea"/>
              </a:rPr>
              <a:t>icp</a:t>
            </a:r>
            <a:r>
              <a:rPr kumimoji="1" lang="en-US" altLang="zh-CN" sz="2400" baseline="0" dirty="0">
                <a:solidFill>
                  <a:srgbClr val="FF0000"/>
                </a:solidFill>
                <a:latin typeface="+mn-ea"/>
                <a:ea typeface="+mn-ea"/>
              </a:rPr>
              <a:t>(</a:t>
            </a:r>
            <a:r>
              <a:rPr kumimoji="1" lang="en-US" altLang="zh-CN" sz="2400" baseline="0" dirty="0" err="1">
                <a:solidFill>
                  <a:srgbClr val="FF0000"/>
                </a:solidFill>
                <a:latin typeface="+mn-ea"/>
                <a:ea typeface="+mn-ea"/>
              </a:rPr>
              <a:t>ch</a:t>
            </a:r>
            <a:r>
              <a:rPr kumimoji="1" lang="en-US" altLang="zh-CN" sz="2400" baseline="0" dirty="0">
                <a:solidFill>
                  <a:srgbClr val="FF0000"/>
                </a:solidFill>
                <a:latin typeface="+mn-ea"/>
                <a:ea typeface="+mn-ea"/>
              </a:rPr>
              <a:t>) == </a:t>
            </a:r>
            <a:r>
              <a:rPr kumimoji="1" lang="en-US" altLang="zh-CN" sz="2400" baseline="0" dirty="0" err="1">
                <a:solidFill>
                  <a:srgbClr val="FF0000"/>
                </a:solidFill>
                <a:latin typeface="+mn-ea"/>
                <a:ea typeface="+mn-ea"/>
              </a:rPr>
              <a:t>isp</a:t>
            </a:r>
            <a:r>
              <a:rPr kumimoji="1" lang="en-US" altLang="zh-CN" sz="2400" baseline="0" dirty="0">
                <a:solidFill>
                  <a:srgbClr val="FF0000"/>
                </a:solidFill>
                <a:latin typeface="+mn-ea"/>
                <a:ea typeface="+mn-ea"/>
              </a:rPr>
              <a:t>(OPTR) </a:t>
            </a:r>
            <a:r>
              <a:rPr kumimoji="1" lang="zh-CN" altLang="en-US" sz="2400" baseline="0" dirty="0">
                <a:latin typeface="+mn-ea"/>
                <a:ea typeface="+mn-ea"/>
              </a:rPr>
              <a:t>且 </a:t>
            </a:r>
            <a:r>
              <a:rPr kumimoji="1" lang="en-US" altLang="zh-CN" sz="2400" baseline="0" dirty="0" err="1">
                <a:solidFill>
                  <a:srgbClr val="FF0000"/>
                </a:solidFill>
                <a:latin typeface="+mn-ea"/>
                <a:ea typeface="+mn-ea"/>
              </a:rPr>
              <a:t>ch</a:t>
            </a:r>
            <a:r>
              <a:rPr kumimoji="1" lang="en-US" altLang="zh-CN" sz="2400" baseline="0" dirty="0">
                <a:solidFill>
                  <a:srgbClr val="FF0000"/>
                </a:solidFill>
                <a:latin typeface="+mn-ea"/>
                <a:ea typeface="+mn-ea"/>
              </a:rPr>
              <a:t> ==‘)’</a:t>
            </a:r>
            <a:r>
              <a:rPr kumimoji="1" lang="zh-CN" altLang="en-US" sz="2400" baseline="0" dirty="0">
                <a:latin typeface="+mn-ea"/>
                <a:ea typeface="+mn-ea"/>
              </a:rPr>
              <a:t>，则从</a:t>
            </a:r>
            <a:r>
              <a:rPr kumimoji="1" lang="en-US" altLang="zh-CN" sz="2400" baseline="0" dirty="0">
                <a:solidFill>
                  <a:srgbClr val="FF0000"/>
                </a:solidFill>
                <a:latin typeface="+mn-ea"/>
                <a:ea typeface="+mn-ea"/>
              </a:rPr>
              <a:t>OPTR</a:t>
            </a:r>
            <a:r>
              <a:rPr kumimoji="1" lang="zh-CN" altLang="en-US" sz="2400" baseline="0" dirty="0">
                <a:solidFill>
                  <a:srgbClr val="FF0000"/>
                </a:solidFill>
                <a:latin typeface="+mn-ea"/>
                <a:ea typeface="+mn-ea"/>
              </a:rPr>
              <a:t>栈</a:t>
            </a:r>
            <a:r>
              <a:rPr kumimoji="1" lang="zh-CN" altLang="en-US" sz="2400" baseline="0" dirty="0">
                <a:latin typeface="+mn-ea"/>
                <a:ea typeface="+mn-ea"/>
              </a:rPr>
              <a:t>退出</a:t>
            </a:r>
            <a:r>
              <a:rPr kumimoji="1" lang="en-US" altLang="zh-CN" sz="2400" baseline="0" dirty="0">
                <a:latin typeface="+mn-ea"/>
                <a:ea typeface="+mn-ea"/>
              </a:rPr>
              <a:t>‘(’</a:t>
            </a:r>
            <a:r>
              <a:rPr kumimoji="1" lang="zh-CN" altLang="en-US" sz="2400" baseline="0" dirty="0">
                <a:latin typeface="+mn-ea"/>
                <a:ea typeface="+mn-ea"/>
              </a:rPr>
              <a:t>，对消括号，然后从中缀表达式</a:t>
            </a:r>
            <a:r>
              <a:rPr kumimoji="1" lang="zh-CN" altLang="en-US" sz="2400" dirty="0">
                <a:latin typeface="+mn-ea"/>
                <a:ea typeface="+mn-ea"/>
              </a:rPr>
              <a:t>读</a:t>
            </a:r>
            <a:r>
              <a:rPr kumimoji="1" lang="zh-CN" altLang="en-US" sz="2400" baseline="0" dirty="0">
                <a:latin typeface="+mn-ea"/>
                <a:ea typeface="+mn-ea"/>
              </a:rPr>
              <a:t>下一字符入 </a:t>
            </a:r>
            <a:r>
              <a:rPr kumimoji="1" lang="en-US" altLang="zh-CN" sz="2400" baseline="0" dirty="0" err="1">
                <a:latin typeface="+mn-ea"/>
                <a:ea typeface="+mn-ea"/>
              </a:rPr>
              <a:t>ch</a:t>
            </a:r>
            <a:r>
              <a:rPr kumimoji="1" lang="zh-CN" altLang="en-US" sz="2400" baseline="0" dirty="0">
                <a:latin typeface="+mn-ea"/>
                <a:ea typeface="+mn-ea"/>
              </a:rPr>
              <a:t>；</a:t>
            </a:r>
          </a:p>
        </p:txBody>
      </p:sp>
    </p:spTree>
    <p:extLst>
      <p:ext uri="{BB962C8B-B14F-4D97-AF65-F5344CB8AC3E}">
        <p14:creationId xmlns:p14="http://schemas.microsoft.com/office/powerpoint/2010/main" val="2446109196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E507A9F-4139-46F8-A8CB-CFBE1B24BF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pt-BR" altLang="zh-CN" sz="2800" baseline="0" dirty="0">
                <a:latin typeface="+mn-ea"/>
                <a:ea typeface="+mn-ea"/>
              </a:rPr>
              <a:t>A + B * ( C - D ) - E / F</a:t>
            </a:r>
          </a:p>
        </p:txBody>
      </p:sp>
      <p:graphicFrame>
        <p:nvGraphicFramePr>
          <p:cNvPr id="7" name="Group 349">
            <a:extLst>
              <a:ext uri="{FF2B5EF4-FFF2-40B4-BE49-F238E27FC236}">
                <a16:creationId xmlns:a16="http://schemas.microsoft.com/office/drawing/2014/main" id="{4A802806-C2E5-4DB4-976A-AB6E7C7015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8993986"/>
              </p:ext>
            </p:extLst>
          </p:nvPr>
        </p:nvGraphicFramePr>
        <p:xfrm>
          <a:off x="216654" y="764704"/>
          <a:ext cx="8710692" cy="5934710"/>
        </p:xfrm>
        <a:graphic>
          <a:graphicData uri="http://schemas.openxmlformats.org/drawingml/2006/table">
            <a:tbl>
              <a:tblPr/>
              <a:tblGrid>
                <a:gridCol w="547586">
                  <a:extLst>
                    <a:ext uri="{9D8B030D-6E8A-4147-A177-3AD203B41FA5}">
                      <a16:colId xmlns:a16="http://schemas.microsoft.com/office/drawing/2014/main" val="139279513"/>
                    </a:ext>
                  </a:extLst>
                </a:gridCol>
                <a:gridCol w="932918">
                  <a:extLst>
                    <a:ext uri="{9D8B030D-6E8A-4147-A177-3AD203B41FA5}">
                      <a16:colId xmlns:a16="http://schemas.microsoft.com/office/drawing/2014/main" val="401863725"/>
                    </a:ext>
                  </a:extLst>
                </a:gridCol>
                <a:gridCol w="1375112">
                  <a:extLst>
                    <a:ext uri="{9D8B030D-6E8A-4147-A177-3AD203B41FA5}">
                      <a16:colId xmlns:a16="http://schemas.microsoft.com/office/drawing/2014/main" val="3547407069"/>
                    </a:ext>
                  </a:extLst>
                </a:gridCol>
                <a:gridCol w="1260263">
                  <a:extLst>
                    <a:ext uri="{9D8B030D-6E8A-4147-A177-3AD203B41FA5}">
                      <a16:colId xmlns:a16="http://schemas.microsoft.com/office/drawing/2014/main" val="1742762903"/>
                    </a:ext>
                  </a:extLst>
                </a:gridCol>
                <a:gridCol w="1111516">
                  <a:extLst>
                    <a:ext uri="{9D8B030D-6E8A-4147-A177-3AD203B41FA5}">
                      <a16:colId xmlns:a16="http://schemas.microsoft.com/office/drawing/2014/main" val="3534459644"/>
                    </a:ext>
                  </a:extLst>
                </a:gridCol>
                <a:gridCol w="3483297">
                  <a:extLst>
                    <a:ext uri="{9D8B030D-6E8A-4147-A177-3AD203B41FA5}">
                      <a16:colId xmlns:a16="http://schemas.microsoft.com/office/drawing/2014/main" val="814248488"/>
                    </a:ext>
                  </a:extLst>
                </a:gridCol>
              </a:tblGrid>
              <a:tr h="0"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步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R>
                    <a:lnT w="28575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T>
                    <a:lnB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输入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L>
                    <a:lnR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R>
                    <a:lnT w="28575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T>
                    <a:lnB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OPND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L>
                    <a:lnR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R>
                    <a:lnT w="28575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T>
                    <a:lnB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OPTR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L>
                    <a:lnR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R>
                    <a:lnT w="28575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T>
                    <a:lnB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语义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L>
                    <a:lnR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R>
                    <a:lnT w="28575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T>
                    <a:lnB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动作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L>
                    <a:lnR cap="flat">
                      <a:noFill/>
                    </a:lnR>
                    <a:lnT w="28575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T>
                    <a:lnB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5771759"/>
                  </a:ext>
                </a:extLst>
              </a:tr>
              <a:tr h="463550"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R>
                    <a:lnT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T>
                    <a:lnB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L>
                    <a:lnR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R>
                    <a:lnT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T>
                    <a:lnB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zh-CN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L>
                    <a:lnR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R>
                    <a:lnT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T>
                    <a:lnB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#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L>
                    <a:lnR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R>
                    <a:lnT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T>
                    <a:lnB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zh-CN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L>
                    <a:lnR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R>
                    <a:lnT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T>
                    <a:lnB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栈初始化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T>
                    <a:lnB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9895726"/>
                  </a:ext>
                </a:extLst>
              </a:tr>
              <a:tr h="533400"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R>
                    <a:lnT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T>
                    <a:lnB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L>
                    <a:lnR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R>
                    <a:lnT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T>
                    <a:lnB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L>
                    <a:lnR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R>
                    <a:lnT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T>
                    <a:lnB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#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L>
                    <a:lnR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R>
                    <a:lnT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T>
                    <a:lnB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L>
                    <a:lnR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R>
                    <a:lnT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T>
                    <a:lnB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操作数 </a:t>
                      </a: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A </a:t>
                      </a:r>
                      <a:r>
                        <a:rPr kumimoji="0" lang="zh-CN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进栈</a:t>
                      </a: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kumimoji="0" lang="zh-CN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读字符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T>
                    <a:lnB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31741635"/>
                  </a:ext>
                </a:extLst>
              </a:tr>
              <a:tr h="369888"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3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R>
                    <a:lnT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T>
                    <a:lnB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+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L>
                    <a:lnR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R>
                    <a:lnT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T>
                    <a:lnB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L>
                    <a:lnR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R>
                    <a:lnT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T>
                    <a:lnB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#+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L>
                    <a:lnR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R>
                    <a:lnT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T>
                    <a:lnB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+ &gt; #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L>
                    <a:lnR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R>
                    <a:lnT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T>
                    <a:lnB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操作符 </a:t>
                      </a: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+</a:t>
                      </a: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0" lang="zh-CN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进栈</a:t>
                      </a: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kumimoji="0" lang="zh-CN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读字符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T>
                    <a:lnB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1770665"/>
                  </a:ext>
                </a:extLst>
              </a:tr>
              <a:tr h="369888"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4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R>
                    <a:lnT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T>
                    <a:lnB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L>
                    <a:lnR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R>
                    <a:lnT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T>
                    <a:lnB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A 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L>
                    <a:lnR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R>
                    <a:lnT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T>
                    <a:lnB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#+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L>
                    <a:lnR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R>
                    <a:lnT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T>
                    <a:lnB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zh-CN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L>
                    <a:lnR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R>
                    <a:lnT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T>
                    <a:lnB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操作数 </a:t>
                      </a: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B </a:t>
                      </a:r>
                      <a:r>
                        <a:rPr kumimoji="0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进栈</a:t>
                      </a: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kumimoji="0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读字符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T>
                    <a:lnB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5038609"/>
                  </a:ext>
                </a:extLst>
              </a:tr>
              <a:tr h="368300"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5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R>
                    <a:lnT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T>
                    <a:lnB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*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L>
                    <a:lnR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R>
                    <a:lnT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T>
                    <a:lnB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A 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L>
                    <a:lnR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R>
                    <a:lnT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T>
                    <a:lnB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#+*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L>
                    <a:lnR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R>
                    <a:lnT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T>
                    <a:lnB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* &gt; +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L>
                    <a:lnR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R>
                    <a:lnT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T>
                    <a:lnB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操作符 </a:t>
                      </a:r>
                      <a:r>
                        <a:rPr kumimoji="0" lang="zh-CN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*</a:t>
                      </a:r>
                      <a:r>
                        <a:rPr kumimoji="0" lang="zh-CN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进栈</a:t>
                      </a: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kumimoji="0" lang="zh-CN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读字符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T>
                    <a:lnB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34328214"/>
                  </a:ext>
                </a:extLst>
              </a:tr>
              <a:tr h="420688"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6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R>
                    <a:lnT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T>
                    <a:lnB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L>
                    <a:lnR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R>
                    <a:lnT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T>
                    <a:lnB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A 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L>
                    <a:lnR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R>
                    <a:lnT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T>
                    <a:lnB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#+*(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L>
                    <a:lnR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R>
                    <a:lnT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T>
                    <a:lnB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( &gt; *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L>
                    <a:lnR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R>
                    <a:lnT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T>
                    <a:lnB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操作符 </a:t>
                      </a: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0" lang="zh-CN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进栈</a:t>
                      </a: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kumimoji="0" lang="zh-CN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读字符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T>
                    <a:lnB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55653998"/>
                  </a:ext>
                </a:extLst>
              </a:tr>
              <a:tr h="369888"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7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R>
                    <a:lnT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T>
                    <a:lnB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L>
                    <a:lnR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R>
                    <a:lnT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T>
                    <a:lnB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A B 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L>
                    <a:lnR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R>
                    <a:lnT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T>
                    <a:lnB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#+*(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L>
                    <a:lnR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R>
                    <a:lnT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T>
                    <a:lnB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zh-CN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L>
                    <a:lnR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R>
                    <a:lnT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T>
                    <a:lnB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操作数 </a:t>
                      </a: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C </a:t>
                      </a:r>
                      <a:r>
                        <a:rPr kumimoji="0" lang="zh-CN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进栈</a:t>
                      </a: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kumimoji="0" lang="zh-CN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读字符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T>
                    <a:lnB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19582840"/>
                  </a:ext>
                </a:extLst>
              </a:tr>
              <a:tr h="369888"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8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R>
                    <a:lnT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T>
                    <a:lnB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-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L>
                    <a:lnR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R>
                    <a:lnT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T>
                    <a:lnB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A B 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L>
                    <a:lnR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R>
                    <a:lnT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T>
                    <a:lnB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#+*(-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L>
                    <a:lnR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R>
                    <a:lnT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T>
                    <a:lnB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- &gt; (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L>
                    <a:lnR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R>
                    <a:lnT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T>
                    <a:lnB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操作符 </a:t>
                      </a: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-</a:t>
                      </a: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0" lang="zh-CN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进栈</a:t>
                      </a: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kumimoji="0" lang="zh-CN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读字符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T>
                    <a:lnB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160450"/>
                  </a:ext>
                </a:extLst>
              </a:tr>
              <a:tr h="368300"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9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R>
                    <a:lnT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T>
                    <a:lnB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L>
                    <a:lnR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R>
                    <a:lnT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T>
                    <a:lnB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A B C 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L>
                    <a:lnR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R>
                    <a:lnT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T>
                    <a:lnB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#+*(-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L>
                    <a:lnR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R>
                    <a:lnT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T>
                    <a:lnB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zh-CN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L>
                    <a:lnR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R>
                    <a:lnT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T>
                    <a:lnB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操作数 </a:t>
                      </a: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D </a:t>
                      </a:r>
                      <a:r>
                        <a:rPr kumimoji="0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进栈</a:t>
                      </a: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kumimoji="0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读字符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T>
                    <a:lnB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22522379"/>
                  </a:ext>
                </a:extLst>
              </a:tr>
              <a:tr h="369888"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10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R>
                    <a:lnT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T>
                    <a:lnB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L>
                    <a:lnR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R>
                    <a:lnT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T>
                    <a:lnB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AB r</a:t>
                      </a:r>
                      <a:r>
                        <a:rPr kumimoji="0" lang="en-US" altLang="zh-CN" sz="2400" b="0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L>
                    <a:lnR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R>
                    <a:lnT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T>
                    <a:lnB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#+*(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L>
                    <a:lnR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R>
                    <a:lnT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T>
                    <a:lnB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) &lt; -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L>
                    <a:lnR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R>
                    <a:lnT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T>
                    <a:lnB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D</a:t>
                      </a:r>
                      <a:r>
                        <a:rPr kumimoji="0" lang="zh-CN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、</a:t>
                      </a: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C</a:t>
                      </a:r>
                      <a:r>
                        <a:rPr kumimoji="0" lang="zh-CN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、</a:t>
                      </a: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  <a:r>
                        <a:rPr kumimoji="0" lang="zh-CN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退栈，</a:t>
                      </a:r>
                      <a:r>
                        <a:rPr kumimoji="0" lang="zh-CN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计算 </a:t>
                      </a: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C-D</a:t>
                      </a:r>
                      <a:r>
                        <a:rPr kumimoji="0" lang="zh-CN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，结果 </a:t>
                      </a: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r</a:t>
                      </a:r>
                      <a:r>
                        <a:rPr kumimoji="0" lang="en-US" altLang="zh-CN" sz="24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 </a:t>
                      </a:r>
                      <a:r>
                        <a:rPr kumimoji="0" lang="zh-CN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进栈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T>
                    <a:lnB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76167543"/>
                  </a:ext>
                </a:extLst>
              </a:tr>
              <a:tr h="369888"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11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R>
                    <a:lnT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T>
                    <a:lnB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zh-CN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L>
                    <a:lnR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R>
                    <a:lnT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T>
                    <a:lnB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A B r</a:t>
                      </a:r>
                      <a:r>
                        <a:rPr kumimoji="0" lang="en-US" altLang="zh-CN" sz="2400" b="0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L>
                    <a:lnR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R>
                    <a:lnT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T>
                    <a:lnB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#+*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L>
                    <a:lnR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R>
                    <a:lnT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T>
                    <a:lnB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) == (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L>
                    <a:lnR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R>
                    <a:lnT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T>
                    <a:lnB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( </a:t>
                      </a:r>
                      <a:r>
                        <a:rPr kumimoji="0" lang="zh-CN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退栈</a:t>
                      </a: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kumimoji="0" lang="zh-CN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消括号</a:t>
                      </a: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kumimoji="0" lang="zh-CN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读字符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T>
                    <a:lnB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82634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72138418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E507A9F-4139-46F8-A8CB-CFBE1B24BF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pt-BR" altLang="zh-CN" sz="2800" baseline="0" dirty="0">
                <a:latin typeface="+mn-ea"/>
                <a:ea typeface="+mn-ea"/>
              </a:rPr>
              <a:t>A + B * ( C - D ) - E / F</a:t>
            </a:r>
            <a:endParaRPr lang="zh-CN" altLang="en-US" dirty="0"/>
          </a:p>
        </p:txBody>
      </p:sp>
      <p:graphicFrame>
        <p:nvGraphicFramePr>
          <p:cNvPr id="5" name="Group 485">
            <a:extLst>
              <a:ext uri="{FF2B5EF4-FFF2-40B4-BE49-F238E27FC236}">
                <a16:creationId xmlns:a16="http://schemas.microsoft.com/office/drawing/2014/main" id="{1A77C6D3-931B-4796-A8E1-F2BCF5931CE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2716422"/>
              </p:ext>
            </p:extLst>
          </p:nvPr>
        </p:nvGraphicFramePr>
        <p:xfrm>
          <a:off x="273421" y="764704"/>
          <a:ext cx="8640637" cy="6069965"/>
        </p:xfrm>
        <a:graphic>
          <a:graphicData uri="http://schemas.openxmlformats.org/drawingml/2006/table">
            <a:tbl>
              <a:tblPr/>
              <a:tblGrid>
                <a:gridCol w="576063">
                  <a:extLst>
                    <a:ext uri="{9D8B030D-6E8A-4147-A177-3AD203B41FA5}">
                      <a16:colId xmlns:a16="http://schemas.microsoft.com/office/drawing/2014/main" val="2658311491"/>
                    </a:ext>
                  </a:extLst>
                </a:gridCol>
                <a:gridCol w="821353">
                  <a:extLst>
                    <a:ext uri="{9D8B030D-6E8A-4147-A177-3AD203B41FA5}">
                      <a16:colId xmlns:a16="http://schemas.microsoft.com/office/drawing/2014/main" val="1013402870"/>
                    </a:ext>
                  </a:extLst>
                </a:gridCol>
                <a:gridCol w="1176942">
                  <a:extLst>
                    <a:ext uri="{9D8B030D-6E8A-4147-A177-3AD203B41FA5}">
                      <a16:colId xmlns:a16="http://schemas.microsoft.com/office/drawing/2014/main" val="1382635197"/>
                    </a:ext>
                  </a:extLst>
                </a:gridCol>
                <a:gridCol w="1176942">
                  <a:extLst>
                    <a:ext uri="{9D8B030D-6E8A-4147-A177-3AD203B41FA5}">
                      <a16:colId xmlns:a16="http://schemas.microsoft.com/office/drawing/2014/main" val="4146923370"/>
                    </a:ext>
                  </a:extLst>
                </a:gridCol>
                <a:gridCol w="1123343">
                  <a:extLst>
                    <a:ext uri="{9D8B030D-6E8A-4147-A177-3AD203B41FA5}">
                      <a16:colId xmlns:a16="http://schemas.microsoft.com/office/drawing/2014/main" val="170836997"/>
                    </a:ext>
                  </a:extLst>
                </a:gridCol>
                <a:gridCol w="3765994">
                  <a:extLst>
                    <a:ext uri="{9D8B030D-6E8A-4147-A177-3AD203B41FA5}">
                      <a16:colId xmlns:a16="http://schemas.microsoft.com/office/drawing/2014/main" val="3093581561"/>
                    </a:ext>
                  </a:extLst>
                </a:gridCol>
              </a:tblGrid>
              <a:tr h="288925"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步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R>
                    <a:lnT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T>
                    <a:lnB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输入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L>
                    <a:lnR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R>
                    <a:lnT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T>
                    <a:lnB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OPND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L>
                    <a:lnR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R>
                    <a:lnT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T>
                    <a:lnB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OPTR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L>
                    <a:lnR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R>
                    <a:lnT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T>
                    <a:lnB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语义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L>
                    <a:lnR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R>
                    <a:lnT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T>
                    <a:lnB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动作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T>
                    <a:lnB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8131293"/>
                  </a:ext>
                </a:extLst>
              </a:tr>
              <a:tr h="450850"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12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R>
                    <a:lnT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T>
                    <a:lnB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-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L>
                    <a:lnR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R>
                    <a:lnT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T>
                    <a:lnB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A r</a:t>
                      </a:r>
                      <a:r>
                        <a:rPr kumimoji="0" lang="en-US" altLang="zh-CN" sz="2400" b="0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L>
                    <a:lnR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R>
                    <a:lnT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T>
                    <a:lnB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#+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L>
                    <a:lnR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R>
                    <a:lnT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T>
                    <a:lnB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- &lt; *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L>
                    <a:lnR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R>
                    <a:lnT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T>
                    <a:lnB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r</a:t>
                      </a:r>
                      <a:r>
                        <a:rPr kumimoji="0" lang="en-US" altLang="zh-CN" sz="24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  <a:r>
                        <a:rPr kumimoji="0" lang="zh-CN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、</a:t>
                      </a: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B</a:t>
                      </a:r>
                      <a:r>
                        <a:rPr kumimoji="0" lang="zh-CN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、* 退栈</a:t>
                      </a: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kumimoji="0" lang="zh-CN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计算 </a:t>
                      </a: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B*r</a:t>
                      </a:r>
                      <a:r>
                        <a:rPr kumimoji="0" lang="en-US" altLang="zh-CN" sz="2400" b="0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,</a:t>
                      </a:r>
                      <a:r>
                        <a:rPr kumimoji="0" lang="zh-CN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结果 </a:t>
                      </a: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r</a:t>
                      </a:r>
                      <a:r>
                        <a:rPr kumimoji="0" lang="en-US" altLang="zh-CN" sz="24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0" lang="zh-CN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进栈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T>
                    <a:lnB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2814004"/>
                  </a:ext>
                </a:extLst>
              </a:tr>
              <a:tr h="452438"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13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R>
                    <a:lnT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T>
                    <a:lnB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zh-CN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L>
                    <a:lnR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R>
                    <a:lnT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T>
                    <a:lnB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r</a:t>
                      </a:r>
                      <a:r>
                        <a:rPr kumimoji="0" lang="en-US" altLang="zh-CN" sz="2400" b="0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L>
                    <a:lnR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R>
                    <a:lnT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T>
                    <a:lnB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#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L>
                    <a:lnR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R>
                    <a:lnT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T>
                    <a:lnB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- &lt; +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L>
                    <a:lnR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R>
                    <a:lnT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T>
                    <a:lnB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r</a:t>
                      </a:r>
                      <a:r>
                        <a:rPr kumimoji="0" lang="en-US" altLang="zh-CN" sz="24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  <a:r>
                        <a:rPr kumimoji="0" lang="zh-CN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、</a:t>
                      </a: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A</a:t>
                      </a:r>
                      <a:r>
                        <a:rPr kumimoji="0" lang="zh-CN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、</a:t>
                      </a: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+ </a:t>
                      </a:r>
                      <a:r>
                        <a:rPr kumimoji="0" lang="zh-CN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退栈</a:t>
                      </a: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kumimoji="0" lang="zh-CN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计算 </a:t>
                      </a: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A+r</a:t>
                      </a:r>
                      <a:r>
                        <a:rPr kumimoji="0" lang="en-US" altLang="zh-CN" sz="2400" b="0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kumimoji="0" lang="zh-CN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结果 </a:t>
                      </a: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r</a:t>
                      </a:r>
                      <a:r>
                        <a:rPr kumimoji="0" lang="en-US" altLang="zh-CN" sz="24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3</a:t>
                      </a: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0" lang="zh-CN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进栈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T>
                    <a:lnB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5094789"/>
                  </a:ext>
                </a:extLst>
              </a:tr>
              <a:tr h="450850"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14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R>
                    <a:lnT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T>
                    <a:lnB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zh-CN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L>
                    <a:lnR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R>
                    <a:lnT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T>
                    <a:lnB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r</a:t>
                      </a:r>
                      <a:r>
                        <a:rPr kumimoji="0" lang="en-US" altLang="zh-CN" sz="2400" b="0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L>
                    <a:lnR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R>
                    <a:lnT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T>
                    <a:lnB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#-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L>
                    <a:lnR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R>
                    <a:lnT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T>
                    <a:lnB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- &gt; #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L>
                    <a:lnR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R>
                    <a:lnT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T>
                    <a:lnB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操作符 </a:t>
                      </a: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-</a:t>
                      </a: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0" lang="zh-CN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进栈</a:t>
                      </a: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kumimoji="0" lang="zh-CN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读字符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T>
                    <a:lnB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47438879"/>
                  </a:ext>
                </a:extLst>
              </a:tr>
              <a:tr h="492125"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15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R>
                    <a:lnT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T>
                    <a:lnB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L>
                    <a:lnR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R>
                    <a:lnT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T>
                    <a:lnB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r</a:t>
                      </a:r>
                      <a:r>
                        <a:rPr kumimoji="0" lang="en-US" altLang="zh-CN" sz="2400" b="0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3</a:t>
                      </a: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 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L>
                    <a:lnR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R>
                    <a:lnT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T>
                    <a:lnB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zh-CN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L>
                    <a:lnR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R>
                    <a:lnT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T>
                    <a:lnB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zh-CN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L>
                    <a:lnR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R>
                    <a:lnT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T>
                    <a:lnB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操作数 </a:t>
                      </a: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E </a:t>
                      </a:r>
                      <a:r>
                        <a:rPr kumimoji="0" lang="zh-CN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进栈</a:t>
                      </a: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kumimoji="0" lang="zh-CN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读字符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T>
                    <a:lnB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5623363"/>
                  </a:ext>
                </a:extLst>
              </a:tr>
              <a:tr h="450850"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16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R>
                    <a:lnT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T>
                    <a:lnB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/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L>
                    <a:lnR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R>
                    <a:lnT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T>
                    <a:lnB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r</a:t>
                      </a:r>
                      <a:r>
                        <a:rPr kumimoji="0" lang="en-US" altLang="zh-CN" sz="2400" b="0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3</a:t>
                      </a: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 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L>
                    <a:lnR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R>
                    <a:lnT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T>
                    <a:lnB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#-/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L>
                    <a:lnR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R>
                    <a:lnT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T>
                    <a:lnB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/ &gt; -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L>
                    <a:lnR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R>
                    <a:lnT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T>
                    <a:lnB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操作符 </a:t>
                      </a: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/</a:t>
                      </a: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0" lang="zh-CN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进栈</a:t>
                      </a: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kumimoji="0" lang="zh-CN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读字符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T>
                    <a:lnB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33913303"/>
                  </a:ext>
                </a:extLst>
              </a:tr>
              <a:tr h="452438"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17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R>
                    <a:lnT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T>
                    <a:lnB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L>
                    <a:lnR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R>
                    <a:lnT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T>
                    <a:lnB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r</a:t>
                      </a:r>
                      <a:r>
                        <a:rPr kumimoji="0" lang="en-US" altLang="zh-CN" sz="2400" b="0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3</a:t>
                      </a: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 E 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L>
                    <a:lnR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R>
                    <a:lnT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T>
                    <a:lnB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#-/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L>
                    <a:lnR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R>
                    <a:lnT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T>
                    <a:lnB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zh-CN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L>
                    <a:lnR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R>
                    <a:lnT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T>
                    <a:lnB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操作数 </a:t>
                      </a: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F </a:t>
                      </a:r>
                      <a:r>
                        <a:rPr kumimoji="0" lang="zh-CN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进栈</a:t>
                      </a: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kumimoji="0" lang="zh-CN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读字符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T>
                    <a:lnB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45758724"/>
                  </a:ext>
                </a:extLst>
              </a:tr>
              <a:tr h="452438"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18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R>
                    <a:lnT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T>
                    <a:lnB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#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L>
                    <a:lnR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R>
                    <a:lnT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T>
                    <a:lnB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r</a:t>
                      </a:r>
                      <a:r>
                        <a:rPr kumimoji="0" lang="en-US" altLang="zh-CN" sz="2400" b="0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3</a:t>
                      </a: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 r</a:t>
                      </a:r>
                      <a:r>
                        <a:rPr kumimoji="0" lang="en-US" altLang="zh-CN" sz="2400" b="0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L>
                    <a:lnR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R>
                    <a:lnT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T>
                    <a:lnB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#-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L>
                    <a:lnR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R>
                    <a:lnT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T>
                    <a:lnB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# &lt; /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L>
                    <a:lnR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R>
                    <a:lnT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T>
                    <a:lnB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F</a:t>
                      </a:r>
                      <a:r>
                        <a:rPr kumimoji="0" lang="zh-CN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、</a:t>
                      </a: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E</a:t>
                      </a:r>
                      <a:r>
                        <a:rPr kumimoji="0" lang="zh-CN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、</a:t>
                      </a: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/ </a:t>
                      </a:r>
                      <a:r>
                        <a:rPr kumimoji="0" lang="zh-CN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退栈</a:t>
                      </a: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kumimoji="0" lang="zh-CN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计算 </a:t>
                      </a: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E/F</a:t>
                      </a: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kumimoji="0" lang="zh-CN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结果 </a:t>
                      </a: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r</a:t>
                      </a:r>
                      <a:r>
                        <a:rPr kumimoji="0" lang="en-US" altLang="zh-CN" sz="24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4</a:t>
                      </a: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0" lang="zh-CN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进栈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T>
                    <a:lnB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79356610"/>
                  </a:ext>
                </a:extLst>
              </a:tr>
              <a:tr h="452438"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19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R>
                    <a:lnT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T>
                    <a:lnB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L>
                    <a:lnR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R>
                    <a:lnT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T>
                    <a:lnB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r</a:t>
                      </a:r>
                      <a:r>
                        <a:rPr kumimoji="0" lang="en-US" altLang="zh-CN" sz="2400" b="0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L>
                    <a:lnR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R>
                    <a:lnT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T>
                    <a:lnB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#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L>
                    <a:lnR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R>
                    <a:lnT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T>
                    <a:lnB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# &lt; -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L>
                    <a:lnR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R>
                    <a:lnT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T>
                    <a:lnB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r</a:t>
                      </a:r>
                      <a:r>
                        <a:rPr kumimoji="0" lang="en-US" altLang="zh-CN" sz="24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4</a:t>
                      </a:r>
                      <a:r>
                        <a:rPr kumimoji="0" lang="zh-CN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、</a:t>
                      </a: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r</a:t>
                      </a:r>
                      <a:r>
                        <a:rPr kumimoji="0" lang="en-US" altLang="zh-CN" sz="24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3</a:t>
                      </a:r>
                      <a:r>
                        <a:rPr kumimoji="0" lang="zh-CN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、</a:t>
                      </a: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  <a:r>
                        <a:rPr kumimoji="0" lang="zh-CN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退栈</a:t>
                      </a: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kumimoji="0" lang="zh-CN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计算 </a:t>
                      </a: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r</a:t>
                      </a:r>
                      <a:r>
                        <a:rPr kumimoji="0" lang="en-US" altLang="zh-CN" sz="2400" b="0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3</a:t>
                      </a: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-r</a:t>
                      </a:r>
                      <a:r>
                        <a:rPr kumimoji="0" lang="en-US" altLang="zh-CN" sz="2400" b="0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4</a:t>
                      </a: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kumimoji="0" lang="zh-CN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结果 </a:t>
                      </a: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r</a:t>
                      </a:r>
                      <a:r>
                        <a:rPr kumimoji="0" lang="en-US" altLang="zh-CN" sz="24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5</a:t>
                      </a: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0" lang="zh-CN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进栈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T>
                    <a:lnB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345771"/>
                  </a:ext>
                </a:extLst>
              </a:tr>
              <a:tr h="452438"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20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R>
                    <a:lnT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T>
                    <a:lnB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L>
                    <a:lnR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R>
                    <a:lnT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T>
                    <a:lnB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r</a:t>
                      </a:r>
                      <a:r>
                        <a:rPr kumimoji="0" lang="en-US" altLang="zh-CN" sz="2400" b="0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L>
                    <a:lnR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R>
                    <a:lnT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T>
                    <a:lnB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#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L>
                    <a:lnR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R>
                    <a:lnT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T>
                    <a:lnB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#==#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L>
                    <a:lnR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R>
                    <a:lnT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T>
                    <a:lnB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算法结束，</a:t>
                      </a: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结果在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OPND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T>
                    <a:lnB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lg" len="lg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552573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93631741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9" name="Text Box 56"/>
          <p:cNvSpPr txBox="1">
            <a:spLocks noChangeArrowheads="1"/>
          </p:cNvSpPr>
          <p:nvPr/>
        </p:nvSpPr>
        <p:spPr bwMode="auto">
          <a:xfrm>
            <a:off x="233046" y="764704"/>
            <a:ext cx="8640960" cy="6038641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txBody>
          <a:bodyPr wrap="squar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Microsoft YaHei"/>
                <a:cs typeface="+mn-ea"/>
                <a:sym typeface="+mn-lt"/>
              </a:rPr>
              <a:t>OperandType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Microsoft YaHei"/>
                <a:cs typeface="+mn-ea"/>
                <a:sym typeface="+mn-lt"/>
              </a:rPr>
              <a:t>  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Microsoft YaHei"/>
                <a:cs typeface="+mn-ea"/>
                <a:sym typeface="+mn-lt"/>
              </a:rPr>
              <a:t>EvaluateExpression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Microsoft YaHei"/>
                <a:cs typeface="+mn-ea"/>
                <a:sym typeface="+mn-lt"/>
              </a:rPr>
              <a:t> ( ) { </a:t>
            </a:r>
            <a:r>
              <a:rPr lang="en-US" altLang="zh-CN" sz="2000" b="0" dirty="0">
                <a:solidFill>
                  <a:srgbClr val="00B050"/>
                </a:solidFill>
                <a:latin typeface="+mn-lt"/>
                <a:ea typeface="Microsoft YaHei"/>
                <a:cs typeface="+mn-ea"/>
                <a:sym typeface="+mn-lt"/>
              </a:rPr>
              <a:t>//</a:t>
            </a:r>
            <a:r>
              <a:rPr lang="zh-CN" altLang="en-US" sz="2000" b="0" dirty="0">
                <a:solidFill>
                  <a:srgbClr val="00B050"/>
                </a:solidFill>
                <a:latin typeface="+mn-lt"/>
                <a:ea typeface="Microsoft YaHei"/>
                <a:cs typeface="+mn-ea"/>
                <a:sym typeface="+mn-lt"/>
              </a:rPr>
              <a:t> 计算中缀表达式的值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+mn-lt"/>
              <a:ea typeface="Microsoft YaHei"/>
              <a:cs typeface="+mn-ea"/>
              <a:sym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Microsoft YaHei"/>
                <a:cs typeface="+mn-ea"/>
                <a:sym typeface="+mn-lt"/>
              </a:rPr>
              <a:t>    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Microsoft YaHei"/>
                <a:cs typeface="+mn-ea"/>
                <a:sym typeface="+mn-lt"/>
              </a:rPr>
              <a:t>InitStack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Microsoft YaHei"/>
                <a:cs typeface="+mn-ea"/>
                <a:sym typeface="+mn-lt"/>
              </a:rPr>
              <a:t> (OPTR);   Push (OPTR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Microsoft YaHei"/>
                <a:cs typeface="+mn-ea"/>
                <a:sym typeface="+mn-lt"/>
              </a:rPr>
              <a:t>，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Microsoft YaHei"/>
                <a:cs typeface="+mn-ea"/>
                <a:sym typeface="+mn-lt"/>
              </a:rPr>
              <a:t>'#’) ;   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Microsoft YaHei"/>
                <a:cs typeface="+mn-ea"/>
                <a:sym typeface="+mn-lt"/>
              </a:rPr>
              <a:t>InitStack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Microsoft YaHei"/>
                <a:cs typeface="+mn-ea"/>
                <a:sym typeface="+mn-lt"/>
              </a:rPr>
              <a:t> (OPND);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Microsoft YaHei"/>
                <a:cs typeface="+mn-ea"/>
                <a:sym typeface="+mn-lt"/>
              </a:rPr>
              <a:t>    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Microsoft YaHei"/>
                <a:cs typeface="+mn-ea"/>
                <a:sym typeface="+mn-lt"/>
              </a:rPr>
              <a:t>ch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Microsoft YaHei"/>
                <a:cs typeface="+mn-ea"/>
                <a:sym typeface="+mn-lt"/>
              </a:rPr>
              <a:t> = getchar( );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Microsoft YaHei"/>
                <a:cs typeface="+mn-ea"/>
                <a:sym typeface="+mn-lt"/>
              </a:rPr>
              <a:t>    while (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Microsoft YaHei"/>
                <a:cs typeface="+mn-ea"/>
                <a:sym typeface="+mn-lt"/>
              </a:rPr>
              <a:t>ch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Microsoft YaHei"/>
                <a:cs typeface="+mn-ea"/>
                <a:sym typeface="+mn-lt"/>
              </a:rPr>
              <a:t>!= '#' || 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Microsoft YaHei"/>
                <a:cs typeface="+mn-ea"/>
                <a:sym typeface="+mn-lt"/>
              </a:rPr>
              <a:t>GetTop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Microsoft YaHei"/>
                <a:cs typeface="+mn-ea"/>
                <a:sym typeface="+mn-lt"/>
              </a:rPr>
              <a:t>(OPTR)! = '#'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Microsoft YaHei"/>
                <a:cs typeface="+mn-ea"/>
                <a:sym typeface="+mn-lt"/>
              </a:rPr>
              <a:t>) {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Microsoft YaHei"/>
                <a:cs typeface="+mn-ea"/>
                <a:sym typeface="+mn-lt"/>
              </a:rPr>
              <a:t>        if (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+mn-lt"/>
                <a:ea typeface="Microsoft YaHei"/>
                <a:cs typeface="+mn-ea"/>
                <a:sym typeface="+mn-lt"/>
              </a:rPr>
              <a:t>isdigit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Microsoft YaHei"/>
                <a:cs typeface="+mn-ea"/>
                <a:sym typeface="+mn-lt"/>
              </a:rPr>
              <a:t>(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+mn-lt"/>
                <a:ea typeface="Microsoft YaHei"/>
                <a:cs typeface="+mn-ea"/>
                <a:sym typeface="+mn-lt"/>
              </a:rPr>
              <a:t>ch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Microsoft YaHei"/>
                <a:cs typeface="+mn-ea"/>
                <a:sym typeface="+mn-lt"/>
              </a:rPr>
              <a:t>)) { 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Microsoft YaHei"/>
                <a:cs typeface="+mn-ea"/>
                <a:sym typeface="+mn-lt"/>
              </a:rPr>
              <a:t>Push(OPND, 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Microsoft YaHei"/>
                <a:cs typeface="+mn-ea"/>
                <a:sym typeface="+mn-lt"/>
              </a:rPr>
              <a:t>ch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Microsoft YaHei"/>
                <a:cs typeface="+mn-ea"/>
                <a:sym typeface="+mn-lt"/>
              </a:rPr>
              <a:t>); 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Microsoft YaHei"/>
                <a:cs typeface="+mn-ea"/>
                <a:sym typeface="+mn-lt"/>
              </a:rPr>
              <a:t>ch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Microsoft YaHei"/>
                <a:cs typeface="+mn-ea"/>
                <a:sym typeface="+mn-lt"/>
              </a:rPr>
              <a:t> = getchar(); }  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lt"/>
                <a:ea typeface="Microsoft YaHei"/>
                <a:cs typeface="+mn-ea"/>
                <a:sym typeface="+mn-lt"/>
              </a:rPr>
              <a:t>// 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lt"/>
                <a:ea typeface="Microsoft YaHei"/>
                <a:cs typeface="+mn-ea"/>
                <a:sym typeface="+mn-lt"/>
              </a:rPr>
              <a:t>ch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lt"/>
                <a:ea typeface="Microsoft YaHei"/>
                <a:cs typeface="+mn-ea"/>
                <a:sym typeface="+mn-lt"/>
              </a:rPr>
              <a:t>是</a:t>
            </a:r>
            <a:r>
              <a:rPr lang="zh-CN" altLang="en-US" sz="2000" b="0" dirty="0">
                <a:solidFill>
                  <a:srgbClr val="00B050"/>
                </a:solidFill>
                <a:latin typeface="+mn-lt"/>
                <a:ea typeface="Microsoft YaHei"/>
                <a:cs typeface="+mn-ea"/>
                <a:sym typeface="+mn-lt"/>
              </a:rPr>
              <a:t>操作数</a:t>
            </a:r>
            <a:endParaRPr lang="en-US" altLang="zh-CN" sz="2000" b="0" dirty="0">
              <a:solidFill>
                <a:srgbClr val="00B050"/>
              </a:solidFill>
              <a:latin typeface="+mn-lt"/>
              <a:ea typeface="Microsoft YaHei"/>
              <a:cs typeface="+mn-ea"/>
              <a:sym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Microsoft YaHei"/>
                <a:cs typeface="+mn-ea"/>
                <a:sym typeface="+mn-lt"/>
              </a:rPr>
              <a:t>        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Microsoft YaHei"/>
                <a:cs typeface="+mn-ea"/>
                <a:sym typeface="+mn-lt"/>
              </a:rPr>
              <a:t>else { op = 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Microsoft YaHei"/>
                <a:cs typeface="+mn-ea"/>
                <a:sym typeface="+mn-lt"/>
              </a:rPr>
              <a:t>GetTop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Microsoft YaHei"/>
                <a:cs typeface="+mn-ea"/>
                <a:sym typeface="+mn-lt"/>
              </a:rPr>
              <a:t>(OPTR);   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lt"/>
                <a:ea typeface="Microsoft YaHei"/>
                <a:cs typeface="+mn-ea"/>
                <a:sym typeface="+mn-lt"/>
              </a:rPr>
              <a:t>//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lt"/>
                <a:ea typeface="Microsoft YaHei"/>
                <a:cs typeface="+mn-ea"/>
                <a:sym typeface="+mn-lt"/>
              </a:rPr>
              <a:t>读操作符栈顶的操作符 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+mn-lt"/>
              <a:ea typeface="Microsoft YaHei"/>
              <a:cs typeface="+mn-ea"/>
              <a:sym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Microsoft YaHei"/>
                <a:cs typeface="+mn-ea"/>
                <a:sym typeface="+mn-lt"/>
              </a:rPr>
              <a:t>                  if (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Microsoft YaHei"/>
                <a:cs typeface="+mn-ea"/>
                <a:sym typeface="+mn-lt"/>
              </a:rPr>
              <a:t>icp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Microsoft YaHei"/>
                <a:cs typeface="+mn-ea"/>
                <a:sym typeface="+mn-lt"/>
              </a:rPr>
              <a:t>(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Microsoft YaHei"/>
                <a:cs typeface="+mn-ea"/>
                <a:sym typeface="+mn-lt"/>
              </a:rPr>
              <a:t>ch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Microsoft YaHei"/>
                <a:cs typeface="+mn-ea"/>
                <a:sym typeface="+mn-lt"/>
              </a:rPr>
              <a:t>) &gt; 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Microsoft YaHei"/>
                <a:cs typeface="+mn-ea"/>
                <a:sym typeface="+mn-lt"/>
              </a:rPr>
              <a:t>isp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Microsoft YaHei"/>
                <a:cs typeface="+mn-ea"/>
                <a:sym typeface="+mn-lt"/>
              </a:rPr>
              <a:t>(op)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Microsoft YaHei"/>
                <a:cs typeface="+mn-ea"/>
                <a:sym typeface="+mn-lt"/>
              </a:rPr>
              <a:t>) { 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Microsoft YaHei"/>
                <a:cs typeface="+mn-ea"/>
                <a:sym typeface="+mn-lt"/>
              </a:rPr>
              <a:t>Push(OPTR</a:t>
            </a:r>
            <a:r>
              <a:rPr lang="en-US" altLang="zh-CN" sz="2000" b="0" dirty="0">
                <a:solidFill>
                  <a:srgbClr val="0000FF"/>
                </a:solidFill>
                <a:latin typeface="+mn-lt"/>
                <a:ea typeface="Microsoft YaHei"/>
                <a:cs typeface="+mn-ea"/>
                <a:sym typeface="+mn-lt"/>
              </a:rPr>
              <a:t>,</a:t>
            </a:r>
            <a:r>
              <a:rPr lang="zh-CN" altLang="en-US" sz="2000" b="0" dirty="0">
                <a:solidFill>
                  <a:srgbClr val="0000FF"/>
                </a:solidFill>
                <a:latin typeface="+mn-lt"/>
                <a:ea typeface="Microsoft YaHei"/>
                <a:cs typeface="+mn-ea"/>
                <a:sym typeface="+mn-lt"/>
              </a:rPr>
              <a:t> 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Microsoft YaHei"/>
                <a:cs typeface="+mn-ea"/>
                <a:sym typeface="+mn-lt"/>
              </a:rPr>
              <a:t>ch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Microsoft YaHei"/>
                <a:cs typeface="+mn-ea"/>
                <a:sym typeface="+mn-lt"/>
              </a:rPr>
              <a:t>); 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Microsoft YaHei"/>
                <a:cs typeface="+mn-ea"/>
                <a:sym typeface="+mn-lt"/>
              </a:rPr>
              <a:t>ch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Microsoft YaHei"/>
                <a:cs typeface="+mn-ea"/>
                <a:sym typeface="+mn-lt"/>
              </a:rPr>
              <a:t> = 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Microsoft YaHei"/>
                <a:cs typeface="+mn-ea"/>
                <a:sym typeface="+mn-lt"/>
              </a:rPr>
              <a:t>getchar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Microsoft YaHei"/>
                <a:cs typeface="+mn-ea"/>
                <a:sym typeface="+mn-lt"/>
              </a:rPr>
              <a:t>( ); }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altLang="zh-CN" sz="2000" b="0" dirty="0">
                <a:solidFill>
                  <a:srgbClr val="000000"/>
                </a:solidFill>
                <a:latin typeface="+mn-lt"/>
                <a:ea typeface="Microsoft YaHei"/>
                <a:cs typeface="+mn-ea"/>
                <a:sym typeface="+mn-lt"/>
              </a:rPr>
              <a:t>                  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Microsoft YaHei"/>
                <a:cs typeface="+mn-ea"/>
                <a:sym typeface="+mn-lt"/>
              </a:rPr>
              <a:t>else if (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Microsoft YaHei"/>
                <a:cs typeface="+mn-ea"/>
                <a:sym typeface="+mn-lt"/>
              </a:rPr>
              <a:t>icp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Microsoft YaHei"/>
                <a:cs typeface="+mn-ea"/>
                <a:sym typeface="+mn-lt"/>
              </a:rPr>
              <a:t>(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Microsoft YaHei"/>
                <a:cs typeface="+mn-ea"/>
                <a:sym typeface="+mn-lt"/>
              </a:rPr>
              <a:t>ch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Microsoft YaHei"/>
                <a:cs typeface="+mn-ea"/>
                <a:sym typeface="+mn-lt"/>
              </a:rPr>
              <a:t>) &lt; 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Microsoft YaHei"/>
                <a:cs typeface="+mn-ea"/>
                <a:sym typeface="+mn-lt"/>
              </a:rPr>
              <a:t>isp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Microsoft YaHei"/>
                <a:cs typeface="+mn-ea"/>
                <a:sym typeface="+mn-lt"/>
              </a:rPr>
              <a:t>(op)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Microsoft YaHei"/>
                <a:cs typeface="+mn-ea"/>
                <a:sym typeface="+mn-lt"/>
              </a:rPr>
              <a:t>) { 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Microsoft YaHei"/>
                <a:cs typeface="+mn-ea"/>
                <a:sym typeface="+mn-lt"/>
              </a:rPr>
              <a:t>Pop(OPTR, op);   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Microsoft YaHei"/>
                <a:cs typeface="+mn-ea"/>
                <a:sym typeface="+mn-lt"/>
              </a:rPr>
              <a:t>OPND.DoOperator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Microsoft YaHei"/>
                <a:cs typeface="+mn-ea"/>
                <a:sym typeface="+mn-lt"/>
              </a:rPr>
              <a:t>(op); }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+mn-lt"/>
              <a:ea typeface="Microsoft YaHei"/>
              <a:cs typeface="+mn-ea"/>
              <a:sym typeface="+mn-lt"/>
            </a:endParaRPr>
          </a:p>
          <a:p>
            <a:pPr>
              <a:lnSpc>
                <a:spcPct val="150000"/>
              </a:lnSpc>
              <a:spcBef>
                <a:spcPts val="0"/>
              </a:spcBef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Microsoft YaHei"/>
                <a:cs typeface="+mn-ea"/>
                <a:sym typeface="+mn-lt"/>
              </a:rPr>
              <a:t>                  else if (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Microsoft YaHei"/>
                <a:cs typeface="+mn-ea"/>
                <a:sym typeface="+mn-lt"/>
              </a:rPr>
              <a:t>ch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Microsoft YaHei"/>
                <a:cs typeface="+mn-ea"/>
                <a:sym typeface="+mn-lt"/>
              </a:rPr>
              <a:t> == ‘)’) { 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Microsoft YaHei"/>
                <a:cs typeface="+mn-ea"/>
                <a:sym typeface="+mn-lt"/>
              </a:rPr>
              <a:t>Pop(OPTR</a:t>
            </a:r>
            <a:r>
              <a:rPr lang="en-US" altLang="zh-CN" sz="2000" b="0" dirty="0">
                <a:solidFill>
                  <a:srgbClr val="0000FF"/>
                </a:solidFill>
                <a:latin typeface="+mn-lt"/>
                <a:ea typeface="Microsoft YaHei"/>
                <a:cs typeface="+mn-ea"/>
                <a:sym typeface="+mn-lt"/>
              </a:rPr>
              <a:t>,</a:t>
            </a:r>
            <a:r>
              <a:rPr lang="zh-CN" altLang="en-US" sz="2000" b="0" dirty="0">
                <a:solidFill>
                  <a:srgbClr val="0000FF"/>
                </a:solidFill>
                <a:latin typeface="+mn-lt"/>
                <a:ea typeface="Microsoft YaHei"/>
                <a:cs typeface="+mn-ea"/>
                <a:sym typeface="+mn-lt"/>
              </a:rPr>
              <a:t> 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Microsoft YaHei"/>
                <a:cs typeface="+mn-ea"/>
                <a:sym typeface="+mn-lt"/>
              </a:rPr>
              <a:t>op); 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Microsoft YaHei"/>
                <a:cs typeface="+mn-ea"/>
                <a:sym typeface="+mn-lt"/>
              </a:rPr>
              <a:t>ch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Microsoft YaHei"/>
                <a:cs typeface="+mn-ea"/>
                <a:sym typeface="+mn-lt"/>
              </a:rPr>
              <a:t> = 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Microsoft YaHei"/>
                <a:cs typeface="+mn-ea"/>
                <a:sym typeface="+mn-lt"/>
              </a:rPr>
              <a:t>getchar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Microsoft YaHei"/>
                <a:cs typeface="+mn-ea"/>
                <a:sym typeface="+mn-lt"/>
              </a:rPr>
              <a:t>( ); }  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lt"/>
                <a:ea typeface="Microsoft YaHei"/>
                <a:cs typeface="+mn-ea"/>
                <a:sym typeface="+mn-lt"/>
              </a:rPr>
              <a:t>//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lt"/>
                <a:ea typeface="Microsoft YaHei"/>
                <a:cs typeface="+mn-ea"/>
                <a:sym typeface="+mn-lt"/>
              </a:rPr>
              <a:t>优先级相等        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Microsoft YaHei"/>
                <a:cs typeface="+mn-ea"/>
                <a:sym typeface="+mn-lt"/>
              </a:rPr>
              <a:t>        } </a:t>
            </a:r>
            <a:r>
              <a:rPr lang="en-US" altLang="zh-CN" sz="2000" b="0" dirty="0">
                <a:solidFill>
                  <a:srgbClr val="00B050"/>
                </a:solidFill>
                <a:latin typeface="+mn-lt"/>
                <a:ea typeface="Microsoft YaHei"/>
                <a:cs typeface="+mn-ea"/>
                <a:sym typeface="+mn-lt"/>
              </a:rPr>
              <a:t>//</a:t>
            </a:r>
            <a:r>
              <a:rPr lang="zh-CN" altLang="en-US" sz="2000" b="0" dirty="0">
                <a:solidFill>
                  <a:srgbClr val="00B050"/>
                </a:solidFill>
                <a:latin typeface="+mn-lt"/>
                <a:ea typeface="Microsoft YaHei"/>
                <a:cs typeface="+mn-ea"/>
                <a:sym typeface="+mn-lt"/>
              </a:rPr>
              <a:t> </a:t>
            </a:r>
            <a:r>
              <a:rPr lang="en-US" altLang="zh-CN" sz="2000" b="0" dirty="0">
                <a:solidFill>
                  <a:srgbClr val="00B050"/>
                </a:solidFill>
                <a:latin typeface="+mn-lt"/>
                <a:ea typeface="Microsoft YaHei"/>
                <a:cs typeface="+mn-ea"/>
                <a:sym typeface="+mn-lt"/>
              </a:rPr>
              <a:t>else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lt"/>
                <a:ea typeface="Microsoft YaHei"/>
                <a:cs typeface="+mn-ea"/>
                <a:sym typeface="+mn-lt"/>
              </a:rPr>
              <a:t>   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altLang="zh-CN" sz="2000" b="0" dirty="0">
                <a:solidFill>
                  <a:srgbClr val="000000"/>
                </a:solidFill>
                <a:latin typeface="+mn-lt"/>
                <a:ea typeface="Microsoft YaHei"/>
                <a:cs typeface="+mn-ea"/>
                <a:sym typeface="+mn-lt"/>
              </a:rPr>
              <a:t>    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Microsoft YaHei"/>
                <a:cs typeface="+mn-ea"/>
                <a:sym typeface="+mn-lt"/>
              </a:rPr>
              <a:t>} 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lt"/>
                <a:ea typeface="Microsoft YaHei"/>
                <a:cs typeface="+mn-ea"/>
                <a:sym typeface="+mn-lt"/>
              </a:rPr>
              <a:t>// while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Microsoft YaHei"/>
                <a:cs typeface="+mn-ea"/>
                <a:sym typeface="+mn-lt"/>
              </a:rPr>
              <a:t>    return 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Microsoft YaHei"/>
                <a:cs typeface="+mn-ea"/>
                <a:sym typeface="+mn-lt"/>
              </a:rPr>
              <a:t>GetTop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Microsoft YaHei"/>
                <a:cs typeface="+mn-ea"/>
                <a:sym typeface="+mn-lt"/>
              </a:rPr>
              <a:t>(OPND);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Microsoft YaHei"/>
                <a:cs typeface="+mn-ea"/>
                <a:sym typeface="+mn-lt"/>
              </a:rPr>
              <a:t>} 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lt"/>
                <a:ea typeface="Microsoft YaHei"/>
                <a:cs typeface="+mn-ea"/>
                <a:sym typeface="+mn-lt"/>
              </a:rPr>
              <a:t>// 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lt"/>
                <a:ea typeface="Microsoft YaHei"/>
                <a:cs typeface="+mn-ea"/>
                <a:sym typeface="+mn-lt"/>
              </a:rPr>
              <a:t>EvaluateExpression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+mn-lt"/>
              <a:ea typeface="Microsoft YaHei"/>
              <a:cs typeface="+mn-ea"/>
              <a:sym typeface="+mn-lt"/>
            </a:endParaRPr>
          </a:p>
        </p:txBody>
      </p:sp>
      <p:sp>
        <p:nvSpPr>
          <p:cNvPr id="151556" name="Rectangle 154"/>
          <p:cNvSpPr txBox="1"/>
          <p:nvPr/>
        </p:nvSpPr>
        <p:spPr>
          <a:xfrm>
            <a:off x="827088" y="188913"/>
            <a:ext cx="4933950" cy="50378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indent="538480" algn="l" rtl="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2400" b="0">
                <a:solidFill>
                  <a:schemeClr val="tx1"/>
                </a:solidFill>
                <a:latin typeface="+mn-lt"/>
                <a:ea typeface="微软雅黑" panose="020B0503020204020204" pitchFamily="34" charset="-122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5pPr>
          </a:lstStyle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Times New Roman"/>
                <a:ea typeface="微软雅黑" panose="020B0503020204020204" pitchFamily="34" charset="-122"/>
                <a:cs typeface="+mn-cs"/>
                <a:sym typeface="+mn-lt"/>
              </a:rPr>
              <a:t>用中缀表示计算表达式的值</a:t>
            </a:r>
          </a:p>
        </p:txBody>
      </p:sp>
    </p:spTree>
    <p:extLst>
      <p:ext uri="{BB962C8B-B14F-4D97-AF65-F5344CB8AC3E}">
        <p14:creationId xmlns:p14="http://schemas.microsoft.com/office/powerpoint/2010/main" val="3237974859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898" name="Rectangle 2">
            <a:extLst>
              <a:ext uri="{FF2B5EF4-FFF2-40B4-BE49-F238E27FC236}">
                <a16:creationId xmlns:a16="http://schemas.microsoft.com/office/drawing/2014/main" id="{F844583F-16FA-49C0-A0B0-E3763633234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13098" y="200025"/>
            <a:ext cx="6985000" cy="564679"/>
          </a:xfrm>
        </p:spPr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</a:rPr>
              <a:t>栈的应用：递归</a:t>
            </a:r>
          </a:p>
        </p:txBody>
      </p:sp>
      <p:sp>
        <p:nvSpPr>
          <p:cNvPr id="336899" name="Rectangle 3">
            <a:extLst>
              <a:ext uri="{FF2B5EF4-FFF2-40B4-BE49-F238E27FC236}">
                <a16:creationId xmlns:a16="http://schemas.microsoft.com/office/drawing/2014/main" id="{5821EFD6-2272-43AB-8572-42C81C0720F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23528" y="836712"/>
            <a:ext cx="8496943" cy="5613301"/>
          </a:xfrm>
        </p:spPr>
        <p:txBody>
          <a:bodyPr/>
          <a:lstStyle/>
          <a:p>
            <a:pPr marL="0" indent="0">
              <a:buClr>
                <a:srgbClr val="800080"/>
              </a:buClr>
              <a:buSzPct val="50000"/>
              <a:buNone/>
            </a:pPr>
            <a:r>
              <a:rPr lang="zh-CN" altLang="en-US" dirty="0">
                <a:latin typeface="+mn-ea"/>
                <a:ea typeface="+mn-ea"/>
              </a:rPr>
              <a:t>若一个对象部分地包含它自己，或者用它自己给自己定义，则称这个</a:t>
            </a:r>
            <a:r>
              <a:rPr lang="zh-CN" altLang="en-US" dirty="0">
                <a:solidFill>
                  <a:srgbClr val="FF0000"/>
                </a:solidFill>
                <a:latin typeface="+mn-ea"/>
                <a:ea typeface="+mn-ea"/>
              </a:rPr>
              <a:t>对象是递归的</a:t>
            </a:r>
            <a:r>
              <a:rPr lang="zh-CN" altLang="en-US" dirty="0">
                <a:latin typeface="+mn-ea"/>
                <a:ea typeface="+mn-ea"/>
              </a:rPr>
              <a:t>；若一个过程直接地或间接地调用自己，则称这个</a:t>
            </a:r>
            <a:r>
              <a:rPr lang="zh-CN" altLang="en-US" dirty="0">
                <a:solidFill>
                  <a:srgbClr val="FF0000"/>
                </a:solidFill>
                <a:latin typeface="+mn-ea"/>
                <a:ea typeface="+mn-ea"/>
              </a:rPr>
              <a:t>过程是递归的</a:t>
            </a:r>
            <a:r>
              <a:rPr lang="zh-CN" altLang="en-US" dirty="0">
                <a:latin typeface="+mn-ea"/>
                <a:ea typeface="+mn-ea"/>
              </a:rPr>
              <a:t>。</a:t>
            </a:r>
            <a:endParaRPr lang="en-US" altLang="zh-CN" dirty="0">
              <a:latin typeface="+mn-ea"/>
              <a:ea typeface="+mn-ea"/>
            </a:endParaRPr>
          </a:p>
          <a:p>
            <a:pPr marL="0" indent="0">
              <a:buClr>
                <a:srgbClr val="800080"/>
              </a:buClr>
              <a:buSzPct val="50000"/>
              <a:buNone/>
            </a:pPr>
            <a:endParaRPr lang="zh-CN" altLang="en-US" dirty="0">
              <a:latin typeface="+mn-ea"/>
              <a:ea typeface="+mn-ea"/>
            </a:endParaRPr>
          </a:p>
          <a:p>
            <a:pPr>
              <a:buClr>
                <a:srgbClr val="800080"/>
              </a:buClr>
              <a:buSzPct val="50000"/>
              <a:buFont typeface="Wingdings" panose="05000000000000000000" pitchFamily="2" charset="2"/>
              <a:buChar char="l"/>
            </a:pPr>
            <a:r>
              <a:rPr lang="zh-CN" altLang="en-US" dirty="0">
                <a:latin typeface="+mn-ea"/>
                <a:ea typeface="+mn-ea"/>
              </a:rPr>
              <a:t>以下三种情况常常用到递归方法：</a:t>
            </a:r>
          </a:p>
          <a:p>
            <a:pPr marL="1008000" lvl="2" indent="-457200">
              <a:buClr>
                <a:srgbClr val="006600"/>
              </a:buClr>
              <a:buSzPct val="50000"/>
              <a:buFont typeface="Wingdings" panose="05000000000000000000" pitchFamily="2" charset="2"/>
              <a:buChar char="u"/>
            </a:pPr>
            <a:r>
              <a:rPr lang="zh-CN" altLang="en-US" sz="2800" dirty="0">
                <a:latin typeface="+mn-ea"/>
                <a:ea typeface="+mn-ea"/>
              </a:rPr>
              <a:t> </a:t>
            </a:r>
            <a:r>
              <a:rPr lang="zh-CN" altLang="en-US" sz="2800" dirty="0">
                <a:solidFill>
                  <a:srgbClr val="0000FF"/>
                </a:solidFill>
                <a:latin typeface="+mn-ea"/>
                <a:ea typeface="+mn-ea"/>
              </a:rPr>
              <a:t>定义</a:t>
            </a:r>
            <a:r>
              <a:rPr lang="zh-CN" altLang="en-US" sz="2800" dirty="0">
                <a:latin typeface="+mn-ea"/>
                <a:ea typeface="+mn-ea"/>
              </a:rPr>
              <a:t>是递归的</a:t>
            </a:r>
          </a:p>
          <a:p>
            <a:pPr marL="1008000" lvl="2" indent="-457200">
              <a:buClr>
                <a:srgbClr val="006600"/>
              </a:buClr>
              <a:buSzPct val="50000"/>
              <a:buFont typeface="Wingdings" panose="05000000000000000000" pitchFamily="2" charset="2"/>
              <a:buChar char="u"/>
            </a:pPr>
            <a:r>
              <a:rPr lang="zh-CN" altLang="en-US" sz="2800" dirty="0">
                <a:latin typeface="+mn-ea"/>
                <a:ea typeface="+mn-ea"/>
              </a:rPr>
              <a:t> </a:t>
            </a:r>
            <a:r>
              <a:rPr lang="zh-CN" altLang="en-US" sz="2800" dirty="0">
                <a:solidFill>
                  <a:srgbClr val="0000FF"/>
                </a:solidFill>
                <a:latin typeface="+mn-ea"/>
                <a:ea typeface="+mn-ea"/>
              </a:rPr>
              <a:t>数据结构</a:t>
            </a:r>
            <a:r>
              <a:rPr lang="zh-CN" altLang="en-US" sz="2800" dirty="0">
                <a:latin typeface="+mn-ea"/>
                <a:ea typeface="+mn-ea"/>
              </a:rPr>
              <a:t>是递归的</a:t>
            </a:r>
          </a:p>
          <a:p>
            <a:pPr marL="1008000" lvl="2" indent="-457200">
              <a:buClr>
                <a:srgbClr val="006600"/>
              </a:buClr>
              <a:buSzPct val="50000"/>
              <a:buFont typeface="Wingdings" panose="05000000000000000000" pitchFamily="2" charset="2"/>
              <a:buChar char="u"/>
            </a:pPr>
            <a:r>
              <a:rPr lang="zh-CN" altLang="en-US" sz="2800" dirty="0">
                <a:latin typeface="+mn-ea"/>
                <a:ea typeface="+mn-ea"/>
              </a:rPr>
              <a:t> </a:t>
            </a:r>
            <a:r>
              <a:rPr lang="zh-CN" altLang="en-US" sz="2800" dirty="0">
                <a:solidFill>
                  <a:srgbClr val="0000FF"/>
                </a:solidFill>
                <a:latin typeface="+mn-ea"/>
                <a:ea typeface="+mn-ea"/>
              </a:rPr>
              <a:t>问题的解法</a:t>
            </a:r>
            <a:r>
              <a:rPr lang="zh-CN" altLang="en-US" sz="2800" dirty="0">
                <a:latin typeface="+mn-ea"/>
                <a:ea typeface="+mn-ea"/>
              </a:rPr>
              <a:t>是递归的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26" name="Rectangle 6">
            <a:extLst>
              <a:ext uri="{FF2B5EF4-FFF2-40B4-BE49-F238E27FC236}">
                <a16:creationId xmlns:a16="http://schemas.microsoft.com/office/drawing/2014/main" id="{AA83B69C-AB65-4049-91A7-1E5BD3BD480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764704"/>
            <a:ext cx="8229600" cy="6093296"/>
          </a:xfrm>
        </p:spPr>
        <p:txBody>
          <a:bodyPr/>
          <a:lstStyle/>
          <a:p>
            <a:pPr marL="0" indent="0">
              <a:buClr>
                <a:srgbClr val="800080"/>
              </a:buClr>
              <a:buSzPct val="55000"/>
              <a:buNone/>
            </a:pPr>
            <a:r>
              <a:rPr kumimoji="1" lang="zh-CN" altLang="en-US" dirty="0">
                <a:latin typeface="+mn-ea"/>
                <a:ea typeface="+mn-ea"/>
              </a:rPr>
              <a:t>例如，阶乘函数（</a:t>
            </a:r>
            <a:r>
              <a:rPr kumimoji="1" lang="en-US" altLang="zh-CN" dirty="0">
                <a:latin typeface="+mn-ea"/>
                <a:ea typeface="+mn-ea"/>
              </a:rPr>
              <a:t>Factorial</a:t>
            </a:r>
            <a:r>
              <a:rPr kumimoji="1" lang="zh-CN" altLang="en-US" dirty="0">
                <a:latin typeface="+mn-ea"/>
                <a:ea typeface="+mn-ea"/>
              </a:rPr>
              <a:t>）：</a:t>
            </a:r>
            <a:endParaRPr kumimoji="1" lang="en-US" altLang="zh-CN" dirty="0">
              <a:latin typeface="+mn-ea"/>
              <a:ea typeface="+mn-ea"/>
            </a:endParaRPr>
          </a:p>
          <a:p>
            <a:pPr marL="0" indent="0">
              <a:buClr>
                <a:srgbClr val="800080"/>
              </a:buClr>
              <a:buSzPct val="55000"/>
              <a:buNone/>
            </a:pPr>
            <a:endParaRPr kumimoji="1" lang="en-US" altLang="zh-CN" dirty="0">
              <a:latin typeface="+mn-ea"/>
              <a:ea typeface="+mn-ea"/>
            </a:endParaRPr>
          </a:p>
          <a:p>
            <a:pPr marL="0" indent="0">
              <a:buClr>
                <a:srgbClr val="800080"/>
              </a:buClr>
              <a:buSzPct val="55000"/>
              <a:buNone/>
            </a:pPr>
            <a:endParaRPr kumimoji="1" lang="en-US" altLang="zh-CN" dirty="0">
              <a:latin typeface="+mn-ea"/>
              <a:ea typeface="+mn-ea"/>
            </a:endParaRPr>
          </a:p>
          <a:p>
            <a:pPr marL="0" indent="0">
              <a:buClr>
                <a:srgbClr val="800080"/>
              </a:buClr>
              <a:buSzPct val="55000"/>
              <a:buNone/>
            </a:pPr>
            <a:r>
              <a:rPr kumimoji="1" lang="zh-CN" altLang="en-US" dirty="0">
                <a:latin typeface="+mn-ea"/>
                <a:ea typeface="+mn-ea"/>
              </a:rPr>
              <a:t>求解阶乘函数的递归算法：</a:t>
            </a:r>
          </a:p>
          <a:p>
            <a:pPr marL="0" indent="0">
              <a:buNone/>
            </a:pPr>
            <a:r>
              <a:rPr kumimoji="1" lang="zh-CN" altLang="en-US" dirty="0">
                <a:latin typeface="+mn-lt"/>
                <a:ea typeface="+mn-ea"/>
              </a:rPr>
              <a:t>	</a:t>
            </a:r>
            <a:r>
              <a:rPr kumimoji="1" lang="en-US" altLang="zh-CN" dirty="0">
                <a:latin typeface="+mn-lt"/>
                <a:ea typeface="+mn-ea"/>
              </a:rPr>
              <a:t>long </a:t>
            </a:r>
            <a:r>
              <a:rPr kumimoji="1" lang="en-US" altLang="zh-CN" dirty="0">
                <a:solidFill>
                  <a:srgbClr val="FF0000"/>
                </a:solidFill>
                <a:latin typeface="+mn-lt"/>
                <a:ea typeface="+mn-ea"/>
              </a:rPr>
              <a:t>Fact </a:t>
            </a:r>
            <a:r>
              <a:rPr kumimoji="1" lang="en-US" altLang="zh-CN" dirty="0">
                <a:latin typeface="+mn-lt"/>
                <a:ea typeface="+mn-ea"/>
              </a:rPr>
              <a:t>(long n) {</a:t>
            </a:r>
          </a:p>
          <a:p>
            <a:pPr marL="0" indent="0">
              <a:buNone/>
            </a:pPr>
            <a:r>
              <a:rPr kumimoji="1" lang="en-US" altLang="zh-CN" dirty="0">
                <a:latin typeface="+mn-lt"/>
                <a:ea typeface="+mn-ea"/>
              </a:rPr>
              <a:t>    	    if (n &lt; 0) exit(0);</a:t>
            </a:r>
          </a:p>
          <a:p>
            <a:pPr marL="0" indent="0">
              <a:buNone/>
            </a:pPr>
            <a:r>
              <a:rPr kumimoji="1" lang="en-US" altLang="zh-CN" dirty="0">
                <a:latin typeface="+mn-lt"/>
                <a:ea typeface="+mn-ea"/>
              </a:rPr>
              <a:t>    	    if (n</a:t>
            </a:r>
            <a:r>
              <a:rPr kumimoji="1" lang="en-US" altLang="zh-CN" i="1" dirty="0">
                <a:latin typeface="+mn-lt"/>
                <a:ea typeface="+mn-ea"/>
              </a:rPr>
              <a:t> ==</a:t>
            </a:r>
            <a:r>
              <a:rPr kumimoji="1" lang="en-US" altLang="zh-CN" dirty="0">
                <a:latin typeface="+mn-lt"/>
                <a:ea typeface="+mn-ea"/>
              </a:rPr>
              <a:t> 0) return 1;</a:t>
            </a:r>
          </a:p>
          <a:p>
            <a:pPr marL="0" indent="0">
              <a:buNone/>
            </a:pPr>
            <a:r>
              <a:rPr kumimoji="1" lang="en-US" altLang="zh-CN" dirty="0">
                <a:latin typeface="+mn-lt"/>
                <a:ea typeface="+mn-ea"/>
              </a:rPr>
              <a:t>    	    else return n*</a:t>
            </a:r>
            <a:r>
              <a:rPr kumimoji="1" lang="en-US" altLang="zh-CN" dirty="0">
                <a:solidFill>
                  <a:srgbClr val="FF0000"/>
                </a:solidFill>
                <a:latin typeface="+mn-lt"/>
                <a:ea typeface="+mn-ea"/>
              </a:rPr>
              <a:t>Fact(n-1)</a:t>
            </a:r>
            <a:r>
              <a:rPr kumimoji="1" lang="en-US" altLang="zh-CN" dirty="0">
                <a:latin typeface="+mn-lt"/>
                <a:ea typeface="+mn-ea"/>
              </a:rPr>
              <a:t>;</a:t>
            </a:r>
          </a:p>
          <a:p>
            <a:pPr marL="0" indent="0">
              <a:buNone/>
            </a:pPr>
            <a:r>
              <a:rPr kumimoji="1" lang="en-US" altLang="zh-CN" dirty="0">
                <a:latin typeface="+mn-lt"/>
                <a:ea typeface="+mn-ea"/>
              </a:rPr>
              <a:t>	}</a:t>
            </a:r>
            <a:endParaRPr lang="en-US" altLang="zh-CN" dirty="0">
              <a:latin typeface="+mn-lt"/>
              <a:ea typeface="+mn-ea"/>
            </a:endParaRPr>
          </a:p>
        </p:txBody>
      </p:sp>
      <p:sp>
        <p:nvSpPr>
          <p:cNvPr id="337922" name="Rectangle 2">
            <a:extLst>
              <a:ext uri="{FF2B5EF4-FFF2-40B4-BE49-F238E27FC236}">
                <a16:creationId xmlns:a16="http://schemas.microsoft.com/office/drawing/2014/main" id="{E25D69E3-446B-4999-A5C5-C8D15DA8D87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63352" y="111919"/>
            <a:ext cx="3276600" cy="652786"/>
          </a:xfrm>
        </p:spPr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</a:rPr>
              <a:t>定义是递归的</a:t>
            </a:r>
          </a:p>
        </p:txBody>
      </p:sp>
      <p:graphicFrame>
        <p:nvGraphicFramePr>
          <p:cNvPr id="337925" name="Object 5">
            <a:extLst>
              <a:ext uri="{FF2B5EF4-FFF2-40B4-BE49-F238E27FC236}">
                <a16:creationId xmlns:a16="http://schemas.microsoft.com/office/drawing/2014/main" id="{99A0C235-82A8-4AAD-AB9F-1C250589B3A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45503718"/>
              </p:ext>
            </p:extLst>
          </p:nvPr>
        </p:nvGraphicFramePr>
        <p:xfrm>
          <a:off x="1907704" y="1484784"/>
          <a:ext cx="4464496" cy="11928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88" name="公式" r:id="rId3" imgW="1765080" imgH="482400" progId="Equation.3">
                  <p:embed/>
                </p:oleObj>
              </mc:Choice>
              <mc:Fallback>
                <p:oleObj name="公式" r:id="rId3" imgW="1765080" imgH="482400" progId="Equation.3">
                  <p:embed/>
                  <p:pic>
                    <p:nvPicPr>
                      <p:cNvPr id="337925" name="Object 5">
                        <a:extLst>
                          <a:ext uri="{FF2B5EF4-FFF2-40B4-BE49-F238E27FC236}">
                            <a16:creationId xmlns:a16="http://schemas.microsoft.com/office/drawing/2014/main" id="{99A0C235-82A8-4AAD-AB9F-1C250589B3A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7704" y="1484784"/>
                        <a:ext cx="4464496" cy="119280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946" name="Rectangle 2">
            <a:extLst>
              <a:ext uri="{FF2B5EF4-FFF2-40B4-BE49-F238E27FC236}">
                <a16:creationId xmlns:a16="http://schemas.microsoft.com/office/drawing/2014/main" id="{93BAA92F-74BF-4795-A7BC-CB7E90A7FAE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67120" y="231304"/>
            <a:ext cx="4933950" cy="533400"/>
          </a:xfrm>
        </p:spPr>
        <p:txBody>
          <a:bodyPr/>
          <a:lstStyle/>
          <a:p>
            <a:r>
              <a:rPr lang="zh-CN" altLang="en-US" dirty="0">
                <a:latin typeface="+mn-ea"/>
                <a:ea typeface="+mn-ea"/>
              </a:rPr>
              <a:t>求解阶乘 </a:t>
            </a:r>
            <a:r>
              <a:rPr lang="en-US" altLang="zh-CN" i="1" dirty="0">
                <a:latin typeface="+mn-ea"/>
                <a:ea typeface="+mn-ea"/>
              </a:rPr>
              <a:t>n</a:t>
            </a:r>
            <a:r>
              <a:rPr lang="en-US" altLang="zh-CN" dirty="0">
                <a:latin typeface="+mn-ea"/>
                <a:ea typeface="+mn-ea"/>
              </a:rPr>
              <a:t>! </a:t>
            </a:r>
            <a:r>
              <a:rPr lang="zh-CN" altLang="en-US" dirty="0">
                <a:latin typeface="+mn-ea"/>
                <a:ea typeface="+mn-ea"/>
              </a:rPr>
              <a:t>的过程</a:t>
            </a:r>
          </a:p>
        </p:txBody>
      </p:sp>
      <p:sp>
        <p:nvSpPr>
          <p:cNvPr id="338947" name="Rectangle 3">
            <a:extLst>
              <a:ext uri="{FF2B5EF4-FFF2-40B4-BE49-F238E27FC236}">
                <a16:creationId xmlns:a16="http://schemas.microsoft.com/office/drawing/2014/main" id="{9C1D2252-A5BB-4E78-A2DF-6E93EC310F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8800" y="1295400"/>
            <a:ext cx="5410200" cy="609600"/>
          </a:xfrm>
          <a:prstGeom prst="rect">
            <a:avLst/>
          </a:prstGeom>
          <a:gradFill rotWithShape="0">
            <a:gsLst>
              <a:gs pos="0">
                <a:srgbClr val="FFFFCC"/>
              </a:gs>
              <a:gs pos="100000">
                <a:srgbClr val="FFFFCC">
                  <a:gamma/>
                  <a:shade val="46275"/>
                  <a:invGamma/>
                </a:srgbClr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b="0">
              <a:latin typeface="+mn-ea"/>
              <a:ea typeface="+mn-ea"/>
            </a:endParaRPr>
          </a:p>
        </p:txBody>
      </p:sp>
      <p:sp>
        <p:nvSpPr>
          <p:cNvPr id="338948" name="Text Box 4">
            <a:extLst>
              <a:ext uri="{FF2B5EF4-FFF2-40B4-BE49-F238E27FC236}">
                <a16:creationId xmlns:a16="http://schemas.microsoft.com/office/drawing/2014/main" id="{B4B84326-EFF7-4DED-9091-F31D503018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43200" y="1295400"/>
            <a:ext cx="366553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kumimoji="1" lang="zh-CN" altLang="en-US" sz="2800" b="0" baseline="0" dirty="0">
                <a:effectLst>
                  <a:outerShdw blurRad="38100" dist="38100" dir="2700000" algn="tl">
                    <a:srgbClr val="C0C0C0"/>
                  </a:outerShdw>
                </a:effectLst>
                <a:latin typeface="+mn-ea"/>
                <a:ea typeface="+mn-ea"/>
              </a:rPr>
              <a:t>主程序</a:t>
            </a:r>
            <a:r>
              <a:rPr kumimoji="1" lang="zh-CN" altLang="en-US" sz="2800" b="0" baseline="0" dirty="0">
                <a:latin typeface="+mn-ea"/>
                <a:ea typeface="+mn-ea"/>
              </a:rPr>
              <a:t> </a:t>
            </a:r>
            <a:r>
              <a:rPr kumimoji="1" lang="en-US" altLang="zh-CN" sz="2800" b="0" baseline="0" dirty="0">
                <a:latin typeface="+mn-ea"/>
                <a:ea typeface="+mn-ea"/>
              </a:rPr>
              <a:t>main :</a:t>
            </a:r>
            <a:r>
              <a:rPr kumimoji="1" lang="en-US" altLang="zh-CN" sz="2800" b="0" baseline="0" dirty="0">
                <a:solidFill>
                  <a:schemeClr val="accent2"/>
                </a:solidFill>
                <a:latin typeface="+mn-ea"/>
                <a:ea typeface="+mn-ea"/>
              </a:rPr>
              <a:t> </a:t>
            </a:r>
            <a:r>
              <a:rPr kumimoji="1" lang="en-US" altLang="zh-CN" sz="2800" b="0" baseline="0" dirty="0">
                <a:latin typeface="+mn-ea"/>
                <a:ea typeface="+mn-ea"/>
              </a:rPr>
              <a:t>fact(4)</a:t>
            </a:r>
            <a:endParaRPr kumimoji="1" lang="en-US" altLang="zh-CN" sz="2400" b="0" baseline="0" dirty="0">
              <a:latin typeface="+mn-ea"/>
              <a:ea typeface="+mn-ea"/>
            </a:endParaRPr>
          </a:p>
        </p:txBody>
      </p:sp>
      <p:sp>
        <p:nvSpPr>
          <p:cNvPr id="338949" name="Rectangle 5">
            <a:extLst>
              <a:ext uri="{FF2B5EF4-FFF2-40B4-BE49-F238E27FC236}">
                <a16:creationId xmlns:a16="http://schemas.microsoft.com/office/drawing/2014/main" id="{7EE959B8-47E4-4753-B476-EE068EAA19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8800" y="2133600"/>
            <a:ext cx="5410200" cy="609600"/>
          </a:xfrm>
          <a:prstGeom prst="rect">
            <a:avLst/>
          </a:prstGeom>
          <a:gradFill rotWithShape="0">
            <a:gsLst>
              <a:gs pos="0">
                <a:srgbClr val="FFFFCC"/>
              </a:gs>
              <a:gs pos="100000">
                <a:srgbClr val="FFFFCC">
                  <a:gamma/>
                  <a:shade val="46275"/>
                  <a:invGamma/>
                </a:srgbClr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b="0">
              <a:latin typeface="+mn-ea"/>
              <a:ea typeface="+mn-ea"/>
            </a:endParaRPr>
          </a:p>
        </p:txBody>
      </p:sp>
      <p:sp>
        <p:nvSpPr>
          <p:cNvPr id="338950" name="Text Box 6">
            <a:extLst>
              <a:ext uri="{FF2B5EF4-FFF2-40B4-BE49-F238E27FC236}">
                <a16:creationId xmlns:a16="http://schemas.microsoft.com/office/drawing/2014/main" id="{9873C5CF-67BD-468A-BCDA-CEE865E3C7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5000" y="2209800"/>
            <a:ext cx="5259388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kumimoji="1" lang="zh-CN" altLang="en-US" sz="2800" b="0" baseline="0">
                <a:latin typeface="+mn-ea"/>
                <a:ea typeface="+mn-ea"/>
              </a:rPr>
              <a:t>参数 </a:t>
            </a:r>
            <a:r>
              <a:rPr kumimoji="1" lang="en-US" altLang="zh-CN" sz="2800" b="0" baseline="0">
                <a:latin typeface="+mn-ea"/>
                <a:ea typeface="+mn-ea"/>
              </a:rPr>
              <a:t>4    </a:t>
            </a:r>
            <a:r>
              <a:rPr kumimoji="1" lang="zh-CN" altLang="en-US" sz="2800" b="0" baseline="0">
                <a:latin typeface="+mn-ea"/>
                <a:ea typeface="+mn-ea"/>
              </a:rPr>
              <a:t>计算 </a:t>
            </a:r>
            <a:r>
              <a:rPr kumimoji="1" lang="en-US" altLang="zh-CN" sz="2800" b="0" baseline="0">
                <a:latin typeface="+mn-ea"/>
                <a:ea typeface="+mn-ea"/>
              </a:rPr>
              <a:t>4*fact(3)    </a:t>
            </a:r>
            <a:r>
              <a:rPr kumimoji="1" lang="zh-CN" altLang="en-US" sz="2800" b="0" baseline="0">
                <a:solidFill>
                  <a:srgbClr val="FFFFCC"/>
                </a:solidFill>
                <a:latin typeface="+mn-ea"/>
                <a:ea typeface="+mn-ea"/>
              </a:rPr>
              <a:t>返回 </a:t>
            </a:r>
            <a:r>
              <a:rPr kumimoji="1" lang="en-US" altLang="zh-CN" sz="2800" b="0" baseline="0">
                <a:solidFill>
                  <a:srgbClr val="FFFFCC"/>
                </a:solidFill>
                <a:latin typeface="+mn-ea"/>
                <a:ea typeface="+mn-ea"/>
              </a:rPr>
              <a:t>24</a:t>
            </a:r>
            <a:endParaRPr kumimoji="1" lang="en-US" altLang="zh-CN" sz="2400" b="0" baseline="0">
              <a:latin typeface="+mn-ea"/>
              <a:ea typeface="+mn-ea"/>
            </a:endParaRPr>
          </a:p>
        </p:txBody>
      </p:sp>
      <p:sp>
        <p:nvSpPr>
          <p:cNvPr id="338951" name="Line 7">
            <a:extLst>
              <a:ext uri="{FF2B5EF4-FFF2-40B4-BE49-F238E27FC236}">
                <a16:creationId xmlns:a16="http://schemas.microsoft.com/office/drawing/2014/main" id="{4EB85EBE-F91D-4627-9331-A9B4CFC164F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524000" y="1752600"/>
            <a:ext cx="304800" cy="0"/>
          </a:xfrm>
          <a:prstGeom prst="line">
            <a:avLst/>
          </a:prstGeom>
          <a:noFill/>
          <a:ln w="28575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b="0">
              <a:latin typeface="+mn-ea"/>
              <a:ea typeface="+mn-ea"/>
            </a:endParaRPr>
          </a:p>
        </p:txBody>
      </p:sp>
      <p:sp>
        <p:nvSpPr>
          <p:cNvPr id="338952" name="Line 8">
            <a:extLst>
              <a:ext uri="{FF2B5EF4-FFF2-40B4-BE49-F238E27FC236}">
                <a16:creationId xmlns:a16="http://schemas.microsoft.com/office/drawing/2014/main" id="{B018263A-0EE3-4260-A26F-D374CCCBB730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0" y="2286000"/>
            <a:ext cx="304800" cy="0"/>
          </a:xfrm>
          <a:prstGeom prst="line">
            <a:avLst/>
          </a:prstGeom>
          <a:noFill/>
          <a:ln w="28575">
            <a:solidFill>
              <a:schemeClr val="tx2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b="0">
              <a:latin typeface="+mn-ea"/>
              <a:ea typeface="+mn-ea"/>
            </a:endParaRPr>
          </a:p>
        </p:txBody>
      </p:sp>
      <p:sp>
        <p:nvSpPr>
          <p:cNvPr id="338953" name="Line 9">
            <a:extLst>
              <a:ext uri="{FF2B5EF4-FFF2-40B4-BE49-F238E27FC236}">
                <a16:creationId xmlns:a16="http://schemas.microsoft.com/office/drawing/2014/main" id="{4B56B287-DCD6-454D-B348-069B573D198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524000" y="1752600"/>
            <a:ext cx="0" cy="533400"/>
          </a:xfrm>
          <a:prstGeom prst="line">
            <a:avLst/>
          </a:prstGeom>
          <a:noFill/>
          <a:ln w="28575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b="0">
              <a:latin typeface="+mn-ea"/>
              <a:ea typeface="+mn-ea"/>
            </a:endParaRPr>
          </a:p>
        </p:txBody>
      </p:sp>
      <p:sp>
        <p:nvSpPr>
          <p:cNvPr id="338954" name="Line 10">
            <a:extLst>
              <a:ext uri="{FF2B5EF4-FFF2-40B4-BE49-F238E27FC236}">
                <a16:creationId xmlns:a16="http://schemas.microsoft.com/office/drawing/2014/main" id="{3F0CA8F7-660C-4BF2-A7AC-89130C73737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239000" y="2286000"/>
            <a:ext cx="304800" cy="0"/>
          </a:xfrm>
          <a:prstGeom prst="line">
            <a:avLst/>
          </a:prstGeom>
          <a:noFill/>
          <a:ln w="28575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b="0">
              <a:latin typeface="+mn-ea"/>
              <a:ea typeface="+mn-ea"/>
            </a:endParaRPr>
          </a:p>
        </p:txBody>
      </p:sp>
      <p:sp>
        <p:nvSpPr>
          <p:cNvPr id="338955" name="Line 11">
            <a:extLst>
              <a:ext uri="{FF2B5EF4-FFF2-40B4-BE49-F238E27FC236}">
                <a16:creationId xmlns:a16="http://schemas.microsoft.com/office/drawing/2014/main" id="{55DBC82A-2E3A-47D4-AC4D-557129291419}"/>
              </a:ext>
            </a:extLst>
          </p:cNvPr>
          <p:cNvSpPr>
            <a:spLocks noChangeShapeType="1"/>
          </p:cNvSpPr>
          <p:nvPr/>
        </p:nvSpPr>
        <p:spPr bwMode="auto">
          <a:xfrm>
            <a:off x="7239000" y="1752600"/>
            <a:ext cx="304800" cy="0"/>
          </a:xfrm>
          <a:prstGeom prst="line">
            <a:avLst/>
          </a:prstGeom>
          <a:noFill/>
          <a:ln w="28575">
            <a:solidFill>
              <a:schemeClr val="tx2"/>
            </a:solidFill>
            <a:round/>
            <a:headEnd type="triangle" w="med" len="lg"/>
            <a:tailEnd type="none"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b="0">
              <a:latin typeface="+mn-ea"/>
              <a:ea typeface="+mn-ea"/>
            </a:endParaRPr>
          </a:p>
        </p:txBody>
      </p:sp>
      <p:sp>
        <p:nvSpPr>
          <p:cNvPr id="338956" name="Line 12">
            <a:extLst>
              <a:ext uri="{FF2B5EF4-FFF2-40B4-BE49-F238E27FC236}">
                <a16:creationId xmlns:a16="http://schemas.microsoft.com/office/drawing/2014/main" id="{43A968D8-1BEE-4ABA-8A8E-9057855D985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543800" y="1752600"/>
            <a:ext cx="0" cy="533400"/>
          </a:xfrm>
          <a:prstGeom prst="line">
            <a:avLst/>
          </a:prstGeom>
          <a:noFill/>
          <a:ln w="28575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b="0">
              <a:latin typeface="+mn-ea"/>
              <a:ea typeface="+mn-ea"/>
            </a:endParaRPr>
          </a:p>
        </p:txBody>
      </p:sp>
      <p:sp>
        <p:nvSpPr>
          <p:cNvPr id="338957" name="Rectangle 13">
            <a:extLst>
              <a:ext uri="{FF2B5EF4-FFF2-40B4-BE49-F238E27FC236}">
                <a16:creationId xmlns:a16="http://schemas.microsoft.com/office/drawing/2014/main" id="{61AF6DF3-3175-4DF7-97C6-2126B73CDF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8800" y="2971800"/>
            <a:ext cx="5410200" cy="609600"/>
          </a:xfrm>
          <a:prstGeom prst="rect">
            <a:avLst/>
          </a:prstGeom>
          <a:gradFill rotWithShape="0">
            <a:gsLst>
              <a:gs pos="0">
                <a:srgbClr val="FFFFCC"/>
              </a:gs>
              <a:gs pos="100000">
                <a:srgbClr val="FFFFCC">
                  <a:gamma/>
                  <a:shade val="46275"/>
                  <a:invGamma/>
                </a:srgbClr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b="0">
              <a:latin typeface="+mn-ea"/>
              <a:ea typeface="+mn-ea"/>
            </a:endParaRPr>
          </a:p>
        </p:txBody>
      </p:sp>
      <p:sp>
        <p:nvSpPr>
          <p:cNvPr id="338958" name="Text Box 14">
            <a:extLst>
              <a:ext uri="{FF2B5EF4-FFF2-40B4-BE49-F238E27FC236}">
                <a16:creationId xmlns:a16="http://schemas.microsoft.com/office/drawing/2014/main" id="{2ED68185-AFC1-478E-82E0-0248FAA4A0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5000" y="3048000"/>
            <a:ext cx="5114925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kumimoji="1" lang="zh-CN" altLang="en-US" sz="2800" b="0" baseline="0">
                <a:latin typeface="+mn-ea"/>
                <a:ea typeface="+mn-ea"/>
              </a:rPr>
              <a:t>参数 </a:t>
            </a:r>
            <a:r>
              <a:rPr kumimoji="1" lang="en-US" altLang="zh-CN" sz="2800" b="0" baseline="0">
                <a:latin typeface="+mn-ea"/>
                <a:ea typeface="+mn-ea"/>
              </a:rPr>
              <a:t>3    </a:t>
            </a:r>
            <a:r>
              <a:rPr kumimoji="1" lang="zh-CN" altLang="en-US" sz="2800" b="0" baseline="0">
                <a:latin typeface="+mn-ea"/>
                <a:ea typeface="+mn-ea"/>
              </a:rPr>
              <a:t>计算 </a:t>
            </a:r>
            <a:r>
              <a:rPr kumimoji="1" lang="en-US" altLang="zh-CN" sz="2800" b="0" baseline="0">
                <a:latin typeface="+mn-ea"/>
                <a:ea typeface="+mn-ea"/>
              </a:rPr>
              <a:t>3*fact(2)    </a:t>
            </a:r>
            <a:r>
              <a:rPr kumimoji="1" lang="zh-CN" altLang="en-US" sz="2800" b="0" baseline="0">
                <a:solidFill>
                  <a:srgbClr val="FFFFCC"/>
                </a:solidFill>
                <a:latin typeface="+mn-ea"/>
                <a:ea typeface="+mn-ea"/>
              </a:rPr>
              <a:t>返回 </a:t>
            </a:r>
            <a:r>
              <a:rPr kumimoji="1" lang="en-US" altLang="zh-CN" sz="2800" b="0" baseline="0">
                <a:solidFill>
                  <a:srgbClr val="FFFFCC"/>
                </a:solidFill>
                <a:latin typeface="+mn-ea"/>
                <a:ea typeface="+mn-ea"/>
              </a:rPr>
              <a:t>6</a:t>
            </a:r>
            <a:endParaRPr kumimoji="1" lang="en-US" altLang="zh-CN" sz="2400" b="0" baseline="0">
              <a:latin typeface="+mn-ea"/>
              <a:ea typeface="+mn-ea"/>
            </a:endParaRPr>
          </a:p>
        </p:txBody>
      </p:sp>
      <p:sp>
        <p:nvSpPr>
          <p:cNvPr id="338959" name="Line 15">
            <a:extLst>
              <a:ext uri="{FF2B5EF4-FFF2-40B4-BE49-F238E27FC236}">
                <a16:creationId xmlns:a16="http://schemas.microsoft.com/office/drawing/2014/main" id="{0DA5555E-F36D-4B3E-ACC0-C0449722945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524000" y="2590800"/>
            <a:ext cx="304800" cy="0"/>
          </a:xfrm>
          <a:prstGeom prst="line">
            <a:avLst/>
          </a:prstGeom>
          <a:noFill/>
          <a:ln w="28575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b="0">
              <a:latin typeface="+mn-ea"/>
              <a:ea typeface="+mn-ea"/>
            </a:endParaRPr>
          </a:p>
        </p:txBody>
      </p:sp>
      <p:sp>
        <p:nvSpPr>
          <p:cNvPr id="338960" name="Line 16">
            <a:extLst>
              <a:ext uri="{FF2B5EF4-FFF2-40B4-BE49-F238E27FC236}">
                <a16:creationId xmlns:a16="http://schemas.microsoft.com/office/drawing/2014/main" id="{0173BAC4-C92A-46EC-B13C-914C51BC6EDD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0" y="3124200"/>
            <a:ext cx="304800" cy="0"/>
          </a:xfrm>
          <a:prstGeom prst="line">
            <a:avLst/>
          </a:prstGeom>
          <a:noFill/>
          <a:ln w="28575">
            <a:solidFill>
              <a:schemeClr val="tx2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b="0">
              <a:latin typeface="+mn-ea"/>
              <a:ea typeface="+mn-ea"/>
            </a:endParaRPr>
          </a:p>
        </p:txBody>
      </p:sp>
      <p:sp>
        <p:nvSpPr>
          <p:cNvPr id="338961" name="Line 17">
            <a:extLst>
              <a:ext uri="{FF2B5EF4-FFF2-40B4-BE49-F238E27FC236}">
                <a16:creationId xmlns:a16="http://schemas.microsoft.com/office/drawing/2014/main" id="{23A32022-5FD5-4AA7-B57E-E5203532AA1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524000" y="2590800"/>
            <a:ext cx="0" cy="533400"/>
          </a:xfrm>
          <a:prstGeom prst="line">
            <a:avLst/>
          </a:prstGeom>
          <a:noFill/>
          <a:ln w="28575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b="0">
              <a:latin typeface="+mn-ea"/>
              <a:ea typeface="+mn-ea"/>
            </a:endParaRPr>
          </a:p>
        </p:txBody>
      </p:sp>
      <p:sp>
        <p:nvSpPr>
          <p:cNvPr id="338962" name="Line 18">
            <a:extLst>
              <a:ext uri="{FF2B5EF4-FFF2-40B4-BE49-F238E27FC236}">
                <a16:creationId xmlns:a16="http://schemas.microsoft.com/office/drawing/2014/main" id="{4D34AAFC-22FC-43CA-9F90-0397EEEE8D6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239000" y="3124200"/>
            <a:ext cx="304800" cy="0"/>
          </a:xfrm>
          <a:prstGeom prst="line">
            <a:avLst/>
          </a:prstGeom>
          <a:noFill/>
          <a:ln w="28575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b="0">
              <a:latin typeface="+mn-ea"/>
              <a:ea typeface="+mn-ea"/>
            </a:endParaRPr>
          </a:p>
        </p:txBody>
      </p:sp>
      <p:sp>
        <p:nvSpPr>
          <p:cNvPr id="338963" name="Line 19">
            <a:extLst>
              <a:ext uri="{FF2B5EF4-FFF2-40B4-BE49-F238E27FC236}">
                <a16:creationId xmlns:a16="http://schemas.microsoft.com/office/drawing/2014/main" id="{B3880858-D02E-4208-8CBE-D6D848EAFD43}"/>
              </a:ext>
            </a:extLst>
          </p:cNvPr>
          <p:cNvSpPr>
            <a:spLocks noChangeShapeType="1"/>
          </p:cNvSpPr>
          <p:nvPr/>
        </p:nvSpPr>
        <p:spPr bwMode="auto">
          <a:xfrm>
            <a:off x="7239000" y="2590800"/>
            <a:ext cx="304800" cy="0"/>
          </a:xfrm>
          <a:prstGeom prst="line">
            <a:avLst/>
          </a:prstGeom>
          <a:noFill/>
          <a:ln w="28575">
            <a:solidFill>
              <a:schemeClr val="tx2"/>
            </a:solidFill>
            <a:round/>
            <a:headEnd type="triangle" w="med" len="lg"/>
            <a:tailEnd type="none"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b="0">
              <a:latin typeface="+mn-ea"/>
              <a:ea typeface="+mn-ea"/>
            </a:endParaRPr>
          </a:p>
        </p:txBody>
      </p:sp>
      <p:sp>
        <p:nvSpPr>
          <p:cNvPr id="338964" name="Line 20">
            <a:extLst>
              <a:ext uri="{FF2B5EF4-FFF2-40B4-BE49-F238E27FC236}">
                <a16:creationId xmlns:a16="http://schemas.microsoft.com/office/drawing/2014/main" id="{FBA368CA-D437-4DC8-8C78-2D4A8BA2B67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543800" y="2590800"/>
            <a:ext cx="0" cy="533400"/>
          </a:xfrm>
          <a:prstGeom prst="line">
            <a:avLst/>
          </a:prstGeom>
          <a:noFill/>
          <a:ln w="28575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b="0">
              <a:latin typeface="+mn-ea"/>
              <a:ea typeface="+mn-ea"/>
            </a:endParaRPr>
          </a:p>
        </p:txBody>
      </p:sp>
      <p:sp>
        <p:nvSpPr>
          <p:cNvPr id="338965" name="Rectangle 21">
            <a:extLst>
              <a:ext uri="{FF2B5EF4-FFF2-40B4-BE49-F238E27FC236}">
                <a16:creationId xmlns:a16="http://schemas.microsoft.com/office/drawing/2014/main" id="{097B10E2-8956-48DF-9D94-03182A0DB9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8800" y="3810000"/>
            <a:ext cx="5410200" cy="609600"/>
          </a:xfrm>
          <a:prstGeom prst="rect">
            <a:avLst/>
          </a:prstGeom>
          <a:gradFill rotWithShape="0">
            <a:gsLst>
              <a:gs pos="0">
                <a:srgbClr val="FFFFCC"/>
              </a:gs>
              <a:gs pos="100000">
                <a:srgbClr val="FFFFCC">
                  <a:gamma/>
                  <a:shade val="46275"/>
                  <a:invGamma/>
                </a:srgbClr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b="0">
              <a:latin typeface="+mn-ea"/>
              <a:ea typeface="+mn-ea"/>
            </a:endParaRPr>
          </a:p>
        </p:txBody>
      </p:sp>
      <p:sp>
        <p:nvSpPr>
          <p:cNvPr id="338966" name="Text Box 22">
            <a:extLst>
              <a:ext uri="{FF2B5EF4-FFF2-40B4-BE49-F238E27FC236}">
                <a16:creationId xmlns:a16="http://schemas.microsoft.com/office/drawing/2014/main" id="{D3BFF459-3ED5-4BF5-A89E-0A6CC5CADF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5000" y="3886200"/>
            <a:ext cx="5151438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kumimoji="1" lang="zh-CN" altLang="en-US" sz="2800" b="0" baseline="0" dirty="0">
                <a:latin typeface="+mn-ea"/>
                <a:ea typeface="+mn-ea"/>
              </a:rPr>
              <a:t>参数 </a:t>
            </a:r>
            <a:r>
              <a:rPr kumimoji="1" lang="en-US" altLang="zh-CN" sz="2800" b="0" baseline="0" dirty="0">
                <a:latin typeface="+mn-ea"/>
                <a:ea typeface="+mn-ea"/>
              </a:rPr>
              <a:t>2    </a:t>
            </a:r>
            <a:r>
              <a:rPr kumimoji="1" lang="zh-CN" altLang="en-US" sz="2800" b="0" baseline="0" dirty="0">
                <a:latin typeface="+mn-ea"/>
                <a:ea typeface="+mn-ea"/>
              </a:rPr>
              <a:t>计算 </a:t>
            </a:r>
            <a:r>
              <a:rPr kumimoji="1" lang="en-US" altLang="zh-CN" sz="2800" b="0" baseline="0" dirty="0">
                <a:latin typeface="+mn-ea"/>
                <a:ea typeface="+mn-ea"/>
              </a:rPr>
              <a:t>2*fact(1)    </a:t>
            </a:r>
            <a:r>
              <a:rPr kumimoji="1" lang="zh-CN" altLang="en-US" sz="2800" b="0" baseline="0" dirty="0">
                <a:solidFill>
                  <a:srgbClr val="FFFFCC"/>
                </a:solidFill>
                <a:latin typeface="+mn-ea"/>
                <a:ea typeface="+mn-ea"/>
              </a:rPr>
              <a:t>返回 </a:t>
            </a:r>
            <a:r>
              <a:rPr kumimoji="1" lang="en-US" altLang="zh-CN" sz="2800" b="0" baseline="0" dirty="0">
                <a:solidFill>
                  <a:srgbClr val="FFFFCC"/>
                </a:solidFill>
                <a:latin typeface="+mn-ea"/>
                <a:ea typeface="+mn-ea"/>
              </a:rPr>
              <a:t>2</a:t>
            </a:r>
            <a:endParaRPr kumimoji="1" lang="en-US" altLang="zh-CN" sz="2400" b="0" baseline="0" dirty="0">
              <a:latin typeface="+mn-ea"/>
              <a:ea typeface="+mn-ea"/>
            </a:endParaRPr>
          </a:p>
        </p:txBody>
      </p:sp>
      <p:sp>
        <p:nvSpPr>
          <p:cNvPr id="338967" name="Line 23">
            <a:extLst>
              <a:ext uri="{FF2B5EF4-FFF2-40B4-BE49-F238E27FC236}">
                <a16:creationId xmlns:a16="http://schemas.microsoft.com/office/drawing/2014/main" id="{C88F148F-82CB-4607-8BF4-BD91C62D5DF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524000" y="3429000"/>
            <a:ext cx="304800" cy="0"/>
          </a:xfrm>
          <a:prstGeom prst="line">
            <a:avLst/>
          </a:prstGeom>
          <a:noFill/>
          <a:ln w="28575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b="0">
              <a:latin typeface="+mn-ea"/>
              <a:ea typeface="+mn-ea"/>
            </a:endParaRPr>
          </a:p>
        </p:txBody>
      </p:sp>
      <p:sp>
        <p:nvSpPr>
          <p:cNvPr id="338968" name="Line 24">
            <a:extLst>
              <a:ext uri="{FF2B5EF4-FFF2-40B4-BE49-F238E27FC236}">
                <a16:creationId xmlns:a16="http://schemas.microsoft.com/office/drawing/2014/main" id="{85EFB6D5-5E10-429A-B212-A6090D600335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0" y="3962400"/>
            <a:ext cx="304800" cy="0"/>
          </a:xfrm>
          <a:prstGeom prst="line">
            <a:avLst/>
          </a:prstGeom>
          <a:noFill/>
          <a:ln w="28575">
            <a:solidFill>
              <a:schemeClr val="tx2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b="0">
              <a:latin typeface="+mn-ea"/>
              <a:ea typeface="+mn-ea"/>
            </a:endParaRPr>
          </a:p>
        </p:txBody>
      </p:sp>
      <p:sp>
        <p:nvSpPr>
          <p:cNvPr id="338969" name="Line 25">
            <a:extLst>
              <a:ext uri="{FF2B5EF4-FFF2-40B4-BE49-F238E27FC236}">
                <a16:creationId xmlns:a16="http://schemas.microsoft.com/office/drawing/2014/main" id="{2AB3EADB-0BE5-441C-A049-A2945755722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524000" y="3429000"/>
            <a:ext cx="0" cy="533400"/>
          </a:xfrm>
          <a:prstGeom prst="line">
            <a:avLst/>
          </a:prstGeom>
          <a:noFill/>
          <a:ln w="28575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b="0">
              <a:latin typeface="+mn-ea"/>
              <a:ea typeface="+mn-ea"/>
            </a:endParaRPr>
          </a:p>
        </p:txBody>
      </p:sp>
      <p:sp>
        <p:nvSpPr>
          <p:cNvPr id="338970" name="Line 26">
            <a:extLst>
              <a:ext uri="{FF2B5EF4-FFF2-40B4-BE49-F238E27FC236}">
                <a16:creationId xmlns:a16="http://schemas.microsoft.com/office/drawing/2014/main" id="{C2495D88-434A-48BA-A7CD-537B7F16AED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239000" y="3962400"/>
            <a:ext cx="304800" cy="0"/>
          </a:xfrm>
          <a:prstGeom prst="line">
            <a:avLst/>
          </a:prstGeom>
          <a:noFill/>
          <a:ln w="28575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b="0">
              <a:latin typeface="+mn-ea"/>
              <a:ea typeface="+mn-ea"/>
            </a:endParaRPr>
          </a:p>
        </p:txBody>
      </p:sp>
      <p:sp>
        <p:nvSpPr>
          <p:cNvPr id="338971" name="Line 27">
            <a:extLst>
              <a:ext uri="{FF2B5EF4-FFF2-40B4-BE49-F238E27FC236}">
                <a16:creationId xmlns:a16="http://schemas.microsoft.com/office/drawing/2014/main" id="{E81D6CB1-AE9C-4981-A9E5-711D7B164AAD}"/>
              </a:ext>
            </a:extLst>
          </p:cNvPr>
          <p:cNvSpPr>
            <a:spLocks noChangeShapeType="1"/>
          </p:cNvSpPr>
          <p:nvPr/>
        </p:nvSpPr>
        <p:spPr bwMode="auto">
          <a:xfrm>
            <a:off x="7239000" y="3429000"/>
            <a:ext cx="304800" cy="0"/>
          </a:xfrm>
          <a:prstGeom prst="line">
            <a:avLst/>
          </a:prstGeom>
          <a:noFill/>
          <a:ln w="28575">
            <a:solidFill>
              <a:schemeClr val="tx2"/>
            </a:solidFill>
            <a:round/>
            <a:headEnd type="triangle" w="med" len="lg"/>
            <a:tailEnd type="none"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b="0">
              <a:latin typeface="+mn-ea"/>
              <a:ea typeface="+mn-ea"/>
            </a:endParaRPr>
          </a:p>
        </p:txBody>
      </p:sp>
      <p:sp>
        <p:nvSpPr>
          <p:cNvPr id="338972" name="Line 28">
            <a:extLst>
              <a:ext uri="{FF2B5EF4-FFF2-40B4-BE49-F238E27FC236}">
                <a16:creationId xmlns:a16="http://schemas.microsoft.com/office/drawing/2014/main" id="{189BD1FC-AE22-4EBE-A436-5A6701515D7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543800" y="3429000"/>
            <a:ext cx="0" cy="533400"/>
          </a:xfrm>
          <a:prstGeom prst="line">
            <a:avLst/>
          </a:prstGeom>
          <a:noFill/>
          <a:ln w="28575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b="0">
              <a:latin typeface="+mn-ea"/>
              <a:ea typeface="+mn-ea"/>
            </a:endParaRPr>
          </a:p>
        </p:txBody>
      </p:sp>
      <p:sp>
        <p:nvSpPr>
          <p:cNvPr id="338973" name="Rectangle 29">
            <a:extLst>
              <a:ext uri="{FF2B5EF4-FFF2-40B4-BE49-F238E27FC236}">
                <a16:creationId xmlns:a16="http://schemas.microsoft.com/office/drawing/2014/main" id="{D261D0AE-5FE0-4DE5-BD0E-780BDB5768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8800" y="4648200"/>
            <a:ext cx="5410200" cy="609600"/>
          </a:xfrm>
          <a:prstGeom prst="rect">
            <a:avLst/>
          </a:prstGeom>
          <a:gradFill rotWithShape="0">
            <a:gsLst>
              <a:gs pos="0">
                <a:srgbClr val="FFFFCC"/>
              </a:gs>
              <a:gs pos="100000">
                <a:srgbClr val="FFFFCC">
                  <a:gamma/>
                  <a:shade val="46275"/>
                  <a:invGamma/>
                </a:srgbClr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b="0">
              <a:latin typeface="+mn-ea"/>
              <a:ea typeface="+mn-ea"/>
            </a:endParaRPr>
          </a:p>
        </p:txBody>
      </p:sp>
      <p:sp>
        <p:nvSpPr>
          <p:cNvPr id="338974" name="Text Box 30">
            <a:extLst>
              <a:ext uri="{FF2B5EF4-FFF2-40B4-BE49-F238E27FC236}">
                <a16:creationId xmlns:a16="http://schemas.microsoft.com/office/drawing/2014/main" id="{5448D1FD-C882-4105-A841-E5E2689384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5000" y="4724400"/>
            <a:ext cx="5067413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zh-CN" altLang="en-US" sz="2800" b="0" baseline="0" dirty="0">
                <a:latin typeface="+mn-ea"/>
                <a:ea typeface="+mn-ea"/>
              </a:rPr>
              <a:t>参数 </a:t>
            </a:r>
            <a:r>
              <a:rPr kumimoji="1" lang="en-US" altLang="zh-CN" sz="2800" b="0" baseline="0" dirty="0">
                <a:latin typeface="+mn-ea"/>
                <a:ea typeface="+mn-ea"/>
              </a:rPr>
              <a:t>1    </a:t>
            </a:r>
            <a:r>
              <a:rPr kumimoji="1" lang="zh-CN" altLang="en-US" sz="2800" b="0" baseline="0" dirty="0">
                <a:latin typeface="+mn-ea"/>
                <a:ea typeface="+mn-ea"/>
              </a:rPr>
              <a:t>计算 </a:t>
            </a:r>
            <a:r>
              <a:rPr kumimoji="1" lang="en-US" altLang="zh-CN" sz="2800" b="0" baseline="0" dirty="0">
                <a:latin typeface="+mn-ea"/>
                <a:ea typeface="+mn-ea"/>
              </a:rPr>
              <a:t>1*fact(0)    </a:t>
            </a:r>
            <a:r>
              <a:rPr kumimoji="1" lang="zh-CN" altLang="en-US" sz="2800" b="0" baseline="0" dirty="0">
                <a:solidFill>
                  <a:srgbClr val="FFFFCC"/>
                </a:solidFill>
                <a:latin typeface="+mn-ea"/>
                <a:ea typeface="+mn-ea"/>
              </a:rPr>
              <a:t>返回</a:t>
            </a:r>
            <a:endParaRPr kumimoji="1" lang="en-US" altLang="zh-CN" sz="2400" b="0" baseline="0" dirty="0">
              <a:latin typeface="+mn-ea"/>
              <a:ea typeface="+mn-ea"/>
            </a:endParaRPr>
          </a:p>
        </p:txBody>
      </p:sp>
      <p:sp>
        <p:nvSpPr>
          <p:cNvPr id="338975" name="Line 31">
            <a:extLst>
              <a:ext uri="{FF2B5EF4-FFF2-40B4-BE49-F238E27FC236}">
                <a16:creationId xmlns:a16="http://schemas.microsoft.com/office/drawing/2014/main" id="{B415F309-5506-4F50-972B-32C0509D633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524000" y="4267200"/>
            <a:ext cx="304800" cy="0"/>
          </a:xfrm>
          <a:prstGeom prst="line">
            <a:avLst/>
          </a:prstGeom>
          <a:noFill/>
          <a:ln w="28575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b="0">
              <a:latin typeface="+mn-ea"/>
              <a:ea typeface="+mn-ea"/>
            </a:endParaRPr>
          </a:p>
        </p:txBody>
      </p:sp>
      <p:sp>
        <p:nvSpPr>
          <p:cNvPr id="338976" name="Line 32">
            <a:extLst>
              <a:ext uri="{FF2B5EF4-FFF2-40B4-BE49-F238E27FC236}">
                <a16:creationId xmlns:a16="http://schemas.microsoft.com/office/drawing/2014/main" id="{5267E50F-5E34-4E56-B3F2-1F1130DC8CB1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0" y="4800600"/>
            <a:ext cx="304800" cy="0"/>
          </a:xfrm>
          <a:prstGeom prst="line">
            <a:avLst/>
          </a:prstGeom>
          <a:noFill/>
          <a:ln w="28575">
            <a:solidFill>
              <a:schemeClr val="tx2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b="0">
              <a:latin typeface="+mn-ea"/>
              <a:ea typeface="+mn-ea"/>
            </a:endParaRPr>
          </a:p>
        </p:txBody>
      </p:sp>
      <p:sp>
        <p:nvSpPr>
          <p:cNvPr id="338977" name="Line 33">
            <a:extLst>
              <a:ext uri="{FF2B5EF4-FFF2-40B4-BE49-F238E27FC236}">
                <a16:creationId xmlns:a16="http://schemas.microsoft.com/office/drawing/2014/main" id="{82C94077-1E3A-401A-BFD7-CD4A7B92A6D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524000" y="4267200"/>
            <a:ext cx="0" cy="533400"/>
          </a:xfrm>
          <a:prstGeom prst="line">
            <a:avLst/>
          </a:prstGeom>
          <a:noFill/>
          <a:ln w="28575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b="0">
              <a:latin typeface="+mn-ea"/>
              <a:ea typeface="+mn-ea"/>
            </a:endParaRPr>
          </a:p>
        </p:txBody>
      </p:sp>
      <p:sp>
        <p:nvSpPr>
          <p:cNvPr id="338978" name="Line 34">
            <a:extLst>
              <a:ext uri="{FF2B5EF4-FFF2-40B4-BE49-F238E27FC236}">
                <a16:creationId xmlns:a16="http://schemas.microsoft.com/office/drawing/2014/main" id="{82FADE4A-517E-44D5-AECB-B78E098A14F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239000" y="4800600"/>
            <a:ext cx="304800" cy="0"/>
          </a:xfrm>
          <a:prstGeom prst="line">
            <a:avLst/>
          </a:prstGeom>
          <a:noFill/>
          <a:ln w="28575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b="0">
              <a:latin typeface="+mn-ea"/>
              <a:ea typeface="+mn-ea"/>
            </a:endParaRPr>
          </a:p>
        </p:txBody>
      </p:sp>
      <p:sp>
        <p:nvSpPr>
          <p:cNvPr id="338979" name="Line 35">
            <a:extLst>
              <a:ext uri="{FF2B5EF4-FFF2-40B4-BE49-F238E27FC236}">
                <a16:creationId xmlns:a16="http://schemas.microsoft.com/office/drawing/2014/main" id="{9C55D833-FD0D-46A6-B175-44546AB7AFAF}"/>
              </a:ext>
            </a:extLst>
          </p:cNvPr>
          <p:cNvSpPr>
            <a:spLocks noChangeShapeType="1"/>
          </p:cNvSpPr>
          <p:nvPr/>
        </p:nvSpPr>
        <p:spPr bwMode="auto">
          <a:xfrm>
            <a:off x="7239000" y="4267200"/>
            <a:ext cx="304800" cy="0"/>
          </a:xfrm>
          <a:prstGeom prst="line">
            <a:avLst/>
          </a:prstGeom>
          <a:noFill/>
          <a:ln w="28575">
            <a:solidFill>
              <a:schemeClr val="tx2"/>
            </a:solidFill>
            <a:round/>
            <a:headEnd type="triangle" w="med" len="lg"/>
            <a:tailEnd type="none"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b="0">
              <a:latin typeface="+mn-ea"/>
              <a:ea typeface="+mn-ea"/>
            </a:endParaRPr>
          </a:p>
        </p:txBody>
      </p:sp>
      <p:sp>
        <p:nvSpPr>
          <p:cNvPr id="338980" name="Line 36">
            <a:extLst>
              <a:ext uri="{FF2B5EF4-FFF2-40B4-BE49-F238E27FC236}">
                <a16:creationId xmlns:a16="http://schemas.microsoft.com/office/drawing/2014/main" id="{7CF1B3CD-B921-43DA-BE34-EEB718B3D1E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543800" y="4267200"/>
            <a:ext cx="0" cy="533400"/>
          </a:xfrm>
          <a:prstGeom prst="line">
            <a:avLst/>
          </a:prstGeom>
          <a:noFill/>
          <a:ln w="28575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b="0">
              <a:latin typeface="+mn-ea"/>
              <a:ea typeface="+mn-ea"/>
            </a:endParaRPr>
          </a:p>
        </p:txBody>
      </p:sp>
      <p:sp>
        <p:nvSpPr>
          <p:cNvPr id="338981" name="Rectangle 37">
            <a:extLst>
              <a:ext uri="{FF2B5EF4-FFF2-40B4-BE49-F238E27FC236}">
                <a16:creationId xmlns:a16="http://schemas.microsoft.com/office/drawing/2014/main" id="{290ADC7E-0C06-4B7A-B259-B720D1F7F3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8800" y="5486400"/>
            <a:ext cx="5410200" cy="609600"/>
          </a:xfrm>
          <a:prstGeom prst="rect">
            <a:avLst/>
          </a:prstGeom>
          <a:gradFill rotWithShape="0">
            <a:gsLst>
              <a:gs pos="0">
                <a:srgbClr val="FFFFCC"/>
              </a:gs>
              <a:gs pos="100000">
                <a:srgbClr val="FFFFCC">
                  <a:gamma/>
                  <a:shade val="46275"/>
                  <a:invGamma/>
                </a:srgbClr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b="0">
              <a:latin typeface="+mn-ea"/>
              <a:ea typeface="+mn-ea"/>
            </a:endParaRPr>
          </a:p>
        </p:txBody>
      </p:sp>
      <p:sp>
        <p:nvSpPr>
          <p:cNvPr id="338982" name="Text Box 38">
            <a:extLst>
              <a:ext uri="{FF2B5EF4-FFF2-40B4-BE49-F238E27FC236}">
                <a16:creationId xmlns:a16="http://schemas.microsoft.com/office/drawing/2014/main" id="{7FBF5EF2-839B-43ED-8F27-6B96F3B5AE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5000" y="5562600"/>
            <a:ext cx="5187950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kumimoji="1" lang="zh-CN" altLang="en-US" sz="2800" b="0" baseline="0">
                <a:latin typeface="+mn-ea"/>
                <a:ea typeface="+mn-ea"/>
              </a:rPr>
              <a:t>参数 </a:t>
            </a:r>
            <a:r>
              <a:rPr kumimoji="1" lang="en-US" altLang="zh-CN" sz="2800" b="0" baseline="0">
                <a:latin typeface="+mn-ea"/>
                <a:ea typeface="+mn-ea"/>
              </a:rPr>
              <a:t>0    </a:t>
            </a:r>
            <a:r>
              <a:rPr kumimoji="1" lang="zh-CN" altLang="en-US" sz="2800" b="0" baseline="0">
                <a:latin typeface="+mn-ea"/>
                <a:ea typeface="+mn-ea"/>
              </a:rPr>
              <a:t>直接定值 </a:t>
            </a:r>
            <a:r>
              <a:rPr kumimoji="1" lang="en-US" altLang="zh-CN" sz="2800" b="0" baseline="0">
                <a:latin typeface="+mn-ea"/>
                <a:ea typeface="+mn-ea"/>
              </a:rPr>
              <a:t>= 1</a:t>
            </a:r>
            <a:r>
              <a:rPr kumimoji="1" lang="en-US" altLang="zh-CN" sz="2800" b="0" baseline="0">
                <a:solidFill>
                  <a:schemeClr val="accent2"/>
                </a:solidFill>
                <a:latin typeface="+mn-ea"/>
                <a:ea typeface="+mn-ea"/>
              </a:rPr>
              <a:t> </a:t>
            </a:r>
            <a:r>
              <a:rPr kumimoji="1" lang="en-US" altLang="en-US" sz="2800" b="0" baseline="0">
                <a:latin typeface="+mn-ea"/>
                <a:ea typeface="+mn-ea"/>
              </a:rPr>
              <a:t>    </a:t>
            </a:r>
            <a:r>
              <a:rPr kumimoji="1" lang="zh-CN" altLang="en-US" sz="2800" b="0" baseline="0">
                <a:solidFill>
                  <a:srgbClr val="FFFFCC"/>
                </a:solidFill>
                <a:latin typeface="+mn-ea"/>
                <a:ea typeface="+mn-ea"/>
              </a:rPr>
              <a:t>返回 </a:t>
            </a:r>
            <a:r>
              <a:rPr kumimoji="1" lang="en-US" altLang="zh-CN" sz="2800" b="0" baseline="0">
                <a:solidFill>
                  <a:srgbClr val="FFFFCC"/>
                </a:solidFill>
                <a:latin typeface="+mn-ea"/>
                <a:ea typeface="+mn-ea"/>
              </a:rPr>
              <a:t>1</a:t>
            </a:r>
            <a:endParaRPr kumimoji="1" lang="en-US" altLang="zh-CN" sz="2400" b="0" baseline="0">
              <a:latin typeface="+mn-ea"/>
              <a:ea typeface="+mn-ea"/>
            </a:endParaRPr>
          </a:p>
        </p:txBody>
      </p:sp>
      <p:sp>
        <p:nvSpPr>
          <p:cNvPr id="338983" name="Line 39">
            <a:extLst>
              <a:ext uri="{FF2B5EF4-FFF2-40B4-BE49-F238E27FC236}">
                <a16:creationId xmlns:a16="http://schemas.microsoft.com/office/drawing/2014/main" id="{6ABBBE67-8581-43C7-AF0E-681E1330DE1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524000" y="5105400"/>
            <a:ext cx="304800" cy="0"/>
          </a:xfrm>
          <a:prstGeom prst="line">
            <a:avLst/>
          </a:prstGeom>
          <a:noFill/>
          <a:ln w="28575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b="0">
              <a:latin typeface="+mn-ea"/>
              <a:ea typeface="+mn-ea"/>
            </a:endParaRPr>
          </a:p>
        </p:txBody>
      </p:sp>
      <p:sp>
        <p:nvSpPr>
          <p:cNvPr id="338984" name="Line 40">
            <a:extLst>
              <a:ext uri="{FF2B5EF4-FFF2-40B4-BE49-F238E27FC236}">
                <a16:creationId xmlns:a16="http://schemas.microsoft.com/office/drawing/2014/main" id="{61BA08B0-700C-443B-9EF4-DE4984B517E1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0" y="5638800"/>
            <a:ext cx="304800" cy="0"/>
          </a:xfrm>
          <a:prstGeom prst="line">
            <a:avLst/>
          </a:prstGeom>
          <a:noFill/>
          <a:ln w="28575">
            <a:solidFill>
              <a:schemeClr val="tx2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b="0">
              <a:latin typeface="+mn-ea"/>
              <a:ea typeface="+mn-ea"/>
            </a:endParaRPr>
          </a:p>
        </p:txBody>
      </p:sp>
      <p:sp>
        <p:nvSpPr>
          <p:cNvPr id="338985" name="Line 41">
            <a:extLst>
              <a:ext uri="{FF2B5EF4-FFF2-40B4-BE49-F238E27FC236}">
                <a16:creationId xmlns:a16="http://schemas.microsoft.com/office/drawing/2014/main" id="{381D7CC7-46A1-4045-9190-825E6AF3837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524000" y="5105400"/>
            <a:ext cx="0" cy="533400"/>
          </a:xfrm>
          <a:prstGeom prst="line">
            <a:avLst/>
          </a:prstGeom>
          <a:noFill/>
          <a:ln w="28575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b="0">
              <a:latin typeface="+mn-ea"/>
              <a:ea typeface="+mn-ea"/>
            </a:endParaRPr>
          </a:p>
        </p:txBody>
      </p:sp>
      <p:sp>
        <p:nvSpPr>
          <p:cNvPr id="338986" name="Line 42">
            <a:extLst>
              <a:ext uri="{FF2B5EF4-FFF2-40B4-BE49-F238E27FC236}">
                <a16:creationId xmlns:a16="http://schemas.microsoft.com/office/drawing/2014/main" id="{6EEE15DC-1F42-4D92-96B9-9E8EF063515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239000" y="5638800"/>
            <a:ext cx="304800" cy="0"/>
          </a:xfrm>
          <a:prstGeom prst="line">
            <a:avLst/>
          </a:prstGeom>
          <a:noFill/>
          <a:ln w="28575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b="0">
              <a:latin typeface="+mn-ea"/>
              <a:ea typeface="+mn-ea"/>
            </a:endParaRPr>
          </a:p>
        </p:txBody>
      </p:sp>
      <p:sp>
        <p:nvSpPr>
          <p:cNvPr id="338987" name="Line 43">
            <a:extLst>
              <a:ext uri="{FF2B5EF4-FFF2-40B4-BE49-F238E27FC236}">
                <a16:creationId xmlns:a16="http://schemas.microsoft.com/office/drawing/2014/main" id="{EB77DA25-9E8A-4E1C-A3B3-408817E4C267}"/>
              </a:ext>
            </a:extLst>
          </p:cNvPr>
          <p:cNvSpPr>
            <a:spLocks noChangeShapeType="1"/>
          </p:cNvSpPr>
          <p:nvPr/>
        </p:nvSpPr>
        <p:spPr bwMode="auto">
          <a:xfrm>
            <a:off x="7239000" y="5105400"/>
            <a:ext cx="304800" cy="0"/>
          </a:xfrm>
          <a:prstGeom prst="line">
            <a:avLst/>
          </a:prstGeom>
          <a:noFill/>
          <a:ln w="28575">
            <a:solidFill>
              <a:schemeClr val="tx2"/>
            </a:solidFill>
            <a:round/>
            <a:headEnd type="triangle" w="med" len="lg"/>
            <a:tailEnd type="none"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b="0">
              <a:latin typeface="+mn-ea"/>
              <a:ea typeface="+mn-ea"/>
            </a:endParaRPr>
          </a:p>
        </p:txBody>
      </p:sp>
      <p:sp>
        <p:nvSpPr>
          <p:cNvPr id="338988" name="Line 44">
            <a:extLst>
              <a:ext uri="{FF2B5EF4-FFF2-40B4-BE49-F238E27FC236}">
                <a16:creationId xmlns:a16="http://schemas.microsoft.com/office/drawing/2014/main" id="{0272B6CC-709F-4576-A6C9-50F56A9722B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543800" y="5105400"/>
            <a:ext cx="0" cy="533400"/>
          </a:xfrm>
          <a:prstGeom prst="line">
            <a:avLst/>
          </a:prstGeom>
          <a:noFill/>
          <a:ln w="28575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b="0">
              <a:latin typeface="+mn-ea"/>
              <a:ea typeface="+mn-ea"/>
            </a:endParaRPr>
          </a:p>
        </p:txBody>
      </p:sp>
      <p:sp>
        <p:nvSpPr>
          <p:cNvPr id="338989" name="Text Box 45">
            <a:extLst>
              <a:ext uri="{FF2B5EF4-FFF2-40B4-BE49-F238E27FC236}">
                <a16:creationId xmlns:a16="http://schemas.microsoft.com/office/drawing/2014/main" id="{516883FC-3189-44BE-B5B8-43CC995279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4725" y="2695575"/>
            <a:ext cx="625475" cy="1800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kumimoji="1" lang="zh-CN" altLang="en-US" sz="2800" b="0" baseline="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ea"/>
                <a:ea typeface="+mn-ea"/>
              </a:rPr>
              <a:t>参数传递</a:t>
            </a:r>
            <a:endParaRPr kumimoji="1" lang="zh-CN" altLang="en-US" sz="2400" b="0" baseline="0">
              <a:latin typeface="+mn-ea"/>
              <a:ea typeface="+mn-ea"/>
            </a:endParaRPr>
          </a:p>
        </p:txBody>
      </p:sp>
      <p:sp>
        <p:nvSpPr>
          <p:cNvPr id="338990" name="Text Box 46">
            <a:extLst>
              <a:ext uri="{FF2B5EF4-FFF2-40B4-BE49-F238E27FC236}">
                <a16:creationId xmlns:a16="http://schemas.microsoft.com/office/drawing/2014/main" id="{3881508A-D06B-413B-A060-454985F743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43800" y="2743200"/>
            <a:ext cx="549275" cy="1800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kumimoji="1" lang="zh-CN" altLang="en-US" sz="2800" b="0" baseline="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ea"/>
                <a:ea typeface="+mn-ea"/>
              </a:rPr>
              <a:t>结果返回</a:t>
            </a:r>
            <a:endParaRPr kumimoji="1" lang="zh-CN" altLang="en-US" sz="2400" b="0" baseline="0">
              <a:latin typeface="+mn-ea"/>
              <a:ea typeface="+mn-ea"/>
            </a:endParaRPr>
          </a:p>
        </p:txBody>
      </p:sp>
      <p:sp>
        <p:nvSpPr>
          <p:cNvPr id="338991" name="Line 47">
            <a:extLst>
              <a:ext uri="{FF2B5EF4-FFF2-40B4-BE49-F238E27FC236}">
                <a16:creationId xmlns:a16="http://schemas.microsoft.com/office/drawing/2014/main" id="{90C6F39D-A020-4464-8DD1-CE623B00E2BF}"/>
              </a:ext>
            </a:extLst>
          </p:cNvPr>
          <p:cNvSpPr>
            <a:spLocks noChangeShapeType="1"/>
          </p:cNvSpPr>
          <p:nvPr/>
        </p:nvSpPr>
        <p:spPr bwMode="auto">
          <a:xfrm>
            <a:off x="990600" y="1752600"/>
            <a:ext cx="0" cy="396240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 type="triangle" w="lg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b="0">
              <a:latin typeface="+mn-ea"/>
              <a:ea typeface="+mn-ea"/>
            </a:endParaRPr>
          </a:p>
        </p:txBody>
      </p:sp>
      <p:sp>
        <p:nvSpPr>
          <p:cNvPr id="338992" name="Text Box 48">
            <a:extLst>
              <a:ext uri="{FF2B5EF4-FFF2-40B4-BE49-F238E27FC236}">
                <a16:creationId xmlns:a16="http://schemas.microsoft.com/office/drawing/2014/main" id="{BBA7CFBC-C99D-40B1-BA31-7E905BB70E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1325" y="2695575"/>
            <a:ext cx="625475" cy="1800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kumimoji="1" lang="zh-CN" altLang="en-US" sz="2800" b="0" baseline="0" dirty="0">
                <a:effectLst>
                  <a:outerShdw blurRad="38100" dist="38100" dir="2700000" algn="tl">
                    <a:srgbClr val="C0C0C0"/>
                  </a:outerShdw>
                </a:effectLst>
                <a:latin typeface="+mn-ea"/>
                <a:ea typeface="+mn-ea"/>
              </a:rPr>
              <a:t>递归调用</a:t>
            </a:r>
            <a:endParaRPr kumimoji="1" lang="zh-CN" altLang="en-US" sz="2400" b="0" baseline="0" dirty="0">
              <a:latin typeface="+mn-ea"/>
              <a:ea typeface="+mn-ea"/>
            </a:endParaRPr>
          </a:p>
        </p:txBody>
      </p:sp>
      <p:sp>
        <p:nvSpPr>
          <p:cNvPr id="338993" name="Line 49">
            <a:extLst>
              <a:ext uri="{FF2B5EF4-FFF2-40B4-BE49-F238E27FC236}">
                <a16:creationId xmlns:a16="http://schemas.microsoft.com/office/drawing/2014/main" id="{A76EA413-5991-4127-8260-37B0CC577533}"/>
              </a:ext>
            </a:extLst>
          </p:cNvPr>
          <p:cNvSpPr>
            <a:spLocks noChangeShapeType="1"/>
          </p:cNvSpPr>
          <p:nvPr/>
        </p:nvSpPr>
        <p:spPr bwMode="auto">
          <a:xfrm>
            <a:off x="8077200" y="1752600"/>
            <a:ext cx="0" cy="396240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 type="triangle" w="lg" len="med"/>
            <a:tailEnd type="none" w="lg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b="0">
              <a:latin typeface="+mn-ea"/>
              <a:ea typeface="+mn-ea"/>
            </a:endParaRPr>
          </a:p>
        </p:txBody>
      </p:sp>
      <p:sp>
        <p:nvSpPr>
          <p:cNvPr id="338994" name="Text Box 50">
            <a:extLst>
              <a:ext uri="{FF2B5EF4-FFF2-40B4-BE49-F238E27FC236}">
                <a16:creationId xmlns:a16="http://schemas.microsoft.com/office/drawing/2014/main" id="{3B5820A8-66E2-4750-810E-C2977DD22A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77200" y="2695575"/>
            <a:ext cx="625475" cy="1800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kumimoji="1" lang="zh-CN" altLang="en-US" sz="2800" b="0" baseline="0">
                <a:effectLst>
                  <a:outerShdw blurRad="38100" dist="38100" dir="2700000" algn="tl">
                    <a:srgbClr val="C0C0C0"/>
                  </a:outerShdw>
                </a:effectLst>
                <a:latin typeface="+mn-ea"/>
                <a:ea typeface="+mn-ea"/>
              </a:rPr>
              <a:t>回归求值</a:t>
            </a:r>
            <a:endParaRPr kumimoji="1" lang="zh-CN" altLang="en-US" sz="2400" b="0" baseline="0">
              <a:latin typeface="+mn-ea"/>
              <a:ea typeface="+mn-ea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994" name="Rectangle 26">
            <a:extLst>
              <a:ext uri="{FF2B5EF4-FFF2-40B4-BE49-F238E27FC236}">
                <a16:creationId xmlns:a16="http://schemas.microsoft.com/office/drawing/2014/main" id="{A02F972A-AB57-4CCD-9623-8F4A9F7D160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67544" y="809576"/>
            <a:ext cx="8280920" cy="5355727"/>
          </a:xfrm>
        </p:spPr>
        <p:txBody>
          <a:bodyPr/>
          <a:lstStyle/>
          <a:p>
            <a:pPr marL="0" indent="0">
              <a:spcBef>
                <a:spcPct val="0"/>
              </a:spcBef>
              <a:buClr>
                <a:srgbClr val="800080"/>
              </a:buClr>
              <a:buSzPct val="50000"/>
              <a:buNone/>
            </a:pPr>
            <a:r>
              <a:rPr kumimoji="1" lang="zh-CN" altLang="en-US" sz="2800" dirty="0">
                <a:latin typeface="+mn-ea"/>
                <a:ea typeface="+mn-ea"/>
              </a:rPr>
              <a:t>例如，单链表结构</a:t>
            </a:r>
          </a:p>
          <a:p>
            <a:pPr>
              <a:spcBef>
                <a:spcPct val="0"/>
              </a:spcBef>
              <a:buClr>
                <a:srgbClr val="800080"/>
              </a:buClr>
              <a:buSzPct val="50000"/>
              <a:buFont typeface="Wingdings" panose="05000000000000000000" pitchFamily="2" charset="2"/>
              <a:buChar char="l"/>
            </a:pPr>
            <a:endParaRPr kumimoji="1" lang="zh-CN" altLang="en-US" sz="2800" dirty="0">
              <a:latin typeface="+mn-ea"/>
              <a:ea typeface="+mn-ea"/>
            </a:endParaRPr>
          </a:p>
          <a:p>
            <a:pPr>
              <a:spcBef>
                <a:spcPct val="0"/>
              </a:spcBef>
              <a:buClr>
                <a:srgbClr val="800080"/>
              </a:buClr>
              <a:buSzPct val="50000"/>
              <a:buFont typeface="Wingdings" panose="05000000000000000000" pitchFamily="2" charset="2"/>
              <a:buChar char="l"/>
            </a:pPr>
            <a:endParaRPr kumimoji="1" lang="zh-CN" altLang="en-US" sz="2800" dirty="0">
              <a:latin typeface="+mn-ea"/>
              <a:ea typeface="+mn-ea"/>
            </a:endParaRPr>
          </a:p>
          <a:p>
            <a:pPr marL="0" indent="0">
              <a:spcBef>
                <a:spcPct val="0"/>
              </a:spcBef>
              <a:buClr>
                <a:srgbClr val="800080"/>
              </a:buClr>
              <a:buSzPct val="50000"/>
              <a:buNone/>
            </a:pPr>
            <a:endParaRPr kumimoji="1" lang="zh-CN" altLang="en-US" sz="2800" dirty="0">
              <a:latin typeface="+mn-ea"/>
              <a:ea typeface="+mn-ea"/>
            </a:endParaRPr>
          </a:p>
          <a:p>
            <a:pPr>
              <a:spcBef>
                <a:spcPct val="0"/>
              </a:spcBef>
              <a:buClr>
                <a:srgbClr val="800080"/>
              </a:buClr>
              <a:buSzPct val="50000"/>
              <a:buFont typeface="Wingdings" panose="05000000000000000000" pitchFamily="2" charset="2"/>
              <a:buChar char="l"/>
            </a:pPr>
            <a:r>
              <a:rPr kumimoji="1" lang="zh-CN" altLang="en-US" sz="2800" dirty="0">
                <a:latin typeface="+mn-ea"/>
                <a:ea typeface="+mn-ea"/>
              </a:rPr>
              <a:t>一个非空单链表，有一个结点，该结点的指针域指示的后继是一个单链表</a:t>
            </a:r>
            <a:r>
              <a:rPr kumimoji="1" lang="en-US" altLang="zh-CN" sz="2800" dirty="0">
                <a:latin typeface="+mn-ea"/>
                <a:ea typeface="+mn-ea"/>
              </a:rPr>
              <a:t>;</a:t>
            </a:r>
          </a:p>
          <a:p>
            <a:pPr>
              <a:buClr>
                <a:srgbClr val="800080"/>
              </a:buClr>
              <a:buSzPct val="50000"/>
              <a:buFont typeface="Wingdings" panose="05000000000000000000" pitchFamily="2" charset="2"/>
              <a:buChar char="l"/>
            </a:pPr>
            <a:r>
              <a:rPr kumimoji="1" lang="zh-CN" altLang="en-US" sz="2800" dirty="0">
                <a:latin typeface="+mn-ea"/>
                <a:ea typeface="+mn-ea"/>
              </a:rPr>
              <a:t>一个空单链表，是一个单链表。</a:t>
            </a:r>
          </a:p>
          <a:p>
            <a:pPr>
              <a:buClr>
                <a:srgbClr val="800080"/>
              </a:buClr>
              <a:buSzPct val="50000"/>
              <a:buFont typeface="Wingdings" panose="05000000000000000000" pitchFamily="2" charset="2"/>
              <a:buChar char="l"/>
            </a:pPr>
            <a:r>
              <a:rPr kumimoji="1" lang="zh-CN" altLang="en-US" sz="2800" dirty="0">
                <a:latin typeface="+mn-ea"/>
                <a:ea typeface="+mn-ea"/>
              </a:rPr>
              <a:t>递归结束于空链表。</a:t>
            </a:r>
          </a:p>
        </p:txBody>
      </p:sp>
      <p:sp>
        <p:nvSpPr>
          <p:cNvPr id="339992" name="Rectangle 24">
            <a:extLst>
              <a:ext uri="{FF2B5EF4-FFF2-40B4-BE49-F238E27FC236}">
                <a16:creationId xmlns:a16="http://schemas.microsoft.com/office/drawing/2014/main" id="{250186A1-DA87-4351-9020-23556384704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00857" y="44491"/>
            <a:ext cx="5563443" cy="879179"/>
          </a:xfrm>
        </p:spPr>
        <p:txBody>
          <a:bodyPr/>
          <a:lstStyle/>
          <a:p>
            <a:r>
              <a:rPr kumimoji="1" lang="zh-CN" altLang="en-US" dirty="0">
                <a:latin typeface="微软雅黑" panose="020B0503020204020204" pitchFamily="34" charset="-122"/>
              </a:rPr>
              <a:t>数据结构是递归的</a:t>
            </a:r>
          </a:p>
        </p:txBody>
      </p:sp>
      <p:grpSp>
        <p:nvGrpSpPr>
          <p:cNvPr id="339996" name="Group 28">
            <a:extLst>
              <a:ext uri="{FF2B5EF4-FFF2-40B4-BE49-F238E27FC236}">
                <a16:creationId xmlns:a16="http://schemas.microsoft.com/office/drawing/2014/main" id="{FB2B3341-1A94-4D89-BAE5-49BE534B10DC}"/>
              </a:ext>
            </a:extLst>
          </p:cNvPr>
          <p:cNvGrpSpPr>
            <a:grpSpLocks/>
          </p:cNvGrpSpPr>
          <p:nvPr/>
        </p:nvGrpSpPr>
        <p:grpSpPr bwMode="auto">
          <a:xfrm>
            <a:off x="1530102" y="1688756"/>
            <a:ext cx="6083796" cy="1596228"/>
            <a:chOff x="791" y="1257"/>
            <a:chExt cx="3673" cy="964"/>
          </a:xfrm>
        </p:grpSpPr>
        <p:sp>
          <p:nvSpPr>
            <p:cNvPr id="339997" name="Rectangle 29">
              <a:extLst>
                <a:ext uri="{FF2B5EF4-FFF2-40B4-BE49-F238E27FC236}">
                  <a16:creationId xmlns:a16="http://schemas.microsoft.com/office/drawing/2014/main" id="{A159DF14-C7D8-44BC-86F1-ED69930072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6" y="1824"/>
              <a:ext cx="576" cy="336"/>
            </a:xfrm>
            <a:prstGeom prst="rect">
              <a:avLst/>
            </a:prstGeom>
            <a:blipFill dpi="0" rotWithShape="0">
              <a:blip r:embed="rId2"/>
              <a:srcRect/>
              <a:tile tx="0" ty="0" sx="100000" sy="100000" flip="none" algn="tl"/>
            </a:blip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39998" name="Line 30">
              <a:extLst>
                <a:ext uri="{FF2B5EF4-FFF2-40B4-BE49-F238E27FC236}">
                  <a16:creationId xmlns:a16="http://schemas.microsoft.com/office/drawing/2014/main" id="{B6D4EABA-E40B-4CEB-98C6-6DF8CBA8654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32" y="1824"/>
              <a:ext cx="0" cy="336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39999" name="Line 31">
              <a:extLst>
                <a:ext uri="{FF2B5EF4-FFF2-40B4-BE49-F238E27FC236}">
                  <a16:creationId xmlns:a16="http://schemas.microsoft.com/office/drawing/2014/main" id="{35A8F458-BF6B-41DF-A06F-08B07404666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08" y="2016"/>
              <a:ext cx="288" cy="0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40000" name="Rectangle 32">
              <a:extLst>
                <a:ext uri="{FF2B5EF4-FFF2-40B4-BE49-F238E27FC236}">
                  <a16:creationId xmlns:a16="http://schemas.microsoft.com/office/drawing/2014/main" id="{4C691101-5106-4EF9-BE6C-D53A2CCF12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60" y="1824"/>
              <a:ext cx="576" cy="336"/>
            </a:xfrm>
            <a:prstGeom prst="rect">
              <a:avLst/>
            </a:prstGeom>
            <a:blipFill dpi="0" rotWithShape="0">
              <a:blip r:embed="rId2"/>
              <a:srcRect/>
              <a:tile tx="0" ty="0" sx="100000" sy="100000" flip="none" algn="tl"/>
            </a:blip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40001" name="Line 33">
              <a:extLst>
                <a:ext uri="{FF2B5EF4-FFF2-40B4-BE49-F238E27FC236}">
                  <a16:creationId xmlns:a16="http://schemas.microsoft.com/office/drawing/2014/main" id="{5F509A0E-0B0E-4FAA-8613-77D121EB1A0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96" y="1824"/>
              <a:ext cx="0" cy="336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40002" name="Line 34">
              <a:extLst>
                <a:ext uri="{FF2B5EF4-FFF2-40B4-BE49-F238E27FC236}">
                  <a16:creationId xmlns:a16="http://schemas.microsoft.com/office/drawing/2014/main" id="{0C6E2D65-82BC-4747-B3A1-55A96D3B25A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76" y="2016"/>
              <a:ext cx="384" cy="0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40003" name="Rectangle 35">
              <a:extLst>
                <a:ext uri="{FF2B5EF4-FFF2-40B4-BE49-F238E27FC236}">
                  <a16:creationId xmlns:a16="http://schemas.microsoft.com/office/drawing/2014/main" id="{CE4D5495-2A54-4530-91B6-96AFF7B1B6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24" y="1824"/>
              <a:ext cx="576" cy="336"/>
            </a:xfrm>
            <a:prstGeom prst="rect">
              <a:avLst/>
            </a:prstGeom>
            <a:blipFill dpi="0" rotWithShape="0">
              <a:blip r:embed="rId2"/>
              <a:srcRect/>
              <a:tile tx="0" ty="0" sx="100000" sy="100000" flip="none" algn="tl"/>
            </a:blip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40004" name="Line 36">
              <a:extLst>
                <a:ext uri="{FF2B5EF4-FFF2-40B4-BE49-F238E27FC236}">
                  <a16:creationId xmlns:a16="http://schemas.microsoft.com/office/drawing/2014/main" id="{19AE033F-EF7A-4706-B616-04BF5B16262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60" y="1824"/>
              <a:ext cx="0" cy="336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40005" name="Line 37">
              <a:extLst>
                <a:ext uri="{FF2B5EF4-FFF2-40B4-BE49-F238E27FC236}">
                  <a16:creationId xmlns:a16="http://schemas.microsoft.com/office/drawing/2014/main" id="{90CFFB2E-99F9-4424-88C4-417D827EA02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40" y="2016"/>
              <a:ext cx="384" cy="0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40006" name="Rectangle 38">
              <a:extLst>
                <a:ext uri="{FF2B5EF4-FFF2-40B4-BE49-F238E27FC236}">
                  <a16:creationId xmlns:a16="http://schemas.microsoft.com/office/drawing/2014/main" id="{982394DB-74C5-4FFB-8EE3-C3BE650B15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88" y="1824"/>
              <a:ext cx="576" cy="336"/>
            </a:xfrm>
            <a:prstGeom prst="rect">
              <a:avLst/>
            </a:prstGeom>
            <a:blipFill dpi="0" rotWithShape="0">
              <a:blip r:embed="rId2"/>
              <a:srcRect/>
              <a:tile tx="0" ty="0" sx="100000" sy="100000" flip="none" algn="tl"/>
            </a:blip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40007" name="Line 39">
              <a:extLst>
                <a:ext uri="{FF2B5EF4-FFF2-40B4-BE49-F238E27FC236}">
                  <a16:creationId xmlns:a16="http://schemas.microsoft.com/office/drawing/2014/main" id="{9A59CCC8-BA3D-4B2F-891E-FBAEEC8C6C1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24" y="1824"/>
              <a:ext cx="0" cy="336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40008" name="Line 40">
              <a:extLst>
                <a:ext uri="{FF2B5EF4-FFF2-40B4-BE49-F238E27FC236}">
                  <a16:creationId xmlns:a16="http://schemas.microsoft.com/office/drawing/2014/main" id="{48D470CD-E317-4C02-9E02-B6E280EC39F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04" y="2016"/>
              <a:ext cx="384" cy="0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40009" name="Text Box 41">
              <a:extLst>
                <a:ext uri="{FF2B5EF4-FFF2-40B4-BE49-F238E27FC236}">
                  <a16:creationId xmlns:a16="http://schemas.microsoft.com/office/drawing/2014/main" id="{E445AFF4-1809-4312-8795-0D78984F8EF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91" y="1824"/>
              <a:ext cx="255" cy="39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2800" b="1" baseline="0">
                  <a:solidFill>
                    <a:schemeClr val="tx2"/>
                  </a:solidFill>
                  <a:latin typeface="Times New Roman" panose="02020603050405020304" pitchFamily="18" charset="0"/>
                </a:rPr>
                <a:t>f</a:t>
              </a:r>
              <a:r>
                <a:rPr kumimoji="1" lang="en-US" altLang="zh-CN" sz="3200" baseline="0">
                  <a:solidFill>
                    <a:schemeClr val="tx2"/>
                  </a:solidFill>
                  <a:latin typeface="Times New Roman" panose="02020603050405020304" pitchFamily="18" charset="0"/>
                </a:rPr>
                <a:t> </a:t>
              </a:r>
            </a:p>
          </p:txBody>
        </p:sp>
        <p:sp>
          <p:nvSpPr>
            <p:cNvPr id="340010" name="Text Box 42">
              <a:extLst>
                <a:ext uri="{FF2B5EF4-FFF2-40B4-BE49-F238E27FC236}">
                  <a16:creationId xmlns:a16="http://schemas.microsoft.com/office/drawing/2014/main" id="{1006CEA4-7C03-4225-895F-5EE16872943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13" y="1785"/>
              <a:ext cx="251" cy="3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2800" b="1" baseline="0">
                  <a:solidFill>
                    <a:schemeClr val="accent2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</a:t>
              </a:r>
              <a:endParaRPr kumimoji="1" lang="en-US" altLang="zh-CN" sz="2400" baseline="0">
                <a:latin typeface="Times New Roman" panose="02020603050405020304" pitchFamily="18" charset="0"/>
              </a:endParaRPr>
            </a:p>
          </p:txBody>
        </p:sp>
        <p:sp>
          <p:nvSpPr>
            <p:cNvPr id="340011" name="Rectangle 43">
              <a:extLst>
                <a:ext uri="{FF2B5EF4-FFF2-40B4-BE49-F238E27FC236}">
                  <a16:creationId xmlns:a16="http://schemas.microsoft.com/office/drawing/2014/main" id="{ABB1D55A-18A4-41C8-9DB4-6B18414F49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6" y="1296"/>
              <a:ext cx="576" cy="336"/>
            </a:xfrm>
            <a:prstGeom prst="rect">
              <a:avLst/>
            </a:prstGeom>
            <a:blipFill dpi="0" rotWithShape="0">
              <a:blip r:embed="rId2"/>
              <a:srcRect/>
              <a:tile tx="0" ty="0" sx="100000" sy="100000" flip="none" algn="tl"/>
            </a:blip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40012" name="Line 44">
              <a:extLst>
                <a:ext uri="{FF2B5EF4-FFF2-40B4-BE49-F238E27FC236}">
                  <a16:creationId xmlns:a16="http://schemas.microsoft.com/office/drawing/2014/main" id="{D48B5201-A5EB-46FF-8555-79809E3B053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32" y="1296"/>
              <a:ext cx="0" cy="336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40013" name="Line 45">
              <a:extLst>
                <a:ext uri="{FF2B5EF4-FFF2-40B4-BE49-F238E27FC236}">
                  <a16:creationId xmlns:a16="http://schemas.microsoft.com/office/drawing/2014/main" id="{1412B1FF-5623-483C-8F69-55A2BA387AB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08" y="1488"/>
              <a:ext cx="288" cy="0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40014" name="Text Box 46">
              <a:extLst>
                <a:ext uri="{FF2B5EF4-FFF2-40B4-BE49-F238E27FC236}">
                  <a16:creationId xmlns:a16="http://schemas.microsoft.com/office/drawing/2014/main" id="{4732D155-CD0B-42F0-A494-1D80CC7DACE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91" y="1296"/>
              <a:ext cx="255" cy="39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2800" b="1" baseline="0">
                  <a:solidFill>
                    <a:schemeClr val="tx2"/>
                  </a:solidFill>
                  <a:latin typeface="Times New Roman" panose="02020603050405020304" pitchFamily="18" charset="0"/>
                </a:rPr>
                <a:t>f</a:t>
              </a:r>
              <a:r>
                <a:rPr kumimoji="1" lang="en-US" altLang="zh-CN" sz="3200" baseline="0">
                  <a:solidFill>
                    <a:schemeClr val="tx2"/>
                  </a:solidFill>
                  <a:latin typeface="Times New Roman" panose="02020603050405020304" pitchFamily="18" charset="0"/>
                </a:rPr>
                <a:t> </a:t>
              </a:r>
            </a:p>
          </p:txBody>
        </p:sp>
        <p:sp>
          <p:nvSpPr>
            <p:cNvPr id="340015" name="Text Box 47">
              <a:extLst>
                <a:ext uri="{FF2B5EF4-FFF2-40B4-BE49-F238E27FC236}">
                  <a16:creationId xmlns:a16="http://schemas.microsoft.com/office/drawing/2014/main" id="{6282E1C2-871E-4E82-9C9E-CDB072F52B4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21" y="1257"/>
              <a:ext cx="251" cy="3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2800" b="1" baseline="0" dirty="0">
                  <a:solidFill>
                    <a:schemeClr val="accent2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</a:t>
              </a:r>
              <a:endParaRPr kumimoji="1" lang="en-US" altLang="zh-CN" sz="2400" baseline="0" dirty="0">
                <a:latin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074" name="Rectangle 2">
            <a:extLst>
              <a:ext uri="{FF2B5EF4-FFF2-40B4-BE49-F238E27FC236}">
                <a16:creationId xmlns:a16="http://schemas.microsoft.com/office/drawing/2014/main" id="{9B845434-6D63-402D-8817-4383A9CEAB4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27584" y="49408"/>
            <a:ext cx="7772400" cy="811212"/>
          </a:xfrm>
        </p:spPr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</a:rPr>
              <a:t>链表的递归结构定义</a:t>
            </a:r>
          </a:p>
        </p:txBody>
      </p:sp>
      <p:sp>
        <p:nvSpPr>
          <p:cNvPr id="515075" name="Rectangle 3">
            <a:extLst>
              <a:ext uri="{FF2B5EF4-FFF2-40B4-BE49-F238E27FC236}">
                <a16:creationId xmlns:a16="http://schemas.microsoft.com/office/drawing/2014/main" id="{85F6601D-DBF9-4AA2-8FD7-BED9623C664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23528" y="764704"/>
            <a:ext cx="8496944" cy="5832648"/>
          </a:xfrm>
        </p:spPr>
        <p:txBody>
          <a:bodyPr/>
          <a:lstStyle/>
          <a:p>
            <a:pPr marL="0" indent="0">
              <a:buClr>
                <a:srgbClr val="CC3300"/>
              </a:buClr>
              <a:buFont typeface="Wingdings" panose="05000000000000000000" pitchFamily="2" charset="2"/>
              <a:buNone/>
            </a:pPr>
            <a:r>
              <a:rPr lang="en-US" altLang="zh-CN" dirty="0">
                <a:latin typeface="+mn-lt"/>
                <a:ea typeface="+mn-ea"/>
              </a:rPr>
              <a:t>typedef struct node {     </a:t>
            </a:r>
            <a:r>
              <a:rPr lang="en-US" altLang="zh-CN" dirty="0">
                <a:solidFill>
                  <a:srgbClr val="00B050"/>
                </a:solidFill>
                <a:latin typeface="+mn-lt"/>
                <a:ea typeface="+mn-ea"/>
              </a:rPr>
              <a:t>// </a:t>
            </a:r>
            <a:r>
              <a:rPr lang="zh-CN" altLang="en-US" dirty="0">
                <a:solidFill>
                  <a:srgbClr val="00B050"/>
                </a:solidFill>
                <a:latin typeface="+mn-lt"/>
                <a:ea typeface="+mn-ea"/>
              </a:rPr>
              <a:t>定义结点</a:t>
            </a:r>
          </a:p>
          <a:p>
            <a:pPr marL="0" indent="0">
              <a:buClr>
                <a:srgbClr val="CC3300"/>
              </a:buClr>
              <a:buFont typeface="Wingdings" panose="05000000000000000000" pitchFamily="2" charset="2"/>
              <a:buNone/>
            </a:pPr>
            <a:r>
              <a:rPr lang="zh-CN" altLang="en-US" dirty="0">
                <a:latin typeface="+mn-lt"/>
                <a:ea typeface="+mn-ea"/>
              </a:rPr>
              <a:t>    </a:t>
            </a:r>
            <a:r>
              <a:rPr lang="en-US" altLang="zh-CN" dirty="0" err="1">
                <a:latin typeface="+mn-lt"/>
                <a:ea typeface="+mn-ea"/>
              </a:rPr>
              <a:t>ElemType</a:t>
            </a:r>
            <a:r>
              <a:rPr lang="en-US" altLang="zh-CN" dirty="0">
                <a:latin typeface="+mn-lt"/>
                <a:ea typeface="+mn-ea"/>
              </a:rPr>
              <a:t> data;            </a:t>
            </a:r>
          </a:p>
          <a:p>
            <a:pPr marL="0" indent="0">
              <a:buClr>
                <a:srgbClr val="CC3300"/>
              </a:buClr>
              <a:buFont typeface="Wingdings" panose="05000000000000000000" pitchFamily="2" charset="2"/>
              <a:buNone/>
            </a:pPr>
            <a:r>
              <a:rPr lang="en-US" altLang="zh-CN" dirty="0">
                <a:latin typeface="+mn-lt"/>
                <a:ea typeface="+mn-ea"/>
              </a:rPr>
              <a:t>    </a:t>
            </a:r>
            <a:r>
              <a:rPr lang="en-US" altLang="zh-CN" dirty="0">
                <a:solidFill>
                  <a:srgbClr val="0000FF"/>
                </a:solidFill>
                <a:latin typeface="+mn-lt"/>
                <a:ea typeface="+mn-ea"/>
              </a:rPr>
              <a:t>struct node * </a:t>
            </a:r>
            <a:r>
              <a:rPr lang="en-US" altLang="zh-CN" dirty="0">
                <a:latin typeface="+mn-lt"/>
                <a:ea typeface="+mn-ea"/>
              </a:rPr>
              <a:t>link;       </a:t>
            </a:r>
            <a:r>
              <a:rPr lang="en-US" altLang="zh-CN" dirty="0">
                <a:solidFill>
                  <a:srgbClr val="00B050"/>
                </a:solidFill>
                <a:latin typeface="+mn-lt"/>
                <a:ea typeface="+mn-ea"/>
              </a:rPr>
              <a:t>// </a:t>
            </a:r>
            <a:r>
              <a:rPr lang="zh-CN" altLang="en-US" dirty="0">
                <a:solidFill>
                  <a:srgbClr val="00B050"/>
                </a:solidFill>
                <a:latin typeface="+mn-lt"/>
                <a:ea typeface="+mn-ea"/>
              </a:rPr>
              <a:t>用到指针</a:t>
            </a:r>
          </a:p>
          <a:p>
            <a:pPr marL="0" indent="0">
              <a:buClr>
                <a:srgbClr val="CC3300"/>
              </a:buClr>
              <a:buFont typeface="Wingdings" panose="05000000000000000000" pitchFamily="2" charset="2"/>
              <a:buNone/>
            </a:pPr>
            <a:r>
              <a:rPr lang="en-US" altLang="zh-CN" dirty="0">
                <a:latin typeface="+mn-lt"/>
                <a:ea typeface="+mn-ea"/>
              </a:rPr>
              <a:t>} </a:t>
            </a:r>
            <a:r>
              <a:rPr lang="en-US" altLang="zh-CN" dirty="0" err="1">
                <a:latin typeface="+mn-lt"/>
                <a:ea typeface="+mn-ea"/>
              </a:rPr>
              <a:t>ListNode</a:t>
            </a:r>
            <a:r>
              <a:rPr lang="en-US" altLang="zh-CN" dirty="0">
                <a:latin typeface="+mn-lt"/>
                <a:ea typeface="+mn-ea"/>
              </a:rPr>
              <a:t>;</a:t>
            </a:r>
          </a:p>
          <a:p>
            <a:pPr marL="0" indent="0">
              <a:buClr>
                <a:srgbClr val="CC3300"/>
              </a:buClr>
              <a:buFont typeface="Wingdings" panose="05000000000000000000" pitchFamily="2" charset="2"/>
              <a:buNone/>
            </a:pPr>
            <a:endParaRPr lang="en-US" altLang="zh-CN" dirty="0">
              <a:latin typeface="+mn-lt"/>
              <a:ea typeface="+mn-ea"/>
            </a:endParaRPr>
          </a:p>
          <a:p>
            <a:pPr marL="0" indent="0">
              <a:buClr>
                <a:srgbClr val="CC3300"/>
              </a:buClr>
              <a:buFont typeface="Wingdings" panose="05000000000000000000" pitchFamily="2" charset="2"/>
              <a:buNone/>
            </a:pPr>
            <a:r>
              <a:rPr lang="en-US" altLang="zh-CN" dirty="0">
                <a:latin typeface="+mn-lt"/>
                <a:ea typeface="+mn-ea"/>
              </a:rPr>
              <a:t>typedef </a:t>
            </a:r>
            <a:r>
              <a:rPr lang="en-US" altLang="zh-CN" dirty="0" err="1">
                <a:solidFill>
                  <a:srgbClr val="0000FF"/>
                </a:solidFill>
                <a:latin typeface="+mn-lt"/>
                <a:ea typeface="+mn-ea"/>
              </a:rPr>
              <a:t>ListNode</a:t>
            </a:r>
            <a:r>
              <a:rPr lang="en-US" altLang="zh-CN" dirty="0">
                <a:solidFill>
                  <a:srgbClr val="0000FF"/>
                </a:solidFill>
                <a:latin typeface="+mn-lt"/>
                <a:ea typeface="+mn-ea"/>
              </a:rPr>
              <a:t> * </a:t>
            </a:r>
            <a:r>
              <a:rPr lang="en-US" altLang="zh-CN" dirty="0" err="1">
                <a:latin typeface="+mn-lt"/>
                <a:ea typeface="+mn-ea"/>
              </a:rPr>
              <a:t>LinkList</a:t>
            </a:r>
            <a:r>
              <a:rPr lang="en-US" altLang="zh-CN" dirty="0">
                <a:latin typeface="+mn-lt"/>
                <a:ea typeface="+mn-ea"/>
              </a:rPr>
              <a:t>;    </a:t>
            </a:r>
            <a:r>
              <a:rPr lang="en-US" altLang="zh-CN" dirty="0">
                <a:solidFill>
                  <a:srgbClr val="00B050"/>
                </a:solidFill>
                <a:latin typeface="+mn-ea"/>
                <a:ea typeface="+mn-ea"/>
              </a:rPr>
              <a:t>// </a:t>
            </a:r>
            <a:r>
              <a:rPr lang="zh-CN" altLang="en-US" dirty="0">
                <a:solidFill>
                  <a:srgbClr val="00B050"/>
                </a:solidFill>
                <a:latin typeface="+mn-ea"/>
                <a:ea typeface="+mn-ea"/>
              </a:rPr>
              <a:t>定义指针</a:t>
            </a:r>
            <a:r>
              <a:rPr lang="en-US" altLang="zh-CN" dirty="0">
                <a:solidFill>
                  <a:srgbClr val="00B050"/>
                </a:solidFill>
                <a:latin typeface="+mn-ea"/>
                <a:ea typeface="+mn-ea"/>
              </a:rPr>
              <a:t>, </a:t>
            </a:r>
            <a:r>
              <a:rPr lang="zh-CN" altLang="en-US" dirty="0">
                <a:solidFill>
                  <a:srgbClr val="00B050"/>
                </a:solidFill>
                <a:latin typeface="+mn-ea"/>
                <a:ea typeface="+mn-ea"/>
              </a:rPr>
              <a:t>用到结点</a:t>
            </a:r>
          </a:p>
          <a:p>
            <a:pPr marL="0" indent="0"/>
            <a:endParaRPr lang="zh-CN" altLang="en-US" dirty="0">
              <a:latin typeface="+mn-ea"/>
              <a:ea typeface="+mn-ea"/>
            </a:endParaRPr>
          </a:p>
          <a:p>
            <a:pPr marL="0" indent="0">
              <a:buClr>
                <a:srgbClr val="800080"/>
              </a:buClr>
              <a:buSzPct val="55000"/>
              <a:buNone/>
            </a:pPr>
            <a:r>
              <a:rPr lang="zh-CN" altLang="en-US" dirty="0">
                <a:latin typeface="+mn-ea"/>
                <a:ea typeface="+mn-ea"/>
              </a:rPr>
              <a:t>基于递归定义的数据结构，相应算法的实现均可采用递归方式。下面举例。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6099" name="Group 3">
            <a:extLst>
              <a:ext uri="{FF2B5EF4-FFF2-40B4-BE49-F238E27FC236}">
                <a16:creationId xmlns:a16="http://schemas.microsoft.com/office/drawing/2014/main" id="{FF22B64C-2760-4548-A074-41297A3CA4B9}"/>
              </a:ext>
            </a:extLst>
          </p:cNvPr>
          <p:cNvGrpSpPr>
            <a:grpSpLocks/>
          </p:cNvGrpSpPr>
          <p:nvPr/>
        </p:nvGrpSpPr>
        <p:grpSpPr bwMode="auto">
          <a:xfrm>
            <a:off x="2376488" y="5901010"/>
            <a:ext cx="649287" cy="731837"/>
            <a:chOff x="1751" y="3581"/>
            <a:chExt cx="409" cy="461"/>
          </a:xfrm>
        </p:grpSpPr>
        <p:sp>
          <p:nvSpPr>
            <p:cNvPr id="516100" name="Line 4">
              <a:extLst>
                <a:ext uri="{FF2B5EF4-FFF2-40B4-BE49-F238E27FC236}">
                  <a16:creationId xmlns:a16="http://schemas.microsoft.com/office/drawing/2014/main" id="{07676D7B-6F1D-485A-BA71-9911A0848E1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968" y="3581"/>
              <a:ext cx="192" cy="240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  <a:headEnd type="triangle" w="sm" len="lg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6101" name="Text Box 5">
              <a:extLst>
                <a:ext uri="{FF2B5EF4-FFF2-40B4-BE49-F238E27FC236}">
                  <a16:creationId xmlns:a16="http://schemas.microsoft.com/office/drawing/2014/main" id="{6DE93E34-1D9B-4B53-8B7E-DCF2187BBCC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51" y="3677"/>
              <a:ext cx="255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2800" b="1" baseline="0">
                  <a:solidFill>
                    <a:schemeClr val="tx2"/>
                  </a:solidFill>
                  <a:latin typeface="Times New Roman" panose="02020603050405020304" pitchFamily="18" charset="0"/>
                </a:rPr>
                <a:t>f</a:t>
              </a:r>
              <a:r>
                <a:rPr kumimoji="1" lang="en-US" altLang="zh-CN" sz="3200" baseline="0">
                  <a:solidFill>
                    <a:schemeClr val="tx2"/>
                  </a:solidFill>
                  <a:latin typeface="Times New Roman" panose="02020603050405020304" pitchFamily="18" charset="0"/>
                </a:rPr>
                <a:t> </a:t>
              </a:r>
            </a:p>
          </p:txBody>
        </p:sp>
      </p:grpSp>
      <p:grpSp>
        <p:nvGrpSpPr>
          <p:cNvPr id="516102" name="Group 6">
            <a:extLst>
              <a:ext uri="{FF2B5EF4-FFF2-40B4-BE49-F238E27FC236}">
                <a16:creationId xmlns:a16="http://schemas.microsoft.com/office/drawing/2014/main" id="{B5151E7C-98A6-4E35-925F-F3B9588CE780}"/>
              </a:ext>
            </a:extLst>
          </p:cNvPr>
          <p:cNvGrpSpPr>
            <a:grpSpLocks/>
          </p:cNvGrpSpPr>
          <p:nvPr/>
        </p:nvGrpSpPr>
        <p:grpSpPr bwMode="auto">
          <a:xfrm>
            <a:off x="3527425" y="5937522"/>
            <a:ext cx="649288" cy="731838"/>
            <a:chOff x="2471" y="3581"/>
            <a:chExt cx="409" cy="461"/>
          </a:xfrm>
        </p:grpSpPr>
        <p:sp>
          <p:nvSpPr>
            <p:cNvPr id="516103" name="Line 7">
              <a:extLst>
                <a:ext uri="{FF2B5EF4-FFF2-40B4-BE49-F238E27FC236}">
                  <a16:creationId xmlns:a16="http://schemas.microsoft.com/office/drawing/2014/main" id="{CFD725BE-5DB3-4955-95C3-159C2BBDAC4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688" y="3581"/>
              <a:ext cx="192" cy="240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  <a:headEnd type="triangle" w="sm" len="lg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6104" name="Text Box 8">
              <a:extLst>
                <a:ext uri="{FF2B5EF4-FFF2-40B4-BE49-F238E27FC236}">
                  <a16:creationId xmlns:a16="http://schemas.microsoft.com/office/drawing/2014/main" id="{E7DBA35A-48DA-4B7A-BC87-0CC0E537CCF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71" y="3677"/>
              <a:ext cx="255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2800" b="1" baseline="0">
                  <a:solidFill>
                    <a:schemeClr val="tx2"/>
                  </a:solidFill>
                  <a:latin typeface="Times New Roman" panose="02020603050405020304" pitchFamily="18" charset="0"/>
                </a:rPr>
                <a:t>f</a:t>
              </a:r>
              <a:r>
                <a:rPr kumimoji="1" lang="en-US" altLang="zh-CN" sz="3200" baseline="0">
                  <a:solidFill>
                    <a:schemeClr val="tx2"/>
                  </a:solidFill>
                  <a:latin typeface="Times New Roman" panose="02020603050405020304" pitchFamily="18" charset="0"/>
                </a:rPr>
                <a:t> </a:t>
              </a:r>
            </a:p>
          </p:txBody>
        </p:sp>
      </p:grpSp>
      <p:grpSp>
        <p:nvGrpSpPr>
          <p:cNvPr id="516105" name="Group 9">
            <a:extLst>
              <a:ext uri="{FF2B5EF4-FFF2-40B4-BE49-F238E27FC236}">
                <a16:creationId xmlns:a16="http://schemas.microsoft.com/office/drawing/2014/main" id="{7F98724D-BD3B-419B-A4DF-8B3EB918B399}"/>
              </a:ext>
            </a:extLst>
          </p:cNvPr>
          <p:cNvGrpSpPr>
            <a:grpSpLocks/>
          </p:cNvGrpSpPr>
          <p:nvPr/>
        </p:nvGrpSpPr>
        <p:grpSpPr bwMode="auto">
          <a:xfrm>
            <a:off x="4679950" y="5937522"/>
            <a:ext cx="649288" cy="731838"/>
            <a:chOff x="3191" y="3581"/>
            <a:chExt cx="409" cy="461"/>
          </a:xfrm>
        </p:grpSpPr>
        <p:sp>
          <p:nvSpPr>
            <p:cNvPr id="516106" name="Line 10">
              <a:extLst>
                <a:ext uri="{FF2B5EF4-FFF2-40B4-BE49-F238E27FC236}">
                  <a16:creationId xmlns:a16="http://schemas.microsoft.com/office/drawing/2014/main" id="{2ED19C4E-2AE0-4863-AE45-0E5D213B563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408" y="3581"/>
              <a:ext cx="192" cy="240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  <a:headEnd type="triangle" w="sm" len="lg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6107" name="Text Box 11">
              <a:extLst>
                <a:ext uri="{FF2B5EF4-FFF2-40B4-BE49-F238E27FC236}">
                  <a16:creationId xmlns:a16="http://schemas.microsoft.com/office/drawing/2014/main" id="{F516EB36-DE7A-4DF6-94BC-0878A1424DA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91" y="3677"/>
              <a:ext cx="255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2800" b="1" baseline="0">
                  <a:solidFill>
                    <a:schemeClr val="tx2"/>
                  </a:solidFill>
                  <a:latin typeface="Times New Roman" panose="02020603050405020304" pitchFamily="18" charset="0"/>
                </a:rPr>
                <a:t>f</a:t>
              </a:r>
              <a:r>
                <a:rPr kumimoji="1" lang="en-US" altLang="zh-CN" sz="3200" baseline="0">
                  <a:solidFill>
                    <a:schemeClr val="tx2"/>
                  </a:solidFill>
                  <a:latin typeface="Times New Roman" panose="02020603050405020304" pitchFamily="18" charset="0"/>
                </a:rPr>
                <a:t> </a:t>
              </a:r>
            </a:p>
          </p:txBody>
        </p:sp>
      </p:grpSp>
      <p:sp>
        <p:nvSpPr>
          <p:cNvPr id="516108" name="Line 12">
            <a:extLst>
              <a:ext uri="{FF2B5EF4-FFF2-40B4-BE49-F238E27FC236}">
                <a16:creationId xmlns:a16="http://schemas.microsoft.com/office/drawing/2014/main" id="{6D220620-3736-4E5F-8C8E-3762DA377E76}"/>
              </a:ext>
            </a:extLst>
          </p:cNvPr>
          <p:cNvSpPr>
            <a:spLocks noChangeShapeType="1"/>
          </p:cNvSpPr>
          <p:nvPr/>
        </p:nvSpPr>
        <p:spPr bwMode="auto">
          <a:xfrm>
            <a:off x="2381250" y="5251722"/>
            <a:ext cx="4343400" cy="0"/>
          </a:xfrm>
          <a:prstGeom prst="line">
            <a:avLst/>
          </a:prstGeom>
          <a:noFill/>
          <a:ln w="28575">
            <a:solidFill>
              <a:srgbClr val="009900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16109" name="Text Box 13">
            <a:extLst>
              <a:ext uri="{FF2B5EF4-FFF2-40B4-BE49-F238E27FC236}">
                <a16:creationId xmlns:a16="http://schemas.microsoft.com/office/drawing/2014/main" id="{5311E29E-161D-412D-A562-C666D240CB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71775" y="4713560"/>
            <a:ext cx="2838450" cy="488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505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zh-CN" altLang="en-US" sz="2600" b="1" baseline="0">
                <a:solidFill>
                  <a:srgbClr val="009900"/>
                </a:solidFill>
                <a:latin typeface="Times New Roman" panose="02020603050405020304" pitchFamily="18" charset="0"/>
                <a:ea typeface="仿宋_GB2312" pitchFamily="49" charset="-122"/>
              </a:rPr>
              <a:t>递归打印结点的值</a:t>
            </a:r>
            <a:endParaRPr kumimoji="1" lang="zh-CN" altLang="en-US" sz="2600" b="1" baseline="0">
              <a:latin typeface="Times New Roman" panose="02020603050405020304" pitchFamily="18" charset="0"/>
              <a:ea typeface="仿宋_GB2312" pitchFamily="49" charset="-122"/>
            </a:endParaRPr>
          </a:p>
        </p:txBody>
      </p:sp>
      <p:grpSp>
        <p:nvGrpSpPr>
          <p:cNvPr id="516110" name="Group 14">
            <a:extLst>
              <a:ext uri="{FF2B5EF4-FFF2-40B4-BE49-F238E27FC236}">
                <a16:creationId xmlns:a16="http://schemas.microsoft.com/office/drawing/2014/main" id="{B41F22CD-F863-43F9-842A-1C97D2A0EE72}"/>
              </a:ext>
            </a:extLst>
          </p:cNvPr>
          <p:cNvGrpSpPr>
            <a:grpSpLocks/>
          </p:cNvGrpSpPr>
          <p:nvPr/>
        </p:nvGrpSpPr>
        <p:grpSpPr bwMode="auto">
          <a:xfrm>
            <a:off x="1223963" y="5404122"/>
            <a:ext cx="6186487" cy="579438"/>
            <a:chOff x="999" y="3293"/>
            <a:chExt cx="3897" cy="365"/>
          </a:xfrm>
        </p:grpSpPr>
        <p:sp>
          <p:nvSpPr>
            <p:cNvPr id="516111" name="Rectangle 15">
              <a:extLst>
                <a:ext uri="{FF2B5EF4-FFF2-40B4-BE49-F238E27FC236}">
                  <a16:creationId xmlns:a16="http://schemas.microsoft.com/office/drawing/2014/main" id="{4E7BDB9F-7A3C-4CE8-A6A8-FBA06AA54D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0" y="3293"/>
              <a:ext cx="528" cy="336"/>
            </a:xfrm>
            <a:prstGeom prst="rect">
              <a:avLst/>
            </a:prstGeom>
            <a:blipFill dpi="0" rotWithShape="0">
              <a:blip r:embed="rId2"/>
              <a:srcRect/>
              <a:tile tx="0" ty="0" sx="100000" sy="100000" flip="none" algn="tl"/>
            </a:blip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6112" name="Line 16">
              <a:extLst>
                <a:ext uri="{FF2B5EF4-FFF2-40B4-BE49-F238E27FC236}">
                  <a16:creationId xmlns:a16="http://schemas.microsoft.com/office/drawing/2014/main" id="{7E3152F8-73E7-4578-B7F2-311D2EDDE5E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76" y="3293"/>
              <a:ext cx="0" cy="336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6113" name="Line 17">
              <a:extLst>
                <a:ext uri="{FF2B5EF4-FFF2-40B4-BE49-F238E27FC236}">
                  <a16:creationId xmlns:a16="http://schemas.microsoft.com/office/drawing/2014/main" id="{EAC18EBD-470C-4851-822B-62D5BD8D2B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00" y="3485"/>
              <a:ext cx="240" cy="0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6114" name="Rectangle 18">
              <a:extLst>
                <a:ext uri="{FF2B5EF4-FFF2-40B4-BE49-F238E27FC236}">
                  <a16:creationId xmlns:a16="http://schemas.microsoft.com/office/drawing/2014/main" id="{F0E24CAE-07E0-4992-822F-993D063FA8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60" y="3293"/>
              <a:ext cx="528" cy="336"/>
            </a:xfrm>
            <a:prstGeom prst="rect">
              <a:avLst/>
            </a:prstGeom>
            <a:blipFill dpi="0" rotWithShape="0">
              <a:blip r:embed="rId2"/>
              <a:srcRect/>
              <a:tile tx="0" ty="0" sx="100000" sy="100000" flip="none" algn="tl"/>
            </a:blip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6115" name="Line 19">
              <a:extLst>
                <a:ext uri="{FF2B5EF4-FFF2-40B4-BE49-F238E27FC236}">
                  <a16:creationId xmlns:a16="http://schemas.microsoft.com/office/drawing/2014/main" id="{1443B90F-BC9F-4704-AA08-65987197169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96" y="3293"/>
              <a:ext cx="0" cy="336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6116" name="Line 20">
              <a:extLst>
                <a:ext uri="{FF2B5EF4-FFF2-40B4-BE49-F238E27FC236}">
                  <a16:creationId xmlns:a16="http://schemas.microsoft.com/office/drawing/2014/main" id="{3F68042F-0BE7-4B87-BBE9-27E0E43F902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72" y="3485"/>
              <a:ext cx="288" cy="0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6117" name="Rectangle 21">
              <a:extLst>
                <a:ext uri="{FF2B5EF4-FFF2-40B4-BE49-F238E27FC236}">
                  <a16:creationId xmlns:a16="http://schemas.microsoft.com/office/drawing/2014/main" id="{AC3F4BA5-8DFD-40BB-B686-0B0C115A1C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0" y="3293"/>
              <a:ext cx="528" cy="336"/>
            </a:xfrm>
            <a:prstGeom prst="rect">
              <a:avLst/>
            </a:prstGeom>
            <a:blipFill dpi="0" rotWithShape="0">
              <a:blip r:embed="rId2"/>
              <a:srcRect/>
              <a:tile tx="0" ty="0" sx="100000" sy="100000" flip="none" algn="tl"/>
            </a:blip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6118" name="Line 22">
              <a:extLst>
                <a:ext uri="{FF2B5EF4-FFF2-40B4-BE49-F238E27FC236}">
                  <a16:creationId xmlns:a16="http://schemas.microsoft.com/office/drawing/2014/main" id="{16F55C4D-9ED8-4D64-AFD7-6036DCBAA9C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16" y="3293"/>
              <a:ext cx="0" cy="336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6119" name="Line 23">
              <a:extLst>
                <a:ext uri="{FF2B5EF4-FFF2-40B4-BE49-F238E27FC236}">
                  <a16:creationId xmlns:a16="http://schemas.microsoft.com/office/drawing/2014/main" id="{BDBB3362-97E3-416F-88F4-6AE1ED2C37F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92" y="3485"/>
              <a:ext cx="288" cy="0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6120" name="Rectangle 24">
              <a:extLst>
                <a:ext uri="{FF2B5EF4-FFF2-40B4-BE49-F238E27FC236}">
                  <a16:creationId xmlns:a16="http://schemas.microsoft.com/office/drawing/2014/main" id="{0F46C725-60A6-4AA1-8E24-A17C7725D3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00" y="3293"/>
              <a:ext cx="528" cy="336"/>
            </a:xfrm>
            <a:prstGeom prst="rect">
              <a:avLst/>
            </a:prstGeom>
            <a:blipFill dpi="0" rotWithShape="0">
              <a:blip r:embed="rId2"/>
              <a:srcRect/>
              <a:tile tx="0" ty="0" sx="100000" sy="100000" flip="none" algn="tl"/>
            </a:blip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6121" name="Line 25">
              <a:extLst>
                <a:ext uri="{FF2B5EF4-FFF2-40B4-BE49-F238E27FC236}">
                  <a16:creationId xmlns:a16="http://schemas.microsoft.com/office/drawing/2014/main" id="{47D8C8DD-16ED-4779-9663-DFDB8D3156E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36" y="3293"/>
              <a:ext cx="0" cy="336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6122" name="Line 26">
              <a:extLst>
                <a:ext uri="{FF2B5EF4-FFF2-40B4-BE49-F238E27FC236}">
                  <a16:creationId xmlns:a16="http://schemas.microsoft.com/office/drawing/2014/main" id="{3EF6AF27-525C-4F3D-B93A-C85A4F181FA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12" y="3485"/>
              <a:ext cx="288" cy="0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6123" name="Rectangle 27">
              <a:extLst>
                <a:ext uri="{FF2B5EF4-FFF2-40B4-BE49-F238E27FC236}">
                  <a16:creationId xmlns:a16="http://schemas.microsoft.com/office/drawing/2014/main" id="{8CA6A821-6382-4436-96FA-ACE988C33F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0" y="3293"/>
              <a:ext cx="576" cy="336"/>
            </a:xfrm>
            <a:prstGeom prst="rect">
              <a:avLst/>
            </a:prstGeom>
            <a:blipFill dpi="0" rotWithShape="0">
              <a:blip r:embed="rId2"/>
              <a:srcRect/>
              <a:tile tx="0" ty="0" sx="100000" sy="100000" flip="none" algn="tl"/>
            </a:blip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6124" name="Line 28">
              <a:extLst>
                <a:ext uri="{FF2B5EF4-FFF2-40B4-BE49-F238E27FC236}">
                  <a16:creationId xmlns:a16="http://schemas.microsoft.com/office/drawing/2014/main" id="{3F00BBFF-68CE-4D2F-AF61-F9CE8EBB9EF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32" y="3485"/>
              <a:ext cx="288" cy="0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6125" name="Text Box 29">
              <a:extLst>
                <a:ext uri="{FF2B5EF4-FFF2-40B4-BE49-F238E27FC236}">
                  <a16:creationId xmlns:a16="http://schemas.microsoft.com/office/drawing/2014/main" id="{18172271-FC2B-4AD0-9FDA-B94DDBF3601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99" y="3293"/>
              <a:ext cx="255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2800" b="1" baseline="0">
                  <a:solidFill>
                    <a:schemeClr val="tx2"/>
                  </a:solidFill>
                  <a:latin typeface="Times New Roman" panose="02020603050405020304" pitchFamily="18" charset="0"/>
                </a:rPr>
                <a:t>f</a:t>
              </a:r>
              <a:r>
                <a:rPr kumimoji="1" lang="en-US" altLang="zh-CN" sz="3200" baseline="0">
                  <a:solidFill>
                    <a:schemeClr val="tx2"/>
                  </a:solidFill>
                  <a:latin typeface="Times New Roman" panose="02020603050405020304" pitchFamily="18" charset="0"/>
                </a:rPr>
                <a:t> </a:t>
              </a:r>
            </a:p>
          </p:txBody>
        </p:sp>
        <p:sp>
          <p:nvSpPr>
            <p:cNvPr id="516126" name="Text Box 30">
              <a:extLst>
                <a:ext uri="{FF2B5EF4-FFF2-40B4-BE49-F238E27FC236}">
                  <a16:creationId xmlns:a16="http://schemas.microsoft.com/office/drawing/2014/main" id="{68B11C72-7981-477C-B7BA-C3172BA55F4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45" y="3293"/>
              <a:ext cx="251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2800" b="1" baseline="0">
                  <a:solidFill>
                    <a:schemeClr val="accent2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</a:t>
              </a:r>
              <a:endParaRPr kumimoji="1" lang="en-US" altLang="zh-CN" sz="2400" baseline="0">
                <a:latin typeface="Times New Roman" panose="02020603050405020304" pitchFamily="18" charset="0"/>
              </a:endParaRPr>
            </a:p>
          </p:txBody>
        </p:sp>
        <p:sp>
          <p:nvSpPr>
            <p:cNvPr id="516127" name="Line 31">
              <a:extLst>
                <a:ext uri="{FF2B5EF4-FFF2-40B4-BE49-F238E27FC236}">
                  <a16:creationId xmlns:a16="http://schemas.microsoft.com/office/drawing/2014/main" id="{8FF9F4C7-8B03-425A-B61C-8C5B8C37114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56" y="3312"/>
              <a:ext cx="0" cy="336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6128" name="Text Box 32">
              <a:extLst>
                <a:ext uri="{FF2B5EF4-FFF2-40B4-BE49-F238E27FC236}">
                  <a16:creationId xmlns:a16="http://schemas.microsoft.com/office/drawing/2014/main" id="{65E3015D-E6EB-48C5-969A-D8156C705D4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48" y="3332"/>
              <a:ext cx="11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endParaRPr kumimoji="1" lang="zh-CN" altLang="zh-CN" sz="2400" baseline="0">
                <a:latin typeface="Times New Roman" panose="02020603050405020304" pitchFamily="18" charset="0"/>
              </a:endParaRPr>
            </a:p>
          </p:txBody>
        </p:sp>
      </p:grpSp>
      <p:sp>
        <p:nvSpPr>
          <p:cNvPr id="516129" name="Rectangle 33">
            <a:extLst>
              <a:ext uri="{FF2B5EF4-FFF2-40B4-BE49-F238E27FC236}">
                <a16:creationId xmlns:a16="http://schemas.microsoft.com/office/drawing/2014/main" id="{71B46E1E-B53D-442C-B346-F5E8A1D6BF3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03238" y="727819"/>
            <a:ext cx="8229600" cy="4463579"/>
          </a:xfrm>
        </p:spPr>
        <p:txBody>
          <a:bodyPr/>
          <a:lstStyle/>
          <a:p>
            <a:pPr marL="0" indent="0">
              <a:buClr>
                <a:srgbClr val="800080"/>
              </a:buClr>
              <a:buSzPct val="55000"/>
              <a:buNone/>
            </a:pPr>
            <a:r>
              <a:rPr lang="zh-CN" altLang="en-US" sz="2400" dirty="0">
                <a:latin typeface="+mn-ea"/>
                <a:ea typeface="+mn-ea"/>
              </a:rPr>
              <a:t>在以 </a:t>
            </a:r>
            <a:r>
              <a:rPr lang="en-US" altLang="zh-CN" sz="2400" dirty="0">
                <a:solidFill>
                  <a:srgbClr val="FF0000"/>
                </a:solidFill>
                <a:latin typeface="+mn-ea"/>
                <a:ea typeface="+mn-ea"/>
              </a:rPr>
              <a:t>f </a:t>
            </a:r>
            <a:r>
              <a:rPr lang="zh-CN" altLang="en-US" sz="2400" dirty="0">
                <a:latin typeface="+mn-ea"/>
                <a:ea typeface="+mn-ea"/>
              </a:rPr>
              <a:t>为表头指针的不带附加头结点的单链表中，</a:t>
            </a:r>
            <a:r>
              <a:rPr lang="zh-CN" altLang="en-US" sz="2400" dirty="0">
                <a:solidFill>
                  <a:srgbClr val="FF0000"/>
                </a:solidFill>
                <a:latin typeface="+mn-ea"/>
                <a:ea typeface="+mn-ea"/>
              </a:rPr>
              <a:t>正向打印</a:t>
            </a:r>
            <a:r>
              <a:rPr lang="zh-CN" altLang="en-US" sz="2400" dirty="0">
                <a:latin typeface="+mn-ea"/>
                <a:ea typeface="+mn-ea"/>
              </a:rPr>
              <a:t>所有结点所存储的数值。</a:t>
            </a:r>
            <a:br>
              <a:rPr lang="zh-CN" altLang="en-US" sz="2400" dirty="0">
                <a:latin typeface="+mn-ea"/>
                <a:ea typeface="+mn-ea"/>
              </a:rPr>
            </a:br>
            <a:r>
              <a:rPr lang="en-US" altLang="zh-CN" sz="2400" dirty="0">
                <a:latin typeface="+mn-lt"/>
                <a:ea typeface="+mn-ea"/>
              </a:rPr>
              <a:t>void </a:t>
            </a:r>
            <a:r>
              <a:rPr lang="en-US" altLang="zh-CN" sz="2400" dirty="0" err="1">
                <a:latin typeface="+mn-lt"/>
                <a:ea typeface="+mn-ea"/>
              </a:rPr>
              <a:t>PrintValue</a:t>
            </a:r>
            <a:r>
              <a:rPr lang="en-US" altLang="zh-CN" sz="2400" dirty="0">
                <a:latin typeface="+mn-lt"/>
                <a:ea typeface="+mn-ea"/>
              </a:rPr>
              <a:t> (</a:t>
            </a:r>
            <a:r>
              <a:rPr lang="en-US" altLang="zh-CN" sz="2400" dirty="0" err="1">
                <a:latin typeface="+mn-lt"/>
                <a:ea typeface="+mn-ea"/>
              </a:rPr>
              <a:t>ListNode</a:t>
            </a:r>
            <a:r>
              <a:rPr lang="en-US" altLang="zh-CN" sz="2400" dirty="0">
                <a:latin typeface="+mn-lt"/>
                <a:ea typeface="+mn-ea"/>
              </a:rPr>
              <a:t> *f ) {</a:t>
            </a:r>
            <a:br>
              <a:rPr lang="en-US" altLang="zh-CN" sz="2400" dirty="0">
                <a:latin typeface="+mn-lt"/>
                <a:ea typeface="+mn-ea"/>
              </a:rPr>
            </a:br>
            <a:r>
              <a:rPr lang="en-US" altLang="zh-CN" sz="2400" dirty="0">
                <a:latin typeface="+mn-lt"/>
                <a:ea typeface="+mn-ea"/>
              </a:rPr>
              <a:t>    if (f != NULL) {		  </a:t>
            </a:r>
            <a:r>
              <a:rPr lang="en-US" altLang="zh-CN" sz="2400" dirty="0">
                <a:solidFill>
                  <a:srgbClr val="00B050"/>
                </a:solidFill>
                <a:latin typeface="+mn-lt"/>
                <a:ea typeface="+mn-ea"/>
              </a:rPr>
              <a:t>// </a:t>
            </a:r>
            <a:r>
              <a:rPr lang="zh-CN" altLang="en-US" sz="2400" dirty="0">
                <a:solidFill>
                  <a:srgbClr val="00B050"/>
                </a:solidFill>
                <a:latin typeface="+mn-lt"/>
                <a:ea typeface="+mn-ea"/>
              </a:rPr>
              <a:t>递归结束条件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zh-CN" altLang="en-US" sz="2400" dirty="0">
                <a:latin typeface="+mn-lt"/>
                <a:ea typeface="+mn-ea"/>
              </a:rPr>
              <a:t>        </a:t>
            </a:r>
            <a:r>
              <a:rPr lang="en-US" altLang="zh-CN" sz="2400" dirty="0" err="1">
                <a:latin typeface="+mn-lt"/>
                <a:ea typeface="+mn-ea"/>
              </a:rPr>
              <a:t>cout</a:t>
            </a:r>
            <a:r>
              <a:rPr lang="en-US" altLang="zh-CN" sz="2400" dirty="0">
                <a:latin typeface="+mn-lt"/>
                <a:ea typeface="+mn-ea"/>
              </a:rPr>
              <a:t> &lt;&lt; f -&gt;data;	  </a:t>
            </a:r>
            <a:r>
              <a:rPr lang="en-US" altLang="zh-CN" sz="2400" dirty="0">
                <a:solidFill>
                  <a:srgbClr val="00B050"/>
                </a:solidFill>
                <a:latin typeface="+mn-lt"/>
                <a:ea typeface="+mn-ea"/>
              </a:rPr>
              <a:t>// </a:t>
            </a:r>
            <a:r>
              <a:rPr lang="zh-CN" altLang="en-US" sz="2400" dirty="0">
                <a:solidFill>
                  <a:srgbClr val="00B050"/>
                </a:solidFill>
                <a:latin typeface="+mn-lt"/>
                <a:ea typeface="+mn-ea"/>
              </a:rPr>
              <a:t>打印当前结点的值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zh-CN" altLang="en-US" sz="2400" dirty="0">
                <a:latin typeface="+mn-lt"/>
                <a:ea typeface="+mn-ea"/>
              </a:rPr>
              <a:t>        </a:t>
            </a:r>
            <a:r>
              <a:rPr lang="en-US" altLang="zh-CN" sz="2400" dirty="0" err="1">
                <a:solidFill>
                  <a:srgbClr val="0000FF"/>
                </a:solidFill>
                <a:latin typeface="+mn-lt"/>
                <a:ea typeface="+mn-ea"/>
              </a:rPr>
              <a:t>PrintValue</a:t>
            </a:r>
            <a:r>
              <a:rPr lang="en-US" altLang="zh-CN" sz="2400" dirty="0">
                <a:solidFill>
                  <a:srgbClr val="0000FF"/>
                </a:solidFill>
                <a:latin typeface="+mn-lt"/>
                <a:ea typeface="+mn-ea"/>
              </a:rPr>
              <a:t> (f -&gt;link);</a:t>
            </a:r>
            <a:r>
              <a:rPr lang="en-US" altLang="zh-CN" sz="2400" dirty="0">
                <a:latin typeface="+mn-lt"/>
                <a:ea typeface="+mn-ea"/>
              </a:rPr>
              <a:t>   </a:t>
            </a:r>
            <a:r>
              <a:rPr lang="en-US" altLang="zh-CN" sz="2400" dirty="0">
                <a:solidFill>
                  <a:srgbClr val="00B050"/>
                </a:solidFill>
                <a:latin typeface="+mn-lt"/>
                <a:ea typeface="+mn-ea"/>
              </a:rPr>
              <a:t>// </a:t>
            </a:r>
            <a:r>
              <a:rPr lang="zh-CN" altLang="en-US" sz="2400" dirty="0">
                <a:solidFill>
                  <a:srgbClr val="00B050"/>
                </a:solidFill>
                <a:latin typeface="+mn-lt"/>
                <a:ea typeface="+mn-ea"/>
              </a:rPr>
              <a:t>递归打印后续链表</a:t>
            </a:r>
            <a:endParaRPr lang="en-US" altLang="zh-CN" sz="2400" dirty="0">
              <a:solidFill>
                <a:srgbClr val="00B050"/>
              </a:solidFill>
              <a:latin typeface="+mn-lt"/>
              <a:ea typeface="+mn-ea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2400" dirty="0">
                <a:solidFill>
                  <a:schemeClr val="tx2"/>
                </a:solidFill>
                <a:latin typeface="+mn-lt"/>
                <a:ea typeface="+mn-ea"/>
              </a:rPr>
              <a:t>    </a:t>
            </a:r>
            <a:r>
              <a:rPr lang="en-US" altLang="zh-CN" sz="2400" dirty="0">
                <a:latin typeface="+mn-lt"/>
                <a:ea typeface="+mn-ea"/>
              </a:rPr>
              <a:t>}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2400" dirty="0">
                <a:latin typeface="+mn-lt"/>
                <a:ea typeface="+mn-ea"/>
              </a:rPr>
              <a:t>}</a:t>
            </a:r>
          </a:p>
        </p:txBody>
      </p:sp>
      <p:grpSp>
        <p:nvGrpSpPr>
          <p:cNvPr id="516130" name="Group 34">
            <a:extLst>
              <a:ext uri="{FF2B5EF4-FFF2-40B4-BE49-F238E27FC236}">
                <a16:creationId xmlns:a16="http://schemas.microsoft.com/office/drawing/2014/main" id="{170E8667-EF37-43C3-9963-665E4ADB6069}"/>
              </a:ext>
            </a:extLst>
          </p:cNvPr>
          <p:cNvGrpSpPr>
            <a:grpSpLocks/>
          </p:cNvGrpSpPr>
          <p:nvPr/>
        </p:nvGrpSpPr>
        <p:grpSpPr bwMode="auto">
          <a:xfrm>
            <a:off x="5832475" y="5937522"/>
            <a:ext cx="649288" cy="731838"/>
            <a:chOff x="3191" y="3581"/>
            <a:chExt cx="409" cy="461"/>
          </a:xfrm>
        </p:grpSpPr>
        <p:sp>
          <p:nvSpPr>
            <p:cNvPr id="516131" name="Line 35">
              <a:extLst>
                <a:ext uri="{FF2B5EF4-FFF2-40B4-BE49-F238E27FC236}">
                  <a16:creationId xmlns:a16="http://schemas.microsoft.com/office/drawing/2014/main" id="{9A602F46-081D-4935-96A5-B175A0E911E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408" y="3581"/>
              <a:ext cx="192" cy="240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  <a:headEnd type="triangle" w="sm" len="lg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6132" name="Text Box 36">
              <a:extLst>
                <a:ext uri="{FF2B5EF4-FFF2-40B4-BE49-F238E27FC236}">
                  <a16:creationId xmlns:a16="http://schemas.microsoft.com/office/drawing/2014/main" id="{94C1D6AB-A08A-4C86-BB69-E69835E3DE4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91" y="3677"/>
              <a:ext cx="255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2800" b="1" baseline="0">
                  <a:solidFill>
                    <a:schemeClr val="tx2"/>
                  </a:solidFill>
                  <a:latin typeface="Times New Roman" panose="02020603050405020304" pitchFamily="18" charset="0"/>
                </a:rPr>
                <a:t>f</a:t>
              </a:r>
              <a:r>
                <a:rPr kumimoji="1" lang="en-US" altLang="zh-CN" sz="3200" baseline="0">
                  <a:solidFill>
                    <a:schemeClr val="tx2"/>
                  </a:solidFill>
                  <a:latin typeface="Times New Roman" panose="02020603050405020304" pitchFamily="18" charset="0"/>
                </a:rPr>
                <a:t> </a:t>
              </a:r>
            </a:p>
          </p:txBody>
        </p:sp>
      </p:grpSp>
      <p:grpSp>
        <p:nvGrpSpPr>
          <p:cNvPr id="516133" name="Group 37">
            <a:extLst>
              <a:ext uri="{FF2B5EF4-FFF2-40B4-BE49-F238E27FC236}">
                <a16:creationId xmlns:a16="http://schemas.microsoft.com/office/drawing/2014/main" id="{7804E406-F777-47A1-9C0C-2BBF2A8B6AF1}"/>
              </a:ext>
            </a:extLst>
          </p:cNvPr>
          <p:cNvGrpSpPr>
            <a:grpSpLocks/>
          </p:cNvGrpSpPr>
          <p:nvPr/>
        </p:nvGrpSpPr>
        <p:grpSpPr bwMode="auto">
          <a:xfrm>
            <a:off x="7019925" y="5937522"/>
            <a:ext cx="649288" cy="731838"/>
            <a:chOff x="3191" y="3581"/>
            <a:chExt cx="409" cy="461"/>
          </a:xfrm>
        </p:grpSpPr>
        <p:sp>
          <p:nvSpPr>
            <p:cNvPr id="516134" name="Line 38">
              <a:extLst>
                <a:ext uri="{FF2B5EF4-FFF2-40B4-BE49-F238E27FC236}">
                  <a16:creationId xmlns:a16="http://schemas.microsoft.com/office/drawing/2014/main" id="{167CCAE8-88EC-4003-AB29-31BF0EB9F4A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408" y="3581"/>
              <a:ext cx="192" cy="240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  <a:headEnd type="triangle" w="sm" len="lg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6135" name="Text Box 39">
              <a:extLst>
                <a:ext uri="{FF2B5EF4-FFF2-40B4-BE49-F238E27FC236}">
                  <a16:creationId xmlns:a16="http://schemas.microsoft.com/office/drawing/2014/main" id="{D52DFD1C-4289-455B-9AF6-029DC03913A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91" y="3677"/>
              <a:ext cx="255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2800" b="1" baseline="0" dirty="0">
                  <a:solidFill>
                    <a:schemeClr val="tx2"/>
                  </a:solidFill>
                  <a:latin typeface="Times New Roman" panose="02020603050405020304" pitchFamily="18" charset="0"/>
                </a:rPr>
                <a:t>f</a:t>
              </a:r>
              <a:r>
                <a:rPr kumimoji="1" lang="en-US" altLang="zh-CN" sz="3200" baseline="0" dirty="0">
                  <a:solidFill>
                    <a:schemeClr val="tx2"/>
                  </a:solidFill>
                  <a:latin typeface="Times New Roman" panose="02020603050405020304" pitchFamily="18" charset="0"/>
                </a:rPr>
                <a:t> </a:t>
              </a:r>
            </a:p>
          </p:txBody>
        </p:sp>
      </p:grpSp>
      <p:sp>
        <p:nvSpPr>
          <p:cNvPr id="41" name="Rectangle 2">
            <a:extLst>
              <a:ext uri="{FF2B5EF4-FFF2-40B4-BE49-F238E27FC236}">
                <a16:creationId xmlns:a16="http://schemas.microsoft.com/office/drawing/2014/main" id="{89CE9493-87A8-40BE-889F-F78BD127B9A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27584" y="49408"/>
            <a:ext cx="7772400" cy="811212"/>
          </a:xfrm>
        </p:spPr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</a:rPr>
              <a:t>链表的递归结构定义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6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160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6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516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6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516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6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516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6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516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6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516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7123" name="Group 3">
            <a:extLst>
              <a:ext uri="{FF2B5EF4-FFF2-40B4-BE49-F238E27FC236}">
                <a16:creationId xmlns:a16="http://schemas.microsoft.com/office/drawing/2014/main" id="{1515BCC5-9E85-4D62-AA01-339759A6D651}"/>
              </a:ext>
            </a:extLst>
          </p:cNvPr>
          <p:cNvGrpSpPr>
            <a:grpSpLocks/>
          </p:cNvGrpSpPr>
          <p:nvPr/>
        </p:nvGrpSpPr>
        <p:grpSpPr bwMode="auto">
          <a:xfrm>
            <a:off x="2411413" y="6009530"/>
            <a:ext cx="649287" cy="731838"/>
            <a:chOff x="1751" y="3581"/>
            <a:chExt cx="409" cy="461"/>
          </a:xfrm>
        </p:grpSpPr>
        <p:sp>
          <p:nvSpPr>
            <p:cNvPr id="517124" name="Line 4">
              <a:extLst>
                <a:ext uri="{FF2B5EF4-FFF2-40B4-BE49-F238E27FC236}">
                  <a16:creationId xmlns:a16="http://schemas.microsoft.com/office/drawing/2014/main" id="{1E29B676-4E82-4119-8166-81D0B4FC8B0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968" y="3581"/>
              <a:ext cx="192" cy="240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  <a:headEnd type="triangle" w="sm" len="lg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7125" name="Text Box 5">
              <a:extLst>
                <a:ext uri="{FF2B5EF4-FFF2-40B4-BE49-F238E27FC236}">
                  <a16:creationId xmlns:a16="http://schemas.microsoft.com/office/drawing/2014/main" id="{EC9609C6-54B0-41C7-AF3B-B0082649A85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51" y="3677"/>
              <a:ext cx="255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2800" b="1" baseline="0">
                  <a:solidFill>
                    <a:schemeClr val="tx2"/>
                  </a:solidFill>
                  <a:latin typeface="Times New Roman" panose="02020603050405020304" pitchFamily="18" charset="0"/>
                </a:rPr>
                <a:t>f</a:t>
              </a:r>
              <a:r>
                <a:rPr kumimoji="1" lang="en-US" altLang="zh-CN" sz="3200" baseline="0">
                  <a:solidFill>
                    <a:schemeClr val="tx2"/>
                  </a:solidFill>
                  <a:latin typeface="Times New Roman" panose="02020603050405020304" pitchFamily="18" charset="0"/>
                </a:rPr>
                <a:t> </a:t>
              </a:r>
            </a:p>
          </p:txBody>
        </p:sp>
      </p:grpSp>
      <p:grpSp>
        <p:nvGrpSpPr>
          <p:cNvPr id="517126" name="Group 6">
            <a:extLst>
              <a:ext uri="{FF2B5EF4-FFF2-40B4-BE49-F238E27FC236}">
                <a16:creationId xmlns:a16="http://schemas.microsoft.com/office/drawing/2014/main" id="{C8BBBBC2-13D7-4E47-A886-2B1459446019}"/>
              </a:ext>
            </a:extLst>
          </p:cNvPr>
          <p:cNvGrpSpPr>
            <a:grpSpLocks/>
          </p:cNvGrpSpPr>
          <p:nvPr/>
        </p:nvGrpSpPr>
        <p:grpSpPr bwMode="auto">
          <a:xfrm>
            <a:off x="3563938" y="6009530"/>
            <a:ext cx="649287" cy="731838"/>
            <a:chOff x="2471" y="3581"/>
            <a:chExt cx="409" cy="461"/>
          </a:xfrm>
        </p:grpSpPr>
        <p:sp>
          <p:nvSpPr>
            <p:cNvPr id="517127" name="Line 7">
              <a:extLst>
                <a:ext uri="{FF2B5EF4-FFF2-40B4-BE49-F238E27FC236}">
                  <a16:creationId xmlns:a16="http://schemas.microsoft.com/office/drawing/2014/main" id="{E1CE4789-12D4-4FFC-8BA1-C8FE08C2E81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688" y="3581"/>
              <a:ext cx="192" cy="240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  <a:headEnd type="triangle" w="sm" len="lg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7128" name="Text Box 8">
              <a:extLst>
                <a:ext uri="{FF2B5EF4-FFF2-40B4-BE49-F238E27FC236}">
                  <a16:creationId xmlns:a16="http://schemas.microsoft.com/office/drawing/2014/main" id="{61EA43B6-E254-4FCF-B695-BEB5FFC6883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71" y="3677"/>
              <a:ext cx="255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2800" b="1" baseline="0">
                  <a:solidFill>
                    <a:schemeClr val="tx2"/>
                  </a:solidFill>
                  <a:latin typeface="Times New Roman" panose="02020603050405020304" pitchFamily="18" charset="0"/>
                </a:rPr>
                <a:t>f</a:t>
              </a:r>
              <a:r>
                <a:rPr kumimoji="1" lang="en-US" altLang="zh-CN" sz="3200" baseline="0">
                  <a:solidFill>
                    <a:schemeClr val="tx2"/>
                  </a:solidFill>
                  <a:latin typeface="Times New Roman" panose="02020603050405020304" pitchFamily="18" charset="0"/>
                </a:rPr>
                <a:t> </a:t>
              </a:r>
            </a:p>
          </p:txBody>
        </p:sp>
      </p:grpSp>
      <p:grpSp>
        <p:nvGrpSpPr>
          <p:cNvPr id="517129" name="Group 9">
            <a:extLst>
              <a:ext uri="{FF2B5EF4-FFF2-40B4-BE49-F238E27FC236}">
                <a16:creationId xmlns:a16="http://schemas.microsoft.com/office/drawing/2014/main" id="{574D0800-8011-47C7-A783-9EB310FF95E7}"/>
              </a:ext>
            </a:extLst>
          </p:cNvPr>
          <p:cNvGrpSpPr>
            <a:grpSpLocks/>
          </p:cNvGrpSpPr>
          <p:nvPr/>
        </p:nvGrpSpPr>
        <p:grpSpPr bwMode="auto">
          <a:xfrm>
            <a:off x="4716463" y="6009530"/>
            <a:ext cx="649287" cy="731838"/>
            <a:chOff x="3191" y="3581"/>
            <a:chExt cx="409" cy="461"/>
          </a:xfrm>
        </p:grpSpPr>
        <p:sp>
          <p:nvSpPr>
            <p:cNvPr id="517130" name="Line 10">
              <a:extLst>
                <a:ext uri="{FF2B5EF4-FFF2-40B4-BE49-F238E27FC236}">
                  <a16:creationId xmlns:a16="http://schemas.microsoft.com/office/drawing/2014/main" id="{C42DAC76-87A3-436B-B049-6A2CAA42D75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408" y="3581"/>
              <a:ext cx="192" cy="240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  <a:headEnd type="triangle" w="sm" len="lg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7131" name="Text Box 11">
              <a:extLst>
                <a:ext uri="{FF2B5EF4-FFF2-40B4-BE49-F238E27FC236}">
                  <a16:creationId xmlns:a16="http://schemas.microsoft.com/office/drawing/2014/main" id="{CC50D0E9-CA2B-4D9D-8C7C-F23B235CD39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91" y="3677"/>
              <a:ext cx="255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2800" b="1" baseline="0">
                  <a:solidFill>
                    <a:schemeClr val="tx2"/>
                  </a:solidFill>
                  <a:latin typeface="Times New Roman" panose="02020603050405020304" pitchFamily="18" charset="0"/>
                </a:rPr>
                <a:t>f</a:t>
              </a:r>
              <a:r>
                <a:rPr kumimoji="1" lang="en-US" altLang="zh-CN" sz="3200" baseline="0">
                  <a:solidFill>
                    <a:schemeClr val="tx2"/>
                  </a:solidFill>
                  <a:latin typeface="Times New Roman" panose="02020603050405020304" pitchFamily="18" charset="0"/>
                </a:rPr>
                <a:t> </a:t>
              </a:r>
            </a:p>
          </p:txBody>
        </p:sp>
      </p:grpSp>
      <p:sp>
        <p:nvSpPr>
          <p:cNvPr id="517132" name="Line 12">
            <a:extLst>
              <a:ext uri="{FF2B5EF4-FFF2-40B4-BE49-F238E27FC236}">
                <a16:creationId xmlns:a16="http://schemas.microsoft.com/office/drawing/2014/main" id="{653C5C44-35FA-4655-9341-F29A43F70716}"/>
              </a:ext>
            </a:extLst>
          </p:cNvPr>
          <p:cNvSpPr>
            <a:spLocks noChangeShapeType="1"/>
          </p:cNvSpPr>
          <p:nvPr/>
        </p:nvSpPr>
        <p:spPr bwMode="auto">
          <a:xfrm>
            <a:off x="2376488" y="5325318"/>
            <a:ext cx="4343400" cy="0"/>
          </a:xfrm>
          <a:prstGeom prst="line">
            <a:avLst/>
          </a:prstGeom>
          <a:noFill/>
          <a:ln w="28575">
            <a:solidFill>
              <a:schemeClr val="accent5">
                <a:lumMod val="50000"/>
              </a:schemeClr>
            </a:solidFill>
            <a:round/>
            <a:headEnd type="triangle" w="med" len="lg"/>
            <a:tailEnd type="non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17133" name="Text Box 13">
            <a:extLst>
              <a:ext uri="{FF2B5EF4-FFF2-40B4-BE49-F238E27FC236}">
                <a16:creationId xmlns:a16="http://schemas.microsoft.com/office/drawing/2014/main" id="{70B30AAB-5000-48F0-9FB4-6A5A1142A2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10395" y="4755405"/>
            <a:ext cx="3833813" cy="488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505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zh-CN" altLang="en-US" sz="2600" b="1" baseline="0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ea typeface="仿宋_GB2312" pitchFamily="49" charset="-122"/>
              </a:rPr>
              <a:t>递归返回后打印结点的值</a:t>
            </a:r>
          </a:p>
        </p:txBody>
      </p:sp>
      <p:grpSp>
        <p:nvGrpSpPr>
          <p:cNvPr id="517134" name="Group 14">
            <a:extLst>
              <a:ext uri="{FF2B5EF4-FFF2-40B4-BE49-F238E27FC236}">
                <a16:creationId xmlns:a16="http://schemas.microsoft.com/office/drawing/2014/main" id="{78FE0044-8A94-4E11-BA80-F28984947315}"/>
              </a:ext>
            </a:extLst>
          </p:cNvPr>
          <p:cNvGrpSpPr>
            <a:grpSpLocks/>
          </p:cNvGrpSpPr>
          <p:nvPr/>
        </p:nvGrpSpPr>
        <p:grpSpPr bwMode="auto">
          <a:xfrm>
            <a:off x="1223963" y="5480893"/>
            <a:ext cx="6186487" cy="579437"/>
            <a:chOff x="999" y="3293"/>
            <a:chExt cx="3897" cy="365"/>
          </a:xfrm>
        </p:grpSpPr>
        <p:sp>
          <p:nvSpPr>
            <p:cNvPr id="517135" name="Rectangle 15">
              <a:extLst>
                <a:ext uri="{FF2B5EF4-FFF2-40B4-BE49-F238E27FC236}">
                  <a16:creationId xmlns:a16="http://schemas.microsoft.com/office/drawing/2014/main" id="{B3F15A54-21DE-4713-8929-6643446FD3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0" y="3293"/>
              <a:ext cx="528" cy="336"/>
            </a:xfrm>
            <a:prstGeom prst="rect">
              <a:avLst/>
            </a:prstGeom>
            <a:blipFill dpi="0" rotWithShape="0">
              <a:blip r:embed="rId2"/>
              <a:srcRect/>
              <a:tile tx="0" ty="0" sx="100000" sy="100000" flip="none" algn="tl"/>
            </a:blip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7136" name="Line 16">
              <a:extLst>
                <a:ext uri="{FF2B5EF4-FFF2-40B4-BE49-F238E27FC236}">
                  <a16:creationId xmlns:a16="http://schemas.microsoft.com/office/drawing/2014/main" id="{A1179002-0A7A-4415-BC5D-3C0A4DE2A0C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76" y="3293"/>
              <a:ext cx="0" cy="336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7137" name="Line 17">
              <a:extLst>
                <a:ext uri="{FF2B5EF4-FFF2-40B4-BE49-F238E27FC236}">
                  <a16:creationId xmlns:a16="http://schemas.microsoft.com/office/drawing/2014/main" id="{7B1A8F5E-E557-4DB7-85A0-0AE3D572A60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00" y="3485"/>
              <a:ext cx="240" cy="0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7138" name="Rectangle 18">
              <a:extLst>
                <a:ext uri="{FF2B5EF4-FFF2-40B4-BE49-F238E27FC236}">
                  <a16:creationId xmlns:a16="http://schemas.microsoft.com/office/drawing/2014/main" id="{20691689-0F0F-4DD6-ADE8-237814172C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60" y="3293"/>
              <a:ext cx="528" cy="336"/>
            </a:xfrm>
            <a:prstGeom prst="rect">
              <a:avLst/>
            </a:prstGeom>
            <a:blipFill dpi="0" rotWithShape="0">
              <a:blip r:embed="rId2"/>
              <a:srcRect/>
              <a:tile tx="0" ty="0" sx="100000" sy="100000" flip="none" algn="tl"/>
            </a:blip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7139" name="Line 19">
              <a:extLst>
                <a:ext uri="{FF2B5EF4-FFF2-40B4-BE49-F238E27FC236}">
                  <a16:creationId xmlns:a16="http://schemas.microsoft.com/office/drawing/2014/main" id="{A6BE1A66-7C40-4CD1-9897-8F1B963F826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96" y="3293"/>
              <a:ext cx="0" cy="336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7140" name="Line 20">
              <a:extLst>
                <a:ext uri="{FF2B5EF4-FFF2-40B4-BE49-F238E27FC236}">
                  <a16:creationId xmlns:a16="http://schemas.microsoft.com/office/drawing/2014/main" id="{8C6D7FD5-C99D-4566-ADB7-33FB2C75C27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72" y="3485"/>
              <a:ext cx="288" cy="0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7141" name="Rectangle 21">
              <a:extLst>
                <a:ext uri="{FF2B5EF4-FFF2-40B4-BE49-F238E27FC236}">
                  <a16:creationId xmlns:a16="http://schemas.microsoft.com/office/drawing/2014/main" id="{93301C4C-CFBD-4663-84AA-95997520B9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0" y="3293"/>
              <a:ext cx="528" cy="336"/>
            </a:xfrm>
            <a:prstGeom prst="rect">
              <a:avLst/>
            </a:prstGeom>
            <a:blipFill dpi="0" rotWithShape="0">
              <a:blip r:embed="rId2"/>
              <a:srcRect/>
              <a:tile tx="0" ty="0" sx="100000" sy="100000" flip="none" algn="tl"/>
            </a:blip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7142" name="Line 22">
              <a:extLst>
                <a:ext uri="{FF2B5EF4-FFF2-40B4-BE49-F238E27FC236}">
                  <a16:creationId xmlns:a16="http://schemas.microsoft.com/office/drawing/2014/main" id="{2128A263-1AE7-4812-A2BB-D32C267473C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16" y="3293"/>
              <a:ext cx="0" cy="336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7143" name="Line 23">
              <a:extLst>
                <a:ext uri="{FF2B5EF4-FFF2-40B4-BE49-F238E27FC236}">
                  <a16:creationId xmlns:a16="http://schemas.microsoft.com/office/drawing/2014/main" id="{F7FB077F-FBE8-460D-B757-14DA1C58F8D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92" y="3485"/>
              <a:ext cx="288" cy="0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7144" name="Rectangle 24">
              <a:extLst>
                <a:ext uri="{FF2B5EF4-FFF2-40B4-BE49-F238E27FC236}">
                  <a16:creationId xmlns:a16="http://schemas.microsoft.com/office/drawing/2014/main" id="{B3487B56-F7A1-42E4-B51C-25C4BF9CCD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00" y="3293"/>
              <a:ext cx="528" cy="336"/>
            </a:xfrm>
            <a:prstGeom prst="rect">
              <a:avLst/>
            </a:prstGeom>
            <a:blipFill dpi="0" rotWithShape="0">
              <a:blip r:embed="rId2"/>
              <a:srcRect/>
              <a:tile tx="0" ty="0" sx="100000" sy="100000" flip="none" algn="tl"/>
            </a:blip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7145" name="Line 25">
              <a:extLst>
                <a:ext uri="{FF2B5EF4-FFF2-40B4-BE49-F238E27FC236}">
                  <a16:creationId xmlns:a16="http://schemas.microsoft.com/office/drawing/2014/main" id="{BB5EF324-485D-49B4-9EE7-1D5D848B781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36" y="3293"/>
              <a:ext cx="0" cy="336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7146" name="Line 26">
              <a:extLst>
                <a:ext uri="{FF2B5EF4-FFF2-40B4-BE49-F238E27FC236}">
                  <a16:creationId xmlns:a16="http://schemas.microsoft.com/office/drawing/2014/main" id="{C44D4034-F3B3-4E8F-BE77-F9D70BF2734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12" y="3485"/>
              <a:ext cx="288" cy="0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7147" name="Rectangle 27">
              <a:extLst>
                <a:ext uri="{FF2B5EF4-FFF2-40B4-BE49-F238E27FC236}">
                  <a16:creationId xmlns:a16="http://schemas.microsoft.com/office/drawing/2014/main" id="{30EB3AA9-6DD6-4E25-B2AD-3C1AE84427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0" y="3293"/>
              <a:ext cx="576" cy="336"/>
            </a:xfrm>
            <a:prstGeom prst="rect">
              <a:avLst/>
            </a:prstGeom>
            <a:blipFill dpi="0" rotWithShape="0">
              <a:blip r:embed="rId2"/>
              <a:srcRect/>
              <a:tile tx="0" ty="0" sx="100000" sy="100000" flip="none" algn="tl"/>
            </a:blipFill>
            <a:ln w="9525">
              <a:solidFill>
                <a:schemeClr val="accent2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7148" name="Line 28">
              <a:extLst>
                <a:ext uri="{FF2B5EF4-FFF2-40B4-BE49-F238E27FC236}">
                  <a16:creationId xmlns:a16="http://schemas.microsoft.com/office/drawing/2014/main" id="{4F9D97CF-5231-43E0-B157-8E1AA15EF03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32" y="3485"/>
              <a:ext cx="288" cy="0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7149" name="Text Box 29">
              <a:extLst>
                <a:ext uri="{FF2B5EF4-FFF2-40B4-BE49-F238E27FC236}">
                  <a16:creationId xmlns:a16="http://schemas.microsoft.com/office/drawing/2014/main" id="{9510545A-1E0A-4107-9A3D-67A160FB925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99" y="3293"/>
              <a:ext cx="255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2800" b="1" baseline="0">
                  <a:solidFill>
                    <a:schemeClr val="tx2"/>
                  </a:solidFill>
                  <a:latin typeface="Times New Roman" panose="02020603050405020304" pitchFamily="18" charset="0"/>
                </a:rPr>
                <a:t>f</a:t>
              </a:r>
              <a:r>
                <a:rPr kumimoji="1" lang="en-US" altLang="zh-CN" sz="3200" baseline="0">
                  <a:solidFill>
                    <a:schemeClr val="tx2"/>
                  </a:solidFill>
                  <a:latin typeface="Times New Roman" panose="02020603050405020304" pitchFamily="18" charset="0"/>
                </a:rPr>
                <a:t> </a:t>
              </a:r>
            </a:p>
          </p:txBody>
        </p:sp>
        <p:sp>
          <p:nvSpPr>
            <p:cNvPr id="517150" name="Text Box 30">
              <a:extLst>
                <a:ext uri="{FF2B5EF4-FFF2-40B4-BE49-F238E27FC236}">
                  <a16:creationId xmlns:a16="http://schemas.microsoft.com/office/drawing/2014/main" id="{2E0C6A84-30A5-441E-BDA4-0F9E316065C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45" y="3293"/>
              <a:ext cx="251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2800" b="1" baseline="0">
                  <a:solidFill>
                    <a:schemeClr val="accent2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</a:t>
              </a:r>
              <a:endParaRPr kumimoji="1" lang="en-US" altLang="zh-CN" sz="2400" baseline="0">
                <a:latin typeface="Times New Roman" panose="02020603050405020304" pitchFamily="18" charset="0"/>
              </a:endParaRPr>
            </a:p>
          </p:txBody>
        </p:sp>
        <p:sp>
          <p:nvSpPr>
            <p:cNvPr id="517151" name="Line 31">
              <a:extLst>
                <a:ext uri="{FF2B5EF4-FFF2-40B4-BE49-F238E27FC236}">
                  <a16:creationId xmlns:a16="http://schemas.microsoft.com/office/drawing/2014/main" id="{CE5537C0-6EA1-4801-ABD5-C3D77BFFB3B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56" y="3312"/>
              <a:ext cx="0" cy="336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7152" name="Text Box 32">
              <a:extLst>
                <a:ext uri="{FF2B5EF4-FFF2-40B4-BE49-F238E27FC236}">
                  <a16:creationId xmlns:a16="http://schemas.microsoft.com/office/drawing/2014/main" id="{721A4D15-9CAF-4729-9262-3420E0F241C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48" y="3332"/>
              <a:ext cx="11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endParaRPr kumimoji="1" lang="zh-CN" altLang="zh-CN" sz="2400" baseline="0">
                <a:latin typeface="Times New Roman" panose="02020603050405020304" pitchFamily="18" charset="0"/>
              </a:endParaRPr>
            </a:p>
          </p:txBody>
        </p:sp>
      </p:grpSp>
      <p:sp>
        <p:nvSpPr>
          <p:cNvPr id="517153" name="Rectangle 33">
            <a:extLst>
              <a:ext uri="{FF2B5EF4-FFF2-40B4-BE49-F238E27FC236}">
                <a16:creationId xmlns:a16="http://schemas.microsoft.com/office/drawing/2014/main" id="{F9718AAE-1EF5-4F62-9DAA-F08AA83E024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03238" y="764704"/>
            <a:ext cx="8229600" cy="4445744"/>
          </a:xfrm>
        </p:spPr>
        <p:txBody>
          <a:bodyPr/>
          <a:lstStyle/>
          <a:p>
            <a:pPr marL="0" indent="0">
              <a:buClr>
                <a:srgbClr val="800080"/>
              </a:buClr>
              <a:buSzPct val="55000"/>
              <a:buNone/>
            </a:pPr>
            <a:r>
              <a:rPr lang="zh-CN" altLang="en-US" sz="2400" dirty="0">
                <a:latin typeface="+mn-ea"/>
                <a:ea typeface="+mn-ea"/>
              </a:rPr>
              <a:t>在以</a:t>
            </a:r>
            <a:r>
              <a:rPr lang="zh-CN" altLang="en-US" sz="2400" dirty="0">
                <a:solidFill>
                  <a:schemeClr val="tx2"/>
                </a:solidFill>
                <a:latin typeface="+mn-ea"/>
                <a:ea typeface="+mn-ea"/>
              </a:rPr>
              <a:t> </a:t>
            </a:r>
            <a:r>
              <a:rPr lang="en-US" altLang="zh-CN" sz="2400" dirty="0">
                <a:solidFill>
                  <a:srgbClr val="FF0000"/>
                </a:solidFill>
                <a:latin typeface="+mn-ea"/>
                <a:ea typeface="+mn-ea"/>
              </a:rPr>
              <a:t>f</a:t>
            </a:r>
            <a:r>
              <a:rPr lang="en-US" altLang="zh-CN" sz="2400" dirty="0">
                <a:solidFill>
                  <a:schemeClr val="tx2"/>
                </a:solidFill>
                <a:latin typeface="+mn-ea"/>
                <a:ea typeface="+mn-ea"/>
              </a:rPr>
              <a:t> </a:t>
            </a:r>
            <a:r>
              <a:rPr lang="zh-CN" altLang="en-US" sz="2400" dirty="0">
                <a:latin typeface="+mn-ea"/>
                <a:ea typeface="+mn-ea"/>
              </a:rPr>
              <a:t>为表头指针的不带附加头结点的单链表中，</a:t>
            </a:r>
            <a:r>
              <a:rPr lang="zh-CN" altLang="en-US" sz="2400" dirty="0">
                <a:solidFill>
                  <a:srgbClr val="FF0000"/>
                </a:solidFill>
                <a:latin typeface="+mn-ea"/>
                <a:ea typeface="+mn-ea"/>
              </a:rPr>
              <a:t>反向打印</a:t>
            </a:r>
            <a:r>
              <a:rPr lang="zh-CN" altLang="en-US" sz="2400" dirty="0">
                <a:latin typeface="+mn-ea"/>
                <a:ea typeface="+mn-ea"/>
              </a:rPr>
              <a:t>所有结点所存储的数值。</a:t>
            </a:r>
            <a:br>
              <a:rPr lang="zh-CN" altLang="en-US" sz="2400" dirty="0">
                <a:latin typeface="+mn-ea"/>
                <a:ea typeface="+mn-ea"/>
              </a:rPr>
            </a:br>
            <a:r>
              <a:rPr lang="en-US" altLang="zh-CN" sz="2400" dirty="0">
                <a:latin typeface="+mn-lt"/>
                <a:ea typeface="+mn-ea"/>
              </a:rPr>
              <a:t>void </a:t>
            </a:r>
            <a:r>
              <a:rPr lang="en-US" altLang="zh-CN" sz="2400" dirty="0" err="1">
                <a:latin typeface="+mn-lt"/>
                <a:ea typeface="+mn-ea"/>
              </a:rPr>
              <a:t>PrintValue</a:t>
            </a:r>
            <a:r>
              <a:rPr lang="en-US" altLang="zh-CN" sz="2400" dirty="0">
                <a:latin typeface="+mn-lt"/>
                <a:ea typeface="+mn-ea"/>
              </a:rPr>
              <a:t> (</a:t>
            </a:r>
            <a:r>
              <a:rPr lang="en-US" altLang="zh-CN" sz="2400" dirty="0" err="1">
                <a:latin typeface="+mn-lt"/>
                <a:ea typeface="+mn-ea"/>
              </a:rPr>
              <a:t>ListNode</a:t>
            </a:r>
            <a:r>
              <a:rPr lang="en-US" altLang="zh-CN" sz="2400" dirty="0">
                <a:latin typeface="+mn-lt"/>
                <a:ea typeface="+mn-ea"/>
              </a:rPr>
              <a:t> *f ) {</a:t>
            </a:r>
            <a:br>
              <a:rPr lang="en-US" altLang="zh-CN" sz="2400" dirty="0">
                <a:latin typeface="+mn-lt"/>
                <a:ea typeface="+mn-ea"/>
              </a:rPr>
            </a:br>
            <a:r>
              <a:rPr lang="en-US" altLang="zh-CN" sz="2400" dirty="0">
                <a:latin typeface="+mn-lt"/>
                <a:ea typeface="+mn-ea"/>
              </a:rPr>
              <a:t>    if (f != NULL) {	          </a:t>
            </a:r>
            <a:r>
              <a:rPr lang="en-US" altLang="zh-CN" sz="2400" dirty="0">
                <a:solidFill>
                  <a:srgbClr val="00B050"/>
                </a:solidFill>
                <a:latin typeface="+mn-lt"/>
                <a:ea typeface="+mn-ea"/>
              </a:rPr>
              <a:t>// </a:t>
            </a:r>
            <a:r>
              <a:rPr lang="zh-CN" altLang="en-US" sz="2400" dirty="0">
                <a:solidFill>
                  <a:srgbClr val="00B050"/>
                </a:solidFill>
                <a:latin typeface="+mn-lt"/>
                <a:ea typeface="+mn-ea"/>
              </a:rPr>
              <a:t>递归结束条件</a:t>
            </a:r>
          </a:p>
          <a:p>
            <a:pPr marL="0" indent="0">
              <a:buNone/>
            </a:pPr>
            <a:r>
              <a:rPr lang="zh-CN" altLang="en-US" sz="2400" dirty="0">
                <a:latin typeface="+mn-lt"/>
                <a:ea typeface="+mn-ea"/>
              </a:rPr>
              <a:t>        </a:t>
            </a:r>
            <a:r>
              <a:rPr lang="en-US" altLang="zh-CN" sz="2400" dirty="0" err="1">
                <a:solidFill>
                  <a:srgbClr val="0000FF"/>
                </a:solidFill>
                <a:latin typeface="+mn-lt"/>
                <a:ea typeface="+mn-ea"/>
              </a:rPr>
              <a:t>PrintValue</a:t>
            </a:r>
            <a:r>
              <a:rPr lang="en-US" altLang="zh-CN" sz="2400" dirty="0">
                <a:solidFill>
                  <a:srgbClr val="0000FF"/>
                </a:solidFill>
                <a:latin typeface="+mn-lt"/>
                <a:ea typeface="+mn-ea"/>
              </a:rPr>
              <a:t> (f -&gt;link);  </a:t>
            </a:r>
            <a:r>
              <a:rPr lang="en-US" altLang="zh-CN" sz="2400" dirty="0">
                <a:solidFill>
                  <a:srgbClr val="00B050"/>
                </a:solidFill>
                <a:latin typeface="+mn-lt"/>
                <a:ea typeface="+mn-ea"/>
              </a:rPr>
              <a:t>// </a:t>
            </a:r>
            <a:r>
              <a:rPr lang="zh-CN" altLang="en-US" sz="2400" dirty="0">
                <a:solidFill>
                  <a:srgbClr val="00B050"/>
                </a:solidFill>
                <a:latin typeface="+mn-lt"/>
                <a:ea typeface="+mn-ea"/>
              </a:rPr>
              <a:t>递归</a:t>
            </a:r>
          </a:p>
          <a:p>
            <a:pPr marL="0" indent="0">
              <a:buNone/>
            </a:pPr>
            <a:r>
              <a:rPr lang="zh-CN" altLang="en-US" sz="2400" dirty="0">
                <a:latin typeface="+mn-lt"/>
                <a:ea typeface="+mn-ea"/>
              </a:rPr>
              <a:t>        </a:t>
            </a:r>
            <a:r>
              <a:rPr lang="en-US" altLang="zh-CN" sz="2400" dirty="0" err="1">
                <a:latin typeface="+mn-lt"/>
                <a:ea typeface="+mn-ea"/>
              </a:rPr>
              <a:t>cout</a:t>
            </a:r>
            <a:r>
              <a:rPr lang="en-US" altLang="zh-CN" sz="2400" dirty="0">
                <a:latin typeface="+mn-lt"/>
                <a:ea typeface="+mn-ea"/>
              </a:rPr>
              <a:t> &lt;&lt; f -&gt;data;          </a:t>
            </a:r>
            <a:r>
              <a:rPr lang="en-US" altLang="zh-CN" sz="2400" dirty="0">
                <a:solidFill>
                  <a:srgbClr val="00B050"/>
                </a:solidFill>
                <a:latin typeface="+mn-lt"/>
                <a:ea typeface="+mn-ea"/>
              </a:rPr>
              <a:t>//</a:t>
            </a:r>
            <a:r>
              <a:rPr lang="zh-CN" altLang="en-US" sz="2400" dirty="0">
                <a:solidFill>
                  <a:srgbClr val="00B050"/>
                </a:solidFill>
                <a:latin typeface="+mn-lt"/>
                <a:ea typeface="+mn-ea"/>
              </a:rPr>
              <a:t>返回后打印结点值</a:t>
            </a:r>
          </a:p>
          <a:p>
            <a:pPr marL="0" indent="0">
              <a:buNone/>
            </a:pPr>
            <a:r>
              <a:rPr lang="zh-CN" altLang="en-US" sz="2400" dirty="0">
                <a:latin typeface="+mn-lt"/>
                <a:ea typeface="+mn-ea"/>
              </a:rPr>
              <a:t>    </a:t>
            </a:r>
            <a:r>
              <a:rPr lang="en-US" altLang="zh-CN" sz="2400" dirty="0">
                <a:latin typeface="+mn-lt"/>
                <a:ea typeface="+mn-ea"/>
              </a:rPr>
              <a:t>}</a:t>
            </a:r>
          </a:p>
          <a:p>
            <a:pPr marL="0" indent="0">
              <a:buNone/>
            </a:pPr>
            <a:r>
              <a:rPr lang="en-US" altLang="zh-CN" sz="2400" dirty="0">
                <a:latin typeface="+mn-lt"/>
                <a:ea typeface="+mn-ea"/>
              </a:rPr>
              <a:t>}</a:t>
            </a:r>
          </a:p>
        </p:txBody>
      </p:sp>
      <p:grpSp>
        <p:nvGrpSpPr>
          <p:cNvPr id="517154" name="Group 34">
            <a:extLst>
              <a:ext uri="{FF2B5EF4-FFF2-40B4-BE49-F238E27FC236}">
                <a16:creationId xmlns:a16="http://schemas.microsoft.com/office/drawing/2014/main" id="{37544373-8C83-4F74-B70C-9756651794E7}"/>
              </a:ext>
            </a:extLst>
          </p:cNvPr>
          <p:cNvGrpSpPr>
            <a:grpSpLocks/>
          </p:cNvGrpSpPr>
          <p:nvPr/>
        </p:nvGrpSpPr>
        <p:grpSpPr bwMode="auto">
          <a:xfrm>
            <a:off x="5832475" y="6009530"/>
            <a:ext cx="649288" cy="731838"/>
            <a:chOff x="3191" y="3581"/>
            <a:chExt cx="409" cy="461"/>
          </a:xfrm>
        </p:grpSpPr>
        <p:sp>
          <p:nvSpPr>
            <p:cNvPr id="517155" name="Line 35">
              <a:extLst>
                <a:ext uri="{FF2B5EF4-FFF2-40B4-BE49-F238E27FC236}">
                  <a16:creationId xmlns:a16="http://schemas.microsoft.com/office/drawing/2014/main" id="{4D66A425-CD63-4285-8CF0-09781FF3761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408" y="3581"/>
              <a:ext cx="192" cy="240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  <a:headEnd type="triangle" w="sm" len="lg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7156" name="Text Box 36">
              <a:extLst>
                <a:ext uri="{FF2B5EF4-FFF2-40B4-BE49-F238E27FC236}">
                  <a16:creationId xmlns:a16="http://schemas.microsoft.com/office/drawing/2014/main" id="{D6943A58-FC49-4EE2-A59F-4125CAB3559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91" y="3677"/>
              <a:ext cx="255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2800" b="1" baseline="0">
                  <a:solidFill>
                    <a:schemeClr val="tx2"/>
                  </a:solidFill>
                  <a:latin typeface="Times New Roman" panose="02020603050405020304" pitchFamily="18" charset="0"/>
                </a:rPr>
                <a:t>f</a:t>
              </a:r>
              <a:r>
                <a:rPr kumimoji="1" lang="en-US" altLang="zh-CN" sz="3200" baseline="0">
                  <a:solidFill>
                    <a:schemeClr val="tx2"/>
                  </a:solidFill>
                  <a:latin typeface="Times New Roman" panose="02020603050405020304" pitchFamily="18" charset="0"/>
                </a:rPr>
                <a:t> </a:t>
              </a:r>
            </a:p>
          </p:txBody>
        </p:sp>
      </p:grpSp>
      <p:grpSp>
        <p:nvGrpSpPr>
          <p:cNvPr id="517160" name="Group 40">
            <a:extLst>
              <a:ext uri="{FF2B5EF4-FFF2-40B4-BE49-F238E27FC236}">
                <a16:creationId xmlns:a16="http://schemas.microsoft.com/office/drawing/2014/main" id="{4BFFE387-3965-4D26-B0EF-3B5CFF0B5D14}"/>
              </a:ext>
            </a:extLst>
          </p:cNvPr>
          <p:cNvGrpSpPr>
            <a:grpSpLocks/>
          </p:cNvGrpSpPr>
          <p:nvPr/>
        </p:nvGrpSpPr>
        <p:grpSpPr bwMode="auto">
          <a:xfrm>
            <a:off x="7092950" y="6009530"/>
            <a:ext cx="649288" cy="731838"/>
            <a:chOff x="3191" y="3581"/>
            <a:chExt cx="409" cy="461"/>
          </a:xfrm>
        </p:grpSpPr>
        <p:sp>
          <p:nvSpPr>
            <p:cNvPr id="517161" name="Line 41">
              <a:extLst>
                <a:ext uri="{FF2B5EF4-FFF2-40B4-BE49-F238E27FC236}">
                  <a16:creationId xmlns:a16="http://schemas.microsoft.com/office/drawing/2014/main" id="{B793A35B-7FCD-4CC8-9C72-8A327997AC0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408" y="3581"/>
              <a:ext cx="192" cy="240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  <a:headEnd type="triangle" w="sm" len="lg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7162" name="Text Box 42">
              <a:extLst>
                <a:ext uri="{FF2B5EF4-FFF2-40B4-BE49-F238E27FC236}">
                  <a16:creationId xmlns:a16="http://schemas.microsoft.com/office/drawing/2014/main" id="{958DF007-6064-434A-A9C8-C9C103E398B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91" y="3677"/>
              <a:ext cx="255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2800" b="1" baseline="0">
                  <a:solidFill>
                    <a:schemeClr val="tx2"/>
                  </a:solidFill>
                  <a:latin typeface="Times New Roman" panose="02020603050405020304" pitchFamily="18" charset="0"/>
                </a:rPr>
                <a:t>f</a:t>
              </a:r>
              <a:r>
                <a:rPr kumimoji="1" lang="en-US" altLang="zh-CN" sz="3200" baseline="0">
                  <a:solidFill>
                    <a:schemeClr val="tx2"/>
                  </a:solidFill>
                  <a:latin typeface="Times New Roman" panose="02020603050405020304" pitchFamily="18" charset="0"/>
                </a:rPr>
                <a:t> </a:t>
              </a:r>
            </a:p>
          </p:txBody>
        </p:sp>
      </p:grpSp>
      <p:sp>
        <p:nvSpPr>
          <p:cNvPr id="41" name="Rectangle 2">
            <a:extLst>
              <a:ext uri="{FF2B5EF4-FFF2-40B4-BE49-F238E27FC236}">
                <a16:creationId xmlns:a16="http://schemas.microsoft.com/office/drawing/2014/main" id="{D52069FF-662D-46DC-AD28-D67B68CA9C7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27584" y="49408"/>
            <a:ext cx="7772400" cy="811212"/>
          </a:xfrm>
        </p:spPr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</a:rPr>
              <a:t>链表的递归结构定义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7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17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7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517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7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517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7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517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7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517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xit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31" dur="500"/>
                                        <p:tgtEl>
                                          <p:spTgt spid="51716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7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xit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36" dur="500"/>
                                        <p:tgtEl>
                                          <p:spTgt spid="5171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7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xit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41" dur="500"/>
                                        <p:tgtEl>
                                          <p:spTgt spid="5171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7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xit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46" dur="500"/>
                                        <p:tgtEl>
                                          <p:spTgt spid="5171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7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xit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51" dur="500"/>
                                        <p:tgtEl>
                                          <p:spTgt spid="5171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7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146" name="Rectangle 2">
            <a:extLst>
              <a:ext uri="{FF2B5EF4-FFF2-40B4-BE49-F238E27FC236}">
                <a16:creationId xmlns:a16="http://schemas.microsoft.com/office/drawing/2014/main" id="{A14B0D34-5AFB-4D8B-B56E-AB172F075E0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14400" y="-38894"/>
            <a:ext cx="8229600" cy="992188"/>
          </a:xfrm>
        </p:spPr>
        <p:txBody>
          <a:bodyPr/>
          <a:lstStyle/>
          <a:p>
            <a:r>
              <a:rPr kumimoji="1" lang="zh-CN" altLang="en-US" dirty="0">
                <a:latin typeface="微软雅黑" panose="020B0503020204020204" pitchFamily="34" charset="-122"/>
              </a:rPr>
              <a:t>问题的解法是递归的</a:t>
            </a:r>
          </a:p>
        </p:txBody>
      </p:sp>
      <p:sp>
        <p:nvSpPr>
          <p:cNvPr id="518147" name="Rectangle 3">
            <a:extLst>
              <a:ext uri="{FF2B5EF4-FFF2-40B4-BE49-F238E27FC236}">
                <a16:creationId xmlns:a16="http://schemas.microsoft.com/office/drawing/2014/main" id="{7F45EDDD-E72C-470F-9AF9-826B381D959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15516" y="836712"/>
            <a:ext cx="8712968" cy="5572050"/>
          </a:xfrm>
        </p:spPr>
        <p:txBody>
          <a:bodyPr/>
          <a:lstStyle/>
          <a:p>
            <a:pPr marL="0" indent="0">
              <a:buClr>
                <a:srgbClr val="800080"/>
              </a:buClr>
              <a:buSzPct val="55000"/>
              <a:buNone/>
            </a:pPr>
            <a:r>
              <a:rPr kumimoji="1" lang="zh-CN" altLang="en-US" sz="2800" dirty="0">
                <a:latin typeface="+mn-ea"/>
                <a:ea typeface="+mn-ea"/>
              </a:rPr>
              <a:t>例如，汉诺塔 </a:t>
            </a:r>
            <a:r>
              <a:rPr kumimoji="1" lang="en-US" altLang="zh-CN" sz="2800" dirty="0">
                <a:latin typeface="+mn-ea"/>
                <a:ea typeface="+mn-ea"/>
              </a:rPr>
              <a:t>(Tower of Hanoi) </a:t>
            </a:r>
            <a:r>
              <a:rPr kumimoji="1" lang="zh-CN" altLang="en-US" sz="2800" dirty="0">
                <a:latin typeface="+mn-ea"/>
                <a:ea typeface="+mn-ea"/>
              </a:rPr>
              <a:t>问题的解法：</a:t>
            </a:r>
          </a:p>
          <a:p>
            <a:pPr lvl="1">
              <a:buClr>
                <a:srgbClr val="006600"/>
              </a:buClr>
              <a:buSzPct val="55000"/>
              <a:buFont typeface="Wingdings" panose="05000000000000000000" pitchFamily="2" charset="2"/>
              <a:buChar char="l"/>
            </a:pPr>
            <a:r>
              <a:rPr kumimoji="1" lang="zh-CN" altLang="en-US" sz="2800" dirty="0">
                <a:latin typeface="+mn-ea"/>
                <a:ea typeface="+mn-ea"/>
              </a:rPr>
              <a:t>如果 </a:t>
            </a:r>
            <a:r>
              <a:rPr kumimoji="1" lang="en-US" altLang="zh-CN" sz="2800" dirty="0">
                <a:latin typeface="+mn-ea"/>
                <a:ea typeface="+mn-ea"/>
              </a:rPr>
              <a:t>n=1</a:t>
            </a:r>
            <a:r>
              <a:rPr kumimoji="1" lang="zh-CN" altLang="en-US" sz="2800" dirty="0">
                <a:latin typeface="+mn-ea"/>
                <a:ea typeface="+mn-ea"/>
              </a:rPr>
              <a:t>，则将这个盘子直接从 </a:t>
            </a:r>
            <a:r>
              <a:rPr kumimoji="1" lang="en-US" altLang="zh-CN" sz="2800" dirty="0">
                <a:latin typeface="+mn-ea"/>
                <a:ea typeface="+mn-ea"/>
              </a:rPr>
              <a:t>A </a:t>
            </a:r>
            <a:r>
              <a:rPr kumimoji="1" lang="zh-CN" altLang="en-US" sz="2800" dirty="0">
                <a:latin typeface="+mn-ea"/>
                <a:ea typeface="+mn-ea"/>
              </a:rPr>
              <a:t>柱移到 </a:t>
            </a:r>
            <a:r>
              <a:rPr kumimoji="1" lang="en-US" altLang="zh-CN" sz="2800" dirty="0">
                <a:latin typeface="+mn-ea"/>
                <a:ea typeface="+mn-ea"/>
              </a:rPr>
              <a:t>C </a:t>
            </a:r>
            <a:r>
              <a:rPr kumimoji="1" lang="zh-CN" altLang="en-US" sz="2800" dirty="0">
                <a:latin typeface="+mn-ea"/>
                <a:ea typeface="+mn-ea"/>
              </a:rPr>
              <a:t>柱上。</a:t>
            </a:r>
            <a:endParaRPr kumimoji="1" lang="en-US" altLang="zh-CN" sz="2800" dirty="0">
              <a:latin typeface="+mn-ea"/>
              <a:ea typeface="+mn-ea"/>
            </a:endParaRPr>
          </a:p>
          <a:p>
            <a:pPr lvl="1">
              <a:buClr>
                <a:srgbClr val="006600"/>
              </a:buClr>
              <a:buSzPct val="55000"/>
              <a:buFont typeface="Wingdings" panose="05000000000000000000" pitchFamily="2" charset="2"/>
              <a:buChar char="l"/>
            </a:pPr>
            <a:r>
              <a:rPr kumimoji="1" lang="zh-CN" altLang="en-US" sz="2800" dirty="0">
                <a:latin typeface="+mn-ea"/>
                <a:ea typeface="+mn-ea"/>
              </a:rPr>
              <a:t>否则，执行以下三步：</a:t>
            </a:r>
          </a:p>
          <a:p>
            <a:pPr marL="1008000" lvl="2" indent="-457200">
              <a:buClr>
                <a:schemeClr val="tx2"/>
              </a:buClr>
              <a:buFont typeface="+mj-ea"/>
              <a:buAutoNum type="circleNumDbPlain"/>
            </a:pPr>
            <a:r>
              <a:rPr kumimoji="1" lang="zh-CN" altLang="en-US" dirty="0">
                <a:latin typeface="+mn-ea"/>
                <a:ea typeface="+mn-ea"/>
              </a:rPr>
              <a:t>用 </a:t>
            </a:r>
            <a:r>
              <a:rPr kumimoji="1" lang="en-US" altLang="zh-CN" dirty="0">
                <a:latin typeface="+mn-ea"/>
                <a:ea typeface="+mn-ea"/>
              </a:rPr>
              <a:t>C </a:t>
            </a:r>
            <a:r>
              <a:rPr kumimoji="1" lang="zh-CN" altLang="en-US" dirty="0">
                <a:latin typeface="+mn-ea"/>
                <a:ea typeface="+mn-ea"/>
              </a:rPr>
              <a:t>柱做过渡，将 </a:t>
            </a:r>
            <a:r>
              <a:rPr kumimoji="1" lang="en-US" altLang="zh-CN" dirty="0">
                <a:latin typeface="+mn-ea"/>
                <a:ea typeface="+mn-ea"/>
              </a:rPr>
              <a:t>A </a:t>
            </a:r>
            <a:r>
              <a:rPr kumimoji="1" lang="zh-CN" altLang="en-US" dirty="0">
                <a:latin typeface="+mn-ea"/>
                <a:ea typeface="+mn-ea"/>
              </a:rPr>
              <a:t>柱上的 </a:t>
            </a:r>
            <a:r>
              <a:rPr kumimoji="1" lang="en-US" altLang="zh-CN" dirty="0">
                <a:latin typeface="+mn-ea"/>
                <a:ea typeface="+mn-ea"/>
              </a:rPr>
              <a:t>(n-1) </a:t>
            </a:r>
            <a:r>
              <a:rPr kumimoji="1" lang="zh-CN" altLang="en-US" dirty="0">
                <a:latin typeface="+mn-ea"/>
                <a:ea typeface="+mn-ea"/>
              </a:rPr>
              <a:t>个盘子移到 </a:t>
            </a:r>
            <a:r>
              <a:rPr kumimoji="1" lang="en-US" altLang="zh-CN" dirty="0">
                <a:latin typeface="+mn-ea"/>
                <a:ea typeface="+mn-ea"/>
              </a:rPr>
              <a:t>B </a:t>
            </a:r>
            <a:r>
              <a:rPr kumimoji="1" lang="zh-CN" altLang="en-US" dirty="0">
                <a:latin typeface="+mn-ea"/>
                <a:ea typeface="+mn-ea"/>
              </a:rPr>
              <a:t>柱上；</a:t>
            </a:r>
          </a:p>
          <a:p>
            <a:pPr marL="1008000" lvl="2" indent="-457200">
              <a:buClr>
                <a:schemeClr val="tx2"/>
              </a:buClr>
              <a:buFont typeface="+mj-ea"/>
              <a:buAutoNum type="circleNumDbPlain"/>
            </a:pPr>
            <a:r>
              <a:rPr kumimoji="1" lang="zh-CN" altLang="en-US" dirty="0">
                <a:latin typeface="+mn-ea"/>
                <a:ea typeface="+mn-ea"/>
              </a:rPr>
              <a:t>将 </a:t>
            </a:r>
            <a:r>
              <a:rPr kumimoji="1" lang="en-US" altLang="zh-CN" dirty="0">
                <a:latin typeface="+mn-ea"/>
                <a:ea typeface="+mn-ea"/>
              </a:rPr>
              <a:t>A </a:t>
            </a:r>
            <a:r>
              <a:rPr kumimoji="1" lang="zh-CN" altLang="en-US" dirty="0">
                <a:latin typeface="+mn-ea"/>
                <a:ea typeface="+mn-ea"/>
              </a:rPr>
              <a:t>柱上最后一个盘子直接移到 </a:t>
            </a:r>
            <a:r>
              <a:rPr kumimoji="1" lang="en-US" altLang="zh-CN" dirty="0">
                <a:latin typeface="+mn-ea"/>
                <a:ea typeface="+mn-ea"/>
              </a:rPr>
              <a:t>C </a:t>
            </a:r>
            <a:r>
              <a:rPr kumimoji="1" lang="zh-CN" altLang="en-US" dirty="0">
                <a:latin typeface="+mn-ea"/>
                <a:ea typeface="+mn-ea"/>
              </a:rPr>
              <a:t>柱上；</a:t>
            </a:r>
          </a:p>
          <a:p>
            <a:pPr marL="1008000" lvl="2" indent="-457200">
              <a:buClr>
                <a:schemeClr val="tx2"/>
              </a:buClr>
              <a:buFont typeface="+mj-ea"/>
              <a:buAutoNum type="circleNumDbPlain"/>
            </a:pPr>
            <a:r>
              <a:rPr kumimoji="1" lang="zh-CN" altLang="en-US" dirty="0">
                <a:latin typeface="+mn-ea"/>
                <a:ea typeface="+mn-ea"/>
              </a:rPr>
              <a:t>用 </a:t>
            </a:r>
            <a:r>
              <a:rPr kumimoji="1" lang="en-US" altLang="zh-CN" dirty="0">
                <a:latin typeface="+mn-ea"/>
                <a:ea typeface="+mn-ea"/>
              </a:rPr>
              <a:t>A </a:t>
            </a:r>
            <a:r>
              <a:rPr kumimoji="1" lang="zh-CN" altLang="en-US" dirty="0">
                <a:latin typeface="+mn-ea"/>
                <a:ea typeface="+mn-ea"/>
              </a:rPr>
              <a:t>柱做过渡，将 </a:t>
            </a:r>
            <a:r>
              <a:rPr kumimoji="1" lang="en-US" altLang="zh-CN" dirty="0">
                <a:latin typeface="+mn-ea"/>
                <a:ea typeface="+mn-ea"/>
              </a:rPr>
              <a:t>B </a:t>
            </a:r>
            <a:r>
              <a:rPr kumimoji="1" lang="zh-CN" altLang="en-US" dirty="0">
                <a:latin typeface="+mn-ea"/>
                <a:ea typeface="+mn-ea"/>
              </a:rPr>
              <a:t>柱上的 </a:t>
            </a:r>
            <a:r>
              <a:rPr kumimoji="1" lang="en-US" altLang="zh-CN" dirty="0">
                <a:latin typeface="+mn-ea"/>
                <a:ea typeface="+mn-ea"/>
              </a:rPr>
              <a:t>(n-1) </a:t>
            </a:r>
            <a:r>
              <a:rPr kumimoji="1" lang="zh-CN" altLang="en-US" dirty="0">
                <a:latin typeface="+mn-ea"/>
                <a:ea typeface="+mn-ea"/>
              </a:rPr>
              <a:t>个盘子移到 </a:t>
            </a:r>
            <a:r>
              <a:rPr kumimoji="1" lang="en-US" altLang="zh-CN" dirty="0">
                <a:latin typeface="+mn-ea"/>
                <a:ea typeface="+mn-ea"/>
              </a:rPr>
              <a:t>C </a:t>
            </a:r>
            <a:r>
              <a:rPr kumimoji="1" lang="zh-CN" altLang="en-US" dirty="0">
                <a:latin typeface="+mn-ea"/>
                <a:ea typeface="+mn-ea"/>
              </a:rPr>
              <a:t>柱上。</a:t>
            </a:r>
          </a:p>
          <a:p>
            <a:pPr marL="0" indent="0">
              <a:buClr>
                <a:srgbClr val="800080"/>
              </a:buClr>
              <a:buSzPct val="55000"/>
              <a:buNone/>
            </a:pPr>
            <a:endParaRPr kumimoji="1" lang="en-US" altLang="zh-CN" sz="2800" dirty="0">
              <a:latin typeface="+mn-ea"/>
              <a:ea typeface="+mn-ea"/>
            </a:endParaRPr>
          </a:p>
          <a:p>
            <a:pPr marL="0" indent="0">
              <a:buClr>
                <a:srgbClr val="800080"/>
              </a:buClr>
              <a:buSzPct val="55000"/>
              <a:buNone/>
            </a:pPr>
            <a:r>
              <a:rPr kumimoji="1" lang="zh-CN" altLang="en-US" sz="2800" dirty="0">
                <a:latin typeface="+mn-ea"/>
                <a:ea typeface="+mn-ea"/>
              </a:rPr>
              <a:t>这是典型的</a:t>
            </a:r>
            <a:r>
              <a:rPr kumimoji="1" lang="zh-CN" altLang="en-US" sz="2800" dirty="0">
                <a:solidFill>
                  <a:srgbClr val="FF0000"/>
                </a:solidFill>
                <a:latin typeface="+mn-ea"/>
                <a:ea typeface="+mn-ea"/>
              </a:rPr>
              <a:t>分治法</a:t>
            </a:r>
            <a:r>
              <a:rPr kumimoji="1" lang="zh-CN" altLang="en-US" sz="2800" dirty="0">
                <a:latin typeface="+mn-ea"/>
                <a:ea typeface="+mn-ea"/>
              </a:rPr>
              <a:t>问题。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9170" name="Picture 2">
            <a:extLst>
              <a:ext uri="{FF2B5EF4-FFF2-40B4-BE49-F238E27FC236}">
                <a16:creationId xmlns:a16="http://schemas.microsoft.com/office/drawing/2014/main" id="{5CCB1723-9983-4902-AF77-180B92A51F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7181" y="764704"/>
            <a:ext cx="5989638" cy="6013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angle 3">
            <a:extLst>
              <a:ext uri="{FF2B5EF4-FFF2-40B4-BE49-F238E27FC236}">
                <a16:creationId xmlns:a16="http://schemas.microsoft.com/office/drawing/2014/main" id="{45E97E4B-C1F3-43DB-AE0E-D4DF3717482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27583" y="0"/>
            <a:ext cx="7760791" cy="900113"/>
          </a:xfrm>
        </p:spPr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</a:rPr>
              <a:t>汉诺塔的算法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194" name="Rectangle 2">
            <a:extLst>
              <a:ext uri="{FF2B5EF4-FFF2-40B4-BE49-F238E27FC236}">
                <a16:creationId xmlns:a16="http://schemas.microsoft.com/office/drawing/2014/main" id="{38AE8465-BE64-45F5-B7D2-347CA22BBBE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37306" y="764704"/>
            <a:ext cx="8411158" cy="6093296"/>
          </a:xfrm>
        </p:spPr>
        <p:txBody>
          <a:bodyPr/>
          <a:lstStyle/>
          <a:p>
            <a:pPr marL="0" indent="0">
              <a:buFont typeface="Wingdings" panose="05000000000000000000" pitchFamily="2" charset="2"/>
              <a:buNone/>
            </a:pPr>
            <a:r>
              <a:rPr kumimoji="1" lang="en-US" altLang="zh-CN" dirty="0">
                <a:latin typeface="+mn-lt"/>
              </a:rPr>
              <a:t>void</a:t>
            </a:r>
            <a:r>
              <a:rPr kumimoji="1" lang="en-US" altLang="zh-CN" i="1" dirty="0">
                <a:latin typeface="+mn-lt"/>
              </a:rPr>
              <a:t> </a:t>
            </a:r>
            <a:r>
              <a:rPr kumimoji="1" lang="en-US" altLang="zh-CN" dirty="0">
                <a:solidFill>
                  <a:srgbClr val="FF0000"/>
                </a:solidFill>
                <a:latin typeface="+mn-lt"/>
              </a:rPr>
              <a:t>Hanoi</a:t>
            </a:r>
            <a:r>
              <a:rPr kumimoji="1" lang="en-US" altLang="zh-CN" dirty="0">
                <a:latin typeface="+mn-lt"/>
              </a:rPr>
              <a:t> (int n, char A, char B, char C) {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kumimoji="1" lang="en-US" altLang="zh-CN" dirty="0">
                <a:latin typeface="+mn-lt"/>
              </a:rPr>
              <a:t>    if (n </a:t>
            </a:r>
            <a:r>
              <a:rPr kumimoji="1" lang="en-US" altLang="zh-CN" i="1" dirty="0">
                <a:latin typeface="+mn-lt"/>
              </a:rPr>
              <a:t>==</a:t>
            </a:r>
            <a:r>
              <a:rPr kumimoji="1" lang="en-US" altLang="zh-CN" dirty="0">
                <a:latin typeface="+mn-lt"/>
              </a:rPr>
              <a:t> 1)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kumimoji="1" lang="en-US" altLang="zh-CN" dirty="0">
                <a:latin typeface="+mn-lt"/>
              </a:rPr>
              <a:t>        </a:t>
            </a:r>
            <a:r>
              <a:rPr kumimoji="1" lang="en-US" altLang="zh-CN" dirty="0" err="1">
                <a:latin typeface="+mn-lt"/>
              </a:rPr>
              <a:t>cout</a:t>
            </a:r>
            <a:r>
              <a:rPr kumimoji="1" lang="en-US" altLang="zh-CN" dirty="0">
                <a:latin typeface="+mn-lt"/>
              </a:rPr>
              <a:t> &lt;&lt; " move " &lt;&lt; A &lt;&lt; " to " &lt;&lt; C;   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kumimoji="1" lang="en-US" altLang="zh-CN" dirty="0">
                <a:latin typeface="+mn-lt"/>
              </a:rPr>
              <a:t>    else {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kumimoji="1" lang="en-US" altLang="zh-CN" dirty="0">
                <a:latin typeface="+mn-lt"/>
              </a:rPr>
              <a:t>        </a:t>
            </a:r>
            <a:r>
              <a:rPr kumimoji="1" lang="en-US" altLang="zh-CN" dirty="0">
                <a:solidFill>
                  <a:srgbClr val="0000FF"/>
                </a:solidFill>
                <a:latin typeface="+mn-lt"/>
              </a:rPr>
              <a:t>Hanoi ( n-1, A, C, B );</a:t>
            </a:r>
          </a:p>
          <a:p>
            <a:pPr marL="0" indent="0">
              <a:buNone/>
            </a:pPr>
            <a:r>
              <a:rPr kumimoji="1" lang="en-US" altLang="zh-CN" dirty="0">
                <a:latin typeface="+mn-lt"/>
              </a:rPr>
              <a:t>        </a:t>
            </a:r>
            <a:r>
              <a:rPr kumimoji="1" lang="en-US" altLang="zh-CN" dirty="0">
                <a:solidFill>
                  <a:srgbClr val="0000FF"/>
                </a:solidFill>
                <a:latin typeface="+mn-lt"/>
              </a:rPr>
              <a:t>Hanoi ( 1, A, B, C );</a:t>
            </a:r>
            <a:endParaRPr kumimoji="1" lang="en-US" altLang="zh-CN" dirty="0">
              <a:latin typeface="+mn-lt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kumimoji="1" lang="en-US" altLang="zh-CN" dirty="0">
                <a:latin typeface="+mn-lt"/>
              </a:rPr>
              <a:t>        </a:t>
            </a:r>
            <a:r>
              <a:rPr kumimoji="1" lang="en-US" altLang="zh-CN" dirty="0">
                <a:solidFill>
                  <a:srgbClr val="0000FF"/>
                </a:solidFill>
                <a:latin typeface="+mn-lt"/>
              </a:rPr>
              <a:t>Hanoi ( n-1, B, A, C );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kumimoji="1" lang="en-US" altLang="zh-CN" dirty="0">
                <a:latin typeface="+mn-lt"/>
              </a:rPr>
              <a:t>    }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kumimoji="1" lang="en-US" altLang="zh-CN" dirty="0">
                <a:latin typeface="+mn-lt"/>
              </a:rPr>
              <a:t>}</a:t>
            </a:r>
          </a:p>
        </p:txBody>
      </p:sp>
      <p:sp>
        <p:nvSpPr>
          <p:cNvPr id="520195" name="Rectangle 3">
            <a:extLst>
              <a:ext uri="{FF2B5EF4-FFF2-40B4-BE49-F238E27FC236}">
                <a16:creationId xmlns:a16="http://schemas.microsoft.com/office/drawing/2014/main" id="{D0D435B0-E7D2-4A7A-B359-FC1E62A83CD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27583" y="0"/>
            <a:ext cx="7760791" cy="900113"/>
          </a:xfrm>
        </p:spPr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</a:rPr>
              <a:t>汉诺塔的算法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138" name="Text Box 2">
            <a:extLst>
              <a:ext uri="{FF2B5EF4-FFF2-40B4-BE49-F238E27FC236}">
                <a16:creationId xmlns:a16="http://schemas.microsoft.com/office/drawing/2014/main" id="{68828FA8-BB48-4E35-B636-C5A0A039F6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6588" y="685800"/>
            <a:ext cx="77120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kumimoji="1" lang="zh-CN" altLang="zh-CN" sz="2400" baseline="0">
              <a:latin typeface="Times New Roman" panose="02020603050405020304" pitchFamily="18" charset="0"/>
            </a:endParaRPr>
          </a:p>
        </p:txBody>
      </p:sp>
      <p:sp>
        <p:nvSpPr>
          <p:cNvPr id="347141" name="Rectangle 5">
            <a:extLst>
              <a:ext uri="{FF2B5EF4-FFF2-40B4-BE49-F238E27FC236}">
                <a16:creationId xmlns:a16="http://schemas.microsoft.com/office/drawing/2014/main" id="{3DD762D0-BEE6-4F13-9D9F-B4156D0BEEF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00538" y="38746"/>
            <a:ext cx="8229600" cy="863600"/>
          </a:xfrm>
        </p:spPr>
        <p:txBody>
          <a:bodyPr/>
          <a:lstStyle/>
          <a:p>
            <a:r>
              <a:rPr kumimoji="1" lang="zh-CN" altLang="en-US">
                <a:latin typeface="微软雅黑" panose="020B0503020204020204" pitchFamily="34" charset="-122"/>
              </a:rPr>
              <a:t>递归与分治法</a:t>
            </a:r>
          </a:p>
        </p:txBody>
      </p:sp>
      <p:sp>
        <p:nvSpPr>
          <p:cNvPr id="347142" name="Rectangle 6">
            <a:extLst>
              <a:ext uri="{FF2B5EF4-FFF2-40B4-BE49-F238E27FC236}">
                <a16:creationId xmlns:a16="http://schemas.microsoft.com/office/drawing/2014/main" id="{B1160E8A-5575-41AC-8AE2-AC440725748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94829" y="836712"/>
            <a:ext cx="8554342" cy="5507509"/>
          </a:xfrm>
        </p:spPr>
        <p:txBody>
          <a:bodyPr/>
          <a:lstStyle/>
          <a:p>
            <a:pPr>
              <a:buClr>
                <a:srgbClr val="800080"/>
              </a:buClr>
              <a:buSzPct val="55000"/>
              <a:buFont typeface="Wingdings" panose="05000000000000000000" pitchFamily="2" charset="2"/>
              <a:buChar char="l"/>
            </a:pPr>
            <a:r>
              <a:rPr kumimoji="1" lang="zh-CN" altLang="en-US" sz="2800" dirty="0"/>
              <a:t>在使用</a:t>
            </a:r>
            <a:r>
              <a:rPr kumimoji="1" lang="zh-CN" altLang="en-US" sz="2800" dirty="0">
                <a:solidFill>
                  <a:srgbClr val="FF0000"/>
                </a:solidFill>
              </a:rPr>
              <a:t>分而治之</a:t>
            </a:r>
            <a:r>
              <a:rPr kumimoji="1" lang="zh-CN" altLang="en-US" sz="2800" dirty="0"/>
              <a:t>策略（即分治法）解决复杂问题时常用的方法即递归的方法。</a:t>
            </a:r>
          </a:p>
          <a:p>
            <a:pPr>
              <a:buClr>
                <a:srgbClr val="800080"/>
              </a:buClr>
              <a:buSzPct val="55000"/>
              <a:buFont typeface="Wingdings" panose="05000000000000000000" pitchFamily="2" charset="2"/>
              <a:buChar char="l"/>
            </a:pPr>
            <a:r>
              <a:rPr kumimoji="1" lang="zh-CN" altLang="en-US" sz="2800" dirty="0"/>
              <a:t>所谓</a:t>
            </a:r>
            <a:r>
              <a:rPr kumimoji="1" lang="zh-CN" altLang="en-US" sz="2800" b="1" dirty="0">
                <a:solidFill>
                  <a:srgbClr val="FF0000"/>
                </a:solidFill>
              </a:rPr>
              <a:t>分治法</a:t>
            </a:r>
            <a:r>
              <a:rPr kumimoji="1" lang="zh-CN" altLang="en-US" sz="2800" dirty="0"/>
              <a:t>就是在解决一个规模比较大的问题时，首先研究问题的结构，把它分解为一个或若干个</a:t>
            </a:r>
            <a:r>
              <a:rPr kumimoji="1" lang="zh-CN" altLang="en-US" sz="2800" dirty="0">
                <a:solidFill>
                  <a:srgbClr val="0000FF"/>
                </a:solidFill>
              </a:rPr>
              <a:t>规模比较小</a:t>
            </a:r>
            <a:r>
              <a:rPr kumimoji="1" lang="zh-CN" altLang="en-US" sz="2800" dirty="0"/>
              <a:t>的问题，分别对这些比较小的问题求解，再综合它们的结果，从而得到原问题的解。</a:t>
            </a:r>
            <a:r>
              <a:rPr kumimoji="1" lang="zh-CN" altLang="en-US" sz="2800" dirty="0">
                <a:solidFill>
                  <a:srgbClr val="0000FF"/>
                </a:solidFill>
              </a:rPr>
              <a:t>这些比较小的问题的求解方法与原问题的求解方法一样。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65" name="Rectangle 5">
            <a:extLst>
              <a:ext uri="{FF2B5EF4-FFF2-40B4-BE49-F238E27FC236}">
                <a16:creationId xmlns:a16="http://schemas.microsoft.com/office/drawing/2014/main" id="{EE64CE94-D885-4FEA-ACAC-43C56C969C7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71600" y="13142"/>
            <a:ext cx="8229600" cy="900112"/>
          </a:xfrm>
        </p:spPr>
        <p:txBody>
          <a:bodyPr/>
          <a:lstStyle/>
          <a:p>
            <a:r>
              <a:rPr kumimoji="1" lang="zh-CN" altLang="en-US" dirty="0">
                <a:latin typeface="微软雅黑" panose="020B0503020204020204" pitchFamily="34" charset="-122"/>
              </a:rPr>
              <a:t>构成递归的条件</a:t>
            </a:r>
          </a:p>
        </p:txBody>
      </p:sp>
      <p:sp>
        <p:nvSpPr>
          <p:cNvPr id="348166" name="Rectangle 6">
            <a:extLst>
              <a:ext uri="{FF2B5EF4-FFF2-40B4-BE49-F238E27FC236}">
                <a16:creationId xmlns:a16="http://schemas.microsoft.com/office/drawing/2014/main" id="{508CFB1C-EC65-4D71-AF16-9F9145CC1A9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95536" y="836712"/>
            <a:ext cx="8424936" cy="5257701"/>
          </a:xfrm>
        </p:spPr>
        <p:txBody>
          <a:bodyPr/>
          <a:lstStyle/>
          <a:p>
            <a:pPr marL="0" indent="0">
              <a:buClr>
                <a:srgbClr val="800080"/>
              </a:buClr>
              <a:buSzPct val="50000"/>
              <a:buNone/>
            </a:pPr>
            <a:r>
              <a:rPr kumimoji="1" lang="zh-CN" altLang="en-US" dirty="0">
                <a:latin typeface="+mn-ea"/>
                <a:ea typeface="+mn-ea"/>
              </a:rPr>
              <a:t>在递归求解时不能无限制地调用本身，必须有一个出口，化简为非递归状况直接处理。</a:t>
            </a:r>
          </a:p>
          <a:p>
            <a:pPr marL="0" indent="0">
              <a:buClr>
                <a:srgbClr val="800080"/>
              </a:buClr>
              <a:buSzPct val="50000"/>
              <a:buFont typeface="Wingdings" panose="05000000000000000000" pitchFamily="2" charset="2"/>
              <a:buNone/>
            </a:pPr>
            <a:r>
              <a:rPr kumimoji="1" lang="en-US" altLang="en-US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rPr>
              <a:t>   </a:t>
            </a:r>
            <a:r>
              <a:rPr kumimoji="1" lang="zh-CN" altLang="en-US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rPr>
              <a:t> </a:t>
            </a:r>
            <a:r>
              <a:rPr kumimoji="1" lang="en-US" altLang="zh-CN" dirty="0">
                <a:solidFill>
                  <a:schemeClr val="tx2"/>
                </a:solidFill>
                <a:latin typeface="+mn-lt"/>
                <a:ea typeface="+mn-ea"/>
              </a:rPr>
              <a:t>Procedure </a:t>
            </a:r>
            <a:r>
              <a:rPr kumimoji="1" lang="en-US" altLang="zh-CN" dirty="0">
                <a:solidFill>
                  <a:srgbClr val="FF0000"/>
                </a:solidFill>
                <a:latin typeface="+mn-lt"/>
                <a:ea typeface="+mn-ea"/>
              </a:rPr>
              <a:t>&lt;</a:t>
            </a:r>
            <a:r>
              <a:rPr kumimoji="1" lang="zh-CN" altLang="en-US" dirty="0">
                <a:solidFill>
                  <a:srgbClr val="FF0000"/>
                </a:solidFill>
                <a:latin typeface="+mn-lt"/>
                <a:ea typeface="+mn-ea"/>
              </a:rPr>
              <a:t>过程名</a:t>
            </a:r>
            <a:r>
              <a:rPr kumimoji="1" lang="en-US" altLang="zh-CN" dirty="0">
                <a:solidFill>
                  <a:srgbClr val="FF0000"/>
                </a:solidFill>
                <a:latin typeface="+mn-lt"/>
                <a:ea typeface="+mn-ea"/>
              </a:rPr>
              <a:t>&gt; ( &lt;</a:t>
            </a:r>
            <a:r>
              <a:rPr kumimoji="1" lang="zh-CN" altLang="en-US" dirty="0">
                <a:solidFill>
                  <a:srgbClr val="FF0000"/>
                </a:solidFill>
                <a:latin typeface="+mn-lt"/>
                <a:ea typeface="+mn-ea"/>
              </a:rPr>
              <a:t>参数表</a:t>
            </a:r>
            <a:r>
              <a:rPr kumimoji="1" lang="en-US" altLang="zh-CN" dirty="0">
                <a:solidFill>
                  <a:srgbClr val="FF0000"/>
                </a:solidFill>
                <a:latin typeface="+mn-lt"/>
                <a:ea typeface="+mn-ea"/>
              </a:rPr>
              <a:t>&gt; ) </a:t>
            </a:r>
            <a:r>
              <a:rPr kumimoji="1" lang="en-US" altLang="zh-CN" dirty="0">
                <a:solidFill>
                  <a:schemeClr val="tx2"/>
                </a:solidFill>
                <a:latin typeface="+mn-lt"/>
                <a:ea typeface="+mn-ea"/>
              </a:rPr>
              <a:t>{</a:t>
            </a:r>
          </a:p>
          <a:p>
            <a:pPr marL="0" indent="0">
              <a:buClr>
                <a:srgbClr val="800080"/>
              </a:buClr>
              <a:buSzPct val="50000"/>
              <a:buFont typeface="Wingdings" panose="05000000000000000000" pitchFamily="2" charset="2"/>
              <a:buNone/>
            </a:pPr>
            <a:r>
              <a:rPr kumimoji="1" lang="en-US" altLang="zh-CN" dirty="0">
                <a:solidFill>
                  <a:schemeClr val="tx2"/>
                </a:solidFill>
                <a:latin typeface="+mn-lt"/>
                <a:ea typeface="+mn-ea"/>
              </a:rPr>
              <a:t>        if ( </a:t>
            </a:r>
            <a:r>
              <a:rPr kumimoji="1" lang="en-US" altLang="zh-CN" b="1" dirty="0">
                <a:solidFill>
                  <a:srgbClr val="0000FF"/>
                </a:solidFill>
                <a:latin typeface="+mn-lt"/>
                <a:ea typeface="+mn-ea"/>
              </a:rPr>
              <a:t>&lt; </a:t>
            </a:r>
            <a:r>
              <a:rPr kumimoji="1" lang="zh-CN" altLang="en-US" b="1" dirty="0">
                <a:solidFill>
                  <a:srgbClr val="0000FF"/>
                </a:solidFill>
                <a:latin typeface="+mn-lt"/>
                <a:ea typeface="+mn-ea"/>
              </a:rPr>
              <a:t>直接求解条件</a:t>
            </a:r>
            <a:r>
              <a:rPr kumimoji="1" lang="en-US" altLang="zh-CN" b="1" dirty="0">
                <a:solidFill>
                  <a:srgbClr val="0000FF"/>
                </a:solidFill>
                <a:latin typeface="+mn-lt"/>
                <a:ea typeface="+mn-ea"/>
              </a:rPr>
              <a:t>&gt; </a:t>
            </a:r>
            <a:r>
              <a:rPr kumimoji="1" lang="en-US" altLang="zh-CN" dirty="0">
                <a:solidFill>
                  <a:schemeClr val="tx2"/>
                </a:solidFill>
                <a:latin typeface="+mn-lt"/>
                <a:ea typeface="+mn-ea"/>
              </a:rPr>
              <a:t>)    </a:t>
            </a:r>
            <a:r>
              <a:rPr kumimoji="1" lang="en-US" altLang="zh-CN" dirty="0">
                <a:solidFill>
                  <a:srgbClr val="00B050"/>
                </a:solidFill>
                <a:latin typeface="+mn-lt"/>
                <a:ea typeface="+mn-ea"/>
              </a:rPr>
              <a:t>//</a:t>
            </a:r>
            <a:r>
              <a:rPr kumimoji="1" lang="zh-CN" altLang="en-US" dirty="0">
                <a:solidFill>
                  <a:srgbClr val="00B050"/>
                </a:solidFill>
                <a:latin typeface="+mn-lt"/>
                <a:ea typeface="+mn-ea"/>
              </a:rPr>
              <a:t>满足</a:t>
            </a:r>
            <a:r>
              <a:rPr kumimoji="1" lang="en-US" altLang="zh-CN" dirty="0">
                <a:solidFill>
                  <a:srgbClr val="00B050"/>
                </a:solidFill>
                <a:latin typeface="+mn-lt"/>
                <a:ea typeface="+mn-ea"/>
              </a:rPr>
              <a:t>, </a:t>
            </a:r>
            <a:r>
              <a:rPr kumimoji="1" lang="zh-CN" altLang="en-US" dirty="0">
                <a:solidFill>
                  <a:srgbClr val="00B050"/>
                </a:solidFill>
                <a:latin typeface="+mn-lt"/>
                <a:ea typeface="+mn-ea"/>
              </a:rPr>
              <a:t>递归结束</a:t>
            </a:r>
          </a:p>
          <a:p>
            <a:pPr marL="0" indent="0">
              <a:buClr>
                <a:srgbClr val="800080"/>
              </a:buClr>
              <a:buSzPct val="50000"/>
              <a:buFont typeface="Wingdings" panose="05000000000000000000" pitchFamily="2" charset="2"/>
              <a:buNone/>
            </a:pPr>
            <a:r>
              <a:rPr kumimoji="1" lang="zh-CN" altLang="en-US" dirty="0">
                <a:solidFill>
                  <a:schemeClr val="tx2"/>
                </a:solidFill>
                <a:latin typeface="+mn-lt"/>
                <a:ea typeface="+mn-ea"/>
              </a:rPr>
              <a:t>            </a:t>
            </a:r>
            <a:r>
              <a:rPr kumimoji="1" lang="en-US" altLang="zh-CN" dirty="0">
                <a:solidFill>
                  <a:schemeClr val="tx2"/>
                </a:solidFill>
                <a:latin typeface="+mn-lt"/>
                <a:ea typeface="+mn-ea"/>
              </a:rPr>
              <a:t>return ( </a:t>
            </a:r>
            <a:r>
              <a:rPr kumimoji="1" lang="zh-CN" altLang="en-US" dirty="0">
                <a:solidFill>
                  <a:schemeClr val="tx2"/>
                </a:solidFill>
                <a:latin typeface="+mn-lt"/>
                <a:ea typeface="+mn-ea"/>
              </a:rPr>
              <a:t>直接求解的值 </a:t>
            </a:r>
            <a:r>
              <a:rPr kumimoji="1" lang="en-US" altLang="zh-CN" dirty="0">
                <a:solidFill>
                  <a:schemeClr val="tx2"/>
                </a:solidFill>
                <a:latin typeface="+mn-lt"/>
                <a:ea typeface="+mn-ea"/>
              </a:rPr>
              <a:t>);    </a:t>
            </a:r>
          </a:p>
          <a:p>
            <a:pPr marL="0" indent="0">
              <a:buClr>
                <a:srgbClr val="800080"/>
              </a:buClr>
              <a:buSzPct val="50000"/>
              <a:buFont typeface="Wingdings" panose="05000000000000000000" pitchFamily="2" charset="2"/>
              <a:buNone/>
            </a:pPr>
            <a:r>
              <a:rPr kumimoji="1" lang="en-US" altLang="zh-CN" dirty="0">
                <a:solidFill>
                  <a:schemeClr val="tx2"/>
                </a:solidFill>
                <a:latin typeface="+mn-lt"/>
                <a:ea typeface="+mn-ea"/>
              </a:rPr>
              <a:t>        else                                   </a:t>
            </a:r>
            <a:r>
              <a:rPr kumimoji="1" lang="en-US" altLang="zh-CN" dirty="0">
                <a:solidFill>
                  <a:srgbClr val="00B050"/>
                </a:solidFill>
                <a:latin typeface="+mn-lt"/>
                <a:ea typeface="+mn-ea"/>
              </a:rPr>
              <a:t>//</a:t>
            </a:r>
            <a:r>
              <a:rPr kumimoji="1" lang="zh-CN" altLang="en-US" dirty="0">
                <a:solidFill>
                  <a:srgbClr val="00B050"/>
                </a:solidFill>
                <a:latin typeface="+mn-lt"/>
                <a:ea typeface="+mn-ea"/>
              </a:rPr>
              <a:t>不满足</a:t>
            </a:r>
            <a:r>
              <a:rPr kumimoji="1" lang="en-US" altLang="zh-CN" dirty="0">
                <a:solidFill>
                  <a:srgbClr val="00B050"/>
                </a:solidFill>
                <a:latin typeface="+mn-lt"/>
                <a:ea typeface="+mn-ea"/>
              </a:rPr>
              <a:t>, </a:t>
            </a:r>
            <a:r>
              <a:rPr kumimoji="1" lang="zh-CN" altLang="en-US" dirty="0">
                <a:solidFill>
                  <a:srgbClr val="00B050"/>
                </a:solidFill>
                <a:latin typeface="+mn-lt"/>
                <a:ea typeface="+mn-ea"/>
              </a:rPr>
              <a:t>递归求解</a:t>
            </a:r>
          </a:p>
          <a:p>
            <a:pPr marL="0" indent="0">
              <a:buClr>
                <a:srgbClr val="800080"/>
              </a:buClr>
              <a:buSzPct val="50000"/>
              <a:buFont typeface="Wingdings" panose="05000000000000000000" pitchFamily="2" charset="2"/>
              <a:buNone/>
            </a:pPr>
            <a:r>
              <a:rPr kumimoji="1" lang="zh-CN" altLang="en-US" dirty="0">
                <a:solidFill>
                  <a:schemeClr val="tx2"/>
                </a:solidFill>
                <a:latin typeface="+mn-lt"/>
                <a:ea typeface="+mn-ea"/>
              </a:rPr>
              <a:t>            </a:t>
            </a:r>
            <a:r>
              <a:rPr kumimoji="1" lang="en-US" altLang="zh-CN" dirty="0">
                <a:solidFill>
                  <a:schemeClr val="tx2"/>
                </a:solidFill>
                <a:latin typeface="+mn-lt"/>
                <a:ea typeface="+mn-ea"/>
              </a:rPr>
              <a:t>return </a:t>
            </a:r>
            <a:r>
              <a:rPr kumimoji="1" lang="en-US" altLang="zh-CN" dirty="0">
                <a:latin typeface="+mn-lt"/>
                <a:ea typeface="+mn-ea"/>
              </a:rPr>
              <a:t>(</a:t>
            </a:r>
            <a:r>
              <a:rPr kumimoji="1" lang="en-US" altLang="zh-CN" dirty="0">
                <a:solidFill>
                  <a:srgbClr val="FF0000"/>
                </a:solidFill>
                <a:latin typeface="+mn-lt"/>
                <a:ea typeface="+mn-ea"/>
              </a:rPr>
              <a:t>&lt;</a:t>
            </a:r>
            <a:r>
              <a:rPr kumimoji="1" lang="zh-CN" altLang="en-US" dirty="0">
                <a:solidFill>
                  <a:srgbClr val="FF0000"/>
                </a:solidFill>
                <a:latin typeface="+mn-lt"/>
                <a:ea typeface="+mn-ea"/>
              </a:rPr>
              <a:t>过程名</a:t>
            </a:r>
            <a:r>
              <a:rPr kumimoji="1" lang="en-US" altLang="zh-CN" dirty="0">
                <a:solidFill>
                  <a:srgbClr val="FF0000"/>
                </a:solidFill>
                <a:latin typeface="+mn-lt"/>
                <a:ea typeface="+mn-ea"/>
              </a:rPr>
              <a:t>&gt; ( &lt;</a:t>
            </a:r>
            <a:r>
              <a:rPr kumimoji="1" lang="zh-CN" altLang="en-US" dirty="0">
                <a:solidFill>
                  <a:srgbClr val="FF0000"/>
                </a:solidFill>
                <a:latin typeface="+mn-lt"/>
                <a:ea typeface="+mn-ea"/>
              </a:rPr>
              <a:t>简化的参数表</a:t>
            </a:r>
            <a:r>
              <a:rPr kumimoji="1" lang="en-US" altLang="zh-CN" dirty="0">
                <a:solidFill>
                  <a:srgbClr val="FF0000"/>
                </a:solidFill>
                <a:latin typeface="+mn-lt"/>
                <a:ea typeface="+mn-ea"/>
              </a:rPr>
              <a:t>&gt;)</a:t>
            </a:r>
            <a:r>
              <a:rPr kumimoji="1" lang="en-US" altLang="zh-CN" dirty="0">
                <a:solidFill>
                  <a:schemeClr val="tx2"/>
                </a:solidFill>
                <a:latin typeface="+mn-lt"/>
                <a:ea typeface="+mn-ea"/>
              </a:rPr>
              <a:t>);</a:t>
            </a:r>
          </a:p>
          <a:p>
            <a:pPr marL="0" indent="0">
              <a:buClr>
                <a:srgbClr val="800080"/>
              </a:buClr>
              <a:buSzPct val="50000"/>
              <a:buFont typeface="Wingdings" panose="05000000000000000000" pitchFamily="2" charset="2"/>
              <a:buNone/>
            </a:pPr>
            <a:r>
              <a:rPr kumimoji="1" lang="en-US" altLang="zh-CN" dirty="0">
                <a:solidFill>
                  <a:schemeClr val="tx2"/>
                </a:solidFill>
                <a:latin typeface="+mn-lt"/>
                <a:ea typeface="+mn-ea"/>
              </a:rPr>
              <a:t>    }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186" name="Text Box 2">
            <a:extLst>
              <a:ext uri="{FF2B5EF4-FFF2-40B4-BE49-F238E27FC236}">
                <a16:creationId xmlns:a16="http://schemas.microsoft.com/office/drawing/2014/main" id="{BDD423DE-1179-4089-9FFE-8B18ABAC75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2600" y="1295400"/>
            <a:ext cx="572452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kumimoji="1" lang="zh-CN" altLang="zh-CN" sz="2000" baseline="0">
              <a:latin typeface="宋体" panose="02010600030101010101" pitchFamily="2" charset="-122"/>
            </a:endParaRPr>
          </a:p>
        </p:txBody>
      </p:sp>
      <p:sp>
        <p:nvSpPr>
          <p:cNvPr id="349187" name="Rectangle 3">
            <a:extLst>
              <a:ext uri="{FF2B5EF4-FFF2-40B4-BE49-F238E27FC236}">
                <a16:creationId xmlns:a16="http://schemas.microsoft.com/office/drawing/2014/main" id="{C9B2EA69-606E-4C76-88BF-F8F35952DF2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99592" y="156319"/>
            <a:ext cx="6096000" cy="586636"/>
          </a:xfrm>
        </p:spPr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</a:rPr>
              <a:t>递归过程与递归工作栈</a:t>
            </a:r>
          </a:p>
        </p:txBody>
      </p:sp>
      <p:sp>
        <p:nvSpPr>
          <p:cNvPr id="15" name="Rectangle 4">
            <a:extLst>
              <a:ext uri="{FF2B5EF4-FFF2-40B4-BE49-F238E27FC236}">
                <a16:creationId xmlns:a16="http://schemas.microsoft.com/office/drawing/2014/main" id="{6DD1738F-E15D-4BD4-98C7-27293C73B53D}"/>
              </a:ext>
            </a:extLst>
          </p:cNvPr>
          <p:cNvSpPr txBox="1">
            <a:spLocks noChangeArrowheads="1"/>
          </p:cNvSpPr>
          <p:nvPr/>
        </p:nvSpPr>
        <p:spPr>
          <a:xfrm>
            <a:off x="323528" y="836712"/>
            <a:ext cx="8496944" cy="5864969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457200" indent="-457200" algn="l" rtl="0" eaLnBrk="0" fontAlgn="base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342900" indent="-342900" algn="l" rtl="0" eaLnBrk="0" fontAlgn="base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342900" indent="-342900" algn="l" rtl="0" eaLnBrk="0" fontAlgn="base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3pPr>
            <a:lvl4pPr marL="17145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>
              <a:buClr>
                <a:srgbClr val="800080"/>
              </a:buClr>
              <a:buSzPct val="50000"/>
              <a:buFont typeface="Wingdings" panose="05000000000000000000" pitchFamily="2" charset="2"/>
              <a:buChar char="l"/>
            </a:pPr>
            <a:r>
              <a:rPr lang="zh-CN" altLang="en-US" b="0" kern="0" dirty="0">
                <a:latin typeface="+mn-ea"/>
                <a:ea typeface="+mn-ea"/>
              </a:rPr>
              <a:t>递归过程在实现时，需要自己调用自己。</a:t>
            </a:r>
          </a:p>
          <a:p>
            <a:pPr>
              <a:buClr>
                <a:srgbClr val="800080"/>
              </a:buClr>
              <a:buSzPct val="50000"/>
              <a:buFont typeface="Wingdings" panose="05000000000000000000" pitchFamily="2" charset="2"/>
              <a:buChar char="l"/>
            </a:pPr>
            <a:r>
              <a:rPr lang="zh-CN" altLang="en-US" b="0" kern="0" dirty="0">
                <a:latin typeface="+mn-ea"/>
                <a:ea typeface="+mn-ea"/>
              </a:rPr>
              <a:t>层层向下递归，退出时的次序正好相反：</a:t>
            </a:r>
          </a:p>
          <a:p>
            <a:pPr marL="0" indent="0">
              <a:buClr>
                <a:srgbClr val="800080"/>
              </a:buClr>
              <a:buSzPct val="50000"/>
              <a:buNone/>
            </a:pPr>
            <a:r>
              <a:rPr lang="zh-CN" altLang="en-US" b="0" kern="0" dirty="0">
                <a:solidFill>
                  <a:schemeClr val="accent2"/>
                </a:solidFill>
                <a:latin typeface="+mn-ea"/>
                <a:ea typeface="+mn-ea"/>
              </a:rPr>
              <a:t>                           </a:t>
            </a:r>
            <a:r>
              <a:rPr lang="zh-CN" altLang="en-US" b="0" kern="0" dirty="0">
                <a:solidFill>
                  <a:srgbClr val="FF0000"/>
                </a:solidFill>
                <a:latin typeface="+mn-ea"/>
                <a:ea typeface="+mn-ea"/>
              </a:rPr>
              <a:t>递归调用</a:t>
            </a:r>
            <a:endParaRPr lang="zh-CN" altLang="en-US" b="0" i="1" kern="0" dirty="0">
              <a:solidFill>
                <a:srgbClr val="FF0000"/>
              </a:solidFill>
              <a:latin typeface="+mn-ea"/>
              <a:ea typeface="+mn-ea"/>
            </a:endParaRPr>
          </a:p>
          <a:p>
            <a:pPr marL="0" indent="0">
              <a:buClr>
                <a:srgbClr val="800080"/>
              </a:buClr>
              <a:buSzPct val="50000"/>
              <a:buNone/>
            </a:pPr>
            <a:r>
              <a:rPr lang="zh-CN" altLang="en-US" b="0" i="1" kern="0" dirty="0">
                <a:solidFill>
                  <a:srgbClr val="990099"/>
                </a:solidFill>
                <a:latin typeface="+mn-ea"/>
                <a:ea typeface="+mn-ea"/>
              </a:rPr>
              <a:t>     </a:t>
            </a:r>
            <a:r>
              <a:rPr lang="en-US" altLang="zh-CN" b="0" i="1" kern="0" dirty="0">
                <a:solidFill>
                  <a:srgbClr val="990099"/>
                </a:solidFill>
                <a:latin typeface="+mn-ea"/>
                <a:ea typeface="+mn-ea"/>
              </a:rPr>
              <a:t>n</a:t>
            </a:r>
            <a:r>
              <a:rPr lang="en-US" altLang="zh-CN" b="0" kern="0" dirty="0">
                <a:solidFill>
                  <a:srgbClr val="990099"/>
                </a:solidFill>
                <a:latin typeface="+mn-ea"/>
                <a:ea typeface="+mn-ea"/>
              </a:rPr>
              <a:t>!        (</a:t>
            </a:r>
            <a:r>
              <a:rPr lang="en-US" altLang="zh-CN" b="0" i="1" kern="0" dirty="0">
                <a:solidFill>
                  <a:srgbClr val="990099"/>
                </a:solidFill>
                <a:latin typeface="+mn-ea"/>
                <a:ea typeface="+mn-ea"/>
              </a:rPr>
              <a:t>n</a:t>
            </a:r>
            <a:r>
              <a:rPr lang="en-US" altLang="zh-CN" b="0" kern="0" dirty="0">
                <a:solidFill>
                  <a:srgbClr val="990099"/>
                </a:solidFill>
                <a:latin typeface="+mn-ea"/>
                <a:ea typeface="+mn-ea"/>
              </a:rPr>
              <a:t>-1)!       (</a:t>
            </a:r>
            <a:r>
              <a:rPr lang="en-US" altLang="zh-CN" b="0" i="1" kern="0" dirty="0">
                <a:solidFill>
                  <a:srgbClr val="990099"/>
                </a:solidFill>
                <a:latin typeface="+mn-ea"/>
                <a:ea typeface="+mn-ea"/>
              </a:rPr>
              <a:t>n</a:t>
            </a:r>
            <a:r>
              <a:rPr lang="en-US" altLang="zh-CN" b="0" kern="0" dirty="0">
                <a:solidFill>
                  <a:srgbClr val="990099"/>
                </a:solidFill>
                <a:latin typeface="+mn-ea"/>
                <a:ea typeface="+mn-ea"/>
              </a:rPr>
              <a:t>-2)!           1!       0!=1</a:t>
            </a:r>
            <a:endParaRPr lang="en-US" altLang="zh-CN" b="0" kern="0" dirty="0">
              <a:solidFill>
                <a:schemeClr val="accent2"/>
              </a:solidFill>
              <a:latin typeface="+mn-ea"/>
              <a:ea typeface="+mn-ea"/>
            </a:endParaRPr>
          </a:p>
          <a:p>
            <a:pPr marL="0" indent="0">
              <a:buClr>
                <a:srgbClr val="800080"/>
              </a:buClr>
              <a:buSzPct val="50000"/>
              <a:buNone/>
            </a:pPr>
            <a:r>
              <a:rPr lang="en-US" altLang="zh-CN" b="0" kern="0" dirty="0">
                <a:solidFill>
                  <a:schemeClr val="accent2"/>
                </a:solidFill>
                <a:latin typeface="+mn-ea"/>
                <a:ea typeface="+mn-ea"/>
              </a:rPr>
              <a:t>                           </a:t>
            </a:r>
            <a:r>
              <a:rPr lang="zh-CN" altLang="en-US" b="0" kern="0" dirty="0">
                <a:solidFill>
                  <a:srgbClr val="0000FF"/>
                </a:solidFill>
                <a:latin typeface="+mn-ea"/>
                <a:ea typeface="+mn-ea"/>
              </a:rPr>
              <a:t>返回次序</a:t>
            </a:r>
          </a:p>
          <a:p>
            <a:pPr>
              <a:buClr>
                <a:srgbClr val="800080"/>
              </a:buClr>
              <a:buSzPct val="50000"/>
              <a:buFont typeface="Wingdings" panose="05000000000000000000" pitchFamily="2" charset="2"/>
              <a:buChar char="l"/>
            </a:pPr>
            <a:r>
              <a:rPr lang="zh-CN" altLang="en-US" b="0" kern="0" dirty="0">
                <a:latin typeface="+mn-ea"/>
                <a:ea typeface="+mn-ea"/>
              </a:rPr>
              <a:t>主程序第一次调用递归过程为外部调用；递归过程每次递归调用自己为内部调用。它们返回调用它的过程的地址不同。</a:t>
            </a:r>
            <a:endParaRPr lang="en-US" altLang="zh-CN" b="0" kern="0" dirty="0">
              <a:latin typeface="+mn-ea"/>
              <a:ea typeface="+mn-ea"/>
            </a:endParaRPr>
          </a:p>
          <a:p>
            <a:pPr>
              <a:buClr>
                <a:srgbClr val="800080"/>
              </a:buClr>
              <a:buSzPct val="50000"/>
              <a:buFont typeface="Wingdings" panose="05000000000000000000" pitchFamily="2" charset="2"/>
              <a:buChar char="l"/>
            </a:pPr>
            <a:r>
              <a:rPr lang="zh-CN" altLang="en-US" b="0" kern="0" dirty="0">
                <a:solidFill>
                  <a:srgbClr val="0000FF"/>
                </a:solidFill>
                <a:latin typeface="+mn-ea"/>
                <a:ea typeface="+mn-ea"/>
              </a:rPr>
              <a:t>每次调用必须记下返回上层什么地方的地址。</a:t>
            </a:r>
          </a:p>
        </p:txBody>
      </p:sp>
      <p:sp>
        <p:nvSpPr>
          <p:cNvPr id="16" name="AutoShape 5">
            <a:extLst>
              <a:ext uri="{FF2B5EF4-FFF2-40B4-BE49-F238E27FC236}">
                <a16:creationId xmlns:a16="http://schemas.microsoft.com/office/drawing/2014/main" id="{4B5AD2B8-6CCE-4280-97C5-6604C3219C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38897" y="3076052"/>
            <a:ext cx="533400" cy="228600"/>
          </a:xfrm>
          <a:prstGeom prst="rightArrow">
            <a:avLst>
              <a:gd name="adj1" fmla="val 50000"/>
              <a:gd name="adj2" fmla="val 58333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" name="AutoShape 6">
            <a:extLst>
              <a:ext uri="{FF2B5EF4-FFF2-40B4-BE49-F238E27FC236}">
                <a16:creationId xmlns:a16="http://schemas.microsoft.com/office/drawing/2014/main" id="{EBF10E0D-C241-4A21-97D7-22D5B13725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34734" y="3076052"/>
            <a:ext cx="533400" cy="228600"/>
          </a:xfrm>
          <a:prstGeom prst="rightArrow">
            <a:avLst>
              <a:gd name="adj1" fmla="val 50000"/>
              <a:gd name="adj2" fmla="val 58333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" name="AutoShape 7">
            <a:extLst>
              <a:ext uri="{FF2B5EF4-FFF2-40B4-BE49-F238E27FC236}">
                <a16:creationId xmlns:a16="http://schemas.microsoft.com/office/drawing/2014/main" id="{621656F8-7E97-452B-892F-490C116BFC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06087" y="3080341"/>
            <a:ext cx="228600" cy="228600"/>
          </a:xfrm>
          <a:prstGeom prst="rightArrow">
            <a:avLst>
              <a:gd name="adj1" fmla="val 50000"/>
              <a:gd name="adj2" fmla="val 25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" name="AutoShape 8">
            <a:extLst>
              <a:ext uri="{FF2B5EF4-FFF2-40B4-BE49-F238E27FC236}">
                <a16:creationId xmlns:a16="http://schemas.microsoft.com/office/drawing/2014/main" id="{5908880D-3125-4B5E-A794-6E45B4B902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48064" y="3072498"/>
            <a:ext cx="632594" cy="206382"/>
          </a:xfrm>
          <a:custGeom>
            <a:avLst/>
            <a:gdLst>
              <a:gd name="G0" fmla="+- 16200 0 0"/>
              <a:gd name="G1" fmla="+- 5400 0 0"/>
              <a:gd name="G2" fmla="+- 21600 0 5400"/>
              <a:gd name="G3" fmla="+- 10800 0 5400"/>
              <a:gd name="G4" fmla="+- 21600 0 16200"/>
              <a:gd name="G5" fmla="*/ G4 G3 10800"/>
              <a:gd name="G6" fmla="+- 21600 0 G5"/>
              <a:gd name="T0" fmla="*/ 16200 w 21600"/>
              <a:gd name="T1" fmla="*/ 0 h 21600"/>
              <a:gd name="T2" fmla="*/ 0 w 21600"/>
              <a:gd name="T3" fmla="*/ 10800 h 21600"/>
              <a:gd name="T4" fmla="*/ 16200 w 21600"/>
              <a:gd name="T5" fmla="*/ 21600 h 21600"/>
              <a:gd name="T6" fmla="*/ 21600 w 21600"/>
              <a:gd name="T7" fmla="*/ 10800 h 21600"/>
              <a:gd name="T8" fmla="*/ 17694720 60000 65536"/>
              <a:gd name="T9" fmla="*/ 11796480 60000 65536"/>
              <a:gd name="T10" fmla="*/ 5898240 60000 65536"/>
              <a:gd name="T11" fmla="*/ 0 60000 65536"/>
              <a:gd name="T12" fmla="*/ 3375 w 21600"/>
              <a:gd name="T13" fmla="*/ G1 h 21600"/>
              <a:gd name="T14" fmla="*/ G6 w 21600"/>
              <a:gd name="T15" fmla="*/ G2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close/>
              </a:path>
            </a:pathLst>
          </a:cu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" name="AutoShape 9">
            <a:extLst>
              <a:ext uri="{FF2B5EF4-FFF2-40B4-BE49-F238E27FC236}">
                <a16:creationId xmlns:a16="http://schemas.microsoft.com/office/drawing/2014/main" id="{AFB956C4-0490-45E8-931B-CDCC8F702B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7666" y="3076052"/>
            <a:ext cx="533400" cy="228600"/>
          </a:xfrm>
          <a:prstGeom prst="rightArrow">
            <a:avLst>
              <a:gd name="adj1" fmla="val 50000"/>
              <a:gd name="adj2" fmla="val 58333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" name="Line 10">
            <a:extLst>
              <a:ext uri="{FF2B5EF4-FFF2-40B4-BE49-F238E27FC236}">
                <a16:creationId xmlns:a16="http://schemas.microsoft.com/office/drawing/2014/main" id="{32DD77FC-FCA6-408C-9ACE-C74778503955}"/>
              </a:ext>
            </a:extLst>
          </p:cNvPr>
          <p:cNvSpPr>
            <a:spLocks noChangeShapeType="1"/>
          </p:cNvSpPr>
          <p:nvPr/>
        </p:nvSpPr>
        <p:spPr bwMode="auto">
          <a:xfrm>
            <a:off x="1043609" y="2896663"/>
            <a:ext cx="6353675" cy="23816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" name="Line 11">
            <a:extLst>
              <a:ext uri="{FF2B5EF4-FFF2-40B4-BE49-F238E27FC236}">
                <a16:creationId xmlns:a16="http://schemas.microsoft.com/office/drawing/2014/main" id="{17ACD555-62C0-4E68-B442-C0FC5D3F41F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043608" y="3472925"/>
            <a:ext cx="6353675" cy="11109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 type="triangle" w="lg" len="lg"/>
            <a:tailEnd w="lg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258" name="Text Box 2">
            <a:extLst>
              <a:ext uri="{FF2B5EF4-FFF2-40B4-BE49-F238E27FC236}">
                <a16:creationId xmlns:a16="http://schemas.microsoft.com/office/drawing/2014/main" id="{9730FCE0-17D4-4CA3-846F-001047D602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934333"/>
            <a:ext cx="8077200" cy="30839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90000"/>
              </a:lnSpc>
            </a:pPr>
            <a:r>
              <a:rPr kumimoji="1" lang="en-US" altLang="zh-CN" sz="3600" b="0" baseline="0" dirty="0">
                <a:solidFill>
                  <a:schemeClr val="hlink"/>
                </a:solidFill>
              </a:rPr>
              <a:t>                  </a:t>
            </a:r>
            <a:r>
              <a:rPr kumimoji="1" lang="en-US" altLang="zh-CN" sz="3000" b="0" baseline="0" dirty="0">
                <a:solidFill>
                  <a:schemeClr val="tx2"/>
                </a:solidFill>
              </a:rPr>
              <a:t>long Factorial(long n) {</a:t>
            </a:r>
          </a:p>
          <a:p>
            <a:pPr>
              <a:lnSpc>
                <a:spcPct val="90000"/>
              </a:lnSpc>
            </a:pPr>
            <a:r>
              <a:rPr kumimoji="1" lang="en-US" altLang="zh-CN" sz="3000" b="0" baseline="0" dirty="0">
                <a:solidFill>
                  <a:schemeClr val="tx2"/>
                </a:solidFill>
              </a:rPr>
              <a:t>                        int temp;</a:t>
            </a:r>
          </a:p>
          <a:p>
            <a:pPr>
              <a:lnSpc>
                <a:spcPct val="90000"/>
              </a:lnSpc>
            </a:pPr>
            <a:r>
              <a:rPr kumimoji="1" lang="en-US" altLang="zh-CN" sz="3000" b="0" baseline="0" dirty="0">
                <a:solidFill>
                  <a:schemeClr val="tx2"/>
                </a:solidFill>
              </a:rPr>
              <a:t>                        if (n</a:t>
            </a:r>
            <a:r>
              <a:rPr kumimoji="1" lang="en-US" altLang="zh-CN" sz="3000" b="0" i="1" baseline="0" dirty="0">
                <a:solidFill>
                  <a:schemeClr val="tx2"/>
                </a:solidFill>
              </a:rPr>
              <a:t> ==</a:t>
            </a:r>
            <a:r>
              <a:rPr kumimoji="1" lang="en-US" altLang="zh-CN" sz="3000" b="0" baseline="0" dirty="0">
                <a:solidFill>
                  <a:schemeClr val="tx2"/>
                </a:solidFill>
              </a:rPr>
              <a:t> 0) return 1;</a:t>
            </a:r>
          </a:p>
          <a:p>
            <a:pPr>
              <a:lnSpc>
                <a:spcPct val="90000"/>
              </a:lnSpc>
            </a:pPr>
            <a:r>
              <a:rPr kumimoji="1" lang="en-US" altLang="zh-CN" sz="3000" b="0" baseline="0" dirty="0">
                <a:solidFill>
                  <a:schemeClr val="tx2"/>
                </a:solidFill>
              </a:rPr>
              <a:t>                        else temp = n * Factorial(n</a:t>
            </a:r>
            <a:r>
              <a:rPr kumimoji="1" lang="en-US" altLang="zh-CN" sz="3000" b="0" baseline="0" dirty="0">
                <a:solidFill>
                  <a:schemeClr val="tx2"/>
                </a:solidFill>
                <a:latin typeface="仿宋_GB2312" pitchFamily="49" charset="-122"/>
                <a:ea typeface="仿宋_GB2312" pitchFamily="49" charset="-122"/>
              </a:rPr>
              <a:t>-</a:t>
            </a:r>
            <a:r>
              <a:rPr kumimoji="1" lang="en-US" altLang="zh-CN" sz="3000" b="0" baseline="0" dirty="0">
                <a:solidFill>
                  <a:schemeClr val="tx2"/>
                </a:solidFill>
              </a:rPr>
              <a:t>1);</a:t>
            </a:r>
          </a:p>
          <a:p>
            <a:pPr>
              <a:lnSpc>
                <a:spcPct val="90000"/>
              </a:lnSpc>
            </a:pPr>
            <a:r>
              <a:rPr kumimoji="1" lang="en-US" altLang="zh-CN" sz="3000" b="0" i="1" baseline="0" dirty="0">
                <a:solidFill>
                  <a:schemeClr val="tx2"/>
                </a:solidFill>
              </a:rPr>
              <a:t>    </a:t>
            </a:r>
            <a:endParaRPr kumimoji="1" lang="en-US" altLang="zh-CN" sz="3000" b="0" baseline="0" dirty="0">
              <a:solidFill>
                <a:schemeClr val="hlink"/>
              </a:solidFill>
            </a:endParaRPr>
          </a:p>
          <a:p>
            <a:pPr>
              <a:lnSpc>
                <a:spcPct val="90000"/>
              </a:lnSpc>
            </a:pPr>
            <a:r>
              <a:rPr kumimoji="1" lang="en-US" altLang="zh-CN" sz="3000" b="0" baseline="0" dirty="0">
                <a:solidFill>
                  <a:schemeClr val="tx2"/>
                </a:solidFill>
              </a:rPr>
              <a:t>	               return temp;</a:t>
            </a:r>
          </a:p>
          <a:p>
            <a:pPr>
              <a:lnSpc>
                <a:spcPct val="90000"/>
              </a:lnSpc>
            </a:pPr>
            <a:r>
              <a:rPr kumimoji="1" lang="en-US" altLang="zh-CN" sz="3000" b="0" baseline="0" dirty="0">
                <a:solidFill>
                  <a:schemeClr val="tx2"/>
                </a:solidFill>
              </a:rPr>
              <a:t> 		  }</a:t>
            </a:r>
          </a:p>
        </p:txBody>
      </p:sp>
      <p:sp>
        <p:nvSpPr>
          <p:cNvPr id="352259" name="Text Box 3">
            <a:extLst>
              <a:ext uri="{FF2B5EF4-FFF2-40B4-BE49-F238E27FC236}">
                <a16:creationId xmlns:a16="http://schemas.microsoft.com/office/drawing/2014/main" id="{1D663313-F8B9-4CCF-B22E-46D9E2BA77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9100" y="4139495"/>
            <a:ext cx="7353300" cy="2169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90000"/>
              </a:lnSpc>
            </a:pPr>
            <a:r>
              <a:rPr kumimoji="1" lang="en-US" altLang="zh-CN" b="0" baseline="0" dirty="0">
                <a:latin typeface="Times New Roman" panose="02020603050405020304" pitchFamily="18" charset="0"/>
              </a:rPr>
              <a:t>	</a:t>
            </a:r>
            <a:r>
              <a:rPr kumimoji="1" lang="en-US" altLang="zh-CN" sz="2000" b="0" baseline="0" dirty="0">
                <a:latin typeface="Times New Roman" panose="02020603050405020304" pitchFamily="18" charset="0"/>
              </a:rPr>
              <a:t>	 </a:t>
            </a:r>
            <a:r>
              <a:rPr kumimoji="1" lang="en-US" altLang="zh-CN" sz="3000" b="0" baseline="0" dirty="0">
                <a:solidFill>
                  <a:schemeClr val="tx2"/>
                </a:solidFill>
                <a:latin typeface="Times New Roman" panose="02020603050405020304" pitchFamily="18" charset="0"/>
              </a:rPr>
              <a:t>void main() {</a:t>
            </a:r>
          </a:p>
          <a:p>
            <a:pPr>
              <a:lnSpc>
                <a:spcPct val="90000"/>
              </a:lnSpc>
            </a:pPr>
            <a:r>
              <a:rPr kumimoji="1" lang="en-US" altLang="zh-CN" sz="3000" b="0" baseline="0" dirty="0">
                <a:solidFill>
                  <a:schemeClr val="tx2"/>
                </a:solidFill>
                <a:latin typeface="Times New Roman" panose="02020603050405020304" pitchFamily="18" charset="0"/>
              </a:rPr>
              <a:t>		    int n;</a:t>
            </a:r>
          </a:p>
          <a:p>
            <a:pPr>
              <a:lnSpc>
                <a:spcPct val="90000"/>
              </a:lnSpc>
            </a:pPr>
            <a:r>
              <a:rPr kumimoji="1" lang="en-US" altLang="zh-CN" sz="3000" b="0" baseline="0" dirty="0">
                <a:solidFill>
                  <a:schemeClr val="tx2"/>
                </a:solidFill>
                <a:latin typeface="Times New Roman" panose="02020603050405020304" pitchFamily="18" charset="0"/>
              </a:rPr>
              <a:t> 		    n = Factorial(4);</a:t>
            </a:r>
          </a:p>
          <a:p>
            <a:pPr>
              <a:lnSpc>
                <a:spcPct val="90000"/>
              </a:lnSpc>
            </a:pPr>
            <a:r>
              <a:rPr kumimoji="1" lang="en-US" altLang="zh-CN" sz="3000" b="0" baseline="0" dirty="0">
                <a:solidFill>
                  <a:schemeClr val="tx2"/>
                </a:solidFill>
                <a:latin typeface="Times New Roman" panose="02020603050405020304" pitchFamily="18" charset="0"/>
              </a:rPr>
              <a:t>   </a:t>
            </a:r>
            <a:endParaRPr kumimoji="1" lang="en-US" altLang="zh-CN" sz="3000" b="0" baseline="0" dirty="0">
              <a:solidFill>
                <a:schemeClr val="hlink"/>
              </a:solidFill>
              <a:latin typeface="Times New Roman" panose="02020603050405020304" pitchFamily="18" charset="0"/>
            </a:endParaRPr>
          </a:p>
          <a:p>
            <a:pPr>
              <a:lnSpc>
                <a:spcPct val="90000"/>
              </a:lnSpc>
            </a:pPr>
            <a:r>
              <a:rPr kumimoji="1" lang="en-US" altLang="zh-CN" sz="3000" b="0" baseline="0" dirty="0">
                <a:solidFill>
                  <a:schemeClr val="tx2"/>
                </a:solidFill>
                <a:latin typeface="Times New Roman" panose="02020603050405020304" pitchFamily="18" charset="0"/>
              </a:rPr>
              <a:t>		 }</a:t>
            </a:r>
          </a:p>
        </p:txBody>
      </p:sp>
      <p:sp>
        <p:nvSpPr>
          <p:cNvPr id="352260" name="Line 4">
            <a:extLst>
              <a:ext uri="{FF2B5EF4-FFF2-40B4-BE49-F238E27FC236}">
                <a16:creationId xmlns:a16="http://schemas.microsoft.com/office/drawing/2014/main" id="{158C7DB9-B0F0-4233-B1E0-365A9CEBE74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951413" y="2621846"/>
            <a:ext cx="0" cy="304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52261" name="Line 5">
            <a:extLst>
              <a:ext uri="{FF2B5EF4-FFF2-40B4-BE49-F238E27FC236}">
                <a16:creationId xmlns:a16="http://schemas.microsoft.com/office/drawing/2014/main" id="{81DF5BE0-A7C1-435D-8FFD-9C027224960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159000" y="2926646"/>
            <a:ext cx="2808288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none"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52262" name="Line 6">
            <a:extLst>
              <a:ext uri="{FF2B5EF4-FFF2-40B4-BE49-F238E27FC236}">
                <a16:creationId xmlns:a16="http://schemas.microsoft.com/office/drawing/2014/main" id="{18B7DCD8-A508-421B-8DA3-18A0A6F1878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132138" y="5363458"/>
            <a:ext cx="0" cy="304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52263" name="Line 7">
            <a:extLst>
              <a:ext uri="{FF2B5EF4-FFF2-40B4-BE49-F238E27FC236}">
                <a16:creationId xmlns:a16="http://schemas.microsoft.com/office/drawing/2014/main" id="{EA9EAF59-9692-4E3E-B0FE-6E5D87962C66}"/>
              </a:ext>
            </a:extLst>
          </p:cNvPr>
          <p:cNvSpPr>
            <a:spLocks noChangeShapeType="1"/>
          </p:cNvSpPr>
          <p:nvPr/>
        </p:nvSpPr>
        <p:spPr bwMode="auto">
          <a:xfrm>
            <a:off x="2232025" y="5663496"/>
            <a:ext cx="9144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52264" name="Rectangle 8">
            <a:extLst>
              <a:ext uri="{FF2B5EF4-FFF2-40B4-BE49-F238E27FC236}">
                <a16:creationId xmlns:a16="http://schemas.microsoft.com/office/drawing/2014/main" id="{342DBFF6-62D3-42BC-A014-A141C2045E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7700" y="5336471"/>
            <a:ext cx="1584325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8000"/>
                </a:solidFill>
                <a:miter lim="800000"/>
                <a:headEnd type="none" w="lg" len="lg"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3200" baseline="0">
                <a:latin typeface="Times New Roman" panose="02020603050405020304" pitchFamily="18" charset="0"/>
              </a:rPr>
              <a:t>RetLoc1</a:t>
            </a:r>
          </a:p>
        </p:txBody>
      </p:sp>
      <p:sp>
        <p:nvSpPr>
          <p:cNvPr id="352265" name="Rectangle 9">
            <a:extLst>
              <a:ext uri="{FF2B5EF4-FFF2-40B4-BE49-F238E27FC236}">
                <a16:creationId xmlns:a16="http://schemas.microsoft.com/office/drawing/2014/main" id="{41575C12-BCFF-4353-9DCD-89B4572174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2602796"/>
            <a:ext cx="1584325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8000"/>
                </a:solidFill>
                <a:miter lim="800000"/>
                <a:headEnd type="none" w="lg" len="lg"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3200" baseline="0">
                <a:latin typeface="Times New Roman" panose="02020603050405020304" pitchFamily="18" charset="0"/>
                <a:ea typeface="仿宋_GB2312" pitchFamily="49" charset="-122"/>
              </a:rPr>
              <a:t>RetLoc2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210" name="Text Box 2">
            <a:extLst>
              <a:ext uri="{FF2B5EF4-FFF2-40B4-BE49-F238E27FC236}">
                <a16:creationId xmlns:a16="http://schemas.microsoft.com/office/drawing/2014/main" id="{6D7BE219-44FB-4AAC-8B1A-0BB92AAA22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2600" y="1295400"/>
            <a:ext cx="572452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kumimoji="1" lang="zh-CN" altLang="zh-CN" sz="2000" baseline="0">
              <a:latin typeface="宋体" panose="02010600030101010101" pitchFamily="2" charset="-122"/>
            </a:endParaRPr>
          </a:p>
        </p:txBody>
      </p:sp>
      <p:sp>
        <p:nvSpPr>
          <p:cNvPr id="350211" name="Rectangle 3">
            <a:extLst>
              <a:ext uri="{FF2B5EF4-FFF2-40B4-BE49-F238E27FC236}">
                <a16:creationId xmlns:a16="http://schemas.microsoft.com/office/drawing/2014/main" id="{6126AA15-C3FC-4D55-AB62-A4CBAD5338D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99592" y="51833"/>
            <a:ext cx="6096000" cy="808038"/>
          </a:xfrm>
        </p:spPr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</a:rPr>
              <a:t>递归工作栈</a:t>
            </a:r>
          </a:p>
        </p:txBody>
      </p:sp>
      <p:sp>
        <p:nvSpPr>
          <p:cNvPr id="350212" name="Rectangle 4">
            <a:extLst>
              <a:ext uri="{FF2B5EF4-FFF2-40B4-BE49-F238E27FC236}">
                <a16:creationId xmlns:a16="http://schemas.microsoft.com/office/drawing/2014/main" id="{AE895027-1ADC-4C80-8277-66933E720A1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7504" y="764704"/>
            <a:ext cx="8928992" cy="5688632"/>
          </a:xfrm>
        </p:spPr>
        <p:txBody>
          <a:bodyPr/>
          <a:lstStyle/>
          <a:p>
            <a:pPr>
              <a:buClr>
                <a:srgbClr val="800080"/>
              </a:buClr>
              <a:buSzPct val="50000"/>
              <a:buFont typeface="Wingdings" panose="05000000000000000000" pitchFamily="2" charset="2"/>
              <a:buChar char="l"/>
            </a:pPr>
            <a:r>
              <a:rPr lang="zh-CN" altLang="en-US" dirty="0"/>
              <a:t>每一次递归调用时，需要为过程中使用的参数分配其</a:t>
            </a:r>
            <a:r>
              <a:rPr lang="zh-CN" altLang="en-US" dirty="0">
                <a:solidFill>
                  <a:schemeClr val="tx2"/>
                </a:solidFill>
              </a:rPr>
              <a:t>副本空间</a:t>
            </a:r>
            <a:r>
              <a:rPr lang="zh-CN" altLang="en-US" dirty="0"/>
              <a:t>，为过程中定义的局部变量分配</a:t>
            </a:r>
            <a:r>
              <a:rPr lang="zh-CN" altLang="en-US" dirty="0">
                <a:solidFill>
                  <a:schemeClr val="tx2"/>
                </a:solidFill>
              </a:rPr>
              <a:t>存储空间</a:t>
            </a:r>
            <a:r>
              <a:rPr lang="zh-CN" altLang="en-US" dirty="0"/>
              <a:t>。各层调用时这些空间不能覆盖。</a:t>
            </a:r>
          </a:p>
          <a:p>
            <a:pPr>
              <a:buClr>
                <a:srgbClr val="800080"/>
              </a:buClr>
              <a:buSzPct val="50000"/>
              <a:buFont typeface="Wingdings" panose="05000000000000000000" pitchFamily="2" charset="2"/>
              <a:buChar char="l"/>
            </a:pPr>
            <a:r>
              <a:rPr lang="zh-CN" altLang="en-US" dirty="0"/>
              <a:t>每层递归调用分配的空间形成</a:t>
            </a:r>
            <a:r>
              <a:rPr lang="zh-CN" altLang="en-US" dirty="0">
                <a:solidFill>
                  <a:srgbClr val="FF0000"/>
                </a:solidFill>
              </a:rPr>
              <a:t>递归活动记录</a:t>
            </a:r>
            <a:r>
              <a:rPr lang="zh-CN" altLang="en-US" dirty="0"/>
              <a:t>，它们按</a:t>
            </a:r>
            <a:r>
              <a:rPr lang="zh-CN" altLang="en-US" dirty="0">
                <a:solidFill>
                  <a:srgbClr val="0000FF"/>
                </a:solidFill>
              </a:rPr>
              <a:t>后进先出</a:t>
            </a:r>
            <a:r>
              <a:rPr lang="zh-CN" altLang="en-US" dirty="0"/>
              <a:t>的</a:t>
            </a:r>
            <a:r>
              <a:rPr lang="zh-CN" altLang="en-US" dirty="0">
                <a:solidFill>
                  <a:srgbClr val="0000FF"/>
                </a:solidFill>
              </a:rPr>
              <a:t>栈</a:t>
            </a:r>
            <a:r>
              <a:rPr lang="zh-CN" altLang="en-US" dirty="0"/>
              <a:t>组织。</a:t>
            </a:r>
            <a:r>
              <a:rPr lang="zh-CN" altLang="en-US" dirty="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  </a:t>
            </a:r>
          </a:p>
        </p:txBody>
      </p:sp>
      <p:grpSp>
        <p:nvGrpSpPr>
          <p:cNvPr id="350222" name="Group 14">
            <a:extLst>
              <a:ext uri="{FF2B5EF4-FFF2-40B4-BE49-F238E27FC236}">
                <a16:creationId xmlns:a16="http://schemas.microsoft.com/office/drawing/2014/main" id="{ED381AFF-0DBE-4DE2-99CD-7B609A2CD03F}"/>
              </a:ext>
            </a:extLst>
          </p:cNvPr>
          <p:cNvGrpSpPr>
            <a:grpSpLocks/>
          </p:cNvGrpSpPr>
          <p:nvPr/>
        </p:nvGrpSpPr>
        <p:grpSpPr bwMode="auto">
          <a:xfrm>
            <a:off x="3200401" y="4574057"/>
            <a:ext cx="2667000" cy="1590675"/>
            <a:chOff x="2016" y="2496"/>
            <a:chExt cx="1680" cy="1002"/>
          </a:xfrm>
        </p:grpSpPr>
        <p:sp>
          <p:nvSpPr>
            <p:cNvPr id="350213" name="Rectangle 5">
              <a:extLst>
                <a:ext uri="{FF2B5EF4-FFF2-40B4-BE49-F238E27FC236}">
                  <a16:creationId xmlns:a16="http://schemas.microsoft.com/office/drawing/2014/main" id="{DEA82D71-A313-489D-9AFE-95931A8A28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16" y="2496"/>
              <a:ext cx="1584" cy="957"/>
            </a:xfrm>
            <a:prstGeom prst="rect">
              <a:avLst/>
            </a:prstGeom>
            <a:solidFill>
              <a:srgbClr val="FFFFCC"/>
            </a:solidFill>
            <a:ln w="9525">
              <a:miter lim="800000"/>
              <a:headEnd/>
              <a:tailEnd/>
            </a:ln>
            <a:effectLst/>
            <a:scene3d>
              <a:camera prst="legacyObliqueTopRight"/>
              <a:lightRig rig="legacyFlat3" dir="b"/>
            </a:scene3d>
            <a:sp3d extrusionH="430200" prstMaterial="legacyMatte">
              <a:bevelT w="13500" h="13500" prst="angle"/>
              <a:bevelB w="13500" h="13500" prst="angle"/>
              <a:extrusionClr>
                <a:srgbClr val="FFFFCC"/>
              </a:extrusionClr>
              <a:contourClr>
                <a:srgbClr val="FFFFCC"/>
              </a:contourClr>
            </a:sp3d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flatTx/>
            </a:bodyPr>
            <a:lstStyle/>
            <a:p>
              <a:endParaRPr lang="zh-CN" altLang="en-US" sz="2800" b="0">
                <a:latin typeface="+mj-ea"/>
                <a:ea typeface="+mj-ea"/>
              </a:endParaRPr>
            </a:p>
          </p:txBody>
        </p:sp>
        <p:sp>
          <p:nvSpPr>
            <p:cNvPr id="350214" name="Line 6">
              <a:extLst>
                <a:ext uri="{FF2B5EF4-FFF2-40B4-BE49-F238E27FC236}">
                  <a16:creationId xmlns:a16="http://schemas.microsoft.com/office/drawing/2014/main" id="{7B3AE10E-4E14-4395-A547-DB56C096AAE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16" y="2818"/>
              <a:ext cx="158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800" b="0">
                <a:latin typeface="+mj-ea"/>
                <a:ea typeface="+mj-ea"/>
              </a:endParaRPr>
            </a:p>
          </p:txBody>
        </p:sp>
        <p:sp>
          <p:nvSpPr>
            <p:cNvPr id="350215" name="Line 7">
              <a:extLst>
                <a:ext uri="{FF2B5EF4-FFF2-40B4-BE49-F238E27FC236}">
                  <a16:creationId xmlns:a16="http://schemas.microsoft.com/office/drawing/2014/main" id="{0180D2D0-6E26-4DDD-8B1C-5F67E463024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600" y="2722"/>
              <a:ext cx="96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800" b="0">
                <a:latin typeface="+mj-ea"/>
                <a:ea typeface="+mj-ea"/>
              </a:endParaRPr>
            </a:p>
          </p:txBody>
        </p:sp>
        <p:sp>
          <p:nvSpPr>
            <p:cNvPr id="350216" name="Line 8">
              <a:extLst>
                <a:ext uri="{FF2B5EF4-FFF2-40B4-BE49-F238E27FC236}">
                  <a16:creationId xmlns:a16="http://schemas.microsoft.com/office/drawing/2014/main" id="{75A4B6EF-A345-4A70-9C11-929CA0F06A1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18" y="3135"/>
              <a:ext cx="156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800" b="0">
                <a:latin typeface="+mj-ea"/>
                <a:ea typeface="+mj-ea"/>
              </a:endParaRPr>
            </a:p>
          </p:txBody>
        </p:sp>
        <p:sp>
          <p:nvSpPr>
            <p:cNvPr id="350217" name="Line 9">
              <a:extLst>
                <a:ext uri="{FF2B5EF4-FFF2-40B4-BE49-F238E27FC236}">
                  <a16:creationId xmlns:a16="http://schemas.microsoft.com/office/drawing/2014/main" id="{BDCE6BD4-2261-4B4A-8BAA-2C951371C30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583" y="3044"/>
              <a:ext cx="113" cy="9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800" b="0">
                <a:latin typeface="+mj-ea"/>
                <a:ea typeface="+mj-ea"/>
              </a:endParaRPr>
            </a:p>
          </p:txBody>
        </p:sp>
        <p:sp>
          <p:nvSpPr>
            <p:cNvPr id="350218" name="Text Box 10">
              <a:extLst>
                <a:ext uri="{FF2B5EF4-FFF2-40B4-BE49-F238E27FC236}">
                  <a16:creationId xmlns:a16="http://schemas.microsoft.com/office/drawing/2014/main" id="{FAE5288E-3C41-4215-A4BA-A051411E052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91" y="2498"/>
              <a:ext cx="1292" cy="10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lnSpc>
                  <a:spcPct val="110000"/>
                </a:lnSpc>
                <a:spcBef>
                  <a:spcPct val="10000"/>
                </a:spcBef>
              </a:pPr>
              <a:r>
                <a:rPr kumimoji="1" lang="zh-CN" altLang="en-US" sz="2800" b="0" baseline="0" dirty="0">
                  <a:solidFill>
                    <a:srgbClr val="C00000"/>
                  </a:solidFill>
                  <a:latin typeface="+mj-ea"/>
                  <a:ea typeface="+mj-ea"/>
                </a:rPr>
                <a:t>局部变量</a:t>
              </a:r>
            </a:p>
            <a:p>
              <a:pPr>
                <a:lnSpc>
                  <a:spcPct val="110000"/>
                </a:lnSpc>
                <a:spcBef>
                  <a:spcPct val="10000"/>
                </a:spcBef>
              </a:pPr>
              <a:r>
                <a:rPr kumimoji="1" lang="zh-CN" altLang="en-US" sz="2800" b="0" baseline="0" dirty="0">
                  <a:solidFill>
                    <a:srgbClr val="C00000"/>
                  </a:solidFill>
                  <a:latin typeface="+mj-ea"/>
                  <a:ea typeface="+mj-ea"/>
                </a:rPr>
                <a:t>返回地址</a:t>
              </a:r>
            </a:p>
            <a:p>
              <a:pPr>
                <a:lnSpc>
                  <a:spcPct val="110000"/>
                </a:lnSpc>
                <a:spcBef>
                  <a:spcPct val="10000"/>
                </a:spcBef>
              </a:pPr>
              <a:r>
                <a:rPr kumimoji="1" lang="zh-CN" altLang="en-US" sz="2800" b="0" baseline="0" dirty="0">
                  <a:solidFill>
                    <a:srgbClr val="C00000"/>
                  </a:solidFill>
                  <a:latin typeface="+mj-ea"/>
                  <a:ea typeface="+mj-ea"/>
                </a:rPr>
                <a:t>参       数</a:t>
              </a:r>
            </a:p>
          </p:txBody>
        </p:sp>
      </p:grpSp>
      <p:sp>
        <p:nvSpPr>
          <p:cNvPr id="350221" name="Text Box 13">
            <a:extLst>
              <a:ext uri="{FF2B5EF4-FFF2-40B4-BE49-F238E27FC236}">
                <a16:creationId xmlns:a16="http://schemas.microsoft.com/office/drawing/2014/main" id="{704DE141-D3A4-4A26-99AD-D97CE68653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84888" y="4605808"/>
            <a:ext cx="1007392" cy="13849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kumimoji="1" lang="zh-CN" altLang="en-US" sz="2800" b="0" baseline="0" dirty="0">
                <a:solidFill>
                  <a:srgbClr val="009900"/>
                </a:solidFill>
                <a:latin typeface="+mj-ea"/>
                <a:ea typeface="+mj-ea"/>
              </a:rPr>
              <a:t>递归</a:t>
            </a:r>
          </a:p>
          <a:p>
            <a:pPr algn="ctr"/>
            <a:r>
              <a:rPr kumimoji="1" lang="zh-CN" altLang="en-US" sz="2800" b="0" baseline="0" dirty="0">
                <a:solidFill>
                  <a:srgbClr val="009900"/>
                </a:solidFill>
                <a:latin typeface="+mj-ea"/>
                <a:ea typeface="+mj-ea"/>
              </a:rPr>
              <a:t>活动记录</a:t>
            </a:r>
            <a:endParaRPr kumimoji="1" lang="zh-CN" altLang="en-US" sz="2800" b="0" baseline="0" dirty="0">
              <a:latin typeface="+mj-ea"/>
              <a:ea typeface="+mj-ea"/>
            </a:endParaRP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234" name="Rectangle 2">
            <a:extLst>
              <a:ext uri="{FF2B5EF4-FFF2-40B4-BE49-F238E27FC236}">
                <a16:creationId xmlns:a16="http://schemas.microsoft.com/office/drawing/2014/main" id="{36221537-902C-4B95-B511-D166F08FA71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90600" y="66675"/>
            <a:ext cx="6096000" cy="847725"/>
          </a:xfrm>
        </p:spPr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</a:rPr>
              <a:t>函数递归时的活动记录</a:t>
            </a:r>
          </a:p>
        </p:txBody>
      </p:sp>
      <p:sp>
        <p:nvSpPr>
          <p:cNvPr id="351235" name="Rectangle 3">
            <a:extLst>
              <a:ext uri="{FF2B5EF4-FFF2-40B4-BE49-F238E27FC236}">
                <a16:creationId xmlns:a16="http://schemas.microsoft.com/office/drawing/2014/main" id="{16B1361D-AB6E-41CA-A079-7DBA2FFA20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0" y="1371600"/>
            <a:ext cx="4419600" cy="1524000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/>
          <a:p>
            <a:endParaRPr lang="zh-CN" altLang="en-US" b="0"/>
          </a:p>
        </p:txBody>
      </p:sp>
      <p:sp>
        <p:nvSpPr>
          <p:cNvPr id="351236" name="Text Box 4">
            <a:extLst>
              <a:ext uri="{FF2B5EF4-FFF2-40B4-BE49-F238E27FC236}">
                <a16:creationId xmlns:a16="http://schemas.microsoft.com/office/drawing/2014/main" id="{1C95D7D6-9D4D-4FE2-A107-9C649C500E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0" y="1600200"/>
            <a:ext cx="2724150" cy="1006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kumimoji="1" lang="en-US" altLang="zh-CN" sz="3200" b="0" baseline="0">
                <a:solidFill>
                  <a:srgbClr val="333399"/>
                </a:solidFill>
              </a:rPr>
              <a:t>……………….</a:t>
            </a:r>
          </a:p>
          <a:p>
            <a:pPr algn="ctr"/>
            <a:r>
              <a:rPr kumimoji="1" lang="en-US" altLang="zh-CN" sz="2800" b="0" baseline="0">
                <a:solidFill>
                  <a:srgbClr val="333399"/>
                </a:solidFill>
                <a:latin typeface="仿宋_GB2312" pitchFamily="49" charset="-122"/>
                <a:ea typeface="仿宋_GB2312" pitchFamily="49" charset="-122"/>
              </a:rPr>
              <a:t>&lt;</a:t>
            </a:r>
            <a:r>
              <a:rPr kumimoji="1" lang="zh-CN" altLang="en-US" sz="2800" b="0" baseline="0">
                <a:solidFill>
                  <a:srgbClr val="333399"/>
                </a:solidFill>
                <a:latin typeface="仿宋_GB2312" pitchFamily="49" charset="-122"/>
                <a:ea typeface="仿宋_GB2312" pitchFamily="49" charset="-122"/>
              </a:rPr>
              <a:t>下一条指令</a:t>
            </a:r>
            <a:r>
              <a:rPr kumimoji="1" lang="en-US" altLang="zh-CN" sz="2800" b="0" baseline="0">
                <a:solidFill>
                  <a:srgbClr val="333399"/>
                </a:solidFill>
                <a:latin typeface="仿宋_GB2312" pitchFamily="49" charset="-122"/>
                <a:ea typeface="仿宋_GB2312" pitchFamily="49" charset="-122"/>
              </a:rPr>
              <a:t>&gt;</a:t>
            </a:r>
          </a:p>
        </p:txBody>
      </p:sp>
      <p:sp>
        <p:nvSpPr>
          <p:cNvPr id="351237" name="Rectangle 5">
            <a:extLst>
              <a:ext uri="{FF2B5EF4-FFF2-40B4-BE49-F238E27FC236}">
                <a16:creationId xmlns:a16="http://schemas.microsoft.com/office/drawing/2014/main" id="{F009E839-3A24-4665-A900-327E92BA39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0" y="3124200"/>
            <a:ext cx="4419600" cy="1676400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/>
          <a:p>
            <a:endParaRPr lang="zh-CN" altLang="en-US" b="0"/>
          </a:p>
        </p:txBody>
      </p:sp>
      <p:sp>
        <p:nvSpPr>
          <p:cNvPr id="351238" name="Text Box 6">
            <a:extLst>
              <a:ext uri="{FF2B5EF4-FFF2-40B4-BE49-F238E27FC236}">
                <a16:creationId xmlns:a16="http://schemas.microsoft.com/office/drawing/2014/main" id="{D42839EE-AEF9-457F-8CA6-957367F265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0" y="3248025"/>
            <a:ext cx="3265488" cy="1433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2800" b="0" baseline="0">
                <a:solidFill>
                  <a:srgbClr val="333399"/>
                </a:solidFill>
                <a:latin typeface="Times New Roman" panose="02020603050405020304" pitchFamily="18" charset="0"/>
              </a:rPr>
              <a:t>Function(&lt;</a:t>
            </a:r>
            <a:r>
              <a:rPr kumimoji="1" lang="zh-CN" altLang="en-US" sz="2800" b="0" baseline="0">
                <a:solidFill>
                  <a:srgbClr val="333399"/>
                </a:solidFill>
                <a:latin typeface="Times New Roman" panose="02020603050405020304" pitchFamily="18" charset="0"/>
                <a:ea typeface="仿宋_GB2312" pitchFamily="49" charset="-122"/>
              </a:rPr>
              <a:t>参数表</a:t>
            </a:r>
            <a:r>
              <a:rPr kumimoji="1" lang="en-US" altLang="zh-CN" sz="2800" b="0" baseline="0">
                <a:solidFill>
                  <a:srgbClr val="333399"/>
                </a:solidFill>
                <a:latin typeface="Times New Roman" panose="02020603050405020304" pitchFamily="18" charset="0"/>
              </a:rPr>
              <a:t>&gt;)</a:t>
            </a:r>
          </a:p>
          <a:p>
            <a:r>
              <a:rPr kumimoji="1" lang="en-US" altLang="zh-CN" sz="3200" b="0" baseline="0">
                <a:solidFill>
                  <a:srgbClr val="333399"/>
                </a:solidFill>
                <a:latin typeface="Times New Roman" panose="02020603050405020304" pitchFamily="18" charset="0"/>
              </a:rPr>
              <a:t>   ……………….</a:t>
            </a:r>
            <a:endParaRPr kumimoji="1" lang="en-US" altLang="zh-CN" sz="2800" b="0" baseline="0">
              <a:solidFill>
                <a:srgbClr val="333399"/>
              </a:solidFill>
              <a:latin typeface="Times New Roman" panose="02020603050405020304" pitchFamily="18" charset="0"/>
            </a:endParaRPr>
          </a:p>
          <a:p>
            <a:r>
              <a:rPr kumimoji="1" lang="en-US" altLang="zh-CN" sz="2800" b="0" baseline="0">
                <a:solidFill>
                  <a:srgbClr val="333399"/>
                </a:solidFill>
                <a:latin typeface="Times New Roman" panose="02020603050405020304" pitchFamily="18" charset="0"/>
              </a:rPr>
              <a:t>&lt;return&gt;</a:t>
            </a:r>
          </a:p>
        </p:txBody>
      </p:sp>
      <p:sp>
        <p:nvSpPr>
          <p:cNvPr id="351239" name="Line 7">
            <a:extLst>
              <a:ext uri="{FF2B5EF4-FFF2-40B4-BE49-F238E27FC236}">
                <a16:creationId xmlns:a16="http://schemas.microsoft.com/office/drawing/2014/main" id="{7AF32D26-831F-4B35-987F-1276F0738AF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248400" y="2362200"/>
            <a:ext cx="16764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b="0"/>
          </a:p>
        </p:txBody>
      </p:sp>
      <p:sp>
        <p:nvSpPr>
          <p:cNvPr id="351240" name="Line 8">
            <a:extLst>
              <a:ext uri="{FF2B5EF4-FFF2-40B4-BE49-F238E27FC236}">
                <a16:creationId xmlns:a16="http://schemas.microsoft.com/office/drawing/2014/main" id="{0C4AA4E6-2FA5-443E-8069-B1CDEA3A6E14}"/>
              </a:ext>
            </a:extLst>
          </p:cNvPr>
          <p:cNvSpPr>
            <a:spLocks noChangeShapeType="1"/>
          </p:cNvSpPr>
          <p:nvPr/>
        </p:nvSpPr>
        <p:spPr bwMode="auto">
          <a:xfrm>
            <a:off x="7924800" y="2362200"/>
            <a:ext cx="0" cy="21336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b="0"/>
          </a:p>
        </p:txBody>
      </p:sp>
      <p:sp>
        <p:nvSpPr>
          <p:cNvPr id="351241" name="Line 9">
            <a:extLst>
              <a:ext uri="{FF2B5EF4-FFF2-40B4-BE49-F238E27FC236}">
                <a16:creationId xmlns:a16="http://schemas.microsoft.com/office/drawing/2014/main" id="{F8981C64-462D-4279-ADF3-FBD9132998A4}"/>
              </a:ext>
            </a:extLst>
          </p:cNvPr>
          <p:cNvSpPr>
            <a:spLocks noChangeShapeType="1"/>
          </p:cNvSpPr>
          <p:nvPr/>
        </p:nvSpPr>
        <p:spPr bwMode="auto">
          <a:xfrm>
            <a:off x="5257800" y="4495800"/>
            <a:ext cx="26670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b="0"/>
          </a:p>
        </p:txBody>
      </p:sp>
      <p:sp>
        <p:nvSpPr>
          <p:cNvPr id="351242" name="Line 10">
            <a:extLst>
              <a:ext uri="{FF2B5EF4-FFF2-40B4-BE49-F238E27FC236}">
                <a16:creationId xmlns:a16="http://schemas.microsoft.com/office/drawing/2014/main" id="{7D1DB909-7D16-47D1-8D4F-B4AB455DBCA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590800" y="1981200"/>
            <a:ext cx="6096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b="0"/>
          </a:p>
        </p:txBody>
      </p:sp>
      <p:sp>
        <p:nvSpPr>
          <p:cNvPr id="351243" name="Line 11">
            <a:extLst>
              <a:ext uri="{FF2B5EF4-FFF2-40B4-BE49-F238E27FC236}">
                <a16:creationId xmlns:a16="http://schemas.microsoft.com/office/drawing/2014/main" id="{F10B7D19-EFA1-4FA5-B125-02B010E4A59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593975" y="3500438"/>
            <a:ext cx="754063" cy="4762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b="0"/>
          </a:p>
        </p:txBody>
      </p:sp>
      <p:sp>
        <p:nvSpPr>
          <p:cNvPr id="351244" name="Line 12">
            <a:extLst>
              <a:ext uri="{FF2B5EF4-FFF2-40B4-BE49-F238E27FC236}">
                <a16:creationId xmlns:a16="http://schemas.microsoft.com/office/drawing/2014/main" id="{DCEED7AA-AA52-4C7B-AD7F-B46614379F3F}"/>
              </a:ext>
            </a:extLst>
          </p:cNvPr>
          <p:cNvSpPr>
            <a:spLocks noChangeShapeType="1"/>
          </p:cNvSpPr>
          <p:nvPr/>
        </p:nvSpPr>
        <p:spPr bwMode="auto">
          <a:xfrm>
            <a:off x="2590800" y="1981200"/>
            <a:ext cx="0" cy="15240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b="0"/>
          </a:p>
        </p:txBody>
      </p:sp>
      <p:sp>
        <p:nvSpPr>
          <p:cNvPr id="351245" name="Text Box 13">
            <a:extLst>
              <a:ext uri="{FF2B5EF4-FFF2-40B4-BE49-F238E27FC236}">
                <a16:creationId xmlns:a16="http://schemas.microsoft.com/office/drawing/2014/main" id="{D5C5D4E0-2583-43F5-A10B-3D0EAAC84C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55725" y="1490663"/>
            <a:ext cx="1255713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zh-CN" altLang="en-US" sz="2800" b="0" baseline="0">
                <a:latin typeface="Times New Roman" panose="02020603050405020304" pitchFamily="18" charset="0"/>
                <a:ea typeface="仿宋_GB2312" pitchFamily="49" charset="-122"/>
              </a:rPr>
              <a:t>调用块</a:t>
            </a:r>
          </a:p>
        </p:txBody>
      </p:sp>
      <p:sp>
        <p:nvSpPr>
          <p:cNvPr id="351246" name="Text Box 14">
            <a:extLst>
              <a:ext uri="{FF2B5EF4-FFF2-40B4-BE49-F238E27FC236}">
                <a16:creationId xmlns:a16="http://schemas.microsoft.com/office/drawing/2014/main" id="{3F168031-4DB9-46A9-AB90-353AD31C9C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71600" y="3624263"/>
            <a:ext cx="1255713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zh-CN" altLang="en-US" sz="2800" b="0" baseline="0">
                <a:latin typeface="Times New Roman" panose="02020603050405020304" pitchFamily="18" charset="0"/>
                <a:ea typeface="仿宋_GB2312" pitchFamily="49" charset="-122"/>
              </a:rPr>
              <a:t>函数块</a:t>
            </a:r>
          </a:p>
        </p:txBody>
      </p:sp>
      <p:sp>
        <p:nvSpPr>
          <p:cNvPr id="351247" name="Rectangle 15">
            <a:extLst>
              <a:ext uri="{FF2B5EF4-FFF2-40B4-BE49-F238E27FC236}">
                <a16:creationId xmlns:a16="http://schemas.microsoft.com/office/drawing/2014/main" id="{699C5FD9-7454-4B5A-99A4-2474588575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5410200"/>
            <a:ext cx="7543800" cy="533400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9525">
            <a:miter lim="800000"/>
            <a:headEnd/>
            <a:tailEnd/>
          </a:ln>
          <a:effectLst/>
          <a:scene3d>
            <a:camera prst="legacyObliqueTop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rgbClr val="FFFFFF"/>
            </a:extrusionClr>
            <a:contourClr>
              <a:srgbClr val="FFFFFF"/>
            </a:contourClr>
          </a:sp3d>
          <a:extLs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flatTx/>
          </a:bodyPr>
          <a:lstStyle/>
          <a:p>
            <a:endParaRPr lang="zh-CN" altLang="en-US" b="0"/>
          </a:p>
        </p:txBody>
      </p:sp>
      <p:sp>
        <p:nvSpPr>
          <p:cNvPr id="351248" name="Text Box 16">
            <a:extLst>
              <a:ext uri="{FF2B5EF4-FFF2-40B4-BE49-F238E27FC236}">
                <a16:creationId xmlns:a16="http://schemas.microsoft.com/office/drawing/2014/main" id="{ED3A1BC6-DA33-4A68-B0D4-4DD894FA1D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6013" y="5408613"/>
            <a:ext cx="7024687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zh-CN" altLang="en-US" sz="2800" b="0" baseline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itchFamily="49" charset="-122"/>
              </a:rPr>
              <a:t>返回地址</a:t>
            </a:r>
            <a:r>
              <a:rPr kumimoji="1" lang="en-US" altLang="zh-CN" sz="2800" b="0" baseline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itchFamily="49" charset="-122"/>
              </a:rPr>
              <a:t>(</a:t>
            </a:r>
            <a:r>
              <a:rPr kumimoji="1" lang="zh-CN" altLang="en-US" sz="2800" b="0" baseline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itchFamily="49" charset="-122"/>
              </a:rPr>
              <a:t>下一条指令</a:t>
            </a:r>
            <a:r>
              <a:rPr kumimoji="1" lang="en-US" altLang="zh-CN" sz="2800" b="0" baseline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itchFamily="49" charset="-122"/>
              </a:rPr>
              <a:t>)        </a:t>
            </a:r>
            <a:r>
              <a:rPr kumimoji="1" lang="zh-CN" altLang="en-US" sz="2800" b="0" baseline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itchFamily="49" charset="-122"/>
              </a:rPr>
              <a:t>局部变量      参数</a:t>
            </a:r>
            <a:endParaRPr kumimoji="1" lang="zh-CN" altLang="en-US" sz="2800" b="0" baseline="0">
              <a:latin typeface="Times New Roman" panose="02020603050405020304" pitchFamily="18" charset="0"/>
              <a:ea typeface="仿宋_GB2312" pitchFamily="49" charset="-122"/>
            </a:endParaRPr>
          </a:p>
        </p:txBody>
      </p:sp>
      <p:sp>
        <p:nvSpPr>
          <p:cNvPr id="351249" name="Line 17">
            <a:extLst>
              <a:ext uri="{FF2B5EF4-FFF2-40B4-BE49-F238E27FC236}">
                <a16:creationId xmlns:a16="http://schemas.microsoft.com/office/drawing/2014/main" id="{9B6E02B5-6747-424D-B610-28A5E0A78C9A}"/>
              </a:ext>
            </a:extLst>
          </p:cNvPr>
          <p:cNvSpPr>
            <a:spLocks noChangeShapeType="1"/>
          </p:cNvSpPr>
          <p:nvPr/>
        </p:nvSpPr>
        <p:spPr bwMode="auto">
          <a:xfrm>
            <a:off x="5105400" y="54102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b="0"/>
          </a:p>
        </p:txBody>
      </p:sp>
      <p:sp>
        <p:nvSpPr>
          <p:cNvPr id="351250" name="Line 18">
            <a:extLst>
              <a:ext uri="{FF2B5EF4-FFF2-40B4-BE49-F238E27FC236}">
                <a16:creationId xmlns:a16="http://schemas.microsoft.com/office/drawing/2014/main" id="{6B5EE196-B53B-435D-8FC9-2108054C92A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105400" y="5257800"/>
            <a:ext cx="1524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b="0"/>
          </a:p>
        </p:txBody>
      </p:sp>
      <p:sp>
        <p:nvSpPr>
          <p:cNvPr id="351251" name="Line 19">
            <a:extLst>
              <a:ext uri="{FF2B5EF4-FFF2-40B4-BE49-F238E27FC236}">
                <a16:creationId xmlns:a16="http://schemas.microsoft.com/office/drawing/2014/main" id="{1FE6D390-8392-4BC1-BDFD-E2C0F3BD14D2}"/>
              </a:ext>
            </a:extLst>
          </p:cNvPr>
          <p:cNvSpPr>
            <a:spLocks noChangeShapeType="1"/>
          </p:cNvSpPr>
          <p:nvPr/>
        </p:nvSpPr>
        <p:spPr bwMode="auto">
          <a:xfrm>
            <a:off x="7010400" y="54102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b="0"/>
          </a:p>
        </p:txBody>
      </p:sp>
      <p:sp>
        <p:nvSpPr>
          <p:cNvPr id="351252" name="Line 20">
            <a:extLst>
              <a:ext uri="{FF2B5EF4-FFF2-40B4-BE49-F238E27FC236}">
                <a16:creationId xmlns:a16="http://schemas.microsoft.com/office/drawing/2014/main" id="{7D700881-7A91-4DEB-BD25-891E2DA378A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010400" y="5257800"/>
            <a:ext cx="1524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b="0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282" name="Text Box 2">
            <a:extLst>
              <a:ext uri="{FF2B5EF4-FFF2-40B4-BE49-F238E27FC236}">
                <a16:creationId xmlns:a16="http://schemas.microsoft.com/office/drawing/2014/main" id="{97D18740-4E66-45A0-8C7B-F94146F76C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9592" y="188640"/>
            <a:ext cx="57912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0" baseline="0" dirty="0">
                <a:solidFill>
                  <a:schemeClr val="bg1"/>
                </a:solidFill>
                <a:latin typeface="+mn-ea"/>
                <a:ea typeface="+mn-ea"/>
              </a:rPr>
              <a:t>计算 </a:t>
            </a:r>
            <a:r>
              <a:rPr kumimoji="1" lang="en-US" altLang="zh-CN" sz="2800" b="0" baseline="0" dirty="0">
                <a:solidFill>
                  <a:schemeClr val="bg1"/>
                </a:solidFill>
                <a:latin typeface="+mn-ea"/>
                <a:ea typeface="+mn-ea"/>
              </a:rPr>
              <a:t>Fact </a:t>
            </a:r>
            <a:r>
              <a:rPr kumimoji="1" lang="zh-CN" altLang="en-US" sz="2800" b="0" baseline="0" dirty="0">
                <a:solidFill>
                  <a:schemeClr val="bg1"/>
                </a:solidFill>
                <a:latin typeface="+mn-ea"/>
                <a:ea typeface="+mn-ea"/>
              </a:rPr>
              <a:t>时活动记录的内容</a:t>
            </a:r>
          </a:p>
        </p:txBody>
      </p:sp>
      <p:sp>
        <p:nvSpPr>
          <p:cNvPr id="353283" name="Text Box 3">
            <a:extLst>
              <a:ext uri="{FF2B5EF4-FFF2-40B4-BE49-F238E27FC236}">
                <a16:creationId xmlns:a16="http://schemas.microsoft.com/office/drawing/2014/main" id="{9C063B4A-CB5A-4CC4-A7B7-4B73E93B00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2317750"/>
            <a:ext cx="549275" cy="304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kumimoji="1" lang="zh-CN" altLang="en-US" sz="3200" b="0" baseline="0" dirty="0">
                <a:solidFill>
                  <a:srgbClr val="FF0000"/>
                </a:solidFill>
                <a:latin typeface="Times New Roman" panose="02020603050405020304" pitchFamily="18" charset="0"/>
                <a:ea typeface="仿宋_GB2312" pitchFamily="49" charset="-122"/>
              </a:rPr>
              <a:t>递归调用序列</a:t>
            </a:r>
            <a:endParaRPr kumimoji="1" lang="zh-CN" altLang="en-US" sz="2400" b="0" baseline="0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353284" name="Rectangle 4">
            <a:extLst>
              <a:ext uri="{FF2B5EF4-FFF2-40B4-BE49-F238E27FC236}">
                <a16:creationId xmlns:a16="http://schemas.microsoft.com/office/drawing/2014/main" id="{F4275405-F7AE-40A1-A645-C33667D447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9200" y="5562600"/>
            <a:ext cx="3581400" cy="533400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9525">
            <a:miter lim="800000"/>
            <a:headEnd/>
            <a:tailEnd/>
          </a:ln>
          <a:effectLst/>
          <a:scene3d>
            <a:camera prst="legacyObliqueTop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rgbClr val="FFFFFF"/>
            </a:extrusionClr>
            <a:contourClr>
              <a:srgbClr val="FFFFFF"/>
            </a:contourClr>
          </a:sp3d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flatTx/>
          </a:bodyPr>
          <a:lstStyle/>
          <a:p>
            <a:endParaRPr lang="zh-CN" altLang="en-US" b="0"/>
          </a:p>
        </p:txBody>
      </p:sp>
      <p:sp>
        <p:nvSpPr>
          <p:cNvPr id="353285" name="Line 5">
            <a:extLst>
              <a:ext uri="{FF2B5EF4-FFF2-40B4-BE49-F238E27FC236}">
                <a16:creationId xmlns:a16="http://schemas.microsoft.com/office/drawing/2014/main" id="{8438ADB3-455F-4D51-8B0C-4D0F441BE557}"/>
              </a:ext>
            </a:extLst>
          </p:cNvPr>
          <p:cNvSpPr>
            <a:spLocks noChangeShapeType="1"/>
          </p:cNvSpPr>
          <p:nvPr/>
        </p:nvSpPr>
        <p:spPr bwMode="auto">
          <a:xfrm>
            <a:off x="1905000" y="5562600"/>
            <a:ext cx="0" cy="533400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b="0"/>
          </a:p>
        </p:txBody>
      </p:sp>
      <p:sp>
        <p:nvSpPr>
          <p:cNvPr id="353286" name="Line 6">
            <a:extLst>
              <a:ext uri="{FF2B5EF4-FFF2-40B4-BE49-F238E27FC236}">
                <a16:creationId xmlns:a16="http://schemas.microsoft.com/office/drawing/2014/main" id="{C036EF85-1C5F-4492-A867-0F69C36A383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905000" y="5410200"/>
            <a:ext cx="152400" cy="152400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b="0"/>
          </a:p>
        </p:txBody>
      </p:sp>
      <p:sp>
        <p:nvSpPr>
          <p:cNvPr id="353287" name="Text Box 7">
            <a:extLst>
              <a:ext uri="{FF2B5EF4-FFF2-40B4-BE49-F238E27FC236}">
                <a16:creationId xmlns:a16="http://schemas.microsoft.com/office/drawing/2014/main" id="{33DE306C-FD7C-4482-AAEF-CD161C3D3E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77950" y="5562600"/>
            <a:ext cx="34226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kumimoji="1" lang="en-US" altLang="zh-CN" sz="2800" b="0" baseline="0">
                <a:solidFill>
                  <a:schemeClr val="tx2"/>
                </a:solidFill>
                <a:latin typeface="Times New Roman" panose="02020603050405020304" pitchFamily="18" charset="0"/>
              </a:rPr>
              <a:t>0           </a:t>
            </a:r>
            <a:r>
              <a:rPr kumimoji="1" lang="en-US" altLang="zh-CN" sz="2800" b="0" baseline="0">
                <a:solidFill>
                  <a:srgbClr val="009900"/>
                </a:solidFill>
                <a:latin typeface="Times New Roman" panose="02020603050405020304" pitchFamily="18" charset="0"/>
              </a:rPr>
              <a:t>1</a:t>
            </a:r>
            <a:r>
              <a:rPr kumimoji="1" lang="en-US" altLang="zh-CN" sz="2800" b="0" baseline="0">
                <a:solidFill>
                  <a:schemeClr val="tx2"/>
                </a:solidFill>
                <a:latin typeface="Times New Roman" panose="02020603050405020304" pitchFamily="18" charset="0"/>
              </a:rPr>
              <a:t>       RetLoc2</a:t>
            </a:r>
            <a:endParaRPr kumimoji="1" lang="en-US" altLang="zh-CN" sz="3200" b="0" baseline="0">
              <a:solidFill>
                <a:schemeClr val="tx2"/>
              </a:solidFill>
              <a:latin typeface="Times New Roman" panose="02020603050405020304" pitchFamily="18" charset="0"/>
            </a:endParaRPr>
          </a:p>
        </p:txBody>
      </p:sp>
      <p:sp>
        <p:nvSpPr>
          <p:cNvPr id="353288" name="Rectangle 8">
            <a:extLst>
              <a:ext uri="{FF2B5EF4-FFF2-40B4-BE49-F238E27FC236}">
                <a16:creationId xmlns:a16="http://schemas.microsoft.com/office/drawing/2014/main" id="{25AA8AE8-1972-4C82-A70A-BBB198D58D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9200" y="4648200"/>
            <a:ext cx="3581400" cy="533400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9525">
            <a:miter lim="800000"/>
            <a:headEnd/>
            <a:tailEnd/>
          </a:ln>
          <a:effectLst/>
          <a:scene3d>
            <a:camera prst="legacyObliqueTop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rgbClr val="FFFFFF"/>
            </a:extrusionClr>
            <a:contourClr>
              <a:srgbClr val="FFFFFF"/>
            </a:contourClr>
          </a:sp3d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flatTx/>
          </a:bodyPr>
          <a:lstStyle/>
          <a:p>
            <a:endParaRPr lang="zh-CN" altLang="en-US" b="0"/>
          </a:p>
        </p:txBody>
      </p:sp>
      <p:sp>
        <p:nvSpPr>
          <p:cNvPr id="353289" name="Line 9">
            <a:extLst>
              <a:ext uri="{FF2B5EF4-FFF2-40B4-BE49-F238E27FC236}">
                <a16:creationId xmlns:a16="http://schemas.microsoft.com/office/drawing/2014/main" id="{A683C6D6-3A7B-4396-BD35-AFAE7D962450}"/>
              </a:ext>
            </a:extLst>
          </p:cNvPr>
          <p:cNvSpPr>
            <a:spLocks noChangeShapeType="1"/>
          </p:cNvSpPr>
          <p:nvPr/>
        </p:nvSpPr>
        <p:spPr bwMode="auto">
          <a:xfrm>
            <a:off x="1905000" y="4648200"/>
            <a:ext cx="0" cy="533400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b="0"/>
          </a:p>
        </p:txBody>
      </p:sp>
      <p:sp>
        <p:nvSpPr>
          <p:cNvPr id="353290" name="Line 10">
            <a:extLst>
              <a:ext uri="{FF2B5EF4-FFF2-40B4-BE49-F238E27FC236}">
                <a16:creationId xmlns:a16="http://schemas.microsoft.com/office/drawing/2014/main" id="{D9BE7586-688E-4D20-AA6C-49643019C2A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905000" y="4495800"/>
            <a:ext cx="152400" cy="152400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b="0"/>
          </a:p>
        </p:txBody>
      </p:sp>
      <p:sp>
        <p:nvSpPr>
          <p:cNvPr id="353291" name="Text Box 11">
            <a:extLst>
              <a:ext uri="{FF2B5EF4-FFF2-40B4-BE49-F238E27FC236}">
                <a16:creationId xmlns:a16="http://schemas.microsoft.com/office/drawing/2014/main" id="{42632042-0F89-4650-A494-06784D45E3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77950" y="4648200"/>
            <a:ext cx="34988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kumimoji="1" lang="en-US" altLang="zh-CN" sz="2800" b="0" baseline="0" dirty="0">
                <a:solidFill>
                  <a:schemeClr val="tx2"/>
                </a:solidFill>
                <a:latin typeface="Times New Roman" panose="02020603050405020304" pitchFamily="18" charset="0"/>
              </a:rPr>
              <a:t>1           </a:t>
            </a:r>
            <a:r>
              <a:rPr kumimoji="1" lang="en-US" altLang="zh-CN" sz="2800" b="0" baseline="0" dirty="0">
                <a:solidFill>
                  <a:srgbClr val="009900"/>
                </a:solidFill>
                <a:latin typeface="Times New Roman" panose="02020603050405020304" pitchFamily="18" charset="0"/>
              </a:rPr>
              <a:t>1</a:t>
            </a:r>
            <a:r>
              <a:rPr kumimoji="1" lang="en-US" altLang="zh-CN" sz="2800" b="0" baseline="0" dirty="0">
                <a:solidFill>
                  <a:schemeClr val="tx2"/>
                </a:solidFill>
                <a:latin typeface="Times New Roman" panose="02020603050405020304" pitchFamily="18" charset="0"/>
              </a:rPr>
              <a:t>       RetLoc2</a:t>
            </a:r>
            <a:endParaRPr kumimoji="1" lang="en-US" altLang="zh-CN" sz="3200" b="0" baseline="0" dirty="0">
              <a:solidFill>
                <a:schemeClr val="tx2"/>
              </a:solidFill>
              <a:latin typeface="Times New Roman" panose="02020603050405020304" pitchFamily="18" charset="0"/>
            </a:endParaRPr>
          </a:p>
        </p:txBody>
      </p:sp>
      <p:sp>
        <p:nvSpPr>
          <p:cNvPr id="353292" name="Rectangle 12">
            <a:extLst>
              <a:ext uri="{FF2B5EF4-FFF2-40B4-BE49-F238E27FC236}">
                <a16:creationId xmlns:a16="http://schemas.microsoft.com/office/drawing/2014/main" id="{4AB94BDA-A6EF-44DB-A872-D864723CBC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9200" y="3733800"/>
            <a:ext cx="3581400" cy="533400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9525">
            <a:miter lim="800000"/>
            <a:headEnd/>
            <a:tailEnd/>
          </a:ln>
          <a:effectLst/>
          <a:scene3d>
            <a:camera prst="legacyObliqueTop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rgbClr val="FFFFFF"/>
            </a:extrusionClr>
            <a:contourClr>
              <a:srgbClr val="FFFFFF"/>
            </a:contourClr>
          </a:sp3d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flatTx/>
          </a:bodyPr>
          <a:lstStyle/>
          <a:p>
            <a:endParaRPr lang="zh-CN" altLang="en-US" b="0"/>
          </a:p>
        </p:txBody>
      </p:sp>
      <p:sp>
        <p:nvSpPr>
          <p:cNvPr id="353293" name="Line 13">
            <a:extLst>
              <a:ext uri="{FF2B5EF4-FFF2-40B4-BE49-F238E27FC236}">
                <a16:creationId xmlns:a16="http://schemas.microsoft.com/office/drawing/2014/main" id="{8BFE43D4-636B-4EA2-B7E0-261270987AAF}"/>
              </a:ext>
            </a:extLst>
          </p:cNvPr>
          <p:cNvSpPr>
            <a:spLocks noChangeShapeType="1"/>
          </p:cNvSpPr>
          <p:nvPr/>
        </p:nvSpPr>
        <p:spPr bwMode="auto">
          <a:xfrm>
            <a:off x="1905000" y="3733800"/>
            <a:ext cx="0" cy="533400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b="0"/>
          </a:p>
        </p:txBody>
      </p:sp>
      <p:sp>
        <p:nvSpPr>
          <p:cNvPr id="353294" name="Line 14">
            <a:extLst>
              <a:ext uri="{FF2B5EF4-FFF2-40B4-BE49-F238E27FC236}">
                <a16:creationId xmlns:a16="http://schemas.microsoft.com/office/drawing/2014/main" id="{68FA5574-1BC8-4507-B2FB-68B9FE13585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905000" y="3581400"/>
            <a:ext cx="152400" cy="152400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b="0"/>
          </a:p>
        </p:txBody>
      </p:sp>
      <p:sp>
        <p:nvSpPr>
          <p:cNvPr id="353295" name="Text Box 15">
            <a:extLst>
              <a:ext uri="{FF2B5EF4-FFF2-40B4-BE49-F238E27FC236}">
                <a16:creationId xmlns:a16="http://schemas.microsoft.com/office/drawing/2014/main" id="{B460E4C0-6381-411F-9F65-7119E7136D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77950" y="3733800"/>
            <a:ext cx="34226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kumimoji="1" lang="en-US" altLang="zh-CN" sz="2800" b="0" baseline="0">
                <a:solidFill>
                  <a:schemeClr val="tx2"/>
                </a:solidFill>
                <a:latin typeface="Times New Roman" panose="02020603050405020304" pitchFamily="18" charset="0"/>
              </a:rPr>
              <a:t>2           </a:t>
            </a:r>
            <a:r>
              <a:rPr kumimoji="1" lang="en-US" altLang="zh-CN" sz="2800" b="0" baseline="0">
                <a:solidFill>
                  <a:srgbClr val="009900"/>
                </a:solidFill>
                <a:latin typeface="Times New Roman" panose="02020603050405020304" pitchFamily="18" charset="0"/>
              </a:rPr>
              <a:t>2</a:t>
            </a:r>
            <a:r>
              <a:rPr kumimoji="1" lang="en-US" altLang="zh-CN" sz="2800" b="0" baseline="0">
                <a:solidFill>
                  <a:schemeClr val="tx2"/>
                </a:solidFill>
                <a:latin typeface="Times New Roman" panose="02020603050405020304" pitchFamily="18" charset="0"/>
              </a:rPr>
              <a:t>       RetLoc2</a:t>
            </a:r>
            <a:endParaRPr kumimoji="1" lang="en-US" altLang="zh-CN" sz="3200" b="0" baseline="0">
              <a:solidFill>
                <a:schemeClr val="tx2"/>
              </a:solidFill>
              <a:latin typeface="Times New Roman" panose="02020603050405020304" pitchFamily="18" charset="0"/>
            </a:endParaRPr>
          </a:p>
        </p:txBody>
      </p:sp>
      <p:sp>
        <p:nvSpPr>
          <p:cNvPr id="353296" name="Rectangle 16">
            <a:extLst>
              <a:ext uri="{FF2B5EF4-FFF2-40B4-BE49-F238E27FC236}">
                <a16:creationId xmlns:a16="http://schemas.microsoft.com/office/drawing/2014/main" id="{72B0815B-BC30-447E-A022-23275E048C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9200" y="2819400"/>
            <a:ext cx="3581400" cy="533400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9525">
            <a:miter lim="800000"/>
            <a:headEnd/>
            <a:tailEnd/>
          </a:ln>
          <a:effectLst/>
          <a:scene3d>
            <a:camera prst="legacyObliqueTop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rgbClr val="FFFFFF"/>
            </a:extrusionClr>
            <a:contourClr>
              <a:srgbClr val="FFFFFF"/>
            </a:contourClr>
          </a:sp3d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flatTx/>
          </a:bodyPr>
          <a:lstStyle/>
          <a:p>
            <a:endParaRPr lang="zh-CN" altLang="en-US" b="0"/>
          </a:p>
        </p:txBody>
      </p:sp>
      <p:sp>
        <p:nvSpPr>
          <p:cNvPr id="353297" name="Line 17">
            <a:extLst>
              <a:ext uri="{FF2B5EF4-FFF2-40B4-BE49-F238E27FC236}">
                <a16:creationId xmlns:a16="http://schemas.microsoft.com/office/drawing/2014/main" id="{EA5A6855-3646-4192-83DC-D66C0F143997}"/>
              </a:ext>
            </a:extLst>
          </p:cNvPr>
          <p:cNvSpPr>
            <a:spLocks noChangeShapeType="1"/>
          </p:cNvSpPr>
          <p:nvPr/>
        </p:nvSpPr>
        <p:spPr bwMode="auto">
          <a:xfrm>
            <a:off x="1905000" y="2819400"/>
            <a:ext cx="0" cy="533400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b="0"/>
          </a:p>
        </p:txBody>
      </p:sp>
      <p:sp>
        <p:nvSpPr>
          <p:cNvPr id="353298" name="Line 18">
            <a:extLst>
              <a:ext uri="{FF2B5EF4-FFF2-40B4-BE49-F238E27FC236}">
                <a16:creationId xmlns:a16="http://schemas.microsoft.com/office/drawing/2014/main" id="{33669D73-950C-48E9-9DC7-EF5A7A36BC2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905000" y="2667000"/>
            <a:ext cx="152400" cy="152400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b="0"/>
          </a:p>
        </p:txBody>
      </p:sp>
      <p:sp>
        <p:nvSpPr>
          <p:cNvPr id="353299" name="Text Box 19">
            <a:extLst>
              <a:ext uri="{FF2B5EF4-FFF2-40B4-BE49-F238E27FC236}">
                <a16:creationId xmlns:a16="http://schemas.microsoft.com/office/drawing/2014/main" id="{A365D60C-56DB-4863-A322-507FD30B5C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77950" y="2819400"/>
            <a:ext cx="34226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kumimoji="1" lang="en-US" altLang="zh-CN" sz="2800" b="0" baseline="0">
                <a:solidFill>
                  <a:schemeClr val="tx2"/>
                </a:solidFill>
                <a:latin typeface="Times New Roman" panose="02020603050405020304" pitchFamily="18" charset="0"/>
              </a:rPr>
              <a:t>3           </a:t>
            </a:r>
            <a:r>
              <a:rPr kumimoji="1" lang="en-US" altLang="zh-CN" sz="2800" b="0" baseline="0">
                <a:solidFill>
                  <a:srgbClr val="009900"/>
                </a:solidFill>
                <a:latin typeface="Times New Roman" panose="02020603050405020304" pitchFamily="18" charset="0"/>
              </a:rPr>
              <a:t>6</a:t>
            </a:r>
            <a:r>
              <a:rPr kumimoji="1" lang="en-US" altLang="zh-CN" sz="2800" b="0" baseline="0">
                <a:solidFill>
                  <a:schemeClr val="tx2"/>
                </a:solidFill>
                <a:latin typeface="Times New Roman" panose="02020603050405020304" pitchFamily="18" charset="0"/>
              </a:rPr>
              <a:t>       RetLoc2</a:t>
            </a:r>
            <a:endParaRPr kumimoji="1" lang="en-US" altLang="zh-CN" sz="3200" b="0" baseline="0">
              <a:solidFill>
                <a:schemeClr val="tx2"/>
              </a:solidFill>
              <a:latin typeface="Times New Roman" panose="02020603050405020304" pitchFamily="18" charset="0"/>
            </a:endParaRPr>
          </a:p>
        </p:txBody>
      </p:sp>
      <p:sp>
        <p:nvSpPr>
          <p:cNvPr id="353300" name="Rectangle 20">
            <a:extLst>
              <a:ext uri="{FF2B5EF4-FFF2-40B4-BE49-F238E27FC236}">
                <a16:creationId xmlns:a16="http://schemas.microsoft.com/office/drawing/2014/main" id="{0B9381F1-469D-4B22-A874-C68D1F84BE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9200" y="1905000"/>
            <a:ext cx="3581400" cy="533400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9525">
            <a:miter lim="800000"/>
            <a:headEnd/>
            <a:tailEnd/>
          </a:ln>
          <a:effectLst/>
          <a:scene3d>
            <a:camera prst="legacyObliqueTop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rgbClr val="FFFFFF"/>
            </a:extrusionClr>
            <a:contourClr>
              <a:srgbClr val="FFFFFF"/>
            </a:contourClr>
          </a:sp3d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flatTx/>
          </a:bodyPr>
          <a:lstStyle/>
          <a:p>
            <a:endParaRPr lang="zh-CN" altLang="en-US" b="0"/>
          </a:p>
        </p:txBody>
      </p:sp>
      <p:sp>
        <p:nvSpPr>
          <p:cNvPr id="353301" name="Line 21">
            <a:extLst>
              <a:ext uri="{FF2B5EF4-FFF2-40B4-BE49-F238E27FC236}">
                <a16:creationId xmlns:a16="http://schemas.microsoft.com/office/drawing/2014/main" id="{0CEB719F-B55F-4770-B05E-1C84DA09E313}"/>
              </a:ext>
            </a:extLst>
          </p:cNvPr>
          <p:cNvSpPr>
            <a:spLocks noChangeShapeType="1"/>
          </p:cNvSpPr>
          <p:nvPr/>
        </p:nvSpPr>
        <p:spPr bwMode="auto">
          <a:xfrm>
            <a:off x="1905000" y="1905000"/>
            <a:ext cx="0" cy="533400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b="0"/>
          </a:p>
        </p:txBody>
      </p:sp>
      <p:sp>
        <p:nvSpPr>
          <p:cNvPr id="353302" name="Line 22">
            <a:extLst>
              <a:ext uri="{FF2B5EF4-FFF2-40B4-BE49-F238E27FC236}">
                <a16:creationId xmlns:a16="http://schemas.microsoft.com/office/drawing/2014/main" id="{90D60D34-020D-4578-9164-518F0A83219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905000" y="1752600"/>
            <a:ext cx="152400" cy="152400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b="0"/>
          </a:p>
        </p:txBody>
      </p:sp>
      <p:sp>
        <p:nvSpPr>
          <p:cNvPr id="353303" name="Text Box 23">
            <a:extLst>
              <a:ext uri="{FF2B5EF4-FFF2-40B4-BE49-F238E27FC236}">
                <a16:creationId xmlns:a16="http://schemas.microsoft.com/office/drawing/2014/main" id="{E2B7792F-82C7-4FB3-BA8B-FC3A279AAE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71600" y="1905000"/>
            <a:ext cx="3429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kumimoji="1" lang="en-US" altLang="zh-CN" sz="2800" b="0" baseline="0">
                <a:solidFill>
                  <a:schemeClr val="tx2"/>
                </a:solidFill>
                <a:latin typeface="Times New Roman" panose="02020603050405020304" pitchFamily="18" charset="0"/>
              </a:rPr>
              <a:t>4          </a:t>
            </a:r>
            <a:r>
              <a:rPr kumimoji="1" lang="en-US" altLang="zh-CN" sz="2800" b="0" baseline="0">
                <a:solidFill>
                  <a:srgbClr val="009900"/>
                </a:solidFill>
                <a:latin typeface="Times New Roman" panose="02020603050405020304" pitchFamily="18" charset="0"/>
              </a:rPr>
              <a:t>24</a:t>
            </a:r>
            <a:r>
              <a:rPr kumimoji="1" lang="en-US" altLang="zh-CN" sz="2800" b="0" baseline="0">
                <a:solidFill>
                  <a:schemeClr val="tx2"/>
                </a:solidFill>
                <a:latin typeface="Times New Roman" panose="02020603050405020304" pitchFamily="18" charset="0"/>
              </a:rPr>
              <a:t>      RetLoc1</a:t>
            </a:r>
            <a:endParaRPr kumimoji="1" lang="en-US" altLang="zh-CN" sz="3200" b="0" baseline="0">
              <a:solidFill>
                <a:schemeClr val="tx2"/>
              </a:solidFill>
              <a:latin typeface="Times New Roman" panose="02020603050405020304" pitchFamily="18" charset="0"/>
            </a:endParaRPr>
          </a:p>
        </p:txBody>
      </p:sp>
      <p:sp>
        <p:nvSpPr>
          <p:cNvPr id="353304" name="Text Box 24">
            <a:extLst>
              <a:ext uri="{FF2B5EF4-FFF2-40B4-BE49-F238E27FC236}">
                <a16:creationId xmlns:a16="http://schemas.microsoft.com/office/drawing/2014/main" id="{205D298B-D6EB-409E-BC53-1E0719E911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1157288"/>
            <a:ext cx="73152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kumimoji="1" lang="zh-CN" altLang="en-US" sz="2800" b="0" baseline="0">
                <a:solidFill>
                  <a:schemeClr val="hlink"/>
                </a:solidFill>
                <a:latin typeface="仿宋_GB2312" pitchFamily="49" charset="-122"/>
                <a:ea typeface="仿宋_GB2312" pitchFamily="49" charset="-122"/>
              </a:rPr>
              <a:t>参数 返回值 返回地址     返回时的指令</a:t>
            </a:r>
            <a:endParaRPr kumimoji="1" lang="zh-CN" altLang="en-US" sz="2400" b="0" baseline="0">
              <a:solidFill>
                <a:schemeClr val="hlink"/>
              </a:solidFill>
            </a:endParaRPr>
          </a:p>
        </p:txBody>
      </p:sp>
      <p:sp>
        <p:nvSpPr>
          <p:cNvPr id="353305" name="Text Box 25">
            <a:extLst>
              <a:ext uri="{FF2B5EF4-FFF2-40B4-BE49-F238E27FC236}">
                <a16:creationId xmlns:a16="http://schemas.microsoft.com/office/drawing/2014/main" id="{BDD5580C-6779-4763-8F7D-2DE413DAB5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81600" y="1843088"/>
            <a:ext cx="350837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2800" b="0" baseline="0">
                <a:solidFill>
                  <a:schemeClr val="hlink"/>
                </a:solidFill>
                <a:latin typeface="Times New Roman" panose="02020603050405020304" pitchFamily="18" charset="0"/>
              </a:rPr>
              <a:t>return 4*</a:t>
            </a:r>
            <a:r>
              <a:rPr kumimoji="1" lang="en-US" altLang="zh-CN" sz="2800" b="0" baseline="0">
                <a:solidFill>
                  <a:schemeClr val="tx2"/>
                </a:solidFill>
                <a:latin typeface="Times New Roman" panose="02020603050405020304" pitchFamily="18" charset="0"/>
              </a:rPr>
              <a:t>6  </a:t>
            </a:r>
            <a:r>
              <a:rPr kumimoji="1" lang="en-US" altLang="zh-CN" sz="2800" b="0" baseline="0">
                <a:solidFill>
                  <a:srgbClr val="800080"/>
                </a:solidFill>
                <a:latin typeface="Times New Roman" panose="02020603050405020304" pitchFamily="18" charset="0"/>
              </a:rPr>
              <a:t>//</a:t>
            </a:r>
            <a:r>
              <a:rPr kumimoji="1" lang="zh-CN" altLang="en-US" sz="2800" b="0" baseline="0">
                <a:solidFill>
                  <a:srgbClr val="80008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itchFamily="49" charset="-122"/>
              </a:rPr>
              <a:t>返回</a:t>
            </a:r>
            <a:r>
              <a:rPr kumimoji="1" lang="zh-CN" altLang="en-US" sz="2800" b="0" baseline="0">
                <a:solidFill>
                  <a:srgbClr val="0099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itchFamily="49" charset="-122"/>
              </a:rPr>
              <a:t> </a:t>
            </a:r>
            <a:r>
              <a:rPr kumimoji="1" lang="en-US" altLang="zh-CN" sz="2800" b="0" baseline="0">
                <a:solidFill>
                  <a:srgbClr val="0099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itchFamily="49" charset="-122"/>
              </a:rPr>
              <a:t>24</a:t>
            </a:r>
            <a:r>
              <a:rPr kumimoji="1" lang="en-US" altLang="en-US" sz="2800" b="0" baseline="0">
                <a:solidFill>
                  <a:schemeClr val="tx2"/>
                </a:solidFill>
                <a:latin typeface="Times New Roman" panose="02020603050405020304" pitchFamily="18" charset="0"/>
              </a:rPr>
              <a:t>  </a:t>
            </a:r>
            <a:endParaRPr kumimoji="1" lang="en-US" altLang="zh-CN" sz="2400" b="0" baseline="0">
              <a:latin typeface="Times New Roman" panose="02020603050405020304" pitchFamily="18" charset="0"/>
            </a:endParaRPr>
          </a:p>
        </p:txBody>
      </p:sp>
      <p:sp>
        <p:nvSpPr>
          <p:cNvPr id="353306" name="Text Box 26">
            <a:extLst>
              <a:ext uri="{FF2B5EF4-FFF2-40B4-BE49-F238E27FC236}">
                <a16:creationId xmlns:a16="http://schemas.microsoft.com/office/drawing/2014/main" id="{D9E213F5-E08B-43CD-AED4-4367FFFAE0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81600" y="2757488"/>
            <a:ext cx="324167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2800" b="0" baseline="0">
                <a:solidFill>
                  <a:schemeClr val="hlink"/>
                </a:solidFill>
                <a:latin typeface="Times New Roman" panose="02020603050405020304" pitchFamily="18" charset="0"/>
              </a:rPr>
              <a:t>return 3*</a:t>
            </a:r>
            <a:r>
              <a:rPr kumimoji="1" lang="en-US" altLang="zh-CN" sz="2800" b="0" baseline="0">
                <a:solidFill>
                  <a:schemeClr val="tx2"/>
                </a:solidFill>
                <a:latin typeface="Times New Roman" panose="02020603050405020304" pitchFamily="18" charset="0"/>
              </a:rPr>
              <a:t>2  </a:t>
            </a:r>
            <a:r>
              <a:rPr kumimoji="1" lang="en-US" altLang="zh-CN" sz="2800" b="0" baseline="0">
                <a:solidFill>
                  <a:srgbClr val="800080"/>
                </a:solidFill>
                <a:latin typeface="Times New Roman" panose="02020603050405020304" pitchFamily="18" charset="0"/>
              </a:rPr>
              <a:t>//</a:t>
            </a:r>
            <a:r>
              <a:rPr kumimoji="1" lang="zh-CN" altLang="en-US" sz="2800" b="0" baseline="0">
                <a:solidFill>
                  <a:srgbClr val="80008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itchFamily="49" charset="-122"/>
              </a:rPr>
              <a:t>返回</a:t>
            </a:r>
            <a:r>
              <a:rPr kumimoji="1" lang="zh-CN" altLang="en-US" sz="2800" b="0" baseline="0">
                <a:solidFill>
                  <a:srgbClr val="0099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itchFamily="49" charset="-122"/>
              </a:rPr>
              <a:t> </a:t>
            </a:r>
            <a:r>
              <a:rPr kumimoji="1" lang="en-US" altLang="zh-CN" sz="2800" b="0" baseline="0">
                <a:solidFill>
                  <a:srgbClr val="0099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itchFamily="49" charset="-122"/>
              </a:rPr>
              <a:t>6</a:t>
            </a:r>
            <a:r>
              <a:rPr kumimoji="1" lang="en-US" altLang="en-US" sz="2800" b="0" baseline="0">
                <a:solidFill>
                  <a:schemeClr val="tx2"/>
                </a:solidFill>
                <a:latin typeface="Times New Roman" panose="02020603050405020304" pitchFamily="18" charset="0"/>
              </a:rPr>
              <a:t> </a:t>
            </a:r>
            <a:endParaRPr kumimoji="1" lang="en-US" altLang="zh-CN" sz="2800" b="0" baseline="0">
              <a:solidFill>
                <a:schemeClr val="tx2"/>
              </a:solidFill>
              <a:latin typeface="Times New Roman" panose="02020603050405020304" pitchFamily="18" charset="0"/>
            </a:endParaRPr>
          </a:p>
        </p:txBody>
      </p:sp>
      <p:sp>
        <p:nvSpPr>
          <p:cNvPr id="353307" name="Text Box 27">
            <a:extLst>
              <a:ext uri="{FF2B5EF4-FFF2-40B4-BE49-F238E27FC236}">
                <a16:creationId xmlns:a16="http://schemas.microsoft.com/office/drawing/2014/main" id="{064A784E-E4C0-459D-99E6-AFD1B25D76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81600" y="5562600"/>
            <a:ext cx="32416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2800" b="0" baseline="0">
                <a:solidFill>
                  <a:schemeClr val="hlink"/>
                </a:solidFill>
                <a:latin typeface="Times New Roman" panose="02020603050405020304" pitchFamily="18" charset="0"/>
              </a:rPr>
              <a:t>return</a:t>
            </a:r>
            <a:r>
              <a:rPr kumimoji="1" lang="en-US" altLang="zh-CN" sz="2800" b="0" baseline="0">
                <a:solidFill>
                  <a:schemeClr val="accent2"/>
                </a:solidFill>
                <a:latin typeface="Times New Roman" panose="02020603050405020304" pitchFamily="18" charset="0"/>
              </a:rPr>
              <a:t> </a:t>
            </a:r>
            <a:r>
              <a:rPr kumimoji="1" lang="en-US" altLang="zh-CN" sz="2800" b="0" baseline="0">
                <a:solidFill>
                  <a:schemeClr val="tx2"/>
                </a:solidFill>
                <a:latin typeface="Times New Roman" panose="02020603050405020304" pitchFamily="18" charset="0"/>
              </a:rPr>
              <a:t>1      </a:t>
            </a:r>
            <a:r>
              <a:rPr kumimoji="1" lang="en-US" altLang="zh-CN" sz="2800" b="0" baseline="0">
                <a:solidFill>
                  <a:srgbClr val="800080"/>
                </a:solidFill>
                <a:latin typeface="Times New Roman" panose="02020603050405020304" pitchFamily="18" charset="0"/>
              </a:rPr>
              <a:t>//</a:t>
            </a:r>
            <a:r>
              <a:rPr kumimoji="1" lang="zh-CN" altLang="en-US" sz="2800" b="0" baseline="0">
                <a:solidFill>
                  <a:srgbClr val="80008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itchFamily="49" charset="-122"/>
              </a:rPr>
              <a:t>返回</a:t>
            </a:r>
            <a:r>
              <a:rPr kumimoji="1" lang="zh-CN" altLang="en-US" sz="2800" b="0" baseline="0">
                <a:solidFill>
                  <a:srgbClr val="0099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itchFamily="49" charset="-122"/>
              </a:rPr>
              <a:t> </a:t>
            </a:r>
            <a:r>
              <a:rPr kumimoji="1" lang="en-US" altLang="zh-CN" sz="2800" b="0" baseline="0">
                <a:solidFill>
                  <a:srgbClr val="0099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itchFamily="49" charset="-122"/>
              </a:rPr>
              <a:t>1</a:t>
            </a:r>
            <a:r>
              <a:rPr kumimoji="1" lang="en-US" altLang="en-US" sz="2800" b="0" baseline="0">
                <a:solidFill>
                  <a:schemeClr val="tx2"/>
                </a:solidFill>
                <a:latin typeface="Times New Roman" panose="02020603050405020304" pitchFamily="18" charset="0"/>
              </a:rPr>
              <a:t> </a:t>
            </a:r>
            <a:endParaRPr kumimoji="1" lang="en-US" altLang="zh-CN" sz="2800" b="0" baseline="0">
              <a:solidFill>
                <a:schemeClr val="tx2"/>
              </a:solidFill>
              <a:latin typeface="Times New Roman" panose="02020603050405020304" pitchFamily="18" charset="0"/>
            </a:endParaRPr>
          </a:p>
        </p:txBody>
      </p:sp>
      <p:sp>
        <p:nvSpPr>
          <p:cNvPr id="353308" name="Text Box 28">
            <a:extLst>
              <a:ext uri="{FF2B5EF4-FFF2-40B4-BE49-F238E27FC236}">
                <a16:creationId xmlns:a16="http://schemas.microsoft.com/office/drawing/2014/main" id="{5B941D82-E9F2-4E20-B687-C33B6E3259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81600" y="4648200"/>
            <a:ext cx="32416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2800" b="0" baseline="0">
                <a:solidFill>
                  <a:schemeClr val="hlink"/>
                </a:solidFill>
                <a:latin typeface="Times New Roman" panose="02020603050405020304" pitchFamily="18" charset="0"/>
              </a:rPr>
              <a:t>return 1*</a:t>
            </a:r>
            <a:r>
              <a:rPr kumimoji="1" lang="en-US" altLang="zh-CN" sz="2800" b="0" baseline="0">
                <a:solidFill>
                  <a:schemeClr val="tx2"/>
                </a:solidFill>
                <a:latin typeface="Times New Roman" panose="02020603050405020304" pitchFamily="18" charset="0"/>
              </a:rPr>
              <a:t>1  </a:t>
            </a:r>
            <a:r>
              <a:rPr kumimoji="1" lang="en-US" altLang="zh-CN" sz="2800" b="0" baseline="0">
                <a:solidFill>
                  <a:srgbClr val="800080"/>
                </a:solidFill>
                <a:latin typeface="Times New Roman" panose="02020603050405020304" pitchFamily="18" charset="0"/>
              </a:rPr>
              <a:t>//</a:t>
            </a:r>
            <a:r>
              <a:rPr kumimoji="1" lang="zh-CN" altLang="en-US" sz="2800" b="0" baseline="0">
                <a:solidFill>
                  <a:srgbClr val="80008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itchFamily="49" charset="-122"/>
              </a:rPr>
              <a:t>返回</a:t>
            </a:r>
            <a:r>
              <a:rPr kumimoji="1" lang="zh-CN" altLang="en-US" sz="2800" b="0" baseline="0">
                <a:solidFill>
                  <a:srgbClr val="0099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itchFamily="49" charset="-122"/>
              </a:rPr>
              <a:t> </a:t>
            </a:r>
            <a:r>
              <a:rPr kumimoji="1" lang="en-US" altLang="zh-CN" sz="2800" b="0" baseline="0">
                <a:solidFill>
                  <a:srgbClr val="0099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itchFamily="49" charset="-122"/>
              </a:rPr>
              <a:t>1</a:t>
            </a:r>
            <a:r>
              <a:rPr kumimoji="1" lang="en-US" altLang="en-US" sz="2800" b="0" baseline="0">
                <a:solidFill>
                  <a:schemeClr val="tx2"/>
                </a:solidFill>
                <a:latin typeface="Times New Roman" panose="02020603050405020304" pitchFamily="18" charset="0"/>
              </a:rPr>
              <a:t> </a:t>
            </a:r>
            <a:endParaRPr kumimoji="1" lang="en-US" altLang="zh-CN" sz="2800" b="0" baseline="0">
              <a:solidFill>
                <a:schemeClr val="tx2"/>
              </a:solidFill>
              <a:latin typeface="Times New Roman" panose="02020603050405020304" pitchFamily="18" charset="0"/>
            </a:endParaRPr>
          </a:p>
        </p:txBody>
      </p:sp>
      <p:sp>
        <p:nvSpPr>
          <p:cNvPr id="353309" name="Text Box 29">
            <a:extLst>
              <a:ext uri="{FF2B5EF4-FFF2-40B4-BE49-F238E27FC236}">
                <a16:creationId xmlns:a16="http://schemas.microsoft.com/office/drawing/2014/main" id="{7147F059-FD0E-458B-9F29-4F525A94B5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81600" y="3733800"/>
            <a:ext cx="32416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2800" b="0" baseline="0">
                <a:solidFill>
                  <a:schemeClr val="hlink"/>
                </a:solidFill>
                <a:latin typeface="Times New Roman" panose="02020603050405020304" pitchFamily="18" charset="0"/>
              </a:rPr>
              <a:t>return 2*</a:t>
            </a:r>
            <a:r>
              <a:rPr kumimoji="1" lang="en-US" altLang="zh-CN" sz="2800" b="0" baseline="0">
                <a:solidFill>
                  <a:schemeClr val="tx2"/>
                </a:solidFill>
                <a:latin typeface="Times New Roman" panose="02020603050405020304" pitchFamily="18" charset="0"/>
              </a:rPr>
              <a:t>1  </a:t>
            </a:r>
            <a:r>
              <a:rPr kumimoji="1" lang="en-US" altLang="zh-CN" sz="2800" b="0" baseline="0">
                <a:solidFill>
                  <a:srgbClr val="800080"/>
                </a:solidFill>
                <a:latin typeface="Times New Roman" panose="02020603050405020304" pitchFamily="18" charset="0"/>
              </a:rPr>
              <a:t>//</a:t>
            </a:r>
            <a:r>
              <a:rPr kumimoji="1" lang="zh-CN" altLang="en-US" sz="2800" b="0" baseline="0">
                <a:solidFill>
                  <a:srgbClr val="80008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itchFamily="49" charset="-122"/>
              </a:rPr>
              <a:t>返回</a:t>
            </a:r>
            <a:r>
              <a:rPr kumimoji="1" lang="zh-CN" altLang="en-US" sz="2800" b="0" baseline="0">
                <a:solidFill>
                  <a:srgbClr val="0099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itchFamily="49" charset="-122"/>
              </a:rPr>
              <a:t> </a:t>
            </a:r>
            <a:r>
              <a:rPr kumimoji="1" lang="en-US" altLang="zh-CN" sz="2800" b="0" baseline="0">
                <a:solidFill>
                  <a:srgbClr val="0099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itchFamily="49" charset="-122"/>
              </a:rPr>
              <a:t>2</a:t>
            </a:r>
            <a:r>
              <a:rPr kumimoji="1" lang="en-US" altLang="en-US" sz="2800" b="0" baseline="0">
                <a:solidFill>
                  <a:schemeClr val="tx2"/>
                </a:solidFill>
                <a:latin typeface="Times New Roman" panose="02020603050405020304" pitchFamily="18" charset="0"/>
              </a:rPr>
              <a:t> </a:t>
            </a:r>
            <a:endParaRPr kumimoji="1" lang="en-US" altLang="zh-CN" sz="2800" b="0" baseline="0">
              <a:solidFill>
                <a:schemeClr val="tx2"/>
              </a:solidFill>
              <a:latin typeface="Times New Roman" panose="02020603050405020304" pitchFamily="18" charset="0"/>
            </a:endParaRPr>
          </a:p>
        </p:txBody>
      </p:sp>
      <p:sp>
        <p:nvSpPr>
          <p:cNvPr id="353310" name="Line 30">
            <a:extLst>
              <a:ext uri="{FF2B5EF4-FFF2-40B4-BE49-F238E27FC236}">
                <a16:creationId xmlns:a16="http://schemas.microsoft.com/office/drawing/2014/main" id="{855322E1-0246-430E-9FF4-A2C95805882B}"/>
              </a:ext>
            </a:extLst>
          </p:cNvPr>
          <p:cNvSpPr>
            <a:spLocks noChangeShapeType="1"/>
          </p:cNvSpPr>
          <p:nvPr/>
        </p:nvSpPr>
        <p:spPr bwMode="auto">
          <a:xfrm>
            <a:off x="3276600" y="1905000"/>
            <a:ext cx="0" cy="533400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b="0"/>
          </a:p>
        </p:txBody>
      </p:sp>
      <p:sp>
        <p:nvSpPr>
          <p:cNvPr id="353311" name="Line 31">
            <a:extLst>
              <a:ext uri="{FF2B5EF4-FFF2-40B4-BE49-F238E27FC236}">
                <a16:creationId xmlns:a16="http://schemas.microsoft.com/office/drawing/2014/main" id="{CB2A44B2-F458-47FD-BA64-5AAB09A0882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276600" y="1752600"/>
            <a:ext cx="152400" cy="152400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b="0"/>
          </a:p>
        </p:txBody>
      </p:sp>
      <p:sp>
        <p:nvSpPr>
          <p:cNvPr id="353312" name="Line 32">
            <a:extLst>
              <a:ext uri="{FF2B5EF4-FFF2-40B4-BE49-F238E27FC236}">
                <a16:creationId xmlns:a16="http://schemas.microsoft.com/office/drawing/2014/main" id="{7B51EC56-899E-4B4E-8DE8-5585A7503DC1}"/>
              </a:ext>
            </a:extLst>
          </p:cNvPr>
          <p:cNvSpPr>
            <a:spLocks noChangeShapeType="1"/>
          </p:cNvSpPr>
          <p:nvPr/>
        </p:nvSpPr>
        <p:spPr bwMode="auto">
          <a:xfrm>
            <a:off x="3276600" y="2819400"/>
            <a:ext cx="0" cy="533400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b="0"/>
          </a:p>
        </p:txBody>
      </p:sp>
      <p:sp>
        <p:nvSpPr>
          <p:cNvPr id="353313" name="Line 33">
            <a:extLst>
              <a:ext uri="{FF2B5EF4-FFF2-40B4-BE49-F238E27FC236}">
                <a16:creationId xmlns:a16="http://schemas.microsoft.com/office/drawing/2014/main" id="{EF5BE980-0E90-43BD-9CA0-FBA771FA1E1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276600" y="2667000"/>
            <a:ext cx="152400" cy="152400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b="0"/>
          </a:p>
        </p:txBody>
      </p:sp>
      <p:sp>
        <p:nvSpPr>
          <p:cNvPr id="353314" name="Line 34">
            <a:extLst>
              <a:ext uri="{FF2B5EF4-FFF2-40B4-BE49-F238E27FC236}">
                <a16:creationId xmlns:a16="http://schemas.microsoft.com/office/drawing/2014/main" id="{E43D40FD-145D-41C6-8B54-F5082C00099C}"/>
              </a:ext>
            </a:extLst>
          </p:cNvPr>
          <p:cNvSpPr>
            <a:spLocks noChangeShapeType="1"/>
          </p:cNvSpPr>
          <p:nvPr/>
        </p:nvSpPr>
        <p:spPr bwMode="auto">
          <a:xfrm>
            <a:off x="3276600" y="3733800"/>
            <a:ext cx="0" cy="533400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b="0"/>
          </a:p>
        </p:txBody>
      </p:sp>
      <p:sp>
        <p:nvSpPr>
          <p:cNvPr id="353315" name="Line 35">
            <a:extLst>
              <a:ext uri="{FF2B5EF4-FFF2-40B4-BE49-F238E27FC236}">
                <a16:creationId xmlns:a16="http://schemas.microsoft.com/office/drawing/2014/main" id="{4B80C22E-F789-4C55-931B-1B9CF8776D9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276600" y="3581400"/>
            <a:ext cx="152400" cy="152400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b="0"/>
          </a:p>
        </p:txBody>
      </p:sp>
      <p:sp>
        <p:nvSpPr>
          <p:cNvPr id="353316" name="Line 36">
            <a:extLst>
              <a:ext uri="{FF2B5EF4-FFF2-40B4-BE49-F238E27FC236}">
                <a16:creationId xmlns:a16="http://schemas.microsoft.com/office/drawing/2014/main" id="{4DD332EF-AAE3-4F22-9F08-6017C8C7E75C}"/>
              </a:ext>
            </a:extLst>
          </p:cNvPr>
          <p:cNvSpPr>
            <a:spLocks noChangeShapeType="1"/>
          </p:cNvSpPr>
          <p:nvPr/>
        </p:nvSpPr>
        <p:spPr bwMode="auto">
          <a:xfrm>
            <a:off x="3276600" y="4648200"/>
            <a:ext cx="0" cy="533400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b="0"/>
          </a:p>
        </p:txBody>
      </p:sp>
      <p:sp>
        <p:nvSpPr>
          <p:cNvPr id="353317" name="Line 37">
            <a:extLst>
              <a:ext uri="{FF2B5EF4-FFF2-40B4-BE49-F238E27FC236}">
                <a16:creationId xmlns:a16="http://schemas.microsoft.com/office/drawing/2014/main" id="{41543EDB-8D1B-45A9-B951-115482C5474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276600" y="4495800"/>
            <a:ext cx="152400" cy="152400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b="0"/>
          </a:p>
        </p:txBody>
      </p:sp>
      <p:sp>
        <p:nvSpPr>
          <p:cNvPr id="353318" name="Line 38">
            <a:extLst>
              <a:ext uri="{FF2B5EF4-FFF2-40B4-BE49-F238E27FC236}">
                <a16:creationId xmlns:a16="http://schemas.microsoft.com/office/drawing/2014/main" id="{0ED82AAF-A200-41B8-9D81-E34EFEFF0195}"/>
              </a:ext>
            </a:extLst>
          </p:cNvPr>
          <p:cNvSpPr>
            <a:spLocks noChangeShapeType="1"/>
          </p:cNvSpPr>
          <p:nvPr/>
        </p:nvSpPr>
        <p:spPr bwMode="auto">
          <a:xfrm>
            <a:off x="3276600" y="5562600"/>
            <a:ext cx="0" cy="533400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b="0"/>
          </a:p>
        </p:txBody>
      </p:sp>
      <p:sp>
        <p:nvSpPr>
          <p:cNvPr id="353319" name="Line 39">
            <a:extLst>
              <a:ext uri="{FF2B5EF4-FFF2-40B4-BE49-F238E27FC236}">
                <a16:creationId xmlns:a16="http://schemas.microsoft.com/office/drawing/2014/main" id="{1C3D0C82-B984-4CC5-8753-1628AD32AF0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276600" y="5410200"/>
            <a:ext cx="152400" cy="152400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b="0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42" name="Rectangle 2">
            <a:extLst>
              <a:ext uri="{FF2B5EF4-FFF2-40B4-BE49-F238E27FC236}">
                <a16:creationId xmlns:a16="http://schemas.microsoft.com/office/drawing/2014/main" id="{83D5582E-0AE8-4A18-8B5B-42F94F49437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40066" y="-10443"/>
            <a:ext cx="8229600" cy="919163"/>
          </a:xfrm>
        </p:spPr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</a:rPr>
              <a:t>递归过程改为非递归过程</a:t>
            </a:r>
          </a:p>
        </p:txBody>
      </p:sp>
      <p:sp>
        <p:nvSpPr>
          <p:cNvPr id="522243" name="Rectangle 3">
            <a:extLst>
              <a:ext uri="{FF2B5EF4-FFF2-40B4-BE49-F238E27FC236}">
                <a16:creationId xmlns:a16="http://schemas.microsoft.com/office/drawing/2014/main" id="{7806090A-2023-4E04-952A-CF1FF5047F6B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179512" y="764704"/>
            <a:ext cx="8784976" cy="5904656"/>
          </a:xfrm>
        </p:spPr>
        <p:txBody>
          <a:bodyPr/>
          <a:lstStyle/>
          <a:p>
            <a:pPr marL="0" indent="0">
              <a:spcBef>
                <a:spcPts val="0"/>
              </a:spcBef>
              <a:buClr>
                <a:srgbClr val="800080"/>
              </a:buClr>
              <a:buSzPct val="55000"/>
              <a:buNone/>
            </a:pPr>
            <a:r>
              <a:rPr lang="zh-CN" altLang="en-US" sz="2800" dirty="0">
                <a:latin typeface="+mn-ea"/>
                <a:ea typeface="+mn-ea"/>
              </a:rPr>
              <a:t>递归过程</a:t>
            </a:r>
            <a:r>
              <a:rPr lang="zh-CN" altLang="en-US" sz="2800" dirty="0">
                <a:solidFill>
                  <a:srgbClr val="0000FF"/>
                </a:solidFill>
                <a:latin typeface="+mn-ea"/>
                <a:ea typeface="+mn-ea"/>
              </a:rPr>
              <a:t>简洁、易编、易懂</a:t>
            </a:r>
            <a:r>
              <a:rPr lang="zh-CN" altLang="en-US" sz="2800" dirty="0">
                <a:latin typeface="+mn-ea"/>
                <a:ea typeface="+mn-ea"/>
              </a:rPr>
              <a:t>。然而递归过程</a:t>
            </a:r>
            <a:r>
              <a:rPr lang="zh-CN" altLang="en-US" sz="2800" dirty="0">
                <a:solidFill>
                  <a:srgbClr val="FF0000"/>
                </a:solidFill>
                <a:latin typeface="+mn-ea"/>
                <a:ea typeface="+mn-ea"/>
              </a:rPr>
              <a:t>效率低，重复计算多</a:t>
            </a:r>
            <a:r>
              <a:rPr lang="zh-CN" altLang="en-US" sz="2800" dirty="0">
                <a:latin typeface="+mn-ea"/>
                <a:ea typeface="+mn-ea"/>
              </a:rPr>
              <a:t>。</a:t>
            </a:r>
            <a:endParaRPr lang="en-US" altLang="zh-CN" sz="2800" dirty="0">
              <a:latin typeface="+mn-ea"/>
              <a:ea typeface="+mn-ea"/>
            </a:endParaRPr>
          </a:p>
          <a:p>
            <a:pPr marL="0" indent="0">
              <a:spcBef>
                <a:spcPts val="0"/>
              </a:spcBef>
              <a:buClr>
                <a:srgbClr val="800080"/>
              </a:buClr>
              <a:buSzPct val="55000"/>
              <a:buNone/>
            </a:pPr>
            <a:r>
              <a:rPr lang="zh-CN" altLang="en-US" dirty="0">
                <a:latin typeface="+mn-ea"/>
                <a:ea typeface="+mn-ea"/>
              </a:rPr>
              <a:t>例如，定义一个计算</a:t>
            </a:r>
            <a:r>
              <a:rPr kumimoji="1" lang="zh-CN" altLang="en-US" dirty="0">
                <a:latin typeface="+mn-ea"/>
                <a:ea typeface="+mn-ea"/>
              </a:rPr>
              <a:t>斐波那契数列的递归函数 </a:t>
            </a:r>
            <a:r>
              <a:rPr kumimoji="1" lang="en-US" altLang="zh-CN" dirty="0">
                <a:solidFill>
                  <a:schemeClr val="tx2"/>
                </a:solidFill>
                <a:latin typeface="+mn-ea"/>
                <a:ea typeface="+mn-ea"/>
              </a:rPr>
              <a:t>Fib(n)</a:t>
            </a:r>
            <a:r>
              <a:rPr kumimoji="1" lang="zh-CN" altLang="en-US" dirty="0">
                <a:effectLst>
                  <a:outerShdw blurRad="38100" dist="38100" dir="2700000" algn="tl">
                    <a:srgbClr val="C0C0C0"/>
                  </a:outerShdw>
                </a:effectLst>
                <a:latin typeface="+mn-ea"/>
                <a:ea typeface="+mn-ea"/>
              </a:rPr>
              <a:t>：</a:t>
            </a:r>
          </a:p>
          <a:p>
            <a:pPr lvl="1">
              <a:lnSpc>
                <a:spcPct val="150000"/>
              </a:lnSpc>
              <a:spcBef>
                <a:spcPts val="0"/>
              </a:spcBef>
              <a:buClr>
                <a:srgbClr val="800080"/>
              </a:buClr>
              <a:buSzPct val="55000"/>
              <a:buFont typeface="Wingdings" panose="05000000000000000000" pitchFamily="2" charset="2"/>
              <a:buChar char="l"/>
            </a:pPr>
            <a:endParaRPr kumimoji="1" lang="en-US" altLang="zh-CN" dirty="0">
              <a:effectLst>
                <a:outerShdw blurRad="38100" dist="38100" dir="2700000" algn="tl">
                  <a:srgbClr val="C0C0C0"/>
                </a:outerShdw>
              </a:effectLst>
              <a:latin typeface="+mn-ea"/>
              <a:ea typeface="+mn-ea"/>
            </a:endParaRPr>
          </a:p>
          <a:p>
            <a:pPr lvl="1">
              <a:lnSpc>
                <a:spcPct val="150000"/>
              </a:lnSpc>
              <a:spcBef>
                <a:spcPts val="0"/>
              </a:spcBef>
              <a:buClr>
                <a:srgbClr val="800080"/>
              </a:buClr>
              <a:buSzPct val="55000"/>
              <a:buFont typeface="Wingdings" panose="05000000000000000000" pitchFamily="2" charset="2"/>
              <a:buChar char="l"/>
            </a:pPr>
            <a:endParaRPr kumimoji="1" lang="zh-CN" altLang="en-US" dirty="0">
              <a:effectLst>
                <a:outerShdw blurRad="38100" dist="38100" dir="2700000" algn="tl">
                  <a:srgbClr val="C0C0C0"/>
                </a:outerShdw>
              </a:effectLst>
              <a:latin typeface="+mn-ea"/>
              <a:ea typeface="+mn-ea"/>
            </a:endParaRPr>
          </a:p>
          <a:p>
            <a:pPr marL="285750" lvl="1" indent="0">
              <a:lnSpc>
                <a:spcPct val="150000"/>
              </a:lnSpc>
              <a:spcBef>
                <a:spcPts val="0"/>
              </a:spcBef>
              <a:buClr>
                <a:srgbClr val="800080"/>
              </a:buClr>
              <a:buSzPct val="55000"/>
              <a:buNone/>
            </a:pPr>
            <a:endParaRPr kumimoji="1" lang="en-US" altLang="zh-CN" dirty="0">
              <a:latin typeface="+mn-ea"/>
              <a:ea typeface="+mn-ea"/>
            </a:endParaRPr>
          </a:p>
          <a:p>
            <a:pPr marL="0" indent="0">
              <a:spcBef>
                <a:spcPts val="0"/>
              </a:spcBef>
              <a:buClr>
                <a:srgbClr val="800080"/>
              </a:buClr>
              <a:buSzPct val="55000"/>
              <a:buNone/>
            </a:pPr>
            <a:r>
              <a:rPr kumimoji="1" lang="zh-CN" altLang="en-US" dirty="0">
                <a:latin typeface="+mn-ea"/>
                <a:ea typeface="+mn-ea"/>
              </a:rPr>
              <a:t>如 </a:t>
            </a:r>
            <a:r>
              <a:rPr kumimoji="1" lang="en-US" altLang="zh-CN" dirty="0">
                <a:solidFill>
                  <a:srgbClr val="006600"/>
                </a:solidFill>
                <a:latin typeface="+mn-ea"/>
                <a:ea typeface="+mn-ea"/>
              </a:rPr>
              <a:t>F</a:t>
            </a:r>
            <a:r>
              <a:rPr kumimoji="1" lang="en-US" altLang="zh-CN" baseline="-25000" dirty="0">
                <a:solidFill>
                  <a:srgbClr val="006600"/>
                </a:solidFill>
                <a:latin typeface="+mn-ea"/>
                <a:ea typeface="+mn-ea"/>
              </a:rPr>
              <a:t>0</a:t>
            </a:r>
            <a:r>
              <a:rPr kumimoji="1" lang="en-US" altLang="zh-CN" dirty="0">
                <a:solidFill>
                  <a:srgbClr val="006600"/>
                </a:solidFill>
                <a:latin typeface="+mn-ea"/>
                <a:ea typeface="+mn-ea"/>
              </a:rPr>
              <a:t>=0</a:t>
            </a:r>
            <a:r>
              <a:rPr kumimoji="1" lang="en-US" altLang="zh-CN" dirty="0">
                <a:latin typeface="+mn-ea"/>
                <a:ea typeface="+mn-ea"/>
              </a:rPr>
              <a:t>, </a:t>
            </a:r>
            <a:r>
              <a:rPr kumimoji="1" lang="en-US" altLang="zh-CN" dirty="0">
                <a:solidFill>
                  <a:srgbClr val="006600"/>
                </a:solidFill>
                <a:latin typeface="+mn-ea"/>
                <a:ea typeface="+mn-ea"/>
              </a:rPr>
              <a:t>F</a:t>
            </a:r>
            <a:r>
              <a:rPr kumimoji="1" lang="en-US" altLang="zh-CN" baseline="-25000" dirty="0">
                <a:solidFill>
                  <a:srgbClr val="006600"/>
                </a:solidFill>
                <a:latin typeface="+mn-ea"/>
                <a:ea typeface="+mn-ea"/>
              </a:rPr>
              <a:t>1</a:t>
            </a:r>
            <a:r>
              <a:rPr kumimoji="1" lang="en-US" altLang="zh-CN" dirty="0">
                <a:solidFill>
                  <a:srgbClr val="006600"/>
                </a:solidFill>
                <a:latin typeface="+mn-ea"/>
                <a:ea typeface="+mn-ea"/>
              </a:rPr>
              <a:t>=1</a:t>
            </a:r>
            <a:r>
              <a:rPr kumimoji="1" lang="en-US" altLang="zh-CN" dirty="0">
                <a:latin typeface="+mn-ea"/>
                <a:ea typeface="+mn-ea"/>
              </a:rPr>
              <a:t>, </a:t>
            </a:r>
            <a:r>
              <a:rPr kumimoji="1" lang="en-US" altLang="zh-CN" dirty="0">
                <a:solidFill>
                  <a:srgbClr val="006600"/>
                </a:solidFill>
                <a:latin typeface="+mn-ea"/>
                <a:ea typeface="+mn-ea"/>
              </a:rPr>
              <a:t>F</a:t>
            </a:r>
            <a:r>
              <a:rPr kumimoji="1" lang="en-US" altLang="zh-CN" baseline="-25000" dirty="0">
                <a:solidFill>
                  <a:srgbClr val="006600"/>
                </a:solidFill>
                <a:latin typeface="+mn-ea"/>
                <a:ea typeface="+mn-ea"/>
              </a:rPr>
              <a:t>2</a:t>
            </a:r>
            <a:r>
              <a:rPr kumimoji="1" lang="en-US" altLang="zh-CN" dirty="0">
                <a:solidFill>
                  <a:srgbClr val="006600"/>
                </a:solidFill>
                <a:latin typeface="+mn-ea"/>
                <a:ea typeface="+mn-ea"/>
              </a:rPr>
              <a:t>=1</a:t>
            </a:r>
            <a:r>
              <a:rPr kumimoji="1" lang="en-US" altLang="zh-CN" dirty="0">
                <a:latin typeface="+mn-ea"/>
                <a:ea typeface="+mn-ea"/>
              </a:rPr>
              <a:t>, </a:t>
            </a:r>
            <a:r>
              <a:rPr kumimoji="1" lang="en-US" altLang="zh-CN" dirty="0">
                <a:solidFill>
                  <a:srgbClr val="006600"/>
                </a:solidFill>
                <a:latin typeface="+mn-ea"/>
                <a:ea typeface="+mn-ea"/>
              </a:rPr>
              <a:t>F</a:t>
            </a:r>
            <a:r>
              <a:rPr kumimoji="1" lang="en-US" altLang="zh-CN" baseline="-25000" dirty="0">
                <a:solidFill>
                  <a:srgbClr val="006600"/>
                </a:solidFill>
                <a:latin typeface="+mn-ea"/>
                <a:ea typeface="+mn-ea"/>
              </a:rPr>
              <a:t>3</a:t>
            </a:r>
            <a:r>
              <a:rPr kumimoji="1" lang="en-US" altLang="zh-CN" dirty="0">
                <a:solidFill>
                  <a:srgbClr val="006600"/>
                </a:solidFill>
                <a:latin typeface="+mn-ea"/>
                <a:ea typeface="+mn-ea"/>
              </a:rPr>
              <a:t>=2</a:t>
            </a:r>
            <a:r>
              <a:rPr kumimoji="1" lang="en-US" altLang="zh-CN" dirty="0">
                <a:latin typeface="+mn-ea"/>
                <a:ea typeface="+mn-ea"/>
              </a:rPr>
              <a:t>, </a:t>
            </a:r>
            <a:r>
              <a:rPr kumimoji="1" lang="en-US" altLang="zh-CN" dirty="0">
                <a:solidFill>
                  <a:srgbClr val="006600"/>
                </a:solidFill>
                <a:latin typeface="+mn-ea"/>
                <a:ea typeface="+mn-ea"/>
              </a:rPr>
              <a:t>F</a:t>
            </a:r>
            <a:r>
              <a:rPr kumimoji="1" lang="en-US" altLang="zh-CN" baseline="-25000" dirty="0">
                <a:solidFill>
                  <a:srgbClr val="006600"/>
                </a:solidFill>
                <a:latin typeface="+mn-ea"/>
                <a:ea typeface="+mn-ea"/>
              </a:rPr>
              <a:t>4</a:t>
            </a:r>
            <a:r>
              <a:rPr kumimoji="1" lang="en-US" altLang="zh-CN" dirty="0">
                <a:solidFill>
                  <a:srgbClr val="006600"/>
                </a:solidFill>
                <a:latin typeface="+mn-ea"/>
                <a:ea typeface="+mn-ea"/>
              </a:rPr>
              <a:t>=3</a:t>
            </a:r>
            <a:r>
              <a:rPr kumimoji="1" lang="en-US" altLang="zh-CN" dirty="0">
                <a:latin typeface="+mn-ea"/>
                <a:ea typeface="+mn-ea"/>
              </a:rPr>
              <a:t>, </a:t>
            </a:r>
            <a:r>
              <a:rPr kumimoji="1" lang="en-US" altLang="zh-CN" dirty="0">
                <a:solidFill>
                  <a:srgbClr val="006600"/>
                </a:solidFill>
                <a:latin typeface="+mn-ea"/>
                <a:ea typeface="+mn-ea"/>
              </a:rPr>
              <a:t>F</a:t>
            </a:r>
            <a:r>
              <a:rPr kumimoji="1" lang="en-US" altLang="zh-CN" baseline="-25000" dirty="0">
                <a:solidFill>
                  <a:srgbClr val="006600"/>
                </a:solidFill>
                <a:latin typeface="+mn-ea"/>
                <a:ea typeface="+mn-ea"/>
              </a:rPr>
              <a:t>5</a:t>
            </a:r>
            <a:r>
              <a:rPr kumimoji="1" lang="en-US" altLang="zh-CN" dirty="0">
                <a:solidFill>
                  <a:srgbClr val="006600"/>
                </a:solidFill>
                <a:latin typeface="+mn-ea"/>
                <a:ea typeface="+mn-ea"/>
              </a:rPr>
              <a:t>=5</a:t>
            </a:r>
            <a:r>
              <a:rPr kumimoji="1" lang="en-US" altLang="zh-CN" dirty="0">
                <a:latin typeface="+mn-ea"/>
                <a:ea typeface="+mn-ea"/>
              </a:rPr>
              <a:t>, </a:t>
            </a:r>
            <a:r>
              <a:rPr kumimoji="1" lang="en-US" altLang="zh-CN" dirty="0">
                <a:solidFill>
                  <a:srgbClr val="006600"/>
                </a:solidFill>
                <a:latin typeface="+mn-ea"/>
                <a:ea typeface="+mn-ea"/>
              </a:rPr>
              <a:t>F</a:t>
            </a:r>
            <a:r>
              <a:rPr kumimoji="1" lang="en-US" altLang="zh-CN" baseline="-25000" dirty="0">
                <a:solidFill>
                  <a:srgbClr val="006600"/>
                </a:solidFill>
                <a:latin typeface="+mn-ea"/>
                <a:ea typeface="+mn-ea"/>
              </a:rPr>
              <a:t>6</a:t>
            </a:r>
            <a:r>
              <a:rPr kumimoji="1" lang="en-US" altLang="zh-CN" dirty="0">
                <a:solidFill>
                  <a:srgbClr val="006600"/>
                </a:solidFill>
                <a:latin typeface="+mn-ea"/>
                <a:ea typeface="+mn-ea"/>
              </a:rPr>
              <a:t>=8</a:t>
            </a:r>
            <a:r>
              <a:rPr kumimoji="1" lang="en-US" altLang="zh-CN" dirty="0">
                <a:latin typeface="+mn-ea"/>
                <a:ea typeface="+mn-ea"/>
              </a:rPr>
              <a:t>, </a:t>
            </a:r>
            <a:r>
              <a:rPr kumimoji="1" lang="en-US" altLang="zh-CN" dirty="0">
                <a:solidFill>
                  <a:srgbClr val="006600"/>
                </a:solidFill>
                <a:latin typeface="+mn-ea"/>
                <a:ea typeface="+mn-ea"/>
              </a:rPr>
              <a:t>F</a:t>
            </a:r>
            <a:r>
              <a:rPr kumimoji="1" lang="en-US" altLang="zh-CN" baseline="-25000" dirty="0">
                <a:solidFill>
                  <a:srgbClr val="006600"/>
                </a:solidFill>
                <a:latin typeface="+mn-ea"/>
                <a:ea typeface="+mn-ea"/>
              </a:rPr>
              <a:t>7</a:t>
            </a:r>
            <a:r>
              <a:rPr kumimoji="1" lang="en-US" altLang="zh-CN" dirty="0">
                <a:solidFill>
                  <a:srgbClr val="006600"/>
                </a:solidFill>
                <a:latin typeface="+mn-ea"/>
                <a:ea typeface="+mn-ea"/>
              </a:rPr>
              <a:t>=13</a:t>
            </a:r>
            <a:r>
              <a:rPr kumimoji="1" lang="en-US" altLang="zh-CN" dirty="0">
                <a:latin typeface="+mn-ea"/>
                <a:ea typeface="+mn-ea"/>
              </a:rPr>
              <a:t>, </a:t>
            </a:r>
            <a:r>
              <a:rPr kumimoji="1" lang="en-US" altLang="zh-CN" dirty="0">
                <a:solidFill>
                  <a:srgbClr val="006600"/>
                </a:solidFill>
                <a:latin typeface="+mn-ea"/>
                <a:ea typeface="+mn-ea"/>
              </a:rPr>
              <a:t>…</a:t>
            </a:r>
            <a:r>
              <a:rPr kumimoji="1" lang="en-US" altLang="zh-CN" dirty="0">
                <a:latin typeface="+mn-ea"/>
                <a:ea typeface="+mn-ea"/>
              </a:rPr>
              <a:t> </a:t>
            </a:r>
          </a:p>
        </p:txBody>
      </p:sp>
      <p:graphicFrame>
        <p:nvGraphicFramePr>
          <p:cNvPr id="522244" name="Object 4">
            <a:extLst>
              <a:ext uri="{FF2B5EF4-FFF2-40B4-BE49-F238E27FC236}">
                <a16:creationId xmlns:a16="http://schemas.microsoft.com/office/drawing/2014/main" id="{3198E925-3999-488D-A5FC-857179B9A165}"/>
              </a:ext>
            </a:extLst>
          </p:cNvPr>
          <p:cNvGraphicFramePr>
            <a:graphicFrameLocks noGrp="1" noChangeAspect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94843508"/>
              </p:ext>
            </p:extLst>
          </p:nvPr>
        </p:nvGraphicFramePr>
        <p:xfrm>
          <a:off x="755650" y="2997200"/>
          <a:ext cx="7488758" cy="1241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710" name="公式" r:id="rId3" imgW="2641320" imgH="457200" progId="Equation.3">
                  <p:embed/>
                </p:oleObj>
              </mc:Choice>
              <mc:Fallback>
                <p:oleObj name="公式" r:id="rId3" imgW="2641320" imgH="457200" progId="Equation.3">
                  <p:embed/>
                  <p:pic>
                    <p:nvPicPr>
                      <p:cNvPr id="522244" name="Object 4">
                        <a:extLst>
                          <a:ext uri="{FF2B5EF4-FFF2-40B4-BE49-F238E27FC236}">
                            <a16:creationId xmlns:a16="http://schemas.microsoft.com/office/drawing/2014/main" id="{3198E925-3999-488D-A5FC-857179B9A16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5650" y="2997200"/>
                        <a:ext cx="7488758" cy="1241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266" name="Rectangle 2">
            <a:extLst>
              <a:ext uri="{FF2B5EF4-FFF2-40B4-BE49-F238E27FC236}">
                <a16:creationId xmlns:a16="http://schemas.microsoft.com/office/drawing/2014/main" id="{89C5F451-A878-4EC7-890B-FD3AA818FE6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667000" y="3505200"/>
            <a:ext cx="7772400" cy="3352800"/>
          </a:xfrm>
        </p:spPr>
        <p:txBody>
          <a:bodyPr/>
          <a:lstStyle/>
          <a:p>
            <a:br>
              <a:rPr lang="en-US" altLang="zh-CN" sz="2400">
                <a:ea typeface="仿宋_GB2312" pitchFamily="49" charset="-122"/>
              </a:rPr>
            </a:br>
            <a:endParaRPr lang="en-US" altLang="zh-CN" sz="2000">
              <a:ea typeface="仿宋_GB2312" pitchFamily="49" charset="-122"/>
            </a:endParaRPr>
          </a:p>
        </p:txBody>
      </p:sp>
      <p:sp>
        <p:nvSpPr>
          <p:cNvPr id="523267" name="Rectangle 3">
            <a:extLst>
              <a:ext uri="{FF2B5EF4-FFF2-40B4-BE49-F238E27FC236}">
                <a16:creationId xmlns:a16="http://schemas.microsoft.com/office/drawing/2014/main" id="{FE00C785-4BFC-4D7B-8FA3-1B5EC98A3B4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03237" y="692696"/>
            <a:ext cx="8158164" cy="3352801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kumimoji="1" lang="en-US" altLang="zh-CN" dirty="0">
                <a:latin typeface="Times New Roman" panose="02020603050405020304" pitchFamily="18" charset="0"/>
              </a:rPr>
              <a:t>	</a:t>
            </a:r>
            <a:r>
              <a:rPr kumimoji="1" lang="en-US" altLang="zh-CN" sz="2800" dirty="0">
                <a:latin typeface="Times New Roman" panose="02020603050405020304" pitchFamily="18" charset="0"/>
              </a:rPr>
              <a:t>long </a:t>
            </a:r>
            <a:r>
              <a:rPr kumimoji="1" lang="en-US" altLang="zh-CN" sz="2800" dirty="0">
                <a:solidFill>
                  <a:srgbClr val="0000FF"/>
                </a:solidFill>
                <a:latin typeface="Times New Roman" panose="02020603050405020304" pitchFamily="18" charset="0"/>
              </a:rPr>
              <a:t>Fib (long n) </a:t>
            </a:r>
            <a:r>
              <a:rPr kumimoji="1" lang="en-US" altLang="zh-CN" sz="2800" dirty="0">
                <a:latin typeface="Times New Roman" panose="02020603050405020304" pitchFamily="18" charset="0"/>
              </a:rPr>
              <a:t>{</a:t>
            </a:r>
            <a:br>
              <a:rPr kumimoji="1" lang="en-US" altLang="zh-CN" sz="2800" dirty="0">
                <a:latin typeface="Times New Roman" panose="02020603050405020304" pitchFamily="18" charset="0"/>
              </a:rPr>
            </a:br>
            <a:r>
              <a:rPr kumimoji="1" lang="en-US" altLang="zh-CN" sz="2800" dirty="0">
                <a:latin typeface="Times New Roman" panose="02020603050405020304" pitchFamily="18" charset="0"/>
              </a:rPr>
              <a:t>      if (n &lt;= 1) return n;		</a:t>
            </a:r>
            <a:br>
              <a:rPr kumimoji="1" lang="en-US" altLang="zh-CN" sz="2800" dirty="0">
                <a:latin typeface="Times New Roman" panose="02020603050405020304" pitchFamily="18" charset="0"/>
              </a:rPr>
            </a:br>
            <a:r>
              <a:rPr kumimoji="1" lang="en-US" altLang="zh-CN" sz="2800" dirty="0">
                <a:latin typeface="Times New Roman" panose="02020603050405020304" pitchFamily="18" charset="0"/>
              </a:rPr>
              <a:t>      else return </a:t>
            </a:r>
            <a:r>
              <a:rPr kumimoji="1" lang="en-US" altLang="zh-CN" sz="2800" dirty="0">
                <a:solidFill>
                  <a:srgbClr val="0000FF"/>
                </a:solidFill>
                <a:latin typeface="Times New Roman" panose="02020603050405020304" pitchFamily="18" charset="0"/>
              </a:rPr>
              <a:t>Fib(n</a:t>
            </a:r>
            <a:r>
              <a:rPr kumimoji="1" lang="en-US" altLang="zh-CN" sz="2800" dirty="0">
                <a:solidFill>
                  <a:srgbClr val="0000FF"/>
                </a:solidFill>
                <a:latin typeface="Courier New" panose="02070309020205020404" pitchFamily="49" charset="0"/>
              </a:rPr>
              <a:t>-</a:t>
            </a:r>
            <a:r>
              <a:rPr kumimoji="1" lang="en-US" altLang="zh-CN" sz="2800" dirty="0">
                <a:solidFill>
                  <a:srgbClr val="0000FF"/>
                </a:solidFill>
                <a:latin typeface="Times New Roman" panose="02020603050405020304" pitchFamily="18" charset="0"/>
              </a:rPr>
              <a:t>1) </a:t>
            </a:r>
            <a:r>
              <a:rPr kumimoji="1" lang="en-US" altLang="zh-CN" sz="2800" dirty="0">
                <a:latin typeface="Times New Roman" panose="02020603050405020304" pitchFamily="18" charset="0"/>
              </a:rPr>
              <a:t>+ </a:t>
            </a:r>
            <a:r>
              <a:rPr kumimoji="1" lang="en-US" altLang="zh-CN" sz="2800" dirty="0">
                <a:solidFill>
                  <a:srgbClr val="0000FF"/>
                </a:solidFill>
                <a:latin typeface="Times New Roman" panose="02020603050405020304" pitchFamily="18" charset="0"/>
              </a:rPr>
              <a:t>Fib(n</a:t>
            </a:r>
            <a:r>
              <a:rPr kumimoji="1" lang="en-US" altLang="zh-CN" sz="2800" dirty="0">
                <a:solidFill>
                  <a:srgbClr val="0000FF"/>
                </a:solidFill>
                <a:latin typeface="Courier New" panose="02070309020205020404" pitchFamily="49" charset="0"/>
              </a:rPr>
              <a:t>-</a:t>
            </a:r>
            <a:r>
              <a:rPr kumimoji="1" lang="en-US" altLang="zh-CN" sz="2800" dirty="0">
                <a:solidFill>
                  <a:srgbClr val="0000FF"/>
                </a:solidFill>
                <a:latin typeface="Times New Roman" panose="02020603050405020304" pitchFamily="18" charset="0"/>
              </a:rPr>
              <a:t>2)</a:t>
            </a:r>
            <a:r>
              <a:rPr kumimoji="1" lang="en-US" altLang="zh-CN" sz="2800" dirty="0">
                <a:latin typeface="Times New Roman" panose="02020603050405020304" pitchFamily="18" charset="0"/>
              </a:rPr>
              <a:t>;</a:t>
            </a:r>
          </a:p>
          <a:p>
            <a:pPr>
              <a:buFont typeface="Wingdings" panose="05000000000000000000" pitchFamily="2" charset="2"/>
              <a:buNone/>
            </a:pPr>
            <a:r>
              <a:rPr kumimoji="1" lang="en-US" altLang="zh-CN" sz="2800" dirty="0">
                <a:latin typeface="Times New Roman" panose="02020603050405020304" pitchFamily="18" charset="0"/>
              </a:rPr>
              <a:t>  	}</a:t>
            </a:r>
          </a:p>
          <a:p>
            <a:pPr marL="0" indent="0">
              <a:buClr>
                <a:srgbClr val="800080"/>
              </a:buClr>
              <a:buSzPct val="55000"/>
              <a:buNone/>
            </a:pPr>
            <a:r>
              <a:rPr kumimoji="1" lang="zh-CN" altLang="en-US" sz="2800" b="1" dirty="0">
                <a:solidFill>
                  <a:srgbClr val="FF0000"/>
                </a:solidFill>
              </a:rPr>
              <a:t>重复计算多</a:t>
            </a:r>
          </a:p>
        </p:txBody>
      </p:sp>
      <p:grpSp>
        <p:nvGrpSpPr>
          <p:cNvPr id="523313" name="Group 49">
            <a:extLst>
              <a:ext uri="{FF2B5EF4-FFF2-40B4-BE49-F238E27FC236}">
                <a16:creationId xmlns:a16="http://schemas.microsoft.com/office/drawing/2014/main" id="{8FC7BF20-9B56-46BF-900A-B616AFBB28F5}"/>
              </a:ext>
            </a:extLst>
          </p:cNvPr>
          <p:cNvGrpSpPr>
            <a:grpSpLocks/>
          </p:cNvGrpSpPr>
          <p:nvPr/>
        </p:nvGrpSpPr>
        <p:grpSpPr bwMode="auto">
          <a:xfrm>
            <a:off x="889001" y="3300298"/>
            <a:ext cx="7772400" cy="3219450"/>
            <a:chOff x="547" y="1868"/>
            <a:chExt cx="4896" cy="2028"/>
          </a:xfrm>
        </p:grpSpPr>
        <p:sp>
          <p:nvSpPr>
            <p:cNvPr id="523269" name="Line 5">
              <a:extLst>
                <a:ext uri="{FF2B5EF4-FFF2-40B4-BE49-F238E27FC236}">
                  <a16:creationId xmlns:a16="http://schemas.microsoft.com/office/drawing/2014/main" id="{4F439C67-DC94-4B65-9D83-79727F4E2B2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63" y="3431"/>
              <a:ext cx="240" cy="185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23270" name="Line 6">
              <a:extLst>
                <a:ext uri="{FF2B5EF4-FFF2-40B4-BE49-F238E27FC236}">
                  <a16:creationId xmlns:a16="http://schemas.microsoft.com/office/drawing/2014/main" id="{8FCB45D2-D36C-4F3F-B17E-EC4E97ED702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835" y="3431"/>
              <a:ext cx="240" cy="185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23271" name="Line 7">
              <a:extLst>
                <a:ext uri="{FF2B5EF4-FFF2-40B4-BE49-F238E27FC236}">
                  <a16:creationId xmlns:a16="http://schemas.microsoft.com/office/drawing/2014/main" id="{680B1CFA-CBF3-4752-977C-BC4C597A7D8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47" y="2987"/>
              <a:ext cx="240" cy="185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23272" name="Line 8">
              <a:extLst>
                <a:ext uri="{FF2B5EF4-FFF2-40B4-BE49-F238E27FC236}">
                  <a16:creationId xmlns:a16="http://schemas.microsoft.com/office/drawing/2014/main" id="{40B96F80-2664-4B94-8F59-5F2E816F1B3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219" y="2987"/>
              <a:ext cx="240" cy="185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23273" name="Line 9">
              <a:extLst>
                <a:ext uri="{FF2B5EF4-FFF2-40B4-BE49-F238E27FC236}">
                  <a16:creationId xmlns:a16="http://schemas.microsoft.com/office/drawing/2014/main" id="{742ACDBE-1CA1-4243-A25C-7BCAD4F4B07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39" y="2987"/>
              <a:ext cx="240" cy="185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23274" name="Line 10">
              <a:extLst>
                <a:ext uri="{FF2B5EF4-FFF2-40B4-BE49-F238E27FC236}">
                  <a16:creationId xmlns:a16="http://schemas.microsoft.com/office/drawing/2014/main" id="{F657AFCB-19BD-474E-A78E-26A02B21B8A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611" y="2987"/>
              <a:ext cx="240" cy="185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23275" name="Line 11">
              <a:extLst>
                <a:ext uri="{FF2B5EF4-FFF2-40B4-BE49-F238E27FC236}">
                  <a16:creationId xmlns:a16="http://schemas.microsoft.com/office/drawing/2014/main" id="{48574880-D77F-4BC0-B68F-D548083D4AA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79" y="2987"/>
              <a:ext cx="240" cy="185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23276" name="Line 12">
              <a:extLst>
                <a:ext uri="{FF2B5EF4-FFF2-40B4-BE49-F238E27FC236}">
                  <a16:creationId xmlns:a16="http://schemas.microsoft.com/office/drawing/2014/main" id="{A88C81E4-3DC3-4267-AF8F-A3ADBE9A2BA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051" y="2987"/>
              <a:ext cx="240" cy="185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23277" name="Line 13">
              <a:extLst>
                <a:ext uri="{FF2B5EF4-FFF2-40B4-BE49-F238E27FC236}">
                  <a16:creationId xmlns:a16="http://schemas.microsoft.com/office/drawing/2014/main" id="{8D8F105B-26B8-4E4B-87CC-A4AA42B2304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15" y="2543"/>
              <a:ext cx="240" cy="185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23278" name="Line 14">
              <a:extLst>
                <a:ext uri="{FF2B5EF4-FFF2-40B4-BE49-F238E27FC236}">
                  <a16:creationId xmlns:a16="http://schemas.microsoft.com/office/drawing/2014/main" id="{511F191B-738B-4ED6-8F8F-0C291319104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387" y="2543"/>
              <a:ext cx="240" cy="185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23279" name="Line 15">
              <a:extLst>
                <a:ext uri="{FF2B5EF4-FFF2-40B4-BE49-F238E27FC236}">
                  <a16:creationId xmlns:a16="http://schemas.microsoft.com/office/drawing/2014/main" id="{1DC80D6F-F00A-48C0-8735-5B3D864FEA8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15" y="2543"/>
              <a:ext cx="336" cy="185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23280" name="Line 16">
              <a:extLst>
                <a:ext uri="{FF2B5EF4-FFF2-40B4-BE49-F238E27FC236}">
                  <a16:creationId xmlns:a16="http://schemas.microsoft.com/office/drawing/2014/main" id="{205960EB-7FC6-4A44-BDE0-99575425252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11" y="2135"/>
              <a:ext cx="672" cy="148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23281" name="Line 17">
              <a:extLst>
                <a:ext uri="{FF2B5EF4-FFF2-40B4-BE49-F238E27FC236}">
                  <a16:creationId xmlns:a16="http://schemas.microsoft.com/office/drawing/2014/main" id="{9930C416-3F43-46D5-8B64-27B4A4E281E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699" y="2543"/>
              <a:ext cx="432" cy="185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23282" name="Rectangle 18">
              <a:extLst>
                <a:ext uri="{FF2B5EF4-FFF2-40B4-BE49-F238E27FC236}">
                  <a16:creationId xmlns:a16="http://schemas.microsoft.com/office/drawing/2014/main" id="{49FAD3F6-B7F6-410D-80C5-68143A8894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3" y="3172"/>
              <a:ext cx="624" cy="259"/>
            </a:xfrm>
            <a:prstGeom prst="rect">
              <a:avLst/>
            </a:prstGeom>
            <a:solidFill>
              <a:srgbClr val="FFFFCC"/>
            </a:solidFill>
            <a:ln w="222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23283" name="Rectangle 19">
              <a:extLst>
                <a:ext uri="{FF2B5EF4-FFF2-40B4-BE49-F238E27FC236}">
                  <a16:creationId xmlns:a16="http://schemas.microsoft.com/office/drawing/2014/main" id="{F5CA74A7-8057-4111-BA47-96E3A1B04C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03" y="3172"/>
              <a:ext cx="624" cy="259"/>
            </a:xfrm>
            <a:prstGeom prst="rect">
              <a:avLst/>
            </a:prstGeom>
            <a:solidFill>
              <a:srgbClr val="FFFFCC"/>
            </a:solidFill>
            <a:ln w="222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23284" name="Rectangle 20">
              <a:extLst>
                <a:ext uri="{FF2B5EF4-FFF2-40B4-BE49-F238E27FC236}">
                  <a16:creationId xmlns:a16="http://schemas.microsoft.com/office/drawing/2014/main" id="{C71C0B41-C400-4D77-AFEA-5185F74C20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23" y="3172"/>
              <a:ext cx="624" cy="259"/>
            </a:xfrm>
            <a:prstGeom prst="rect">
              <a:avLst/>
            </a:prstGeom>
            <a:solidFill>
              <a:srgbClr val="FFFFCC"/>
            </a:solidFill>
            <a:ln w="222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23285" name="Rectangle 21">
              <a:extLst>
                <a:ext uri="{FF2B5EF4-FFF2-40B4-BE49-F238E27FC236}">
                  <a16:creationId xmlns:a16="http://schemas.microsoft.com/office/drawing/2014/main" id="{7552D9E1-9BF7-471C-898A-B571818F4B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43" y="3172"/>
              <a:ext cx="624" cy="259"/>
            </a:xfrm>
            <a:prstGeom prst="rect">
              <a:avLst/>
            </a:prstGeom>
            <a:solidFill>
              <a:srgbClr val="FFFFCC"/>
            </a:solidFill>
            <a:ln w="222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23286" name="Rectangle 22">
              <a:extLst>
                <a:ext uri="{FF2B5EF4-FFF2-40B4-BE49-F238E27FC236}">
                  <a16:creationId xmlns:a16="http://schemas.microsoft.com/office/drawing/2014/main" id="{DC673A32-E356-4D84-9FF1-836BF27546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63" y="3172"/>
              <a:ext cx="624" cy="259"/>
            </a:xfrm>
            <a:prstGeom prst="rect">
              <a:avLst/>
            </a:prstGeom>
            <a:solidFill>
              <a:srgbClr val="FFFFCC"/>
            </a:solidFill>
            <a:ln w="222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23287" name="Rectangle 23">
              <a:extLst>
                <a:ext uri="{FF2B5EF4-FFF2-40B4-BE49-F238E27FC236}">
                  <a16:creationId xmlns:a16="http://schemas.microsoft.com/office/drawing/2014/main" id="{E7F8E679-F940-42DA-A808-11154DC730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3" y="3172"/>
              <a:ext cx="624" cy="259"/>
            </a:xfrm>
            <a:prstGeom prst="rect">
              <a:avLst/>
            </a:prstGeom>
            <a:solidFill>
              <a:srgbClr val="FFFFCC"/>
            </a:solidFill>
            <a:ln w="222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23288" name="Rectangle 24">
              <a:extLst>
                <a:ext uri="{FF2B5EF4-FFF2-40B4-BE49-F238E27FC236}">
                  <a16:creationId xmlns:a16="http://schemas.microsoft.com/office/drawing/2014/main" id="{6D930048-B794-4D69-B508-86E9D5BCE4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99" y="2728"/>
              <a:ext cx="624" cy="259"/>
            </a:xfrm>
            <a:prstGeom prst="rect">
              <a:avLst/>
            </a:prstGeom>
            <a:solidFill>
              <a:srgbClr val="FFFFCC"/>
            </a:solidFill>
            <a:ln w="222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23289" name="Rectangle 25">
              <a:extLst>
                <a:ext uri="{FF2B5EF4-FFF2-40B4-BE49-F238E27FC236}">
                  <a16:creationId xmlns:a16="http://schemas.microsoft.com/office/drawing/2014/main" id="{B933765E-04EB-436B-AC7A-69B9A3B2B9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19" y="2728"/>
              <a:ext cx="624" cy="259"/>
            </a:xfrm>
            <a:prstGeom prst="rect">
              <a:avLst/>
            </a:prstGeom>
            <a:solidFill>
              <a:srgbClr val="FFFFCC"/>
            </a:solidFill>
            <a:ln w="222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23290" name="Rectangle 26">
              <a:extLst>
                <a:ext uri="{FF2B5EF4-FFF2-40B4-BE49-F238E27FC236}">
                  <a16:creationId xmlns:a16="http://schemas.microsoft.com/office/drawing/2014/main" id="{4B498DA4-93A3-4CF6-94F4-E5D227FFC2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7" y="3616"/>
              <a:ext cx="624" cy="260"/>
            </a:xfrm>
            <a:prstGeom prst="rect">
              <a:avLst/>
            </a:prstGeom>
            <a:solidFill>
              <a:srgbClr val="FFFFCC"/>
            </a:solidFill>
            <a:ln w="222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23291" name="Rectangle 27">
              <a:extLst>
                <a:ext uri="{FF2B5EF4-FFF2-40B4-BE49-F238E27FC236}">
                  <a16:creationId xmlns:a16="http://schemas.microsoft.com/office/drawing/2014/main" id="{4A3D1201-7876-45F0-A422-F96016BC84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7" y="3616"/>
              <a:ext cx="624" cy="260"/>
            </a:xfrm>
            <a:prstGeom prst="rect">
              <a:avLst/>
            </a:prstGeom>
            <a:solidFill>
              <a:srgbClr val="FFFFCC"/>
            </a:solidFill>
            <a:ln w="222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23292" name="Rectangle 28">
              <a:extLst>
                <a:ext uri="{FF2B5EF4-FFF2-40B4-BE49-F238E27FC236}">
                  <a16:creationId xmlns:a16="http://schemas.microsoft.com/office/drawing/2014/main" id="{F0D4A388-EF3E-400E-AB0B-9BFBF22780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7" y="2728"/>
              <a:ext cx="624" cy="259"/>
            </a:xfrm>
            <a:prstGeom prst="rect">
              <a:avLst/>
            </a:prstGeom>
            <a:solidFill>
              <a:srgbClr val="FFFFCC"/>
            </a:solidFill>
            <a:ln w="222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23293" name="Rectangle 29">
              <a:extLst>
                <a:ext uri="{FF2B5EF4-FFF2-40B4-BE49-F238E27FC236}">
                  <a16:creationId xmlns:a16="http://schemas.microsoft.com/office/drawing/2014/main" id="{A48224C6-8605-4881-AA06-D5D55A0AB6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59" y="2728"/>
              <a:ext cx="624" cy="259"/>
            </a:xfrm>
            <a:prstGeom prst="rect">
              <a:avLst/>
            </a:prstGeom>
            <a:solidFill>
              <a:srgbClr val="FFFFCC"/>
            </a:solidFill>
            <a:ln w="222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23294" name="Rectangle 30">
              <a:extLst>
                <a:ext uri="{FF2B5EF4-FFF2-40B4-BE49-F238E27FC236}">
                  <a16:creationId xmlns:a16="http://schemas.microsoft.com/office/drawing/2014/main" id="{B1E6652F-F75E-4B54-976E-F1286ACB7A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87" y="2283"/>
              <a:ext cx="624" cy="260"/>
            </a:xfrm>
            <a:prstGeom prst="rect">
              <a:avLst/>
            </a:prstGeom>
            <a:solidFill>
              <a:srgbClr val="FFFFCC"/>
            </a:solidFill>
            <a:ln w="222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23295" name="Rectangle 31">
              <a:extLst>
                <a:ext uri="{FF2B5EF4-FFF2-40B4-BE49-F238E27FC236}">
                  <a16:creationId xmlns:a16="http://schemas.microsoft.com/office/drawing/2014/main" id="{91F2A413-EC11-4093-849A-FE86D17C1D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35" y="2283"/>
              <a:ext cx="624" cy="260"/>
            </a:xfrm>
            <a:prstGeom prst="rect">
              <a:avLst/>
            </a:prstGeom>
            <a:solidFill>
              <a:srgbClr val="FFFFCC"/>
            </a:solidFill>
            <a:ln w="222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23296" name="Rectangle 32">
              <a:extLst>
                <a:ext uri="{FF2B5EF4-FFF2-40B4-BE49-F238E27FC236}">
                  <a16:creationId xmlns:a16="http://schemas.microsoft.com/office/drawing/2014/main" id="{FE4DB317-4BB4-4C83-B0BC-C6C4976D0F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87" y="1876"/>
              <a:ext cx="624" cy="259"/>
            </a:xfrm>
            <a:prstGeom prst="rect">
              <a:avLst/>
            </a:prstGeom>
            <a:solidFill>
              <a:srgbClr val="FFFFCC"/>
            </a:solidFill>
            <a:ln w="222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23297" name="Line 33">
              <a:extLst>
                <a:ext uri="{FF2B5EF4-FFF2-40B4-BE49-F238E27FC236}">
                  <a16:creationId xmlns:a16="http://schemas.microsoft.com/office/drawing/2014/main" id="{81E4EE34-B684-4FE4-8D7A-CCFC06DA95B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611" y="2135"/>
              <a:ext cx="672" cy="148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23298" name="Text Box 34">
              <a:extLst>
                <a:ext uri="{FF2B5EF4-FFF2-40B4-BE49-F238E27FC236}">
                  <a16:creationId xmlns:a16="http://schemas.microsoft.com/office/drawing/2014/main" id="{83608419-A5C9-440F-82FB-ADB0370A801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62" y="3608"/>
              <a:ext cx="61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2400" b="1" baseline="0">
                  <a:latin typeface="Times New Roman" panose="02020603050405020304" pitchFamily="18" charset="0"/>
                </a:rPr>
                <a:t>Fib(1)</a:t>
              </a:r>
            </a:p>
          </p:txBody>
        </p:sp>
        <p:sp>
          <p:nvSpPr>
            <p:cNvPr id="523299" name="Text Box 35">
              <a:extLst>
                <a:ext uri="{FF2B5EF4-FFF2-40B4-BE49-F238E27FC236}">
                  <a16:creationId xmlns:a16="http://schemas.microsoft.com/office/drawing/2014/main" id="{6BE3432B-B8C2-45AE-84DD-59E400137BF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70" y="3607"/>
              <a:ext cx="61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2400" b="1" baseline="0">
                  <a:latin typeface="Times New Roman" panose="02020603050405020304" pitchFamily="18" charset="0"/>
                </a:rPr>
                <a:t>Fib(0)</a:t>
              </a:r>
            </a:p>
          </p:txBody>
        </p:sp>
        <p:sp>
          <p:nvSpPr>
            <p:cNvPr id="523300" name="Text Box 36">
              <a:extLst>
                <a:ext uri="{FF2B5EF4-FFF2-40B4-BE49-F238E27FC236}">
                  <a16:creationId xmlns:a16="http://schemas.microsoft.com/office/drawing/2014/main" id="{89439294-065F-4541-9578-B1C8CC31395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06" y="3165"/>
              <a:ext cx="61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2400" b="1" baseline="0">
                  <a:latin typeface="Times New Roman" panose="02020603050405020304" pitchFamily="18" charset="0"/>
                </a:rPr>
                <a:t>Fib(1)</a:t>
              </a:r>
            </a:p>
          </p:txBody>
        </p:sp>
        <p:sp>
          <p:nvSpPr>
            <p:cNvPr id="523301" name="Text Box 37">
              <a:extLst>
                <a:ext uri="{FF2B5EF4-FFF2-40B4-BE49-F238E27FC236}">
                  <a16:creationId xmlns:a16="http://schemas.microsoft.com/office/drawing/2014/main" id="{1ACB8339-AE1F-4EB7-BE1C-59D4F7516BD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86" y="3165"/>
              <a:ext cx="61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2400" b="1" baseline="0">
                  <a:latin typeface="Times New Roman" panose="02020603050405020304" pitchFamily="18" charset="0"/>
                </a:rPr>
                <a:t>Fib(2)</a:t>
              </a:r>
            </a:p>
          </p:txBody>
        </p:sp>
        <p:sp>
          <p:nvSpPr>
            <p:cNvPr id="523302" name="Text Box 38">
              <a:extLst>
                <a:ext uri="{FF2B5EF4-FFF2-40B4-BE49-F238E27FC236}">
                  <a16:creationId xmlns:a16="http://schemas.microsoft.com/office/drawing/2014/main" id="{ED205B23-2076-43C8-BF23-25E0A4B1642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70" y="2720"/>
              <a:ext cx="61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2400" b="1" baseline="0">
                  <a:latin typeface="Times New Roman" panose="02020603050405020304" pitchFamily="18" charset="0"/>
                </a:rPr>
                <a:t>Fib(3)</a:t>
              </a:r>
            </a:p>
          </p:txBody>
        </p:sp>
        <p:sp>
          <p:nvSpPr>
            <p:cNvPr id="523303" name="Text Box 39">
              <a:extLst>
                <a:ext uri="{FF2B5EF4-FFF2-40B4-BE49-F238E27FC236}">
                  <a16:creationId xmlns:a16="http://schemas.microsoft.com/office/drawing/2014/main" id="{59E49C28-D428-4020-819C-95CAF91199B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94" y="2266"/>
              <a:ext cx="61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2400" b="1" baseline="0">
                  <a:latin typeface="Times New Roman" panose="02020603050405020304" pitchFamily="18" charset="0"/>
                </a:rPr>
                <a:t>Fib(4)</a:t>
              </a:r>
            </a:p>
          </p:txBody>
        </p:sp>
        <p:sp>
          <p:nvSpPr>
            <p:cNvPr id="523304" name="Text Box 40">
              <a:extLst>
                <a:ext uri="{FF2B5EF4-FFF2-40B4-BE49-F238E27FC236}">
                  <a16:creationId xmlns:a16="http://schemas.microsoft.com/office/drawing/2014/main" id="{AFE6FBCC-C740-4046-9E7B-88943885627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65" y="3165"/>
              <a:ext cx="61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2400" b="1" baseline="0">
                  <a:latin typeface="Times New Roman" panose="02020603050405020304" pitchFamily="18" charset="0"/>
                </a:rPr>
                <a:t>Fib(1)</a:t>
              </a:r>
            </a:p>
          </p:txBody>
        </p:sp>
        <p:sp>
          <p:nvSpPr>
            <p:cNvPr id="523305" name="Text Box 41">
              <a:extLst>
                <a:ext uri="{FF2B5EF4-FFF2-40B4-BE49-F238E27FC236}">
                  <a16:creationId xmlns:a16="http://schemas.microsoft.com/office/drawing/2014/main" id="{FBC6304A-1DA6-4B3E-8505-6B5CCA978F9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46" y="3165"/>
              <a:ext cx="61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2400" b="1" baseline="0">
                  <a:latin typeface="Times New Roman" panose="02020603050405020304" pitchFamily="18" charset="0"/>
                </a:rPr>
                <a:t>Fib(0)</a:t>
              </a:r>
            </a:p>
          </p:txBody>
        </p:sp>
        <p:sp>
          <p:nvSpPr>
            <p:cNvPr id="523306" name="Text Box 42">
              <a:extLst>
                <a:ext uri="{FF2B5EF4-FFF2-40B4-BE49-F238E27FC236}">
                  <a16:creationId xmlns:a16="http://schemas.microsoft.com/office/drawing/2014/main" id="{4F0CB900-E3CF-4885-90E7-6CEFE96A994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66" y="2720"/>
              <a:ext cx="61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2400" b="1" baseline="0">
                  <a:latin typeface="Times New Roman" panose="02020603050405020304" pitchFamily="18" charset="0"/>
                </a:rPr>
                <a:t>Fib(2)</a:t>
              </a:r>
            </a:p>
          </p:txBody>
        </p:sp>
        <p:sp>
          <p:nvSpPr>
            <p:cNvPr id="523307" name="Text Box 43">
              <a:extLst>
                <a:ext uri="{FF2B5EF4-FFF2-40B4-BE49-F238E27FC236}">
                  <a16:creationId xmlns:a16="http://schemas.microsoft.com/office/drawing/2014/main" id="{725BC3FB-8DED-4D95-9C86-B2C52E1760C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57" y="3172"/>
              <a:ext cx="61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2400" b="1" baseline="0">
                  <a:latin typeface="Times New Roman" panose="02020603050405020304" pitchFamily="18" charset="0"/>
                </a:rPr>
                <a:t>Fib(1)</a:t>
              </a:r>
            </a:p>
          </p:txBody>
        </p:sp>
        <p:sp>
          <p:nvSpPr>
            <p:cNvPr id="523308" name="Text Box 44">
              <a:extLst>
                <a:ext uri="{FF2B5EF4-FFF2-40B4-BE49-F238E27FC236}">
                  <a16:creationId xmlns:a16="http://schemas.microsoft.com/office/drawing/2014/main" id="{1BD36530-045A-4D17-BE1C-9382BEC7289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86" y="3172"/>
              <a:ext cx="61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2400" b="1" baseline="0">
                  <a:latin typeface="Times New Roman" panose="02020603050405020304" pitchFamily="18" charset="0"/>
                </a:rPr>
                <a:t>Fib(0)</a:t>
              </a:r>
            </a:p>
          </p:txBody>
        </p:sp>
        <p:sp>
          <p:nvSpPr>
            <p:cNvPr id="523309" name="Text Box 45">
              <a:extLst>
                <a:ext uri="{FF2B5EF4-FFF2-40B4-BE49-F238E27FC236}">
                  <a16:creationId xmlns:a16="http://schemas.microsoft.com/office/drawing/2014/main" id="{842536EA-B769-4BCD-8762-5F0F4B5FFD7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26" y="2720"/>
              <a:ext cx="61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2400" b="1" baseline="0">
                  <a:latin typeface="Times New Roman" panose="02020603050405020304" pitchFamily="18" charset="0"/>
                </a:rPr>
                <a:t>Fib(1)</a:t>
              </a:r>
            </a:p>
          </p:txBody>
        </p:sp>
        <p:sp>
          <p:nvSpPr>
            <p:cNvPr id="523310" name="Text Box 46">
              <a:extLst>
                <a:ext uri="{FF2B5EF4-FFF2-40B4-BE49-F238E27FC236}">
                  <a16:creationId xmlns:a16="http://schemas.microsoft.com/office/drawing/2014/main" id="{104AE0F6-F17F-4C49-93AE-40C6A1D93CB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06" y="2720"/>
              <a:ext cx="61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2400" b="1" baseline="0">
                  <a:latin typeface="Times New Roman" panose="02020603050405020304" pitchFamily="18" charset="0"/>
                </a:rPr>
                <a:t>Fib(2)</a:t>
              </a:r>
            </a:p>
          </p:txBody>
        </p:sp>
        <p:sp>
          <p:nvSpPr>
            <p:cNvPr id="523311" name="Text Box 47">
              <a:extLst>
                <a:ext uri="{FF2B5EF4-FFF2-40B4-BE49-F238E27FC236}">
                  <a16:creationId xmlns:a16="http://schemas.microsoft.com/office/drawing/2014/main" id="{037DBC05-BF62-4C44-9DB1-D29DE730537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41" y="2266"/>
              <a:ext cx="61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2400" b="1" baseline="0">
                  <a:latin typeface="Times New Roman" panose="02020603050405020304" pitchFamily="18" charset="0"/>
                </a:rPr>
                <a:t>Fib(3)</a:t>
              </a:r>
            </a:p>
          </p:txBody>
        </p:sp>
        <p:sp>
          <p:nvSpPr>
            <p:cNvPr id="523312" name="Text Box 48">
              <a:extLst>
                <a:ext uri="{FF2B5EF4-FFF2-40B4-BE49-F238E27FC236}">
                  <a16:creationId xmlns:a16="http://schemas.microsoft.com/office/drawing/2014/main" id="{DFCAA628-9ECE-4A96-B4F6-F48711D441F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94" y="1868"/>
              <a:ext cx="61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2400" b="1" baseline="0">
                  <a:latin typeface="Times New Roman" panose="02020603050405020304" pitchFamily="18" charset="0"/>
                </a:rPr>
                <a:t>Fib(5)</a:t>
              </a:r>
            </a:p>
          </p:txBody>
        </p:sp>
      </p:grpSp>
      <p:sp>
        <p:nvSpPr>
          <p:cNvPr id="49" name="Rectangle 2">
            <a:extLst>
              <a:ext uri="{FF2B5EF4-FFF2-40B4-BE49-F238E27FC236}">
                <a16:creationId xmlns:a16="http://schemas.microsoft.com/office/drawing/2014/main" id="{84AADD23-6331-42C5-AD8B-41BC37F8E4D5}"/>
              </a:ext>
            </a:extLst>
          </p:cNvPr>
          <p:cNvSpPr txBox="1">
            <a:spLocks noChangeArrowheads="1"/>
          </p:cNvSpPr>
          <p:nvPr/>
        </p:nvSpPr>
        <p:spPr>
          <a:xfrm>
            <a:off x="940066" y="-10443"/>
            <a:ext cx="8229600" cy="91916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1"/>
                </a:solidFill>
                <a:latin typeface="+mj-lt"/>
                <a:ea typeface="微软雅黑" panose="020B0503020204020204" pitchFamily="34" charset="-122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</a:defRPr>
            </a:lvl5pPr>
            <a:lvl6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accent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itchFamily="49" charset="-122"/>
              </a:defRPr>
            </a:lvl6pPr>
            <a:lvl7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accent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itchFamily="49" charset="-122"/>
              </a:defRPr>
            </a:lvl7pPr>
            <a:lvl8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accent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itchFamily="49" charset="-122"/>
              </a:defRPr>
            </a:lvl8pPr>
            <a:lvl9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accent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itchFamily="49" charset="-122"/>
              </a:defRPr>
            </a:lvl9pPr>
          </a:lstStyle>
          <a:p>
            <a:r>
              <a:rPr kumimoji="1" lang="zh-CN" altLang="en-US" b="0" kern="0" dirty="0">
                <a:latin typeface="+mn-ea"/>
                <a:ea typeface="+mn-ea"/>
              </a:rPr>
              <a:t>求解斐波那契数列的递归算法</a:t>
            </a:r>
            <a:endParaRPr lang="zh-CN" altLang="en-US" b="0" kern="0" dirty="0"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290" name="Rectangle 2">
            <a:extLst>
              <a:ext uri="{FF2B5EF4-FFF2-40B4-BE49-F238E27FC236}">
                <a16:creationId xmlns:a16="http://schemas.microsoft.com/office/drawing/2014/main" id="{A729B1CB-9E89-44C0-9225-F45EA3F1783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25760" y="765894"/>
            <a:ext cx="8892480" cy="5759450"/>
          </a:xfrm>
        </p:spPr>
        <p:txBody>
          <a:bodyPr/>
          <a:lstStyle/>
          <a:p>
            <a:pPr>
              <a:buClr>
                <a:srgbClr val="800080"/>
              </a:buClr>
              <a:buSzPct val="55000"/>
              <a:buFont typeface="Wingdings" panose="05000000000000000000" pitchFamily="2" charset="2"/>
              <a:buChar char="l"/>
            </a:pPr>
            <a:r>
              <a:rPr kumimoji="1" lang="zh-CN" altLang="en-US" sz="2800" dirty="0">
                <a:latin typeface="+mn-lt"/>
              </a:rPr>
              <a:t>从计算斐波那契数列的递归调用树的例子可知，递归调用次数可达</a:t>
            </a:r>
            <a:r>
              <a:rPr kumimoji="1" lang="zh-CN" altLang="en-US" sz="2800" i="1" dirty="0">
                <a:latin typeface="+mn-lt"/>
              </a:rPr>
              <a:t> </a:t>
            </a:r>
            <a:r>
              <a:rPr kumimoji="1" lang="en-US" altLang="zh-CN" sz="2800" dirty="0" err="1">
                <a:solidFill>
                  <a:srgbClr val="FF0000"/>
                </a:solidFill>
                <a:latin typeface="+mn-lt"/>
                <a:ea typeface="仿宋_GB2312" pitchFamily="49" charset="-122"/>
              </a:rPr>
              <a:t>NumCall</a:t>
            </a:r>
            <a:r>
              <a:rPr kumimoji="1" lang="en-US" altLang="zh-CN" sz="2800" dirty="0">
                <a:solidFill>
                  <a:srgbClr val="FF0000"/>
                </a:solidFill>
                <a:latin typeface="+mn-lt"/>
                <a:ea typeface="仿宋_GB2312" pitchFamily="49" charset="-122"/>
              </a:rPr>
              <a:t>(k) = 2*F</a:t>
            </a:r>
            <a:r>
              <a:rPr kumimoji="1" lang="en-US" altLang="zh-CN" sz="2800" baseline="-25000" dirty="0">
                <a:solidFill>
                  <a:srgbClr val="FF0000"/>
                </a:solidFill>
                <a:latin typeface="+mn-lt"/>
                <a:ea typeface="仿宋_GB2312" pitchFamily="49" charset="-122"/>
              </a:rPr>
              <a:t>k</a:t>
            </a:r>
            <a:r>
              <a:rPr kumimoji="1" lang="en-US" altLang="zh-CN" sz="2800" i="1" baseline="-25000" dirty="0">
                <a:solidFill>
                  <a:srgbClr val="FF0000"/>
                </a:solidFill>
                <a:latin typeface="+mn-lt"/>
                <a:ea typeface="仿宋_GB2312" pitchFamily="49" charset="-122"/>
              </a:rPr>
              <a:t>+</a:t>
            </a:r>
            <a:r>
              <a:rPr kumimoji="1" lang="en-US" altLang="zh-CN" sz="2800" baseline="-25000" dirty="0">
                <a:solidFill>
                  <a:srgbClr val="FF0000"/>
                </a:solidFill>
                <a:latin typeface="+mn-lt"/>
                <a:ea typeface="仿宋_GB2312" pitchFamily="49" charset="-122"/>
              </a:rPr>
              <a:t>1</a:t>
            </a:r>
            <a:r>
              <a:rPr kumimoji="1" lang="en-US" altLang="zh-CN" sz="2800" dirty="0">
                <a:solidFill>
                  <a:srgbClr val="FF0000"/>
                </a:solidFill>
                <a:latin typeface="+mn-lt"/>
                <a:ea typeface="仿宋_GB2312" pitchFamily="49" charset="-122"/>
              </a:rPr>
              <a:t> - 1</a:t>
            </a:r>
          </a:p>
          <a:p>
            <a:pPr>
              <a:buClr>
                <a:srgbClr val="800080"/>
              </a:buClr>
              <a:buSzPct val="55000"/>
              <a:buFont typeface="Wingdings" panose="05000000000000000000" pitchFamily="2" charset="2"/>
              <a:buChar char="l"/>
            </a:pPr>
            <a:r>
              <a:rPr kumimoji="1" lang="zh-CN" altLang="en-US" sz="2800" dirty="0">
                <a:latin typeface="+mn-lt"/>
                <a:ea typeface="仿宋_GB2312" pitchFamily="49" charset="-122"/>
              </a:rPr>
              <a:t>例如计算 </a:t>
            </a:r>
            <a:r>
              <a:rPr kumimoji="1" lang="en-US" altLang="zh-CN" sz="2800" dirty="0">
                <a:solidFill>
                  <a:srgbClr val="0000FF"/>
                </a:solidFill>
                <a:latin typeface="+mn-lt"/>
                <a:ea typeface="仿宋_GB2312" pitchFamily="49" charset="-122"/>
              </a:rPr>
              <a:t>Fib(5)</a:t>
            </a:r>
            <a:r>
              <a:rPr kumimoji="1" lang="zh-CN" altLang="en-US" sz="2800" dirty="0">
                <a:latin typeface="+mn-lt"/>
                <a:ea typeface="仿宋_GB2312" pitchFamily="49" charset="-122"/>
              </a:rPr>
              <a:t>，</a:t>
            </a:r>
            <a:r>
              <a:rPr kumimoji="1" lang="en-US" altLang="zh-CN" sz="2800" dirty="0" err="1">
                <a:solidFill>
                  <a:srgbClr val="FF0000"/>
                </a:solidFill>
                <a:latin typeface="+mn-lt"/>
                <a:ea typeface="仿宋_GB2312" pitchFamily="49" charset="-122"/>
              </a:rPr>
              <a:t>NumCall</a:t>
            </a:r>
            <a:r>
              <a:rPr kumimoji="1" lang="en-US" altLang="zh-CN" sz="2800" dirty="0">
                <a:solidFill>
                  <a:srgbClr val="FF0000"/>
                </a:solidFill>
                <a:latin typeface="+mn-lt"/>
                <a:ea typeface="仿宋_GB2312" pitchFamily="49" charset="-122"/>
              </a:rPr>
              <a:t>(5) = 2*F</a:t>
            </a:r>
            <a:r>
              <a:rPr kumimoji="1" lang="en-US" altLang="zh-CN" sz="2800" baseline="-25000" dirty="0">
                <a:solidFill>
                  <a:srgbClr val="FF0000"/>
                </a:solidFill>
                <a:latin typeface="+mn-lt"/>
                <a:ea typeface="仿宋_GB2312" pitchFamily="49" charset="-122"/>
              </a:rPr>
              <a:t>6</a:t>
            </a:r>
            <a:r>
              <a:rPr kumimoji="1" lang="en-US" altLang="zh-CN" sz="2800" dirty="0">
                <a:solidFill>
                  <a:srgbClr val="FF0000"/>
                </a:solidFill>
                <a:latin typeface="+mn-lt"/>
                <a:ea typeface="仿宋_GB2312" pitchFamily="49" charset="-122"/>
              </a:rPr>
              <a:t> - 1 = 15</a:t>
            </a:r>
            <a:r>
              <a:rPr kumimoji="1" lang="zh-CN" altLang="en-US" dirty="0">
                <a:latin typeface="+mn-lt"/>
                <a:ea typeface="仿宋_GB2312" pitchFamily="49" charset="-122"/>
              </a:rPr>
              <a:t>。其中，</a:t>
            </a:r>
            <a:r>
              <a:rPr kumimoji="1" lang="en-US" altLang="zh-CN" sz="2800" dirty="0">
                <a:solidFill>
                  <a:srgbClr val="0000FF"/>
                </a:solidFill>
                <a:latin typeface="+mn-lt"/>
                <a:ea typeface="仿宋_GB2312" pitchFamily="49" charset="-122"/>
              </a:rPr>
              <a:t>Fib(5) </a:t>
            </a:r>
            <a:r>
              <a:rPr kumimoji="1" lang="zh-CN" altLang="en-US" sz="2800" dirty="0">
                <a:latin typeface="+mn-lt"/>
                <a:ea typeface="仿宋_GB2312" pitchFamily="49" charset="-122"/>
              </a:rPr>
              <a:t>计算 </a:t>
            </a:r>
            <a:r>
              <a:rPr kumimoji="1" lang="en-US" altLang="zh-CN" sz="2800" dirty="0">
                <a:solidFill>
                  <a:srgbClr val="0000FF"/>
                </a:solidFill>
                <a:latin typeface="+mn-lt"/>
                <a:ea typeface="仿宋_GB2312" pitchFamily="49" charset="-122"/>
              </a:rPr>
              <a:t>1 </a:t>
            </a:r>
            <a:r>
              <a:rPr kumimoji="1" lang="zh-CN" altLang="en-US" sz="2800" dirty="0">
                <a:latin typeface="+mn-lt"/>
                <a:ea typeface="仿宋_GB2312" pitchFamily="49" charset="-122"/>
              </a:rPr>
              <a:t>次</a:t>
            </a:r>
            <a:r>
              <a:rPr kumimoji="1" lang="en-US" altLang="zh-CN" sz="2800" dirty="0">
                <a:latin typeface="+mn-lt"/>
                <a:ea typeface="仿宋_GB2312" pitchFamily="49" charset="-122"/>
              </a:rPr>
              <a:t>(= F</a:t>
            </a:r>
            <a:r>
              <a:rPr kumimoji="1" lang="en-US" altLang="zh-CN" sz="2800" baseline="-25000" dirty="0">
                <a:latin typeface="+mn-lt"/>
                <a:ea typeface="仿宋_GB2312" pitchFamily="49" charset="-122"/>
              </a:rPr>
              <a:t>1</a:t>
            </a:r>
            <a:r>
              <a:rPr kumimoji="1" lang="en-US" altLang="zh-CN" sz="2800" dirty="0">
                <a:latin typeface="+mn-lt"/>
                <a:ea typeface="仿宋_GB2312" pitchFamily="49" charset="-122"/>
              </a:rPr>
              <a:t>),  </a:t>
            </a:r>
            <a:r>
              <a:rPr kumimoji="1" lang="en-US" altLang="zh-CN" sz="2800" dirty="0">
                <a:solidFill>
                  <a:srgbClr val="0000FF"/>
                </a:solidFill>
                <a:latin typeface="+mn-lt"/>
                <a:ea typeface="仿宋_GB2312" pitchFamily="49" charset="-122"/>
              </a:rPr>
              <a:t>Fib(4) </a:t>
            </a:r>
            <a:r>
              <a:rPr kumimoji="1" lang="zh-CN" altLang="en-US" sz="2800" dirty="0">
                <a:latin typeface="+mn-lt"/>
                <a:ea typeface="仿宋_GB2312" pitchFamily="49" charset="-122"/>
              </a:rPr>
              <a:t>计算 </a:t>
            </a:r>
            <a:r>
              <a:rPr kumimoji="1" lang="en-US" altLang="zh-CN" sz="2800" dirty="0">
                <a:solidFill>
                  <a:srgbClr val="0000FF"/>
                </a:solidFill>
                <a:latin typeface="+mn-lt"/>
                <a:ea typeface="仿宋_GB2312" pitchFamily="49" charset="-122"/>
              </a:rPr>
              <a:t>1 </a:t>
            </a:r>
            <a:r>
              <a:rPr kumimoji="1" lang="zh-CN" altLang="en-US" sz="2800" dirty="0">
                <a:latin typeface="+mn-lt"/>
                <a:ea typeface="仿宋_GB2312" pitchFamily="49" charset="-122"/>
              </a:rPr>
              <a:t>次</a:t>
            </a:r>
            <a:r>
              <a:rPr kumimoji="1" lang="en-US" altLang="zh-CN" sz="2800" dirty="0">
                <a:latin typeface="+mn-lt"/>
                <a:ea typeface="仿宋_GB2312" pitchFamily="49" charset="-122"/>
              </a:rPr>
              <a:t>(= F</a:t>
            </a:r>
            <a:r>
              <a:rPr kumimoji="1" lang="en-US" altLang="zh-CN" sz="2800" baseline="-25000" dirty="0">
                <a:latin typeface="+mn-lt"/>
                <a:ea typeface="仿宋_GB2312" pitchFamily="49" charset="-122"/>
              </a:rPr>
              <a:t>2</a:t>
            </a:r>
            <a:r>
              <a:rPr kumimoji="1" lang="en-US" altLang="zh-CN" sz="2800" dirty="0">
                <a:latin typeface="+mn-lt"/>
                <a:ea typeface="仿宋_GB2312" pitchFamily="49" charset="-122"/>
              </a:rPr>
              <a:t>), </a:t>
            </a:r>
            <a:r>
              <a:rPr kumimoji="1" lang="en-US" altLang="zh-CN" sz="2800" dirty="0">
                <a:solidFill>
                  <a:srgbClr val="0000FF"/>
                </a:solidFill>
                <a:latin typeface="+mn-lt"/>
                <a:ea typeface="仿宋_GB2312" pitchFamily="49" charset="-122"/>
              </a:rPr>
              <a:t>Fib(3) </a:t>
            </a:r>
            <a:r>
              <a:rPr kumimoji="1" lang="zh-CN" altLang="en-US" sz="2800" dirty="0">
                <a:latin typeface="+mn-lt"/>
                <a:ea typeface="仿宋_GB2312" pitchFamily="49" charset="-122"/>
              </a:rPr>
              <a:t>计算 </a:t>
            </a:r>
            <a:r>
              <a:rPr kumimoji="1" lang="en-US" altLang="zh-CN" sz="2800" dirty="0">
                <a:solidFill>
                  <a:srgbClr val="0000FF"/>
                </a:solidFill>
                <a:latin typeface="+mn-lt"/>
                <a:ea typeface="仿宋_GB2312" pitchFamily="49" charset="-122"/>
              </a:rPr>
              <a:t>2 </a:t>
            </a:r>
            <a:r>
              <a:rPr kumimoji="1" lang="zh-CN" altLang="en-US" sz="2800" dirty="0">
                <a:latin typeface="+mn-lt"/>
                <a:ea typeface="仿宋_GB2312" pitchFamily="49" charset="-122"/>
              </a:rPr>
              <a:t>次</a:t>
            </a:r>
            <a:r>
              <a:rPr kumimoji="1" lang="en-US" altLang="zh-CN" sz="2800" dirty="0">
                <a:latin typeface="+mn-lt"/>
                <a:ea typeface="仿宋_GB2312" pitchFamily="49" charset="-122"/>
              </a:rPr>
              <a:t>(=F</a:t>
            </a:r>
            <a:r>
              <a:rPr kumimoji="1" lang="en-US" altLang="zh-CN" sz="2800" baseline="-25000" dirty="0">
                <a:latin typeface="+mn-lt"/>
                <a:ea typeface="仿宋_GB2312" pitchFamily="49" charset="-122"/>
              </a:rPr>
              <a:t>3</a:t>
            </a:r>
            <a:r>
              <a:rPr kumimoji="1" lang="en-US" altLang="zh-CN" sz="2800" dirty="0">
                <a:latin typeface="+mn-lt"/>
                <a:ea typeface="仿宋_GB2312" pitchFamily="49" charset="-122"/>
              </a:rPr>
              <a:t>),  </a:t>
            </a:r>
            <a:r>
              <a:rPr kumimoji="1" lang="en-US" altLang="zh-CN" sz="2800" dirty="0">
                <a:solidFill>
                  <a:srgbClr val="0000FF"/>
                </a:solidFill>
                <a:latin typeface="+mn-lt"/>
                <a:ea typeface="仿宋_GB2312" pitchFamily="49" charset="-122"/>
              </a:rPr>
              <a:t>Fib(2) </a:t>
            </a:r>
            <a:r>
              <a:rPr kumimoji="1" lang="zh-CN" altLang="en-US" sz="2800" dirty="0">
                <a:latin typeface="+mn-lt"/>
                <a:ea typeface="仿宋_GB2312" pitchFamily="49" charset="-122"/>
              </a:rPr>
              <a:t>计算 </a:t>
            </a:r>
            <a:r>
              <a:rPr kumimoji="1" lang="en-US" altLang="zh-CN" sz="2800" dirty="0">
                <a:solidFill>
                  <a:srgbClr val="0000FF"/>
                </a:solidFill>
                <a:latin typeface="+mn-lt"/>
                <a:ea typeface="仿宋_GB2312" pitchFamily="49" charset="-122"/>
              </a:rPr>
              <a:t>3</a:t>
            </a:r>
            <a:r>
              <a:rPr kumimoji="1" lang="en-US" altLang="zh-CN" sz="2800" dirty="0">
                <a:latin typeface="+mn-lt"/>
                <a:ea typeface="仿宋_GB2312" pitchFamily="49" charset="-122"/>
              </a:rPr>
              <a:t> </a:t>
            </a:r>
            <a:r>
              <a:rPr kumimoji="1" lang="zh-CN" altLang="en-US" sz="2800" dirty="0">
                <a:latin typeface="+mn-lt"/>
                <a:ea typeface="仿宋_GB2312" pitchFamily="49" charset="-122"/>
              </a:rPr>
              <a:t>次</a:t>
            </a:r>
            <a:r>
              <a:rPr kumimoji="1" lang="en-US" altLang="zh-CN" sz="2800" dirty="0">
                <a:latin typeface="+mn-lt"/>
                <a:ea typeface="仿宋_GB2312" pitchFamily="49" charset="-122"/>
              </a:rPr>
              <a:t>(=F</a:t>
            </a:r>
            <a:r>
              <a:rPr kumimoji="1" lang="en-US" altLang="zh-CN" sz="2800" baseline="-25000" dirty="0">
                <a:latin typeface="+mn-lt"/>
                <a:ea typeface="仿宋_GB2312" pitchFamily="49" charset="-122"/>
              </a:rPr>
              <a:t>4</a:t>
            </a:r>
            <a:r>
              <a:rPr kumimoji="1" lang="en-US" altLang="zh-CN" sz="2800" dirty="0">
                <a:latin typeface="+mn-lt"/>
                <a:ea typeface="仿宋_GB2312" pitchFamily="49" charset="-122"/>
              </a:rPr>
              <a:t>),  </a:t>
            </a:r>
            <a:r>
              <a:rPr kumimoji="1" lang="en-US" altLang="zh-CN" sz="2800" dirty="0">
                <a:solidFill>
                  <a:srgbClr val="0000FF"/>
                </a:solidFill>
                <a:latin typeface="+mn-lt"/>
                <a:ea typeface="仿宋_GB2312" pitchFamily="49" charset="-122"/>
              </a:rPr>
              <a:t>Fib(1) </a:t>
            </a:r>
            <a:r>
              <a:rPr kumimoji="1" lang="zh-CN" altLang="en-US" sz="2800" dirty="0">
                <a:latin typeface="+mn-lt"/>
                <a:ea typeface="仿宋_GB2312" pitchFamily="49" charset="-122"/>
              </a:rPr>
              <a:t>计算 </a:t>
            </a:r>
            <a:r>
              <a:rPr kumimoji="1" lang="en-US" altLang="zh-CN" sz="2800" dirty="0">
                <a:solidFill>
                  <a:srgbClr val="0000FF"/>
                </a:solidFill>
                <a:latin typeface="+mn-lt"/>
                <a:ea typeface="仿宋_GB2312" pitchFamily="49" charset="-122"/>
              </a:rPr>
              <a:t>5</a:t>
            </a:r>
            <a:r>
              <a:rPr kumimoji="1" lang="en-US" altLang="zh-CN" sz="2800" dirty="0">
                <a:latin typeface="+mn-lt"/>
                <a:ea typeface="仿宋_GB2312" pitchFamily="49" charset="-122"/>
              </a:rPr>
              <a:t> </a:t>
            </a:r>
            <a:r>
              <a:rPr kumimoji="1" lang="zh-CN" altLang="en-US" sz="2800" dirty="0">
                <a:latin typeface="+mn-lt"/>
                <a:ea typeface="仿宋_GB2312" pitchFamily="49" charset="-122"/>
              </a:rPr>
              <a:t>次</a:t>
            </a:r>
            <a:r>
              <a:rPr kumimoji="1" lang="en-US" altLang="zh-CN" sz="2800" dirty="0">
                <a:latin typeface="+mn-lt"/>
                <a:ea typeface="仿宋_GB2312" pitchFamily="49" charset="-122"/>
              </a:rPr>
              <a:t>(=F</a:t>
            </a:r>
            <a:r>
              <a:rPr kumimoji="1" lang="en-US" altLang="zh-CN" sz="2800" baseline="-25000" dirty="0">
                <a:latin typeface="+mn-lt"/>
                <a:ea typeface="仿宋_GB2312" pitchFamily="49" charset="-122"/>
              </a:rPr>
              <a:t>5</a:t>
            </a:r>
            <a:r>
              <a:rPr kumimoji="1" lang="en-US" altLang="zh-CN" sz="2800" dirty="0">
                <a:latin typeface="+mn-lt"/>
                <a:ea typeface="仿宋_GB2312" pitchFamily="49" charset="-122"/>
              </a:rPr>
              <a:t>),  </a:t>
            </a:r>
            <a:r>
              <a:rPr kumimoji="1" lang="en-US" altLang="zh-CN" sz="2800" dirty="0">
                <a:solidFill>
                  <a:srgbClr val="0000FF"/>
                </a:solidFill>
                <a:latin typeface="+mn-lt"/>
                <a:ea typeface="仿宋_GB2312" pitchFamily="49" charset="-122"/>
              </a:rPr>
              <a:t>Fib(0) </a:t>
            </a:r>
            <a:r>
              <a:rPr kumimoji="1" lang="zh-CN" altLang="en-US" sz="2800" dirty="0">
                <a:latin typeface="+mn-lt"/>
                <a:ea typeface="仿宋_GB2312" pitchFamily="49" charset="-122"/>
              </a:rPr>
              <a:t>计算 </a:t>
            </a:r>
            <a:r>
              <a:rPr kumimoji="1" lang="en-US" altLang="zh-CN" sz="2800" dirty="0">
                <a:solidFill>
                  <a:srgbClr val="0000FF"/>
                </a:solidFill>
                <a:latin typeface="+mn-lt"/>
                <a:ea typeface="仿宋_GB2312" pitchFamily="49" charset="-122"/>
              </a:rPr>
              <a:t>3</a:t>
            </a:r>
            <a:r>
              <a:rPr kumimoji="1" lang="en-US" altLang="zh-CN" sz="2800" dirty="0">
                <a:latin typeface="+mn-lt"/>
                <a:ea typeface="仿宋_GB2312" pitchFamily="49" charset="-122"/>
              </a:rPr>
              <a:t> </a:t>
            </a:r>
            <a:r>
              <a:rPr kumimoji="1" lang="zh-CN" altLang="en-US" sz="2800" dirty="0">
                <a:latin typeface="+mn-lt"/>
                <a:ea typeface="仿宋_GB2312" pitchFamily="49" charset="-122"/>
              </a:rPr>
              <a:t>次</a:t>
            </a:r>
            <a:r>
              <a:rPr kumimoji="1" lang="en-US" altLang="zh-CN" sz="2800" dirty="0">
                <a:latin typeface="+mn-lt"/>
                <a:ea typeface="仿宋_GB2312" pitchFamily="49" charset="-122"/>
              </a:rPr>
              <a:t>(=F</a:t>
            </a:r>
            <a:r>
              <a:rPr kumimoji="1" lang="en-US" altLang="zh-CN" sz="2800" baseline="-25000" dirty="0">
                <a:latin typeface="+mn-lt"/>
                <a:ea typeface="仿宋_GB2312" pitchFamily="49" charset="-122"/>
              </a:rPr>
              <a:t>4</a:t>
            </a:r>
            <a:r>
              <a:rPr kumimoji="1" lang="en-US" altLang="zh-CN" sz="2800" dirty="0">
                <a:latin typeface="+mn-lt"/>
                <a:ea typeface="仿宋_GB2312" pitchFamily="49" charset="-122"/>
              </a:rPr>
              <a:t>)</a:t>
            </a:r>
            <a:r>
              <a:rPr kumimoji="1" lang="zh-CN" altLang="en-US" sz="2800" dirty="0">
                <a:latin typeface="+mn-lt"/>
                <a:ea typeface="仿宋_GB2312" pitchFamily="49" charset="-122"/>
              </a:rPr>
              <a:t>。</a:t>
            </a:r>
            <a:r>
              <a:rPr kumimoji="1" lang="zh-CN" altLang="en-US" sz="2800" dirty="0">
                <a:latin typeface="+mn-lt"/>
                <a:ea typeface="+mn-ea"/>
              </a:rPr>
              <a:t>递归深度达到 </a:t>
            </a:r>
            <a:r>
              <a:rPr kumimoji="1" lang="en-US" altLang="zh-CN" sz="2800" dirty="0">
                <a:latin typeface="+mn-lt"/>
                <a:ea typeface="+mn-ea"/>
              </a:rPr>
              <a:t>5</a:t>
            </a:r>
            <a:r>
              <a:rPr kumimoji="1" lang="zh-CN" altLang="en-US" sz="2800" dirty="0">
                <a:latin typeface="+mn-lt"/>
                <a:ea typeface="+mn-ea"/>
              </a:rPr>
              <a:t>。</a:t>
            </a:r>
          </a:p>
          <a:p>
            <a:pPr>
              <a:buClr>
                <a:srgbClr val="800080"/>
              </a:buClr>
              <a:buSzPct val="55000"/>
              <a:buFont typeface="Wingdings" panose="05000000000000000000" pitchFamily="2" charset="2"/>
              <a:buChar char="l"/>
            </a:pPr>
            <a:r>
              <a:rPr lang="zh-CN" altLang="en-US" sz="2800" dirty="0">
                <a:solidFill>
                  <a:srgbClr val="0000FF"/>
                </a:solidFill>
                <a:latin typeface="+mn-lt"/>
                <a:ea typeface="+mn-ea"/>
              </a:rPr>
              <a:t>改为非递归过程的目的是提高效率</a:t>
            </a:r>
            <a:r>
              <a:rPr lang="zh-CN" altLang="en-US" sz="2800" dirty="0">
                <a:solidFill>
                  <a:srgbClr val="003366"/>
                </a:solidFill>
                <a:latin typeface="+mn-lt"/>
                <a:ea typeface="+mn-ea"/>
              </a:rPr>
              <a:t>。</a:t>
            </a:r>
            <a:endParaRPr lang="en-US" altLang="zh-CN" sz="2800" dirty="0">
              <a:solidFill>
                <a:srgbClr val="003366"/>
              </a:solidFill>
              <a:latin typeface="+mn-lt"/>
              <a:ea typeface="+mn-ea"/>
            </a:endParaRPr>
          </a:p>
          <a:p>
            <a:pPr>
              <a:buClr>
                <a:srgbClr val="800080"/>
              </a:buClr>
              <a:buSzPct val="55000"/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FF0000"/>
                </a:solidFill>
                <a:latin typeface="+mn-lt"/>
                <a:ea typeface="+mn-ea"/>
              </a:rPr>
              <a:t>单向递归</a:t>
            </a:r>
            <a:r>
              <a:rPr lang="zh-CN" altLang="en-US" dirty="0">
                <a:latin typeface="+mn-lt"/>
                <a:ea typeface="+mn-ea"/>
              </a:rPr>
              <a:t>和</a:t>
            </a:r>
            <a:r>
              <a:rPr lang="zh-CN" altLang="en-US" dirty="0">
                <a:solidFill>
                  <a:srgbClr val="FF0000"/>
                </a:solidFill>
                <a:latin typeface="+mn-lt"/>
                <a:ea typeface="+mn-ea"/>
              </a:rPr>
              <a:t>尾递归</a:t>
            </a:r>
            <a:r>
              <a:rPr lang="zh-CN" altLang="en-US" dirty="0">
                <a:latin typeface="+mn-lt"/>
                <a:ea typeface="+mn-ea"/>
              </a:rPr>
              <a:t>可直接用</a:t>
            </a:r>
            <a:r>
              <a:rPr lang="zh-CN" altLang="en-US" dirty="0">
                <a:solidFill>
                  <a:srgbClr val="0000FF"/>
                </a:solidFill>
                <a:latin typeface="+mn-lt"/>
                <a:ea typeface="+mn-ea"/>
              </a:rPr>
              <a:t>迭代</a:t>
            </a:r>
            <a:r>
              <a:rPr lang="zh-CN" altLang="en-US" dirty="0">
                <a:latin typeface="+mn-lt"/>
                <a:ea typeface="+mn-ea"/>
              </a:rPr>
              <a:t>实现其非递归过程，其他情形必须借助</a:t>
            </a:r>
            <a:r>
              <a:rPr lang="zh-CN" altLang="en-US" dirty="0">
                <a:solidFill>
                  <a:srgbClr val="0000FF"/>
                </a:solidFill>
                <a:latin typeface="+mn-lt"/>
                <a:ea typeface="+mn-ea"/>
              </a:rPr>
              <a:t>栈</a:t>
            </a:r>
            <a:r>
              <a:rPr lang="zh-CN" altLang="en-US" dirty="0">
                <a:latin typeface="+mn-lt"/>
                <a:ea typeface="+mn-ea"/>
              </a:rPr>
              <a:t>实现非递归过程。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BEE8230-E0A6-47E7-85D8-3C8C01FC48A5}"/>
              </a:ext>
            </a:extLst>
          </p:cNvPr>
          <p:cNvSpPr txBox="1">
            <a:spLocks noChangeArrowheads="1"/>
          </p:cNvSpPr>
          <p:nvPr/>
        </p:nvSpPr>
        <p:spPr>
          <a:xfrm>
            <a:off x="940066" y="-10443"/>
            <a:ext cx="8229600" cy="91916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1"/>
                </a:solidFill>
                <a:latin typeface="+mj-lt"/>
                <a:ea typeface="微软雅黑" panose="020B0503020204020204" pitchFamily="34" charset="-122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</a:defRPr>
            </a:lvl5pPr>
            <a:lvl6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accent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itchFamily="49" charset="-122"/>
              </a:defRPr>
            </a:lvl6pPr>
            <a:lvl7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accent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itchFamily="49" charset="-122"/>
              </a:defRPr>
            </a:lvl7pPr>
            <a:lvl8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accent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itchFamily="49" charset="-122"/>
              </a:defRPr>
            </a:lvl8pPr>
            <a:lvl9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accent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itchFamily="49" charset="-122"/>
              </a:defRPr>
            </a:lvl9pPr>
          </a:lstStyle>
          <a:p>
            <a:r>
              <a:rPr kumimoji="1" lang="zh-CN" altLang="en-US" b="0" kern="0" dirty="0">
                <a:latin typeface="+mn-ea"/>
                <a:ea typeface="+mn-ea"/>
              </a:rPr>
              <a:t>求解斐波那契数列的递归算法</a:t>
            </a:r>
            <a:endParaRPr lang="zh-CN" altLang="en-US" b="0" kern="0" dirty="0"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458" name="Rectangle 2">
            <a:extLst>
              <a:ext uri="{FF2B5EF4-FFF2-40B4-BE49-F238E27FC236}">
                <a16:creationId xmlns:a16="http://schemas.microsoft.com/office/drawing/2014/main" id="{EFFC3766-6290-48E1-BCC4-038685DEF46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51520" y="764704"/>
            <a:ext cx="8568952" cy="6076824"/>
          </a:xfrm>
        </p:spPr>
        <p:txBody>
          <a:bodyPr/>
          <a:lstStyle/>
          <a:p>
            <a:pPr marL="0" indent="0">
              <a:buClr>
                <a:srgbClr val="800080"/>
              </a:buClr>
              <a:buSzPct val="55000"/>
              <a:buNone/>
            </a:pPr>
            <a:r>
              <a:rPr kumimoji="1" lang="zh-CN" altLang="en-US" dirty="0">
                <a:solidFill>
                  <a:srgbClr val="FF0000"/>
                </a:solidFill>
                <a:latin typeface="+mn-ea"/>
                <a:ea typeface="+mn-ea"/>
              </a:rPr>
              <a:t>尾递归</a:t>
            </a:r>
            <a:r>
              <a:rPr kumimoji="1" lang="zh-CN" altLang="en-US" dirty="0">
                <a:latin typeface="+mn-ea"/>
                <a:ea typeface="+mn-ea"/>
              </a:rPr>
              <a:t>是指函数中</a:t>
            </a:r>
            <a:r>
              <a:rPr kumimoji="1" lang="zh-CN" altLang="en-US" dirty="0">
                <a:solidFill>
                  <a:srgbClr val="0000FF"/>
                </a:solidFill>
                <a:latin typeface="+mn-ea"/>
                <a:ea typeface="+mn-ea"/>
              </a:rPr>
              <a:t>只有一个递归语句，且在函数体的最后</a:t>
            </a:r>
            <a:r>
              <a:rPr kumimoji="1" lang="zh-CN" altLang="en-US" dirty="0">
                <a:latin typeface="+mn-ea"/>
                <a:ea typeface="+mn-ea"/>
              </a:rPr>
              <a:t>。这时递归栈保存的内容无需再利用，所以不需要使用栈即可实现所要求功能。</a:t>
            </a:r>
            <a:endParaRPr kumimoji="1" lang="en-US" altLang="zh-CN" dirty="0">
              <a:latin typeface="+mn-ea"/>
              <a:ea typeface="+mn-ea"/>
            </a:endParaRPr>
          </a:p>
          <a:p>
            <a:pPr marL="0" lvl="1" indent="-114300">
              <a:buClr>
                <a:srgbClr val="800080"/>
              </a:buClr>
              <a:buSzPct val="55000"/>
              <a:buNone/>
            </a:pPr>
            <a:r>
              <a:rPr kumimoji="1" lang="zh-CN" altLang="en-US" dirty="0">
                <a:latin typeface="+mn-ea"/>
                <a:ea typeface="+mn-ea"/>
              </a:rPr>
              <a:t>例如，反向输出数组 </a:t>
            </a:r>
            <a:r>
              <a:rPr kumimoji="1" lang="en-US" altLang="zh-CN" dirty="0">
                <a:latin typeface="+mn-ea"/>
                <a:ea typeface="+mn-ea"/>
              </a:rPr>
              <a:t>A </a:t>
            </a:r>
            <a:r>
              <a:rPr kumimoji="1" lang="zh-CN" altLang="en-US" dirty="0">
                <a:latin typeface="+mn-ea"/>
                <a:ea typeface="+mn-ea"/>
              </a:rPr>
              <a:t>的元素值：</a:t>
            </a:r>
          </a:p>
          <a:p>
            <a:pPr>
              <a:buFont typeface="Wingdings" panose="05000000000000000000" pitchFamily="2" charset="2"/>
              <a:buNone/>
            </a:pPr>
            <a:r>
              <a:rPr kumimoji="1" lang="en-US" altLang="zh-CN" sz="2400" dirty="0">
                <a:latin typeface="+mn-lt"/>
                <a:ea typeface="+mn-ea"/>
              </a:rPr>
              <a:t>    void </a:t>
            </a:r>
            <a:r>
              <a:rPr kumimoji="1" lang="en-US" altLang="zh-CN" sz="2400" dirty="0" err="1">
                <a:solidFill>
                  <a:srgbClr val="0000FF"/>
                </a:solidFill>
                <a:latin typeface="+mn-lt"/>
                <a:ea typeface="+mn-ea"/>
              </a:rPr>
              <a:t>recfunc</a:t>
            </a:r>
            <a:r>
              <a:rPr kumimoji="1" lang="en-US" altLang="zh-CN" sz="2400" dirty="0">
                <a:solidFill>
                  <a:srgbClr val="0000FF"/>
                </a:solidFill>
                <a:latin typeface="+mn-lt"/>
                <a:ea typeface="+mn-ea"/>
              </a:rPr>
              <a:t> </a:t>
            </a:r>
            <a:r>
              <a:rPr kumimoji="1" lang="en-US" altLang="zh-CN" sz="2400" dirty="0">
                <a:latin typeface="+mn-lt"/>
                <a:ea typeface="+mn-ea"/>
              </a:rPr>
              <a:t>(int A[ ],  int n) {</a:t>
            </a:r>
          </a:p>
          <a:p>
            <a:pPr>
              <a:buFont typeface="Wingdings" panose="05000000000000000000" pitchFamily="2" charset="2"/>
              <a:buNone/>
            </a:pPr>
            <a:r>
              <a:rPr kumimoji="1" lang="en-US" altLang="zh-CN" sz="2400" dirty="0">
                <a:latin typeface="+mn-lt"/>
                <a:ea typeface="+mn-ea"/>
              </a:rPr>
              <a:t>        if (n &gt;= 0) {</a:t>
            </a:r>
          </a:p>
          <a:p>
            <a:pPr>
              <a:buFont typeface="Wingdings" panose="05000000000000000000" pitchFamily="2" charset="2"/>
              <a:buNone/>
            </a:pPr>
            <a:r>
              <a:rPr kumimoji="1" lang="en-US" altLang="zh-CN" sz="2400" dirty="0">
                <a:latin typeface="+mn-lt"/>
                <a:ea typeface="+mn-ea"/>
              </a:rPr>
              <a:t>            </a:t>
            </a:r>
            <a:r>
              <a:rPr kumimoji="1" lang="en-US" altLang="zh-CN" sz="2400" dirty="0" err="1">
                <a:latin typeface="+mn-lt"/>
                <a:ea typeface="+mn-ea"/>
              </a:rPr>
              <a:t>cout</a:t>
            </a:r>
            <a:r>
              <a:rPr kumimoji="1" lang="en-US" altLang="zh-CN" sz="2400" dirty="0">
                <a:latin typeface="+mn-lt"/>
                <a:ea typeface="+mn-ea"/>
              </a:rPr>
              <a:t> &lt;&lt; A[n] &lt;&lt; “ ”;     </a:t>
            </a:r>
            <a:r>
              <a:rPr kumimoji="1" lang="en-US" altLang="zh-CN" sz="2400" dirty="0">
                <a:solidFill>
                  <a:srgbClr val="00B050"/>
                </a:solidFill>
                <a:latin typeface="+mn-lt"/>
                <a:ea typeface="+mn-ea"/>
              </a:rPr>
              <a:t>// </a:t>
            </a:r>
            <a:r>
              <a:rPr kumimoji="1" lang="zh-CN" altLang="en-US" sz="2400" dirty="0">
                <a:solidFill>
                  <a:srgbClr val="00B050"/>
                </a:solidFill>
                <a:latin typeface="+mn-lt"/>
                <a:ea typeface="+mn-ea"/>
              </a:rPr>
              <a:t>输出当前元素值</a:t>
            </a:r>
          </a:p>
          <a:p>
            <a:pPr>
              <a:buFont typeface="Wingdings" panose="05000000000000000000" pitchFamily="2" charset="2"/>
              <a:buNone/>
            </a:pPr>
            <a:r>
              <a:rPr kumimoji="1" lang="en-US" altLang="zh-CN" sz="2400" dirty="0">
                <a:latin typeface="+mn-lt"/>
                <a:ea typeface="+mn-ea"/>
              </a:rPr>
              <a:t>            </a:t>
            </a:r>
            <a:r>
              <a:rPr kumimoji="1" lang="en-US" altLang="zh-CN" sz="2400" dirty="0" err="1">
                <a:solidFill>
                  <a:srgbClr val="0000FF"/>
                </a:solidFill>
                <a:latin typeface="+mn-lt"/>
                <a:ea typeface="+mn-ea"/>
              </a:rPr>
              <a:t>recfunc</a:t>
            </a:r>
            <a:r>
              <a:rPr kumimoji="1" lang="en-US" altLang="zh-CN" sz="2400" dirty="0">
                <a:solidFill>
                  <a:srgbClr val="0000FF"/>
                </a:solidFill>
                <a:latin typeface="+mn-lt"/>
                <a:ea typeface="+mn-ea"/>
              </a:rPr>
              <a:t> (A, n-1);</a:t>
            </a:r>
            <a:r>
              <a:rPr kumimoji="1" lang="en-US" altLang="zh-CN" sz="2400" dirty="0">
                <a:latin typeface="+mn-lt"/>
                <a:ea typeface="+mn-ea"/>
              </a:rPr>
              <a:t>	  </a:t>
            </a:r>
            <a:r>
              <a:rPr kumimoji="1" lang="en-US" altLang="zh-CN" sz="2400" dirty="0">
                <a:solidFill>
                  <a:srgbClr val="00B050"/>
                </a:solidFill>
                <a:latin typeface="+mn-lt"/>
                <a:ea typeface="+mn-ea"/>
              </a:rPr>
              <a:t>// </a:t>
            </a:r>
            <a:r>
              <a:rPr kumimoji="1" lang="zh-CN" altLang="en-US" sz="2400" dirty="0">
                <a:solidFill>
                  <a:srgbClr val="00B050"/>
                </a:solidFill>
                <a:latin typeface="+mn-lt"/>
                <a:ea typeface="+mn-ea"/>
              </a:rPr>
              <a:t>递归输出前面的值</a:t>
            </a:r>
          </a:p>
          <a:p>
            <a:pPr>
              <a:buFont typeface="Wingdings" panose="05000000000000000000" pitchFamily="2" charset="2"/>
              <a:buNone/>
            </a:pPr>
            <a:r>
              <a:rPr kumimoji="1" lang="zh-CN" altLang="en-US" sz="2400" dirty="0">
                <a:latin typeface="+mn-lt"/>
                <a:ea typeface="+mn-ea"/>
              </a:rPr>
              <a:t>        </a:t>
            </a:r>
            <a:r>
              <a:rPr kumimoji="1" lang="en-US" altLang="zh-CN" sz="2400" dirty="0">
                <a:latin typeface="+mn-lt"/>
                <a:ea typeface="+mn-ea"/>
              </a:rPr>
              <a:t>}</a:t>
            </a:r>
          </a:p>
          <a:p>
            <a:pPr>
              <a:buFont typeface="Wingdings" panose="05000000000000000000" pitchFamily="2" charset="2"/>
              <a:buNone/>
            </a:pPr>
            <a:r>
              <a:rPr kumimoji="1" lang="en-US" altLang="zh-CN" sz="2400" dirty="0">
                <a:latin typeface="+mn-lt"/>
                <a:ea typeface="+mn-ea"/>
              </a:rPr>
              <a:t>    } </a:t>
            </a:r>
          </a:p>
        </p:txBody>
      </p:sp>
      <p:sp>
        <p:nvSpPr>
          <p:cNvPr id="531459" name="Rectangle 3">
            <a:extLst>
              <a:ext uri="{FF2B5EF4-FFF2-40B4-BE49-F238E27FC236}">
                <a16:creationId xmlns:a16="http://schemas.microsoft.com/office/drawing/2014/main" id="{802EBFAF-270A-4745-B20C-A5CEFEF8763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14400" y="16472"/>
            <a:ext cx="8229600" cy="919163"/>
          </a:xfrm>
        </p:spPr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</a:rPr>
              <a:t>尾递归的迭代实现</a:t>
            </a:r>
          </a:p>
        </p:txBody>
      </p:sp>
      <p:grpSp>
        <p:nvGrpSpPr>
          <p:cNvPr id="4" name="Group 2">
            <a:extLst>
              <a:ext uri="{FF2B5EF4-FFF2-40B4-BE49-F238E27FC236}">
                <a16:creationId xmlns:a16="http://schemas.microsoft.com/office/drawing/2014/main" id="{8058E562-D1E1-4812-8D82-2C0C78F92D1F}"/>
              </a:ext>
            </a:extLst>
          </p:cNvPr>
          <p:cNvGrpSpPr>
            <a:grpSpLocks/>
          </p:cNvGrpSpPr>
          <p:nvPr/>
        </p:nvGrpSpPr>
        <p:grpSpPr bwMode="auto">
          <a:xfrm>
            <a:off x="1970856" y="5768355"/>
            <a:ext cx="6705600" cy="533400"/>
            <a:chOff x="624" y="960"/>
            <a:chExt cx="4224" cy="336"/>
          </a:xfrm>
        </p:grpSpPr>
        <p:sp>
          <p:nvSpPr>
            <p:cNvPr id="5" name="Rectangle 3">
              <a:extLst>
                <a:ext uri="{FF2B5EF4-FFF2-40B4-BE49-F238E27FC236}">
                  <a16:creationId xmlns:a16="http://schemas.microsoft.com/office/drawing/2014/main" id="{342FC5DF-2637-4E4F-B9EB-5843D6691A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4" y="960"/>
              <a:ext cx="4224" cy="336"/>
            </a:xfrm>
            <a:prstGeom prst="rect">
              <a:avLst/>
            </a:prstGeom>
            <a:solidFill>
              <a:srgbClr val="FFFFCC"/>
            </a:solidFill>
            <a:ln w="28575">
              <a:solidFill>
                <a:srgbClr val="008000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r>
                <a:rPr kumimoji="1" lang="en-US" altLang="zh-CN" sz="2400" baseline="0">
                  <a:latin typeface="Times New Roman" panose="02020603050405020304" pitchFamily="18" charset="0"/>
                </a:rPr>
                <a:t>  </a:t>
              </a:r>
              <a:r>
                <a:rPr kumimoji="1" lang="en-US" altLang="zh-CN" sz="3200" b="1" baseline="0">
                  <a:solidFill>
                    <a:srgbClr val="CC0099"/>
                  </a:solidFill>
                  <a:latin typeface="Times New Roman" panose="02020603050405020304" pitchFamily="18" charset="0"/>
                </a:rPr>
                <a:t>25    36    72    18    99     49    54    63</a:t>
              </a:r>
              <a:r>
                <a:rPr kumimoji="1" lang="en-US" altLang="zh-CN" sz="3200" baseline="0">
                  <a:solidFill>
                    <a:srgbClr val="CC0099"/>
                  </a:solidFill>
                  <a:latin typeface="Times New Roman" panose="02020603050405020304" pitchFamily="18" charset="0"/>
                </a:rPr>
                <a:t>  </a:t>
              </a:r>
              <a:endParaRPr kumimoji="1" lang="en-US" altLang="zh-CN" sz="2400" baseline="0">
                <a:latin typeface="Times New Roman" panose="02020603050405020304" pitchFamily="18" charset="0"/>
              </a:endParaRPr>
            </a:p>
          </p:txBody>
        </p:sp>
        <p:sp>
          <p:nvSpPr>
            <p:cNvPr id="6" name="Line 4">
              <a:extLst>
                <a:ext uri="{FF2B5EF4-FFF2-40B4-BE49-F238E27FC236}">
                  <a16:creationId xmlns:a16="http://schemas.microsoft.com/office/drawing/2014/main" id="{ADF5B9C5-CD1E-4001-BEB5-D3F608114CE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52" y="960"/>
              <a:ext cx="0" cy="336"/>
            </a:xfrm>
            <a:prstGeom prst="line">
              <a:avLst/>
            </a:prstGeom>
            <a:noFill/>
            <a:ln w="28575">
              <a:solidFill>
                <a:srgbClr val="008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" name="Line 5">
              <a:extLst>
                <a:ext uri="{FF2B5EF4-FFF2-40B4-BE49-F238E27FC236}">
                  <a16:creationId xmlns:a16="http://schemas.microsoft.com/office/drawing/2014/main" id="{DE5E8E57-047B-4ED5-B2D3-F9A5A01E762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80" y="960"/>
              <a:ext cx="0" cy="336"/>
            </a:xfrm>
            <a:prstGeom prst="line">
              <a:avLst/>
            </a:prstGeom>
            <a:noFill/>
            <a:ln w="28575">
              <a:solidFill>
                <a:srgbClr val="008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" name="Line 6">
              <a:extLst>
                <a:ext uri="{FF2B5EF4-FFF2-40B4-BE49-F238E27FC236}">
                  <a16:creationId xmlns:a16="http://schemas.microsoft.com/office/drawing/2014/main" id="{E37FC5D0-1FC9-4EDC-8E5F-F30DDDF0506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08" y="960"/>
              <a:ext cx="0" cy="336"/>
            </a:xfrm>
            <a:prstGeom prst="line">
              <a:avLst/>
            </a:prstGeom>
            <a:noFill/>
            <a:ln w="28575">
              <a:solidFill>
                <a:srgbClr val="008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" name="Line 7">
              <a:extLst>
                <a:ext uri="{FF2B5EF4-FFF2-40B4-BE49-F238E27FC236}">
                  <a16:creationId xmlns:a16="http://schemas.microsoft.com/office/drawing/2014/main" id="{42306ABE-27C6-4EC3-9809-B46DAF15C43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36" y="960"/>
              <a:ext cx="0" cy="336"/>
            </a:xfrm>
            <a:prstGeom prst="line">
              <a:avLst/>
            </a:prstGeom>
            <a:noFill/>
            <a:ln w="28575">
              <a:solidFill>
                <a:srgbClr val="008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" name="Line 8">
              <a:extLst>
                <a:ext uri="{FF2B5EF4-FFF2-40B4-BE49-F238E27FC236}">
                  <a16:creationId xmlns:a16="http://schemas.microsoft.com/office/drawing/2014/main" id="{8D7B7EDC-A71C-46B2-B4E7-9358DFD746D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64" y="960"/>
              <a:ext cx="0" cy="336"/>
            </a:xfrm>
            <a:prstGeom prst="line">
              <a:avLst/>
            </a:prstGeom>
            <a:noFill/>
            <a:ln w="28575">
              <a:solidFill>
                <a:srgbClr val="008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" name="Line 9">
              <a:extLst>
                <a:ext uri="{FF2B5EF4-FFF2-40B4-BE49-F238E27FC236}">
                  <a16:creationId xmlns:a16="http://schemas.microsoft.com/office/drawing/2014/main" id="{8266E5F8-C5D6-4881-A7FB-5BC23F47D23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92" y="960"/>
              <a:ext cx="0" cy="336"/>
            </a:xfrm>
            <a:prstGeom prst="line">
              <a:avLst/>
            </a:prstGeom>
            <a:noFill/>
            <a:ln w="28575">
              <a:solidFill>
                <a:srgbClr val="008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" name="Line 10">
              <a:extLst>
                <a:ext uri="{FF2B5EF4-FFF2-40B4-BE49-F238E27FC236}">
                  <a16:creationId xmlns:a16="http://schemas.microsoft.com/office/drawing/2014/main" id="{5B2A861C-96FF-44FA-B046-B4A756D79D2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20" y="960"/>
              <a:ext cx="0" cy="336"/>
            </a:xfrm>
            <a:prstGeom prst="line">
              <a:avLst/>
            </a:prstGeom>
            <a:noFill/>
            <a:ln w="28575">
              <a:solidFill>
                <a:srgbClr val="008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3" name="Group 15">
            <a:extLst>
              <a:ext uri="{FF2B5EF4-FFF2-40B4-BE49-F238E27FC236}">
                <a16:creationId xmlns:a16="http://schemas.microsoft.com/office/drawing/2014/main" id="{27CA7A88-1697-4523-A887-1B8E0207F336}"/>
              </a:ext>
            </a:extLst>
          </p:cNvPr>
          <p:cNvGrpSpPr>
            <a:grpSpLocks/>
          </p:cNvGrpSpPr>
          <p:nvPr/>
        </p:nvGrpSpPr>
        <p:grpSpPr bwMode="auto">
          <a:xfrm>
            <a:off x="8200206" y="6438280"/>
            <a:ext cx="419100" cy="519112"/>
            <a:chOff x="4581" y="3625"/>
            <a:chExt cx="264" cy="327"/>
          </a:xfrm>
        </p:grpSpPr>
        <p:sp>
          <p:nvSpPr>
            <p:cNvPr id="14" name="Line 13">
              <a:extLst>
                <a:ext uri="{FF2B5EF4-FFF2-40B4-BE49-F238E27FC236}">
                  <a16:creationId xmlns:a16="http://schemas.microsoft.com/office/drawing/2014/main" id="{37F39217-CD71-44EC-9CFA-AB75EB25275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581" y="3634"/>
              <a:ext cx="0" cy="250"/>
            </a:xfrm>
            <a:prstGeom prst="line">
              <a:avLst/>
            </a:prstGeom>
            <a:noFill/>
            <a:ln w="28575">
              <a:solidFill>
                <a:srgbClr val="008000"/>
              </a:solidFill>
              <a:round/>
              <a:headEnd type="none" w="lg" len="lg"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" name="Text Box 14">
              <a:extLst>
                <a:ext uri="{FF2B5EF4-FFF2-40B4-BE49-F238E27FC236}">
                  <a16:creationId xmlns:a16="http://schemas.microsoft.com/office/drawing/2014/main" id="{FBFDEC91-D0D3-4E27-8D82-D4995E7294F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04" y="3625"/>
              <a:ext cx="241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8000"/>
                  </a:solidFill>
                  <a:miter lim="800000"/>
                  <a:headEnd type="none" w="lg" len="lg"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800" b="1" i="1" baseline="0">
                  <a:latin typeface="Times New Roman" panose="02020603050405020304" pitchFamily="18" charset="0"/>
                </a:rPr>
                <a:t>n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F5117061-4608-4C5E-83C9-9B255D53457B}"/>
              </a:ext>
            </a:extLst>
          </p:cNvPr>
          <p:cNvGrpSpPr>
            <a:grpSpLocks/>
          </p:cNvGrpSpPr>
          <p:nvPr/>
        </p:nvGrpSpPr>
        <p:grpSpPr bwMode="auto">
          <a:xfrm>
            <a:off x="7420743" y="6438280"/>
            <a:ext cx="419100" cy="519112"/>
            <a:chOff x="4581" y="3625"/>
            <a:chExt cx="264" cy="327"/>
          </a:xfrm>
        </p:grpSpPr>
        <p:sp>
          <p:nvSpPr>
            <p:cNvPr id="17" name="Line 17">
              <a:extLst>
                <a:ext uri="{FF2B5EF4-FFF2-40B4-BE49-F238E27FC236}">
                  <a16:creationId xmlns:a16="http://schemas.microsoft.com/office/drawing/2014/main" id="{21A4714E-B78D-499D-8903-006F5C91519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581" y="3634"/>
              <a:ext cx="0" cy="250"/>
            </a:xfrm>
            <a:prstGeom prst="line">
              <a:avLst/>
            </a:prstGeom>
            <a:noFill/>
            <a:ln w="28575">
              <a:solidFill>
                <a:srgbClr val="008000"/>
              </a:solidFill>
              <a:round/>
              <a:headEnd type="none" w="lg" len="lg"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" name="Text Box 18">
              <a:extLst>
                <a:ext uri="{FF2B5EF4-FFF2-40B4-BE49-F238E27FC236}">
                  <a16:creationId xmlns:a16="http://schemas.microsoft.com/office/drawing/2014/main" id="{3D4FEF0F-A9BF-46E5-A9B0-477DEE8F1FD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04" y="3625"/>
              <a:ext cx="241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8000"/>
                  </a:solidFill>
                  <a:miter lim="800000"/>
                  <a:headEnd type="none" w="lg" len="lg"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800" b="1" i="1" baseline="0">
                  <a:latin typeface="Times New Roman" panose="02020603050405020304" pitchFamily="18" charset="0"/>
                </a:rPr>
                <a:t>n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EE27B451-4349-46C8-B984-1E89E6EFBA2E}"/>
              </a:ext>
            </a:extLst>
          </p:cNvPr>
          <p:cNvGrpSpPr>
            <a:grpSpLocks/>
          </p:cNvGrpSpPr>
          <p:nvPr/>
        </p:nvGrpSpPr>
        <p:grpSpPr bwMode="auto">
          <a:xfrm>
            <a:off x="6628581" y="6417642"/>
            <a:ext cx="419100" cy="519113"/>
            <a:chOff x="4581" y="3625"/>
            <a:chExt cx="264" cy="327"/>
          </a:xfrm>
        </p:grpSpPr>
        <p:sp>
          <p:nvSpPr>
            <p:cNvPr id="20" name="Line 20">
              <a:extLst>
                <a:ext uri="{FF2B5EF4-FFF2-40B4-BE49-F238E27FC236}">
                  <a16:creationId xmlns:a16="http://schemas.microsoft.com/office/drawing/2014/main" id="{A9FF4A94-BF27-42D8-9968-876B5A4F709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581" y="3634"/>
              <a:ext cx="0" cy="250"/>
            </a:xfrm>
            <a:prstGeom prst="line">
              <a:avLst/>
            </a:prstGeom>
            <a:noFill/>
            <a:ln w="28575">
              <a:solidFill>
                <a:srgbClr val="008000"/>
              </a:solidFill>
              <a:round/>
              <a:headEnd type="none" w="lg" len="lg"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" name="Text Box 21">
              <a:extLst>
                <a:ext uri="{FF2B5EF4-FFF2-40B4-BE49-F238E27FC236}">
                  <a16:creationId xmlns:a16="http://schemas.microsoft.com/office/drawing/2014/main" id="{D57BD6AD-AD2C-4F30-BC07-4F863D50DF7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04" y="3625"/>
              <a:ext cx="241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8000"/>
                  </a:solidFill>
                  <a:miter lim="800000"/>
                  <a:headEnd type="none" w="lg" len="lg"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800" b="1" i="1" baseline="0">
                  <a:latin typeface="Times New Roman" panose="02020603050405020304" pitchFamily="18" charset="0"/>
                </a:rPr>
                <a:t>n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B4EFB888-6FA4-4E8E-A632-126F34649A3D}"/>
              </a:ext>
            </a:extLst>
          </p:cNvPr>
          <p:cNvGrpSpPr>
            <a:grpSpLocks/>
          </p:cNvGrpSpPr>
          <p:nvPr/>
        </p:nvGrpSpPr>
        <p:grpSpPr bwMode="auto">
          <a:xfrm>
            <a:off x="5752281" y="6401767"/>
            <a:ext cx="419100" cy="519113"/>
            <a:chOff x="4581" y="3625"/>
            <a:chExt cx="264" cy="327"/>
          </a:xfrm>
        </p:grpSpPr>
        <p:sp>
          <p:nvSpPr>
            <p:cNvPr id="23" name="Line 23">
              <a:extLst>
                <a:ext uri="{FF2B5EF4-FFF2-40B4-BE49-F238E27FC236}">
                  <a16:creationId xmlns:a16="http://schemas.microsoft.com/office/drawing/2014/main" id="{15BDAA92-AA29-4B67-81A2-04E28A07B1E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581" y="3634"/>
              <a:ext cx="0" cy="250"/>
            </a:xfrm>
            <a:prstGeom prst="line">
              <a:avLst/>
            </a:prstGeom>
            <a:noFill/>
            <a:ln w="28575">
              <a:solidFill>
                <a:srgbClr val="008000"/>
              </a:solidFill>
              <a:round/>
              <a:headEnd type="none" w="lg" len="lg"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" name="Text Box 24">
              <a:extLst>
                <a:ext uri="{FF2B5EF4-FFF2-40B4-BE49-F238E27FC236}">
                  <a16:creationId xmlns:a16="http://schemas.microsoft.com/office/drawing/2014/main" id="{CEF09EF8-9750-4C75-A14B-A7C8804473C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04" y="3625"/>
              <a:ext cx="241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8000"/>
                  </a:solidFill>
                  <a:miter lim="800000"/>
                  <a:headEnd type="none" w="lg" len="lg"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800" b="1" i="1" baseline="0">
                  <a:latin typeface="Times New Roman" panose="02020603050405020304" pitchFamily="18" charset="0"/>
                </a:rPr>
                <a:t>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0029218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xit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1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xit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2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22" presetClass="exit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3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443" name="Rectangle 11">
            <a:extLst>
              <a:ext uri="{FF2B5EF4-FFF2-40B4-BE49-F238E27FC236}">
                <a16:creationId xmlns:a16="http://schemas.microsoft.com/office/drawing/2014/main" id="{333A4F28-5C1C-4652-9DE2-C6EA5C52226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39747" y="0"/>
            <a:ext cx="5486400" cy="882650"/>
          </a:xfrm>
          <a:noFill/>
          <a:ln/>
        </p:spPr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</a:rPr>
              <a:t>尾递归算法改为迭代算法</a:t>
            </a:r>
          </a:p>
        </p:txBody>
      </p:sp>
      <p:sp>
        <p:nvSpPr>
          <p:cNvPr id="530444" name="Rectangle 12">
            <a:extLst>
              <a:ext uri="{FF2B5EF4-FFF2-40B4-BE49-F238E27FC236}">
                <a16:creationId xmlns:a16="http://schemas.microsoft.com/office/drawing/2014/main" id="{A3B19A93-90EA-458B-8478-347A7BE2A6A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79512" y="728663"/>
            <a:ext cx="8964488" cy="3924473"/>
          </a:xfrm>
        </p:spPr>
        <p:txBody>
          <a:bodyPr/>
          <a:lstStyle/>
          <a:p>
            <a:pPr>
              <a:buNone/>
            </a:pPr>
            <a:r>
              <a:rPr kumimoji="1" lang="zh-CN" altLang="en-US" dirty="0">
                <a:latin typeface="+mn-ea"/>
                <a:ea typeface="+mn-ea"/>
              </a:rPr>
              <a:t>尾递归改为非递归的迭代算法用</a:t>
            </a:r>
            <a:r>
              <a:rPr kumimoji="1" lang="zh-CN" altLang="en-US" dirty="0">
                <a:solidFill>
                  <a:srgbClr val="FF0000"/>
                </a:solidFill>
                <a:latin typeface="+mn-ea"/>
                <a:ea typeface="+mn-ea"/>
              </a:rPr>
              <a:t>循环</a:t>
            </a:r>
            <a:r>
              <a:rPr kumimoji="1" lang="zh-CN" altLang="en-US" dirty="0">
                <a:latin typeface="+mn-ea"/>
                <a:ea typeface="+mn-ea"/>
              </a:rPr>
              <a:t>实现。</a:t>
            </a:r>
          </a:p>
          <a:p>
            <a:pPr>
              <a:buFont typeface="Wingdings" panose="05000000000000000000" pitchFamily="2" charset="2"/>
              <a:buNone/>
            </a:pPr>
            <a:endParaRPr kumimoji="1" lang="en-US" altLang="zh-CN" dirty="0">
              <a:latin typeface="+mn-lt"/>
              <a:ea typeface="+mn-ea"/>
            </a:endParaRPr>
          </a:p>
          <a:p>
            <a:pPr>
              <a:buFont typeface="Wingdings" panose="05000000000000000000" pitchFamily="2" charset="2"/>
              <a:buNone/>
            </a:pPr>
            <a:r>
              <a:rPr kumimoji="1" lang="en-US" altLang="zh-CN" dirty="0">
                <a:latin typeface="+mn-lt"/>
                <a:ea typeface="+mn-ea"/>
              </a:rPr>
              <a:t>void </a:t>
            </a:r>
            <a:r>
              <a:rPr kumimoji="1" lang="en-US" altLang="zh-CN" dirty="0" err="1">
                <a:latin typeface="+mn-lt"/>
                <a:ea typeface="+mn-ea"/>
              </a:rPr>
              <a:t>sterfunc</a:t>
            </a:r>
            <a:r>
              <a:rPr kumimoji="1" lang="en-US" altLang="zh-CN" dirty="0">
                <a:latin typeface="+mn-lt"/>
                <a:ea typeface="+mn-ea"/>
              </a:rPr>
              <a:t> (int A[ ], int n) { </a:t>
            </a:r>
            <a:r>
              <a:rPr kumimoji="1" lang="en-US" altLang="zh-CN" dirty="0">
                <a:solidFill>
                  <a:srgbClr val="00B050"/>
                </a:solidFill>
                <a:latin typeface="Times New Roman" panose="02020603050405020304" pitchFamily="18" charset="0"/>
              </a:rPr>
              <a:t>// </a:t>
            </a:r>
            <a:r>
              <a:rPr kumimoji="1" lang="zh-CN" altLang="en-US" dirty="0">
                <a:solidFill>
                  <a:srgbClr val="00B050"/>
                </a:solidFill>
                <a:latin typeface="Times New Roman" panose="02020603050405020304" pitchFamily="18" charset="0"/>
                <a:ea typeface="仿宋_GB2312" pitchFamily="49" charset="-122"/>
              </a:rPr>
              <a:t>反向输出数组 </a:t>
            </a:r>
            <a:r>
              <a:rPr kumimoji="1" lang="en-US" altLang="zh-CN" dirty="0">
                <a:solidFill>
                  <a:srgbClr val="00B050"/>
                </a:solidFill>
                <a:latin typeface="Times New Roman" panose="02020603050405020304" pitchFamily="18" charset="0"/>
                <a:ea typeface="仿宋_GB2312" pitchFamily="49" charset="-122"/>
              </a:rPr>
              <a:t>A </a:t>
            </a:r>
            <a:r>
              <a:rPr kumimoji="1" lang="zh-CN" altLang="en-US" dirty="0">
                <a:solidFill>
                  <a:srgbClr val="00B050"/>
                </a:solidFill>
                <a:latin typeface="Times New Roman" panose="02020603050405020304" pitchFamily="18" charset="0"/>
                <a:ea typeface="仿宋_GB2312" pitchFamily="49" charset="-122"/>
              </a:rPr>
              <a:t>的元素值</a:t>
            </a:r>
            <a:endParaRPr kumimoji="1" lang="en-US" altLang="zh-CN" dirty="0">
              <a:latin typeface="+mn-lt"/>
              <a:ea typeface="+mn-ea"/>
            </a:endParaRPr>
          </a:p>
          <a:p>
            <a:pPr>
              <a:buFont typeface="Wingdings" panose="05000000000000000000" pitchFamily="2" charset="2"/>
              <a:buNone/>
            </a:pPr>
            <a:r>
              <a:rPr kumimoji="1" lang="zh-CN" altLang="en-US" dirty="0">
                <a:latin typeface="+mn-lt"/>
                <a:ea typeface="+mn-ea"/>
              </a:rPr>
              <a:t>    </a:t>
            </a:r>
            <a:r>
              <a:rPr kumimoji="1" lang="en-US" altLang="zh-CN" dirty="0">
                <a:latin typeface="+mn-lt"/>
                <a:ea typeface="+mn-ea"/>
              </a:rPr>
              <a:t>while (n &gt;= 0)</a:t>
            </a:r>
          </a:p>
          <a:p>
            <a:pPr>
              <a:buFont typeface="Wingdings" panose="05000000000000000000" pitchFamily="2" charset="2"/>
              <a:buNone/>
            </a:pPr>
            <a:r>
              <a:rPr kumimoji="1" lang="en-US" altLang="zh-CN" dirty="0">
                <a:latin typeface="+mn-lt"/>
                <a:ea typeface="+mn-ea"/>
              </a:rPr>
              <a:t>        </a:t>
            </a:r>
            <a:r>
              <a:rPr kumimoji="1" lang="pt-BR" altLang="zh-CN" dirty="0">
                <a:latin typeface="+mn-lt"/>
                <a:ea typeface="+mn-ea"/>
              </a:rPr>
              <a:t>cout &lt;&lt; A[n--] &lt;&lt; </a:t>
            </a:r>
            <a:r>
              <a:rPr kumimoji="1" lang="en-US" altLang="zh-CN" dirty="0">
                <a:latin typeface="+mn-lt"/>
                <a:ea typeface="+mn-ea"/>
              </a:rPr>
              <a:t>“</a:t>
            </a:r>
            <a:r>
              <a:rPr kumimoji="1" lang="zh-CN" altLang="en-US" dirty="0">
                <a:latin typeface="+mn-lt"/>
                <a:ea typeface="+mn-ea"/>
              </a:rPr>
              <a:t> </a:t>
            </a:r>
            <a:r>
              <a:rPr kumimoji="1" lang="en-US" altLang="zh-CN" dirty="0">
                <a:latin typeface="+mn-lt"/>
                <a:ea typeface="+mn-ea"/>
              </a:rPr>
              <a:t>”</a:t>
            </a:r>
            <a:r>
              <a:rPr kumimoji="1" lang="pt-BR" altLang="zh-CN" dirty="0">
                <a:latin typeface="+mn-lt"/>
                <a:ea typeface="+mn-ea"/>
              </a:rPr>
              <a:t>;</a:t>
            </a:r>
          </a:p>
          <a:p>
            <a:pPr>
              <a:buFont typeface="Wingdings" panose="05000000000000000000" pitchFamily="2" charset="2"/>
              <a:buNone/>
            </a:pPr>
            <a:r>
              <a:rPr kumimoji="1" lang="en-US" altLang="zh-CN" dirty="0">
                <a:latin typeface="+mn-lt"/>
                <a:ea typeface="+mn-ea"/>
              </a:rPr>
              <a:t>}</a:t>
            </a:r>
            <a:endParaRPr kumimoji="1" lang="en-US" altLang="zh-CN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7471173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82" name="Rectangle 2">
            <a:extLst>
              <a:ext uri="{FF2B5EF4-FFF2-40B4-BE49-F238E27FC236}">
                <a16:creationId xmlns:a16="http://schemas.microsoft.com/office/drawing/2014/main" id="{3ECCAA68-28FC-4EAE-B514-4B48256E602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14400" y="44624"/>
            <a:ext cx="8229600" cy="847725"/>
          </a:xfrm>
        </p:spPr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</a:rPr>
              <a:t>单向递归用迭代法实现</a:t>
            </a:r>
          </a:p>
        </p:txBody>
      </p:sp>
      <p:sp>
        <p:nvSpPr>
          <p:cNvPr id="583683" name="Rectangle 3">
            <a:extLst>
              <a:ext uri="{FF2B5EF4-FFF2-40B4-BE49-F238E27FC236}">
                <a16:creationId xmlns:a16="http://schemas.microsoft.com/office/drawing/2014/main" id="{BA0B3914-42B4-433C-9C09-1D0C7239AEF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0" y="764705"/>
            <a:ext cx="9144000" cy="5578946"/>
          </a:xfrm>
        </p:spPr>
        <p:txBody>
          <a:bodyPr/>
          <a:lstStyle/>
          <a:p>
            <a:pPr>
              <a:buClr>
                <a:srgbClr val="800080"/>
              </a:buClr>
              <a:buSzPct val="55000"/>
              <a:buFont typeface="Wingdings" panose="05000000000000000000" pitchFamily="2" charset="2"/>
              <a:buChar char="l"/>
            </a:pPr>
            <a:r>
              <a:rPr lang="zh-CN" altLang="en-US" sz="2800" dirty="0">
                <a:solidFill>
                  <a:srgbClr val="FF0000"/>
                </a:solidFill>
                <a:latin typeface="+mn-ea"/>
                <a:ea typeface="+mn-ea"/>
              </a:rPr>
              <a:t>单向递归</a:t>
            </a:r>
            <a:r>
              <a:rPr lang="zh-CN" altLang="en-US" sz="2800" dirty="0">
                <a:latin typeface="+mn-ea"/>
                <a:ea typeface="+mn-ea"/>
              </a:rPr>
              <a:t>并不单指函数体中只有一个递归语句，而是指递归函数体中</a:t>
            </a:r>
            <a:r>
              <a:rPr lang="zh-CN" altLang="en-US" dirty="0">
                <a:latin typeface="+mn-ea"/>
                <a:ea typeface="+mn-ea"/>
              </a:rPr>
              <a:t>虽然</a:t>
            </a:r>
            <a:r>
              <a:rPr lang="zh-CN" altLang="en-US" sz="2800" dirty="0">
                <a:latin typeface="+mn-ea"/>
                <a:ea typeface="+mn-ea"/>
              </a:rPr>
              <a:t>可能会有多个递归调用，但函数执行时，</a:t>
            </a:r>
            <a:r>
              <a:rPr lang="zh-CN" altLang="en-US" sz="2800" dirty="0">
                <a:solidFill>
                  <a:srgbClr val="0000FF"/>
                </a:solidFill>
                <a:latin typeface="+mn-ea"/>
                <a:ea typeface="+mn-ea"/>
              </a:rPr>
              <a:t>后面递归调用可以用到前面递归调用的执行结果</a:t>
            </a:r>
            <a:r>
              <a:rPr lang="zh-CN" altLang="en-US" sz="2800" dirty="0">
                <a:latin typeface="+mn-ea"/>
                <a:ea typeface="+mn-ea"/>
              </a:rPr>
              <a:t>。</a:t>
            </a:r>
          </a:p>
          <a:p>
            <a:pPr>
              <a:buClr>
                <a:srgbClr val="800080"/>
              </a:buClr>
              <a:buSzPct val="55000"/>
              <a:buFont typeface="Wingdings" panose="05000000000000000000" pitchFamily="2" charset="2"/>
              <a:buChar char="l"/>
            </a:pPr>
            <a:r>
              <a:rPr lang="zh-CN" altLang="en-US" sz="2800" dirty="0">
                <a:latin typeface="+mn-ea"/>
                <a:ea typeface="+mn-ea"/>
              </a:rPr>
              <a:t>例如计算斐波那契数列的递归算法</a:t>
            </a:r>
          </a:p>
          <a:p>
            <a:pPr marL="0" indent="0">
              <a:buClr>
                <a:srgbClr val="800080"/>
              </a:buClr>
              <a:buSzPct val="55000"/>
              <a:buNone/>
            </a:pPr>
            <a:r>
              <a:rPr lang="zh-CN" altLang="en-US" sz="2800" dirty="0">
                <a:latin typeface="+mn-ea"/>
                <a:ea typeface="+mn-ea"/>
              </a:rPr>
              <a:t>		</a:t>
            </a:r>
            <a:r>
              <a:rPr lang="en-US" altLang="zh-CN" sz="2800" dirty="0">
                <a:latin typeface="+mn-ea"/>
                <a:ea typeface="+mn-ea"/>
              </a:rPr>
              <a:t>F(</a:t>
            </a:r>
            <a:r>
              <a:rPr lang="en-US" altLang="zh-CN" sz="2800" dirty="0" err="1">
                <a:latin typeface="+mn-ea"/>
                <a:ea typeface="+mn-ea"/>
              </a:rPr>
              <a:t>i</a:t>
            </a:r>
            <a:r>
              <a:rPr lang="en-US" altLang="zh-CN" sz="2800" dirty="0">
                <a:latin typeface="+mn-ea"/>
                <a:ea typeface="+mn-ea"/>
              </a:rPr>
              <a:t>) = F(i-1)+F(i-2),  </a:t>
            </a:r>
            <a:r>
              <a:rPr lang="en-US" altLang="zh-CN" sz="2800" dirty="0" err="1">
                <a:latin typeface="+mn-ea"/>
                <a:ea typeface="+mn-ea"/>
              </a:rPr>
              <a:t>i</a:t>
            </a:r>
            <a:r>
              <a:rPr lang="en-US" altLang="zh-CN" sz="2800" dirty="0">
                <a:latin typeface="+mn-ea"/>
                <a:ea typeface="+mn-ea"/>
              </a:rPr>
              <a:t> = 2, 3, …,  </a:t>
            </a:r>
          </a:p>
          <a:p>
            <a:pPr marL="684000" indent="-114300">
              <a:buClr>
                <a:srgbClr val="800080"/>
              </a:buClr>
              <a:buSzPct val="55000"/>
              <a:buNone/>
            </a:pPr>
            <a:r>
              <a:rPr lang="zh-CN" altLang="en-US" dirty="0">
                <a:latin typeface="+mn-ea"/>
                <a:ea typeface="+mn-ea"/>
              </a:rPr>
              <a:t>只要保存前两次计算的结果，就可以执行后续的计算。</a:t>
            </a:r>
            <a:r>
              <a:rPr lang="zh-CN" altLang="en-US" dirty="0">
                <a:solidFill>
                  <a:srgbClr val="0000FF"/>
                </a:solidFill>
                <a:latin typeface="+mn-ea"/>
                <a:ea typeface="+mn-ea"/>
              </a:rPr>
              <a:t>无需使用栈来保存递归工作记录</a:t>
            </a:r>
            <a:r>
              <a:rPr lang="zh-CN" altLang="en-US" dirty="0">
                <a:latin typeface="+mn-ea"/>
                <a:ea typeface="+mn-ea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1265524541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410" name="Rectangle 2">
            <a:extLst>
              <a:ext uri="{FF2B5EF4-FFF2-40B4-BE49-F238E27FC236}">
                <a16:creationId xmlns:a16="http://schemas.microsoft.com/office/drawing/2014/main" id="{27AFD7A2-C201-439B-82D9-E425F93875A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99592" y="0"/>
            <a:ext cx="7920037" cy="931862"/>
          </a:xfrm>
        </p:spPr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</a:rPr>
              <a:t>计算斐波那契数列的迭代算法</a:t>
            </a:r>
          </a:p>
        </p:txBody>
      </p:sp>
      <p:sp>
        <p:nvSpPr>
          <p:cNvPr id="529411" name="Rectangle 3">
            <a:extLst>
              <a:ext uri="{FF2B5EF4-FFF2-40B4-BE49-F238E27FC236}">
                <a16:creationId xmlns:a16="http://schemas.microsoft.com/office/drawing/2014/main" id="{6C1BCC90-EEDC-4918-A139-227DF9F2C68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95537" y="764704"/>
            <a:ext cx="8424092" cy="6093296"/>
          </a:xfrm>
          <a:ln/>
          <a:extLst>
            <a:ext uri="{91240B29-F687-4F45-9708-019B960494DF}">
              <a14:hiddenLine xmlns:a14="http://schemas.microsoft.com/office/drawing/2010/main" w="9525">
                <a:solidFill>
                  <a:srgbClr val="003366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indent="0" algn="just">
              <a:buClr>
                <a:srgbClr val="CC3300"/>
              </a:buClr>
              <a:buFont typeface="Wingdings" panose="05000000000000000000" pitchFamily="2" charset="2"/>
              <a:buNone/>
            </a:pPr>
            <a:r>
              <a:rPr lang="en-US" altLang="zh-CN" dirty="0">
                <a:latin typeface="+mn-lt"/>
                <a:ea typeface="+mn-ea"/>
              </a:rPr>
              <a:t>long </a:t>
            </a:r>
            <a:r>
              <a:rPr lang="en-US" altLang="zh-CN" dirty="0" err="1">
                <a:latin typeface="+mn-lt"/>
                <a:ea typeface="+mn-ea"/>
              </a:rPr>
              <a:t>FibIter</a:t>
            </a:r>
            <a:r>
              <a:rPr lang="en-US" altLang="zh-CN" dirty="0">
                <a:latin typeface="+mn-lt"/>
                <a:ea typeface="+mn-ea"/>
              </a:rPr>
              <a:t> (long n) {</a:t>
            </a:r>
          </a:p>
          <a:p>
            <a:pPr marL="0" indent="0" algn="just">
              <a:buClr>
                <a:srgbClr val="CC3300"/>
              </a:buClr>
              <a:buFont typeface="Wingdings" panose="05000000000000000000" pitchFamily="2" charset="2"/>
              <a:buNone/>
            </a:pPr>
            <a:r>
              <a:rPr lang="en-US" altLang="zh-CN" dirty="0">
                <a:latin typeface="+mn-lt"/>
                <a:ea typeface="+mn-ea"/>
              </a:rPr>
              <a:t>      if (n &lt;= 1) return n;</a:t>
            </a:r>
          </a:p>
          <a:p>
            <a:pPr marL="0" indent="0" algn="just">
              <a:buClr>
                <a:srgbClr val="CC3300"/>
              </a:buClr>
              <a:buFont typeface="Wingdings" panose="05000000000000000000" pitchFamily="2" charset="2"/>
              <a:buNone/>
            </a:pPr>
            <a:r>
              <a:rPr lang="en-US" altLang="zh-CN" dirty="0">
                <a:latin typeface="+mn-lt"/>
                <a:ea typeface="+mn-ea"/>
              </a:rPr>
              <a:t>      long back2 = 0,  back1 = 1,  c;</a:t>
            </a:r>
          </a:p>
          <a:p>
            <a:pPr marL="0" indent="0" algn="just">
              <a:buClr>
                <a:srgbClr val="CC3300"/>
              </a:buClr>
              <a:buFont typeface="Wingdings" panose="05000000000000000000" pitchFamily="2" charset="2"/>
              <a:buNone/>
            </a:pPr>
            <a:r>
              <a:rPr lang="en-US" altLang="zh-CN" dirty="0">
                <a:solidFill>
                  <a:srgbClr val="0000FF"/>
                </a:solidFill>
                <a:latin typeface="+mn-lt"/>
                <a:ea typeface="+mn-ea"/>
              </a:rPr>
              <a:t>      for (int </a:t>
            </a:r>
            <a:r>
              <a:rPr lang="en-US" altLang="zh-CN" dirty="0" err="1">
                <a:solidFill>
                  <a:srgbClr val="0000FF"/>
                </a:solidFill>
                <a:latin typeface="+mn-lt"/>
                <a:ea typeface="+mn-ea"/>
              </a:rPr>
              <a:t>i</a:t>
            </a:r>
            <a:r>
              <a:rPr lang="en-US" altLang="zh-CN" dirty="0">
                <a:solidFill>
                  <a:srgbClr val="0000FF"/>
                </a:solidFill>
                <a:latin typeface="+mn-lt"/>
                <a:ea typeface="+mn-ea"/>
              </a:rPr>
              <a:t> = 2; </a:t>
            </a:r>
            <a:r>
              <a:rPr lang="en-US" altLang="zh-CN" dirty="0" err="1">
                <a:solidFill>
                  <a:srgbClr val="0000FF"/>
                </a:solidFill>
                <a:latin typeface="+mn-lt"/>
                <a:ea typeface="+mn-ea"/>
              </a:rPr>
              <a:t>i</a:t>
            </a:r>
            <a:r>
              <a:rPr lang="en-US" altLang="zh-CN" dirty="0">
                <a:solidFill>
                  <a:srgbClr val="0000FF"/>
                </a:solidFill>
                <a:latin typeface="+mn-lt"/>
                <a:ea typeface="+mn-ea"/>
              </a:rPr>
              <a:t> &lt;= n; </a:t>
            </a:r>
            <a:r>
              <a:rPr lang="en-US" altLang="zh-CN" dirty="0" err="1">
                <a:solidFill>
                  <a:srgbClr val="0000FF"/>
                </a:solidFill>
                <a:latin typeface="+mn-lt"/>
                <a:ea typeface="+mn-ea"/>
              </a:rPr>
              <a:t>i</a:t>
            </a:r>
            <a:r>
              <a:rPr lang="en-US" altLang="zh-CN" dirty="0">
                <a:solidFill>
                  <a:srgbClr val="0000FF"/>
                </a:solidFill>
                <a:latin typeface="+mn-lt"/>
                <a:ea typeface="+mn-ea"/>
              </a:rPr>
              <a:t>++) {</a:t>
            </a:r>
          </a:p>
          <a:p>
            <a:pPr marL="0" indent="0" algn="just">
              <a:buClr>
                <a:srgbClr val="CC3300"/>
              </a:buClr>
              <a:buFont typeface="Wingdings" panose="05000000000000000000" pitchFamily="2" charset="2"/>
              <a:buNone/>
            </a:pPr>
            <a:r>
              <a:rPr lang="en-US" altLang="zh-CN" dirty="0">
                <a:latin typeface="+mn-lt"/>
                <a:ea typeface="+mn-ea"/>
              </a:rPr>
              <a:t>           </a:t>
            </a:r>
            <a:r>
              <a:rPr lang="en-US" altLang="zh-CN" dirty="0">
                <a:solidFill>
                  <a:srgbClr val="0000FF"/>
                </a:solidFill>
                <a:latin typeface="+mn-lt"/>
                <a:ea typeface="+mn-ea"/>
              </a:rPr>
              <a:t>c = back2 + back1;    </a:t>
            </a:r>
            <a:r>
              <a:rPr lang="en-US" altLang="zh-CN" dirty="0">
                <a:solidFill>
                  <a:srgbClr val="00B050"/>
                </a:solidFill>
                <a:latin typeface="+mn-lt"/>
                <a:ea typeface="+mn-ea"/>
              </a:rPr>
              <a:t>// </a:t>
            </a:r>
            <a:r>
              <a:rPr lang="zh-CN" altLang="zh-CN" dirty="0">
                <a:solidFill>
                  <a:srgbClr val="00B050"/>
                </a:solidFill>
                <a:latin typeface="+mn-lt"/>
                <a:ea typeface="+mn-ea"/>
              </a:rPr>
              <a:t>求 </a:t>
            </a:r>
            <a:r>
              <a:rPr lang="en-US" altLang="zh-CN" dirty="0">
                <a:solidFill>
                  <a:srgbClr val="00B050"/>
                </a:solidFill>
                <a:latin typeface="+mn-lt"/>
                <a:ea typeface="+mn-ea"/>
              </a:rPr>
              <a:t>F</a:t>
            </a:r>
            <a:r>
              <a:rPr lang="en-US" altLang="zh-CN" baseline="-25000" dirty="0">
                <a:solidFill>
                  <a:srgbClr val="00B050"/>
                </a:solidFill>
                <a:latin typeface="+mn-lt"/>
                <a:ea typeface="+mn-ea"/>
              </a:rPr>
              <a:t>i</a:t>
            </a:r>
            <a:r>
              <a:rPr lang="en-US" altLang="zh-CN" dirty="0">
                <a:solidFill>
                  <a:srgbClr val="00B050"/>
                </a:solidFill>
                <a:latin typeface="+mn-lt"/>
                <a:ea typeface="+mn-ea"/>
              </a:rPr>
              <a:t> = F</a:t>
            </a:r>
            <a:r>
              <a:rPr lang="en-US" altLang="zh-CN" baseline="-25000" dirty="0">
                <a:solidFill>
                  <a:srgbClr val="00B050"/>
                </a:solidFill>
                <a:latin typeface="+mn-lt"/>
                <a:ea typeface="+mn-ea"/>
              </a:rPr>
              <a:t>i-2</a:t>
            </a:r>
            <a:r>
              <a:rPr lang="en-US" altLang="zh-CN" dirty="0">
                <a:solidFill>
                  <a:srgbClr val="00B050"/>
                </a:solidFill>
                <a:latin typeface="+mn-lt"/>
                <a:ea typeface="+mn-ea"/>
              </a:rPr>
              <a:t> + F</a:t>
            </a:r>
            <a:r>
              <a:rPr lang="en-US" altLang="zh-CN" baseline="-25000" dirty="0">
                <a:solidFill>
                  <a:srgbClr val="00B050"/>
                </a:solidFill>
                <a:latin typeface="+mn-lt"/>
                <a:ea typeface="+mn-ea"/>
              </a:rPr>
              <a:t>i-1</a:t>
            </a:r>
            <a:endParaRPr lang="en-US" altLang="zh-CN" dirty="0">
              <a:solidFill>
                <a:srgbClr val="00B050"/>
              </a:solidFill>
              <a:latin typeface="+mn-lt"/>
              <a:ea typeface="+mn-ea"/>
            </a:endParaRPr>
          </a:p>
          <a:p>
            <a:pPr marL="0" indent="0" algn="just">
              <a:buClr>
                <a:srgbClr val="CC3300"/>
              </a:buClr>
              <a:buFont typeface="Wingdings" panose="05000000000000000000" pitchFamily="2" charset="2"/>
              <a:buNone/>
            </a:pPr>
            <a:r>
              <a:rPr lang="en-US" altLang="zh-CN" dirty="0">
                <a:latin typeface="+mn-lt"/>
                <a:ea typeface="+mn-ea"/>
              </a:rPr>
              <a:t>           </a:t>
            </a:r>
            <a:r>
              <a:rPr lang="en-US" altLang="zh-CN" dirty="0">
                <a:solidFill>
                  <a:srgbClr val="0000FF"/>
                </a:solidFill>
                <a:latin typeface="+mn-lt"/>
                <a:ea typeface="+mn-ea"/>
              </a:rPr>
              <a:t>back2 = back1;         </a:t>
            </a:r>
            <a:r>
              <a:rPr lang="en-US" altLang="zh-CN" dirty="0">
                <a:solidFill>
                  <a:srgbClr val="00B050"/>
                </a:solidFill>
                <a:latin typeface="+mn-lt"/>
                <a:ea typeface="+mn-ea"/>
              </a:rPr>
              <a:t>// </a:t>
            </a:r>
            <a:r>
              <a:rPr lang="zh-CN" altLang="en-US" dirty="0">
                <a:solidFill>
                  <a:srgbClr val="00B050"/>
                </a:solidFill>
                <a:latin typeface="+mn-lt"/>
                <a:ea typeface="+mn-ea"/>
              </a:rPr>
              <a:t>下一个 </a:t>
            </a:r>
            <a:r>
              <a:rPr lang="en-US" altLang="zh-CN" dirty="0">
                <a:solidFill>
                  <a:srgbClr val="00B050"/>
                </a:solidFill>
                <a:latin typeface="+mn-lt"/>
                <a:ea typeface="+mn-ea"/>
              </a:rPr>
              <a:t>F</a:t>
            </a:r>
            <a:r>
              <a:rPr lang="en-US" altLang="zh-CN" baseline="-25000" dirty="0">
                <a:solidFill>
                  <a:srgbClr val="00B050"/>
                </a:solidFill>
                <a:latin typeface="+mn-lt"/>
                <a:ea typeface="+mn-ea"/>
              </a:rPr>
              <a:t>i-2</a:t>
            </a:r>
            <a:r>
              <a:rPr lang="en-US" altLang="zh-CN" dirty="0">
                <a:solidFill>
                  <a:srgbClr val="00B050"/>
                </a:solidFill>
                <a:latin typeface="+mn-lt"/>
                <a:ea typeface="+mn-ea"/>
              </a:rPr>
              <a:t> = </a:t>
            </a:r>
            <a:r>
              <a:rPr lang="zh-CN" altLang="en-US" dirty="0">
                <a:solidFill>
                  <a:srgbClr val="00B050"/>
                </a:solidFill>
                <a:latin typeface="+mn-lt"/>
                <a:ea typeface="+mn-ea"/>
              </a:rPr>
              <a:t>原来的 </a:t>
            </a:r>
            <a:r>
              <a:rPr lang="en-US" altLang="zh-CN" dirty="0">
                <a:solidFill>
                  <a:srgbClr val="00B050"/>
                </a:solidFill>
                <a:latin typeface="+mn-lt"/>
                <a:ea typeface="+mn-ea"/>
              </a:rPr>
              <a:t>F</a:t>
            </a:r>
            <a:r>
              <a:rPr lang="en-US" altLang="zh-CN" baseline="-25000" dirty="0">
                <a:solidFill>
                  <a:srgbClr val="00B050"/>
                </a:solidFill>
                <a:latin typeface="+mn-lt"/>
                <a:ea typeface="+mn-ea"/>
              </a:rPr>
              <a:t>i-1</a:t>
            </a:r>
            <a:endParaRPr lang="en-US" altLang="zh-CN" dirty="0">
              <a:solidFill>
                <a:srgbClr val="00B050"/>
              </a:solidFill>
              <a:latin typeface="+mn-lt"/>
              <a:ea typeface="+mn-ea"/>
            </a:endParaRPr>
          </a:p>
          <a:p>
            <a:pPr marL="0" indent="0" algn="just">
              <a:buClr>
                <a:srgbClr val="CC3300"/>
              </a:buClr>
              <a:buFont typeface="Wingdings" panose="05000000000000000000" pitchFamily="2" charset="2"/>
              <a:buNone/>
            </a:pPr>
            <a:r>
              <a:rPr lang="en-US" altLang="zh-CN" dirty="0">
                <a:latin typeface="+mn-lt"/>
                <a:ea typeface="+mn-ea"/>
              </a:rPr>
              <a:t>           </a:t>
            </a:r>
            <a:r>
              <a:rPr lang="en-US" altLang="zh-CN" dirty="0">
                <a:solidFill>
                  <a:srgbClr val="0000FF"/>
                </a:solidFill>
                <a:latin typeface="+mn-lt"/>
                <a:ea typeface="+mn-ea"/>
              </a:rPr>
              <a:t>back1 = c;                </a:t>
            </a:r>
            <a:r>
              <a:rPr lang="en-US" altLang="zh-CN" dirty="0">
                <a:solidFill>
                  <a:srgbClr val="00B050"/>
                </a:solidFill>
                <a:latin typeface="+mn-lt"/>
                <a:ea typeface="+mn-ea"/>
              </a:rPr>
              <a:t>// </a:t>
            </a:r>
            <a:r>
              <a:rPr lang="zh-CN" altLang="en-US" dirty="0">
                <a:solidFill>
                  <a:srgbClr val="00B050"/>
                </a:solidFill>
                <a:latin typeface="+mn-lt"/>
                <a:ea typeface="+mn-ea"/>
              </a:rPr>
              <a:t>下一个 </a:t>
            </a:r>
            <a:r>
              <a:rPr lang="en-US" altLang="zh-CN" dirty="0">
                <a:solidFill>
                  <a:srgbClr val="00B050"/>
                </a:solidFill>
                <a:latin typeface="+mn-lt"/>
                <a:ea typeface="+mn-ea"/>
              </a:rPr>
              <a:t>F</a:t>
            </a:r>
            <a:r>
              <a:rPr lang="en-US" altLang="zh-CN" baseline="-25000" dirty="0">
                <a:solidFill>
                  <a:srgbClr val="00B050"/>
                </a:solidFill>
                <a:latin typeface="+mn-lt"/>
                <a:ea typeface="+mn-ea"/>
              </a:rPr>
              <a:t>i-1</a:t>
            </a:r>
            <a:r>
              <a:rPr lang="en-US" altLang="zh-CN" dirty="0">
                <a:solidFill>
                  <a:srgbClr val="00B050"/>
                </a:solidFill>
                <a:latin typeface="+mn-lt"/>
                <a:ea typeface="+mn-ea"/>
              </a:rPr>
              <a:t> = </a:t>
            </a:r>
            <a:r>
              <a:rPr lang="zh-CN" altLang="en-US" dirty="0">
                <a:solidFill>
                  <a:srgbClr val="00B050"/>
                </a:solidFill>
                <a:latin typeface="+mn-lt"/>
                <a:ea typeface="+mn-ea"/>
              </a:rPr>
              <a:t>原来的 </a:t>
            </a:r>
            <a:r>
              <a:rPr lang="en-US" altLang="zh-CN" dirty="0">
                <a:solidFill>
                  <a:srgbClr val="00B050"/>
                </a:solidFill>
                <a:latin typeface="+mn-lt"/>
                <a:ea typeface="+mn-ea"/>
              </a:rPr>
              <a:t>F</a:t>
            </a:r>
            <a:r>
              <a:rPr lang="en-US" altLang="zh-CN" baseline="-25000" dirty="0">
                <a:solidFill>
                  <a:srgbClr val="00B050"/>
                </a:solidFill>
                <a:latin typeface="+mn-lt"/>
                <a:ea typeface="+mn-ea"/>
              </a:rPr>
              <a:t>i</a:t>
            </a:r>
            <a:endParaRPr lang="en-US" altLang="zh-CN" dirty="0">
              <a:solidFill>
                <a:srgbClr val="00B050"/>
              </a:solidFill>
              <a:latin typeface="+mn-lt"/>
              <a:ea typeface="+mn-ea"/>
            </a:endParaRPr>
          </a:p>
          <a:p>
            <a:pPr marL="0" indent="0" algn="just">
              <a:buClr>
                <a:srgbClr val="CC3300"/>
              </a:buClr>
              <a:buFont typeface="Wingdings" panose="05000000000000000000" pitchFamily="2" charset="2"/>
              <a:buNone/>
            </a:pPr>
            <a:r>
              <a:rPr lang="en-US" altLang="zh-CN" dirty="0">
                <a:latin typeface="+mn-lt"/>
                <a:ea typeface="+mn-ea"/>
              </a:rPr>
              <a:t>      </a:t>
            </a:r>
            <a:r>
              <a:rPr lang="en-US" altLang="zh-CN" dirty="0">
                <a:solidFill>
                  <a:srgbClr val="0000FF"/>
                </a:solidFill>
                <a:latin typeface="+mn-lt"/>
                <a:ea typeface="+mn-ea"/>
              </a:rPr>
              <a:t>}</a:t>
            </a:r>
          </a:p>
          <a:p>
            <a:pPr marL="0" indent="0" algn="just">
              <a:buClr>
                <a:srgbClr val="CC3300"/>
              </a:buClr>
              <a:buFont typeface="Wingdings" panose="05000000000000000000" pitchFamily="2" charset="2"/>
              <a:buNone/>
            </a:pPr>
            <a:r>
              <a:rPr lang="en-US" altLang="zh-CN" dirty="0">
                <a:latin typeface="+mn-lt"/>
                <a:ea typeface="+mn-ea"/>
              </a:rPr>
              <a:t>      return c;  }</a:t>
            </a:r>
          </a:p>
        </p:txBody>
      </p:sp>
    </p:spTree>
    <p:extLst>
      <p:ext uri="{BB962C8B-B14F-4D97-AF65-F5344CB8AC3E}">
        <p14:creationId xmlns:p14="http://schemas.microsoft.com/office/powerpoint/2010/main" val="579876168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314" name="Rectangle 2">
            <a:extLst>
              <a:ext uri="{FF2B5EF4-FFF2-40B4-BE49-F238E27FC236}">
                <a16:creationId xmlns:a16="http://schemas.microsoft.com/office/drawing/2014/main" id="{E170B445-5C4E-4374-B37A-10A0E2F467A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89000" y="52044"/>
            <a:ext cx="8229600" cy="811213"/>
          </a:xfrm>
        </p:spPr>
        <p:txBody>
          <a:bodyPr/>
          <a:lstStyle/>
          <a:p>
            <a:r>
              <a:rPr kumimoji="1" lang="zh-CN" altLang="en-US" dirty="0">
                <a:latin typeface="微软雅黑" panose="020B0503020204020204" pitchFamily="34" charset="-122"/>
              </a:rPr>
              <a:t>用栈将递归算法改为非递归算法</a:t>
            </a:r>
          </a:p>
        </p:txBody>
      </p:sp>
      <p:sp>
        <p:nvSpPr>
          <p:cNvPr id="525315" name="Rectangle 3">
            <a:extLst>
              <a:ext uri="{FF2B5EF4-FFF2-40B4-BE49-F238E27FC236}">
                <a16:creationId xmlns:a16="http://schemas.microsoft.com/office/drawing/2014/main" id="{CB36422B-5B7A-44AF-AFA3-6DD6FE660D7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79399" y="764704"/>
            <a:ext cx="8599487" cy="5329238"/>
          </a:xfrm>
        </p:spPr>
        <p:txBody>
          <a:bodyPr/>
          <a:lstStyle/>
          <a:p>
            <a:pPr marL="0" indent="0">
              <a:buClr>
                <a:srgbClr val="800080"/>
              </a:buClr>
              <a:buSzPct val="55000"/>
              <a:buNone/>
            </a:pPr>
            <a:r>
              <a:rPr lang="zh-CN" altLang="en-US" sz="2800" dirty="0">
                <a:latin typeface="+mn-ea"/>
                <a:ea typeface="+mn-ea"/>
              </a:rPr>
              <a:t>以 </a:t>
            </a:r>
            <a:r>
              <a:rPr lang="en-US" altLang="zh-CN" sz="2800" dirty="0">
                <a:latin typeface="+mn-ea"/>
                <a:ea typeface="+mn-ea"/>
              </a:rPr>
              <a:t>Hanoi </a:t>
            </a:r>
            <a:r>
              <a:rPr lang="zh-CN" altLang="en-US" sz="2800" dirty="0">
                <a:latin typeface="+mn-ea"/>
                <a:ea typeface="+mn-ea"/>
              </a:rPr>
              <a:t>为例，它有两个内部递归调用的语句，左侧递归返回还要执行右侧递归，不属于单向递归和尾递归，必须利用</a:t>
            </a:r>
            <a:r>
              <a:rPr lang="zh-CN" altLang="en-US" sz="2800" dirty="0">
                <a:solidFill>
                  <a:srgbClr val="FF0000"/>
                </a:solidFill>
                <a:latin typeface="+mn-ea"/>
                <a:ea typeface="+mn-ea"/>
              </a:rPr>
              <a:t>栈</a:t>
            </a:r>
            <a:r>
              <a:rPr lang="zh-CN" altLang="en-US" sz="2800" dirty="0">
                <a:latin typeface="+mn-ea"/>
                <a:ea typeface="+mn-ea"/>
              </a:rPr>
              <a:t>记录调用状态。</a:t>
            </a:r>
          </a:p>
        </p:txBody>
      </p:sp>
      <p:grpSp>
        <p:nvGrpSpPr>
          <p:cNvPr id="525316" name="Group 4">
            <a:extLst>
              <a:ext uri="{FF2B5EF4-FFF2-40B4-BE49-F238E27FC236}">
                <a16:creationId xmlns:a16="http://schemas.microsoft.com/office/drawing/2014/main" id="{BFE51E57-639C-4861-97F9-D3D7D650D14B}"/>
              </a:ext>
            </a:extLst>
          </p:cNvPr>
          <p:cNvGrpSpPr>
            <a:grpSpLocks/>
          </p:cNvGrpSpPr>
          <p:nvPr/>
        </p:nvGrpSpPr>
        <p:grpSpPr bwMode="auto">
          <a:xfrm>
            <a:off x="503238" y="2960688"/>
            <a:ext cx="8361362" cy="3265487"/>
            <a:chOff x="317" y="1865"/>
            <a:chExt cx="5267" cy="2057"/>
          </a:xfrm>
        </p:grpSpPr>
        <p:sp>
          <p:nvSpPr>
            <p:cNvPr id="525317" name="Line 5">
              <a:extLst>
                <a:ext uri="{FF2B5EF4-FFF2-40B4-BE49-F238E27FC236}">
                  <a16:creationId xmlns:a16="http://schemas.microsoft.com/office/drawing/2014/main" id="{686CDA97-9FB0-4682-A9D5-CEC3F10614E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35" y="2164"/>
              <a:ext cx="0" cy="1107"/>
            </a:xfrm>
            <a:prstGeom prst="line">
              <a:avLst/>
            </a:prstGeom>
            <a:noFill/>
            <a:ln w="22225">
              <a:solidFill>
                <a:schemeClr val="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525318" name="Group 6">
              <a:extLst>
                <a:ext uri="{FF2B5EF4-FFF2-40B4-BE49-F238E27FC236}">
                  <a16:creationId xmlns:a16="http://schemas.microsoft.com/office/drawing/2014/main" id="{9478C934-F96C-43CE-9FF3-A8EEA6FEC66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67" y="1865"/>
              <a:ext cx="1171" cy="288"/>
              <a:chOff x="2367" y="1865"/>
              <a:chExt cx="1171" cy="288"/>
            </a:xfrm>
          </p:grpSpPr>
          <p:sp>
            <p:nvSpPr>
              <p:cNvPr id="525319" name="Rectangle 7">
                <a:extLst>
                  <a:ext uri="{FF2B5EF4-FFF2-40B4-BE49-F238E27FC236}">
                    <a16:creationId xmlns:a16="http://schemas.microsoft.com/office/drawing/2014/main" id="{59BD114F-9639-4CD2-91CA-153D8ABA1F7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67" y="1888"/>
                <a:ext cx="923" cy="265"/>
              </a:xfrm>
              <a:prstGeom prst="rect">
                <a:avLst/>
              </a:prstGeom>
              <a:solidFill>
                <a:srgbClr val="FFFFCC"/>
              </a:solidFill>
              <a:ln w="222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25320" name="Text Box 8">
                <a:extLst>
                  <a:ext uri="{FF2B5EF4-FFF2-40B4-BE49-F238E27FC236}">
                    <a16:creationId xmlns:a16="http://schemas.microsoft.com/office/drawing/2014/main" id="{C95D01DC-5B5C-44C0-ADF6-0CBE7AA08CF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376" y="1865"/>
                <a:ext cx="1162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r>
                  <a:rPr kumimoji="1" lang="en-US" altLang="zh-CN" sz="2400" b="1" baseline="0">
                    <a:latin typeface="Times New Roman" panose="02020603050405020304" pitchFamily="18" charset="0"/>
                  </a:rPr>
                  <a:t>(3,A,B,C)</a:t>
                </a:r>
              </a:p>
            </p:txBody>
          </p:sp>
        </p:grpSp>
        <p:sp>
          <p:nvSpPr>
            <p:cNvPr id="525321" name="Line 9">
              <a:extLst>
                <a:ext uri="{FF2B5EF4-FFF2-40B4-BE49-F238E27FC236}">
                  <a16:creationId xmlns:a16="http://schemas.microsoft.com/office/drawing/2014/main" id="{916365C6-E336-42F9-9609-1BDB0386B4D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0" y="2840"/>
              <a:ext cx="0" cy="976"/>
            </a:xfrm>
            <a:prstGeom prst="line">
              <a:avLst/>
            </a:prstGeom>
            <a:noFill/>
            <a:ln w="22225">
              <a:solidFill>
                <a:schemeClr val="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5322" name="Line 10">
              <a:extLst>
                <a:ext uri="{FF2B5EF4-FFF2-40B4-BE49-F238E27FC236}">
                  <a16:creationId xmlns:a16="http://schemas.microsoft.com/office/drawing/2014/main" id="{3E14C777-DE77-4A74-8978-9B8385AF1AB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22" y="2863"/>
              <a:ext cx="0" cy="976"/>
            </a:xfrm>
            <a:prstGeom prst="line">
              <a:avLst/>
            </a:prstGeom>
            <a:noFill/>
            <a:ln w="22225">
              <a:solidFill>
                <a:schemeClr val="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5323" name="Line 11">
              <a:extLst>
                <a:ext uri="{FF2B5EF4-FFF2-40B4-BE49-F238E27FC236}">
                  <a16:creationId xmlns:a16="http://schemas.microsoft.com/office/drawing/2014/main" id="{6D6C29C0-4F84-4458-8D12-BE6DF52A0A8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70" y="2863"/>
              <a:ext cx="0" cy="988"/>
            </a:xfrm>
            <a:prstGeom prst="line">
              <a:avLst/>
            </a:prstGeom>
            <a:noFill/>
            <a:ln w="22225">
              <a:solidFill>
                <a:schemeClr val="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5324" name="Line 12">
              <a:extLst>
                <a:ext uri="{FF2B5EF4-FFF2-40B4-BE49-F238E27FC236}">
                  <a16:creationId xmlns:a16="http://schemas.microsoft.com/office/drawing/2014/main" id="{8FA71D4A-541B-44E1-AF9F-A292533582B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18" y="2591"/>
              <a:ext cx="0" cy="1111"/>
            </a:xfrm>
            <a:prstGeom prst="line">
              <a:avLst/>
            </a:prstGeom>
            <a:noFill/>
            <a:ln w="22225">
              <a:solidFill>
                <a:schemeClr val="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5325" name="Line 13">
              <a:extLst>
                <a:ext uri="{FF2B5EF4-FFF2-40B4-BE49-F238E27FC236}">
                  <a16:creationId xmlns:a16="http://schemas.microsoft.com/office/drawing/2014/main" id="{B38B2538-3188-4174-8648-93AD5B3573E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21" y="2795"/>
              <a:ext cx="0" cy="976"/>
            </a:xfrm>
            <a:prstGeom prst="line">
              <a:avLst/>
            </a:prstGeom>
            <a:noFill/>
            <a:ln w="22225">
              <a:solidFill>
                <a:schemeClr val="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5326" name="Line 14">
              <a:extLst>
                <a:ext uri="{FF2B5EF4-FFF2-40B4-BE49-F238E27FC236}">
                  <a16:creationId xmlns:a16="http://schemas.microsoft.com/office/drawing/2014/main" id="{D42EB054-B42F-42D4-BBD2-26CB2B63486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25" y="2591"/>
              <a:ext cx="496" cy="437"/>
            </a:xfrm>
            <a:prstGeom prst="line">
              <a:avLst/>
            </a:prstGeom>
            <a:noFill/>
            <a:ln w="22225">
              <a:solidFill>
                <a:schemeClr val="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5327" name="Line 15">
              <a:extLst>
                <a:ext uri="{FF2B5EF4-FFF2-40B4-BE49-F238E27FC236}">
                  <a16:creationId xmlns:a16="http://schemas.microsoft.com/office/drawing/2014/main" id="{7206BE5A-40C3-4D4D-A2AA-3935AFB77CB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51" y="2591"/>
              <a:ext cx="0" cy="1112"/>
            </a:xfrm>
            <a:prstGeom prst="line">
              <a:avLst/>
            </a:prstGeom>
            <a:noFill/>
            <a:ln w="22225">
              <a:solidFill>
                <a:schemeClr val="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5328" name="Line 16">
              <a:extLst>
                <a:ext uri="{FF2B5EF4-FFF2-40B4-BE49-F238E27FC236}">
                  <a16:creationId xmlns:a16="http://schemas.microsoft.com/office/drawing/2014/main" id="{68D9D1CC-7072-4076-A4C4-AEEE003CA13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55" y="2591"/>
              <a:ext cx="454" cy="363"/>
            </a:xfrm>
            <a:prstGeom prst="line">
              <a:avLst/>
            </a:prstGeom>
            <a:noFill/>
            <a:ln w="22225">
              <a:solidFill>
                <a:schemeClr val="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5329" name="Line 17">
              <a:extLst>
                <a:ext uri="{FF2B5EF4-FFF2-40B4-BE49-F238E27FC236}">
                  <a16:creationId xmlns:a16="http://schemas.microsoft.com/office/drawing/2014/main" id="{990DF077-900E-4E6A-9772-8E5DD4319C4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515" y="2591"/>
              <a:ext cx="496" cy="437"/>
            </a:xfrm>
            <a:prstGeom prst="line">
              <a:avLst/>
            </a:prstGeom>
            <a:noFill/>
            <a:ln w="22225">
              <a:solidFill>
                <a:schemeClr val="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5330" name="Line 18">
              <a:extLst>
                <a:ext uri="{FF2B5EF4-FFF2-40B4-BE49-F238E27FC236}">
                  <a16:creationId xmlns:a16="http://schemas.microsoft.com/office/drawing/2014/main" id="{73C39DFC-8E6B-4C00-A1AD-5F57A4834A5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09" y="2591"/>
              <a:ext cx="467" cy="385"/>
            </a:xfrm>
            <a:prstGeom prst="line">
              <a:avLst/>
            </a:prstGeom>
            <a:noFill/>
            <a:ln w="22225">
              <a:solidFill>
                <a:schemeClr val="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5331" name="Line 19">
              <a:extLst>
                <a:ext uri="{FF2B5EF4-FFF2-40B4-BE49-F238E27FC236}">
                  <a16:creationId xmlns:a16="http://schemas.microsoft.com/office/drawing/2014/main" id="{28FC5766-2EE3-439F-A443-923560E494E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882" y="2160"/>
              <a:ext cx="652" cy="181"/>
            </a:xfrm>
            <a:prstGeom prst="line">
              <a:avLst/>
            </a:prstGeom>
            <a:noFill/>
            <a:ln w="22225">
              <a:solidFill>
                <a:schemeClr val="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525332" name="Group 20">
              <a:extLst>
                <a:ext uri="{FF2B5EF4-FFF2-40B4-BE49-F238E27FC236}">
                  <a16:creationId xmlns:a16="http://schemas.microsoft.com/office/drawing/2014/main" id="{AA5653DD-59C4-4919-9DC4-F1356912956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94" y="3210"/>
              <a:ext cx="771" cy="288"/>
              <a:chOff x="2744" y="2682"/>
              <a:chExt cx="771" cy="288"/>
            </a:xfrm>
          </p:grpSpPr>
          <p:sp>
            <p:nvSpPr>
              <p:cNvPr id="525333" name="AutoShape 21">
                <a:extLst>
                  <a:ext uri="{FF2B5EF4-FFF2-40B4-BE49-F238E27FC236}">
                    <a16:creationId xmlns:a16="http://schemas.microsoft.com/office/drawing/2014/main" id="{24D22ADC-88EB-4099-B378-CF1FA30E85D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44" y="2682"/>
                <a:ext cx="658" cy="272"/>
              </a:xfrm>
              <a:prstGeom prst="flowChartAlternateProcess">
                <a:avLst/>
              </a:prstGeom>
              <a:solidFill>
                <a:srgbClr val="CCFFCC"/>
              </a:solidFill>
              <a:ln w="222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25334" name="Text Box 22">
                <a:extLst>
                  <a:ext uri="{FF2B5EF4-FFF2-40B4-BE49-F238E27FC236}">
                    <a16:creationId xmlns:a16="http://schemas.microsoft.com/office/drawing/2014/main" id="{03D692AB-DAE8-4528-8C27-34CE8A673C0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766" y="2682"/>
                <a:ext cx="749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r>
                  <a:rPr kumimoji="1" lang="en-US" altLang="zh-CN" sz="2400" b="1" baseline="0">
                    <a:latin typeface="Times New Roman" panose="02020603050405020304" pitchFamily="18" charset="0"/>
                  </a:rPr>
                  <a:t>A</a:t>
                </a:r>
                <a:r>
                  <a:rPr kumimoji="1" lang="en-US" altLang="zh-CN" sz="2400" b="1" baseline="0">
                    <a:latin typeface="Courier New" panose="02070309020205020404" pitchFamily="49" charset="0"/>
                    <a:ea typeface="楷体_GB2312" pitchFamily="49" charset="-122"/>
                  </a:rPr>
                  <a:t>-&gt;</a:t>
                </a:r>
                <a:r>
                  <a:rPr kumimoji="1" lang="en-US" altLang="zh-CN" sz="2400" b="1" baseline="0">
                    <a:latin typeface="Times New Roman" panose="02020603050405020304" pitchFamily="18" charset="0"/>
                  </a:rPr>
                  <a:t>C</a:t>
                </a:r>
              </a:p>
            </p:txBody>
          </p:sp>
        </p:grpSp>
        <p:sp>
          <p:nvSpPr>
            <p:cNvPr id="525335" name="Line 23">
              <a:extLst>
                <a:ext uri="{FF2B5EF4-FFF2-40B4-BE49-F238E27FC236}">
                  <a16:creationId xmlns:a16="http://schemas.microsoft.com/office/drawing/2014/main" id="{50522CD9-A1A6-43B3-B4C6-6CFEFE3F339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29" y="2160"/>
              <a:ext cx="794" cy="204"/>
            </a:xfrm>
            <a:prstGeom prst="line">
              <a:avLst/>
            </a:prstGeom>
            <a:noFill/>
            <a:ln w="22225">
              <a:solidFill>
                <a:schemeClr val="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525336" name="Group 24">
              <a:extLst>
                <a:ext uri="{FF2B5EF4-FFF2-40B4-BE49-F238E27FC236}">
                  <a16:creationId xmlns:a16="http://schemas.microsoft.com/office/drawing/2014/main" id="{706DC508-1749-4737-B83D-B62DE3217FA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83" y="2303"/>
              <a:ext cx="1171" cy="288"/>
              <a:chOff x="907" y="2409"/>
              <a:chExt cx="1171" cy="288"/>
            </a:xfrm>
          </p:grpSpPr>
          <p:sp>
            <p:nvSpPr>
              <p:cNvPr id="525337" name="Rectangle 25">
                <a:extLst>
                  <a:ext uri="{FF2B5EF4-FFF2-40B4-BE49-F238E27FC236}">
                    <a16:creationId xmlns:a16="http://schemas.microsoft.com/office/drawing/2014/main" id="{6291922F-FFA0-4F78-8E5B-11BED1468A3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07" y="2432"/>
                <a:ext cx="923" cy="265"/>
              </a:xfrm>
              <a:prstGeom prst="rect">
                <a:avLst/>
              </a:prstGeom>
              <a:solidFill>
                <a:srgbClr val="FFFFCC"/>
              </a:solidFill>
              <a:ln w="222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25338" name="Text Box 26">
                <a:extLst>
                  <a:ext uri="{FF2B5EF4-FFF2-40B4-BE49-F238E27FC236}">
                    <a16:creationId xmlns:a16="http://schemas.microsoft.com/office/drawing/2014/main" id="{6A59E18C-73D2-4D7A-BB96-CDB4C952DE5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16" y="2409"/>
                <a:ext cx="1162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r>
                  <a:rPr kumimoji="1" lang="en-US" altLang="zh-CN" sz="2400" b="1" baseline="0">
                    <a:latin typeface="Times New Roman" panose="02020603050405020304" pitchFamily="18" charset="0"/>
                  </a:rPr>
                  <a:t>(2,A,C,B)</a:t>
                </a:r>
              </a:p>
            </p:txBody>
          </p:sp>
        </p:grpSp>
        <p:grpSp>
          <p:nvGrpSpPr>
            <p:cNvPr id="525339" name="Group 27">
              <a:extLst>
                <a:ext uri="{FF2B5EF4-FFF2-40B4-BE49-F238E27FC236}">
                  <a16:creationId xmlns:a16="http://schemas.microsoft.com/office/drawing/2014/main" id="{14EF5ED9-5F5A-463D-A8B8-B83091A61A5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67" y="2303"/>
              <a:ext cx="1171" cy="288"/>
              <a:chOff x="2367" y="1865"/>
              <a:chExt cx="1171" cy="288"/>
            </a:xfrm>
          </p:grpSpPr>
          <p:sp>
            <p:nvSpPr>
              <p:cNvPr id="525340" name="Rectangle 28">
                <a:extLst>
                  <a:ext uri="{FF2B5EF4-FFF2-40B4-BE49-F238E27FC236}">
                    <a16:creationId xmlns:a16="http://schemas.microsoft.com/office/drawing/2014/main" id="{66DFFCFE-5223-4AAB-956C-50289BF022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67" y="1888"/>
                <a:ext cx="923" cy="265"/>
              </a:xfrm>
              <a:prstGeom prst="rect">
                <a:avLst/>
              </a:prstGeom>
              <a:solidFill>
                <a:srgbClr val="FFFFCC"/>
              </a:solidFill>
              <a:ln w="222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25341" name="Text Box 29">
                <a:extLst>
                  <a:ext uri="{FF2B5EF4-FFF2-40B4-BE49-F238E27FC236}">
                    <a16:creationId xmlns:a16="http://schemas.microsoft.com/office/drawing/2014/main" id="{730C7966-3105-47E6-8F6B-986C347FF6D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376" y="1865"/>
                <a:ext cx="1162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r>
                  <a:rPr kumimoji="1" lang="en-US" altLang="zh-CN" sz="2400" b="1" baseline="0">
                    <a:latin typeface="Times New Roman" panose="02020603050405020304" pitchFamily="18" charset="0"/>
                  </a:rPr>
                  <a:t>(1,A,B,C)</a:t>
                </a:r>
              </a:p>
            </p:txBody>
          </p:sp>
        </p:grpSp>
        <p:grpSp>
          <p:nvGrpSpPr>
            <p:cNvPr id="525342" name="Group 30">
              <a:extLst>
                <a:ext uri="{FF2B5EF4-FFF2-40B4-BE49-F238E27FC236}">
                  <a16:creationId xmlns:a16="http://schemas.microsoft.com/office/drawing/2014/main" id="{B46D263E-DA77-4354-A47C-F5185712BE0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42" y="2303"/>
              <a:ext cx="1171" cy="288"/>
              <a:chOff x="2367" y="1865"/>
              <a:chExt cx="1171" cy="288"/>
            </a:xfrm>
          </p:grpSpPr>
          <p:sp>
            <p:nvSpPr>
              <p:cNvPr id="525343" name="Rectangle 31">
                <a:extLst>
                  <a:ext uri="{FF2B5EF4-FFF2-40B4-BE49-F238E27FC236}">
                    <a16:creationId xmlns:a16="http://schemas.microsoft.com/office/drawing/2014/main" id="{AA78C110-ABEB-45C6-8150-9BD5170675E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67" y="1888"/>
                <a:ext cx="923" cy="265"/>
              </a:xfrm>
              <a:prstGeom prst="rect">
                <a:avLst/>
              </a:prstGeom>
              <a:solidFill>
                <a:srgbClr val="FFFFCC"/>
              </a:solidFill>
              <a:ln w="222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25344" name="Text Box 32">
                <a:extLst>
                  <a:ext uri="{FF2B5EF4-FFF2-40B4-BE49-F238E27FC236}">
                    <a16:creationId xmlns:a16="http://schemas.microsoft.com/office/drawing/2014/main" id="{6F736FE6-9494-4776-8A5E-F782D920A93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376" y="1865"/>
                <a:ext cx="1162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r>
                  <a:rPr kumimoji="1" lang="en-US" altLang="zh-CN" sz="2400" b="1" baseline="0">
                    <a:latin typeface="Times New Roman" panose="02020603050405020304" pitchFamily="18" charset="0"/>
                  </a:rPr>
                  <a:t>(2,B,A,C)</a:t>
                </a:r>
              </a:p>
            </p:txBody>
          </p:sp>
        </p:grpSp>
        <p:grpSp>
          <p:nvGrpSpPr>
            <p:cNvPr id="525346" name="Group 34">
              <a:extLst>
                <a:ext uri="{FF2B5EF4-FFF2-40B4-BE49-F238E27FC236}">
                  <a16:creationId xmlns:a16="http://schemas.microsoft.com/office/drawing/2014/main" id="{2952C2E0-DBC2-4E4C-9E5A-365974F0793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26" y="2757"/>
              <a:ext cx="1171" cy="288"/>
              <a:chOff x="907" y="2409"/>
              <a:chExt cx="1171" cy="288"/>
            </a:xfrm>
          </p:grpSpPr>
          <p:sp>
            <p:nvSpPr>
              <p:cNvPr id="525347" name="Rectangle 35">
                <a:extLst>
                  <a:ext uri="{FF2B5EF4-FFF2-40B4-BE49-F238E27FC236}">
                    <a16:creationId xmlns:a16="http://schemas.microsoft.com/office/drawing/2014/main" id="{F10A704D-2722-4D37-98B2-C6DBFA5E17F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07" y="2432"/>
                <a:ext cx="923" cy="265"/>
              </a:xfrm>
              <a:prstGeom prst="rect">
                <a:avLst/>
              </a:prstGeom>
              <a:solidFill>
                <a:srgbClr val="FFFFCC"/>
              </a:solidFill>
              <a:ln w="222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25348" name="Text Box 36">
                <a:extLst>
                  <a:ext uri="{FF2B5EF4-FFF2-40B4-BE49-F238E27FC236}">
                    <a16:creationId xmlns:a16="http://schemas.microsoft.com/office/drawing/2014/main" id="{7536FDBF-A1C5-4F4B-9768-7B5FE1B960C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16" y="2409"/>
                <a:ext cx="1162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r>
                  <a:rPr kumimoji="1" lang="en-US" altLang="zh-CN" sz="2400" b="1" baseline="0">
                    <a:latin typeface="Times New Roman" panose="02020603050405020304" pitchFamily="18" charset="0"/>
                  </a:rPr>
                  <a:t>(1,A,B,C)</a:t>
                </a:r>
              </a:p>
            </p:txBody>
          </p:sp>
        </p:grpSp>
        <p:grpSp>
          <p:nvGrpSpPr>
            <p:cNvPr id="525349" name="Group 37">
              <a:extLst>
                <a:ext uri="{FF2B5EF4-FFF2-40B4-BE49-F238E27FC236}">
                  <a16:creationId xmlns:a16="http://schemas.microsoft.com/office/drawing/2014/main" id="{79B8F394-485E-4449-948D-FEAE966CADD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83" y="3181"/>
              <a:ext cx="1171" cy="288"/>
              <a:chOff x="2367" y="1865"/>
              <a:chExt cx="1171" cy="288"/>
            </a:xfrm>
          </p:grpSpPr>
          <p:sp>
            <p:nvSpPr>
              <p:cNvPr id="525350" name="Rectangle 38">
                <a:extLst>
                  <a:ext uri="{FF2B5EF4-FFF2-40B4-BE49-F238E27FC236}">
                    <a16:creationId xmlns:a16="http://schemas.microsoft.com/office/drawing/2014/main" id="{1DC90604-4927-4E77-B82B-29EA696B7C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67" y="1888"/>
                <a:ext cx="923" cy="265"/>
              </a:xfrm>
              <a:prstGeom prst="rect">
                <a:avLst/>
              </a:prstGeom>
              <a:solidFill>
                <a:srgbClr val="FFFFCC"/>
              </a:solidFill>
              <a:ln w="222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25351" name="Text Box 39">
                <a:extLst>
                  <a:ext uri="{FF2B5EF4-FFF2-40B4-BE49-F238E27FC236}">
                    <a16:creationId xmlns:a16="http://schemas.microsoft.com/office/drawing/2014/main" id="{4872AFB2-BE45-40BA-B4E0-C5F504B7E46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376" y="1865"/>
                <a:ext cx="1162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r>
                  <a:rPr kumimoji="1" lang="en-US" altLang="zh-CN" sz="2400" b="1" baseline="0">
                    <a:latin typeface="Times New Roman" panose="02020603050405020304" pitchFamily="18" charset="0"/>
                  </a:rPr>
                  <a:t>(1,A,C,B)</a:t>
                </a:r>
              </a:p>
            </p:txBody>
          </p:sp>
        </p:grpSp>
        <p:grpSp>
          <p:nvGrpSpPr>
            <p:cNvPr id="525352" name="Group 40">
              <a:extLst>
                <a:ext uri="{FF2B5EF4-FFF2-40B4-BE49-F238E27FC236}">
                  <a16:creationId xmlns:a16="http://schemas.microsoft.com/office/drawing/2014/main" id="{10AB0D4B-844B-448D-86DC-E92770ED517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655" y="2757"/>
              <a:ext cx="1171" cy="288"/>
              <a:chOff x="2367" y="1865"/>
              <a:chExt cx="1171" cy="288"/>
            </a:xfrm>
          </p:grpSpPr>
          <p:sp>
            <p:nvSpPr>
              <p:cNvPr id="525353" name="Rectangle 41">
                <a:extLst>
                  <a:ext uri="{FF2B5EF4-FFF2-40B4-BE49-F238E27FC236}">
                    <a16:creationId xmlns:a16="http://schemas.microsoft.com/office/drawing/2014/main" id="{FDC76F91-AD72-4BA8-9BF9-5E060B4304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67" y="1888"/>
                <a:ext cx="923" cy="265"/>
              </a:xfrm>
              <a:prstGeom prst="rect">
                <a:avLst/>
              </a:prstGeom>
              <a:solidFill>
                <a:srgbClr val="FFFFCC"/>
              </a:solidFill>
              <a:ln w="222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25354" name="Text Box 42">
                <a:extLst>
                  <a:ext uri="{FF2B5EF4-FFF2-40B4-BE49-F238E27FC236}">
                    <a16:creationId xmlns:a16="http://schemas.microsoft.com/office/drawing/2014/main" id="{AD75A8D1-C2CE-40EA-AC95-2739477B7D5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376" y="1865"/>
                <a:ext cx="1162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r>
                  <a:rPr kumimoji="1" lang="en-US" altLang="zh-CN" sz="2400" b="1" baseline="0">
                    <a:latin typeface="Times New Roman" panose="02020603050405020304" pitchFamily="18" charset="0"/>
                  </a:rPr>
                  <a:t>(1,C,A,B)</a:t>
                </a:r>
              </a:p>
            </p:txBody>
          </p:sp>
        </p:grpSp>
        <p:grpSp>
          <p:nvGrpSpPr>
            <p:cNvPr id="525355" name="Group 43">
              <a:extLst>
                <a:ext uri="{FF2B5EF4-FFF2-40B4-BE49-F238E27FC236}">
                  <a16:creationId xmlns:a16="http://schemas.microsoft.com/office/drawing/2014/main" id="{88BCA1DE-614A-4BFD-A805-1E533297C88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084" y="2763"/>
              <a:ext cx="1171" cy="288"/>
              <a:chOff x="907" y="2409"/>
              <a:chExt cx="1171" cy="288"/>
            </a:xfrm>
          </p:grpSpPr>
          <p:sp>
            <p:nvSpPr>
              <p:cNvPr id="525356" name="Rectangle 44">
                <a:extLst>
                  <a:ext uri="{FF2B5EF4-FFF2-40B4-BE49-F238E27FC236}">
                    <a16:creationId xmlns:a16="http://schemas.microsoft.com/office/drawing/2014/main" id="{A247CC6F-1D40-4343-BA6A-029D84619C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07" y="2432"/>
                <a:ext cx="923" cy="265"/>
              </a:xfrm>
              <a:prstGeom prst="rect">
                <a:avLst/>
              </a:prstGeom>
              <a:solidFill>
                <a:srgbClr val="FFFFCC"/>
              </a:solidFill>
              <a:ln w="222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25357" name="Text Box 45">
                <a:extLst>
                  <a:ext uri="{FF2B5EF4-FFF2-40B4-BE49-F238E27FC236}">
                    <a16:creationId xmlns:a16="http://schemas.microsoft.com/office/drawing/2014/main" id="{BA6F1370-C54D-4143-9D9D-CB4E1D0A065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16" y="2409"/>
                <a:ext cx="1162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r>
                  <a:rPr kumimoji="1" lang="en-US" altLang="zh-CN" sz="2400" b="1" baseline="0">
                    <a:latin typeface="Times New Roman" panose="02020603050405020304" pitchFamily="18" charset="0"/>
                  </a:rPr>
                  <a:t>(1,B,C,A)</a:t>
                </a:r>
              </a:p>
            </p:txBody>
          </p:sp>
        </p:grpSp>
        <p:grpSp>
          <p:nvGrpSpPr>
            <p:cNvPr id="525358" name="Group 46">
              <a:extLst>
                <a:ext uri="{FF2B5EF4-FFF2-40B4-BE49-F238E27FC236}">
                  <a16:creationId xmlns:a16="http://schemas.microsoft.com/office/drawing/2014/main" id="{0B38C12A-DE27-4B4F-A2A1-4DED5B42768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41" y="3187"/>
              <a:ext cx="1171" cy="288"/>
              <a:chOff x="2367" y="1865"/>
              <a:chExt cx="1171" cy="288"/>
            </a:xfrm>
          </p:grpSpPr>
          <p:sp>
            <p:nvSpPr>
              <p:cNvPr id="525359" name="Rectangle 47">
                <a:extLst>
                  <a:ext uri="{FF2B5EF4-FFF2-40B4-BE49-F238E27FC236}">
                    <a16:creationId xmlns:a16="http://schemas.microsoft.com/office/drawing/2014/main" id="{9560AA02-AEBA-460A-BBEA-8F74BB57891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67" y="1888"/>
                <a:ext cx="923" cy="265"/>
              </a:xfrm>
              <a:prstGeom prst="rect">
                <a:avLst/>
              </a:prstGeom>
              <a:solidFill>
                <a:srgbClr val="FFFFCC"/>
              </a:solidFill>
              <a:ln w="222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25360" name="Text Box 48">
                <a:extLst>
                  <a:ext uri="{FF2B5EF4-FFF2-40B4-BE49-F238E27FC236}">
                    <a16:creationId xmlns:a16="http://schemas.microsoft.com/office/drawing/2014/main" id="{DF582A98-50F8-442F-883D-E24726419F5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376" y="1865"/>
                <a:ext cx="1162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r>
                  <a:rPr kumimoji="1" lang="en-US" altLang="zh-CN" sz="2400" b="1" baseline="0">
                    <a:latin typeface="Times New Roman" panose="02020603050405020304" pitchFamily="18" charset="0"/>
                  </a:rPr>
                  <a:t>(1,B,A,C)</a:t>
                </a:r>
              </a:p>
            </p:txBody>
          </p:sp>
        </p:grpSp>
        <p:grpSp>
          <p:nvGrpSpPr>
            <p:cNvPr id="525361" name="Group 49">
              <a:extLst>
                <a:ext uri="{FF2B5EF4-FFF2-40B4-BE49-F238E27FC236}">
                  <a16:creationId xmlns:a16="http://schemas.microsoft.com/office/drawing/2014/main" id="{05FDB055-C9F6-48C2-B9FB-AE27539904C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13" y="2763"/>
              <a:ext cx="1171" cy="288"/>
              <a:chOff x="2367" y="1865"/>
              <a:chExt cx="1171" cy="288"/>
            </a:xfrm>
          </p:grpSpPr>
          <p:sp>
            <p:nvSpPr>
              <p:cNvPr id="525362" name="Rectangle 50">
                <a:extLst>
                  <a:ext uri="{FF2B5EF4-FFF2-40B4-BE49-F238E27FC236}">
                    <a16:creationId xmlns:a16="http://schemas.microsoft.com/office/drawing/2014/main" id="{E8DDE01D-9897-4900-9ED1-B1A8C012BC5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67" y="1888"/>
                <a:ext cx="923" cy="265"/>
              </a:xfrm>
              <a:prstGeom prst="rect">
                <a:avLst/>
              </a:prstGeom>
              <a:solidFill>
                <a:srgbClr val="FFFFCC"/>
              </a:solidFill>
              <a:ln w="222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25363" name="Text Box 51">
                <a:extLst>
                  <a:ext uri="{FF2B5EF4-FFF2-40B4-BE49-F238E27FC236}">
                    <a16:creationId xmlns:a16="http://schemas.microsoft.com/office/drawing/2014/main" id="{6E769CA0-C4DE-4B51-A5AA-2482A038EFD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376" y="1865"/>
                <a:ext cx="1162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r>
                  <a:rPr kumimoji="1" lang="en-US" altLang="zh-CN" sz="2400" b="1" baseline="0">
                    <a:latin typeface="Times New Roman" panose="02020603050405020304" pitchFamily="18" charset="0"/>
                  </a:rPr>
                  <a:t>(1,A,B,C)</a:t>
                </a:r>
              </a:p>
            </p:txBody>
          </p:sp>
        </p:grpSp>
        <p:grpSp>
          <p:nvGrpSpPr>
            <p:cNvPr id="525364" name="Group 52">
              <a:extLst>
                <a:ext uri="{FF2B5EF4-FFF2-40B4-BE49-F238E27FC236}">
                  <a16:creationId xmlns:a16="http://schemas.microsoft.com/office/drawing/2014/main" id="{27102D42-8A7D-4475-BBA0-0D5640DA7CA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7" y="3634"/>
              <a:ext cx="771" cy="288"/>
              <a:chOff x="2744" y="2682"/>
              <a:chExt cx="771" cy="288"/>
            </a:xfrm>
          </p:grpSpPr>
          <p:sp>
            <p:nvSpPr>
              <p:cNvPr id="525365" name="AutoShape 53">
                <a:extLst>
                  <a:ext uri="{FF2B5EF4-FFF2-40B4-BE49-F238E27FC236}">
                    <a16:creationId xmlns:a16="http://schemas.microsoft.com/office/drawing/2014/main" id="{A46DB460-CB2F-4221-8598-4E9D20958C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44" y="2682"/>
                <a:ext cx="658" cy="272"/>
              </a:xfrm>
              <a:prstGeom prst="flowChartAlternateProcess">
                <a:avLst/>
              </a:prstGeom>
              <a:solidFill>
                <a:srgbClr val="CCFFCC"/>
              </a:solidFill>
              <a:ln w="222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25366" name="Text Box 54">
                <a:extLst>
                  <a:ext uri="{FF2B5EF4-FFF2-40B4-BE49-F238E27FC236}">
                    <a16:creationId xmlns:a16="http://schemas.microsoft.com/office/drawing/2014/main" id="{C9EFF122-0737-44DC-9435-8AD8DD5DF9F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766" y="2682"/>
                <a:ext cx="749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r>
                  <a:rPr kumimoji="1" lang="en-US" altLang="zh-CN" sz="2400" b="1" baseline="0">
                    <a:latin typeface="Times New Roman" panose="02020603050405020304" pitchFamily="18" charset="0"/>
                  </a:rPr>
                  <a:t>A</a:t>
                </a:r>
                <a:r>
                  <a:rPr kumimoji="1" lang="en-US" altLang="zh-CN" sz="2400" b="1" baseline="0">
                    <a:latin typeface="Courier New" panose="02070309020205020404" pitchFamily="49" charset="0"/>
                    <a:ea typeface="楷体_GB2312" pitchFamily="49" charset="-122"/>
                  </a:rPr>
                  <a:t>-&gt;</a:t>
                </a:r>
                <a:r>
                  <a:rPr kumimoji="1" lang="en-US" altLang="zh-CN" sz="2400" b="1" baseline="0">
                    <a:latin typeface="Times New Roman" panose="02020603050405020304" pitchFamily="18" charset="0"/>
                  </a:rPr>
                  <a:t>C</a:t>
                </a:r>
              </a:p>
            </p:txBody>
          </p:sp>
        </p:grpSp>
        <p:grpSp>
          <p:nvGrpSpPr>
            <p:cNvPr id="525367" name="Group 55">
              <a:extLst>
                <a:ext uri="{FF2B5EF4-FFF2-40B4-BE49-F238E27FC236}">
                  <a16:creationId xmlns:a16="http://schemas.microsoft.com/office/drawing/2014/main" id="{50CD55EC-B729-4914-A184-4C277CDD18C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111" y="3634"/>
              <a:ext cx="771" cy="288"/>
              <a:chOff x="2744" y="2682"/>
              <a:chExt cx="771" cy="288"/>
            </a:xfrm>
          </p:grpSpPr>
          <p:sp>
            <p:nvSpPr>
              <p:cNvPr id="525368" name="AutoShape 56">
                <a:extLst>
                  <a:ext uri="{FF2B5EF4-FFF2-40B4-BE49-F238E27FC236}">
                    <a16:creationId xmlns:a16="http://schemas.microsoft.com/office/drawing/2014/main" id="{7BF4A831-A339-4A1A-921C-A10CCBFECC4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44" y="2682"/>
                <a:ext cx="658" cy="272"/>
              </a:xfrm>
              <a:prstGeom prst="flowChartAlternateProcess">
                <a:avLst/>
              </a:prstGeom>
              <a:solidFill>
                <a:srgbClr val="CCFFCC"/>
              </a:solidFill>
              <a:ln w="222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25369" name="Text Box 57">
                <a:extLst>
                  <a:ext uri="{FF2B5EF4-FFF2-40B4-BE49-F238E27FC236}">
                    <a16:creationId xmlns:a16="http://schemas.microsoft.com/office/drawing/2014/main" id="{4494171C-9249-4D3A-A22B-8E040844F3F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766" y="2682"/>
                <a:ext cx="749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r>
                  <a:rPr kumimoji="1" lang="en-US" altLang="zh-CN" sz="2400" b="1" baseline="0">
                    <a:latin typeface="Times New Roman" panose="02020603050405020304" pitchFamily="18" charset="0"/>
                  </a:rPr>
                  <a:t>A</a:t>
                </a:r>
                <a:r>
                  <a:rPr kumimoji="1" lang="en-US" altLang="zh-CN" sz="2400" b="1" baseline="0">
                    <a:latin typeface="Courier New" panose="02070309020205020404" pitchFamily="49" charset="0"/>
                    <a:ea typeface="楷体_GB2312" pitchFamily="49" charset="-122"/>
                  </a:rPr>
                  <a:t>-&gt;</a:t>
                </a:r>
                <a:r>
                  <a:rPr kumimoji="1" lang="en-US" altLang="zh-CN" sz="2400" b="1" baseline="0">
                    <a:latin typeface="Times New Roman" panose="02020603050405020304" pitchFamily="18" charset="0"/>
                  </a:rPr>
                  <a:t>B</a:t>
                </a:r>
              </a:p>
            </p:txBody>
          </p:sp>
        </p:grpSp>
        <p:grpSp>
          <p:nvGrpSpPr>
            <p:cNvPr id="525370" name="Group 58">
              <a:extLst>
                <a:ext uri="{FF2B5EF4-FFF2-40B4-BE49-F238E27FC236}">
                  <a16:creationId xmlns:a16="http://schemas.microsoft.com/office/drawing/2014/main" id="{FFE82ACA-AB50-4A1C-90E0-5BC87615647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05" y="3634"/>
              <a:ext cx="771" cy="288"/>
              <a:chOff x="2744" y="2682"/>
              <a:chExt cx="771" cy="288"/>
            </a:xfrm>
          </p:grpSpPr>
          <p:sp>
            <p:nvSpPr>
              <p:cNvPr id="525371" name="AutoShape 59">
                <a:extLst>
                  <a:ext uri="{FF2B5EF4-FFF2-40B4-BE49-F238E27FC236}">
                    <a16:creationId xmlns:a16="http://schemas.microsoft.com/office/drawing/2014/main" id="{A0258E12-D444-4601-9960-53072744D37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44" y="2682"/>
                <a:ext cx="658" cy="272"/>
              </a:xfrm>
              <a:prstGeom prst="flowChartAlternateProcess">
                <a:avLst/>
              </a:prstGeom>
              <a:solidFill>
                <a:srgbClr val="CCFFCC"/>
              </a:solidFill>
              <a:ln w="222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25372" name="Text Box 60">
                <a:extLst>
                  <a:ext uri="{FF2B5EF4-FFF2-40B4-BE49-F238E27FC236}">
                    <a16:creationId xmlns:a16="http://schemas.microsoft.com/office/drawing/2014/main" id="{99B82000-FE5D-4E81-B182-0F9B9032074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766" y="2682"/>
                <a:ext cx="749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r>
                  <a:rPr kumimoji="1" lang="en-US" altLang="zh-CN" sz="2400" b="1" baseline="0">
                    <a:latin typeface="Times New Roman" panose="02020603050405020304" pitchFamily="18" charset="0"/>
                  </a:rPr>
                  <a:t>C</a:t>
                </a:r>
                <a:r>
                  <a:rPr kumimoji="1" lang="en-US" altLang="zh-CN" sz="2400" b="1" baseline="0">
                    <a:latin typeface="Courier New" panose="02070309020205020404" pitchFamily="49" charset="0"/>
                    <a:ea typeface="楷体_GB2312" pitchFamily="49" charset="-122"/>
                  </a:rPr>
                  <a:t>-&gt;</a:t>
                </a:r>
                <a:r>
                  <a:rPr kumimoji="1" lang="en-US" altLang="zh-CN" sz="2400" b="1" baseline="0">
                    <a:latin typeface="Times New Roman" panose="02020603050405020304" pitchFamily="18" charset="0"/>
                  </a:rPr>
                  <a:t>B</a:t>
                </a:r>
              </a:p>
            </p:txBody>
          </p:sp>
        </p:grpSp>
        <p:grpSp>
          <p:nvGrpSpPr>
            <p:cNvPr id="525373" name="Group 61">
              <a:extLst>
                <a:ext uri="{FF2B5EF4-FFF2-40B4-BE49-F238E27FC236}">
                  <a16:creationId xmlns:a16="http://schemas.microsoft.com/office/drawing/2014/main" id="{F19AD0CE-476C-456C-9E93-6FEB84A2BF3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06" y="3634"/>
              <a:ext cx="771" cy="288"/>
              <a:chOff x="2744" y="2682"/>
              <a:chExt cx="771" cy="288"/>
            </a:xfrm>
          </p:grpSpPr>
          <p:sp>
            <p:nvSpPr>
              <p:cNvPr id="525374" name="AutoShape 62">
                <a:extLst>
                  <a:ext uri="{FF2B5EF4-FFF2-40B4-BE49-F238E27FC236}">
                    <a16:creationId xmlns:a16="http://schemas.microsoft.com/office/drawing/2014/main" id="{316A4796-CEC9-4FA9-9D6D-2BEFA51AFE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44" y="2682"/>
                <a:ext cx="658" cy="272"/>
              </a:xfrm>
              <a:prstGeom prst="flowChartAlternateProcess">
                <a:avLst/>
              </a:prstGeom>
              <a:solidFill>
                <a:srgbClr val="CCFFCC"/>
              </a:solidFill>
              <a:ln w="222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25375" name="Text Box 63">
                <a:extLst>
                  <a:ext uri="{FF2B5EF4-FFF2-40B4-BE49-F238E27FC236}">
                    <a16:creationId xmlns:a16="http://schemas.microsoft.com/office/drawing/2014/main" id="{68BB9499-C3C1-48A8-8026-6FBCF12DA57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766" y="2682"/>
                <a:ext cx="749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r>
                  <a:rPr kumimoji="1" lang="en-US" altLang="zh-CN" sz="2400" b="1" baseline="0">
                    <a:latin typeface="Times New Roman" panose="02020603050405020304" pitchFamily="18" charset="0"/>
                  </a:rPr>
                  <a:t>B</a:t>
                </a:r>
                <a:r>
                  <a:rPr kumimoji="1" lang="en-US" altLang="zh-CN" sz="2400" b="1" baseline="0">
                    <a:latin typeface="Courier New" panose="02070309020205020404" pitchFamily="49" charset="0"/>
                    <a:ea typeface="楷体_GB2312" pitchFamily="49" charset="-122"/>
                  </a:rPr>
                  <a:t>-&gt;</a:t>
                </a:r>
                <a:r>
                  <a:rPr kumimoji="1" lang="en-US" altLang="zh-CN" sz="2400" b="1" baseline="0">
                    <a:latin typeface="Times New Roman" panose="02020603050405020304" pitchFamily="18" charset="0"/>
                  </a:rPr>
                  <a:t>A</a:t>
                </a:r>
              </a:p>
            </p:txBody>
          </p:sp>
        </p:grpSp>
        <p:grpSp>
          <p:nvGrpSpPr>
            <p:cNvPr id="525376" name="Group 64">
              <a:extLst>
                <a:ext uri="{FF2B5EF4-FFF2-40B4-BE49-F238E27FC236}">
                  <a16:creationId xmlns:a16="http://schemas.microsoft.com/office/drawing/2014/main" id="{7EFACC69-7AAC-4AF2-A211-20AC688F742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900" y="3634"/>
              <a:ext cx="771" cy="288"/>
              <a:chOff x="2744" y="2682"/>
              <a:chExt cx="771" cy="288"/>
            </a:xfrm>
          </p:grpSpPr>
          <p:sp>
            <p:nvSpPr>
              <p:cNvPr id="525377" name="AutoShape 65">
                <a:extLst>
                  <a:ext uri="{FF2B5EF4-FFF2-40B4-BE49-F238E27FC236}">
                    <a16:creationId xmlns:a16="http://schemas.microsoft.com/office/drawing/2014/main" id="{B5177665-9974-4775-91DA-CCC6D3F0834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44" y="2682"/>
                <a:ext cx="658" cy="272"/>
              </a:xfrm>
              <a:prstGeom prst="flowChartAlternateProcess">
                <a:avLst/>
              </a:prstGeom>
              <a:solidFill>
                <a:srgbClr val="CCFFCC"/>
              </a:solidFill>
              <a:ln w="222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25378" name="Text Box 66">
                <a:extLst>
                  <a:ext uri="{FF2B5EF4-FFF2-40B4-BE49-F238E27FC236}">
                    <a16:creationId xmlns:a16="http://schemas.microsoft.com/office/drawing/2014/main" id="{4DCF66D3-93A9-4CA7-B9D3-6AC40E5BAEB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766" y="2682"/>
                <a:ext cx="749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r>
                  <a:rPr kumimoji="1" lang="en-US" altLang="zh-CN" sz="2400" b="1" baseline="0">
                    <a:latin typeface="Times New Roman" panose="02020603050405020304" pitchFamily="18" charset="0"/>
                  </a:rPr>
                  <a:t>B</a:t>
                </a:r>
                <a:r>
                  <a:rPr kumimoji="1" lang="en-US" altLang="zh-CN" sz="2400" b="1" baseline="0">
                    <a:latin typeface="Courier New" panose="02070309020205020404" pitchFamily="49" charset="0"/>
                    <a:ea typeface="楷体_GB2312" pitchFamily="49" charset="-122"/>
                  </a:rPr>
                  <a:t>-&gt;</a:t>
                </a:r>
                <a:r>
                  <a:rPr kumimoji="1" lang="en-US" altLang="zh-CN" sz="2400" b="1" baseline="0">
                    <a:latin typeface="Times New Roman" panose="02020603050405020304" pitchFamily="18" charset="0"/>
                  </a:rPr>
                  <a:t>C</a:t>
                </a:r>
              </a:p>
            </p:txBody>
          </p:sp>
        </p:grpSp>
        <p:grpSp>
          <p:nvGrpSpPr>
            <p:cNvPr id="525379" name="Group 67">
              <a:extLst>
                <a:ext uri="{FF2B5EF4-FFF2-40B4-BE49-F238E27FC236}">
                  <a16:creationId xmlns:a16="http://schemas.microsoft.com/office/drawing/2014/main" id="{809EF0C6-7017-40A1-9C0C-CDC53B292E5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694" y="3634"/>
              <a:ext cx="771" cy="288"/>
              <a:chOff x="2744" y="2682"/>
              <a:chExt cx="771" cy="288"/>
            </a:xfrm>
          </p:grpSpPr>
          <p:sp>
            <p:nvSpPr>
              <p:cNvPr id="525380" name="AutoShape 68">
                <a:extLst>
                  <a:ext uri="{FF2B5EF4-FFF2-40B4-BE49-F238E27FC236}">
                    <a16:creationId xmlns:a16="http://schemas.microsoft.com/office/drawing/2014/main" id="{71B20160-4FFD-4042-861E-BFA9FD17F94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44" y="2682"/>
                <a:ext cx="658" cy="272"/>
              </a:xfrm>
              <a:prstGeom prst="flowChartAlternateProcess">
                <a:avLst/>
              </a:prstGeom>
              <a:solidFill>
                <a:srgbClr val="CCFFCC"/>
              </a:solidFill>
              <a:ln w="222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25381" name="Text Box 69">
                <a:extLst>
                  <a:ext uri="{FF2B5EF4-FFF2-40B4-BE49-F238E27FC236}">
                    <a16:creationId xmlns:a16="http://schemas.microsoft.com/office/drawing/2014/main" id="{0074DC4D-46BD-416C-B6E6-DC63983B1A6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766" y="2682"/>
                <a:ext cx="749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r>
                  <a:rPr kumimoji="1" lang="en-US" altLang="zh-CN" sz="2400" b="1" baseline="0">
                    <a:latin typeface="Times New Roman" panose="02020603050405020304" pitchFamily="18" charset="0"/>
                  </a:rPr>
                  <a:t>A</a:t>
                </a:r>
                <a:r>
                  <a:rPr kumimoji="1" lang="en-US" altLang="zh-CN" sz="2400" b="1" baseline="0">
                    <a:latin typeface="Courier New" panose="02070309020205020404" pitchFamily="49" charset="0"/>
                    <a:ea typeface="楷体_GB2312" pitchFamily="49" charset="-122"/>
                  </a:rPr>
                  <a:t>-&gt;</a:t>
                </a:r>
                <a:r>
                  <a:rPr kumimoji="1" lang="en-US" altLang="zh-CN" sz="2400" b="1" baseline="0">
                    <a:latin typeface="Times New Roman" panose="02020603050405020304" pitchFamily="18" charset="0"/>
                  </a:rPr>
                  <a:t>C</a:t>
                </a:r>
              </a:p>
            </p:txBody>
          </p:sp>
        </p:grpSp>
      </p:grpSp>
      <p:sp>
        <p:nvSpPr>
          <p:cNvPr id="525382" name="Oval 70">
            <a:extLst>
              <a:ext uri="{FF2B5EF4-FFF2-40B4-BE49-F238E27FC236}">
                <a16:creationId xmlns:a16="http://schemas.microsoft.com/office/drawing/2014/main" id="{56E3B7D0-114E-4F99-AEF4-2BDFEEE417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6013" y="3573463"/>
            <a:ext cx="7056437" cy="647700"/>
          </a:xfrm>
          <a:prstGeom prst="ellipse">
            <a:avLst/>
          </a:prstGeom>
          <a:noFill/>
          <a:ln w="222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25383" name="Oval 71">
            <a:extLst>
              <a:ext uri="{FF2B5EF4-FFF2-40B4-BE49-F238E27FC236}">
                <a16:creationId xmlns:a16="http://schemas.microsoft.com/office/drawing/2014/main" id="{B4023EB9-3F74-4587-9695-314E2BDA31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19475" y="2924175"/>
            <a:ext cx="2339975" cy="541338"/>
          </a:xfrm>
          <a:prstGeom prst="ellipse">
            <a:avLst/>
          </a:prstGeom>
          <a:noFill/>
          <a:ln w="22225">
            <a:solidFill>
              <a:srgbClr val="00CC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25384" name="Oval 72">
            <a:extLst>
              <a:ext uri="{FF2B5EF4-FFF2-40B4-BE49-F238E27FC236}">
                <a16:creationId xmlns:a16="http://schemas.microsoft.com/office/drawing/2014/main" id="{D63ADFA5-BA16-4C7E-8408-BBE19D5D88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3" y="4221163"/>
            <a:ext cx="3816350" cy="1368425"/>
          </a:xfrm>
          <a:prstGeom prst="ellipse">
            <a:avLst/>
          </a:prstGeom>
          <a:noFill/>
          <a:ln w="22225">
            <a:solidFill>
              <a:srgbClr val="80008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25385" name="Oval 73">
            <a:extLst>
              <a:ext uri="{FF2B5EF4-FFF2-40B4-BE49-F238E27FC236}">
                <a16:creationId xmlns:a16="http://schemas.microsoft.com/office/drawing/2014/main" id="{57C6CB6B-D2A8-4321-8F72-7FFB02720B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87900" y="4221163"/>
            <a:ext cx="3816350" cy="1368425"/>
          </a:xfrm>
          <a:prstGeom prst="ellipse">
            <a:avLst/>
          </a:prstGeom>
          <a:noFill/>
          <a:ln w="22225">
            <a:solidFill>
              <a:srgbClr val="80008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25386" name="Oval 74">
            <a:extLst>
              <a:ext uri="{FF2B5EF4-FFF2-40B4-BE49-F238E27FC236}">
                <a16:creationId xmlns:a16="http://schemas.microsoft.com/office/drawing/2014/main" id="{B2425884-F2AD-4567-BE9F-3AE29F4CEF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8888" y="3573463"/>
            <a:ext cx="2160587" cy="647700"/>
          </a:xfrm>
          <a:prstGeom prst="ellipse">
            <a:avLst/>
          </a:prstGeom>
          <a:noFill/>
          <a:ln w="22225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25387" name="Oval 75">
            <a:extLst>
              <a:ext uri="{FF2B5EF4-FFF2-40B4-BE49-F238E27FC236}">
                <a16:creationId xmlns:a16="http://schemas.microsoft.com/office/drawing/2014/main" id="{15D7F121-A336-43E4-9210-6C265AAB83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16575" y="3608388"/>
            <a:ext cx="2160588" cy="647700"/>
          </a:xfrm>
          <a:prstGeom prst="ellipse">
            <a:avLst/>
          </a:prstGeom>
          <a:noFill/>
          <a:ln w="22225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5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500"/>
                                        <p:tgtEl>
                                          <p:spTgt spid="5253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5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1000"/>
                                        <p:tgtEl>
                                          <p:spTgt spid="5253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5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500"/>
                                        <p:tgtEl>
                                          <p:spTgt spid="525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55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0" dur="1000"/>
                                        <p:tgtEl>
                                          <p:spTgt spid="52538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ppt_w*0.7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/>
                                        <p:tgtEl>
                                          <p:spTgt spid="52538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2" dur="1000"/>
                                        <p:tgtEl>
                                          <p:spTgt spid="52538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25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5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8" dur="500"/>
                                        <p:tgtEl>
                                          <p:spTgt spid="5253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5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3" dur="500"/>
                                        <p:tgtEl>
                                          <p:spTgt spid="5253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5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5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5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5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6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5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7" dur="2000"/>
                                        <p:tgtEl>
                                          <p:spTgt spid="5253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338" name="Rectangle 2">
            <a:extLst>
              <a:ext uri="{FF2B5EF4-FFF2-40B4-BE49-F238E27FC236}">
                <a16:creationId xmlns:a16="http://schemas.microsoft.com/office/drawing/2014/main" id="{18AD56CD-4F7D-4212-B521-193EBBA038A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23528" y="764704"/>
            <a:ext cx="8517260" cy="6093296"/>
          </a:xfrm>
        </p:spPr>
        <p:txBody>
          <a:bodyPr/>
          <a:lstStyle/>
          <a:p>
            <a:pPr marL="0" indent="0">
              <a:buClr>
                <a:srgbClr val="800080"/>
              </a:buClr>
              <a:buSzPct val="55000"/>
              <a:buNone/>
            </a:pPr>
            <a:r>
              <a:rPr lang="zh-CN" altLang="en-US" sz="2400" dirty="0"/>
              <a:t>定义栈元素的数据类型</a:t>
            </a:r>
          </a:p>
          <a:p>
            <a:pPr>
              <a:buFont typeface="Wingdings" panose="05000000000000000000" pitchFamily="2" charset="2"/>
              <a:buNone/>
            </a:pPr>
            <a:r>
              <a:rPr lang="zh-CN" altLang="en-US" sz="2400" dirty="0">
                <a:latin typeface="Times New Roman" panose="02020603050405020304" pitchFamily="18" charset="0"/>
              </a:rPr>
              <a:t>	</a:t>
            </a:r>
            <a:r>
              <a:rPr lang="en-US" altLang="zh-CN" sz="2400" dirty="0">
                <a:latin typeface="Times New Roman" panose="02020603050405020304" pitchFamily="18" charset="0"/>
              </a:rPr>
              <a:t>typedef struct {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400" dirty="0">
                <a:latin typeface="Times New Roman" panose="02020603050405020304" pitchFamily="18" charset="0"/>
              </a:rPr>
              <a:t>		int n;                </a:t>
            </a:r>
            <a:r>
              <a:rPr lang="en-US" altLang="zh-CN" sz="2400" dirty="0">
                <a:solidFill>
                  <a:srgbClr val="00B050"/>
                </a:solidFill>
                <a:latin typeface="Times New Roman" panose="02020603050405020304" pitchFamily="18" charset="0"/>
                <a:ea typeface="仿宋_GB2312" pitchFamily="49" charset="-122"/>
              </a:rPr>
              <a:t>// </a:t>
            </a:r>
            <a:r>
              <a:rPr lang="zh-CN" altLang="en-US" sz="2400" dirty="0">
                <a:solidFill>
                  <a:srgbClr val="00B050"/>
                </a:solidFill>
                <a:latin typeface="Times New Roman" panose="02020603050405020304" pitchFamily="18" charset="0"/>
                <a:ea typeface="仿宋_GB2312" pitchFamily="49" charset="-122"/>
              </a:rPr>
              <a:t>当前处理盘子数</a:t>
            </a:r>
          </a:p>
          <a:p>
            <a:pPr>
              <a:buFont typeface="Wingdings" panose="05000000000000000000" pitchFamily="2" charset="2"/>
              <a:buNone/>
            </a:pPr>
            <a:r>
              <a:rPr lang="zh-CN" altLang="en-US" sz="2400" dirty="0">
                <a:latin typeface="Times New Roman" panose="02020603050405020304" pitchFamily="18" charset="0"/>
              </a:rPr>
              <a:t>		</a:t>
            </a:r>
            <a:r>
              <a:rPr lang="en-US" altLang="zh-CN" sz="2400" dirty="0">
                <a:latin typeface="Times New Roman" panose="02020603050405020304" pitchFamily="18" charset="0"/>
              </a:rPr>
              <a:t>char a, b, c;	</a:t>
            </a:r>
            <a:r>
              <a:rPr lang="en-US" altLang="zh-CN" sz="2400" dirty="0">
                <a:solidFill>
                  <a:srgbClr val="00B050"/>
                </a:solidFill>
                <a:latin typeface="Times New Roman" panose="02020603050405020304" pitchFamily="18" charset="0"/>
                <a:ea typeface="仿宋_GB2312" pitchFamily="49" charset="-122"/>
              </a:rPr>
              <a:t>// </a:t>
            </a:r>
            <a:r>
              <a:rPr lang="zh-CN" altLang="en-US" sz="2400" dirty="0">
                <a:solidFill>
                  <a:srgbClr val="00B050"/>
                </a:solidFill>
                <a:latin typeface="Times New Roman" panose="02020603050405020304" pitchFamily="18" charset="0"/>
                <a:ea typeface="仿宋_GB2312" pitchFamily="49" charset="-122"/>
              </a:rPr>
              <a:t>三个柱子标识</a:t>
            </a:r>
          </a:p>
          <a:p>
            <a:pPr>
              <a:buFont typeface="Wingdings" panose="05000000000000000000" pitchFamily="2" charset="2"/>
              <a:buNone/>
            </a:pPr>
            <a:r>
              <a:rPr lang="zh-CN" altLang="en-US" sz="2400" dirty="0">
                <a:latin typeface="Times New Roman" panose="02020603050405020304" pitchFamily="18" charset="0"/>
              </a:rPr>
              <a:t>	</a:t>
            </a:r>
            <a:r>
              <a:rPr lang="en-US" altLang="zh-CN" sz="2400" dirty="0">
                <a:latin typeface="Times New Roman" panose="02020603050405020304" pitchFamily="18" charset="0"/>
              </a:rPr>
              <a:t>} Quad;</a:t>
            </a:r>
          </a:p>
          <a:p>
            <a:pPr marL="0" indent="0">
              <a:buClr>
                <a:srgbClr val="800080"/>
              </a:buClr>
              <a:buSzPct val="55000"/>
              <a:buNone/>
            </a:pPr>
            <a:r>
              <a:rPr lang="zh-CN" altLang="en-US" sz="2400" dirty="0">
                <a:latin typeface="+mn-ea"/>
                <a:ea typeface="+mn-ea"/>
              </a:rPr>
              <a:t>求解 </a:t>
            </a:r>
            <a:r>
              <a:rPr lang="en-US" altLang="zh-CN" sz="2400" dirty="0">
                <a:latin typeface="+mn-ea"/>
                <a:ea typeface="+mn-ea"/>
              </a:rPr>
              <a:t>Hanoi </a:t>
            </a:r>
            <a:r>
              <a:rPr lang="zh-CN" altLang="en-US" sz="2400" dirty="0">
                <a:latin typeface="+mn-ea"/>
                <a:ea typeface="+mn-ea"/>
              </a:rPr>
              <a:t>塔问题</a:t>
            </a:r>
          </a:p>
          <a:p>
            <a:pPr>
              <a:buFont typeface="Wingdings" panose="05000000000000000000" pitchFamily="2" charset="2"/>
              <a:buNone/>
            </a:pPr>
            <a:r>
              <a:rPr lang="zh-CN" altLang="en-US" sz="2400" dirty="0">
                <a:latin typeface="Times New Roman" panose="02020603050405020304" pitchFamily="18" charset="0"/>
              </a:rPr>
              <a:t>	</a:t>
            </a:r>
            <a:r>
              <a:rPr lang="en-US" altLang="zh-CN" sz="2400" dirty="0">
                <a:latin typeface="Times New Roman" panose="02020603050405020304" pitchFamily="18" charset="0"/>
              </a:rPr>
              <a:t>void Hanoi (int n, char x, char y, char z) {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400" dirty="0">
                <a:latin typeface="Times New Roman" panose="02020603050405020304" pitchFamily="18" charset="0"/>
              </a:rPr>
              <a:t>		</a:t>
            </a:r>
            <a:r>
              <a:rPr lang="en-US" altLang="zh-CN" sz="2400" dirty="0">
                <a:solidFill>
                  <a:schemeClr val="tx2"/>
                </a:solidFill>
                <a:latin typeface="Times New Roman" panose="02020603050405020304" pitchFamily="18" charset="0"/>
              </a:rPr>
              <a:t>Stack </a:t>
            </a:r>
            <a:r>
              <a:rPr lang="en-US" altLang="zh-CN" sz="2400" b="0" dirty="0">
                <a:solidFill>
                  <a:schemeClr val="tx2"/>
                </a:solidFill>
                <a:latin typeface="Times New Roman" panose="02020603050405020304" pitchFamily="18" charset="0"/>
              </a:rPr>
              <a:t>S</a:t>
            </a:r>
            <a:r>
              <a:rPr lang="en-US" altLang="zh-CN" sz="2400" dirty="0">
                <a:solidFill>
                  <a:schemeClr val="tx2"/>
                </a:solidFill>
                <a:latin typeface="Times New Roman" panose="02020603050405020304" pitchFamily="18" charset="0"/>
              </a:rPr>
              <a:t>;   </a:t>
            </a:r>
            <a:r>
              <a:rPr lang="en-US" altLang="zh-CN" sz="2400" dirty="0" err="1">
                <a:solidFill>
                  <a:srgbClr val="0000FF"/>
                </a:solidFill>
                <a:latin typeface="Times New Roman" panose="02020603050405020304" pitchFamily="18" charset="0"/>
              </a:rPr>
              <a:t>InitStack</a:t>
            </a:r>
            <a:r>
              <a:rPr lang="en-US" altLang="zh-CN" sz="2400" b="0" dirty="0">
                <a:solidFill>
                  <a:srgbClr val="0000FF"/>
                </a:solidFill>
                <a:latin typeface="Times New Roman" panose="02020603050405020304" pitchFamily="18" charset="0"/>
              </a:rPr>
              <a:t>(S</a:t>
            </a:r>
            <a:r>
              <a:rPr lang="en-US" altLang="zh-CN" sz="2400" dirty="0">
                <a:solidFill>
                  <a:srgbClr val="0000FF"/>
                </a:solidFill>
                <a:latin typeface="Times New Roman" panose="02020603050405020304" pitchFamily="18" charset="0"/>
              </a:rPr>
              <a:t>);    </a:t>
            </a:r>
            <a:r>
              <a:rPr lang="en-US" altLang="zh-CN" sz="2400" dirty="0">
                <a:solidFill>
                  <a:srgbClr val="00B050"/>
                </a:solidFill>
                <a:latin typeface="Times New Roman" panose="02020603050405020304" pitchFamily="18" charset="0"/>
                <a:ea typeface="仿宋_GB2312" pitchFamily="49" charset="-122"/>
              </a:rPr>
              <a:t>// </a:t>
            </a:r>
            <a:r>
              <a:rPr lang="zh-CN" altLang="en-US" sz="2400" dirty="0">
                <a:solidFill>
                  <a:srgbClr val="00B050"/>
                </a:solidFill>
                <a:latin typeface="Times New Roman" panose="02020603050405020304" pitchFamily="18" charset="0"/>
                <a:ea typeface="仿宋_GB2312" pitchFamily="49" charset="-122"/>
              </a:rPr>
              <a:t>初始化保存布局的栈</a:t>
            </a:r>
          </a:p>
          <a:p>
            <a:pPr>
              <a:buFont typeface="Wingdings" panose="05000000000000000000" pitchFamily="2" charset="2"/>
              <a:buNone/>
            </a:pPr>
            <a:r>
              <a:rPr lang="zh-CN" altLang="en-US" sz="2400" dirty="0">
                <a:latin typeface="Times New Roman" panose="02020603050405020304" pitchFamily="18" charset="0"/>
              </a:rPr>
              <a:t>		</a:t>
            </a:r>
            <a:r>
              <a:rPr lang="en-US" altLang="zh-CN" sz="2400" dirty="0">
                <a:latin typeface="Times New Roman" panose="02020603050405020304" pitchFamily="18" charset="0"/>
              </a:rPr>
              <a:t>Quad q;    </a:t>
            </a:r>
            <a:r>
              <a:rPr lang="en-US" altLang="zh-CN" sz="2400" dirty="0" err="1">
                <a:latin typeface="Times New Roman" panose="02020603050405020304" pitchFamily="18" charset="0"/>
              </a:rPr>
              <a:t>q.n</a:t>
            </a:r>
            <a:r>
              <a:rPr lang="en-US" altLang="zh-CN" sz="2400" dirty="0">
                <a:latin typeface="Times New Roman" panose="02020603050405020304" pitchFamily="18" charset="0"/>
              </a:rPr>
              <a:t> = n;   </a:t>
            </a:r>
            <a:r>
              <a:rPr lang="en-US" altLang="zh-CN" sz="2400" dirty="0" err="1">
                <a:latin typeface="Times New Roman" panose="02020603050405020304" pitchFamily="18" charset="0"/>
              </a:rPr>
              <a:t>q.a</a:t>
            </a:r>
            <a:r>
              <a:rPr lang="en-US" altLang="zh-CN" sz="2400" dirty="0">
                <a:latin typeface="Times New Roman" panose="02020603050405020304" pitchFamily="18" charset="0"/>
              </a:rPr>
              <a:t> = x;   </a:t>
            </a:r>
            <a:r>
              <a:rPr lang="en-US" altLang="zh-CN" sz="2400" dirty="0" err="1">
                <a:latin typeface="Times New Roman" panose="02020603050405020304" pitchFamily="18" charset="0"/>
              </a:rPr>
              <a:t>q.b</a:t>
            </a:r>
            <a:r>
              <a:rPr lang="en-US" altLang="zh-CN" sz="2400" dirty="0">
                <a:latin typeface="Times New Roman" panose="02020603050405020304" pitchFamily="18" charset="0"/>
              </a:rPr>
              <a:t> = y;   </a:t>
            </a:r>
            <a:r>
              <a:rPr lang="en-US" altLang="zh-CN" sz="2400" dirty="0" err="1">
                <a:latin typeface="Times New Roman" panose="02020603050405020304" pitchFamily="18" charset="0"/>
              </a:rPr>
              <a:t>q.c</a:t>
            </a:r>
            <a:r>
              <a:rPr lang="en-US" altLang="zh-CN" sz="2400" dirty="0">
                <a:latin typeface="Times New Roman" panose="02020603050405020304" pitchFamily="18" charset="0"/>
              </a:rPr>
              <a:t> = z;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400" dirty="0">
                <a:latin typeface="Times New Roman" panose="02020603050405020304" pitchFamily="18" charset="0"/>
              </a:rPr>
              <a:t>		</a:t>
            </a:r>
            <a:r>
              <a:rPr lang="en-US" altLang="zh-CN" sz="2400" dirty="0">
                <a:solidFill>
                  <a:srgbClr val="0000FF"/>
                </a:solidFill>
                <a:latin typeface="Times New Roman" panose="02020603050405020304" pitchFamily="18" charset="0"/>
              </a:rPr>
              <a:t>Push (S,</a:t>
            </a:r>
            <a:r>
              <a:rPr lang="zh-CN" altLang="en-US" sz="2400" dirty="0">
                <a:solidFill>
                  <a:srgbClr val="0000FF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400" dirty="0">
                <a:solidFill>
                  <a:srgbClr val="0000FF"/>
                </a:solidFill>
                <a:latin typeface="Times New Roman" panose="02020603050405020304" pitchFamily="18" charset="0"/>
              </a:rPr>
              <a:t>q);</a:t>
            </a:r>
            <a:r>
              <a:rPr lang="en-US" altLang="zh-CN" sz="2400" dirty="0">
                <a:latin typeface="Times New Roman" panose="02020603050405020304" pitchFamily="18" charset="0"/>
              </a:rPr>
              <a:t>		    </a:t>
            </a:r>
            <a:r>
              <a:rPr lang="en-US" altLang="zh-CN" sz="2400" dirty="0">
                <a:solidFill>
                  <a:srgbClr val="00B050"/>
                </a:solidFill>
                <a:latin typeface="Times New Roman" panose="02020603050405020304" pitchFamily="18" charset="0"/>
                <a:ea typeface="仿宋_GB2312" pitchFamily="49" charset="-122"/>
              </a:rPr>
              <a:t>// </a:t>
            </a:r>
            <a:r>
              <a:rPr lang="zh-CN" altLang="en-US" sz="2400" dirty="0">
                <a:solidFill>
                  <a:srgbClr val="00B050"/>
                </a:solidFill>
                <a:latin typeface="Times New Roman" panose="02020603050405020304" pitchFamily="18" charset="0"/>
                <a:ea typeface="仿宋_GB2312" pitchFamily="49" charset="-122"/>
              </a:rPr>
              <a:t>初始布局进栈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827D0512-8D63-4EE3-9B21-A87F8A1F1DE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89000" y="52044"/>
            <a:ext cx="8229600" cy="811213"/>
          </a:xfrm>
        </p:spPr>
        <p:txBody>
          <a:bodyPr/>
          <a:lstStyle/>
          <a:p>
            <a:r>
              <a:rPr kumimoji="1" lang="zh-CN" altLang="en-US" dirty="0">
                <a:latin typeface="微软雅黑" panose="020B0503020204020204" pitchFamily="34" charset="-122"/>
              </a:rPr>
              <a:t>用栈将递归算法改为非递归算法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362" name="Rectangle 2">
            <a:extLst>
              <a:ext uri="{FF2B5EF4-FFF2-40B4-BE49-F238E27FC236}">
                <a16:creationId xmlns:a16="http://schemas.microsoft.com/office/drawing/2014/main" id="{757F3514-8A67-4519-B935-D3F35D8545D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25760" y="764704"/>
            <a:ext cx="8892480" cy="6093296"/>
          </a:xfrm>
        </p:spPr>
        <p:txBody>
          <a:bodyPr/>
          <a:lstStyle/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400" dirty="0">
                <a:latin typeface="+mn-lt"/>
              </a:rPr>
              <a:t>	while (! </a:t>
            </a:r>
            <a:r>
              <a:rPr lang="en-US" altLang="zh-CN" sz="2400" dirty="0" err="1">
                <a:latin typeface="+mn-lt"/>
              </a:rPr>
              <a:t>StackEmpty</a:t>
            </a:r>
            <a:r>
              <a:rPr lang="en-US" altLang="zh-CN" sz="2400" dirty="0">
                <a:latin typeface="+mn-lt"/>
              </a:rPr>
              <a:t>(S)) { </a:t>
            </a:r>
            <a:r>
              <a:rPr lang="en-US" altLang="zh-CN" sz="2400" dirty="0">
                <a:solidFill>
                  <a:srgbClr val="00B050"/>
                </a:solidFill>
                <a:latin typeface="+mn-lt"/>
                <a:ea typeface="仿宋_GB2312" pitchFamily="49" charset="-122"/>
              </a:rPr>
              <a:t>// </a:t>
            </a:r>
            <a:r>
              <a:rPr lang="zh-CN" altLang="en-US" sz="2400" dirty="0">
                <a:solidFill>
                  <a:srgbClr val="00B050"/>
                </a:solidFill>
                <a:latin typeface="+mn-lt"/>
                <a:ea typeface="仿宋_GB2312" pitchFamily="49" charset="-122"/>
              </a:rPr>
              <a:t>当栈非空时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sz="2400" dirty="0">
                <a:latin typeface="+mn-lt"/>
              </a:rPr>
              <a:t>	</a:t>
            </a:r>
            <a:r>
              <a:rPr lang="zh-CN" altLang="en-US" sz="2400" dirty="0">
                <a:solidFill>
                  <a:srgbClr val="0000FF"/>
                </a:solidFill>
                <a:latin typeface="+mn-lt"/>
              </a:rPr>
              <a:t>      </a:t>
            </a:r>
            <a:r>
              <a:rPr lang="en-US" altLang="zh-CN" sz="2400" dirty="0">
                <a:solidFill>
                  <a:srgbClr val="0000FF"/>
                </a:solidFill>
                <a:latin typeface="+mn-lt"/>
              </a:rPr>
              <a:t>Pop(S, q);    </a:t>
            </a:r>
            <a:r>
              <a:rPr lang="en-US" altLang="zh-CN" sz="2400" dirty="0">
                <a:solidFill>
                  <a:srgbClr val="00B050"/>
                </a:solidFill>
                <a:latin typeface="+mn-lt"/>
                <a:ea typeface="仿宋_GB2312" pitchFamily="49" charset="-122"/>
              </a:rPr>
              <a:t>// </a:t>
            </a:r>
            <a:r>
              <a:rPr lang="zh-CN" altLang="en-US" sz="2400" dirty="0">
                <a:solidFill>
                  <a:srgbClr val="00B050"/>
                </a:solidFill>
                <a:latin typeface="+mn-lt"/>
                <a:ea typeface="仿宋_GB2312" pitchFamily="49" charset="-122"/>
              </a:rPr>
              <a:t>取栈顶布局</a:t>
            </a:r>
            <a:r>
              <a:rPr lang="en-US" altLang="zh-CN" sz="2400" dirty="0">
                <a:solidFill>
                  <a:srgbClr val="00B050"/>
                </a:solidFill>
                <a:latin typeface="+mn-lt"/>
                <a:ea typeface="仿宋_GB2312" pitchFamily="49" charset="-122"/>
              </a:rPr>
              <a:t>, </a:t>
            </a:r>
            <a:r>
              <a:rPr lang="zh-CN" altLang="en-US" sz="2400" dirty="0">
                <a:solidFill>
                  <a:srgbClr val="00B050"/>
                </a:solidFill>
                <a:latin typeface="+mn-lt"/>
                <a:ea typeface="仿宋_GB2312" pitchFamily="49" charset="-122"/>
              </a:rPr>
              <a:t>退栈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sz="2400" dirty="0">
                <a:latin typeface="+mn-lt"/>
              </a:rPr>
              <a:t>	      </a:t>
            </a:r>
            <a:r>
              <a:rPr lang="en-US" altLang="zh-CN" sz="2400" dirty="0">
                <a:latin typeface="+mn-lt"/>
              </a:rPr>
              <a:t>n = q. n;   x = </a:t>
            </a:r>
            <a:r>
              <a:rPr lang="en-US" altLang="zh-CN" sz="2400" dirty="0" err="1">
                <a:latin typeface="+mn-lt"/>
              </a:rPr>
              <a:t>q.a</a:t>
            </a:r>
            <a:r>
              <a:rPr lang="en-US" altLang="zh-CN" sz="2400" dirty="0">
                <a:latin typeface="+mn-lt"/>
              </a:rPr>
              <a:t>;  y = </a:t>
            </a:r>
            <a:r>
              <a:rPr lang="en-US" altLang="zh-CN" sz="2400" dirty="0" err="1">
                <a:latin typeface="+mn-lt"/>
              </a:rPr>
              <a:t>q.b</a:t>
            </a:r>
            <a:r>
              <a:rPr lang="en-US" altLang="zh-CN" sz="2400" dirty="0">
                <a:latin typeface="+mn-lt"/>
              </a:rPr>
              <a:t>;  z = </a:t>
            </a:r>
            <a:r>
              <a:rPr lang="en-US" altLang="zh-CN" sz="2400" dirty="0" err="1">
                <a:latin typeface="+mn-lt"/>
              </a:rPr>
              <a:t>q.c</a:t>
            </a:r>
            <a:r>
              <a:rPr lang="en-US" altLang="zh-CN" sz="2400" dirty="0">
                <a:latin typeface="+mn-lt"/>
              </a:rPr>
              <a:t>;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400" dirty="0">
                <a:latin typeface="+mn-lt"/>
              </a:rPr>
              <a:t>	      if (n </a:t>
            </a:r>
            <a:r>
              <a:rPr lang="en-US" altLang="zh-CN" sz="2400" i="1" dirty="0">
                <a:latin typeface="+mn-lt"/>
              </a:rPr>
              <a:t>==</a:t>
            </a:r>
            <a:r>
              <a:rPr lang="en-US" altLang="zh-CN" sz="2400" dirty="0">
                <a:latin typeface="+mn-lt"/>
              </a:rPr>
              <a:t> 1)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400" dirty="0">
                <a:latin typeface="+mn-lt"/>
              </a:rPr>
              <a:t>                </a:t>
            </a:r>
            <a:r>
              <a:rPr lang="en-US" altLang="zh-CN" sz="2400" dirty="0" err="1">
                <a:latin typeface="+mn-lt"/>
              </a:rPr>
              <a:t>cout</a:t>
            </a:r>
            <a:r>
              <a:rPr lang="en-US" altLang="zh-CN" sz="2400" dirty="0">
                <a:latin typeface="+mn-lt"/>
              </a:rPr>
              <a:t>&lt;&lt;“Move disk from peg ”&lt;&lt;x&lt;&lt;“ to peg ”&lt;&lt;z&lt;&lt;</a:t>
            </a:r>
            <a:r>
              <a:rPr lang="en-US" altLang="zh-CN" sz="2400" dirty="0" err="1">
                <a:latin typeface="+mn-lt"/>
              </a:rPr>
              <a:t>endl</a:t>
            </a:r>
            <a:r>
              <a:rPr lang="en-US" altLang="zh-CN" sz="2400" dirty="0">
                <a:latin typeface="+mn-lt"/>
              </a:rPr>
              <a:t>;</a:t>
            </a:r>
          </a:p>
          <a:p>
            <a:pPr>
              <a:spcBef>
                <a:spcPct val="0"/>
              </a:spcBef>
              <a:buNone/>
            </a:pPr>
            <a:r>
              <a:rPr lang="en-US" altLang="zh-CN" sz="2400" dirty="0">
                <a:latin typeface="+mn-lt"/>
              </a:rPr>
              <a:t>	      else { </a:t>
            </a:r>
            <a:r>
              <a:rPr lang="en-US" altLang="zh-CN" sz="2400" dirty="0" err="1">
                <a:latin typeface="+mn-lt"/>
              </a:rPr>
              <a:t>q.n</a:t>
            </a:r>
            <a:r>
              <a:rPr lang="en-US" altLang="zh-CN" sz="2400" dirty="0">
                <a:latin typeface="+mn-lt"/>
              </a:rPr>
              <a:t> = n</a:t>
            </a:r>
            <a:r>
              <a:rPr lang="en-US" altLang="zh-CN" sz="2400" dirty="0">
                <a:latin typeface="+mn-lt"/>
                <a:ea typeface="楷体_GB2312" pitchFamily="49" charset="-122"/>
              </a:rPr>
              <a:t>-</a:t>
            </a:r>
            <a:r>
              <a:rPr lang="en-US" altLang="zh-CN" sz="2400" dirty="0">
                <a:latin typeface="+mn-lt"/>
              </a:rPr>
              <a:t>1;   </a:t>
            </a:r>
            <a:r>
              <a:rPr lang="en-US" altLang="zh-CN" sz="2400" dirty="0" err="1">
                <a:latin typeface="+mn-lt"/>
              </a:rPr>
              <a:t>q.a</a:t>
            </a:r>
            <a:r>
              <a:rPr lang="en-US" altLang="zh-CN" sz="2400" dirty="0">
                <a:latin typeface="+mn-lt"/>
              </a:rPr>
              <a:t> = y;   </a:t>
            </a:r>
            <a:r>
              <a:rPr lang="en-US" altLang="zh-CN" sz="2400" dirty="0" err="1">
                <a:latin typeface="+mn-lt"/>
              </a:rPr>
              <a:t>q.b</a:t>
            </a:r>
            <a:r>
              <a:rPr lang="en-US" altLang="zh-CN" sz="2400" dirty="0">
                <a:latin typeface="+mn-lt"/>
              </a:rPr>
              <a:t> = x;   </a:t>
            </a:r>
            <a:r>
              <a:rPr lang="en-US" altLang="zh-CN" sz="2400" dirty="0" err="1">
                <a:latin typeface="+mn-lt"/>
              </a:rPr>
              <a:t>q.c</a:t>
            </a:r>
            <a:r>
              <a:rPr lang="en-US" altLang="zh-CN" sz="2400" dirty="0">
                <a:latin typeface="+mn-lt"/>
              </a:rPr>
              <a:t> = z;  </a:t>
            </a:r>
            <a:r>
              <a:rPr lang="en-US" altLang="zh-CN" sz="2400" dirty="0">
                <a:solidFill>
                  <a:srgbClr val="0000FF"/>
                </a:solidFill>
                <a:latin typeface="+mn-lt"/>
              </a:rPr>
              <a:t>Push(S, q);  </a:t>
            </a:r>
            <a:r>
              <a:rPr lang="en-US" altLang="zh-CN" sz="2400" dirty="0">
                <a:solidFill>
                  <a:srgbClr val="00B050"/>
                </a:solidFill>
                <a:latin typeface="+mn-lt"/>
                <a:ea typeface="仿宋_GB2312" pitchFamily="49" charset="-122"/>
              </a:rPr>
              <a:t>// </a:t>
            </a:r>
            <a:r>
              <a:rPr lang="zh-CN" altLang="en-US" sz="2400" dirty="0">
                <a:solidFill>
                  <a:srgbClr val="00B050"/>
                </a:solidFill>
                <a:latin typeface="+mn-lt"/>
                <a:ea typeface="仿宋_GB2312" pitchFamily="49" charset="-122"/>
              </a:rPr>
              <a:t>右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400" dirty="0">
                <a:latin typeface="+mn-lt"/>
              </a:rPr>
              <a:t>     </a:t>
            </a:r>
            <a:r>
              <a:rPr lang="zh-CN" altLang="en-US" sz="2400" dirty="0">
                <a:latin typeface="+mn-lt"/>
              </a:rPr>
              <a:t>		          </a:t>
            </a:r>
            <a:r>
              <a:rPr lang="en-US" altLang="zh-CN" sz="2400" dirty="0" err="1">
                <a:latin typeface="+mn-lt"/>
              </a:rPr>
              <a:t>q.n</a:t>
            </a:r>
            <a:r>
              <a:rPr lang="en-US" altLang="zh-CN" sz="2400" dirty="0">
                <a:latin typeface="+mn-lt"/>
              </a:rPr>
              <a:t> = 1;   </a:t>
            </a:r>
            <a:r>
              <a:rPr lang="en-US" altLang="zh-CN" sz="2400" dirty="0" err="1">
                <a:latin typeface="+mn-lt"/>
              </a:rPr>
              <a:t>q.a</a:t>
            </a:r>
            <a:r>
              <a:rPr lang="en-US" altLang="zh-CN" sz="2400" dirty="0">
                <a:latin typeface="+mn-lt"/>
              </a:rPr>
              <a:t> = x;   </a:t>
            </a:r>
            <a:r>
              <a:rPr lang="en-US" altLang="zh-CN" sz="2400" dirty="0" err="1">
                <a:latin typeface="+mn-lt"/>
              </a:rPr>
              <a:t>q.b</a:t>
            </a:r>
            <a:r>
              <a:rPr lang="en-US" altLang="zh-CN" sz="2400" dirty="0">
                <a:latin typeface="+mn-lt"/>
              </a:rPr>
              <a:t> = y;   </a:t>
            </a:r>
            <a:r>
              <a:rPr lang="en-US" altLang="zh-CN" sz="2400" dirty="0" err="1">
                <a:latin typeface="+mn-lt"/>
              </a:rPr>
              <a:t>q.c</a:t>
            </a:r>
            <a:r>
              <a:rPr lang="en-US" altLang="zh-CN" sz="2400" dirty="0">
                <a:latin typeface="+mn-lt"/>
              </a:rPr>
              <a:t> = z;  </a:t>
            </a:r>
            <a:r>
              <a:rPr lang="en-US" altLang="zh-CN" sz="2400" dirty="0">
                <a:solidFill>
                  <a:srgbClr val="0000FF"/>
                </a:solidFill>
                <a:latin typeface="+mn-lt"/>
              </a:rPr>
              <a:t>Push(S, q);  </a:t>
            </a:r>
            <a:r>
              <a:rPr lang="en-US" altLang="zh-CN" sz="2400" dirty="0">
                <a:solidFill>
                  <a:srgbClr val="00B050"/>
                </a:solidFill>
                <a:latin typeface="+mn-lt"/>
                <a:ea typeface="仿宋_GB2312" pitchFamily="49" charset="-122"/>
              </a:rPr>
              <a:t>// </a:t>
            </a:r>
            <a:r>
              <a:rPr lang="zh-CN" altLang="en-US" sz="2400" dirty="0">
                <a:solidFill>
                  <a:srgbClr val="00B050"/>
                </a:solidFill>
                <a:latin typeface="+mn-lt"/>
                <a:ea typeface="仿宋_GB2312" pitchFamily="49" charset="-122"/>
              </a:rPr>
              <a:t>中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sz="2400" dirty="0">
                <a:latin typeface="+mn-lt"/>
              </a:rPr>
              <a:t>		          </a:t>
            </a:r>
            <a:r>
              <a:rPr lang="en-US" altLang="zh-CN" sz="2400" dirty="0" err="1">
                <a:latin typeface="+mn-lt"/>
              </a:rPr>
              <a:t>q.n</a:t>
            </a:r>
            <a:r>
              <a:rPr lang="en-US" altLang="zh-CN" sz="2400" dirty="0">
                <a:latin typeface="+mn-lt"/>
              </a:rPr>
              <a:t> = n</a:t>
            </a:r>
            <a:r>
              <a:rPr lang="en-US" altLang="zh-CN" sz="2400" dirty="0">
                <a:latin typeface="+mn-lt"/>
                <a:ea typeface="楷体_GB2312" pitchFamily="49" charset="-122"/>
              </a:rPr>
              <a:t>-</a:t>
            </a:r>
            <a:r>
              <a:rPr lang="en-US" altLang="zh-CN" sz="2400" dirty="0">
                <a:latin typeface="+mn-lt"/>
              </a:rPr>
              <a:t>1;   </a:t>
            </a:r>
            <a:r>
              <a:rPr lang="en-US" altLang="zh-CN" sz="2400" dirty="0" err="1">
                <a:latin typeface="+mn-lt"/>
              </a:rPr>
              <a:t>q.a</a:t>
            </a:r>
            <a:r>
              <a:rPr lang="en-US" altLang="zh-CN" sz="2400" dirty="0">
                <a:latin typeface="+mn-lt"/>
              </a:rPr>
              <a:t> = x;   </a:t>
            </a:r>
            <a:r>
              <a:rPr lang="en-US" altLang="zh-CN" sz="2400" dirty="0" err="1">
                <a:latin typeface="+mn-lt"/>
              </a:rPr>
              <a:t>q.b</a:t>
            </a:r>
            <a:r>
              <a:rPr lang="en-US" altLang="zh-CN" sz="2400" dirty="0">
                <a:latin typeface="+mn-lt"/>
              </a:rPr>
              <a:t> = z;   </a:t>
            </a:r>
            <a:r>
              <a:rPr lang="en-US" altLang="zh-CN" sz="2400" dirty="0" err="1">
                <a:latin typeface="+mn-lt"/>
              </a:rPr>
              <a:t>q.c</a:t>
            </a:r>
            <a:r>
              <a:rPr lang="en-US" altLang="zh-CN" sz="2400" dirty="0">
                <a:latin typeface="+mn-lt"/>
              </a:rPr>
              <a:t> = y;  </a:t>
            </a:r>
            <a:r>
              <a:rPr lang="en-US" altLang="zh-CN" sz="2400" dirty="0">
                <a:solidFill>
                  <a:srgbClr val="0000FF"/>
                </a:solidFill>
                <a:latin typeface="+mn-lt"/>
              </a:rPr>
              <a:t>Push(S, q); </a:t>
            </a:r>
            <a:r>
              <a:rPr lang="en-US" altLang="zh-CN" sz="2400" dirty="0">
                <a:solidFill>
                  <a:srgbClr val="00B050"/>
                </a:solidFill>
                <a:latin typeface="+mn-lt"/>
                <a:ea typeface="仿宋_GB2312" pitchFamily="49" charset="-122"/>
              </a:rPr>
              <a:t>// </a:t>
            </a:r>
            <a:r>
              <a:rPr lang="zh-CN" altLang="en-US" sz="2400" dirty="0">
                <a:solidFill>
                  <a:srgbClr val="00B050"/>
                </a:solidFill>
                <a:latin typeface="+mn-lt"/>
                <a:ea typeface="仿宋_GB2312" pitchFamily="49" charset="-122"/>
              </a:rPr>
              <a:t>左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sz="2400" dirty="0">
                <a:latin typeface="+mn-lt"/>
                <a:ea typeface="隶书" panose="02010509060101010101" pitchFamily="49" charset="-122"/>
              </a:rPr>
              <a:t>		</a:t>
            </a:r>
            <a:r>
              <a:rPr lang="en-US" altLang="zh-CN" sz="2400" dirty="0">
                <a:latin typeface="+mn-lt"/>
                <a:ea typeface="隶书" panose="02010509060101010101" pitchFamily="49" charset="-122"/>
              </a:rPr>
              <a:t>} </a:t>
            </a:r>
            <a:r>
              <a:rPr lang="en-US" altLang="zh-CN" sz="2400" dirty="0">
                <a:solidFill>
                  <a:srgbClr val="00B050"/>
                </a:solidFill>
                <a:latin typeface="+mn-lt"/>
                <a:ea typeface="隶书" panose="02010509060101010101" pitchFamily="49" charset="-122"/>
              </a:rPr>
              <a:t>// else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400" dirty="0">
                <a:latin typeface="+mn-lt"/>
                <a:ea typeface="隶书" panose="02010509060101010101" pitchFamily="49" charset="-122"/>
              </a:rPr>
              <a:t>      } </a:t>
            </a:r>
            <a:r>
              <a:rPr lang="en-US" altLang="zh-CN" sz="2400" dirty="0">
                <a:solidFill>
                  <a:srgbClr val="00B050"/>
                </a:solidFill>
                <a:latin typeface="+mn-lt"/>
                <a:ea typeface="隶书" panose="02010509060101010101" pitchFamily="49" charset="-122"/>
              </a:rPr>
              <a:t>// while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400" dirty="0">
                <a:latin typeface="+mn-lt"/>
                <a:ea typeface="隶书" panose="02010509060101010101" pitchFamily="49" charset="-122"/>
              </a:rPr>
              <a:t>} </a:t>
            </a:r>
            <a:r>
              <a:rPr lang="en-US" altLang="zh-CN" sz="2400" dirty="0">
                <a:solidFill>
                  <a:srgbClr val="00B050"/>
                </a:solidFill>
                <a:latin typeface="+mn-lt"/>
                <a:ea typeface="隶书" panose="02010509060101010101" pitchFamily="49" charset="-122"/>
              </a:rPr>
              <a:t>// Hanoi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8D8A8269-080C-480E-9ED1-BDABAD1DC9E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89000" y="52044"/>
            <a:ext cx="8229600" cy="811213"/>
          </a:xfrm>
        </p:spPr>
        <p:txBody>
          <a:bodyPr/>
          <a:lstStyle/>
          <a:p>
            <a:r>
              <a:rPr kumimoji="1" lang="zh-CN" altLang="en-US" dirty="0">
                <a:latin typeface="微软雅黑" panose="020B0503020204020204" pitchFamily="34" charset="-122"/>
              </a:rPr>
              <a:t>用栈将递归算法改为非递归算法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570" name="Rectangle 2">
            <a:extLst>
              <a:ext uri="{FF2B5EF4-FFF2-40B4-BE49-F238E27FC236}">
                <a16:creationId xmlns:a16="http://schemas.microsoft.com/office/drawing/2014/main" id="{72377B46-2ABC-41FA-8515-413D584214C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8200" y="-99392"/>
            <a:ext cx="7745413" cy="1071562"/>
          </a:xfrm>
        </p:spPr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</a:rPr>
              <a:t>递归与回溯法</a:t>
            </a:r>
          </a:p>
        </p:txBody>
      </p:sp>
      <p:sp>
        <p:nvSpPr>
          <p:cNvPr id="365571" name="Rectangle 3">
            <a:extLst>
              <a:ext uri="{FF2B5EF4-FFF2-40B4-BE49-F238E27FC236}">
                <a16:creationId xmlns:a16="http://schemas.microsoft.com/office/drawing/2014/main" id="{4A3300BB-DE64-4234-9380-B7A229A38C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520" y="818356"/>
            <a:ext cx="8568952" cy="5221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spcBef>
                <a:spcPts val="0"/>
              </a:spcBef>
              <a:buClr>
                <a:srgbClr val="800080"/>
              </a:buClr>
              <a:buSzPct val="50000"/>
              <a:buFont typeface="Wingdings" panose="05000000000000000000" pitchFamily="2" charset="2"/>
              <a:buChar char="n"/>
            </a:pPr>
            <a:r>
              <a:rPr kumimoji="1" lang="zh-CN" altLang="en-US" sz="2800" b="0" baseline="0" dirty="0">
                <a:latin typeface="+mn-ea"/>
                <a:ea typeface="+mn-ea"/>
              </a:rPr>
              <a:t>对一个包含有许多结点，且每个结点有</a:t>
            </a:r>
            <a:r>
              <a:rPr kumimoji="1" lang="zh-CN" altLang="en-US" sz="2800" b="0" baseline="0" dirty="0">
                <a:solidFill>
                  <a:schemeClr val="tx2"/>
                </a:solidFill>
                <a:latin typeface="+mn-ea"/>
                <a:ea typeface="+mn-ea"/>
              </a:rPr>
              <a:t>多个分支</a:t>
            </a:r>
            <a:r>
              <a:rPr kumimoji="1" lang="zh-CN" altLang="en-US" sz="2800" b="0" baseline="0" dirty="0">
                <a:latin typeface="+mn-ea"/>
                <a:ea typeface="+mn-ea"/>
              </a:rPr>
              <a:t>的问题，可以</a:t>
            </a:r>
            <a:r>
              <a:rPr kumimoji="1" lang="zh-CN" altLang="en-US" sz="2800" b="0" baseline="0" dirty="0">
                <a:solidFill>
                  <a:srgbClr val="FF0000"/>
                </a:solidFill>
                <a:latin typeface="+mn-ea"/>
                <a:ea typeface="+mn-ea"/>
              </a:rPr>
              <a:t>先选择一个分支进行搜索</a:t>
            </a:r>
            <a:r>
              <a:rPr kumimoji="1" lang="zh-CN" altLang="en-US" sz="2800" b="0" baseline="0" dirty="0">
                <a:latin typeface="+mn-ea"/>
                <a:ea typeface="+mn-ea"/>
              </a:rPr>
              <a:t>。当搜索到某一结点，发现无法再继续搜索下去时，可以</a:t>
            </a:r>
            <a:r>
              <a:rPr kumimoji="1" lang="zh-CN" altLang="en-US" sz="2800" b="0" baseline="0" dirty="0">
                <a:solidFill>
                  <a:srgbClr val="FF0000"/>
                </a:solidFill>
                <a:latin typeface="+mn-ea"/>
                <a:ea typeface="+mn-ea"/>
              </a:rPr>
              <a:t>沿搜索路径回退到前一结点，沿另一分支继续搜索</a:t>
            </a:r>
            <a:r>
              <a:rPr kumimoji="1" lang="zh-CN" altLang="en-US" sz="2800" b="0" baseline="0" dirty="0">
                <a:latin typeface="+mn-ea"/>
                <a:ea typeface="+mn-ea"/>
              </a:rPr>
              <a:t>。</a:t>
            </a:r>
          </a:p>
          <a:p>
            <a:pPr>
              <a:lnSpc>
                <a:spcPct val="150000"/>
              </a:lnSpc>
              <a:spcBef>
                <a:spcPts val="0"/>
              </a:spcBef>
              <a:buClr>
                <a:srgbClr val="800080"/>
              </a:buClr>
              <a:buSzPct val="50000"/>
              <a:buFont typeface="Wingdings" panose="05000000000000000000" pitchFamily="2" charset="2"/>
              <a:buChar char="n"/>
            </a:pPr>
            <a:r>
              <a:rPr kumimoji="1" lang="zh-CN" altLang="en-US" sz="2800" b="0" baseline="0" dirty="0">
                <a:latin typeface="+mn-ea"/>
                <a:ea typeface="+mn-ea"/>
              </a:rPr>
              <a:t>如果回退之后没有其他选择，再沿搜索路径回退到更前的结点，</a:t>
            </a:r>
            <a:r>
              <a:rPr kumimoji="1" lang="en-US" altLang="zh-CN" sz="2800" b="0" baseline="0" dirty="0">
                <a:latin typeface="+mn-ea"/>
                <a:ea typeface="+mn-ea"/>
              </a:rPr>
              <a:t>…</a:t>
            </a:r>
            <a:r>
              <a:rPr kumimoji="1" lang="zh-CN" altLang="en-US" sz="2800" b="0" baseline="0" dirty="0">
                <a:latin typeface="+mn-ea"/>
                <a:ea typeface="+mn-ea"/>
              </a:rPr>
              <a:t>。依次执行，直至</a:t>
            </a:r>
            <a:r>
              <a:rPr kumimoji="1" lang="zh-CN" altLang="en-US" sz="2800" b="0" baseline="0" dirty="0">
                <a:solidFill>
                  <a:srgbClr val="FF0000"/>
                </a:solidFill>
                <a:latin typeface="+mn-ea"/>
                <a:ea typeface="+mn-ea"/>
              </a:rPr>
              <a:t>搜索到问题的解</a:t>
            </a:r>
            <a:r>
              <a:rPr kumimoji="1" lang="zh-CN" altLang="en-US" sz="2800" b="0" baseline="0" dirty="0">
                <a:latin typeface="+mn-ea"/>
                <a:ea typeface="+mn-ea"/>
              </a:rPr>
              <a:t>，或</a:t>
            </a:r>
            <a:r>
              <a:rPr kumimoji="1" lang="zh-CN" altLang="en-US" sz="2800" b="0" baseline="0" dirty="0">
                <a:solidFill>
                  <a:srgbClr val="FF0000"/>
                </a:solidFill>
                <a:latin typeface="+mn-ea"/>
                <a:ea typeface="+mn-ea"/>
              </a:rPr>
              <a:t>搜索完全部可搜索的分支没有解存在</a:t>
            </a:r>
            <a:r>
              <a:rPr kumimoji="1" lang="zh-CN" altLang="en-US" sz="2800" b="0" baseline="0" dirty="0">
                <a:latin typeface="+mn-ea"/>
                <a:ea typeface="+mn-ea"/>
              </a:rPr>
              <a:t>为止。</a:t>
            </a:r>
          </a:p>
          <a:p>
            <a:pPr>
              <a:lnSpc>
                <a:spcPct val="150000"/>
              </a:lnSpc>
              <a:spcBef>
                <a:spcPts val="0"/>
              </a:spcBef>
              <a:buClr>
                <a:srgbClr val="800080"/>
              </a:buClr>
              <a:buSzPct val="50000"/>
              <a:buFont typeface="Wingdings" panose="05000000000000000000" pitchFamily="2" charset="2"/>
              <a:buChar char="n"/>
            </a:pPr>
            <a:r>
              <a:rPr kumimoji="1" lang="zh-CN" altLang="en-US" sz="2800" baseline="0" dirty="0">
                <a:latin typeface="+mn-ea"/>
                <a:ea typeface="+mn-ea"/>
              </a:rPr>
              <a:t>回溯法</a:t>
            </a:r>
            <a:r>
              <a:rPr kumimoji="1" lang="zh-CN" altLang="en-US" sz="2800" b="0" baseline="0" dirty="0">
                <a:latin typeface="+mn-ea"/>
                <a:ea typeface="+mn-ea"/>
              </a:rPr>
              <a:t>与分治法本质相同，可用递归求解。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9267" name="表格 139266"/>
          <p:cNvGraphicFramePr/>
          <p:nvPr/>
        </p:nvGraphicFramePr>
        <p:xfrm>
          <a:off x="617538" y="849313"/>
          <a:ext cx="7929564" cy="5945185"/>
        </p:xfrm>
        <a:graphic>
          <a:graphicData uri="http://schemas.openxmlformats.org/drawingml/2006/table">
            <a:tbl>
              <a:tblPr/>
              <a:tblGrid>
                <a:gridCol w="7797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9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86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9476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9175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9325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9476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9175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9175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93257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614086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  <a:cs typeface="+mn-cs"/>
                        </a:defRPr>
                      </a:lvl5pPr>
                    </a:lstStyle>
                    <a:p>
                      <a:pPr lvl="0" indent="0" defTabSz="914400" eaLnBrk="0" hangingPunct="0">
                        <a:buNone/>
                      </a:pPr>
                      <a:endParaRPr lang="zh-CN" altLang="zh-CN" sz="2700" b="0" dirty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86701" marR="86701" marT="43348" marB="43348">
                    <a:lnL w="38100" cap="flat" cmpd="sng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blipFill rotWithShape="0">
                      <a:blip r:embed="rId2"/>
                    </a:blip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  <a:cs typeface="+mn-cs"/>
                        </a:defRPr>
                      </a:lvl5pPr>
                    </a:lstStyle>
                    <a:p>
                      <a:pPr lvl="0" indent="0" defTabSz="914400" eaLnBrk="0" hangingPunct="0">
                        <a:buNone/>
                      </a:pPr>
                      <a:endParaRPr lang="zh-CN" altLang="zh-CN" sz="2700" b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86701" marR="86701" marT="43348" marB="43348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blipFill rotWithShape="0">
                      <a:blip r:embed="rId2"/>
                    </a:blip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  <a:cs typeface="+mn-cs"/>
                        </a:defRPr>
                      </a:lvl5pPr>
                    </a:lstStyle>
                    <a:p>
                      <a:pPr lvl="0" indent="0" defTabSz="914400" eaLnBrk="0" hangingPunct="0">
                        <a:buNone/>
                      </a:pPr>
                      <a:endParaRPr lang="zh-CN" altLang="zh-CN" sz="2700" b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86701" marR="86701" marT="43348" marB="43348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blipFill rotWithShape="0">
                      <a:blip r:embed="rId2"/>
                    </a:blip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  <a:cs typeface="+mn-cs"/>
                        </a:defRPr>
                      </a:lvl5pPr>
                    </a:lstStyle>
                    <a:p>
                      <a:pPr lvl="0" indent="0" defTabSz="914400" eaLnBrk="0" hangingPunct="0">
                        <a:buNone/>
                      </a:pPr>
                      <a:endParaRPr lang="zh-CN" altLang="zh-CN" sz="2700" b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86701" marR="86701" marT="43348" marB="43348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blipFill rotWithShape="0">
                      <a:blip r:embed="rId2"/>
                    </a:blip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  <a:cs typeface="+mn-cs"/>
                        </a:defRPr>
                      </a:lvl5pPr>
                    </a:lstStyle>
                    <a:p>
                      <a:pPr lvl="0" indent="0" defTabSz="914400" eaLnBrk="0" hangingPunct="0">
                        <a:buNone/>
                      </a:pPr>
                      <a:endParaRPr lang="zh-CN" altLang="zh-CN" sz="2700" b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86701" marR="86701" marT="43348" marB="43348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blipFill rotWithShape="0">
                      <a:blip r:embed="rId2"/>
                    </a:blip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  <a:cs typeface="+mn-cs"/>
                        </a:defRPr>
                      </a:lvl5pPr>
                    </a:lstStyle>
                    <a:p>
                      <a:pPr lvl="0" indent="0" defTabSz="914400" eaLnBrk="0" hangingPunct="0">
                        <a:buNone/>
                      </a:pPr>
                      <a:endParaRPr lang="zh-CN" altLang="zh-CN" sz="2700" b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86701" marR="86701" marT="43348" marB="43348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blipFill rotWithShape="0">
                      <a:blip r:embed="rId2"/>
                    </a:blip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  <a:cs typeface="+mn-cs"/>
                        </a:defRPr>
                      </a:lvl5pPr>
                    </a:lstStyle>
                    <a:p>
                      <a:pPr lvl="0" indent="0" defTabSz="914400" eaLnBrk="0" hangingPunct="0">
                        <a:buNone/>
                      </a:pPr>
                      <a:endParaRPr lang="zh-CN" altLang="zh-CN" sz="2700" b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86701" marR="86701" marT="43348" marB="43348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blipFill rotWithShape="0">
                      <a:blip r:embed="rId2"/>
                    </a:blip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  <a:cs typeface="+mn-cs"/>
                        </a:defRPr>
                      </a:lvl5pPr>
                    </a:lstStyle>
                    <a:p>
                      <a:pPr lvl="0" indent="0" defTabSz="914400" eaLnBrk="0" hangingPunct="0">
                        <a:buNone/>
                      </a:pPr>
                      <a:endParaRPr lang="zh-CN" altLang="zh-CN" sz="2700" b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86701" marR="86701" marT="43348" marB="43348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blipFill rotWithShape="0">
                      <a:blip r:embed="rId2"/>
                    </a:blip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  <a:cs typeface="+mn-cs"/>
                        </a:defRPr>
                      </a:lvl5pPr>
                    </a:lstStyle>
                    <a:p>
                      <a:pPr lvl="0" indent="0" defTabSz="914400" eaLnBrk="0" hangingPunct="0">
                        <a:buNone/>
                      </a:pPr>
                      <a:endParaRPr lang="zh-CN" altLang="zh-CN" sz="2700" b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86701" marR="86701" marT="43348" marB="43348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blipFill rotWithShape="0">
                      <a:blip r:embed="rId2"/>
                    </a:blip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  <a:cs typeface="+mn-cs"/>
                        </a:defRPr>
                      </a:lvl5pPr>
                    </a:lstStyle>
                    <a:p>
                      <a:pPr lvl="0" indent="0" defTabSz="914400" eaLnBrk="0" hangingPunct="0">
                        <a:buNone/>
                      </a:pPr>
                      <a:endParaRPr lang="zh-CN" altLang="zh-CN" sz="2700" b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86701" marR="86701" marT="43348" marB="43348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blipFill rotWithShape="0">
                      <a:blip r:embed="rId2"/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1509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  <a:cs typeface="+mn-cs"/>
                        </a:defRPr>
                      </a:lvl5pPr>
                    </a:lstStyle>
                    <a:p>
                      <a:pPr lvl="0" indent="0" defTabSz="914400" eaLnBrk="0" hangingPunct="0">
                        <a:buNone/>
                      </a:pPr>
                      <a:endParaRPr lang="zh-CN" altLang="zh-CN" sz="2700" b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86701" marR="86701" marT="43348" marB="43348">
                    <a:lnL w="38100" cap="flat" cmpd="sng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blipFill rotWithShape="0">
                      <a:blip r:embed="rId2"/>
                    </a:blip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  <a:cs typeface="+mn-cs"/>
                        </a:defRPr>
                      </a:lvl5pPr>
                    </a:lstStyle>
                    <a:p>
                      <a:pPr lvl="0" indent="0" defTabSz="914400" eaLnBrk="0" hangingPunct="0">
                        <a:buNone/>
                      </a:pPr>
                      <a:endParaRPr lang="zh-CN" altLang="zh-CN" sz="2700" b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86701" marR="86701" marT="43348" marB="43348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  <a:cs typeface="+mn-cs"/>
                        </a:defRPr>
                      </a:lvl5pPr>
                    </a:lstStyle>
                    <a:p>
                      <a:pPr lvl="0" indent="0" defTabSz="914400" eaLnBrk="0" hangingPunct="0">
                        <a:buNone/>
                      </a:pPr>
                      <a:endParaRPr lang="zh-CN" altLang="zh-CN" sz="2700" b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86701" marR="86701" marT="43348" marB="43348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  <a:cs typeface="+mn-cs"/>
                        </a:defRPr>
                      </a:lvl5pPr>
                    </a:lstStyle>
                    <a:p>
                      <a:pPr lvl="0" indent="0" defTabSz="914400" eaLnBrk="0" hangingPunct="0">
                        <a:buNone/>
                      </a:pPr>
                      <a:endParaRPr lang="zh-CN" altLang="zh-CN" sz="2700" b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86701" marR="86701" marT="43348" marB="43348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blipFill rotWithShape="0">
                      <a:blip r:embed="rId2"/>
                    </a:blip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  <a:cs typeface="+mn-cs"/>
                        </a:defRPr>
                      </a:lvl5pPr>
                    </a:lstStyle>
                    <a:p>
                      <a:pPr lvl="0" indent="0" defTabSz="914400" eaLnBrk="0" hangingPunct="0">
                        <a:buNone/>
                      </a:pPr>
                      <a:endParaRPr lang="zh-CN" altLang="zh-CN" sz="2700" b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86701" marR="86701" marT="43348" marB="43348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  <a:cs typeface="+mn-cs"/>
                        </a:defRPr>
                      </a:lvl5pPr>
                    </a:lstStyle>
                    <a:p>
                      <a:pPr lvl="0" indent="0" defTabSz="914400" eaLnBrk="0" hangingPunct="0">
                        <a:buNone/>
                      </a:pPr>
                      <a:endParaRPr lang="zh-CN" altLang="zh-CN" sz="2700" b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86701" marR="86701" marT="43348" marB="43348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  <a:cs typeface="+mn-cs"/>
                        </a:defRPr>
                      </a:lvl5pPr>
                    </a:lstStyle>
                    <a:p>
                      <a:pPr lvl="0" indent="0" defTabSz="914400" eaLnBrk="0" hangingPunct="0">
                        <a:buNone/>
                      </a:pPr>
                      <a:endParaRPr lang="zh-CN" altLang="zh-CN" sz="2700" b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86701" marR="86701" marT="43348" marB="43348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  <a:cs typeface="+mn-cs"/>
                        </a:defRPr>
                      </a:lvl5pPr>
                    </a:lstStyle>
                    <a:p>
                      <a:pPr lvl="0" indent="0" defTabSz="914400" eaLnBrk="0" hangingPunct="0">
                        <a:buNone/>
                      </a:pPr>
                      <a:endParaRPr lang="zh-CN" altLang="zh-CN" sz="2700" b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86701" marR="86701" marT="43348" marB="43348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blipFill rotWithShape="0">
                      <a:blip r:embed="rId2"/>
                    </a:blip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  <a:cs typeface="+mn-cs"/>
                        </a:defRPr>
                      </a:lvl5pPr>
                    </a:lstStyle>
                    <a:p>
                      <a:pPr lvl="0" indent="0" defTabSz="914400" eaLnBrk="0" hangingPunct="0">
                        <a:buNone/>
                      </a:pPr>
                      <a:endParaRPr lang="zh-CN" altLang="zh-CN" sz="2700" b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86701" marR="86701" marT="43348" marB="43348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  <a:cs typeface="+mn-cs"/>
                        </a:defRPr>
                      </a:lvl5pPr>
                    </a:lstStyle>
                    <a:p>
                      <a:pPr lvl="0" indent="0" defTabSz="914400" eaLnBrk="0" hangingPunct="0">
                        <a:buNone/>
                      </a:pPr>
                      <a:endParaRPr lang="zh-CN" altLang="zh-CN" sz="2700" b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86701" marR="86701" marT="43348" marB="43348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blipFill rotWithShape="0">
                      <a:blip r:embed="rId2"/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3013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  <a:cs typeface="+mn-cs"/>
                        </a:defRPr>
                      </a:lvl5pPr>
                    </a:lstStyle>
                    <a:p>
                      <a:pPr lvl="0" indent="0" defTabSz="914400" eaLnBrk="0" hangingPunct="0">
                        <a:buNone/>
                      </a:pPr>
                      <a:endParaRPr lang="zh-CN" altLang="zh-CN" sz="2700" b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86701" marR="86701" marT="43348" marB="43348">
                    <a:lnL w="38100" cap="flat" cmpd="sng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blipFill rotWithShape="0">
                      <a:blip r:embed="rId2"/>
                    </a:blip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  <a:cs typeface="+mn-cs"/>
                        </a:defRPr>
                      </a:lvl5pPr>
                    </a:lstStyle>
                    <a:p>
                      <a:pPr lvl="0" indent="0" defTabSz="914400" eaLnBrk="0" hangingPunct="0">
                        <a:buNone/>
                      </a:pPr>
                      <a:endParaRPr lang="zh-CN" altLang="zh-CN" sz="2700" b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86701" marR="86701" marT="43348" marB="43348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  <a:cs typeface="+mn-cs"/>
                        </a:defRPr>
                      </a:lvl5pPr>
                    </a:lstStyle>
                    <a:p>
                      <a:pPr lvl="0" indent="0" defTabSz="914400" eaLnBrk="0" hangingPunct="0">
                        <a:buNone/>
                      </a:pPr>
                      <a:endParaRPr lang="zh-CN" altLang="zh-CN" sz="2700" b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86701" marR="86701" marT="43348" marB="43348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  <a:cs typeface="+mn-cs"/>
                        </a:defRPr>
                      </a:lvl5pPr>
                    </a:lstStyle>
                    <a:p>
                      <a:pPr lvl="0" indent="0" defTabSz="914400" eaLnBrk="0" hangingPunct="0">
                        <a:buNone/>
                      </a:pPr>
                      <a:endParaRPr lang="zh-CN" altLang="zh-CN" sz="2700" b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86701" marR="86701" marT="43348" marB="43348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blipFill rotWithShape="0">
                      <a:blip r:embed="rId2"/>
                    </a:blip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  <a:cs typeface="+mn-cs"/>
                        </a:defRPr>
                      </a:lvl5pPr>
                    </a:lstStyle>
                    <a:p>
                      <a:pPr lvl="0" indent="0" defTabSz="914400" eaLnBrk="0" hangingPunct="0">
                        <a:buNone/>
                      </a:pPr>
                      <a:endParaRPr lang="zh-CN" altLang="zh-CN" sz="2700" b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86701" marR="86701" marT="43348" marB="43348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  <a:cs typeface="+mn-cs"/>
                        </a:defRPr>
                      </a:lvl5pPr>
                    </a:lstStyle>
                    <a:p>
                      <a:pPr lvl="0" indent="0" defTabSz="914400" eaLnBrk="0" hangingPunct="0">
                        <a:buNone/>
                      </a:pPr>
                      <a:endParaRPr lang="zh-CN" altLang="zh-CN" sz="2700" b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86701" marR="86701" marT="43348" marB="43348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  <a:cs typeface="+mn-cs"/>
                        </a:defRPr>
                      </a:lvl5pPr>
                    </a:lstStyle>
                    <a:p>
                      <a:pPr lvl="0" indent="0" defTabSz="914400" eaLnBrk="0" hangingPunct="0">
                        <a:buNone/>
                      </a:pPr>
                      <a:endParaRPr lang="zh-CN" altLang="zh-CN" sz="2700" b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86701" marR="86701" marT="43348" marB="43348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  <a:cs typeface="+mn-cs"/>
                        </a:defRPr>
                      </a:lvl5pPr>
                    </a:lstStyle>
                    <a:p>
                      <a:pPr lvl="0" indent="0" defTabSz="914400" eaLnBrk="0" hangingPunct="0">
                        <a:buNone/>
                      </a:pPr>
                      <a:endParaRPr lang="zh-CN" altLang="zh-CN" sz="2700" b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86701" marR="86701" marT="43348" marB="43348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blipFill rotWithShape="0">
                      <a:blip r:embed="rId2"/>
                    </a:blip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  <a:cs typeface="+mn-cs"/>
                        </a:defRPr>
                      </a:lvl5pPr>
                    </a:lstStyle>
                    <a:p>
                      <a:pPr lvl="0" indent="0" defTabSz="914400" eaLnBrk="0" hangingPunct="0">
                        <a:buNone/>
                      </a:pPr>
                      <a:endParaRPr lang="zh-CN" altLang="zh-CN" sz="2700" b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86701" marR="86701" marT="43348" marB="43348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  <a:cs typeface="+mn-cs"/>
                        </a:defRPr>
                      </a:lvl5pPr>
                    </a:lstStyle>
                    <a:p>
                      <a:pPr lvl="0" indent="0" defTabSz="914400" eaLnBrk="0" hangingPunct="0">
                        <a:buNone/>
                      </a:pPr>
                      <a:endParaRPr lang="zh-CN" altLang="zh-CN" sz="2700" b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86701" marR="86701" marT="43348" marB="43348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blipFill rotWithShape="0">
                      <a:blip r:embed="rId2"/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1508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  <a:cs typeface="+mn-cs"/>
                        </a:defRPr>
                      </a:lvl5pPr>
                    </a:lstStyle>
                    <a:p>
                      <a:pPr lvl="0" indent="0" defTabSz="914400" eaLnBrk="0" hangingPunct="0">
                        <a:buNone/>
                      </a:pPr>
                      <a:endParaRPr lang="zh-CN" altLang="zh-CN" sz="2700" b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86701" marR="86701" marT="43348" marB="43348">
                    <a:lnL w="38100" cap="flat" cmpd="sng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blipFill rotWithShape="0">
                      <a:blip r:embed="rId2"/>
                    </a:blip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  <a:cs typeface="+mn-cs"/>
                        </a:defRPr>
                      </a:lvl5pPr>
                    </a:lstStyle>
                    <a:p>
                      <a:pPr lvl="0" indent="0" defTabSz="914400" eaLnBrk="0" hangingPunct="0">
                        <a:buNone/>
                      </a:pPr>
                      <a:endParaRPr lang="zh-CN" altLang="zh-CN" sz="2700" b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86701" marR="86701" marT="43348" marB="43348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  <a:cs typeface="+mn-cs"/>
                        </a:defRPr>
                      </a:lvl5pPr>
                    </a:lstStyle>
                    <a:p>
                      <a:pPr lvl="0" indent="0" defTabSz="914400" eaLnBrk="0" hangingPunct="0">
                        <a:buNone/>
                      </a:pPr>
                      <a:endParaRPr lang="zh-CN" altLang="zh-CN" sz="2700" b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86701" marR="86701" marT="43348" marB="43348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  <a:cs typeface="+mn-cs"/>
                        </a:defRPr>
                      </a:lvl5pPr>
                    </a:lstStyle>
                    <a:p>
                      <a:pPr lvl="0" indent="0" defTabSz="914400" eaLnBrk="0" hangingPunct="0">
                        <a:buNone/>
                      </a:pPr>
                      <a:endParaRPr lang="zh-CN" altLang="zh-CN" sz="2700" b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86701" marR="86701" marT="43348" marB="43348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  <a:cs typeface="+mn-cs"/>
                        </a:defRPr>
                      </a:lvl5pPr>
                    </a:lstStyle>
                    <a:p>
                      <a:pPr lvl="0" indent="0" defTabSz="914400" eaLnBrk="0" hangingPunct="0">
                        <a:buNone/>
                      </a:pPr>
                      <a:endParaRPr lang="zh-CN" altLang="zh-CN" sz="2700" b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86701" marR="86701" marT="43348" marB="43348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  <a:cs typeface="+mn-cs"/>
                        </a:defRPr>
                      </a:lvl5pPr>
                    </a:lstStyle>
                    <a:p>
                      <a:pPr lvl="0" indent="0" defTabSz="914400" eaLnBrk="0" hangingPunct="0">
                        <a:buNone/>
                      </a:pPr>
                      <a:endParaRPr lang="zh-CN" altLang="zh-CN" sz="2700" b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86701" marR="86701" marT="43348" marB="43348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blipFill rotWithShape="0">
                      <a:blip r:embed="rId2"/>
                    </a:blip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  <a:cs typeface="+mn-cs"/>
                        </a:defRPr>
                      </a:lvl5pPr>
                    </a:lstStyle>
                    <a:p>
                      <a:pPr lvl="0" indent="0" defTabSz="914400" eaLnBrk="0" hangingPunct="0">
                        <a:buNone/>
                      </a:pPr>
                      <a:endParaRPr lang="zh-CN" altLang="zh-CN" sz="2700" b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86701" marR="86701" marT="43348" marB="43348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blipFill rotWithShape="0">
                      <a:blip r:embed="rId2"/>
                    </a:blip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  <a:cs typeface="+mn-cs"/>
                        </a:defRPr>
                      </a:lvl5pPr>
                    </a:lstStyle>
                    <a:p>
                      <a:pPr lvl="0" indent="0" defTabSz="914400" eaLnBrk="0" hangingPunct="0">
                        <a:buNone/>
                      </a:pPr>
                      <a:endParaRPr lang="zh-CN" altLang="zh-CN" sz="2700" b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86701" marR="86701" marT="43348" marB="43348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  <a:cs typeface="+mn-cs"/>
                        </a:defRPr>
                      </a:lvl5pPr>
                    </a:lstStyle>
                    <a:p>
                      <a:pPr lvl="0" indent="0" defTabSz="914400" eaLnBrk="0" hangingPunct="0">
                        <a:buNone/>
                      </a:pPr>
                      <a:endParaRPr lang="zh-CN" altLang="zh-CN" sz="2700" b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86701" marR="86701" marT="43348" marB="43348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  <a:cs typeface="+mn-cs"/>
                        </a:defRPr>
                      </a:lvl5pPr>
                    </a:lstStyle>
                    <a:p>
                      <a:pPr lvl="0" indent="0" defTabSz="914400" eaLnBrk="0" hangingPunct="0">
                        <a:buNone/>
                      </a:pPr>
                      <a:endParaRPr lang="zh-CN" altLang="zh-CN" sz="2700" b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86701" marR="86701" marT="43348" marB="43348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blipFill rotWithShape="0">
                      <a:blip r:embed="rId2"/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3013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  <a:cs typeface="+mn-cs"/>
                        </a:defRPr>
                      </a:lvl5pPr>
                    </a:lstStyle>
                    <a:p>
                      <a:pPr lvl="0" indent="0" defTabSz="914400" eaLnBrk="0" hangingPunct="0">
                        <a:buNone/>
                      </a:pPr>
                      <a:endParaRPr lang="zh-CN" altLang="zh-CN" sz="2700" b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86701" marR="86701" marT="43348" marB="43348">
                    <a:lnL w="38100" cap="flat" cmpd="sng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blipFill rotWithShape="0">
                      <a:blip r:embed="rId2"/>
                    </a:blip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  <a:cs typeface="+mn-cs"/>
                        </a:defRPr>
                      </a:lvl5pPr>
                    </a:lstStyle>
                    <a:p>
                      <a:pPr lvl="0" indent="0" defTabSz="914400" eaLnBrk="0" hangingPunct="0">
                        <a:buNone/>
                      </a:pPr>
                      <a:endParaRPr lang="zh-CN" altLang="zh-CN" sz="2700" b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86701" marR="86701" marT="43348" marB="43348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  <a:cs typeface="+mn-cs"/>
                        </a:defRPr>
                      </a:lvl5pPr>
                    </a:lstStyle>
                    <a:p>
                      <a:pPr lvl="0" indent="0" defTabSz="914400" eaLnBrk="0" hangingPunct="0">
                        <a:buNone/>
                      </a:pPr>
                      <a:endParaRPr lang="zh-CN" altLang="zh-CN" sz="2700" b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86701" marR="86701" marT="43348" marB="43348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blipFill rotWithShape="0">
                      <a:blip r:embed="rId2"/>
                    </a:blip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  <a:cs typeface="+mn-cs"/>
                        </a:defRPr>
                      </a:lvl5pPr>
                    </a:lstStyle>
                    <a:p>
                      <a:pPr lvl="0" indent="0" defTabSz="914400" eaLnBrk="0" hangingPunct="0">
                        <a:buNone/>
                      </a:pPr>
                      <a:endParaRPr lang="zh-CN" altLang="zh-CN" sz="2700" b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86701" marR="86701" marT="43348" marB="43348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blipFill rotWithShape="0">
                      <a:blip r:embed="rId2"/>
                    </a:blip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  <a:cs typeface="+mn-cs"/>
                        </a:defRPr>
                      </a:lvl5pPr>
                    </a:lstStyle>
                    <a:p>
                      <a:pPr lvl="0" indent="0" defTabSz="914400" eaLnBrk="0" hangingPunct="0">
                        <a:buNone/>
                      </a:pPr>
                      <a:endParaRPr lang="zh-CN" altLang="zh-CN" sz="2700" b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86701" marR="86701" marT="43348" marB="43348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blipFill rotWithShape="0">
                      <a:blip r:embed="rId2"/>
                    </a:blip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  <a:cs typeface="+mn-cs"/>
                        </a:defRPr>
                      </a:lvl5pPr>
                    </a:lstStyle>
                    <a:p>
                      <a:pPr lvl="0" indent="0" defTabSz="914400" eaLnBrk="0" hangingPunct="0">
                        <a:buNone/>
                      </a:pPr>
                      <a:endParaRPr lang="zh-CN" altLang="zh-CN" sz="2700" b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86701" marR="86701" marT="43348" marB="43348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  <a:cs typeface="+mn-cs"/>
                        </a:defRPr>
                      </a:lvl5pPr>
                    </a:lstStyle>
                    <a:p>
                      <a:pPr lvl="0" indent="0" defTabSz="914400" eaLnBrk="0" hangingPunct="0">
                        <a:buNone/>
                      </a:pPr>
                      <a:endParaRPr lang="zh-CN" altLang="zh-CN" sz="2700" b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86701" marR="86701" marT="43348" marB="43348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  <a:cs typeface="+mn-cs"/>
                        </a:defRPr>
                      </a:lvl5pPr>
                    </a:lstStyle>
                    <a:p>
                      <a:pPr lvl="0" indent="0" defTabSz="914400" eaLnBrk="0" hangingPunct="0">
                        <a:buNone/>
                      </a:pPr>
                      <a:endParaRPr lang="zh-CN" altLang="zh-CN" sz="2700" b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86701" marR="86701" marT="43348" marB="43348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  <a:cs typeface="+mn-cs"/>
                        </a:defRPr>
                      </a:lvl5pPr>
                    </a:lstStyle>
                    <a:p>
                      <a:pPr lvl="0" indent="0" defTabSz="914400" eaLnBrk="0" hangingPunct="0">
                        <a:buNone/>
                      </a:pPr>
                      <a:endParaRPr lang="zh-CN" altLang="zh-CN" sz="2700" b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86701" marR="86701" marT="43348" marB="43348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  <a:cs typeface="+mn-cs"/>
                        </a:defRPr>
                      </a:lvl5pPr>
                    </a:lstStyle>
                    <a:p>
                      <a:pPr lvl="0" indent="0" defTabSz="914400" eaLnBrk="0" hangingPunct="0">
                        <a:buNone/>
                      </a:pPr>
                      <a:endParaRPr lang="zh-CN" altLang="zh-CN" sz="2700" b="0" dirty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86701" marR="86701" marT="43348" marB="43348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blipFill rotWithShape="0">
                      <a:blip r:embed="rId2"/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91509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  <a:cs typeface="+mn-cs"/>
                        </a:defRPr>
                      </a:lvl5pPr>
                    </a:lstStyle>
                    <a:p>
                      <a:pPr lvl="0" indent="0" defTabSz="914400" eaLnBrk="0" hangingPunct="0">
                        <a:buNone/>
                      </a:pPr>
                      <a:endParaRPr lang="zh-CN" altLang="zh-CN" sz="2700" b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86701" marR="86701" marT="43348" marB="43348">
                    <a:lnL w="38100" cap="flat" cmpd="sng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blipFill rotWithShape="0">
                      <a:blip r:embed="rId2"/>
                    </a:blip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  <a:cs typeface="+mn-cs"/>
                        </a:defRPr>
                      </a:lvl5pPr>
                    </a:lstStyle>
                    <a:p>
                      <a:pPr lvl="0" indent="0" defTabSz="914400" eaLnBrk="0" hangingPunct="0">
                        <a:buNone/>
                      </a:pPr>
                      <a:endParaRPr lang="zh-CN" altLang="zh-CN" sz="2700" b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86701" marR="86701" marT="43348" marB="43348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  <a:cs typeface="+mn-cs"/>
                        </a:defRPr>
                      </a:lvl5pPr>
                    </a:lstStyle>
                    <a:p>
                      <a:pPr lvl="0" indent="0" defTabSz="914400" eaLnBrk="0" hangingPunct="0">
                        <a:buNone/>
                      </a:pPr>
                      <a:endParaRPr lang="zh-CN" altLang="zh-CN" sz="2700" b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86701" marR="86701" marT="43348" marB="43348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  <a:cs typeface="+mn-cs"/>
                        </a:defRPr>
                      </a:lvl5pPr>
                    </a:lstStyle>
                    <a:p>
                      <a:pPr lvl="0" indent="0" defTabSz="914400" eaLnBrk="0" hangingPunct="0">
                        <a:buNone/>
                      </a:pPr>
                      <a:endParaRPr lang="zh-CN" altLang="zh-CN" sz="2700" b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86701" marR="86701" marT="43348" marB="43348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  <a:cs typeface="+mn-cs"/>
                        </a:defRPr>
                      </a:lvl5pPr>
                    </a:lstStyle>
                    <a:p>
                      <a:pPr lvl="0" indent="0" defTabSz="914400" eaLnBrk="0" hangingPunct="0">
                        <a:buNone/>
                      </a:pPr>
                      <a:endParaRPr lang="zh-CN" altLang="zh-CN" sz="2700" b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86701" marR="86701" marT="43348" marB="43348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blipFill rotWithShape="0">
                      <a:blip r:embed="rId2"/>
                    </a:blip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  <a:cs typeface="+mn-cs"/>
                        </a:defRPr>
                      </a:lvl5pPr>
                    </a:lstStyle>
                    <a:p>
                      <a:pPr lvl="0" indent="0" defTabSz="914400" eaLnBrk="0" hangingPunct="0">
                        <a:buNone/>
                      </a:pPr>
                      <a:endParaRPr lang="zh-CN" altLang="zh-CN" sz="2700" b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86701" marR="86701" marT="43348" marB="43348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  <a:cs typeface="+mn-cs"/>
                        </a:defRPr>
                      </a:lvl5pPr>
                    </a:lstStyle>
                    <a:p>
                      <a:pPr lvl="0" indent="0" defTabSz="914400" eaLnBrk="0" hangingPunct="0">
                        <a:buNone/>
                      </a:pPr>
                      <a:endParaRPr lang="zh-CN" altLang="zh-CN" sz="2700" b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86701" marR="86701" marT="43348" marB="43348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  <a:cs typeface="+mn-cs"/>
                        </a:defRPr>
                      </a:lvl5pPr>
                    </a:lstStyle>
                    <a:p>
                      <a:pPr lvl="0" indent="0" defTabSz="914400" eaLnBrk="0" hangingPunct="0">
                        <a:buNone/>
                      </a:pPr>
                      <a:endParaRPr lang="zh-CN" altLang="zh-CN" sz="2700" b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86701" marR="86701" marT="43348" marB="43348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  <a:cs typeface="+mn-cs"/>
                        </a:defRPr>
                      </a:lvl5pPr>
                    </a:lstStyle>
                    <a:p>
                      <a:pPr lvl="0" indent="0" defTabSz="914400" eaLnBrk="0" hangingPunct="0">
                        <a:buNone/>
                      </a:pPr>
                      <a:endParaRPr lang="zh-CN" altLang="zh-CN" sz="2700" b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86701" marR="86701" marT="43348" marB="43348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  <a:cs typeface="+mn-cs"/>
                        </a:defRPr>
                      </a:lvl5pPr>
                    </a:lstStyle>
                    <a:p>
                      <a:pPr lvl="0" indent="0" defTabSz="914400" eaLnBrk="0" hangingPunct="0">
                        <a:buNone/>
                      </a:pPr>
                      <a:endParaRPr lang="zh-CN" altLang="zh-CN" sz="2700" b="0" dirty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86701" marR="86701" marT="43348" marB="43348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blipFill rotWithShape="0">
                      <a:blip r:embed="rId2"/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93013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  <a:cs typeface="+mn-cs"/>
                        </a:defRPr>
                      </a:lvl5pPr>
                    </a:lstStyle>
                    <a:p>
                      <a:pPr lvl="0" indent="0" defTabSz="914400" eaLnBrk="0" hangingPunct="0">
                        <a:buNone/>
                      </a:pPr>
                      <a:endParaRPr lang="zh-CN" altLang="zh-CN" sz="2700" b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86701" marR="86701" marT="43348" marB="43348">
                    <a:lnL w="38100" cap="flat" cmpd="sng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blipFill rotWithShape="0">
                      <a:blip r:embed="rId2"/>
                    </a:blip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  <a:cs typeface="+mn-cs"/>
                        </a:defRPr>
                      </a:lvl5pPr>
                    </a:lstStyle>
                    <a:p>
                      <a:pPr lvl="0" indent="0" defTabSz="914400" eaLnBrk="0" hangingPunct="0">
                        <a:buNone/>
                      </a:pPr>
                      <a:endParaRPr lang="zh-CN" altLang="zh-CN" sz="2700" b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86701" marR="86701" marT="43348" marB="43348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  <a:cs typeface="+mn-cs"/>
                        </a:defRPr>
                      </a:lvl5pPr>
                    </a:lstStyle>
                    <a:p>
                      <a:pPr lvl="0" indent="0" defTabSz="914400" eaLnBrk="0" hangingPunct="0">
                        <a:buNone/>
                      </a:pPr>
                      <a:endParaRPr lang="zh-CN" altLang="zh-CN" sz="2700" b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86701" marR="86701" marT="43348" marB="43348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blipFill rotWithShape="0">
                      <a:blip r:embed="rId2"/>
                    </a:blip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  <a:cs typeface="+mn-cs"/>
                        </a:defRPr>
                      </a:lvl5pPr>
                    </a:lstStyle>
                    <a:p>
                      <a:pPr lvl="0" indent="0" defTabSz="914400" eaLnBrk="0" hangingPunct="0">
                        <a:buNone/>
                      </a:pPr>
                      <a:endParaRPr lang="zh-CN" altLang="zh-CN" sz="2700" b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86701" marR="86701" marT="43348" marB="43348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  <a:cs typeface="+mn-cs"/>
                        </a:defRPr>
                      </a:lvl5pPr>
                    </a:lstStyle>
                    <a:p>
                      <a:pPr lvl="0" indent="0" defTabSz="914400" eaLnBrk="0" hangingPunct="0">
                        <a:buNone/>
                      </a:pPr>
                      <a:endParaRPr lang="zh-CN" altLang="zh-CN" sz="2700" b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86701" marR="86701" marT="43348" marB="43348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  <a:cs typeface="+mn-cs"/>
                        </a:defRPr>
                      </a:lvl5pPr>
                    </a:lstStyle>
                    <a:p>
                      <a:pPr lvl="0" indent="0" defTabSz="914400" eaLnBrk="0" hangingPunct="0">
                        <a:buNone/>
                      </a:pPr>
                      <a:endParaRPr lang="zh-CN" altLang="zh-CN" sz="2700" b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86701" marR="86701" marT="43348" marB="43348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  <a:cs typeface="+mn-cs"/>
                        </a:defRPr>
                      </a:lvl5pPr>
                    </a:lstStyle>
                    <a:p>
                      <a:pPr lvl="0" indent="0" defTabSz="914400" eaLnBrk="0" hangingPunct="0">
                        <a:buNone/>
                      </a:pPr>
                      <a:endParaRPr lang="zh-CN" altLang="zh-CN" sz="2700" b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86701" marR="86701" marT="43348" marB="43348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blipFill rotWithShape="0">
                      <a:blip r:embed="rId2"/>
                    </a:blip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  <a:cs typeface="+mn-cs"/>
                        </a:defRPr>
                      </a:lvl5pPr>
                    </a:lstStyle>
                    <a:p>
                      <a:pPr lvl="0" indent="0" defTabSz="914400" eaLnBrk="0" hangingPunct="0">
                        <a:buNone/>
                      </a:pPr>
                      <a:endParaRPr lang="zh-CN" altLang="zh-CN" sz="2700" b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86701" marR="86701" marT="43348" marB="43348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  <a:cs typeface="+mn-cs"/>
                        </a:defRPr>
                      </a:lvl5pPr>
                    </a:lstStyle>
                    <a:p>
                      <a:pPr lvl="0" indent="0" defTabSz="914400" eaLnBrk="0" hangingPunct="0">
                        <a:buNone/>
                      </a:pPr>
                      <a:endParaRPr lang="zh-CN" altLang="zh-CN" sz="2700" b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86701" marR="86701" marT="43348" marB="43348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  <a:cs typeface="+mn-cs"/>
                        </a:defRPr>
                      </a:lvl5pPr>
                    </a:lstStyle>
                    <a:p>
                      <a:pPr lvl="0" indent="0" defTabSz="914400" eaLnBrk="0" hangingPunct="0">
                        <a:buNone/>
                      </a:pPr>
                      <a:endParaRPr lang="zh-CN" altLang="zh-CN" sz="2700" b="0" dirty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86701" marR="86701" marT="43348" marB="43348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blipFill rotWithShape="0">
                      <a:blip r:embed="rId2"/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91508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  <a:cs typeface="+mn-cs"/>
                        </a:defRPr>
                      </a:lvl5pPr>
                    </a:lstStyle>
                    <a:p>
                      <a:pPr lvl="0" indent="0" defTabSz="914400" eaLnBrk="0" hangingPunct="0">
                        <a:buNone/>
                      </a:pPr>
                      <a:endParaRPr lang="zh-CN" altLang="zh-CN" sz="2700" b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86701" marR="86701" marT="43348" marB="43348">
                    <a:lnL w="38100" cap="flat" cmpd="sng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blipFill rotWithShape="0">
                      <a:blip r:embed="rId2"/>
                    </a:blip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  <a:cs typeface="+mn-cs"/>
                        </a:defRPr>
                      </a:lvl5pPr>
                    </a:lstStyle>
                    <a:p>
                      <a:pPr lvl="0" indent="0" defTabSz="914400" eaLnBrk="0" hangingPunct="0">
                        <a:buNone/>
                      </a:pPr>
                      <a:endParaRPr lang="zh-CN" altLang="zh-CN" sz="2700" b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86701" marR="86701" marT="43348" marB="43348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  <a:cs typeface="+mn-cs"/>
                        </a:defRPr>
                      </a:lvl5pPr>
                    </a:lstStyle>
                    <a:p>
                      <a:pPr lvl="0" indent="0" defTabSz="914400" eaLnBrk="0" hangingPunct="0">
                        <a:buNone/>
                      </a:pPr>
                      <a:endParaRPr lang="zh-CN" altLang="zh-CN" sz="2700" b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86701" marR="86701" marT="43348" marB="43348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blipFill rotWithShape="0">
                      <a:blip r:embed="rId2"/>
                    </a:blip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  <a:cs typeface="+mn-cs"/>
                        </a:defRPr>
                      </a:lvl5pPr>
                    </a:lstStyle>
                    <a:p>
                      <a:pPr lvl="0" indent="0" defTabSz="914400" eaLnBrk="0" hangingPunct="0">
                        <a:buNone/>
                      </a:pPr>
                      <a:endParaRPr lang="zh-CN" altLang="zh-CN" sz="2700" b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86701" marR="86701" marT="43348" marB="43348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blipFill rotWithShape="0">
                      <a:blip r:embed="rId2"/>
                    </a:blip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  <a:cs typeface="+mn-cs"/>
                        </a:defRPr>
                      </a:lvl5pPr>
                    </a:lstStyle>
                    <a:p>
                      <a:pPr lvl="0" indent="0" defTabSz="914400" eaLnBrk="0" hangingPunct="0">
                        <a:buNone/>
                      </a:pPr>
                      <a:endParaRPr lang="zh-CN" altLang="zh-CN" sz="2700" b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86701" marR="86701" marT="43348" marB="43348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blipFill rotWithShape="0">
                      <a:blip r:embed="rId2"/>
                    </a:blip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  <a:cs typeface="+mn-cs"/>
                        </a:defRPr>
                      </a:lvl5pPr>
                    </a:lstStyle>
                    <a:p>
                      <a:pPr lvl="0" indent="0" defTabSz="914400" eaLnBrk="0" hangingPunct="0">
                        <a:buNone/>
                      </a:pPr>
                      <a:endParaRPr lang="zh-CN" altLang="zh-CN" sz="2700" b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86701" marR="86701" marT="43348" marB="43348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  <a:cs typeface="+mn-cs"/>
                        </a:defRPr>
                      </a:lvl5pPr>
                    </a:lstStyle>
                    <a:p>
                      <a:pPr lvl="0" indent="0" defTabSz="914400" eaLnBrk="0" hangingPunct="0">
                        <a:buNone/>
                      </a:pPr>
                      <a:endParaRPr lang="zh-CN" altLang="zh-CN" sz="2700" b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86701" marR="86701" marT="43348" marB="43348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blipFill rotWithShape="0">
                      <a:blip r:embed="rId2"/>
                    </a:blip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  <a:cs typeface="+mn-cs"/>
                        </a:defRPr>
                      </a:lvl5pPr>
                    </a:lstStyle>
                    <a:p>
                      <a:pPr lvl="0" indent="0" defTabSz="914400" eaLnBrk="0" hangingPunct="0">
                        <a:buNone/>
                      </a:pPr>
                      <a:endParaRPr lang="zh-CN" altLang="zh-CN" sz="2700" b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86701" marR="86701" marT="43348" marB="43348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blipFill rotWithShape="0">
                      <a:blip r:embed="rId2"/>
                    </a:blip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  <a:cs typeface="+mn-cs"/>
                        </a:defRPr>
                      </a:lvl5pPr>
                    </a:lstStyle>
                    <a:p>
                      <a:pPr lvl="0" indent="0" defTabSz="914400" eaLnBrk="0" hangingPunct="0">
                        <a:buNone/>
                      </a:pPr>
                      <a:endParaRPr lang="zh-CN" altLang="zh-CN" sz="2700" b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86701" marR="86701" marT="43348" marB="43348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  <a:cs typeface="+mn-cs"/>
                        </a:defRPr>
                      </a:lvl5pPr>
                    </a:lstStyle>
                    <a:p>
                      <a:pPr lvl="0" indent="0" defTabSz="914400" eaLnBrk="0" hangingPunct="0">
                        <a:buNone/>
                      </a:pPr>
                      <a:endParaRPr lang="zh-CN" altLang="zh-CN" sz="2700" b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86701" marR="86701" marT="43348" marB="43348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blipFill rotWithShape="0">
                      <a:blip r:embed="rId2"/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93013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  <a:cs typeface="+mn-cs"/>
                        </a:defRPr>
                      </a:lvl5pPr>
                    </a:lstStyle>
                    <a:p>
                      <a:pPr lvl="0" indent="0" defTabSz="914400" eaLnBrk="0" hangingPunct="0">
                        <a:buNone/>
                      </a:pPr>
                      <a:endParaRPr lang="zh-CN" altLang="zh-CN" sz="2700" b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86701" marR="86701" marT="43348" marB="43348">
                    <a:lnL w="38100" cap="flat" cmpd="sng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blipFill rotWithShape="0">
                      <a:blip r:embed="rId2"/>
                    </a:blip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  <a:cs typeface="+mn-cs"/>
                        </a:defRPr>
                      </a:lvl5pPr>
                    </a:lstStyle>
                    <a:p>
                      <a:pPr lvl="0" indent="0" defTabSz="914400" eaLnBrk="0" hangingPunct="0">
                        <a:buNone/>
                      </a:pPr>
                      <a:endParaRPr lang="zh-CN" altLang="zh-CN" sz="2700" b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86701" marR="86701" marT="43348" marB="43348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  <a:cs typeface="+mn-cs"/>
                        </a:defRPr>
                      </a:lvl5pPr>
                    </a:lstStyle>
                    <a:p>
                      <a:pPr lvl="0" indent="0" defTabSz="914400" eaLnBrk="0" hangingPunct="0">
                        <a:buNone/>
                      </a:pPr>
                      <a:endParaRPr lang="zh-CN" altLang="zh-CN" sz="2700" b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86701" marR="86701" marT="43348" marB="43348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  <a:cs typeface="+mn-cs"/>
                        </a:defRPr>
                      </a:lvl5pPr>
                    </a:lstStyle>
                    <a:p>
                      <a:pPr lvl="0" indent="0" defTabSz="914400" eaLnBrk="0" hangingPunct="0">
                        <a:buNone/>
                      </a:pPr>
                      <a:endParaRPr lang="zh-CN" altLang="zh-CN" sz="2700" b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86701" marR="86701" marT="43348" marB="43348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  <a:cs typeface="+mn-cs"/>
                        </a:defRPr>
                      </a:lvl5pPr>
                    </a:lstStyle>
                    <a:p>
                      <a:pPr lvl="0" indent="0" defTabSz="914400" eaLnBrk="0" hangingPunct="0">
                        <a:buNone/>
                      </a:pPr>
                      <a:endParaRPr lang="zh-CN" altLang="zh-CN" sz="2700" b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86701" marR="86701" marT="43348" marB="43348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  <a:cs typeface="+mn-cs"/>
                        </a:defRPr>
                      </a:lvl5pPr>
                    </a:lstStyle>
                    <a:p>
                      <a:pPr lvl="0" indent="0" defTabSz="914400" eaLnBrk="0" hangingPunct="0">
                        <a:buNone/>
                      </a:pPr>
                      <a:endParaRPr lang="zh-CN" altLang="zh-CN" sz="2700" b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86701" marR="86701" marT="43348" marB="43348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blipFill rotWithShape="0">
                      <a:blip r:embed="rId2"/>
                    </a:blip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  <a:cs typeface="+mn-cs"/>
                        </a:defRPr>
                      </a:lvl5pPr>
                    </a:lstStyle>
                    <a:p>
                      <a:pPr lvl="0" indent="0" defTabSz="914400" eaLnBrk="0" hangingPunct="0">
                        <a:buNone/>
                      </a:pPr>
                      <a:endParaRPr lang="zh-CN" altLang="zh-CN" sz="2700" b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86701" marR="86701" marT="43348" marB="43348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  <a:cs typeface="+mn-cs"/>
                        </a:defRPr>
                      </a:lvl5pPr>
                    </a:lstStyle>
                    <a:p>
                      <a:pPr lvl="0" indent="0" defTabSz="914400" eaLnBrk="0" hangingPunct="0">
                        <a:buNone/>
                      </a:pPr>
                      <a:endParaRPr lang="zh-CN" altLang="zh-CN" sz="2700" b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86701" marR="86701" marT="43348" marB="43348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  <a:cs typeface="+mn-cs"/>
                        </a:defRPr>
                      </a:lvl5pPr>
                    </a:lstStyle>
                    <a:p>
                      <a:pPr lvl="0" indent="0" defTabSz="914400" eaLnBrk="0" hangingPunct="0">
                        <a:buNone/>
                      </a:pPr>
                      <a:endParaRPr lang="zh-CN" altLang="zh-CN" sz="2700" b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86701" marR="86701" marT="43348" marB="43348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  <a:cs typeface="+mn-cs"/>
                        </a:defRPr>
                      </a:lvl5pPr>
                    </a:lstStyle>
                    <a:p>
                      <a:pPr lvl="0" indent="0" defTabSz="914400" eaLnBrk="0" hangingPunct="0">
                        <a:buNone/>
                      </a:pPr>
                      <a:endParaRPr lang="zh-CN" altLang="zh-CN" sz="2700" b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86701" marR="86701" marT="43348" marB="43348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blipFill rotWithShape="0">
                      <a:blip r:embed="rId2"/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93013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  <a:cs typeface="+mn-cs"/>
                        </a:defRPr>
                      </a:lvl5pPr>
                    </a:lstStyle>
                    <a:p>
                      <a:pPr lvl="0" indent="0" defTabSz="914400" eaLnBrk="0" hangingPunct="0">
                        <a:buNone/>
                      </a:pPr>
                      <a:endParaRPr lang="zh-CN" altLang="zh-CN" sz="2700" b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86701" marR="86701" marT="43348" marB="43348">
                    <a:lnL w="38100" cap="flat" cmpd="sng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blipFill rotWithShape="0">
                      <a:blip r:embed="rId2"/>
                    </a:blip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  <a:cs typeface="+mn-cs"/>
                        </a:defRPr>
                      </a:lvl5pPr>
                    </a:lstStyle>
                    <a:p>
                      <a:pPr lvl="0" indent="0" defTabSz="914400" eaLnBrk="0" hangingPunct="0">
                        <a:buNone/>
                      </a:pPr>
                      <a:endParaRPr lang="zh-CN" altLang="zh-CN" sz="2700" b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86701" marR="86701" marT="43348" marB="43348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blipFill rotWithShape="0">
                      <a:blip r:embed="rId2"/>
                    </a:blip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  <a:cs typeface="+mn-cs"/>
                        </a:defRPr>
                      </a:lvl5pPr>
                    </a:lstStyle>
                    <a:p>
                      <a:pPr lvl="0" indent="0" defTabSz="914400" eaLnBrk="0" hangingPunct="0">
                        <a:buNone/>
                      </a:pPr>
                      <a:endParaRPr lang="zh-CN" altLang="zh-CN" sz="2700" b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86701" marR="86701" marT="43348" marB="43348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blipFill rotWithShape="0">
                      <a:blip r:embed="rId2"/>
                    </a:blip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  <a:cs typeface="+mn-cs"/>
                        </a:defRPr>
                      </a:lvl5pPr>
                    </a:lstStyle>
                    <a:p>
                      <a:pPr lvl="0" indent="0" defTabSz="914400" eaLnBrk="0" hangingPunct="0">
                        <a:buNone/>
                      </a:pPr>
                      <a:endParaRPr lang="zh-CN" altLang="zh-CN" sz="2700" b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86701" marR="86701" marT="43348" marB="43348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blipFill rotWithShape="0">
                      <a:blip r:embed="rId2"/>
                    </a:blip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  <a:cs typeface="+mn-cs"/>
                        </a:defRPr>
                      </a:lvl5pPr>
                    </a:lstStyle>
                    <a:p>
                      <a:pPr lvl="0" indent="0" defTabSz="914400" eaLnBrk="0" hangingPunct="0">
                        <a:buNone/>
                      </a:pPr>
                      <a:endParaRPr lang="zh-CN" altLang="zh-CN" sz="2700" b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86701" marR="86701" marT="43348" marB="43348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blipFill rotWithShape="0">
                      <a:blip r:embed="rId2"/>
                    </a:blip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  <a:cs typeface="+mn-cs"/>
                        </a:defRPr>
                      </a:lvl5pPr>
                    </a:lstStyle>
                    <a:p>
                      <a:pPr lvl="0" indent="0" defTabSz="914400" eaLnBrk="0" hangingPunct="0">
                        <a:buNone/>
                      </a:pPr>
                      <a:endParaRPr lang="zh-CN" altLang="zh-CN" sz="2700" b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86701" marR="86701" marT="43348" marB="43348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blipFill rotWithShape="0">
                      <a:blip r:embed="rId2"/>
                    </a:blip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  <a:cs typeface="+mn-cs"/>
                        </a:defRPr>
                      </a:lvl5pPr>
                    </a:lstStyle>
                    <a:p>
                      <a:pPr lvl="0" indent="0" defTabSz="914400" eaLnBrk="0" hangingPunct="0">
                        <a:buNone/>
                      </a:pPr>
                      <a:endParaRPr lang="zh-CN" altLang="zh-CN" sz="2700" b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86701" marR="86701" marT="43348" marB="43348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blipFill rotWithShape="0">
                      <a:blip r:embed="rId2"/>
                    </a:blip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  <a:cs typeface="+mn-cs"/>
                        </a:defRPr>
                      </a:lvl5pPr>
                    </a:lstStyle>
                    <a:p>
                      <a:pPr lvl="0" indent="0" defTabSz="914400" eaLnBrk="0" hangingPunct="0">
                        <a:buNone/>
                      </a:pPr>
                      <a:endParaRPr lang="zh-CN" altLang="zh-CN" sz="2700" b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86701" marR="86701" marT="43348" marB="43348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blipFill rotWithShape="0">
                      <a:blip r:embed="rId2"/>
                    </a:blip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  <a:cs typeface="+mn-cs"/>
                        </a:defRPr>
                      </a:lvl5pPr>
                    </a:lstStyle>
                    <a:p>
                      <a:pPr lvl="0" indent="0" defTabSz="914400" eaLnBrk="0" hangingPunct="0">
                        <a:buNone/>
                      </a:pPr>
                      <a:endParaRPr lang="zh-CN" altLang="zh-CN" sz="2700" b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86701" marR="86701" marT="43348" marB="43348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blipFill rotWithShape="0">
                      <a:blip r:embed="rId2"/>
                    </a:blip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defRPr sz="2400" b="1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  <a:cs typeface="+mn-cs"/>
                        </a:defRPr>
                      </a:lvl5pPr>
                    </a:lstStyle>
                    <a:p>
                      <a:pPr lvl="0" indent="0" defTabSz="914400" eaLnBrk="0" hangingPunct="0">
                        <a:buNone/>
                      </a:pPr>
                      <a:endParaRPr lang="zh-CN" altLang="zh-CN" sz="2700" b="0" dirty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86701" marR="86701" marT="43348" marB="43348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>
                      <a:solidFill>
                        <a:srgbClr val="FF99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blipFill rotWithShape="0">
                      <a:blip r:embed="rId2"/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pic>
        <p:nvPicPr>
          <p:cNvPr id="558355" name="Picture 27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5413" y="1563688"/>
            <a:ext cx="457200" cy="571500"/>
          </a:xfrm>
          <a:prstGeom prst="rect">
            <a:avLst/>
          </a:prstGeom>
          <a:noFill/>
          <a:ln w="25400">
            <a:noFill/>
          </a:ln>
        </p:spPr>
      </p:pic>
      <p:pic>
        <p:nvPicPr>
          <p:cNvPr id="558356" name="Picture 27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79588" y="1635125"/>
            <a:ext cx="584200" cy="469900"/>
          </a:xfrm>
          <a:prstGeom prst="rect">
            <a:avLst/>
          </a:prstGeom>
          <a:noFill/>
          <a:ln w="25400">
            <a:noFill/>
          </a:ln>
        </p:spPr>
      </p:pic>
      <p:pic>
        <p:nvPicPr>
          <p:cNvPr id="558357" name="Picture 27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00313" y="1563688"/>
            <a:ext cx="444500" cy="533400"/>
          </a:xfrm>
          <a:prstGeom prst="rect">
            <a:avLst/>
          </a:prstGeom>
          <a:noFill/>
          <a:ln w="25400">
            <a:noFill/>
          </a:ln>
        </p:spPr>
      </p:pic>
      <p:pic>
        <p:nvPicPr>
          <p:cNvPr id="558358" name="Picture 27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28875" y="2781300"/>
            <a:ext cx="584200" cy="469900"/>
          </a:xfrm>
          <a:prstGeom prst="rect">
            <a:avLst/>
          </a:prstGeom>
          <a:noFill/>
          <a:ln w="25400">
            <a:noFill/>
          </a:ln>
        </p:spPr>
      </p:pic>
      <p:pic>
        <p:nvPicPr>
          <p:cNvPr id="558359" name="Picture 27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76700" y="2779713"/>
            <a:ext cx="406400" cy="431800"/>
          </a:xfrm>
          <a:prstGeom prst="rect">
            <a:avLst/>
          </a:prstGeom>
          <a:noFill/>
          <a:ln w="25400">
            <a:noFill/>
          </a:ln>
        </p:spPr>
      </p:pic>
      <p:pic>
        <p:nvPicPr>
          <p:cNvPr id="558360" name="Picture 28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003675" y="2132013"/>
            <a:ext cx="584200" cy="469900"/>
          </a:xfrm>
          <a:prstGeom prst="rect">
            <a:avLst/>
          </a:prstGeom>
          <a:noFill/>
          <a:ln w="25400">
            <a:noFill/>
          </a:ln>
        </p:spPr>
      </p:pic>
      <p:pic>
        <p:nvPicPr>
          <p:cNvPr id="558361" name="Picture 28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757863" y="2132013"/>
            <a:ext cx="406400" cy="431800"/>
          </a:xfrm>
          <a:prstGeom prst="rect">
            <a:avLst/>
          </a:prstGeom>
          <a:noFill/>
          <a:ln w="25400">
            <a:noFill/>
          </a:ln>
        </p:spPr>
      </p:pic>
      <p:pic>
        <p:nvPicPr>
          <p:cNvPr id="558362" name="Picture 282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659438" y="1484313"/>
            <a:ext cx="571500" cy="533400"/>
          </a:xfrm>
          <a:prstGeom prst="rect">
            <a:avLst/>
          </a:prstGeom>
          <a:noFill/>
          <a:ln w="25400">
            <a:noFill/>
          </a:ln>
        </p:spPr>
      </p:pic>
      <p:pic>
        <p:nvPicPr>
          <p:cNvPr id="558363" name="Picture 28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79838" y="1512888"/>
            <a:ext cx="584200" cy="469900"/>
          </a:xfrm>
          <a:prstGeom prst="rect">
            <a:avLst/>
          </a:prstGeom>
          <a:noFill/>
          <a:ln w="25400">
            <a:noFill/>
          </a:ln>
        </p:spPr>
      </p:pic>
      <p:pic>
        <p:nvPicPr>
          <p:cNvPr id="558364" name="Picture 28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88000" y="1484313"/>
            <a:ext cx="444500" cy="533400"/>
          </a:xfrm>
          <a:prstGeom prst="rect">
            <a:avLst/>
          </a:prstGeom>
          <a:noFill/>
          <a:ln w="25400">
            <a:noFill/>
          </a:ln>
        </p:spPr>
      </p:pic>
      <p:pic>
        <p:nvPicPr>
          <p:cNvPr id="558365" name="Picture 285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592763" y="2030413"/>
            <a:ext cx="571500" cy="533400"/>
          </a:xfrm>
          <a:prstGeom prst="rect">
            <a:avLst/>
          </a:prstGeom>
          <a:noFill/>
          <a:ln w="25400">
            <a:noFill/>
          </a:ln>
        </p:spPr>
      </p:pic>
      <p:pic>
        <p:nvPicPr>
          <p:cNvPr id="558366" name="Picture 28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76700" y="2054225"/>
            <a:ext cx="444500" cy="533400"/>
          </a:xfrm>
          <a:prstGeom prst="rect">
            <a:avLst/>
          </a:prstGeom>
          <a:noFill/>
          <a:ln w="25400">
            <a:noFill/>
          </a:ln>
        </p:spPr>
      </p:pic>
      <p:pic>
        <p:nvPicPr>
          <p:cNvPr id="558367" name="Picture 287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003675" y="2708275"/>
            <a:ext cx="571500" cy="533400"/>
          </a:xfrm>
          <a:prstGeom prst="rect">
            <a:avLst/>
          </a:prstGeom>
          <a:noFill/>
          <a:ln w="25400">
            <a:noFill/>
          </a:ln>
        </p:spPr>
      </p:pic>
      <p:pic>
        <p:nvPicPr>
          <p:cNvPr id="558368" name="Picture 28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24013" y="2708275"/>
            <a:ext cx="444500" cy="533400"/>
          </a:xfrm>
          <a:prstGeom prst="rect">
            <a:avLst/>
          </a:prstGeom>
          <a:noFill/>
          <a:ln w="25400">
            <a:noFill/>
          </a:ln>
        </p:spPr>
      </p:pic>
      <p:pic>
        <p:nvPicPr>
          <p:cNvPr id="558369" name="Picture 28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76375" y="3895725"/>
            <a:ext cx="584200" cy="469900"/>
          </a:xfrm>
          <a:prstGeom prst="rect">
            <a:avLst/>
          </a:prstGeom>
          <a:noFill/>
          <a:ln w="25400">
            <a:noFill/>
          </a:ln>
        </p:spPr>
      </p:pic>
      <p:pic>
        <p:nvPicPr>
          <p:cNvPr id="558370" name="Picture 29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63900" y="3860800"/>
            <a:ext cx="444500" cy="533400"/>
          </a:xfrm>
          <a:prstGeom prst="rect">
            <a:avLst/>
          </a:prstGeom>
          <a:noFill/>
          <a:ln w="25400">
            <a:noFill/>
          </a:ln>
        </p:spPr>
      </p:pic>
      <p:pic>
        <p:nvPicPr>
          <p:cNvPr id="558371" name="Picture 29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24200" y="4581525"/>
            <a:ext cx="584200" cy="469900"/>
          </a:xfrm>
          <a:prstGeom prst="rect">
            <a:avLst/>
          </a:prstGeom>
          <a:noFill/>
          <a:ln w="25400">
            <a:noFill/>
          </a:ln>
        </p:spPr>
      </p:pic>
      <p:pic>
        <p:nvPicPr>
          <p:cNvPr id="558372" name="Picture 29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08550" y="4475163"/>
            <a:ext cx="444500" cy="533400"/>
          </a:xfrm>
          <a:prstGeom prst="rect">
            <a:avLst/>
          </a:prstGeom>
          <a:noFill/>
          <a:ln w="25400">
            <a:noFill/>
          </a:ln>
        </p:spPr>
      </p:pic>
      <p:pic>
        <p:nvPicPr>
          <p:cNvPr id="558373" name="Picture 29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22825" y="3860800"/>
            <a:ext cx="584200" cy="469900"/>
          </a:xfrm>
          <a:prstGeom prst="rect">
            <a:avLst/>
          </a:prstGeom>
          <a:noFill/>
          <a:ln w="25400">
            <a:noFill/>
          </a:ln>
        </p:spPr>
      </p:pic>
      <p:pic>
        <p:nvPicPr>
          <p:cNvPr id="558374" name="Picture 29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50100" y="3754438"/>
            <a:ext cx="444500" cy="533400"/>
          </a:xfrm>
          <a:prstGeom prst="rect">
            <a:avLst/>
          </a:prstGeom>
          <a:noFill/>
          <a:ln w="25400">
            <a:noFill/>
          </a:ln>
        </p:spPr>
      </p:pic>
      <p:pic>
        <p:nvPicPr>
          <p:cNvPr id="558375" name="Picture 295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911725" y="5145088"/>
            <a:ext cx="406400" cy="431800"/>
          </a:xfrm>
          <a:prstGeom prst="rect">
            <a:avLst/>
          </a:prstGeom>
          <a:noFill/>
          <a:ln w="25400">
            <a:noFill/>
          </a:ln>
        </p:spPr>
      </p:pic>
      <p:sp>
        <p:nvSpPr>
          <p:cNvPr id="558376" name="AutoShape 296"/>
          <p:cNvSpPr>
            <a:spLocks noChangeArrowheads="1"/>
          </p:cNvSpPr>
          <p:nvPr/>
        </p:nvSpPr>
        <p:spPr bwMode="auto">
          <a:xfrm>
            <a:off x="844550" y="1701800"/>
            <a:ext cx="358775" cy="360363"/>
          </a:xfrm>
          <a:prstGeom prst="rightArrow">
            <a:avLst>
              <a:gd name="adj1" fmla="val 50000"/>
              <a:gd name="adj2" fmla="val 25000"/>
            </a:avLst>
          </a:prstGeom>
          <a:solidFill>
            <a:srgbClr val="FFFF00"/>
          </a:solidFill>
          <a:ln w="25400">
            <a:solidFill>
              <a:srgbClr val="FFFF00"/>
            </a:solidFill>
            <a:miter lim="800000"/>
          </a:ln>
        </p:spPr>
        <p:txBody>
          <a:bodyPr wrap="none" anchor="ctr"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2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Microsoft YaHei"/>
              <a:cs typeface="+mn-ea"/>
              <a:sym typeface="+mn-lt"/>
            </a:endParaRPr>
          </a:p>
        </p:txBody>
      </p:sp>
      <p:sp>
        <p:nvSpPr>
          <p:cNvPr id="558377" name="AutoShape 297"/>
          <p:cNvSpPr>
            <a:spLocks noChangeArrowheads="1"/>
          </p:cNvSpPr>
          <p:nvPr/>
        </p:nvSpPr>
        <p:spPr bwMode="auto">
          <a:xfrm>
            <a:off x="7881938" y="5800725"/>
            <a:ext cx="358775" cy="360363"/>
          </a:xfrm>
          <a:prstGeom prst="rightArrow">
            <a:avLst>
              <a:gd name="adj1" fmla="val 50000"/>
              <a:gd name="adj2" fmla="val 25000"/>
            </a:avLst>
          </a:prstGeom>
          <a:solidFill>
            <a:srgbClr val="FFFF00"/>
          </a:solidFill>
          <a:ln w="25400">
            <a:solidFill>
              <a:srgbClr val="FFFF00"/>
            </a:solidFill>
            <a:miter lim="800000"/>
          </a:ln>
        </p:spPr>
        <p:txBody>
          <a:bodyPr wrap="none" anchor="ctr"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2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Microsoft YaHei"/>
              <a:cs typeface="+mn-ea"/>
              <a:sym typeface="+mn-lt"/>
            </a:endParaRPr>
          </a:p>
        </p:txBody>
      </p:sp>
      <p:sp>
        <p:nvSpPr>
          <p:cNvPr id="558378" name="Line 298"/>
          <p:cNvSpPr>
            <a:spLocks noChangeShapeType="1"/>
          </p:cNvSpPr>
          <p:nvPr/>
        </p:nvSpPr>
        <p:spPr bwMode="auto">
          <a:xfrm>
            <a:off x="1347788" y="1917700"/>
            <a:ext cx="1296988" cy="1588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2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Microsoft YaHei"/>
              <a:cs typeface="+mn-ea"/>
              <a:sym typeface="+mn-lt"/>
            </a:endParaRPr>
          </a:p>
        </p:txBody>
      </p:sp>
      <p:sp>
        <p:nvSpPr>
          <p:cNvPr id="558379" name="Line 299"/>
          <p:cNvSpPr>
            <a:spLocks noChangeShapeType="1"/>
          </p:cNvSpPr>
          <p:nvPr/>
        </p:nvSpPr>
        <p:spPr bwMode="auto">
          <a:xfrm>
            <a:off x="2644775" y="1917700"/>
            <a:ext cx="1588" cy="1008063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2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Microsoft YaHei"/>
              <a:cs typeface="+mn-ea"/>
              <a:sym typeface="+mn-lt"/>
            </a:endParaRPr>
          </a:p>
        </p:txBody>
      </p:sp>
      <p:sp>
        <p:nvSpPr>
          <p:cNvPr id="558380" name="Line 300"/>
          <p:cNvSpPr>
            <a:spLocks noChangeShapeType="1"/>
          </p:cNvSpPr>
          <p:nvPr/>
        </p:nvSpPr>
        <p:spPr bwMode="auto">
          <a:xfrm>
            <a:off x="2644775" y="2925763"/>
            <a:ext cx="1339850" cy="1588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2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Microsoft YaHei"/>
              <a:cs typeface="+mn-ea"/>
              <a:sym typeface="+mn-lt"/>
            </a:endParaRPr>
          </a:p>
        </p:txBody>
      </p:sp>
      <p:sp>
        <p:nvSpPr>
          <p:cNvPr id="558381" name="Line 301"/>
          <p:cNvSpPr>
            <a:spLocks noChangeShapeType="1"/>
          </p:cNvSpPr>
          <p:nvPr/>
        </p:nvSpPr>
        <p:spPr bwMode="auto">
          <a:xfrm flipV="1">
            <a:off x="4003675" y="2198688"/>
            <a:ext cx="1588" cy="576263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tailEnd type="triangle" w="med" len="med"/>
          </a:ln>
          <a:effectLst>
            <a:outerShdw dist="35921" dir="2700000" sy="50000" kx="2115830" algn="bl" rotWithShape="0">
              <a:srgbClr val="C0C0C0"/>
            </a:outerShdw>
          </a:effec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Microsoft YaHei"/>
              <a:cs typeface="+mn-ea"/>
              <a:sym typeface="+mn-lt"/>
            </a:endParaRPr>
          </a:p>
        </p:txBody>
      </p:sp>
      <p:sp>
        <p:nvSpPr>
          <p:cNvPr id="558382" name="Line 302"/>
          <p:cNvSpPr>
            <a:spLocks noChangeShapeType="1"/>
          </p:cNvSpPr>
          <p:nvPr/>
        </p:nvSpPr>
        <p:spPr bwMode="auto">
          <a:xfrm>
            <a:off x="4003675" y="2198688"/>
            <a:ext cx="1655763" cy="1588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2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Microsoft YaHei"/>
              <a:cs typeface="+mn-ea"/>
              <a:sym typeface="+mn-lt"/>
            </a:endParaRPr>
          </a:p>
        </p:txBody>
      </p:sp>
      <p:sp>
        <p:nvSpPr>
          <p:cNvPr id="558383" name="Line 303"/>
          <p:cNvSpPr>
            <a:spLocks noChangeShapeType="1"/>
          </p:cNvSpPr>
          <p:nvPr/>
        </p:nvSpPr>
        <p:spPr bwMode="auto">
          <a:xfrm flipV="1">
            <a:off x="5659438" y="1911350"/>
            <a:ext cx="1588" cy="287338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tailEnd type="triangle" w="med" len="med"/>
          </a:ln>
          <a:effectLst>
            <a:outerShdw dist="35921" dir="2700000" sy="50000" kx="2115830" algn="bl" rotWithShape="0">
              <a:srgbClr val="C0C0C0"/>
            </a:outerShdw>
          </a:effec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Microsoft YaHei"/>
              <a:cs typeface="+mn-ea"/>
              <a:sym typeface="+mn-lt"/>
            </a:endParaRPr>
          </a:p>
        </p:txBody>
      </p:sp>
      <p:sp>
        <p:nvSpPr>
          <p:cNvPr id="558384" name="Line 304"/>
          <p:cNvSpPr>
            <a:spLocks noChangeShapeType="1"/>
          </p:cNvSpPr>
          <p:nvPr/>
        </p:nvSpPr>
        <p:spPr bwMode="auto">
          <a:xfrm flipH="1">
            <a:off x="4003675" y="1911350"/>
            <a:ext cx="1655763" cy="1588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2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Microsoft YaHei"/>
              <a:cs typeface="+mn-ea"/>
              <a:sym typeface="+mn-lt"/>
            </a:endParaRPr>
          </a:p>
        </p:txBody>
      </p:sp>
      <p:sp>
        <p:nvSpPr>
          <p:cNvPr id="558385" name="Line 305"/>
          <p:cNvSpPr>
            <a:spLocks noChangeShapeType="1"/>
          </p:cNvSpPr>
          <p:nvPr/>
        </p:nvSpPr>
        <p:spPr bwMode="auto">
          <a:xfrm>
            <a:off x="4003675" y="1766888"/>
            <a:ext cx="2016125" cy="1588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2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Microsoft YaHei"/>
              <a:cs typeface="+mn-ea"/>
              <a:sym typeface="+mn-lt"/>
            </a:endParaRPr>
          </a:p>
        </p:txBody>
      </p:sp>
      <p:sp>
        <p:nvSpPr>
          <p:cNvPr id="558386" name="Line 306"/>
          <p:cNvSpPr>
            <a:spLocks noChangeShapeType="1"/>
          </p:cNvSpPr>
          <p:nvPr/>
        </p:nvSpPr>
        <p:spPr bwMode="auto">
          <a:xfrm>
            <a:off x="6019800" y="1766888"/>
            <a:ext cx="1588" cy="64770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tailEnd type="triangle" w="med" len="med"/>
          </a:ln>
          <a:effectLst>
            <a:outerShdw dist="35921" dir="2700000" sy="50000" kx="2115830" algn="bl" rotWithShape="0">
              <a:srgbClr val="C0C0C0"/>
            </a:outerShdw>
          </a:effec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Microsoft YaHei"/>
              <a:cs typeface="+mn-ea"/>
              <a:sym typeface="+mn-lt"/>
            </a:endParaRPr>
          </a:p>
        </p:txBody>
      </p:sp>
      <p:sp>
        <p:nvSpPr>
          <p:cNvPr id="558387" name="Line 307"/>
          <p:cNvSpPr>
            <a:spLocks noChangeShapeType="1"/>
          </p:cNvSpPr>
          <p:nvPr/>
        </p:nvSpPr>
        <p:spPr bwMode="auto">
          <a:xfrm flipH="1">
            <a:off x="4292600" y="2414588"/>
            <a:ext cx="1727200" cy="1588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2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Microsoft YaHei"/>
              <a:cs typeface="+mn-ea"/>
              <a:sym typeface="+mn-lt"/>
            </a:endParaRPr>
          </a:p>
        </p:txBody>
      </p:sp>
      <p:sp>
        <p:nvSpPr>
          <p:cNvPr id="558388" name="Line 308"/>
          <p:cNvSpPr>
            <a:spLocks noChangeShapeType="1"/>
          </p:cNvSpPr>
          <p:nvPr/>
        </p:nvSpPr>
        <p:spPr bwMode="auto">
          <a:xfrm>
            <a:off x="4292600" y="2414588"/>
            <a:ext cx="1588" cy="576263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tailEnd type="triangle" w="med" len="med"/>
          </a:ln>
          <a:effectLst>
            <a:outerShdw dist="35921" dir="2700000" sy="50000" kx="2115830" algn="bl" rotWithShape="0">
              <a:srgbClr val="C0C0C0"/>
            </a:outerShdw>
          </a:effec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Microsoft YaHei"/>
              <a:cs typeface="+mn-ea"/>
              <a:sym typeface="+mn-lt"/>
            </a:endParaRPr>
          </a:p>
        </p:txBody>
      </p:sp>
      <p:sp>
        <p:nvSpPr>
          <p:cNvPr id="558389" name="Line 309"/>
          <p:cNvSpPr>
            <a:spLocks noChangeShapeType="1"/>
          </p:cNvSpPr>
          <p:nvPr/>
        </p:nvSpPr>
        <p:spPr bwMode="auto">
          <a:xfrm flipH="1" flipV="1">
            <a:off x="1779588" y="3143250"/>
            <a:ext cx="2205038" cy="30163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2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Microsoft YaHei"/>
              <a:cs typeface="+mn-ea"/>
              <a:sym typeface="+mn-lt"/>
            </a:endParaRPr>
          </a:p>
        </p:txBody>
      </p:sp>
      <p:sp>
        <p:nvSpPr>
          <p:cNvPr id="558390" name="Line 310"/>
          <p:cNvSpPr>
            <a:spLocks noChangeShapeType="1"/>
          </p:cNvSpPr>
          <p:nvPr/>
        </p:nvSpPr>
        <p:spPr bwMode="auto">
          <a:xfrm>
            <a:off x="1779588" y="3141663"/>
            <a:ext cx="0" cy="941388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2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Microsoft YaHei"/>
              <a:cs typeface="+mn-ea"/>
              <a:sym typeface="+mn-lt"/>
            </a:endParaRPr>
          </a:p>
        </p:txBody>
      </p:sp>
      <p:sp>
        <p:nvSpPr>
          <p:cNvPr id="558391" name="Line 311"/>
          <p:cNvSpPr>
            <a:spLocks noChangeShapeType="1"/>
          </p:cNvSpPr>
          <p:nvPr/>
        </p:nvSpPr>
        <p:spPr bwMode="auto">
          <a:xfrm flipV="1">
            <a:off x="1779588" y="4144963"/>
            <a:ext cx="1425575" cy="4763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2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Microsoft YaHei"/>
              <a:cs typeface="+mn-ea"/>
              <a:sym typeface="+mn-lt"/>
            </a:endParaRPr>
          </a:p>
        </p:txBody>
      </p:sp>
      <p:sp>
        <p:nvSpPr>
          <p:cNvPr id="558392" name="Line 312"/>
          <p:cNvSpPr>
            <a:spLocks noChangeShapeType="1"/>
          </p:cNvSpPr>
          <p:nvPr/>
        </p:nvSpPr>
        <p:spPr bwMode="auto">
          <a:xfrm>
            <a:off x="3205163" y="4143375"/>
            <a:ext cx="1588" cy="649288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2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Microsoft YaHei"/>
              <a:cs typeface="+mn-ea"/>
              <a:sym typeface="+mn-lt"/>
            </a:endParaRPr>
          </a:p>
        </p:txBody>
      </p:sp>
      <p:sp>
        <p:nvSpPr>
          <p:cNvPr id="558393" name="Line 313"/>
          <p:cNvSpPr>
            <a:spLocks noChangeShapeType="1"/>
          </p:cNvSpPr>
          <p:nvPr/>
        </p:nvSpPr>
        <p:spPr bwMode="auto">
          <a:xfrm>
            <a:off x="3205163" y="4792663"/>
            <a:ext cx="1584325" cy="1588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2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Microsoft YaHei"/>
              <a:cs typeface="+mn-ea"/>
              <a:sym typeface="+mn-lt"/>
            </a:endParaRPr>
          </a:p>
        </p:txBody>
      </p:sp>
      <p:sp>
        <p:nvSpPr>
          <p:cNvPr id="558394" name="Line 314"/>
          <p:cNvSpPr>
            <a:spLocks noChangeShapeType="1"/>
          </p:cNvSpPr>
          <p:nvPr/>
        </p:nvSpPr>
        <p:spPr bwMode="auto">
          <a:xfrm>
            <a:off x="4789488" y="4792663"/>
            <a:ext cx="1588" cy="719138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2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Microsoft YaHei"/>
              <a:cs typeface="+mn-ea"/>
              <a:sym typeface="+mn-lt"/>
            </a:endParaRPr>
          </a:p>
        </p:txBody>
      </p:sp>
      <p:sp>
        <p:nvSpPr>
          <p:cNvPr id="558395" name="Line 315"/>
          <p:cNvSpPr>
            <a:spLocks noChangeShapeType="1"/>
          </p:cNvSpPr>
          <p:nvPr/>
        </p:nvSpPr>
        <p:spPr bwMode="auto">
          <a:xfrm>
            <a:off x="4789488" y="5511800"/>
            <a:ext cx="360363" cy="1588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2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Microsoft YaHei"/>
              <a:cs typeface="+mn-ea"/>
              <a:sym typeface="+mn-lt"/>
            </a:endParaRPr>
          </a:p>
        </p:txBody>
      </p:sp>
      <p:sp>
        <p:nvSpPr>
          <p:cNvPr id="558396" name="Line 316"/>
          <p:cNvSpPr>
            <a:spLocks noChangeShapeType="1"/>
          </p:cNvSpPr>
          <p:nvPr/>
        </p:nvSpPr>
        <p:spPr bwMode="auto">
          <a:xfrm flipV="1">
            <a:off x="5149850" y="4143375"/>
            <a:ext cx="1588" cy="1368425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tailEnd type="triangle" w="med" len="med"/>
          </a:ln>
          <a:effectLst>
            <a:outerShdw dist="35921" dir="2700000" sy="50000" kx="2115830" algn="bl" rotWithShape="0">
              <a:srgbClr val="C0C0C0"/>
            </a:outerShdw>
          </a:effec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Microsoft YaHei"/>
              <a:cs typeface="+mn-ea"/>
              <a:sym typeface="+mn-lt"/>
            </a:endParaRPr>
          </a:p>
        </p:txBody>
      </p:sp>
      <p:sp>
        <p:nvSpPr>
          <p:cNvPr id="558397" name="Line 317"/>
          <p:cNvSpPr>
            <a:spLocks noChangeShapeType="1"/>
          </p:cNvSpPr>
          <p:nvPr/>
        </p:nvSpPr>
        <p:spPr bwMode="auto">
          <a:xfrm>
            <a:off x="5149850" y="4143375"/>
            <a:ext cx="2085975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2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Microsoft YaHei"/>
              <a:cs typeface="+mn-ea"/>
              <a:sym typeface="+mn-lt"/>
            </a:endParaRPr>
          </a:p>
        </p:txBody>
      </p:sp>
      <p:sp>
        <p:nvSpPr>
          <p:cNvPr id="558398" name="Line 318"/>
          <p:cNvSpPr>
            <a:spLocks noChangeShapeType="1"/>
          </p:cNvSpPr>
          <p:nvPr/>
        </p:nvSpPr>
        <p:spPr bwMode="auto">
          <a:xfrm>
            <a:off x="7378700" y="4143375"/>
            <a:ext cx="1588" cy="1944688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2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Microsoft YaHei"/>
              <a:cs typeface="+mn-ea"/>
              <a:sym typeface="+mn-lt"/>
            </a:endParaRPr>
          </a:p>
        </p:txBody>
      </p:sp>
      <p:sp>
        <p:nvSpPr>
          <p:cNvPr id="558399" name="Line 319"/>
          <p:cNvSpPr>
            <a:spLocks noChangeShapeType="1"/>
          </p:cNvSpPr>
          <p:nvPr/>
        </p:nvSpPr>
        <p:spPr bwMode="auto">
          <a:xfrm>
            <a:off x="7378700" y="6088063"/>
            <a:ext cx="360363" cy="1588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2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Microsoft YaHei"/>
              <a:cs typeface="+mn-ea"/>
              <a:sym typeface="+mn-lt"/>
            </a:endParaRPr>
          </a:p>
        </p:txBody>
      </p:sp>
      <p:sp>
        <p:nvSpPr>
          <p:cNvPr id="558400" name="Line 320"/>
          <p:cNvSpPr>
            <a:spLocks noChangeShapeType="1"/>
          </p:cNvSpPr>
          <p:nvPr/>
        </p:nvSpPr>
        <p:spPr bwMode="auto">
          <a:xfrm flipH="1">
            <a:off x="4003675" y="1766888"/>
            <a:ext cx="1588" cy="144463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 type="triangle" w="med" len="med"/>
          </a:ln>
          <a:effectLst>
            <a:outerShdw dist="35921" dir="2700000" sy="50000" kx="2115830" algn="bl" rotWithShape="0">
              <a:srgbClr val="C0C0C0"/>
            </a:outerShdw>
          </a:effec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Microsoft YaHei"/>
              <a:cs typeface="+mn-ea"/>
              <a:sym typeface="+mn-lt"/>
            </a:endParaRPr>
          </a:p>
        </p:txBody>
      </p:sp>
      <p:pic>
        <p:nvPicPr>
          <p:cNvPr id="558401" name="Picture 32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69150" y="4483100"/>
            <a:ext cx="444500" cy="533400"/>
          </a:xfrm>
          <a:prstGeom prst="rect">
            <a:avLst/>
          </a:prstGeom>
          <a:noFill/>
          <a:ln w="25400">
            <a:noFill/>
          </a:ln>
        </p:spPr>
      </p:pic>
      <p:pic>
        <p:nvPicPr>
          <p:cNvPr id="558402" name="Picture 32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92950" y="5656263"/>
            <a:ext cx="584200" cy="469900"/>
          </a:xfrm>
          <a:prstGeom prst="rect">
            <a:avLst/>
          </a:prstGeom>
          <a:noFill/>
          <a:ln w="25400">
            <a:noFill/>
          </a:ln>
        </p:spPr>
      </p:pic>
      <p:sp>
        <p:nvSpPr>
          <p:cNvPr id="53" name="Rectangle 6"/>
          <p:cNvSpPr>
            <a:spLocks noChangeArrowheads="1"/>
          </p:cNvSpPr>
          <p:nvPr/>
        </p:nvSpPr>
        <p:spPr bwMode="auto">
          <a:xfrm>
            <a:off x="754063" y="207963"/>
            <a:ext cx="3251200" cy="515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Times New Roman"/>
                <a:ea typeface="Microsoft YaHei"/>
                <a:cs typeface="+mn-ea"/>
                <a:sym typeface="+mn-lt"/>
              </a:rPr>
              <a:t>案例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Times New Roman"/>
                <a:ea typeface="Microsoft YaHei"/>
                <a:cs typeface="+mn-ea"/>
                <a:sym typeface="+mn-lt"/>
              </a:rPr>
              <a:t>4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Times New Roman"/>
                <a:ea typeface="Microsoft YaHei"/>
                <a:cs typeface="+mn-ea"/>
                <a:sym typeface="+mn-lt"/>
              </a:rPr>
              <a:t>：迷宫求解</a:t>
            </a:r>
          </a:p>
        </p:txBody>
      </p:sp>
    </p:spTree>
    <p:extLst>
      <p:ext uri="{BB962C8B-B14F-4D97-AF65-F5344CB8AC3E}">
        <p14:creationId xmlns:p14="http://schemas.microsoft.com/office/powerpoint/2010/main" val="13292623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58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50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58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58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500"/>
                            </p:stCondLst>
                            <p:childTnLst>
                              <p:par>
                                <p:cTn id="14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8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5583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2000"/>
                            </p:stCondLst>
                            <p:childTnLst>
                              <p:par>
                                <p:cTn id="18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8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5583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500"/>
                            </p:stCondLst>
                            <p:childTnLst>
                              <p:par>
                                <p:cTn id="22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8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5583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3000"/>
                            </p:stCondLst>
                            <p:childTnLst>
                              <p:par>
                                <p:cTn id="26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8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5583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3500"/>
                            </p:stCondLst>
                            <p:childTnLst>
                              <p:par>
                                <p:cTn id="3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58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4000"/>
                            </p:stCondLst>
                            <p:childTnLst>
                              <p:par>
                                <p:cTn id="3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8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5583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500"/>
                            </p:stCondLst>
                            <p:childTnLst>
                              <p:par>
                                <p:cTn id="3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8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5583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0"/>
                            </p:stCondLst>
                            <p:childTnLst>
                              <p:par>
                                <p:cTn id="4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58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500"/>
                            </p:stCondLst>
                            <p:childTnLst>
                              <p:par>
                                <p:cTn id="44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8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500"/>
                                        <p:tgtEl>
                                          <p:spTgt spid="5583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6000"/>
                            </p:stCondLst>
                            <p:childTnLst>
                              <p:par>
                                <p:cTn id="48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8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0" dur="500"/>
                                        <p:tgtEl>
                                          <p:spTgt spid="5583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6500"/>
                            </p:stCondLst>
                            <p:childTnLst>
                              <p:par>
                                <p:cTn id="52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8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4" dur="500"/>
                                        <p:tgtEl>
                                          <p:spTgt spid="5583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7000"/>
                            </p:stCondLst>
                            <p:childTnLst>
                              <p:par>
                                <p:cTn id="56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8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8" dur="500"/>
                                        <p:tgtEl>
                                          <p:spTgt spid="5583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7500"/>
                            </p:stCondLst>
                            <p:childTnLst>
                              <p:par>
                                <p:cTn id="60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8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2" dur="500"/>
                                        <p:tgtEl>
                                          <p:spTgt spid="5583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8000"/>
                            </p:stCondLst>
                            <p:childTnLst>
                              <p:par>
                                <p:cTn id="64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8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6" dur="500"/>
                                        <p:tgtEl>
                                          <p:spTgt spid="5583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8500"/>
                            </p:stCondLst>
                            <p:childTnLst>
                              <p:par>
                                <p:cTn id="68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8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0" dur="500"/>
                                        <p:tgtEl>
                                          <p:spTgt spid="5583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9000"/>
                            </p:stCondLst>
                            <p:childTnLst>
                              <p:par>
                                <p:cTn id="72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8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4" dur="500"/>
                                        <p:tgtEl>
                                          <p:spTgt spid="5583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9500"/>
                            </p:stCondLst>
                            <p:childTnLst>
                              <p:par>
                                <p:cTn id="76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8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8" dur="500"/>
                                        <p:tgtEl>
                                          <p:spTgt spid="5583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10000"/>
                            </p:stCondLst>
                            <p:childTnLst>
                              <p:par>
                                <p:cTn id="80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8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2" dur="500"/>
                                        <p:tgtEl>
                                          <p:spTgt spid="5583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10500"/>
                            </p:stCondLst>
                            <p:childTnLst>
                              <p:par>
                                <p:cTn id="84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8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6" dur="500"/>
                                        <p:tgtEl>
                                          <p:spTgt spid="5583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11000"/>
                            </p:stCondLst>
                            <p:childTnLst>
                              <p:par>
                                <p:cTn id="88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8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0" dur="500"/>
                                        <p:tgtEl>
                                          <p:spTgt spid="5583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11500"/>
                            </p:stCondLst>
                            <p:childTnLst>
                              <p:par>
                                <p:cTn id="92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8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4" dur="500"/>
                                        <p:tgtEl>
                                          <p:spTgt spid="5584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12000"/>
                            </p:stCondLst>
                            <p:childTnLst>
                              <p:par>
                                <p:cTn id="96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8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8" dur="500"/>
                                        <p:tgtEl>
                                          <p:spTgt spid="5584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8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3" dur="500"/>
                                        <p:tgtEl>
                                          <p:spTgt spid="5583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500"/>
                            </p:stCondLst>
                            <p:childTnLst>
                              <p:par>
                                <p:cTn id="10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8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7" dur="500"/>
                                        <p:tgtEl>
                                          <p:spTgt spid="5583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>
                            <p:stCondLst>
                              <p:cond delay="1000"/>
                            </p:stCondLst>
                            <p:childTnLst>
                              <p:par>
                                <p:cTn id="10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8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1" dur="500"/>
                                        <p:tgtEl>
                                          <p:spTgt spid="5583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>
                            <p:stCondLst>
                              <p:cond delay="1500"/>
                            </p:stCondLst>
                            <p:childTnLst>
                              <p:par>
                                <p:cTn id="11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8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5" dur="500"/>
                                        <p:tgtEl>
                                          <p:spTgt spid="5583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1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8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9" dur="500"/>
                                        <p:tgtEl>
                                          <p:spTgt spid="5583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0" fill="hold">
                            <p:stCondLst>
                              <p:cond delay="2500"/>
                            </p:stCondLst>
                            <p:childTnLst>
                              <p:par>
                                <p:cTn id="121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8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3" dur="500"/>
                                        <p:tgtEl>
                                          <p:spTgt spid="5583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4" fill="hold">
                            <p:stCondLst>
                              <p:cond delay="3000"/>
                            </p:stCondLst>
                            <p:childTnLst>
                              <p:par>
                                <p:cTn id="12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8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7" dur="500"/>
                                        <p:tgtEl>
                                          <p:spTgt spid="5583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8" fill="hold">
                            <p:stCondLst>
                              <p:cond delay="3500"/>
                            </p:stCondLst>
                            <p:childTnLst>
                              <p:par>
                                <p:cTn id="12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8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1" dur="500"/>
                                        <p:tgtEl>
                                          <p:spTgt spid="5584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2" fill="hold">
                            <p:stCondLst>
                              <p:cond delay="4000"/>
                            </p:stCondLst>
                            <p:childTnLst>
                              <p:par>
                                <p:cTn id="13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8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5" dur="500"/>
                                        <p:tgtEl>
                                          <p:spTgt spid="5583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6" fill="hold">
                            <p:stCondLst>
                              <p:cond delay="4500"/>
                            </p:stCondLst>
                            <p:childTnLst>
                              <p:par>
                                <p:cTn id="13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8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9" dur="500"/>
                                        <p:tgtEl>
                                          <p:spTgt spid="558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0" fill="hold">
                            <p:stCondLst>
                              <p:cond delay="5000"/>
                            </p:stCondLst>
                            <p:childTnLst>
                              <p:par>
                                <p:cTn id="141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8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3" dur="500"/>
                                        <p:tgtEl>
                                          <p:spTgt spid="5583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4" fill="hold">
                            <p:stCondLst>
                              <p:cond delay="5500"/>
                            </p:stCondLst>
                            <p:childTnLst>
                              <p:par>
                                <p:cTn id="14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8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7" dur="500"/>
                                        <p:tgtEl>
                                          <p:spTgt spid="5583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8" fill="hold">
                            <p:stCondLst>
                              <p:cond delay="6000"/>
                            </p:stCondLst>
                            <p:childTnLst>
                              <p:par>
                                <p:cTn id="14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8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1" dur="500"/>
                                        <p:tgtEl>
                                          <p:spTgt spid="5583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2" fill="hold">
                            <p:stCondLst>
                              <p:cond delay="6500"/>
                            </p:stCondLst>
                            <p:childTnLst>
                              <p:par>
                                <p:cTn id="15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8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5" dur="500"/>
                                        <p:tgtEl>
                                          <p:spTgt spid="5583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6" fill="hold">
                            <p:stCondLst>
                              <p:cond delay="7000"/>
                            </p:stCondLst>
                            <p:childTnLst>
                              <p:par>
                                <p:cTn id="15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8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9" dur="500"/>
                                        <p:tgtEl>
                                          <p:spTgt spid="5583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0" fill="hold">
                            <p:stCondLst>
                              <p:cond delay="7500"/>
                            </p:stCondLst>
                            <p:childTnLst>
                              <p:par>
                                <p:cTn id="161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8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3" dur="500"/>
                                        <p:tgtEl>
                                          <p:spTgt spid="5583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4" fill="hold">
                            <p:stCondLst>
                              <p:cond delay="8000"/>
                            </p:stCondLst>
                            <p:childTnLst>
                              <p:par>
                                <p:cTn id="16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8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7" dur="500"/>
                                        <p:tgtEl>
                                          <p:spTgt spid="5583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8" fill="hold">
                            <p:stCondLst>
                              <p:cond delay="8500"/>
                            </p:stCondLst>
                            <p:childTnLst>
                              <p:par>
                                <p:cTn id="16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8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1" dur="500"/>
                                        <p:tgtEl>
                                          <p:spTgt spid="5583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2" fill="hold">
                            <p:stCondLst>
                              <p:cond delay="9000"/>
                            </p:stCondLst>
                            <p:childTnLst>
                              <p:par>
                                <p:cTn id="17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8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5" dur="500"/>
                                        <p:tgtEl>
                                          <p:spTgt spid="5583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6" fill="hold">
                            <p:stCondLst>
                              <p:cond delay="9500"/>
                            </p:stCondLst>
                            <p:childTnLst>
                              <p:par>
                                <p:cTn id="17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8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9" dur="500"/>
                                        <p:tgtEl>
                                          <p:spTgt spid="5583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0" fill="hold">
                            <p:stCondLst>
                              <p:cond delay="10000"/>
                            </p:stCondLst>
                            <p:childTnLst>
                              <p:par>
                                <p:cTn id="181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8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3" dur="500"/>
                                        <p:tgtEl>
                                          <p:spTgt spid="5583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4" fill="hold">
                            <p:stCondLst>
                              <p:cond delay="10500"/>
                            </p:stCondLst>
                            <p:childTnLst>
                              <p:par>
                                <p:cTn id="18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8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7" dur="500"/>
                                        <p:tgtEl>
                                          <p:spTgt spid="5583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8" fill="hold">
                            <p:stCondLst>
                              <p:cond delay="11000"/>
                            </p:stCondLst>
                            <p:childTnLst>
                              <p:par>
                                <p:cTn id="18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8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1" dur="500"/>
                                        <p:tgtEl>
                                          <p:spTgt spid="5583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8376" grpId="0" animBg="1"/>
      <p:bldP spid="558377" grpId="0" animBg="1"/>
    </p:bld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圆角矩形 1"/>
          <p:cNvSpPr/>
          <p:nvPr/>
        </p:nvSpPr>
        <p:spPr>
          <a:xfrm>
            <a:off x="539750" y="1123165"/>
            <a:ext cx="8145463" cy="64135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9525">
            <a:noFill/>
          </a:ln>
        </p:spPr>
        <p:txBody>
          <a:bodyPr/>
          <a:lstStyle>
            <a:lvl1pPr indent="538480" algn="l" rtl="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2400" b="0">
                <a:solidFill>
                  <a:schemeClr val="tx1"/>
                </a:solidFill>
                <a:latin typeface="+mn-lt"/>
                <a:ea typeface="微软雅黑" panose="020B0503020204020204" pitchFamily="34" charset="-122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微软雅黑" panose="020B0503020204020204" pitchFamily="34" charset="-122"/>
              </a:defRPr>
            </a:lvl5pPr>
          </a:lstStyle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仿宋_GB2312" pitchFamily="49" charset="-122"/>
              <a:cs typeface="+mn-cs"/>
            </a:endParaRPr>
          </a:p>
        </p:txBody>
      </p:sp>
      <p:sp>
        <p:nvSpPr>
          <p:cNvPr id="6" name="圆角矩形 5"/>
          <p:cNvSpPr/>
          <p:nvPr/>
        </p:nvSpPr>
        <p:spPr bwMode="auto">
          <a:xfrm>
            <a:off x="539750" y="2207383"/>
            <a:ext cx="8145463" cy="3969579"/>
          </a:xfrm>
          <a:prstGeom prst="roundRect">
            <a:avLst>
              <a:gd name="adj" fmla="val 3982"/>
            </a:avLst>
          </a:prstGeom>
          <a:solidFill>
            <a:schemeClr val="bg2">
              <a:lumMod val="20000"/>
              <a:lumOff val="8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</p:txBody>
      </p:sp>
      <p:sp>
        <p:nvSpPr>
          <p:cNvPr id="730116" name="Rectangle 4"/>
          <p:cNvSpPr>
            <a:spLocks noChangeArrowheads="1"/>
          </p:cNvSpPr>
          <p:nvPr/>
        </p:nvSpPr>
        <p:spPr bwMode="auto">
          <a:xfrm>
            <a:off x="539750" y="2207384"/>
            <a:ext cx="8145463" cy="3894208"/>
          </a:xfrm>
          <a:prstGeom prst="rect">
            <a:avLst/>
          </a:prstGeom>
          <a:noFill/>
          <a:ln w="25400">
            <a:noFill/>
            <a:miter lim="800000"/>
          </a:ln>
          <a:effectLst>
            <a:outerShdw dist="35921" dir="2700000" sy="50000" kx="2115830" algn="bl" rotWithShape="0">
              <a:srgbClr val="C0C0C0"/>
            </a:outerShdw>
          </a:effectLst>
        </p:spPr>
        <p:txBody>
          <a:bodyPr anchor="ctr">
            <a:spAutoFit/>
          </a:bodyPr>
          <a:lstStyle/>
          <a:p>
            <a:pPr marR="0" lvl="0" algn="l" defTabSz="914400" rtl="0" eaLnBrk="1" fontAlgn="base" latinLnBrk="0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  <a:cs typeface="+mn-ea"/>
                <a:sym typeface="+mn-lt"/>
              </a:rPr>
              <a:t>从入口出发，向某一方向探索未走过的前方：</a:t>
            </a:r>
          </a:p>
          <a:p>
            <a:pPr marL="457200" marR="0" lvl="0" indent="-457200" algn="l" defTabSz="914400" rtl="0" eaLnBrk="1" fontAlgn="base" latinLnBrk="0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FF0000"/>
              </a:buClr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  <a:cs typeface="+mn-ea"/>
                <a:sym typeface="+mn-lt"/>
              </a:rPr>
              <a:t>若能走通，则到达新点，否则试探下一方向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  <a:cs typeface="+mn-ea"/>
                <a:sym typeface="+mn-lt"/>
              </a:rPr>
              <a:t>; </a:t>
            </a:r>
          </a:p>
          <a:p>
            <a:pPr marL="457200" marR="0" lvl="0" indent="-457200" algn="l" defTabSz="914400" rtl="0" eaLnBrk="1" fontAlgn="base" latinLnBrk="0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FF0000"/>
              </a:buClr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  <a:cs typeface="+mn-ea"/>
                <a:sym typeface="+mn-lt"/>
              </a:rPr>
              <a:t>若所有的方向</a:t>
            </a:r>
            <a:r>
              <a:rPr lang="zh-CN" altLang="en-US" sz="2800" b="0" dirty="0">
                <a:solidFill>
                  <a:srgbClr val="000000"/>
                </a:solidFill>
                <a:latin typeface="+mn-ea"/>
                <a:ea typeface="+mn-ea"/>
                <a:cs typeface="+mn-ea"/>
                <a:sym typeface="+mn-lt"/>
              </a:rPr>
              <a:t>都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  <a:cs typeface="+mn-ea"/>
                <a:sym typeface="+mn-lt"/>
              </a:rPr>
              <a:t>没有通路，则沿原路返回前一点，换下一个方向再继续试探</a:t>
            </a:r>
          </a:p>
          <a:p>
            <a:pPr marR="0" lvl="0" algn="l" defTabSz="914400" rtl="0" eaLnBrk="1" fontAlgn="base" latinLnBrk="0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  <a:cs typeface="+mn-ea"/>
                <a:sym typeface="+mn-lt"/>
              </a:rPr>
              <a:t>直到所有可能的通路都探索完，或找到一条通路，或无路可走又返回到入口点。</a:t>
            </a:r>
          </a:p>
        </p:txBody>
      </p:sp>
      <p:sp>
        <p:nvSpPr>
          <p:cNvPr id="140292" name="Rectangle 5"/>
          <p:cNvSpPr>
            <a:spLocks noChangeArrowheads="1"/>
          </p:cNvSpPr>
          <p:nvPr/>
        </p:nvSpPr>
        <p:spPr bwMode="auto">
          <a:xfrm>
            <a:off x="578649" y="1196752"/>
            <a:ext cx="3057247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Times New Roman"/>
                <a:ea typeface="Microsoft YaHei"/>
                <a:cs typeface="+mn-ea"/>
                <a:sym typeface="+mn-lt"/>
              </a:rPr>
              <a:t>求解思想：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imes New Roman"/>
                <a:ea typeface="Microsoft YaHei"/>
                <a:cs typeface="+mn-ea"/>
                <a:sym typeface="+mn-lt"/>
              </a:rPr>
              <a:t>回溯法</a:t>
            </a:r>
          </a:p>
        </p:txBody>
      </p:sp>
      <p:sp>
        <p:nvSpPr>
          <p:cNvPr id="140293" name="Rectangle 6"/>
          <p:cNvSpPr>
            <a:spLocks noChangeArrowheads="1"/>
          </p:cNvSpPr>
          <p:nvPr/>
        </p:nvSpPr>
        <p:spPr bwMode="auto">
          <a:xfrm>
            <a:off x="754062" y="207963"/>
            <a:ext cx="3457897" cy="515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Times New Roman"/>
                <a:ea typeface="Microsoft YaHei"/>
                <a:cs typeface="+mn-ea"/>
                <a:sym typeface="+mn-lt"/>
              </a:rPr>
              <a:t>案例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Times New Roman"/>
                <a:ea typeface="Microsoft YaHei"/>
                <a:cs typeface="+mn-ea"/>
                <a:sym typeface="+mn-lt"/>
              </a:rPr>
              <a:t>4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Times New Roman"/>
                <a:ea typeface="Microsoft YaHei"/>
                <a:cs typeface="+mn-ea"/>
                <a:sym typeface="+mn-lt"/>
              </a:rPr>
              <a:t>：迷宫求解</a:t>
            </a:r>
          </a:p>
        </p:txBody>
      </p:sp>
    </p:spTree>
    <p:extLst>
      <p:ext uri="{BB962C8B-B14F-4D97-AF65-F5344CB8AC3E}">
        <p14:creationId xmlns:p14="http://schemas.microsoft.com/office/powerpoint/2010/main" val="358913309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60" name="Rectangle 5"/>
          <p:cNvSpPr>
            <a:spLocks noChangeArrowheads="1"/>
          </p:cNvSpPr>
          <p:nvPr/>
        </p:nvSpPr>
        <p:spPr bwMode="auto">
          <a:xfrm>
            <a:off x="900430" y="208280"/>
            <a:ext cx="4756150" cy="5162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Times New Roman"/>
                <a:ea typeface="Microsoft YaHei"/>
                <a:cs typeface="+mn-ea"/>
                <a:sym typeface="+mn-lt"/>
              </a:rPr>
              <a:t>案例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Times New Roman"/>
                <a:ea typeface="Microsoft YaHei"/>
                <a:cs typeface="+mn-ea"/>
                <a:sym typeface="+mn-lt"/>
              </a:rPr>
              <a:t>4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Times New Roman"/>
                <a:ea typeface="Microsoft YaHei"/>
                <a:cs typeface="+mn-ea"/>
                <a:sym typeface="+mn-lt"/>
              </a:rPr>
              <a:t>：迷宫求解</a:t>
            </a:r>
          </a:p>
        </p:txBody>
      </p:sp>
      <p:sp>
        <p:nvSpPr>
          <p:cNvPr id="4" name="TextBox 1">
            <a:extLst>
              <a:ext uri="{FF2B5EF4-FFF2-40B4-BE49-F238E27FC236}">
                <a16:creationId xmlns:a16="http://schemas.microsoft.com/office/drawing/2014/main" id="{EAFFC11B-63BB-4A53-806C-47D5F7338320}"/>
              </a:ext>
            </a:extLst>
          </p:cNvPr>
          <p:cNvSpPr txBox="1"/>
          <p:nvPr/>
        </p:nvSpPr>
        <p:spPr>
          <a:xfrm>
            <a:off x="4889672" y="1819141"/>
            <a:ext cx="3714776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800" dirty="0">
                <a:solidFill>
                  <a:schemeClr val="tx1"/>
                </a:solidFill>
                <a:latin typeface="Consolas" pitchFamily="49" charset="0"/>
                <a:cs typeface="Consolas" pitchFamily="49" charset="0"/>
              </a:rPr>
              <a:t>int maze[</a:t>
            </a:r>
            <a:r>
              <a:rPr lang="en-US" sz="1800" i="1" dirty="0">
                <a:solidFill>
                  <a:schemeClr val="tx1"/>
                </a:solidFill>
                <a:latin typeface="Consolas" pitchFamily="49" charset="0"/>
                <a:cs typeface="Consolas" pitchFamily="49" charset="0"/>
              </a:rPr>
              <a:t>M</a:t>
            </a:r>
            <a:r>
              <a:rPr lang="en-US" sz="1800" dirty="0">
                <a:solidFill>
                  <a:schemeClr val="tx1"/>
                </a:solidFill>
                <a:latin typeface="Consolas" pitchFamily="49" charset="0"/>
                <a:cs typeface="Consolas" pitchFamily="49" charset="0"/>
              </a:rPr>
              <a:t>+2][</a:t>
            </a:r>
            <a:r>
              <a:rPr lang="en-US" sz="1800" i="1" dirty="0">
                <a:solidFill>
                  <a:schemeClr val="tx1"/>
                </a:solidFill>
                <a:latin typeface="Consolas" pitchFamily="49" charset="0"/>
                <a:cs typeface="Consolas" pitchFamily="49" charset="0"/>
              </a:rPr>
              <a:t>N</a:t>
            </a:r>
            <a:r>
              <a:rPr lang="en-US" sz="1800" dirty="0">
                <a:solidFill>
                  <a:schemeClr val="tx1"/>
                </a:solidFill>
                <a:latin typeface="Consolas" pitchFamily="49" charset="0"/>
                <a:cs typeface="Consolas" pitchFamily="49" charset="0"/>
              </a:rPr>
              <a:t>+2]=</a:t>
            </a:r>
            <a:endParaRPr lang="zh-CN" altLang="en-US" sz="1800" dirty="0">
              <a:solidFill>
                <a:schemeClr val="tx1"/>
              </a:solidFill>
              <a:latin typeface="Consolas" pitchFamily="49" charset="0"/>
              <a:cs typeface="Consolas" pitchFamily="49" charset="0"/>
            </a:endParaRP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nsolas" pitchFamily="49" charset="0"/>
                <a:cs typeface="Consolas" pitchFamily="49" charset="0"/>
              </a:rPr>
              <a:t>{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nsolas" pitchFamily="49" charset="0"/>
                <a:cs typeface="Consolas" pitchFamily="49" charset="0"/>
              </a:rPr>
              <a:t>    {</a:t>
            </a:r>
            <a:r>
              <a:rPr lang="en-US" sz="1800" dirty="0">
                <a:solidFill>
                  <a:srgbClr val="CE3B37"/>
                </a:solidFill>
                <a:latin typeface="Consolas" pitchFamily="49" charset="0"/>
                <a:cs typeface="Consolas" pitchFamily="49" charset="0"/>
              </a:rPr>
              <a:t>1,1,1,1,1,1,1,1,1,1</a:t>
            </a:r>
            <a:r>
              <a:rPr lang="en-US" sz="1800" dirty="0">
                <a:solidFill>
                  <a:schemeClr val="tx1"/>
                </a:solidFill>
                <a:latin typeface="Consolas" pitchFamily="49" charset="0"/>
                <a:cs typeface="Consolas" pitchFamily="49" charset="0"/>
              </a:rPr>
              <a:t>},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nsolas" pitchFamily="49" charset="0"/>
                <a:cs typeface="Consolas" pitchFamily="49" charset="0"/>
              </a:rPr>
              <a:t>    {</a:t>
            </a:r>
            <a:r>
              <a:rPr lang="en-US" sz="1800" dirty="0">
                <a:solidFill>
                  <a:srgbClr val="CE3B37"/>
                </a:solidFill>
                <a:latin typeface="Consolas" pitchFamily="49" charset="0"/>
              </a:rPr>
              <a:t>1,</a:t>
            </a:r>
            <a:r>
              <a:rPr lang="en-US" sz="1800" dirty="0">
                <a:solidFill>
                  <a:schemeClr val="tx1"/>
                </a:solidFill>
                <a:latin typeface="Consolas" pitchFamily="49" charset="0"/>
                <a:cs typeface="Consolas" pitchFamily="49" charset="0"/>
              </a:rPr>
              <a:t>0,0,1,0,0,0,1,0,</a:t>
            </a:r>
            <a:r>
              <a:rPr lang="en-US" sz="1800" dirty="0">
                <a:solidFill>
                  <a:srgbClr val="CE3B37"/>
                </a:solidFill>
                <a:latin typeface="Consolas" pitchFamily="49" charset="0"/>
              </a:rPr>
              <a:t>1</a:t>
            </a:r>
            <a:r>
              <a:rPr lang="en-US" sz="1800" dirty="0">
                <a:solidFill>
                  <a:schemeClr val="tx1"/>
                </a:solidFill>
                <a:latin typeface="Consolas" pitchFamily="49" charset="0"/>
                <a:cs typeface="Consolas" pitchFamily="49" charset="0"/>
              </a:rPr>
              <a:t>},</a:t>
            </a:r>
            <a:endParaRPr lang="zh-CN" altLang="en-US" sz="1800" dirty="0">
              <a:solidFill>
                <a:schemeClr val="tx1"/>
              </a:solidFill>
              <a:latin typeface="Consolas" pitchFamily="49" charset="0"/>
              <a:cs typeface="Consolas" pitchFamily="49" charset="0"/>
            </a:endParaRP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nsolas" pitchFamily="49" charset="0"/>
                <a:cs typeface="Consolas" pitchFamily="49" charset="0"/>
              </a:rPr>
              <a:t>    {</a:t>
            </a:r>
            <a:r>
              <a:rPr lang="en-US" sz="1800" dirty="0">
                <a:solidFill>
                  <a:srgbClr val="CE3B37"/>
                </a:solidFill>
                <a:latin typeface="Consolas" pitchFamily="49" charset="0"/>
              </a:rPr>
              <a:t>1,</a:t>
            </a:r>
            <a:r>
              <a:rPr lang="en-US" sz="1800" dirty="0">
                <a:solidFill>
                  <a:schemeClr val="tx1"/>
                </a:solidFill>
                <a:latin typeface="Consolas" pitchFamily="49" charset="0"/>
                <a:cs typeface="Consolas" pitchFamily="49" charset="0"/>
              </a:rPr>
              <a:t>0,0,1,0,0,0,1,0,</a:t>
            </a:r>
            <a:r>
              <a:rPr lang="en-US" sz="1800" dirty="0">
                <a:solidFill>
                  <a:srgbClr val="CE3B37"/>
                </a:solidFill>
                <a:latin typeface="Consolas" pitchFamily="49" charset="0"/>
              </a:rPr>
              <a:t>1</a:t>
            </a:r>
            <a:r>
              <a:rPr lang="en-US" sz="1800" dirty="0">
                <a:solidFill>
                  <a:schemeClr val="tx1"/>
                </a:solidFill>
                <a:latin typeface="Consolas" pitchFamily="49" charset="0"/>
                <a:cs typeface="Consolas" pitchFamily="49" charset="0"/>
              </a:rPr>
              <a:t>},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nsolas" pitchFamily="49" charset="0"/>
                <a:cs typeface="Consolas" pitchFamily="49" charset="0"/>
              </a:rPr>
              <a:t>    {</a:t>
            </a:r>
            <a:r>
              <a:rPr lang="en-US" sz="1800" dirty="0">
                <a:solidFill>
                  <a:srgbClr val="CE3B37"/>
                </a:solidFill>
                <a:latin typeface="Consolas" pitchFamily="49" charset="0"/>
              </a:rPr>
              <a:t>1,</a:t>
            </a:r>
            <a:r>
              <a:rPr lang="en-US" sz="1800" dirty="0">
                <a:solidFill>
                  <a:schemeClr val="tx1"/>
                </a:solidFill>
                <a:latin typeface="Consolas" pitchFamily="49" charset="0"/>
                <a:cs typeface="Consolas" pitchFamily="49" charset="0"/>
              </a:rPr>
              <a:t>0,0,0,0,1,1,0,0,</a:t>
            </a:r>
            <a:r>
              <a:rPr lang="en-US" sz="1800" dirty="0">
                <a:solidFill>
                  <a:srgbClr val="CE3B37"/>
                </a:solidFill>
                <a:latin typeface="Consolas" pitchFamily="49" charset="0"/>
              </a:rPr>
              <a:t>1</a:t>
            </a:r>
            <a:r>
              <a:rPr lang="en-US" sz="1800" dirty="0">
                <a:solidFill>
                  <a:schemeClr val="tx1"/>
                </a:solidFill>
                <a:latin typeface="Consolas" pitchFamily="49" charset="0"/>
                <a:cs typeface="Consolas" pitchFamily="49" charset="0"/>
              </a:rPr>
              <a:t>},</a:t>
            </a:r>
            <a:endParaRPr lang="zh-CN" altLang="en-US" sz="1800" dirty="0">
              <a:solidFill>
                <a:schemeClr val="tx1"/>
              </a:solidFill>
              <a:latin typeface="Consolas" pitchFamily="49" charset="0"/>
              <a:cs typeface="Consolas" pitchFamily="49" charset="0"/>
            </a:endParaRP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nsolas" pitchFamily="49" charset="0"/>
                <a:cs typeface="Consolas" pitchFamily="49" charset="0"/>
              </a:rPr>
              <a:t>    {</a:t>
            </a:r>
            <a:r>
              <a:rPr lang="en-US" sz="1800" dirty="0">
                <a:solidFill>
                  <a:srgbClr val="CE3B37"/>
                </a:solidFill>
                <a:latin typeface="Consolas" pitchFamily="49" charset="0"/>
              </a:rPr>
              <a:t>1,</a:t>
            </a:r>
            <a:r>
              <a:rPr lang="en-US" sz="1800" dirty="0">
                <a:solidFill>
                  <a:schemeClr val="tx1"/>
                </a:solidFill>
                <a:latin typeface="Consolas" pitchFamily="49" charset="0"/>
                <a:cs typeface="Consolas" pitchFamily="49" charset="0"/>
              </a:rPr>
              <a:t>0,1,1,1,0,0,0,0,</a:t>
            </a:r>
            <a:r>
              <a:rPr lang="en-US" sz="1800" dirty="0">
                <a:solidFill>
                  <a:srgbClr val="CE3B37"/>
                </a:solidFill>
                <a:latin typeface="Consolas" pitchFamily="49" charset="0"/>
              </a:rPr>
              <a:t>1</a:t>
            </a:r>
            <a:r>
              <a:rPr lang="en-US" sz="1800" dirty="0">
                <a:solidFill>
                  <a:schemeClr val="tx1"/>
                </a:solidFill>
                <a:latin typeface="Consolas" pitchFamily="49" charset="0"/>
                <a:cs typeface="Consolas" pitchFamily="49" charset="0"/>
              </a:rPr>
              <a:t>},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nsolas" pitchFamily="49" charset="0"/>
                <a:cs typeface="Consolas" pitchFamily="49" charset="0"/>
              </a:rPr>
              <a:t>    {</a:t>
            </a:r>
            <a:r>
              <a:rPr lang="en-US" sz="1800" dirty="0">
                <a:solidFill>
                  <a:srgbClr val="CE3B37"/>
                </a:solidFill>
                <a:latin typeface="Consolas" pitchFamily="49" charset="0"/>
              </a:rPr>
              <a:t>1,</a:t>
            </a:r>
            <a:r>
              <a:rPr lang="en-US" sz="1800" dirty="0">
                <a:solidFill>
                  <a:schemeClr val="tx1"/>
                </a:solidFill>
                <a:latin typeface="Consolas" pitchFamily="49" charset="0"/>
                <a:cs typeface="Consolas" pitchFamily="49" charset="0"/>
              </a:rPr>
              <a:t>0,0,0,1,0,0,0,0,</a:t>
            </a:r>
            <a:r>
              <a:rPr lang="en-US" sz="1800" dirty="0">
                <a:solidFill>
                  <a:srgbClr val="CE3B37"/>
                </a:solidFill>
                <a:latin typeface="Consolas" pitchFamily="49" charset="0"/>
              </a:rPr>
              <a:t>1</a:t>
            </a:r>
            <a:r>
              <a:rPr lang="en-US" sz="1800" dirty="0">
                <a:solidFill>
                  <a:schemeClr val="tx1"/>
                </a:solidFill>
                <a:latin typeface="Consolas" pitchFamily="49" charset="0"/>
                <a:cs typeface="Consolas" pitchFamily="49" charset="0"/>
              </a:rPr>
              <a:t>},</a:t>
            </a:r>
            <a:endParaRPr lang="zh-CN" altLang="en-US" sz="1800" dirty="0">
              <a:solidFill>
                <a:schemeClr val="tx1"/>
              </a:solidFill>
              <a:latin typeface="Consolas" pitchFamily="49" charset="0"/>
              <a:cs typeface="Consolas" pitchFamily="49" charset="0"/>
            </a:endParaRP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nsolas" pitchFamily="49" charset="0"/>
                <a:cs typeface="Consolas" pitchFamily="49" charset="0"/>
              </a:rPr>
              <a:t>    {</a:t>
            </a:r>
            <a:r>
              <a:rPr lang="en-US" sz="1800" dirty="0">
                <a:solidFill>
                  <a:srgbClr val="CE3B37"/>
                </a:solidFill>
                <a:latin typeface="Consolas" pitchFamily="49" charset="0"/>
              </a:rPr>
              <a:t>1,</a:t>
            </a:r>
            <a:r>
              <a:rPr lang="en-US" sz="1800" dirty="0">
                <a:solidFill>
                  <a:schemeClr val="tx1"/>
                </a:solidFill>
                <a:latin typeface="Consolas" pitchFamily="49" charset="0"/>
                <a:cs typeface="Consolas" pitchFamily="49" charset="0"/>
              </a:rPr>
              <a:t>0,1,0,0,0,1,0,0,</a:t>
            </a:r>
            <a:r>
              <a:rPr lang="en-US" sz="1800" dirty="0">
                <a:solidFill>
                  <a:srgbClr val="CE3B37"/>
                </a:solidFill>
                <a:latin typeface="Consolas" pitchFamily="49" charset="0"/>
              </a:rPr>
              <a:t>1</a:t>
            </a:r>
            <a:r>
              <a:rPr lang="en-US" sz="1800" dirty="0">
                <a:solidFill>
                  <a:schemeClr val="tx1"/>
                </a:solidFill>
                <a:latin typeface="Consolas" pitchFamily="49" charset="0"/>
                <a:cs typeface="Consolas" pitchFamily="49" charset="0"/>
              </a:rPr>
              <a:t>},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nsolas" pitchFamily="49" charset="0"/>
                <a:cs typeface="Consolas" pitchFamily="49" charset="0"/>
              </a:rPr>
              <a:t>    {</a:t>
            </a:r>
            <a:r>
              <a:rPr lang="en-US" sz="1800" dirty="0">
                <a:solidFill>
                  <a:srgbClr val="CE3B37"/>
                </a:solidFill>
                <a:latin typeface="Consolas" pitchFamily="49" charset="0"/>
              </a:rPr>
              <a:t>1,</a:t>
            </a:r>
            <a:r>
              <a:rPr lang="en-US" sz="1800" dirty="0">
                <a:solidFill>
                  <a:schemeClr val="tx1"/>
                </a:solidFill>
                <a:latin typeface="Consolas" pitchFamily="49" charset="0"/>
                <a:cs typeface="Consolas" pitchFamily="49" charset="0"/>
              </a:rPr>
              <a:t>0,1,1,1,0,1,1,0,</a:t>
            </a:r>
            <a:r>
              <a:rPr lang="en-US" sz="1800" dirty="0">
                <a:solidFill>
                  <a:srgbClr val="CE3B37"/>
                </a:solidFill>
                <a:latin typeface="Consolas" pitchFamily="49" charset="0"/>
              </a:rPr>
              <a:t>1</a:t>
            </a:r>
            <a:r>
              <a:rPr lang="en-US" sz="1800" dirty="0">
                <a:solidFill>
                  <a:schemeClr val="tx1"/>
                </a:solidFill>
                <a:latin typeface="Consolas" pitchFamily="49" charset="0"/>
                <a:cs typeface="Consolas" pitchFamily="49" charset="0"/>
              </a:rPr>
              <a:t>},</a:t>
            </a:r>
            <a:endParaRPr lang="zh-CN" altLang="en-US" sz="1800" dirty="0">
              <a:solidFill>
                <a:schemeClr val="tx1"/>
              </a:solidFill>
              <a:latin typeface="Consolas" pitchFamily="49" charset="0"/>
              <a:cs typeface="Consolas" pitchFamily="49" charset="0"/>
            </a:endParaRP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nsolas" pitchFamily="49" charset="0"/>
                <a:cs typeface="Consolas" pitchFamily="49" charset="0"/>
              </a:rPr>
              <a:t>    {</a:t>
            </a:r>
            <a:r>
              <a:rPr lang="en-US" sz="1800" dirty="0">
                <a:solidFill>
                  <a:srgbClr val="CE3B37"/>
                </a:solidFill>
                <a:latin typeface="Consolas" pitchFamily="49" charset="0"/>
              </a:rPr>
              <a:t>1,</a:t>
            </a:r>
            <a:r>
              <a:rPr lang="en-US" sz="1800" dirty="0">
                <a:solidFill>
                  <a:schemeClr val="tx1"/>
                </a:solidFill>
                <a:latin typeface="Consolas" pitchFamily="49" charset="0"/>
                <a:cs typeface="Consolas" pitchFamily="49" charset="0"/>
              </a:rPr>
              <a:t>1,0,0,0,0,0,0,0,</a:t>
            </a:r>
            <a:r>
              <a:rPr lang="en-US" sz="1800" dirty="0">
                <a:solidFill>
                  <a:srgbClr val="CE3B37"/>
                </a:solidFill>
                <a:latin typeface="Consolas" pitchFamily="49" charset="0"/>
              </a:rPr>
              <a:t>1</a:t>
            </a:r>
            <a:r>
              <a:rPr lang="en-US" sz="1800" dirty="0">
                <a:solidFill>
                  <a:schemeClr val="tx1"/>
                </a:solidFill>
                <a:latin typeface="Consolas" pitchFamily="49" charset="0"/>
                <a:cs typeface="Consolas" pitchFamily="49" charset="0"/>
              </a:rPr>
              <a:t>},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nsolas" pitchFamily="49" charset="0"/>
                <a:cs typeface="Consolas" pitchFamily="49" charset="0"/>
              </a:rPr>
              <a:t>    {</a:t>
            </a:r>
            <a:r>
              <a:rPr lang="en-US" sz="1800" dirty="0">
                <a:solidFill>
                  <a:srgbClr val="CE3B37"/>
                </a:solidFill>
                <a:latin typeface="Consolas" pitchFamily="49" charset="0"/>
              </a:rPr>
              <a:t>1,1,1,1,1,1,1,1,1,1</a:t>
            </a:r>
            <a:r>
              <a:rPr lang="en-US" sz="1800" dirty="0">
                <a:solidFill>
                  <a:schemeClr val="tx1"/>
                </a:solidFill>
                <a:latin typeface="Consolas" pitchFamily="49" charset="0"/>
                <a:cs typeface="Consolas" pitchFamily="49" charset="0"/>
              </a:rPr>
              <a:t>}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nsolas" pitchFamily="49" charset="0"/>
                <a:cs typeface="Consolas" pitchFamily="49" charset="0"/>
              </a:rPr>
              <a:t>};</a:t>
            </a:r>
            <a:endParaRPr lang="zh-CN" altLang="en-US" sz="1800" dirty="0">
              <a:solidFill>
                <a:schemeClr val="tx1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95B927A4-8211-4FEA-9FA6-0C13A8BCCC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4821" y="2218057"/>
            <a:ext cx="358775" cy="358775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l"/>
            <a:endParaRPr lang="zh-CN" altLang="zh-CN" sz="1800" b="0">
              <a:solidFill>
                <a:schemeClr val="tx1"/>
              </a:solidFill>
              <a:latin typeface="Arial" charset="0"/>
              <a:ea typeface="宋体" pitchFamily="2" charset="-122"/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CB3F6BD7-2A87-4C57-8731-3A1C66E747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596" y="2218057"/>
            <a:ext cx="358775" cy="358775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l"/>
            <a:endParaRPr lang="zh-CN" altLang="zh-CN" sz="1800" b="0">
              <a:solidFill>
                <a:schemeClr val="tx1"/>
              </a:solidFill>
              <a:latin typeface="Arial" charset="0"/>
              <a:ea typeface="宋体" pitchFamily="2" charset="-122"/>
            </a:endParaRP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5BE4566D-7E3D-48BD-A348-DFFB6E86AF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11258" y="2218057"/>
            <a:ext cx="361950" cy="358775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l"/>
            <a:endParaRPr lang="zh-CN" altLang="zh-CN" sz="1800" b="0">
              <a:solidFill>
                <a:schemeClr val="tx1"/>
              </a:solidFill>
              <a:latin typeface="Arial" charset="0"/>
              <a:ea typeface="宋体" pitchFamily="2" charset="-122"/>
            </a:endParaRPr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C2FB496F-B3B9-494F-A582-2B758A6153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73209" y="2218057"/>
            <a:ext cx="358775" cy="358775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l"/>
            <a:endParaRPr lang="zh-CN" altLang="zh-CN" sz="1800" b="0">
              <a:solidFill>
                <a:schemeClr val="tx1"/>
              </a:solidFill>
              <a:latin typeface="Arial" charset="0"/>
              <a:ea typeface="宋体" pitchFamily="2" charset="-122"/>
            </a:endParaRPr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9823B6DC-E914-4FB6-8C55-E29920DD15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31984" y="2218057"/>
            <a:ext cx="358775" cy="358775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l"/>
            <a:endParaRPr lang="zh-CN" altLang="zh-CN" sz="1800" b="0">
              <a:solidFill>
                <a:schemeClr val="tx1"/>
              </a:solidFill>
              <a:latin typeface="Arial" charset="0"/>
              <a:ea typeface="宋体" pitchFamily="2" charset="-122"/>
            </a:endParaRPr>
          </a:p>
        </p:txBody>
      </p:sp>
      <p:sp>
        <p:nvSpPr>
          <p:cNvPr id="10" name="Rectangle 7">
            <a:extLst>
              <a:ext uri="{FF2B5EF4-FFF2-40B4-BE49-F238E27FC236}">
                <a16:creationId xmlns:a16="http://schemas.microsoft.com/office/drawing/2014/main" id="{6D566AF1-E154-47EA-B004-166D017926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79646" y="2218057"/>
            <a:ext cx="358775" cy="358775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l"/>
            <a:endParaRPr lang="zh-CN" altLang="zh-CN" sz="1800" b="0">
              <a:solidFill>
                <a:schemeClr val="tx1"/>
              </a:solidFill>
              <a:latin typeface="Arial" charset="0"/>
              <a:ea typeface="宋体" pitchFamily="2" charset="-122"/>
            </a:endParaRPr>
          </a:p>
        </p:txBody>
      </p:sp>
      <p:sp>
        <p:nvSpPr>
          <p:cNvPr id="11" name="Rectangle 8">
            <a:extLst>
              <a:ext uri="{FF2B5EF4-FFF2-40B4-BE49-F238E27FC236}">
                <a16:creationId xmlns:a16="http://schemas.microsoft.com/office/drawing/2014/main" id="{1EEBB7E3-220A-4267-8BA4-3565073790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38421" y="2218057"/>
            <a:ext cx="358775" cy="358775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l"/>
            <a:endParaRPr lang="zh-CN" altLang="zh-CN" sz="1800" b="0">
              <a:solidFill>
                <a:schemeClr val="tx1"/>
              </a:solidFill>
              <a:latin typeface="Arial" charset="0"/>
              <a:ea typeface="宋体" pitchFamily="2" charset="-122"/>
            </a:endParaRPr>
          </a:p>
        </p:txBody>
      </p:sp>
      <p:sp>
        <p:nvSpPr>
          <p:cNvPr id="12" name="Rectangle 9">
            <a:extLst>
              <a:ext uri="{FF2B5EF4-FFF2-40B4-BE49-F238E27FC236}">
                <a16:creationId xmlns:a16="http://schemas.microsoft.com/office/drawing/2014/main" id="{2D37BAA4-E433-42DC-A582-274E581DFE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60734" y="2218057"/>
            <a:ext cx="358775" cy="358775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l"/>
            <a:endParaRPr lang="zh-CN" altLang="zh-CN" sz="1800" b="0">
              <a:solidFill>
                <a:schemeClr val="tx1"/>
              </a:solidFill>
              <a:latin typeface="Arial" charset="0"/>
              <a:ea typeface="宋体" pitchFamily="2" charset="-122"/>
            </a:endParaRPr>
          </a:p>
        </p:txBody>
      </p:sp>
      <p:sp>
        <p:nvSpPr>
          <p:cNvPr id="13" name="Rectangle 10">
            <a:extLst>
              <a:ext uri="{FF2B5EF4-FFF2-40B4-BE49-F238E27FC236}">
                <a16:creationId xmlns:a16="http://schemas.microsoft.com/office/drawing/2014/main" id="{C10D3266-C0E0-4985-B01F-84FCF3BBCA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98783" y="2218057"/>
            <a:ext cx="361950" cy="358775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l"/>
            <a:endParaRPr lang="zh-CN" altLang="zh-CN" sz="1800" b="0">
              <a:solidFill>
                <a:schemeClr val="tx1"/>
              </a:solidFill>
              <a:latin typeface="Arial" charset="0"/>
              <a:ea typeface="宋体" pitchFamily="2" charset="-122"/>
            </a:endParaRPr>
          </a:p>
        </p:txBody>
      </p:sp>
      <p:sp>
        <p:nvSpPr>
          <p:cNvPr id="14" name="Rectangle 11">
            <a:extLst>
              <a:ext uri="{FF2B5EF4-FFF2-40B4-BE49-F238E27FC236}">
                <a16:creationId xmlns:a16="http://schemas.microsoft.com/office/drawing/2014/main" id="{318F0DCB-29FD-4BC7-A111-7E9B64818E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19509" y="2218057"/>
            <a:ext cx="358775" cy="358775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l"/>
            <a:endParaRPr lang="zh-CN" altLang="zh-CN" sz="1800" b="0">
              <a:solidFill>
                <a:schemeClr val="tx1"/>
              </a:solidFill>
              <a:latin typeface="Arial" charset="0"/>
              <a:ea typeface="宋体" pitchFamily="2" charset="-122"/>
            </a:endParaRPr>
          </a:p>
        </p:txBody>
      </p:sp>
      <p:sp>
        <p:nvSpPr>
          <p:cNvPr id="15" name="Rectangle 12">
            <a:extLst>
              <a:ext uri="{FF2B5EF4-FFF2-40B4-BE49-F238E27FC236}">
                <a16:creationId xmlns:a16="http://schemas.microsoft.com/office/drawing/2014/main" id="{5E51FA3F-77D6-4DA9-9F1C-8D12431582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4821" y="2576832"/>
            <a:ext cx="358775" cy="358775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l"/>
            <a:endParaRPr lang="zh-CN" altLang="zh-CN" sz="1800" b="0">
              <a:solidFill>
                <a:schemeClr val="tx1"/>
              </a:solidFill>
              <a:latin typeface="Arial" charset="0"/>
              <a:ea typeface="宋体" pitchFamily="2" charset="-122"/>
            </a:endParaRPr>
          </a:p>
        </p:txBody>
      </p:sp>
      <p:sp>
        <p:nvSpPr>
          <p:cNvPr id="16" name="Rectangle 13">
            <a:extLst>
              <a:ext uri="{FF2B5EF4-FFF2-40B4-BE49-F238E27FC236}">
                <a16:creationId xmlns:a16="http://schemas.microsoft.com/office/drawing/2014/main" id="{C3460966-18D9-4BD2-8368-D184C98C42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596" y="2576832"/>
            <a:ext cx="358775" cy="358775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l"/>
            <a:endParaRPr lang="zh-CN" altLang="zh-CN" sz="1800" b="0">
              <a:solidFill>
                <a:schemeClr val="tx1"/>
              </a:solidFill>
              <a:latin typeface="Arial" charset="0"/>
              <a:ea typeface="宋体" pitchFamily="2" charset="-122"/>
            </a:endParaRPr>
          </a:p>
        </p:txBody>
      </p:sp>
      <p:sp>
        <p:nvSpPr>
          <p:cNvPr id="17" name="Rectangle 14">
            <a:extLst>
              <a:ext uri="{FF2B5EF4-FFF2-40B4-BE49-F238E27FC236}">
                <a16:creationId xmlns:a16="http://schemas.microsoft.com/office/drawing/2014/main" id="{DB5E1DF0-C024-4AE2-88AF-F9F025A1B9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11258" y="2576832"/>
            <a:ext cx="361950" cy="358775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l"/>
            <a:endParaRPr lang="zh-CN" altLang="zh-CN" sz="1800" b="0">
              <a:solidFill>
                <a:schemeClr val="tx1"/>
              </a:solidFill>
              <a:latin typeface="Arial" charset="0"/>
              <a:ea typeface="宋体" pitchFamily="2" charset="-122"/>
            </a:endParaRPr>
          </a:p>
        </p:txBody>
      </p:sp>
      <p:sp>
        <p:nvSpPr>
          <p:cNvPr id="18" name="Rectangle 15">
            <a:extLst>
              <a:ext uri="{FF2B5EF4-FFF2-40B4-BE49-F238E27FC236}">
                <a16:creationId xmlns:a16="http://schemas.microsoft.com/office/drawing/2014/main" id="{997D6AEF-FC1F-4DBC-AC94-1AF4767D56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73209" y="2576832"/>
            <a:ext cx="358775" cy="358775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l"/>
            <a:endParaRPr lang="zh-CN" altLang="zh-CN" sz="1800" b="0">
              <a:solidFill>
                <a:schemeClr val="tx1"/>
              </a:solidFill>
              <a:latin typeface="Arial" charset="0"/>
              <a:ea typeface="宋体" pitchFamily="2" charset="-122"/>
            </a:endParaRPr>
          </a:p>
        </p:txBody>
      </p:sp>
      <p:sp>
        <p:nvSpPr>
          <p:cNvPr id="19" name="Rectangle 16">
            <a:extLst>
              <a:ext uri="{FF2B5EF4-FFF2-40B4-BE49-F238E27FC236}">
                <a16:creationId xmlns:a16="http://schemas.microsoft.com/office/drawing/2014/main" id="{D2B9FF42-3F00-49E9-A199-ECF5E35839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31984" y="2576832"/>
            <a:ext cx="358775" cy="358775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l"/>
            <a:endParaRPr lang="zh-CN" altLang="zh-CN" sz="1800" b="0">
              <a:solidFill>
                <a:schemeClr val="tx1"/>
              </a:solidFill>
              <a:latin typeface="Arial" charset="0"/>
              <a:ea typeface="宋体" pitchFamily="2" charset="-122"/>
            </a:endParaRPr>
          </a:p>
        </p:txBody>
      </p:sp>
      <p:sp>
        <p:nvSpPr>
          <p:cNvPr id="20" name="Rectangle 17">
            <a:extLst>
              <a:ext uri="{FF2B5EF4-FFF2-40B4-BE49-F238E27FC236}">
                <a16:creationId xmlns:a16="http://schemas.microsoft.com/office/drawing/2014/main" id="{43A18A0B-2062-4AE1-B2BE-FCE1BD5155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79646" y="2576832"/>
            <a:ext cx="358775" cy="358775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l"/>
            <a:endParaRPr lang="zh-CN" altLang="zh-CN" sz="1800" b="0">
              <a:solidFill>
                <a:schemeClr val="tx1"/>
              </a:solidFill>
              <a:latin typeface="Arial" charset="0"/>
              <a:ea typeface="宋体" pitchFamily="2" charset="-122"/>
            </a:endParaRPr>
          </a:p>
        </p:txBody>
      </p:sp>
      <p:sp>
        <p:nvSpPr>
          <p:cNvPr id="21" name="Rectangle 18">
            <a:extLst>
              <a:ext uri="{FF2B5EF4-FFF2-40B4-BE49-F238E27FC236}">
                <a16:creationId xmlns:a16="http://schemas.microsoft.com/office/drawing/2014/main" id="{F870B4C4-25DD-42AD-9F1C-B180E4CC2C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38421" y="2576832"/>
            <a:ext cx="358775" cy="358775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l"/>
            <a:endParaRPr lang="zh-CN" altLang="zh-CN" sz="1800" b="0">
              <a:solidFill>
                <a:schemeClr val="tx1"/>
              </a:solidFill>
              <a:latin typeface="Arial" charset="0"/>
              <a:ea typeface="宋体" pitchFamily="2" charset="-122"/>
            </a:endParaRPr>
          </a:p>
        </p:txBody>
      </p:sp>
      <p:sp>
        <p:nvSpPr>
          <p:cNvPr id="22" name="Rectangle 19">
            <a:extLst>
              <a:ext uri="{FF2B5EF4-FFF2-40B4-BE49-F238E27FC236}">
                <a16:creationId xmlns:a16="http://schemas.microsoft.com/office/drawing/2014/main" id="{1C230367-D273-44A8-B14A-8F38AA6E16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60734" y="2576832"/>
            <a:ext cx="358775" cy="358775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l"/>
            <a:endParaRPr lang="zh-CN" altLang="zh-CN" sz="1800" b="0">
              <a:solidFill>
                <a:schemeClr val="tx1"/>
              </a:solidFill>
              <a:latin typeface="Arial" charset="0"/>
              <a:ea typeface="宋体" pitchFamily="2" charset="-122"/>
            </a:endParaRPr>
          </a:p>
        </p:txBody>
      </p:sp>
      <p:sp>
        <p:nvSpPr>
          <p:cNvPr id="23" name="Rectangle 20">
            <a:extLst>
              <a:ext uri="{FF2B5EF4-FFF2-40B4-BE49-F238E27FC236}">
                <a16:creationId xmlns:a16="http://schemas.microsoft.com/office/drawing/2014/main" id="{1F48687A-CCB4-4A74-A12F-D6F1853F7C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98783" y="2576832"/>
            <a:ext cx="361950" cy="358775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l"/>
            <a:endParaRPr lang="zh-CN" altLang="zh-CN" sz="1800" b="0">
              <a:solidFill>
                <a:schemeClr val="tx1"/>
              </a:solidFill>
              <a:latin typeface="Arial" charset="0"/>
              <a:ea typeface="宋体" pitchFamily="2" charset="-122"/>
            </a:endParaRPr>
          </a:p>
        </p:txBody>
      </p:sp>
      <p:sp>
        <p:nvSpPr>
          <p:cNvPr id="24" name="Rectangle 21">
            <a:extLst>
              <a:ext uri="{FF2B5EF4-FFF2-40B4-BE49-F238E27FC236}">
                <a16:creationId xmlns:a16="http://schemas.microsoft.com/office/drawing/2014/main" id="{B31A6CBF-E7DA-40AE-A94E-14A99870D5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19509" y="2576832"/>
            <a:ext cx="358775" cy="358775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l"/>
            <a:endParaRPr lang="zh-CN" altLang="zh-CN" sz="1800" b="0">
              <a:solidFill>
                <a:schemeClr val="tx1"/>
              </a:solidFill>
              <a:latin typeface="Arial" charset="0"/>
              <a:ea typeface="宋体" pitchFamily="2" charset="-122"/>
            </a:endParaRPr>
          </a:p>
        </p:txBody>
      </p:sp>
      <p:sp>
        <p:nvSpPr>
          <p:cNvPr id="25" name="Rectangle 22">
            <a:extLst>
              <a:ext uri="{FF2B5EF4-FFF2-40B4-BE49-F238E27FC236}">
                <a16:creationId xmlns:a16="http://schemas.microsoft.com/office/drawing/2014/main" id="{3CF53584-D328-433A-98D2-FCD1A1EFE4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4821" y="2937195"/>
            <a:ext cx="358775" cy="358775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l"/>
            <a:endParaRPr lang="zh-CN" altLang="zh-CN" sz="1800" b="0">
              <a:solidFill>
                <a:schemeClr val="tx1"/>
              </a:solidFill>
              <a:latin typeface="Arial" charset="0"/>
              <a:ea typeface="宋体" pitchFamily="2" charset="-122"/>
            </a:endParaRPr>
          </a:p>
        </p:txBody>
      </p:sp>
      <p:sp>
        <p:nvSpPr>
          <p:cNvPr id="26" name="Rectangle 23">
            <a:extLst>
              <a:ext uri="{FF2B5EF4-FFF2-40B4-BE49-F238E27FC236}">
                <a16:creationId xmlns:a16="http://schemas.microsoft.com/office/drawing/2014/main" id="{EDFD3DE9-6CC6-4D3F-8074-6A9B46768E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596" y="2937195"/>
            <a:ext cx="358775" cy="358775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l"/>
            <a:endParaRPr lang="zh-CN" altLang="zh-CN" sz="1800" b="0">
              <a:solidFill>
                <a:schemeClr val="tx1"/>
              </a:solidFill>
              <a:latin typeface="Arial" charset="0"/>
              <a:ea typeface="宋体" pitchFamily="2" charset="-122"/>
            </a:endParaRPr>
          </a:p>
        </p:txBody>
      </p:sp>
      <p:sp>
        <p:nvSpPr>
          <p:cNvPr id="27" name="Rectangle 24">
            <a:extLst>
              <a:ext uri="{FF2B5EF4-FFF2-40B4-BE49-F238E27FC236}">
                <a16:creationId xmlns:a16="http://schemas.microsoft.com/office/drawing/2014/main" id="{1163F672-1EBE-4C4C-B6ED-A723A39D9A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11258" y="2937195"/>
            <a:ext cx="361950" cy="358775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l"/>
            <a:endParaRPr lang="zh-CN" altLang="zh-CN" sz="1800" b="0">
              <a:solidFill>
                <a:schemeClr val="tx1"/>
              </a:solidFill>
              <a:latin typeface="Arial" charset="0"/>
              <a:ea typeface="宋体" pitchFamily="2" charset="-122"/>
            </a:endParaRPr>
          </a:p>
        </p:txBody>
      </p:sp>
      <p:sp>
        <p:nvSpPr>
          <p:cNvPr id="28" name="Rectangle 25">
            <a:extLst>
              <a:ext uri="{FF2B5EF4-FFF2-40B4-BE49-F238E27FC236}">
                <a16:creationId xmlns:a16="http://schemas.microsoft.com/office/drawing/2014/main" id="{D00CA356-37CE-4271-8361-2A0F73CBF4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73209" y="2937195"/>
            <a:ext cx="358775" cy="358775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l"/>
            <a:endParaRPr lang="zh-CN" altLang="zh-CN" sz="1800" b="0">
              <a:solidFill>
                <a:schemeClr val="tx1"/>
              </a:solidFill>
              <a:latin typeface="Arial" charset="0"/>
              <a:ea typeface="宋体" pitchFamily="2" charset="-122"/>
            </a:endParaRPr>
          </a:p>
        </p:txBody>
      </p:sp>
      <p:sp>
        <p:nvSpPr>
          <p:cNvPr id="29" name="Rectangle 26">
            <a:extLst>
              <a:ext uri="{FF2B5EF4-FFF2-40B4-BE49-F238E27FC236}">
                <a16:creationId xmlns:a16="http://schemas.microsoft.com/office/drawing/2014/main" id="{C8EC64E1-58AD-41C1-AE81-676073F873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31984" y="2937195"/>
            <a:ext cx="358775" cy="358775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l"/>
            <a:endParaRPr lang="zh-CN" altLang="zh-CN" sz="1800" b="0">
              <a:solidFill>
                <a:schemeClr val="tx1"/>
              </a:solidFill>
              <a:latin typeface="Arial" charset="0"/>
              <a:ea typeface="宋体" pitchFamily="2" charset="-122"/>
            </a:endParaRPr>
          </a:p>
        </p:txBody>
      </p:sp>
      <p:sp>
        <p:nvSpPr>
          <p:cNvPr id="30" name="Rectangle 27">
            <a:extLst>
              <a:ext uri="{FF2B5EF4-FFF2-40B4-BE49-F238E27FC236}">
                <a16:creationId xmlns:a16="http://schemas.microsoft.com/office/drawing/2014/main" id="{21969270-1D14-4EB1-B459-F1DFF50B7F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79646" y="2937195"/>
            <a:ext cx="358775" cy="358775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l"/>
            <a:endParaRPr lang="zh-CN" altLang="zh-CN" sz="1800" b="0">
              <a:solidFill>
                <a:schemeClr val="tx1"/>
              </a:solidFill>
              <a:latin typeface="Arial" charset="0"/>
              <a:ea typeface="宋体" pitchFamily="2" charset="-122"/>
            </a:endParaRPr>
          </a:p>
        </p:txBody>
      </p:sp>
      <p:sp>
        <p:nvSpPr>
          <p:cNvPr id="31" name="Rectangle 28">
            <a:extLst>
              <a:ext uri="{FF2B5EF4-FFF2-40B4-BE49-F238E27FC236}">
                <a16:creationId xmlns:a16="http://schemas.microsoft.com/office/drawing/2014/main" id="{73802EDB-ADA5-4FC1-A1C1-489E24CFF3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38421" y="2937195"/>
            <a:ext cx="358775" cy="358775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l"/>
            <a:endParaRPr lang="zh-CN" altLang="zh-CN" sz="1800" b="0">
              <a:solidFill>
                <a:schemeClr val="tx1"/>
              </a:solidFill>
              <a:latin typeface="Arial" charset="0"/>
              <a:ea typeface="宋体" pitchFamily="2" charset="-122"/>
            </a:endParaRPr>
          </a:p>
        </p:txBody>
      </p:sp>
      <p:sp>
        <p:nvSpPr>
          <p:cNvPr id="32" name="Rectangle 29">
            <a:extLst>
              <a:ext uri="{FF2B5EF4-FFF2-40B4-BE49-F238E27FC236}">
                <a16:creationId xmlns:a16="http://schemas.microsoft.com/office/drawing/2014/main" id="{A556C208-E7FE-4FD5-8137-47977F0038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60734" y="2937195"/>
            <a:ext cx="358775" cy="358775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l"/>
            <a:endParaRPr lang="zh-CN" altLang="zh-CN" sz="1800" b="0">
              <a:solidFill>
                <a:schemeClr val="tx1"/>
              </a:solidFill>
              <a:latin typeface="Arial" charset="0"/>
              <a:ea typeface="宋体" pitchFamily="2" charset="-122"/>
            </a:endParaRPr>
          </a:p>
        </p:txBody>
      </p:sp>
      <p:sp>
        <p:nvSpPr>
          <p:cNvPr id="33" name="Rectangle 30">
            <a:extLst>
              <a:ext uri="{FF2B5EF4-FFF2-40B4-BE49-F238E27FC236}">
                <a16:creationId xmlns:a16="http://schemas.microsoft.com/office/drawing/2014/main" id="{6C13BB53-CF6F-4527-A75E-37C52BAB1B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98783" y="2937195"/>
            <a:ext cx="361950" cy="358775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l"/>
            <a:endParaRPr lang="zh-CN" altLang="zh-CN" sz="1800" b="0">
              <a:solidFill>
                <a:schemeClr val="tx1"/>
              </a:solidFill>
              <a:latin typeface="Arial" charset="0"/>
              <a:ea typeface="宋体" pitchFamily="2" charset="-122"/>
            </a:endParaRPr>
          </a:p>
        </p:txBody>
      </p:sp>
      <p:sp>
        <p:nvSpPr>
          <p:cNvPr id="34" name="Rectangle 31">
            <a:extLst>
              <a:ext uri="{FF2B5EF4-FFF2-40B4-BE49-F238E27FC236}">
                <a16:creationId xmlns:a16="http://schemas.microsoft.com/office/drawing/2014/main" id="{111A14C2-233D-4FEF-AEBC-1D420F7C7B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19509" y="2937195"/>
            <a:ext cx="358775" cy="358775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l"/>
            <a:endParaRPr lang="zh-CN" altLang="zh-CN" sz="1800" b="0">
              <a:solidFill>
                <a:schemeClr val="tx1"/>
              </a:solidFill>
              <a:latin typeface="Arial" charset="0"/>
              <a:ea typeface="宋体" pitchFamily="2" charset="-122"/>
            </a:endParaRPr>
          </a:p>
        </p:txBody>
      </p:sp>
      <p:sp>
        <p:nvSpPr>
          <p:cNvPr id="35" name="Rectangle 32">
            <a:extLst>
              <a:ext uri="{FF2B5EF4-FFF2-40B4-BE49-F238E27FC236}">
                <a16:creationId xmlns:a16="http://schemas.microsoft.com/office/drawing/2014/main" id="{90EF12FA-6EC8-42C1-9D4C-4E356EECBB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4821" y="3297557"/>
            <a:ext cx="358775" cy="358775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l"/>
            <a:endParaRPr lang="zh-CN" altLang="zh-CN" sz="1800" b="0">
              <a:solidFill>
                <a:schemeClr val="tx1"/>
              </a:solidFill>
              <a:latin typeface="Arial" charset="0"/>
              <a:ea typeface="宋体" pitchFamily="2" charset="-122"/>
            </a:endParaRPr>
          </a:p>
        </p:txBody>
      </p:sp>
      <p:sp>
        <p:nvSpPr>
          <p:cNvPr id="36" name="Rectangle 33">
            <a:extLst>
              <a:ext uri="{FF2B5EF4-FFF2-40B4-BE49-F238E27FC236}">
                <a16:creationId xmlns:a16="http://schemas.microsoft.com/office/drawing/2014/main" id="{9256BDA2-6502-408C-90E5-ED0A8FCFA4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596" y="3297557"/>
            <a:ext cx="358775" cy="358775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l"/>
            <a:endParaRPr lang="zh-CN" altLang="zh-CN" sz="1800" b="0">
              <a:solidFill>
                <a:schemeClr val="tx1"/>
              </a:solidFill>
              <a:latin typeface="Arial" charset="0"/>
              <a:ea typeface="宋体" pitchFamily="2" charset="-122"/>
            </a:endParaRPr>
          </a:p>
        </p:txBody>
      </p:sp>
      <p:sp>
        <p:nvSpPr>
          <p:cNvPr id="37" name="Rectangle 34">
            <a:extLst>
              <a:ext uri="{FF2B5EF4-FFF2-40B4-BE49-F238E27FC236}">
                <a16:creationId xmlns:a16="http://schemas.microsoft.com/office/drawing/2014/main" id="{033A5796-201F-4AAC-A9BD-8DAD742D18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11258" y="3297557"/>
            <a:ext cx="361950" cy="358775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l"/>
            <a:endParaRPr lang="zh-CN" altLang="zh-CN" sz="1800" b="0">
              <a:solidFill>
                <a:schemeClr val="tx1"/>
              </a:solidFill>
              <a:latin typeface="Arial" charset="0"/>
              <a:ea typeface="宋体" pitchFamily="2" charset="-122"/>
            </a:endParaRPr>
          </a:p>
        </p:txBody>
      </p:sp>
      <p:sp>
        <p:nvSpPr>
          <p:cNvPr id="38" name="Rectangle 35">
            <a:extLst>
              <a:ext uri="{FF2B5EF4-FFF2-40B4-BE49-F238E27FC236}">
                <a16:creationId xmlns:a16="http://schemas.microsoft.com/office/drawing/2014/main" id="{1BC980D0-7DE7-4218-9319-A90E341CDB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73209" y="3297557"/>
            <a:ext cx="358775" cy="358775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l"/>
            <a:endParaRPr lang="zh-CN" altLang="zh-CN" sz="1800" b="0">
              <a:solidFill>
                <a:schemeClr val="tx1"/>
              </a:solidFill>
              <a:latin typeface="Arial" charset="0"/>
              <a:ea typeface="宋体" pitchFamily="2" charset="-122"/>
            </a:endParaRPr>
          </a:p>
        </p:txBody>
      </p:sp>
      <p:sp>
        <p:nvSpPr>
          <p:cNvPr id="39" name="Rectangle 36">
            <a:extLst>
              <a:ext uri="{FF2B5EF4-FFF2-40B4-BE49-F238E27FC236}">
                <a16:creationId xmlns:a16="http://schemas.microsoft.com/office/drawing/2014/main" id="{06422A4B-331A-487F-95AA-6E866D2AFF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31984" y="3297557"/>
            <a:ext cx="358775" cy="358775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l"/>
            <a:endParaRPr lang="zh-CN" altLang="zh-CN" sz="1800" b="0">
              <a:solidFill>
                <a:schemeClr val="tx1"/>
              </a:solidFill>
              <a:latin typeface="Arial" charset="0"/>
              <a:ea typeface="宋体" pitchFamily="2" charset="-122"/>
            </a:endParaRPr>
          </a:p>
        </p:txBody>
      </p:sp>
      <p:sp>
        <p:nvSpPr>
          <p:cNvPr id="40" name="Rectangle 37">
            <a:extLst>
              <a:ext uri="{FF2B5EF4-FFF2-40B4-BE49-F238E27FC236}">
                <a16:creationId xmlns:a16="http://schemas.microsoft.com/office/drawing/2014/main" id="{62D1C64F-11C7-4E1A-A46E-EA491AEEF5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79646" y="3297557"/>
            <a:ext cx="358775" cy="358775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l"/>
            <a:endParaRPr lang="zh-CN" altLang="zh-CN" sz="1800" b="0">
              <a:solidFill>
                <a:schemeClr val="tx1"/>
              </a:solidFill>
              <a:latin typeface="Arial" charset="0"/>
              <a:ea typeface="宋体" pitchFamily="2" charset="-122"/>
            </a:endParaRPr>
          </a:p>
        </p:txBody>
      </p:sp>
      <p:sp>
        <p:nvSpPr>
          <p:cNvPr id="41" name="Rectangle 38">
            <a:extLst>
              <a:ext uri="{FF2B5EF4-FFF2-40B4-BE49-F238E27FC236}">
                <a16:creationId xmlns:a16="http://schemas.microsoft.com/office/drawing/2014/main" id="{01739D14-6364-4905-8EEB-5744DC39E1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38421" y="3297557"/>
            <a:ext cx="358775" cy="358775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l"/>
            <a:endParaRPr lang="zh-CN" altLang="zh-CN" sz="1800" b="0">
              <a:solidFill>
                <a:schemeClr val="tx1"/>
              </a:solidFill>
              <a:latin typeface="Arial" charset="0"/>
              <a:ea typeface="宋体" pitchFamily="2" charset="-122"/>
            </a:endParaRPr>
          </a:p>
        </p:txBody>
      </p:sp>
      <p:sp>
        <p:nvSpPr>
          <p:cNvPr id="42" name="Rectangle 39">
            <a:extLst>
              <a:ext uri="{FF2B5EF4-FFF2-40B4-BE49-F238E27FC236}">
                <a16:creationId xmlns:a16="http://schemas.microsoft.com/office/drawing/2014/main" id="{FDC01022-AAEF-4AA9-90AE-6DFACCF7B4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60734" y="3297557"/>
            <a:ext cx="358775" cy="358775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l"/>
            <a:endParaRPr lang="zh-CN" altLang="zh-CN" sz="1800" b="0">
              <a:solidFill>
                <a:schemeClr val="tx1"/>
              </a:solidFill>
              <a:latin typeface="Arial" charset="0"/>
              <a:ea typeface="宋体" pitchFamily="2" charset="-122"/>
            </a:endParaRPr>
          </a:p>
        </p:txBody>
      </p:sp>
      <p:sp>
        <p:nvSpPr>
          <p:cNvPr id="43" name="Rectangle 40">
            <a:extLst>
              <a:ext uri="{FF2B5EF4-FFF2-40B4-BE49-F238E27FC236}">
                <a16:creationId xmlns:a16="http://schemas.microsoft.com/office/drawing/2014/main" id="{A7EE0C8B-29F1-4346-BEDD-A1257DB0CE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98783" y="3297557"/>
            <a:ext cx="361950" cy="358775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l"/>
            <a:endParaRPr lang="zh-CN" altLang="zh-CN" sz="1800" b="0">
              <a:solidFill>
                <a:schemeClr val="tx1"/>
              </a:solidFill>
              <a:latin typeface="Arial" charset="0"/>
              <a:ea typeface="宋体" pitchFamily="2" charset="-122"/>
            </a:endParaRPr>
          </a:p>
        </p:txBody>
      </p:sp>
      <p:sp>
        <p:nvSpPr>
          <p:cNvPr id="44" name="Rectangle 41">
            <a:extLst>
              <a:ext uri="{FF2B5EF4-FFF2-40B4-BE49-F238E27FC236}">
                <a16:creationId xmlns:a16="http://schemas.microsoft.com/office/drawing/2014/main" id="{8B910E8B-F10A-4E6E-B646-142FBA2BCC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19509" y="3297557"/>
            <a:ext cx="358775" cy="358775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l"/>
            <a:endParaRPr lang="zh-CN" altLang="zh-CN" sz="1800" b="0">
              <a:solidFill>
                <a:schemeClr val="tx1"/>
              </a:solidFill>
              <a:latin typeface="Arial" charset="0"/>
              <a:ea typeface="宋体" pitchFamily="2" charset="-122"/>
            </a:endParaRPr>
          </a:p>
        </p:txBody>
      </p:sp>
      <p:sp>
        <p:nvSpPr>
          <p:cNvPr id="45" name="Rectangle 42">
            <a:extLst>
              <a:ext uri="{FF2B5EF4-FFF2-40B4-BE49-F238E27FC236}">
                <a16:creationId xmlns:a16="http://schemas.microsoft.com/office/drawing/2014/main" id="{47632F84-F4F2-4029-8D50-4B86AE436A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4821" y="3645220"/>
            <a:ext cx="358775" cy="358775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l"/>
            <a:endParaRPr lang="zh-CN" altLang="zh-CN" sz="1800" b="0">
              <a:solidFill>
                <a:schemeClr val="tx1"/>
              </a:solidFill>
              <a:latin typeface="Arial" charset="0"/>
              <a:ea typeface="宋体" pitchFamily="2" charset="-122"/>
            </a:endParaRPr>
          </a:p>
        </p:txBody>
      </p:sp>
      <p:sp>
        <p:nvSpPr>
          <p:cNvPr id="46" name="Rectangle 43">
            <a:extLst>
              <a:ext uri="{FF2B5EF4-FFF2-40B4-BE49-F238E27FC236}">
                <a16:creationId xmlns:a16="http://schemas.microsoft.com/office/drawing/2014/main" id="{1853AE6E-4FE6-4AB2-88AD-DFC8F5D909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596" y="3650553"/>
            <a:ext cx="358775" cy="391542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l"/>
            <a:endParaRPr lang="zh-CN" altLang="zh-CN" sz="1800" b="0">
              <a:solidFill>
                <a:schemeClr val="tx1"/>
              </a:solidFill>
              <a:latin typeface="Arial" charset="0"/>
              <a:ea typeface="宋体" pitchFamily="2" charset="-122"/>
            </a:endParaRPr>
          </a:p>
        </p:txBody>
      </p:sp>
      <p:sp>
        <p:nvSpPr>
          <p:cNvPr id="47" name="Rectangle 44">
            <a:extLst>
              <a:ext uri="{FF2B5EF4-FFF2-40B4-BE49-F238E27FC236}">
                <a16:creationId xmlns:a16="http://schemas.microsoft.com/office/drawing/2014/main" id="{DB033DC1-5B45-45F0-B50A-114463C756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11258" y="3645220"/>
            <a:ext cx="361950" cy="358775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l"/>
            <a:endParaRPr lang="zh-CN" altLang="zh-CN" sz="1800" b="0">
              <a:solidFill>
                <a:schemeClr val="tx1"/>
              </a:solidFill>
              <a:latin typeface="Arial" charset="0"/>
              <a:ea typeface="宋体" pitchFamily="2" charset="-122"/>
            </a:endParaRPr>
          </a:p>
        </p:txBody>
      </p:sp>
      <p:sp>
        <p:nvSpPr>
          <p:cNvPr id="48" name="Rectangle 45">
            <a:extLst>
              <a:ext uri="{FF2B5EF4-FFF2-40B4-BE49-F238E27FC236}">
                <a16:creationId xmlns:a16="http://schemas.microsoft.com/office/drawing/2014/main" id="{4536A908-F9D0-4AEC-BAA1-042FAC0165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73209" y="3645220"/>
            <a:ext cx="358775" cy="358775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l"/>
            <a:endParaRPr lang="zh-CN" altLang="zh-CN" sz="1800" b="0">
              <a:solidFill>
                <a:schemeClr val="tx1"/>
              </a:solidFill>
              <a:latin typeface="Arial" charset="0"/>
              <a:ea typeface="宋体" pitchFamily="2" charset="-122"/>
            </a:endParaRPr>
          </a:p>
        </p:txBody>
      </p:sp>
      <p:sp>
        <p:nvSpPr>
          <p:cNvPr id="49" name="Rectangle 46">
            <a:extLst>
              <a:ext uri="{FF2B5EF4-FFF2-40B4-BE49-F238E27FC236}">
                <a16:creationId xmlns:a16="http://schemas.microsoft.com/office/drawing/2014/main" id="{0516D928-360E-472B-8CDB-E136884D10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31984" y="3645220"/>
            <a:ext cx="358775" cy="358775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l"/>
            <a:endParaRPr lang="zh-CN" altLang="zh-CN" sz="1800" b="0">
              <a:solidFill>
                <a:schemeClr val="tx1"/>
              </a:solidFill>
              <a:latin typeface="Arial" charset="0"/>
              <a:ea typeface="宋体" pitchFamily="2" charset="-122"/>
            </a:endParaRPr>
          </a:p>
        </p:txBody>
      </p:sp>
      <p:sp>
        <p:nvSpPr>
          <p:cNvPr id="50" name="Rectangle 47">
            <a:extLst>
              <a:ext uri="{FF2B5EF4-FFF2-40B4-BE49-F238E27FC236}">
                <a16:creationId xmlns:a16="http://schemas.microsoft.com/office/drawing/2014/main" id="{42980877-8446-4391-A6DF-3AB718FA98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79646" y="3645220"/>
            <a:ext cx="358775" cy="358775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l"/>
            <a:endParaRPr lang="zh-CN" altLang="zh-CN" sz="1800" b="0">
              <a:solidFill>
                <a:schemeClr val="tx1"/>
              </a:solidFill>
              <a:latin typeface="Arial" charset="0"/>
              <a:ea typeface="宋体" pitchFamily="2" charset="-122"/>
            </a:endParaRPr>
          </a:p>
        </p:txBody>
      </p:sp>
      <p:sp>
        <p:nvSpPr>
          <p:cNvPr id="51" name="Rectangle 48">
            <a:extLst>
              <a:ext uri="{FF2B5EF4-FFF2-40B4-BE49-F238E27FC236}">
                <a16:creationId xmlns:a16="http://schemas.microsoft.com/office/drawing/2014/main" id="{CA1B161F-7DFE-40EF-9247-1F90FCAF63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38421" y="3645220"/>
            <a:ext cx="358775" cy="358775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l"/>
            <a:endParaRPr lang="zh-CN" altLang="zh-CN" sz="1800" b="0">
              <a:solidFill>
                <a:schemeClr val="tx1"/>
              </a:solidFill>
              <a:latin typeface="Arial" charset="0"/>
              <a:ea typeface="宋体" pitchFamily="2" charset="-122"/>
            </a:endParaRPr>
          </a:p>
        </p:txBody>
      </p:sp>
      <p:sp>
        <p:nvSpPr>
          <p:cNvPr id="52" name="Rectangle 49">
            <a:extLst>
              <a:ext uri="{FF2B5EF4-FFF2-40B4-BE49-F238E27FC236}">
                <a16:creationId xmlns:a16="http://schemas.microsoft.com/office/drawing/2014/main" id="{93A8F290-81BA-4D1C-A6B8-F6EB3FB056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60734" y="3645220"/>
            <a:ext cx="358775" cy="358775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l"/>
            <a:endParaRPr lang="zh-CN" altLang="zh-CN" sz="1800" b="0">
              <a:solidFill>
                <a:schemeClr val="tx1"/>
              </a:solidFill>
              <a:latin typeface="Arial" charset="0"/>
              <a:ea typeface="宋体" pitchFamily="2" charset="-122"/>
            </a:endParaRPr>
          </a:p>
        </p:txBody>
      </p:sp>
      <p:sp>
        <p:nvSpPr>
          <p:cNvPr id="53" name="Rectangle 50">
            <a:extLst>
              <a:ext uri="{FF2B5EF4-FFF2-40B4-BE49-F238E27FC236}">
                <a16:creationId xmlns:a16="http://schemas.microsoft.com/office/drawing/2014/main" id="{4A46FC8C-B18D-4780-9FFE-B7AA2E0E7C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98783" y="3645220"/>
            <a:ext cx="361950" cy="358775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l"/>
            <a:endParaRPr lang="zh-CN" altLang="zh-CN" sz="1800" b="0">
              <a:solidFill>
                <a:schemeClr val="tx1"/>
              </a:solidFill>
              <a:latin typeface="Arial" charset="0"/>
              <a:ea typeface="宋体" pitchFamily="2" charset="-122"/>
            </a:endParaRPr>
          </a:p>
        </p:txBody>
      </p:sp>
      <p:sp>
        <p:nvSpPr>
          <p:cNvPr id="54" name="Rectangle 51">
            <a:extLst>
              <a:ext uri="{FF2B5EF4-FFF2-40B4-BE49-F238E27FC236}">
                <a16:creationId xmlns:a16="http://schemas.microsoft.com/office/drawing/2014/main" id="{8AAF88F8-E9A7-4336-89E0-7BDA608634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19509" y="3645220"/>
            <a:ext cx="358775" cy="358775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l"/>
            <a:endParaRPr lang="zh-CN" altLang="zh-CN" sz="1800" b="0">
              <a:solidFill>
                <a:schemeClr val="tx1"/>
              </a:solidFill>
              <a:latin typeface="Arial" charset="0"/>
              <a:ea typeface="宋体" pitchFamily="2" charset="-122"/>
            </a:endParaRPr>
          </a:p>
        </p:txBody>
      </p:sp>
      <p:sp>
        <p:nvSpPr>
          <p:cNvPr id="55" name="Rectangle 52">
            <a:extLst>
              <a:ext uri="{FF2B5EF4-FFF2-40B4-BE49-F238E27FC236}">
                <a16:creationId xmlns:a16="http://schemas.microsoft.com/office/drawing/2014/main" id="{45A8EC1D-CE15-413D-BFA3-F2BE826761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4821" y="4005582"/>
            <a:ext cx="358775" cy="358775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l"/>
            <a:endParaRPr lang="zh-CN" altLang="zh-CN" sz="1800" b="0">
              <a:solidFill>
                <a:schemeClr val="tx1"/>
              </a:solidFill>
              <a:latin typeface="Arial" charset="0"/>
              <a:ea typeface="宋体" pitchFamily="2" charset="-122"/>
            </a:endParaRPr>
          </a:p>
        </p:txBody>
      </p:sp>
      <p:sp>
        <p:nvSpPr>
          <p:cNvPr id="56" name="Rectangle 53">
            <a:extLst>
              <a:ext uri="{FF2B5EF4-FFF2-40B4-BE49-F238E27FC236}">
                <a16:creationId xmlns:a16="http://schemas.microsoft.com/office/drawing/2014/main" id="{241436A0-9654-4835-B9F2-879497C88F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596" y="4005582"/>
            <a:ext cx="358775" cy="358775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l"/>
            <a:endParaRPr lang="zh-CN" altLang="zh-CN" sz="1800" b="0">
              <a:solidFill>
                <a:schemeClr val="tx1"/>
              </a:solidFill>
              <a:latin typeface="Arial" charset="0"/>
              <a:ea typeface="宋体" pitchFamily="2" charset="-122"/>
            </a:endParaRPr>
          </a:p>
        </p:txBody>
      </p:sp>
      <p:sp>
        <p:nvSpPr>
          <p:cNvPr id="57" name="Rectangle 54">
            <a:extLst>
              <a:ext uri="{FF2B5EF4-FFF2-40B4-BE49-F238E27FC236}">
                <a16:creationId xmlns:a16="http://schemas.microsoft.com/office/drawing/2014/main" id="{B99DA857-ECF7-4C44-841C-C611DFED3D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11258" y="4005582"/>
            <a:ext cx="361950" cy="358775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l"/>
            <a:endParaRPr lang="zh-CN" altLang="zh-CN" sz="1800" b="0">
              <a:solidFill>
                <a:schemeClr val="tx1"/>
              </a:solidFill>
              <a:latin typeface="Arial" charset="0"/>
              <a:ea typeface="宋体" pitchFamily="2" charset="-122"/>
            </a:endParaRPr>
          </a:p>
        </p:txBody>
      </p:sp>
      <p:sp>
        <p:nvSpPr>
          <p:cNvPr id="58" name="Rectangle 55">
            <a:extLst>
              <a:ext uri="{FF2B5EF4-FFF2-40B4-BE49-F238E27FC236}">
                <a16:creationId xmlns:a16="http://schemas.microsoft.com/office/drawing/2014/main" id="{5B8D874F-2A04-4B9E-9E86-AA246C9D7B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73209" y="4005582"/>
            <a:ext cx="358775" cy="358775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l"/>
            <a:endParaRPr lang="zh-CN" altLang="zh-CN" sz="1800" b="0">
              <a:solidFill>
                <a:schemeClr val="tx1"/>
              </a:solidFill>
              <a:latin typeface="Arial" charset="0"/>
              <a:ea typeface="宋体" pitchFamily="2" charset="-122"/>
            </a:endParaRPr>
          </a:p>
        </p:txBody>
      </p:sp>
      <p:sp>
        <p:nvSpPr>
          <p:cNvPr id="59" name="Rectangle 56">
            <a:extLst>
              <a:ext uri="{FF2B5EF4-FFF2-40B4-BE49-F238E27FC236}">
                <a16:creationId xmlns:a16="http://schemas.microsoft.com/office/drawing/2014/main" id="{5D125905-12E1-41B3-AA00-4DCCFE0BDD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31984" y="4005582"/>
            <a:ext cx="358775" cy="358775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l"/>
            <a:endParaRPr lang="zh-CN" altLang="zh-CN" sz="1800" b="0">
              <a:solidFill>
                <a:schemeClr val="tx1"/>
              </a:solidFill>
              <a:latin typeface="Arial" charset="0"/>
              <a:ea typeface="宋体" pitchFamily="2" charset="-122"/>
            </a:endParaRPr>
          </a:p>
        </p:txBody>
      </p:sp>
      <p:sp>
        <p:nvSpPr>
          <p:cNvPr id="60" name="Rectangle 57">
            <a:extLst>
              <a:ext uri="{FF2B5EF4-FFF2-40B4-BE49-F238E27FC236}">
                <a16:creationId xmlns:a16="http://schemas.microsoft.com/office/drawing/2014/main" id="{467759E8-DE53-45AA-A591-E0F51658D7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79646" y="4005582"/>
            <a:ext cx="358775" cy="358775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l"/>
            <a:endParaRPr lang="zh-CN" altLang="zh-CN" sz="1800" b="0">
              <a:solidFill>
                <a:schemeClr val="tx1"/>
              </a:solidFill>
              <a:latin typeface="Arial" charset="0"/>
              <a:ea typeface="宋体" pitchFamily="2" charset="-122"/>
            </a:endParaRPr>
          </a:p>
        </p:txBody>
      </p:sp>
      <p:sp>
        <p:nvSpPr>
          <p:cNvPr id="61" name="Rectangle 58">
            <a:extLst>
              <a:ext uri="{FF2B5EF4-FFF2-40B4-BE49-F238E27FC236}">
                <a16:creationId xmlns:a16="http://schemas.microsoft.com/office/drawing/2014/main" id="{8F338A5F-FD2B-4E88-9F10-71898A231A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38421" y="4005582"/>
            <a:ext cx="358775" cy="358775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l"/>
            <a:endParaRPr lang="zh-CN" altLang="zh-CN" sz="1800" b="0">
              <a:solidFill>
                <a:schemeClr val="tx1"/>
              </a:solidFill>
              <a:latin typeface="Arial" charset="0"/>
              <a:ea typeface="宋体" pitchFamily="2" charset="-122"/>
            </a:endParaRPr>
          </a:p>
        </p:txBody>
      </p:sp>
      <p:sp>
        <p:nvSpPr>
          <p:cNvPr id="62" name="Rectangle 59">
            <a:extLst>
              <a:ext uri="{FF2B5EF4-FFF2-40B4-BE49-F238E27FC236}">
                <a16:creationId xmlns:a16="http://schemas.microsoft.com/office/drawing/2014/main" id="{97BC0271-A3F2-4172-A1C3-BD2BEA036C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60734" y="4005582"/>
            <a:ext cx="358775" cy="358775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l"/>
            <a:endParaRPr lang="zh-CN" altLang="zh-CN" sz="1800" b="0">
              <a:solidFill>
                <a:schemeClr val="tx1"/>
              </a:solidFill>
              <a:latin typeface="Arial" charset="0"/>
              <a:ea typeface="宋体" pitchFamily="2" charset="-122"/>
            </a:endParaRPr>
          </a:p>
        </p:txBody>
      </p:sp>
      <p:sp>
        <p:nvSpPr>
          <p:cNvPr id="63" name="Rectangle 60">
            <a:extLst>
              <a:ext uri="{FF2B5EF4-FFF2-40B4-BE49-F238E27FC236}">
                <a16:creationId xmlns:a16="http://schemas.microsoft.com/office/drawing/2014/main" id="{1627F73A-EF50-4F94-A72B-C33C2A5210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98783" y="4005582"/>
            <a:ext cx="361950" cy="358775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l"/>
            <a:endParaRPr lang="zh-CN" altLang="zh-CN" sz="1800" b="0">
              <a:solidFill>
                <a:schemeClr val="tx1"/>
              </a:solidFill>
              <a:latin typeface="Arial" charset="0"/>
              <a:ea typeface="宋体" pitchFamily="2" charset="-122"/>
            </a:endParaRPr>
          </a:p>
        </p:txBody>
      </p:sp>
      <p:sp>
        <p:nvSpPr>
          <p:cNvPr id="64" name="Rectangle 61">
            <a:extLst>
              <a:ext uri="{FF2B5EF4-FFF2-40B4-BE49-F238E27FC236}">
                <a16:creationId xmlns:a16="http://schemas.microsoft.com/office/drawing/2014/main" id="{5D9D3BF7-720C-4B60-8BC1-9FCF2F86D4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19509" y="4005582"/>
            <a:ext cx="358775" cy="358775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l"/>
            <a:endParaRPr lang="zh-CN" altLang="zh-CN" sz="1800" b="0">
              <a:solidFill>
                <a:schemeClr val="tx1"/>
              </a:solidFill>
              <a:latin typeface="Arial" charset="0"/>
              <a:ea typeface="宋体" pitchFamily="2" charset="-122"/>
            </a:endParaRPr>
          </a:p>
        </p:txBody>
      </p:sp>
      <p:sp>
        <p:nvSpPr>
          <p:cNvPr id="65" name="Rectangle 62">
            <a:extLst>
              <a:ext uri="{FF2B5EF4-FFF2-40B4-BE49-F238E27FC236}">
                <a16:creationId xmlns:a16="http://schemas.microsoft.com/office/drawing/2014/main" id="{F6F52A76-DD8F-4735-AE64-FED0D00A78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4821" y="4365945"/>
            <a:ext cx="358775" cy="358775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l"/>
            <a:endParaRPr lang="zh-CN" altLang="zh-CN" sz="1800" b="0">
              <a:solidFill>
                <a:schemeClr val="tx1"/>
              </a:solidFill>
              <a:latin typeface="Arial" charset="0"/>
              <a:ea typeface="宋体" pitchFamily="2" charset="-122"/>
            </a:endParaRPr>
          </a:p>
        </p:txBody>
      </p:sp>
      <p:sp>
        <p:nvSpPr>
          <p:cNvPr id="66" name="Rectangle 63">
            <a:extLst>
              <a:ext uri="{FF2B5EF4-FFF2-40B4-BE49-F238E27FC236}">
                <a16:creationId xmlns:a16="http://schemas.microsoft.com/office/drawing/2014/main" id="{B5F5C2E8-4FCD-4619-BEE7-E28B63F9C6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596" y="4365945"/>
            <a:ext cx="358775" cy="358775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l"/>
            <a:endParaRPr lang="zh-CN" altLang="zh-CN" sz="1800" b="0">
              <a:solidFill>
                <a:schemeClr val="tx1"/>
              </a:solidFill>
              <a:latin typeface="Arial" charset="0"/>
              <a:ea typeface="宋体" pitchFamily="2" charset="-122"/>
            </a:endParaRPr>
          </a:p>
        </p:txBody>
      </p:sp>
      <p:sp>
        <p:nvSpPr>
          <p:cNvPr id="67" name="Rectangle 64">
            <a:extLst>
              <a:ext uri="{FF2B5EF4-FFF2-40B4-BE49-F238E27FC236}">
                <a16:creationId xmlns:a16="http://schemas.microsoft.com/office/drawing/2014/main" id="{58131F7F-F685-407F-A2E2-C57E1FD254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11258" y="4365945"/>
            <a:ext cx="361950" cy="358775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l"/>
            <a:endParaRPr lang="zh-CN" altLang="zh-CN" sz="1800" b="0">
              <a:solidFill>
                <a:schemeClr val="tx1"/>
              </a:solidFill>
              <a:latin typeface="Arial" charset="0"/>
              <a:ea typeface="宋体" pitchFamily="2" charset="-122"/>
            </a:endParaRPr>
          </a:p>
        </p:txBody>
      </p:sp>
      <p:sp>
        <p:nvSpPr>
          <p:cNvPr id="68" name="Rectangle 65">
            <a:extLst>
              <a:ext uri="{FF2B5EF4-FFF2-40B4-BE49-F238E27FC236}">
                <a16:creationId xmlns:a16="http://schemas.microsoft.com/office/drawing/2014/main" id="{EEC61818-7082-45C5-9C7D-D6B6B54D32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73209" y="4365945"/>
            <a:ext cx="358775" cy="358775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l"/>
            <a:endParaRPr lang="zh-CN" altLang="zh-CN" sz="1800" b="0">
              <a:solidFill>
                <a:schemeClr val="tx1"/>
              </a:solidFill>
              <a:latin typeface="Arial" charset="0"/>
              <a:ea typeface="宋体" pitchFamily="2" charset="-122"/>
            </a:endParaRPr>
          </a:p>
        </p:txBody>
      </p:sp>
      <p:sp>
        <p:nvSpPr>
          <p:cNvPr id="69" name="Rectangle 66">
            <a:extLst>
              <a:ext uri="{FF2B5EF4-FFF2-40B4-BE49-F238E27FC236}">
                <a16:creationId xmlns:a16="http://schemas.microsoft.com/office/drawing/2014/main" id="{41734655-FEAF-4BDC-A66D-0D7DC87383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31984" y="4365945"/>
            <a:ext cx="358775" cy="358775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l"/>
            <a:endParaRPr lang="zh-CN" altLang="zh-CN" sz="1800" b="0">
              <a:solidFill>
                <a:schemeClr val="tx1"/>
              </a:solidFill>
              <a:latin typeface="Arial" charset="0"/>
              <a:ea typeface="宋体" pitchFamily="2" charset="-122"/>
            </a:endParaRPr>
          </a:p>
        </p:txBody>
      </p:sp>
      <p:sp>
        <p:nvSpPr>
          <p:cNvPr id="70" name="Rectangle 67">
            <a:extLst>
              <a:ext uri="{FF2B5EF4-FFF2-40B4-BE49-F238E27FC236}">
                <a16:creationId xmlns:a16="http://schemas.microsoft.com/office/drawing/2014/main" id="{CF6946D6-D589-4D58-AD24-DEA0FD18C9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79646" y="4365945"/>
            <a:ext cx="358775" cy="358775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l"/>
            <a:endParaRPr lang="zh-CN" altLang="zh-CN" sz="1800" b="0">
              <a:solidFill>
                <a:schemeClr val="tx1"/>
              </a:solidFill>
              <a:latin typeface="Arial" charset="0"/>
              <a:ea typeface="宋体" pitchFamily="2" charset="-122"/>
            </a:endParaRPr>
          </a:p>
        </p:txBody>
      </p:sp>
      <p:sp>
        <p:nvSpPr>
          <p:cNvPr id="71" name="Rectangle 68">
            <a:extLst>
              <a:ext uri="{FF2B5EF4-FFF2-40B4-BE49-F238E27FC236}">
                <a16:creationId xmlns:a16="http://schemas.microsoft.com/office/drawing/2014/main" id="{62F3CFD1-8C5B-4E64-8FFE-88C1FF1084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38421" y="4365945"/>
            <a:ext cx="358775" cy="358775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l"/>
            <a:endParaRPr lang="zh-CN" altLang="zh-CN" sz="1800" b="0">
              <a:solidFill>
                <a:schemeClr val="tx1"/>
              </a:solidFill>
              <a:latin typeface="Arial" charset="0"/>
              <a:ea typeface="宋体" pitchFamily="2" charset="-122"/>
            </a:endParaRPr>
          </a:p>
        </p:txBody>
      </p:sp>
      <p:sp>
        <p:nvSpPr>
          <p:cNvPr id="72" name="Rectangle 69">
            <a:extLst>
              <a:ext uri="{FF2B5EF4-FFF2-40B4-BE49-F238E27FC236}">
                <a16:creationId xmlns:a16="http://schemas.microsoft.com/office/drawing/2014/main" id="{591D2CF1-0A55-4CCE-BAC9-B75D784A0A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60734" y="4365945"/>
            <a:ext cx="358775" cy="358775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l"/>
            <a:endParaRPr lang="zh-CN" altLang="zh-CN" sz="1800" b="0">
              <a:solidFill>
                <a:schemeClr val="tx1"/>
              </a:solidFill>
              <a:latin typeface="Arial" charset="0"/>
              <a:ea typeface="宋体" pitchFamily="2" charset="-122"/>
            </a:endParaRPr>
          </a:p>
        </p:txBody>
      </p:sp>
      <p:sp>
        <p:nvSpPr>
          <p:cNvPr id="73" name="Rectangle 70">
            <a:extLst>
              <a:ext uri="{FF2B5EF4-FFF2-40B4-BE49-F238E27FC236}">
                <a16:creationId xmlns:a16="http://schemas.microsoft.com/office/drawing/2014/main" id="{10FB6719-9DB7-46A3-9E7E-122738F6D0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98783" y="4365945"/>
            <a:ext cx="361950" cy="358775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l"/>
            <a:endParaRPr lang="zh-CN" altLang="zh-CN" sz="1800" b="0">
              <a:solidFill>
                <a:schemeClr val="tx1"/>
              </a:solidFill>
              <a:latin typeface="Arial" charset="0"/>
              <a:ea typeface="宋体" pitchFamily="2" charset="-122"/>
            </a:endParaRPr>
          </a:p>
        </p:txBody>
      </p:sp>
      <p:sp>
        <p:nvSpPr>
          <p:cNvPr id="74" name="Rectangle 71">
            <a:extLst>
              <a:ext uri="{FF2B5EF4-FFF2-40B4-BE49-F238E27FC236}">
                <a16:creationId xmlns:a16="http://schemas.microsoft.com/office/drawing/2014/main" id="{6D06521F-F7D0-4207-8280-9152EA764F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19509" y="4365945"/>
            <a:ext cx="358775" cy="358775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l"/>
            <a:endParaRPr lang="zh-CN" altLang="zh-CN" sz="1800" b="0">
              <a:solidFill>
                <a:schemeClr val="tx1"/>
              </a:solidFill>
              <a:latin typeface="Arial" charset="0"/>
              <a:ea typeface="宋体" pitchFamily="2" charset="-122"/>
            </a:endParaRPr>
          </a:p>
        </p:txBody>
      </p:sp>
      <p:sp>
        <p:nvSpPr>
          <p:cNvPr id="75" name="Rectangle 72">
            <a:extLst>
              <a:ext uri="{FF2B5EF4-FFF2-40B4-BE49-F238E27FC236}">
                <a16:creationId xmlns:a16="http://schemas.microsoft.com/office/drawing/2014/main" id="{1395B6DC-6B5E-4C93-A1DD-E326C85C96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4821" y="4724720"/>
            <a:ext cx="358775" cy="358775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l"/>
            <a:endParaRPr lang="zh-CN" altLang="zh-CN" sz="1800" b="0">
              <a:solidFill>
                <a:schemeClr val="tx1"/>
              </a:solidFill>
              <a:latin typeface="Arial" charset="0"/>
              <a:ea typeface="宋体" pitchFamily="2" charset="-122"/>
            </a:endParaRPr>
          </a:p>
        </p:txBody>
      </p:sp>
      <p:sp>
        <p:nvSpPr>
          <p:cNvPr id="76" name="Rectangle 73">
            <a:extLst>
              <a:ext uri="{FF2B5EF4-FFF2-40B4-BE49-F238E27FC236}">
                <a16:creationId xmlns:a16="http://schemas.microsoft.com/office/drawing/2014/main" id="{95709AE7-531A-4672-82CE-99294BA4B9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596" y="4724720"/>
            <a:ext cx="358775" cy="358775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l"/>
            <a:endParaRPr lang="zh-CN" altLang="zh-CN" sz="1800" b="0">
              <a:solidFill>
                <a:schemeClr val="tx1"/>
              </a:solidFill>
              <a:latin typeface="Arial" charset="0"/>
              <a:ea typeface="宋体" pitchFamily="2" charset="-122"/>
            </a:endParaRPr>
          </a:p>
        </p:txBody>
      </p:sp>
      <p:sp>
        <p:nvSpPr>
          <p:cNvPr id="77" name="Rectangle 74">
            <a:extLst>
              <a:ext uri="{FF2B5EF4-FFF2-40B4-BE49-F238E27FC236}">
                <a16:creationId xmlns:a16="http://schemas.microsoft.com/office/drawing/2014/main" id="{3AA1A83A-5078-4FF5-BD33-EF09245D66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11258" y="4724720"/>
            <a:ext cx="361950" cy="358775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l"/>
            <a:endParaRPr lang="zh-CN" altLang="zh-CN" sz="1800" b="0">
              <a:solidFill>
                <a:schemeClr val="tx1"/>
              </a:solidFill>
              <a:latin typeface="Arial" charset="0"/>
              <a:ea typeface="宋体" pitchFamily="2" charset="-122"/>
            </a:endParaRPr>
          </a:p>
        </p:txBody>
      </p:sp>
      <p:sp>
        <p:nvSpPr>
          <p:cNvPr id="78" name="Rectangle 75">
            <a:extLst>
              <a:ext uri="{FF2B5EF4-FFF2-40B4-BE49-F238E27FC236}">
                <a16:creationId xmlns:a16="http://schemas.microsoft.com/office/drawing/2014/main" id="{60C4262A-94CF-402E-A651-AA02D38E89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73209" y="4724720"/>
            <a:ext cx="358775" cy="358775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l"/>
            <a:endParaRPr lang="zh-CN" altLang="zh-CN" sz="1800" b="0">
              <a:solidFill>
                <a:schemeClr val="tx1"/>
              </a:solidFill>
              <a:latin typeface="Arial" charset="0"/>
              <a:ea typeface="宋体" pitchFamily="2" charset="-122"/>
            </a:endParaRPr>
          </a:p>
        </p:txBody>
      </p:sp>
      <p:sp>
        <p:nvSpPr>
          <p:cNvPr id="79" name="Rectangle 76">
            <a:extLst>
              <a:ext uri="{FF2B5EF4-FFF2-40B4-BE49-F238E27FC236}">
                <a16:creationId xmlns:a16="http://schemas.microsoft.com/office/drawing/2014/main" id="{7407B799-30C7-44C3-999B-4F37E84545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31984" y="4724720"/>
            <a:ext cx="358775" cy="358775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l"/>
            <a:endParaRPr lang="zh-CN" altLang="zh-CN" sz="1800" b="0">
              <a:solidFill>
                <a:schemeClr val="tx1"/>
              </a:solidFill>
              <a:latin typeface="Arial" charset="0"/>
              <a:ea typeface="宋体" pitchFamily="2" charset="-122"/>
            </a:endParaRPr>
          </a:p>
        </p:txBody>
      </p:sp>
      <p:sp>
        <p:nvSpPr>
          <p:cNvPr id="80" name="Rectangle 77">
            <a:extLst>
              <a:ext uri="{FF2B5EF4-FFF2-40B4-BE49-F238E27FC236}">
                <a16:creationId xmlns:a16="http://schemas.microsoft.com/office/drawing/2014/main" id="{55597342-1170-4BCA-984C-0A50E21E5B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79646" y="4724720"/>
            <a:ext cx="358775" cy="358775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anchor="ctr"/>
          <a:lstStyle/>
          <a:p>
            <a:pPr algn="l"/>
            <a:endParaRPr lang="zh-CN" altLang="zh-CN" sz="1800" b="0">
              <a:solidFill>
                <a:schemeClr val="tx1"/>
              </a:solidFill>
              <a:latin typeface="Arial" charset="0"/>
              <a:ea typeface="宋体" pitchFamily="2" charset="-122"/>
            </a:endParaRPr>
          </a:p>
        </p:txBody>
      </p:sp>
      <p:sp>
        <p:nvSpPr>
          <p:cNvPr id="81" name="Rectangle 78">
            <a:extLst>
              <a:ext uri="{FF2B5EF4-FFF2-40B4-BE49-F238E27FC236}">
                <a16:creationId xmlns:a16="http://schemas.microsoft.com/office/drawing/2014/main" id="{D25B84C6-1BD8-4E44-A4DA-A9F7537094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38421" y="4724720"/>
            <a:ext cx="358775" cy="358775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l"/>
            <a:endParaRPr lang="zh-CN" altLang="zh-CN" sz="1800" b="0">
              <a:solidFill>
                <a:schemeClr val="tx1"/>
              </a:solidFill>
              <a:latin typeface="Arial" charset="0"/>
              <a:ea typeface="宋体" pitchFamily="2" charset="-122"/>
            </a:endParaRPr>
          </a:p>
        </p:txBody>
      </p:sp>
      <p:sp>
        <p:nvSpPr>
          <p:cNvPr id="82" name="Rectangle 79">
            <a:extLst>
              <a:ext uri="{FF2B5EF4-FFF2-40B4-BE49-F238E27FC236}">
                <a16:creationId xmlns:a16="http://schemas.microsoft.com/office/drawing/2014/main" id="{CC8921C3-8455-496D-AA2C-7A64ECEBFB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60734" y="4724720"/>
            <a:ext cx="358775" cy="358775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l"/>
            <a:endParaRPr lang="zh-CN" altLang="zh-CN" sz="1800" b="0">
              <a:solidFill>
                <a:schemeClr val="tx1"/>
              </a:solidFill>
              <a:latin typeface="Arial" charset="0"/>
              <a:ea typeface="宋体" pitchFamily="2" charset="-122"/>
            </a:endParaRPr>
          </a:p>
        </p:txBody>
      </p:sp>
      <p:sp>
        <p:nvSpPr>
          <p:cNvPr id="83" name="Rectangle 80">
            <a:extLst>
              <a:ext uri="{FF2B5EF4-FFF2-40B4-BE49-F238E27FC236}">
                <a16:creationId xmlns:a16="http://schemas.microsoft.com/office/drawing/2014/main" id="{CC3A85F2-CF82-44F5-9967-321CFE609C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98783" y="4724720"/>
            <a:ext cx="361950" cy="358775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l"/>
            <a:endParaRPr lang="zh-CN" altLang="zh-CN" sz="1800" b="0">
              <a:solidFill>
                <a:schemeClr val="tx1"/>
              </a:solidFill>
              <a:latin typeface="Arial" charset="0"/>
              <a:ea typeface="宋体" pitchFamily="2" charset="-122"/>
            </a:endParaRPr>
          </a:p>
        </p:txBody>
      </p:sp>
      <p:sp>
        <p:nvSpPr>
          <p:cNvPr id="84" name="Rectangle 81">
            <a:extLst>
              <a:ext uri="{FF2B5EF4-FFF2-40B4-BE49-F238E27FC236}">
                <a16:creationId xmlns:a16="http://schemas.microsoft.com/office/drawing/2014/main" id="{6942197B-FC9F-41A0-A4B5-68476959F9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19509" y="4724720"/>
            <a:ext cx="358775" cy="358775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l"/>
            <a:endParaRPr lang="zh-CN" altLang="zh-CN" sz="1800" b="0">
              <a:solidFill>
                <a:schemeClr val="tx1"/>
              </a:solidFill>
              <a:latin typeface="Arial" charset="0"/>
              <a:ea typeface="宋体" pitchFamily="2" charset="-122"/>
            </a:endParaRPr>
          </a:p>
        </p:txBody>
      </p:sp>
      <p:sp>
        <p:nvSpPr>
          <p:cNvPr id="85" name="Rectangle 82">
            <a:extLst>
              <a:ext uri="{FF2B5EF4-FFF2-40B4-BE49-F238E27FC236}">
                <a16:creationId xmlns:a16="http://schemas.microsoft.com/office/drawing/2014/main" id="{4654AB38-EF7B-41F5-9059-13E593E69C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4821" y="5085082"/>
            <a:ext cx="358775" cy="358775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l"/>
            <a:endParaRPr lang="zh-CN" altLang="zh-CN" sz="1800" b="0">
              <a:solidFill>
                <a:schemeClr val="tx1"/>
              </a:solidFill>
              <a:latin typeface="Arial" charset="0"/>
              <a:ea typeface="宋体" pitchFamily="2" charset="-122"/>
            </a:endParaRPr>
          </a:p>
        </p:txBody>
      </p:sp>
      <p:sp>
        <p:nvSpPr>
          <p:cNvPr id="86" name="Rectangle 83">
            <a:extLst>
              <a:ext uri="{FF2B5EF4-FFF2-40B4-BE49-F238E27FC236}">
                <a16:creationId xmlns:a16="http://schemas.microsoft.com/office/drawing/2014/main" id="{8BFD3FFA-8BDA-4F64-BFD3-48E77CC450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596" y="5085082"/>
            <a:ext cx="358775" cy="358775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l"/>
            <a:endParaRPr lang="zh-CN" altLang="zh-CN" sz="1800" b="0">
              <a:solidFill>
                <a:schemeClr val="tx1"/>
              </a:solidFill>
              <a:latin typeface="Arial" charset="0"/>
              <a:ea typeface="宋体" pitchFamily="2" charset="-122"/>
            </a:endParaRPr>
          </a:p>
        </p:txBody>
      </p:sp>
      <p:sp>
        <p:nvSpPr>
          <p:cNvPr id="87" name="Rectangle 84">
            <a:extLst>
              <a:ext uri="{FF2B5EF4-FFF2-40B4-BE49-F238E27FC236}">
                <a16:creationId xmlns:a16="http://schemas.microsoft.com/office/drawing/2014/main" id="{29BFEE9A-47F1-4DFA-9795-239FFB413C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11258" y="5085082"/>
            <a:ext cx="361950" cy="358775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l"/>
            <a:endParaRPr lang="zh-CN" altLang="zh-CN" sz="1800" b="0">
              <a:solidFill>
                <a:schemeClr val="tx1"/>
              </a:solidFill>
              <a:latin typeface="Arial" charset="0"/>
              <a:ea typeface="宋体" pitchFamily="2" charset="-122"/>
            </a:endParaRPr>
          </a:p>
        </p:txBody>
      </p:sp>
      <p:sp>
        <p:nvSpPr>
          <p:cNvPr id="88" name="Rectangle 85">
            <a:extLst>
              <a:ext uri="{FF2B5EF4-FFF2-40B4-BE49-F238E27FC236}">
                <a16:creationId xmlns:a16="http://schemas.microsoft.com/office/drawing/2014/main" id="{8230053C-A6D6-47A2-A298-1B51C6FEAA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73209" y="5085082"/>
            <a:ext cx="358775" cy="358775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l"/>
            <a:endParaRPr lang="zh-CN" altLang="zh-CN" sz="1800" b="0">
              <a:solidFill>
                <a:schemeClr val="tx1"/>
              </a:solidFill>
              <a:latin typeface="Arial" charset="0"/>
              <a:ea typeface="宋体" pitchFamily="2" charset="-122"/>
            </a:endParaRPr>
          </a:p>
        </p:txBody>
      </p:sp>
      <p:sp>
        <p:nvSpPr>
          <p:cNvPr id="89" name="Rectangle 86">
            <a:extLst>
              <a:ext uri="{FF2B5EF4-FFF2-40B4-BE49-F238E27FC236}">
                <a16:creationId xmlns:a16="http://schemas.microsoft.com/office/drawing/2014/main" id="{F605FC99-8F46-479A-8161-856BCF8E2B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31984" y="5085082"/>
            <a:ext cx="358775" cy="358775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l"/>
            <a:endParaRPr lang="zh-CN" altLang="zh-CN" sz="1800" b="0">
              <a:solidFill>
                <a:schemeClr val="tx1"/>
              </a:solidFill>
              <a:latin typeface="Arial" charset="0"/>
              <a:ea typeface="宋体" pitchFamily="2" charset="-122"/>
            </a:endParaRPr>
          </a:p>
        </p:txBody>
      </p:sp>
      <p:sp>
        <p:nvSpPr>
          <p:cNvPr id="90" name="Rectangle 87">
            <a:extLst>
              <a:ext uri="{FF2B5EF4-FFF2-40B4-BE49-F238E27FC236}">
                <a16:creationId xmlns:a16="http://schemas.microsoft.com/office/drawing/2014/main" id="{93C01453-05D3-4A72-B770-54795D0DBD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79646" y="5085082"/>
            <a:ext cx="358775" cy="358775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l"/>
            <a:endParaRPr lang="zh-CN" altLang="zh-CN" sz="1800" b="0">
              <a:solidFill>
                <a:schemeClr val="tx1"/>
              </a:solidFill>
              <a:latin typeface="Arial" charset="0"/>
              <a:ea typeface="宋体" pitchFamily="2" charset="-122"/>
            </a:endParaRPr>
          </a:p>
        </p:txBody>
      </p:sp>
      <p:sp>
        <p:nvSpPr>
          <p:cNvPr id="91" name="Rectangle 88">
            <a:extLst>
              <a:ext uri="{FF2B5EF4-FFF2-40B4-BE49-F238E27FC236}">
                <a16:creationId xmlns:a16="http://schemas.microsoft.com/office/drawing/2014/main" id="{47532E95-455F-46AF-BAB0-4DD9A72715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38421" y="5085082"/>
            <a:ext cx="358775" cy="358775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l"/>
            <a:endParaRPr lang="zh-CN" altLang="zh-CN" sz="1800" b="0">
              <a:solidFill>
                <a:schemeClr val="tx1"/>
              </a:solidFill>
              <a:latin typeface="Arial" charset="0"/>
              <a:ea typeface="宋体" pitchFamily="2" charset="-122"/>
            </a:endParaRPr>
          </a:p>
        </p:txBody>
      </p:sp>
      <p:sp>
        <p:nvSpPr>
          <p:cNvPr id="92" name="Rectangle 89">
            <a:extLst>
              <a:ext uri="{FF2B5EF4-FFF2-40B4-BE49-F238E27FC236}">
                <a16:creationId xmlns:a16="http://schemas.microsoft.com/office/drawing/2014/main" id="{69E68006-6AF8-4E2B-A50E-44127FC55A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60734" y="5085082"/>
            <a:ext cx="358775" cy="358775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l"/>
            <a:endParaRPr lang="zh-CN" altLang="zh-CN" sz="1800" b="0">
              <a:solidFill>
                <a:schemeClr val="tx1"/>
              </a:solidFill>
              <a:latin typeface="Arial" charset="0"/>
              <a:ea typeface="宋体" pitchFamily="2" charset="-122"/>
            </a:endParaRPr>
          </a:p>
        </p:txBody>
      </p:sp>
      <p:sp>
        <p:nvSpPr>
          <p:cNvPr id="93" name="Rectangle 90">
            <a:extLst>
              <a:ext uri="{FF2B5EF4-FFF2-40B4-BE49-F238E27FC236}">
                <a16:creationId xmlns:a16="http://schemas.microsoft.com/office/drawing/2014/main" id="{EAB37A11-4984-4D11-A319-61DF1F79CA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98783" y="5085082"/>
            <a:ext cx="361950" cy="358775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l"/>
            <a:endParaRPr lang="zh-CN" altLang="zh-CN" sz="1800" b="0">
              <a:solidFill>
                <a:schemeClr val="tx1"/>
              </a:solidFill>
              <a:latin typeface="Arial" charset="0"/>
              <a:ea typeface="宋体" pitchFamily="2" charset="-122"/>
            </a:endParaRPr>
          </a:p>
        </p:txBody>
      </p:sp>
      <p:sp>
        <p:nvSpPr>
          <p:cNvPr id="94" name="Rectangle 91">
            <a:extLst>
              <a:ext uri="{FF2B5EF4-FFF2-40B4-BE49-F238E27FC236}">
                <a16:creationId xmlns:a16="http://schemas.microsoft.com/office/drawing/2014/main" id="{6AC178BE-9B36-4EF7-894E-89666AFF77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19509" y="5085082"/>
            <a:ext cx="358775" cy="358775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l"/>
            <a:endParaRPr lang="zh-CN" altLang="zh-CN" sz="1800" b="0">
              <a:solidFill>
                <a:schemeClr val="tx1"/>
              </a:solidFill>
              <a:latin typeface="Arial" charset="0"/>
              <a:ea typeface="宋体" pitchFamily="2" charset="-122"/>
            </a:endParaRPr>
          </a:p>
        </p:txBody>
      </p:sp>
      <p:sp>
        <p:nvSpPr>
          <p:cNvPr id="95" name="Rectangle 92">
            <a:extLst>
              <a:ext uri="{FF2B5EF4-FFF2-40B4-BE49-F238E27FC236}">
                <a16:creationId xmlns:a16="http://schemas.microsoft.com/office/drawing/2014/main" id="{18A2190F-0B38-4C7B-887B-B437957D74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4821" y="5445445"/>
            <a:ext cx="358775" cy="358775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l"/>
            <a:endParaRPr lang="zh-CN" altLang="zh-CN" sz="1800" b="0">
              <a:solidFill>
                <a:schemeClr val="tx1"/>
              </a:solidFill>
              <a:latin typeface="Arial" charset="0"/>
              <a:ea typeface="宋体" pitchFamily="2" charset="-122"/>
            </a:endParaRPr>
          </a:p>
        </p:txBody>
      </p:sp>
      <p:sp>
        <p:nvSpPr>
          <p:cNvPr id="96" name="Rectangle 93">
            <a:extLst>
              <a:ext uri="{FF2B5EF4-FFF2-40B4-BE49-F238E27FC236}">
                <a16:creationId xmlns:a16="http://schemas.microsoft.com/office/drawing/2014/main" id="{E6B3DCB0-39A9-4077-8BB6-95CB1AEBF1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596" y="5445445"/>
            <a:ext cx="358775" cy="358775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l"/>
            <a:endParaRPr lang="zh-CN" altLang="zh-CN" sz="1800" b="0">
              <a:solidFill>
                <a:schemeClr val="tx1"/>
              </a:solidFill>
              <a:latin typeface="Arial" charset="0"/>
              <a:ea typeface="宋体" pitchFamily="2" charset="-122"/>
            </a:endParaRPr>
          </a:p>
        </p:txBody>
      </p:sp>
      <p:sp>
        <p:nvSpPr>
          <p:cNvPr id="97" name="Rectangle 94">
            <a:extLst>
              <a:ext uri="{FF2B5EF4-FFF2-40B4-BE49-F238E27FC236}">
                <a16:creationId xmlns:a16="http://schemas.microsoft.com/office/drawing/2014/main" id="{FDA1CE1D-D15C-41F5-967C-3A341C8288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11258" y="5445445"/>
            <a:ext cx="361950" cy="358775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l"/>
            <a:endParaRPr lang="zh-CN" altLang="zh-CN" sz="1800" b="0">
              <a:solidFill>
                <a:schemeClr val="tx1"/>
              </a:solidFill>
              <a:latin typeface="Arial" charset="0"/>
              <a:ea typeface="宋体" pitchFamily="2" charset="-122"/>
            </a:endParaRPr>
          </a:p>
        </p:txBody>
      </p:sp>
      <p:sp>
        <p:nvSpPr>
          <p:cNvPr id="98" name="Rectangle 95">
            <a:extLst>
              <a:ext uri="{FF2B5EF4-FFF2-40B4-BE49-F238E27FC236}">
                <a16:creationId xmlns:a16="http://schemas.microsoft.com/office/drawing/2014/main" id="{709A3E1F-E8E5-4611-91CB-49A793A4B4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73209" y="5445445"/>
            <a:ext cx="358775" cy="358775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l"/>
            <a:endParaRPr lang="zh-CN" altLang="zh-CN" sz="1800" b="0">
              <a:solidFill>
                <a:schemeClr val="tx1"/>
              </a:solidFill>
              <a:latin typeface="Arial" charset="0"/>
              <a:ea typeface="宋体" pitchFamily="2" charset="-122"/>
            </a:endParaRPr>
          </a:p>
        </p:txBody>
      </p:sp>
      <p:sp>
        <p:nvSpPr>
          <p:cNvPr id="99" name="Rectangle 96">
            <a:extLst>
              <a:ext uri="{FF2B5EF4-FFF2-40B4-BE49-F238E27FC236}">
                <a16:creationId xmlns:a16="http://schemas.microsoft.com/office/drawing/2014/main" id="{CB13C7D4-420E-4D82-B785-F9CA1202B2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31984" y="5445445"/>
            <a:ext cx="358775" cy="358775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l"/>
            <a:endParaRPr lang="zh-CN" altLang="zh-CN" sz="1800" b="0">
              <a:solidFill>
                <a:schemeClr val="tx1"/>
              </a:solidFill>
              <a:latin typeface="Arial" charset="0"/>
              <a:ea typeface="宋体" pitchFamily="2" charset="-122"/>
            </a:endParaRPr>
          </a:p>
        </p:txBody>
      </p:sp>
      <p:sp>
        <p:nvSpPr>
          <p:cNvPr id="100" name="Rectangle 97">
            <a:extLst>
              <a:ext uri="{FF2B5EF4-FFF2-40B4-BE49-F238E27FC236}">
                <a16:creationId xmlns:a16="http://schemas.microsoft.com/office/drawing/2014/main" id="{08FCDEA0-C68A-4C0F-908C-69E6E1B261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79646" y="5445445"/>
            <a:ext cx="358775" cy="358775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l"/>
            <a:endParaRPr lang="zh-CN" altLang="zh-CN" sz="1800" b="0">
              <a:solidFill>
                <a:schemeClr val="tx1"/>
              </a:solidFill>
              <a:latin typeface="Arial" charset="0"/>
              <a:ea typeface="宋体" pitchFamily="2" charset="-122"/>
            </a:endParaRPr>
          </a:p>
        </p:txBody>
      </p:sp>
      <p:sp>
        <p:nvSpPr>
          <p:cNvPr id="101" name="Rectangle 98">
            <a:extLst>
              <a:ext uri="{FF2B5EF4-FFF2-40B4-BE49-F238E27FC236}">
                <a16:creationId xmlns:a16="http://schemas.microsoft.com/office/drawing/2014/main" id="{061EE452-1104-43D2-8DAC-D82FE3BBA9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38421" y="5445445"/>
            <a:ext cx="358775" cy="358775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l"/>
            <a:endParaRPr lang="zh-CN" altLang="zh-CN" sz="1800" b="0">
              <a:solidFill>
                <a:schemeClr val="tx1"/>
              </a:solidFill>
              <a:latin typeface="Arial" charset="0"/>
              <a:ea typeface="宋体" pitchFamily="2" charset="-122"/>
            </a:endParaRPr>
          </a:p>
        </p:txBody>
      </p:sp>
      <p:sp>
        <p:nvSpPr>
          <p:cNvPr id="102" name="Rectangle 99">
            <a:extLst>
              <a:ext uri="{FF2B5EF4-FFF2-40B4-BE49-F238E27FC236}">
                <a16:creationId xmlns:a16="http://schemas.microsoft.com/office/drawing/2014/main" id="{6168DA2A-C7CB-4027-87BD-B2F6D43BF7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60734" y="5445445"/>
            <a:ext cx="358775" cy="358775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l"/>
            <a:endParaRPr lang="zh-CN" altLang="zh-CN" sz="1800" b="0">
              <a:solidFill>
                <a:schemeClr val="tx1"/>
              </a:solidFill>
              <a:latin typeface="Arial" charset="0"/>
              <a:ea typeface="宋体" pitchFamily="2" charset="-122"/>
            </a:endParaRPr>
          </a:p>
        </p:txBody>
      </p:sp>
      <p:sp>
        <p:nvSpPr>
          <p:cNvPr id="103" name="Rectangle 100">
            <a:extLst>
              <a:ext uri="{FF2B5EF4-FFF2-40B4-BE49-F238E27FC236}">
                <a16:creationId xmlns:a16="http://schemas.microsoft.com/office/drawing/2014/main" id="{C799F6B8-5D7F-4188-B5EC-BA03F5C930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98783" y="5445445"/>
            <a:ext cx="361950" cy="358775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l"/>
            <a:endParaRPr lang="zh-CN" altLang="zh-CN" sz="1800" b="0">
              <a:solidFill>
                <a:schemeClr val="tx1"/>
              </a:solidFill>
              <a:latin typeface="Arial" charset="0"/>
              <a:ea typeface="宋体" pitchFamily="2" charset="-122"/>
            </a:endParaRPr>
          </a:p>
        </p:txBody>
      </p:sp>
      <p:sp>
        <p:nvSpPr>
          <p:cNvPr id="104" name="Rectangle 101">
            <a:extLst>
              <a:ext uri="{FF2B5EF4-FFF2-40B4-BE49-F238E27FC236}">
                <a16:creationId xmlns:a16="http://schemas.microsoft.com/office/drawing/2014/main" id="{D858FE79-B963-448F-91A3-0039FEE176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19509" y="5445445"/>
            <a:ext cx="358775" cy="358775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l"/>
            <a:endParaRPr lang="zh-CN" altLang="zh-CN" sz="1800" b="0">
              <a:solidFill>
                <a:schemeClr val="tx1"/>
              </a:solidFill>
              <a:latin typeface="Arial" charset="0"/>
              <a:ea typeface="宋体" pitchFamily="2" charset="-122"/>
            </a:endParaRPr>
          </a:p>
        </p:txBody>
      </p:sp>
      <p:sp>
        <p:nvSpPr>
          <p:cNvPr id="105" name="Text Box 103">
            <a:extLst>
              <a:ext uri="{FF2B5EF4-FFF2-40B4-BE49-F238E27FC236}">
                <a16:creationId xmlns:a16="http://schemas.microsoft.com/office/drawing/2014/main" id="{489F5D5D-9737-4376-9C45-C0070364F2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5505" y="1835532"/>
            <a:ext cx="3730508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/>
            <a:r>
              <a:rPr lang="en-US" altLang="zh-CN" sz="1800" dirty="0">
                <a:solidFill>
                  <a:srgbClr val="00B0F0"/>
                </a:solidFill>
                <a:latin typeface="Consolas" pitchFamily="49" charset="0"/>
                <a:ea typeface="宋体" pitchFamily="2" charset="-122"/>
                <a:cs typeface="Consolas" pitchFamily="49" charset="0"/>
              </a:rPr>
              <a:t>0  1  2  3  4  5  6  7  8  9</a:t>
            </a:r>
          </a:p>
        </p:txBody>
      </p:sp>
      <p:sp>
        <p:nvSpPr>
          <p:cNvPr id="106" name="Text Box 104">
            <a:extLst>
              <a:ext uri="{FF2B5EF4-FFF2-40B4-BE49-F238E27FC236}">
                <a16:creationId xmlns:a16="http://schemas.microsoft.com/office/drawing/2014/main" id="{73974E99-8623-4F96-8D54-CEB9456B74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9175" y="2213322"/>
            <a:ext cx="433388" cy="3663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>
              <a:lnSpc>
                <a:spcPct val="130000"/>
              </a:lnSpc>
            </a:pPr>
            <a:r>
              <a:rPr lang="en-US" altLang="zh-CN" sz="1800" dirty="0">
                <a:solidFill>
                  <a:srgbClr val="00B0F0"/>
                </a:solidFill>
                <a:latin typeface="Consolas" pitchFamily="49" charset="0"/>
                <a:ea typeface="宋体" pitchFamily="2" charset="-122"/>
                <a:cs typeface="Consolas" pitchFamily="49" charset="0"/>
              </a:rPr>
              <a:t>0   1    2    3    4   5    6    7   8    9</a:t>
            </a:r>
          </a:p>
        </p:txBody>
      </p:sp>
      <p:grpSp>
        <p:nvGrpSpPr>
          <p:cNvPr id="107" name="组合 114">
            <a:extLst>
              <a:ext uri="{FF2B5EF4-FFF2-40B4-BE49-F238E27FC236}">
                <a16:creationId xmlns:a16="http://schemas.microsoft.com/office/drawing/2014/main" id="{D6EF3CEE-0647-41D2-99BF-943BB07A5FA8}"/>
              </a:ext>
            </a:extLst>
          </p:cNvPr>
          <p:cNvGrpSpPr/>
          <p:nvPr/>
        </p:nvGrpSpPr>
        <p:grpSpPr>
          <a:xfrm>
            <a:off x="5792986" y="2708922"/>
            <a:ext cx="2087418" cy="3841052"/>
            <a:chOff x="5464181" y="1269867"/>
            <a:chExt cx="2087418" cy="3841052"/>
          </a:xfrm>
        </p:grpSpPr>
        <p:sp>
          <p:nvSpPr>
            <p:cNvPr id="108" name="矩形 107">
              <a:extLst>
                <a:ext uri="{FF2B5EF4-FFF2-40B4-BE49-F238E27FC236}">
                  <a16:creationId xmlns:a16="http://schemas.microsoft.com/office/drawing/2014/main" id="{A30DA3D2-0DA6-4752-828C-637B3A2ABAB7}"/>
                </a:ext>
              </a:extLst>
            </p:cNvPr>
            <p:cNvSpPr/>
            <p:nvPr/>
          </p:nvSpPr>
          <p:spPr bwMode="auto">
            <a:xfrm>
              <a:off x="5464181" y="1269867"/>
              <a:ext cx="2087418" cy="2160238"/>
            </a:xfrm>
            <a:prstGeom prst="rect">
              <a:avLst/>
            </a:prstGeom>
            <a:noFill/>
            <a:ln w="25400">
              <a:solidFill>
                <a:srgbClr val="F39801"/>
              </a:solidFill>
              <a:miter lim="800000"/>
              <a:headEnd/>
              <a:tailEnd type="triangle" w="med" len="med"/>
            </a:ln>
            <a:effectLst/>
          </p:spPr>
          <p:txBody>
            <a:bodyPr wrap="none"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09" name="直接连接符 108">
              <a:extLst>
                <a:ext uri="{FF2B5EF4-FFF2-40B4-BE49-F238E27FC236}">
                  <a16:creationId xmlns:a16="http://schemas.microsoft.com/office/drawing/2014/main" id="{4D926E81-FFD3-4061-80C2-486007AF4B79}"/>
                </a:ext>
              </a:extLst>
            </p:cNvPr>
            <p:cNvCxnSpPr>
              <a:cxnSpLocks/>
              <a:stCxn id="108" idx="2"/>
              <a:endCxn id="110" idx="0"/>
            </p:cNvCxnSpPr>
            <p:nvPr/>
          </p:nvCxnSpPr>
          <p:spPr>
            <a:xfrm flipH="1">
              <a:off x="6369062" y="3430105"/>
              <a:ext cx="138828" cy="1219149"/>
            </a:xfrm>
            <a:prstGeom prst="line">
              <a:avLst/>
            </a:prstGeom>
            <a:ln w="22225">
              <a:solidFill>
                <a:srgbClr val="F3980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0" name="TextBox 113">
              <a:extLst>
                <a:ext uri="{FF2B5EF4-FFF2-40B4-BE49-F238E27FC236}">
                  <a16:creationId xmlns:a16="http://schemas.microsoft.com/office/drawing/2014/main" id="{75A5CAA8-71A6-4648-B10D-9A672136EB28}"/>
                </a:ext>
              </a:extLst>
            </p:cNvPr>
            <p:cNvSpPr txBox="1"/>
            <p:nvPr/>
          </p:nvSpPr>
          <p:spPr>
            <a:xfrm>
              <a:off x="5940434" y="4649254"/>
              <a:ext cx="857256" cy="461665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i="1" dirty="0" err="1">
                  <a:solidFill>
                    <a:schemeClr val="tx1"/>
                  </a:solidFill>
                  <a:latin typeface="Consolas" pitchFamily="49" charset="0"/>
                  <a:ea typeface="楷体" pitchFamily="49" charset="-122"/>
                  <a:cs typeface="Consolas" pitchFamily="49" charset="0"/>
                </a:rPr>
                <a:t>M</a:t>
              </a:r>
              <a:r>
                <a:rPr lang="en-US" dirty="0" err="1">
                  <a:solidFill>
                    <a:schemeClr val="tx1"/>
                  </a:solidFill>
                  <a:latin typeface="Consolas" pitchFamily="49" charset="0"/>
                  <a:ea typeface="楷体" pitchFamily="49" charset="-122"/>
                  <a:cs typeface="Consolas" pitchFamily="49" charset="0"/>
                </a:rPr>
                <a:t>×</a:t>
              </a:r>
              <a:r>
                <a:rPr lang="en-US" i="1" dirty="0" err="1">
                  <a:solidFill>
                    <a:schemeClr val="tx1"/>
                  </a:solidFill>
                  <a:latin typeface="Consolas" pitchFamily="49" charset="0"/>
                  <a:ea typeface="楷体" pitchFamily="49" charset="-122"/>
                  <a:cs typeface="Consolas" pitchFamily="49" charset="0"/>
                </a:rPr>
                <a:t>N</a:t>
              </a:r>
              <a:endParaRPr lang="zh-CN" altLang="en-US" i="1" dirty="0">
                <a:solidFill>
                  <a:schemeClr val="tx1"/>
                </a:solidFill>
                <a:latin typeface="Consolas" pitchFamily="49" charset="0"/>
                <a:cs typeface="Consolas" pitchFamily="49" charset="0"/>
              </a:endParaRPr>
            </a:p>
          </p:txBody>
        </p:sp>
      </p:grpSp>
      <p:sp>
        <p:nvSpPr>
          <p:cNvPr id="111" name="上弧形箭头 115">
            <a:extLst>
              <a:ext uri="{FF2B5EF4-FFF2-40B4-BE49-F238E27FC236}">
                <a16:creationId xmlns:a16="http://schemas.microsoft.com/office/drawing/2014/main" id="{155889CF-42E8-4952-BECE-C413EA4C6AC8}"/>
              </a:ext>
            </a:extLst>
          </p:cNvPr>
          <p:cNvSpPr/>
          <p:nvPr/>
        </p:nvSpPr>
        <p:spPr bwMode="auto">
          <a:xfrm>
            <a:off x="3163819" y="1068101"/>
            <a:ext cx="2500330" cy="720000"/>
          </a:xfrm>
          <a:prstGeom prst="curvedDownArrow">
            <a:avLst>
              <a:gd name="adj1" fmla="val 25000"/>
              <a:gd name="adj2" fmla="val 50000"/>
              <a:gd name="adj3" fmla="val 25000"/>
            </a:avLst>
          </a:prstGeom>
          <a:gradFill>
            <a:gsLst>
              <a:gs pos="0">
                <a:srgbClr val="CE3B37"/>
              </a:gs>
              <a:gs pos="100000">
                <a:srgbClr val="FFE985"/>
              </a:gs>
            </a:gsLst>
          </a:gradFill>
          <a:ln>
            <a:headEnd/>
            <a:tailEnd type="triangle" w="med" len="med"/>
          </a:ln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90531463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60" name="Rectangle 5"/>
          <p:cNvSpPr>
            <a:spLocks noChangeArrowheads="1"/>
          </p:cNvSpPr>
          <p:nvPr/>
        </p:nvSpPr>
        <p:spPr bwMode="auto">
          <a:xfrm>
            <a:off x="900430" y="208280"/>
            <a:ext cx="4756150" cy="5162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Times New Roman"/>
                <a:ea typeface="Microsoft YaHei"/>
                <a:cs typeface="+mn-ea"/>
                <a:sym typeface="+mn-lt"/>
              </a:rPr>
              <a:t>案例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Times New Roman"/>
                <a:ea typeface="Microsoft YaHei"/>
                <a:cs typeface="+mn-ea"/>
                <a:sym typeface="+mn-lt"/>
              </a:rPr>
              <a:t>4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Times New Roman"/>
                <a:ea typeface="Microsoft YaHei"/>
                <a:cs typeface="+mn-ea"/>
                <a:sym typeface="+mn-lt"/>
              </a:rPr>
              <a:t>：迷宫求解</a:t>
            </a:r>
          </a:p>
        </p:txBody>
      </p:sp>
      <p:sp>
        <p:nvSpPr>
          <p:cNvPr id="751619" name="文本占位符 751618"/>
          <p:cNvSpPr>
            <a:spLocks noGrp="1"/>
          </p:cNvSpPr>
          <p:nvPr>
            <p:ph type="body" idx="1"/>
          </p:nvPr>
        </p:nvSpPr>
        <p:spPr>
          <a:xfrm>
            <a:off x="3851932" y="1293812"/>
            <a:ext cx="5292068" cy="4270375"/>
          </a:xfrm>
        </p:spPr>
        <p:txBody>
          <a:bodyPr/>
          <a:lstStyle/>
          <a:p>
            <a:pPr>
              <a:buNone/>
            </a:pPr>
            <a:r>
              <a:rPr lang="en-US" altLang="zh-CN" sz="2400" dirty="0"/>
              <a:t>typedef struct {     </a:t>
            </a:r>
          </a:p>
          <a:p>
            <a:pPr>
              <a:buNone/>
            </a:pPr>
            <a:r>
              <a:rPr lang="en-US" altLang="zh-CN" sz="2400" dirty="0"/>
              <a:t>    int a, b;   </a:t>
            </a:r>
            <a:r>
              <a:rPr lang="en-US" altLang="zh-CN" sz="2400" dirty="0">
                <a:solidFill>
                  <a:srgbClr val="00B050"/>
                </a:solidFill>
              </a:rPr>
              <a:t>// a</a:t>
            </a:r>
            <a:r>
              <a:rPr lang="zh-CN" altLang="en-US" sz="2400" dirty="0">
                <a:solidFill>
                  <a:srgbClr val="00B050"/>
                </a:solidFill>
              </a:rPr>
              <a:t>、</a:t>
            </a:r>
            <a:r>
              <a:rPr lang="en-US" altLang="zh-CN" sz="2400" dirty="0">
                <a:solidFill>
                  <a:srgbClr val="00B050"/>
                </a:solidFill>
              </a:rPr>
              <a:t>b</a:t>
            </a:r>
            <a:r>
              <a:rPr lang="zh-CN" altLang="en-US" sz="2400" dirty="0">
                <a:solidFill>
                  <a:srgbClr val="00B050"/>
                </a:solidFill>
              </a:rPr>
              <a:t>是横纵方向的偏移量</a:t>
            </a:r>
            <a:endParaRPr lang="en-US" altLang="zh-CN" sz="2400" dirty="0">
              <a:solidFill>
                <a:srgbClr val="00B050"/>
              </a:solidFill>
            </a:endParaRPr>
          </a:p>
          <a:p>
            <a:pPr>
              <a:buNone/>
            </a:pPr>
            <a:r>
              <a:rPr lang="en-US" altLang="zh-CN" sz="2400" dirty="0"/>
              <a:t>    char </a:t>
            </a:r>
            <a:r>
              <a:rPr lang="en-US" altLang="zh-CN" sz="2400" dirty="0" err="1"/>
              <a:t>dir</a:t>
            </a:r>
            <a:r>
              <a:rPr lang="en-US" altLang="zh-CN" sz="2400" dirty="0"/>
              <a:t>;  </a:t>
            </a:r>
            <a:r>
              <a:rPr lang="en-US" altLang="zh-CN" sz="2400" dirty="0">
                <a:solidFill>
                  <a:srgbClr val="00B050"/>
                </a:solidFill>
              </a:rPr>
              <a:t>// </a:t>
            </a:r>
            <a:r>
              <a:rPr lang="zh-CN" altLang="en-US" sz="2400" dirty="0">
                <a:solidFill>
                  <a:srgbClr val="00B050"/>
                </a:solidFill>
              </a:rPr>
              <a:t>移动方向</a:t>
            </a:r>
            <a:endParaRPr lang="en-US" altLang="zh-CN" sz="2400" dirty="0">
              <a:solidFill>
                <a:srgbClr val="00B050"/>
              </a:solidFill>
            </a:endParaRPr>
          </a:p>
          <a:p>
            <a:pPr>
              <a:buNone/>
            </a:pPr>
            <a:r>
              <a:rPr lang="en-US" altLang="zh-CN" sz="2400" dirty="0"/>
              <a:t>} offsets;</a:t>
            </a:r>
          </a:p>
          <a:p>
            <a:pPr>
              <a:buNone/>
            </a:pPr>
            <a:endParaRPr lang="en-US" altLang="zh-CN" sz="2400" dirty="0"/>
          </a:p>
          <a:p>
            <a:pPr>
              <a:buNone/>
            </a:pPr>
            <a:r>
              <a:rPr lang="en-US" altLang="zh-CN" sz="2400" dirty="0"/>
              <a:t>offsets move[4] = {{-1,0,’N’}, {0,1,’E’}, {1,0,’S’}, {0,-1,’W’}};</a:t>
            </a:r>
          </a:p>
        </p:txBody>
      </p:sp>
      <p:sp>
        <p:nvSpPr>
          <p:cNvPr id="13" name="Rectangle 36">
            <a:extLst>
              <a:ext uri="{FF2B5EF4-FFF2-40B4-BE49-F238E27FC236}">
                <a16:creationId xmlns:a16="http://schemas.microsoft.com/office/drawing/2014/main" id="{66896743-3F86-411C-81DA-45D8B119C6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51170" y="3166688"/>
            <a:ext cx="720000" cy="540000"/>
          </a:xfrm>
          <a:prstGeom prst="rect">
            <a:avLst/>
          </a:prstGeom>
          <a:gradFill rotWithShape="1">
            <a:gsLst>
              <a:gs pos="0">
                <a:srgbClr val="4BACC6">
                  <a:tint val="50000"/>
                  <a:satMod val="300000"/>
                </a:srgbClr>
              </a:gs>
              <a:gs pos="35000">
                <a:srgbClr val="4BACC6">
                  <a:tint val="37000"/>
                  <a:satMod val="300000"/>
                </a:srgbClr>
              </a:gs>
              <a:gs pos="100000">
                <a:srgbClr val="4BACC6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4BACC6">
                <a:shade val="95000"/>
                <a:satMod val="105000"/>
              </a:srgbClr>
            </a:solidFill>
            <a:prstDash val="solid"/>
            <a:headEnd/>
            <a:tailEnd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8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000" b="0" i="1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ea typeface="+mn-ea"/>
                <a:cs typeface="Consolas" pitchFamily="49" charset="0"/>
              </a:rPr>
              <a:t>i</a:t>
            </a:r>
            <a:r>
              <a:rPr kumimoji="1" lang="zh-CN" altLang="en-US" sz="20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ea typeface="+mn-ea"/>
                <a:cs typeface="Consolas" pitchFamily="49" charset="0"/>
              </a:rPr>
              <a:t>，</a:t>
            </a:r>
            <a:r>
              <a:rPr kumimoji="1" lang="en-US" altLang="zh-CN" sz="2000" b="0" i="1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ea typeface="+mn-ea"/>
                <a:cs typeface="Consolas" pitchFamily="49" charset="0"/>
              </a:rPr>
              <a:t>j</a:t>
            </a:r>
            <a:endParaRPr kumimoji="1" lang="en-US" altLang="zh-CN" sz="2000" b="0" i="1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  <a:ea typeface="+mn-ea"/>
              <a:cs typeface="Consolas" pitchFamily="49" charset="0"/>
            </a:endParaRPr>
          </a:p>
        </p:txBody>
      </p: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C72B1373-F0C1-44E2-A979-7AD84545D448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1804820" y="2492896"/>
            <a:ext cx="6350" cy="666105"/>
          </a:xfrm>
          <a:prstGeom prst="straightConnector1">
            <a:avLst/>
          </a:prstGeom>
          <a:noFill/>
          <a:ln w="38100" cap="flat" cmpd="sng" algn="ctr">
            <a:solidFill>
              <a:srgbClr val="4BACC6"/>
            </a:solidFill>
            <a:prstDash val="solid"/>
            <a:headEnd/>
            <a:tailEnd type="triangle" w="lg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D2D4DA1A-82EA-4882-A6EF-B17C7B28CDFF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2189711" y="3438730"/>
            <a:ext cx="724529" cy="7938"/>
          </a:xfrm>
          <a:prstGeom prst="straightConnector1">
            <a:avLst/>
          </a:prstGeom>
          <a:noFill/>
          <a:ln w="38100" cap="flat" cmpd="sng" algn="ctr">
            <a:solidFill>
              <a:srgbClr val="4BACC6"/>
            </a:solidFill>
            <a:prstDash val="solid"/>
            <a:headEnd/>
            <a:tailEnd type="triangle" w="lg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A36549DA-8BF4-4120-A625-67147DAEEB3E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804820" y="3706708"/>
            <a:ext cx="0" cy="658396"/>
          </a:xfrm>
          <a:prstGeom prst="straightConnector1">
            <a:avLst/>
          </a:prstGeom>
          <a:noFill/>
          <a:ln w="38100" cap="flat" cmpd="sng" algn="ctr">
            <a:solidFill>
              <a:srgbClr val="4BACC6"/>
            </a:solidFill>
            <a:prstDash val="solid"/>
            <a:headEnd/>
            <a:tailEnd type="triangle" w="lg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F927BA48-9EA3-4B27-8EA9-5F81831272DA}"/>
              </a:ext>
            </a:extLst>
          </p:cNvPr>
          <p:cNvCxnSpPr>
            <a:cxnSpLocks noChangeShapeType="1"/>
            <a:stCxn id="13" idx="1"/>
            <a:endCxn id="20" idx="3"/>
          </p:cNvCxnSpPr>
          <p:nvPr/>
        </p:nvCxnSpPr>
        <p:spPr bwMode="auto">
          <a:xfrm flipH="1" flipV="1">
            <a:off x="773000" y="3429000"/>
            <a:ext cx="678170" cy="7688"/>
          </a:xfrm>
          <a:prstGeom prst="straightConnector1">
            <a:avLst/>
          </a:prstGeom>
          <a:noFill/>
          <a:ln w="38100" cap="flat" cmpd="sng" algn="ctr">
            <a:solidFill>
              <a:srgbClr val="4BACC6"/>
            </a:solidFill>
            <a:prstDash val="solid"/>
            <a:headEnd/>
            <a:tailEnd type="triangle" w="lg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sp>
        <p:nvSpPr>
          <p:cNvPr id="18" name="Rectangle 36">
            <a:extLst>
              <a:ext uri="{FF2B5EF4-FFF2-40B4-BE49-F238E27FC236}">
                <a16:creationId xmlns:a16="http://schemas.microsoft.com/office/drawing/2014/main" id="{EC9D2945-2484-4545-AC81-DC5675733C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51170" y="1918403"/>
            <a:ext cx="720000" cy="540000"/>
          </a:xfrm>
          <a:prstGeom prst="rect">
            <a:avLst/>
          </a:prstGeom>
          <a:gradFill rotWithShape="1">
            <a:gsLst>
              <a:gs pos="0">
                <a:srgbClr val="C0504D">
                  <a:tint val="50000"/>
                  <a:satMod val="300000"/>
                </a:srgbClr>
              </a:gs>
              <a:gs pos="35000">
                <a:srgbClr val="C0504D">
                  <a:tint val="37000"/>
                  <a:satMod val="300000"/>
                </a:srgbClr>
              </a:gs>
              <a:gs pos="100000">
                <a:srgbClr val="C0504D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C0504D">
                <a:shade val="95000"/>
                <a:satMod val="105000"/>
              </a:srgbClr>
            </a:solidFill>
            <a:prstDash val="solid"/>
            <a:headEnd/>
            <a:tailEnd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8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ea typeface="+mn-ea"/>
                <a:cs typeface="Consolas" pitchFamily="49" charset="0"/>
              </a:rPr>
              <a:t>-1</a:t>
            </a:r>
            <a:r>
              <a:rPr kumimoji="1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ea typeface="+mn-ea"/>
                <a:cs typeface="Consolas" pitchFamily="49" charset="0"/>
              </a:rPr>
              <a:t>，</a:t>
            </a:r>
            <a:r>
              <a:rPr kumimoji="1" lang="en-US" altLang="zh-CN" sz="2000" b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ea typeface="+mn-ea"/>
                <a:cs typeface="Consolas" pitchFamily="49" charset="0"/>
              </a:rPr>
              <a:t>0</a:t>
            </a:r>
          </a:p>
        </p:txBody>
      </p:sp>
      <p:sp>
        <p:nvSpPr>
          <p:cNvPr id="19" name="Rectangle 36">
            <a:extLst>
              <a:ext uri="{FF2B5EF4-FFF2-40B4-BE49-F238E27FC236}">
                <a16:creationId xmlns:a16="http://schemas.microsoft.com/office/drawing/2014/main" id="{790B7CE5-C227-4D13-B4B0-A03D3D8C02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46059" y="3159000"/>
            <a:ext cx="720000" cy="540000"/>
          </a:xfrm>
          <a:prstGeom prst="rect">
            <a:avLst/>
          </a:prstGeom>
          <a:gradFill rotWithShape="1">
            <a:gsLst>
              <a:gs pos="0">
                <a:srgbClr val="C0504D">
                  <a:tint val="50000"/>
                  <a:satMod val="300000"/>
                </a:srgbClr>
              </a:gs>
              <a:gs pos="35000">
                <a:srgbClr val="C0504D">
                  <a:tint val="37000"/>
                  <a:satMod val="300000"/>
                </a:srgbClr>
              </a:gs>
              <a:gs pos="100000">
                <a:srgbClr val="C0504D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C0504D">
                <a:shade val="95000"/>
                <a:satMod val="105000"/>
              </a:srgbClr>
            </a:solidFill>
            <a:prstDash val="solid"/>
            <a:headEnd/>
            <a:tailEnd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8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000" b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ea typeface="+mn-ea"/>
                <a:cs typeface="Consolas" pitchFamily="49" charset="0"/>
              </a:rPr>
              <a:t>0</a:t>
            </a:r>
            <a:r>
              <a:rPr kumimoji="1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ea typeface="+mn-ea"/>
                <a:cs typeface="Consolas" pitchFamily="49" charset="0"/>
              </a:rPr>
              <a:t>，</a:t>
            </a:r>
            <a:r>
              <a:rPr kumimoji="1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ea typeface="+mn-ea"/>
                <a:cs typeface="Consolas" pitchFamily="49" charset="0"/>
              </a:rPr>
              <a:t>1</a:t>
            </a:r>
          </a:p>
        </p:txBody>
      </p:sp>
      <p:sp>
        <p:nvSpPr>
          <p:cNvPr id="20" name="Rectangle 36">
            <a:extLst>
              <a:ext uri="{FF2B5EF4-FFF2-40B4-BE49-F238E27FC236}">
                <a16:creationId xmlns:a16="http://schemas.microsoft.com/office/drawing/2014/main" id="{85887BC3-66DE-4B95-B22D-DBA9C2FDEF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000" y="3159000"/>
            <a:ext cx="720000" cy="540000"/>
          </a:xfrm>
          <a:prstGeom prst="rect">
            <a:avLst/>
          </a:prstGeom>
          <a:gradFill rotWithShape="1">
            <a:gsLst>
              <a:gs pos="0">
                <a:srgbClr val="C0504D">
                  <a:tint val="50000"/>
                  <a:satMod val="300000"/>
                </a:srgbClr>
              </a:gs>
              <a:gs pos="35000">
                <a:srgbClr val="C0504D">
                  <a:tint val="37000"/>
                  <a:satMod val="300000"/>
                </a:srgbClr>
              </a:gs>
              <a:gs pos="100000">
                <a:srgbClr val="C0504D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C0504D">
                <a:shade val="95000"/>
                <a:satMod val="105000"/>
              </a:srgbClr>
            </a:solidFill>
            <a:prstDash val="solid"/>
            <a:headEnd/>
            <a:tailEnd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8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000" b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ea typeface="+mn-ea"/>
                <a:cs typeface="Consolas" pitchFamily="49" charset="0"/>
              </a:rPr>
              <a:t>0</a:t>
            </a:r>
            <a:r>
              <a:rPr kumimoji="1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ea typeface="+mn-ea"/>
                <a:cs typeface="Consolas" pitchFamily="49" charset="0"/>
              </a:rPr>
              <a:t>，</a:t>
            </a:r>
            <a:r>
              <a:rPr kumimoji="1" lang="en-US" altLang="zh-CN" sz="2000" b="0" i="1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ea typeface="+mn-ea"/>
                <a:cs typeface="Consolas" pitchFamily="49" charset="0"/>
              </a:rPr>
              <a:t>-</a:t>
            </a:r>
            <a:r>
              <a:rPr kumimoji="1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ea typeface="+mn-ea"/>
                <a:cs typeface="Consolas" pitchFamily="49" charset="0"/>
              </a:rPr>
              <a:t>1</a:t>
            </a:r>
          </a:p>
        </p:txBody>
      </p:sp>
      <p:sp>
        <p:nvSpPr>
          <p:cNvPr id="21" name="Rectangle 36">
            <a:extLst>
              <a:ext uri="{FF2B5EF4-FFF2-40B4-BE49-F238E27FC236}">
                <a16:creationId xmlns:a16="http://schemas.microsoft.com/office/drawing/2014/main" id="{79DB872E-CEC6-49A0-9AD7-8B5CC80EF8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33711" y="4371227"/>
            <a:ext cx="756000" cy="540000"/>
          </a:xfrm>
          <a:prstGeom prst="rect">
            <a:avLst/>
          </a:prstGeom>
          <a:gradFill rotWithShape="1">
            <a:gsLst>
              <a:gs pos="0">
                <a:srgbClr val="C0504D">
                  <a:tint val="50000"/>
                  <a:satMod val="300000"/>
                </a:srgbClr>
              </a:gs>
              <a:gs pos="35000">
                <a:srgbClr val="C0504D">
                  <a:tint val="37000"/>
                  <a:satMod val="300000"/>
                </a:srgbClr>
              </a:gs>
              <a:gs pos="100000">
                <a:srgbClr val="C0504D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C0504D">
                <a:shade val="95000"/>
                <a:satMod val="105000"/>
              </a:srgbClr>
            </a:solidFill>
            <a:prstDash val="solid"/>
            <a:headEnd/>
            <a:tailEnd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8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ea typeface="+mn-ea"/>
                <a:cs typeface="Consolas" pitchFamily="49" charset="0"/>
              </a:rPr>
              <a:t>1</a:t>
            </a:r>
            <a:r>
              <a:rPr kumimoji="1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ea typeface="+mn-ea"/>
                <a:cs typeface="Consolas" pitchFamily="49" charset="0"/>
              </a:rPr>
              <a:t>，</a:t>
            </a:r>
            <a:r>
              <a:rPr kumimoji="1" lang="en-US" altLang="zh-CN" sz="2000" b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ea typeface="+mn-ea"/>
                <a:cs typeface="Consolas" pitchFamily="49" charset="0"/>
              </a:rPr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3089663162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60" name="Rectangle 5"/>
          <p:cNvSpPr>
            <a:spLocks noChangeArrowheads="1"/>
          </p:cNvSpPr>
          <p:nvPr/>
        </p:nvSpPr>
        <p:spPr bwMode="auto">
          <a:xfrm>
            <a:off x="900430" y="208280"/>
            <a:ext cx="4756150" cy="5162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800" b="0" dirty="0">
                <a:solidFill>
                  <a:srgbClr val="FEFFFF"/>
                </a:solidFill>
                <a:latin typeface="Times New Roman"/>
                <a:ea typeface="Microsoft YaHei"/>
                <a:cs typeface="+mn-ea"/>
                <a:sym typeface="+mn-lt"/>
              </a:rPr>
              <a:t>案例</a:t>
            </a:r>
            <a:r>
              <a:rPr lang="en-US" altLang="zh-CN" sz="2800" b="0" dirty="0">
                <a:solidFill>
                  <a:srgbClr val="FEFFFF"/>
                </a:solidFill>
                <a:latin typeface="Times New Roman"/>
                <a:ea typeface="Microsoft YaHei"/>
                <a:cs typeface="+mn-ea"/>
                <a:sym typeface="+mn-lt"/>
              </a:rPr>
              <a:t> 4</a:t>
            </a:r>
            <a:r>
              <a:rPr lang="zh-CN" altLang="en-US" sz="2800" b="0" dirty="0">
                <a:solidFill>
                  <a:srgbClr val="FEFFFF"/>
                </a:solidFill>
                <a:latin typeface="Times New Roman"/>
                <a:ea typeface="Microsoft YaHei"/>
                <a:cs typeface="+mn-ea"/>
                <a:sym typeface="+mn-lt"/>
              </a:rPr>
              <a:t>：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Times New Roman"/>
                <a:ea typeface="Microsoft YaHei"/>
                <a:cs typeface="+mn-ea"/>
                <a:sym typeface="+mn-lt"/>
              </a:rPr>
              <a:t>迷宫求解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Times New Roman"/>
                <a:ea typeface="Microsoft YaHei"/>
                <a:cs typeface="+mn-ea"/>
                <a:sym typeface="+mn-lt"/>
              </a:rPr>
              <a:t>--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Times New Roman"/>
                <a:ea typeface="Microsoft YaHei"/>
                <a:cs typeface="+mn-ea"/>
                <a:sym typeface="+mn-lt"/>
              </a:rPr>
              <a:t>递归</a:t>
            </a:r>
          </a:p>
        </p:txBody>
      </p:sp>
      <p:sp>
        <p:nvSpPr>
          <p:cNvPr id="752643" name="文本占位符 752642"/>
          <p:cNvSpPr>
            <a:spLocks noGrp="1"/>
          </p:cNvSpPr>
          <p:nvPr>
            <p:ph type="body" idx="1"/>
          </p:nvPr>
        </p:nvSpPr>
        <p:spPr>
          <a:xfrm>
            <a:off x="107505" y="703488"/>
            <a:ext cx="9036496" cy="6154512"/>
          </a:xfrm>
          <a:solidFill>
            <a:schemeClr val="bg2">
              <a:lumMod val="20000"/>
              <a:lumOff val="80000"/>
            </a:schemeClr>
          </a:solidFill>
        </p:spPr>
        <p:txBody>
          <a:bodyPr/>
          <a:lstStyle/>
          <a:p>
            <a:pPr marL="0" indent="0" latinLnBrk="0">
              <a:buNone/>
            </a:pPr>
            <a:r>
              <a:rPr lang="en-US" altLang="zh-CN" sz="2400" dirty="0"/>
              <a:t>int </a:t>
            </a:r>
            <a:r>
              <a:rPr lang="en-US" altLang="zh-CN" sz="2400" dirty="0" err="1">
                <a:solidFill>
                  <a:srgbClr val="0000FF"/>
                </a:solidFill>
              </a:rPr>
              <a:t>SeekPath</a:t>
            </a:r>
            <a:r>
              <a:rPr lang="en-US" altLang="zh-CN" sz="2400" dirty="0">
                <a:solidFill>
                  <a:srgbClr val="0000FF"/>
                </a:solidFill>
              </a:rPr>
              <a:t> (int x, int y) </a:t>
            </a:r>
            <a:r>
              <a:rPr lang="en-US" altLang="zh-CN" sz="2400" dirty="0"/>
              <a:t>{ </a:t>
            </a:r>
            <a:r>
              <a:rPr lang="en-US" altLang="zh-CN" sz="2400" dirty="0">
                <a:solidFill>
                  <a:srgbClr val="00B050"/>
                </a:solidFill>
              </a:rPr>
              <a:t>//</a:t>
            </a:r>
            <a:r>
              <a:rPr lang="zh-CN" altLang="en-US" sz="2400" dirty="0">
                <a:solidFill>
                  <a:srgbClr val="00B050"/>
                </a:solidFill>
              </a:rPr>
              <a:t> 迷宫入口</a:t>
            </a:r>
            <a:r>
              <a:rPr lang="en-US" altLang="zh-CN" sz="2400" dirty="0">
                <a:solidFill>
                  <a:srgbClr val="00B050"/>
                </a:solidFill>
              </a:rPr>
              <a:t>[s][t]</a:t>
            </a:r>
            <a:r>
              <a:rPr lang="zh-CN" altLang="en-US" sz="2400" dirty="0">
                <a:solidFill>
                  <a:srgbClr val="00B050"/>
                </a:solidFill>
              </a:rPr>
              <a:t>，出口</a:t>
            </a:r>
            <a:r>
              <a:rPr lang="en-US" altLang="zh-CN" sz="2400" dirty="0">
                <a:solidFill>
                  <a:srgbClr val="00B050"/>
                </a:solidFill>
              </a:rPr>
              <a:t>[m][p]     </a:t>
            </a:r>
          </a:p>
          <a:p>
            <a:pPr marL="0" indent="0" latinLnBrk="0">
              <a:buNone/>
            </a:pPr>
            <a:r>
              <a:rPr lang="en-US" altLang="zh-CN" sz="2400" dirty="0"/>
              <a:t>    int g, h; char d;   </a:t>
            </a:r>
            <a:r>
              <a:rPr lang="en-US" altLang="zh-CN" sz="2400" dirty="0">
                <a:solidFill>
                  <a:srgbClr val="00B050"/>
                </a:solidFill>
              </a:rPr>
              <a:t>// g, h </a:t>
            </a:r>
            <a:r>
              <a:rPr lang="zh-CN" altLang="en-US" sz="2400" dirty="0">
                <a:solidFill>
                  <a:srgbClr val="00B050"/>
                </a:solidFill>
              </a:rPr>
              <a:t>记录位置</a:t>
            </a:r>
            <a:r>
              <a:rPr lang="en-US" altLang="zh-CN" sz="2400" dirty="0">
                <a:solidFill>
                  <a:srgbClr val="00B050"/>
                </a:solidFill>
              </a:rPr>
              <a:t>; d </a:t>
            </a:r>
            <a:r>
              <a:rPr lang="zh-CN" altLang="en-US" sz="2400" dirty="0">
                <a:solidFill>
                  <a:srgbClr val="00B050"/>
                </a:solidFill>
              </a:rPr>
              <a:t>记录方向      </a:t>
            </a:r>
          </a:p>
          <a:p>
            <a:pPr marL="0" indent="0" latinLnBrk="0">
              <a:buNone/>
            </a:pPr>
            <a:r>
              <a:rPr lang="en-US" altLang="zh-CN" sz="2400" dirty="0"/>
              <a:t>    if (x==m &amp;&amp; y==p)  return 1;  </a:t>
            </a:r>
            <a:r>
              <a:rPr lang="en-US" altLang="zh-CN" sz="2400" dirty="0">
                <a:solidFill>
                  <a:srgbClr val="00B050"/>
                </a:solidFill>
              </a:rPr>
              <a:t>// </a:t>
            </a:r>
            <a:r>
              <a:rPr lang="zh-CN" altLang="en-US" sz="2400" dirty="0">
                <a:solidFill>
                  <a:srgbClr val="00B050"/>
                </a:solidFill>
              </a:rPr>
              <a:t>已到达出口，返回</a:t>
            </a:r>
            <a:r>
              <a:rPr lang="en-US" altLang="zh-CN" sz="2400" dirty="0">
                <a:solidFill>
                  <a:srgbClr val="00B050"/>
                </a:solidFill>
              </a:rPr>
              <a:t>1         </a:t>
            </a:r>
          </a:p>
          <a:p>
            <a:pPr marL="0" indent="0" latinLnBrk="0">
              <a:buNone/>
            </a:pPr>
            <a:r>
              <a:rPr lang="en-US" altLang="zh-CN" sz="2400" dirty="0"/>
              <a:t>    for (int </a:t>
            </a:r>
            <a:r>
              <a:rPr lang="en-US" altLang="zh-CN" sz="2400" dirty="0" err="1"/>
              <a:t>i</a:t>
            </a:r>
            <a:r>
              <a:rPr lang="en-US" altLang="zh-CN" sz="2400" dirty="0"/>
              <a:t>=0; </a:t>
            </a:r>
            <a:r>
              <a:rPr lang="en-US" altLang="zh-CN" sz="2400" dirty="0" err="1"/>
              <a:t>i</a:t>
            </a:r>
            <a:r>
              <a:rPr lang="en-US" altLang="zh-CN" sz="2400" dirty="0"/>
              <a:t>&lt;4; </a:t>
            </a:r>
            <a:r>
              <a:rPr lang="en-US" altLang="zh-CN" sz="2400" dirty="0" err="1"/>
              <a:t>i</a:t>
            </a:r>
            <a:r>
              <a:rPr lang="en-US" altLang="zh-CN" sz="2400" dirty="0"/>
              <a:t>++) {    </a:t>
            </a:r>
            <a:r>
              <a:rPr lang="en-US" altLang="zh-CN" sz="2400" dirty="0">
                <a:solidFill>
                  <a:srgbClr val="00B050"/>
                </a:solidFill>
              </a:rPr>
              <a:t>// </a:t>
            </a:r>
            <a:r>
              <a:rPr lang="zh-CN" altLang="en-US" sz="2400" dirty="0">
                <a:solidFill>
                  <a:srgbClr val="00B050"/>
                </a:solidFill>
              </a:rPr>
              <a:t>探索每一个方向，寻找通路</a:t>
            </a:r>
            <a:r>
              <a:rPr lang="en-US" altLang="zh-CN" sz="2400" dirty="0"/>
              <a:t>       </a:t>
            </a:r>
          </a:p>
          <a:p>
            <a:pPr marL="0" indent="0" latinLnBrk="0">
              <a:buNone/>
            </a:pPr>
            <a:r>
              <a:rPr lang="en-US" altLang="zh-CN" sz="2400" dirty="0"/>
              <a:t>        g = </a:t>
            </a:r>
            <a:r>
              <a:rPr lang="en-US" altLang="zh-CN" sz="2400" dirty="0" err="1"/>
              <a:t>x+move</a:t>
            </a:r>
            <a:r>
              <a:rPr lang="en-US" altLang="zh-CN" sz="2400" dirty="0"/>
              <a:t>[</a:t>
            </a:r>
            <a:r>
              <a:rPr lang="en-US" altLang="zh-CN" sz="2400" dirty="0" err="1"/>
              <a:t>i</a:t>
            </a:r>
            <a:r>
              <a:rPr lang="en-US" altLang="zh-CN" sz="2400" dirty="0"/>
              <a:t>].a;   h = </a:t>
            </a:r>
            <a:r>
              <a:rPr lang="en-US" altLang="zh-CN" sz="2400" dirty="0" err="1"/>
              <a:t>y+move</a:t>
            </a:r>
            <a:r>
              <a:rPr lang="en-US" altLang="zh-CN" sz="2400" dirty="0"/>
              <a:t>[</a:t>
            </a:r>
            <a:r>
              <a:rPr lang="en-US" altLang="zh-CN" sz="2400" dirty="0" err="1"/>
              <a:t>i</a:t>
            </a:r>
            <a:r>
              <a:rPr lang="en-US" altLang="zh-CN" sz="2400" dirty="0"/>
              <a:t>].b;   d = move[</a:t>
            </a:r>
            <a:r>
              <a:rPr lang="en-US" altLang="zh-CN" sz="2400" dirty="0" err="1"/>
              <a:t>i</a:t>
            </a:r>
            <a:r>
              <a:rPr lang="en-US" altLang="zh-CN" sz="2400" dirty="0"/>
              <a:t>].</a:t>
            </a:r>
            <a:r>
              <a:rPr lang="en-US" altLang="zh-CN" sz="2400" dirty="0" err="1"/>
              <a:t>dir</a:t>
            </a:r>
            <a:r>
              <a:rPr lang="en-US" altLang="zh-CN" sz="2400" dirty="0"/>
              <a:t>; </a:t>
            </a:r>
          </a:p>
          <a:p>
            <a:pPr marL="0" indent="0" latinLnBrk="0">
              <a:buNone/>
            </a:pPr>
            <a:r>
              <a:rPr lang="en-US" altLang="zh-CN" sz="2400" dirty="0"/>
              <a:t>        if (maze[g][h]==0 &amp;&amp; mark[g][h]==0) { </a:t>
            </a:r>
            <a:r>
              <a:rPr lang="en-US" altLang="zh-CN" sz="2400" dirty="0">
                <a:solidFill>
                  <a:srgbClr val="00B050"/>
                </a:solidFill>
              </a:rPr>
              <a:t>// </a:t>
            </a:r>
            <a:r>
              <a:rPr lang="zh-CN" altLang="en-US" sz="2400" dirty="0">
                <a:solidFill>
                  <a:srgbClr val="00B050"/>
                </a:solidFill>
              </a:rPr>
              <a:t>未访问过且可通</a:t>
            </a:r>
            <a:endParaRPr lang="en-US" altLang="zh-CN" sz="2400" dirty="0"/>
          </a:p>
          <a:p>
            <a:pPr marL="0" indent="0" latinLnBrk="0">
              <a:buNone/>
            </a:pPr>
            <a:r>
              <a:rPr lang="en-US" altLang="zh-CN" sz="2400" dirty="0"/>
              <a:t>            mark[g][h]=1;    </a:t>
            </a:r>
            <a:r>
              <a:rPr lang="en-US" altLang="zh-CN" sz="2400" dirty="0">
                <a:solidFill>
                  <a:srgbClr val="00B050"/>
                </a:solidFill>
              </a:rPr>
              <a:t>// </a:t>
            </a:r>
            <a:r>
              <a:rPr lang="zh-CN" altLang="en-US" sz="2400" dirty="0">
                <a:solidFill>
                  <a:srgbClr val="00B050"/>
                </a:solidFill>
              </a:rPr>
              <a:t>标记为已访问</a:t>
            </a:r>
            <a:endParaRPr lang="en-US" altLang="zh-CN" sz="2400" dirty="0"/>
          </a:p>
          <a:p>
            <a:pPr marL="0" indent="0" latinLnBrk="0">
              <a:buNone/>
            </a:pPr>
            <a:r>
              <a:rPr lang="en-US" altLang="zh-CN" sz="2400" dirty="0"/>
              <a:t>            if (</a:t>
            </a:r>
            <a:r>
              <a:rPr lang="en-US" altLang="zh-CN" sz="2400" dirty="0" err="1">
                <a:solidFill>
                  <a:srgbClr val="0000FF"/>
                </a:solidFill>
              </a:rPr>
              <a:t>SeekPath</a:t>
            </a:r>
            <a:r>
              <a:rPr lang="en-US" altLang="zh-CN" sz="2400" dirty="0">
                <a:solidFill>
                  <a:srgbClr val="0000FF"/>
                </a:solidFill>
              </a:rPr>
              <a:t>(g, h)</a:t>
            </a:r>
            <a:r>
              <a:rPr lang="en-US" altLang="zh-CN" sz="2400" dirty="0"/>
              <a:t>) { </a:t>
            </a:r>
            <a:r>
              <a:rPr lang="en-US" altLang="zh-CN" sz="2400" dirty="0" err="1"/>
              <a:t>cout</a:t>
            </a:r>
            <a:r>
              <a:rPr lang="en-US" altLang="zh-CN" sz="2400" dirty="0"/>
              <a:t>&lt;&lt;g&lt;&lt;h&lt;&lt;d;   return 1; } </a:t>
            </a:r>
            <a:r>
              <a:rPr lang="en-US" altLang="zh-CN" sz="2400" dirty="0">
                <a:solidFill>
                  <a:srgbClr val="00B050"/>
                </a:solidFill>
              </a:rPr>
              <a:t>// if </a:t>
            </a:r>
            <a:r>
              <a:rPr lang="en-US" altLang="zh-CN" sz="2400" dirty="0"/>
              <a:t>} </a:t>
            </a:r>
            <a:r>
              <a:rPr lang="en-US" altLang="zh-CN" sz="2400" dirty="0">
                <a:solidFill>
                  <a:srgbClr val="00B050"/>
                </a:solidFill>
              </a:rPr>
              <a:t>// if   </a:t>
            </a:r>
          </a:p>
          <a:p>
            <a:pPr marL="0" indent="0" latinLnBrk="0">
              <a:buNone/>
            </a:pPr>
            <a:r>
              <a:rPr lang="en-US" altLang="zh-CN" sz="2400" dirty="0"/>
              <a:t>    } </a:t>
            </a:r>
            <a:r>
              <a:rPr lang="en-US" altLang="zh-CN" sz="2400" dirty="0">
                <a:solidFill>
                  <a:srgbClr val="00B050"/>
                </a:solidFill>
              </a:rPr>
              <a:t>// for, </a:t>
            </a:r>
            <a:r>
              <a:rPr lang="zh-CN" altLang="en-US" sz="2400" dirty="0">
                <a:solidFill>
                  <a:srgbClr val="00B050"/>
                </a:solidFill>
              </a:rPr>
              <a:t>回溯，换一个方向再试</a:t>
            </a:r>
          </a:p>
          <a:p>
            <a:pPr marL="0" indent="0" latinLnBrk="0">
              <a:buNone/>
            </a:pPr>
            <a:r>
              <a:rPr lang="en-US" altLang="zh-CN" sz="2400" dirty="0"/>
              <a:t>    if (x==s &amp;&amp; y==t)   </a:t>
            </a:r>
            <a:r>
              <a:rPr lang="en-US" altLang="zh-CN" sz="2400" dirty="0" err="1"/>
              <a:t>cout</a:t>
            </a:r>
            <a:r>
              <a:rPr lang="en-US" altLang="zh-CN" sz="2400" dirty="0"/>
              <a:t>&lt;&lt;“no path in Maze!”;</a:t>
            </a:r>
          </a:p>
          <a:p>
            <a:pPr marL="0" indent="0" latinLnBrk="0">
              <a:buNone/>
            </a:pPr>
            <a:r>
              <a:rPr lang="en-US" altLang="zh-CN" sz="2400" dirty="0"/>
              <a:t>    return 0; } </a:t>
            </a:r>
            <a:r>
              <a:rPr lang="en-US" altLang="zh-CN" sz="2400" dirty="0">
                <a:solidFill>
                  <a:srgbClr val="00B050"/>
                </a:solidFill>
              </a:rPr>
              <a:t>// </a:t>
            </a:r>
            <a:r>
              <a:rPr lang="en-US" altLang="zh-CN" sz="2400" dirty="0" err="1">
                <a:solidFill>
                  <a:srgbClr val="00B050"/>
                </a:solidFill>
              </a:rPr>
              <a:t>SeekPath</a:t>
            </a:r>
            <a:r>
              <a:rPr lang="en-US" altLang="zh-CN" sz="2400" dirty="0">
                <a:solidFill>
                  <a:srgbClr val="00B050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370563331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60" name="Rectangle 5"/>
          <p:cNvSpPr>
            <a:spLocks noChangeArrowheads="1"/>
          </p:cNvSpPr>
          <p:nvPr/>
        </p:nvSpPr>
        <p:spPr bwMode="auto">
          <a:xfrm>
            <a:off x="900430" y="208280"/>
            <a:ext cx="4756150" cy="5162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800" b="0" dirty="0">
                <a:solidFill>
                  <a:srgbClr val="FEFFFF"/>
                </a:solidFill>
                <a:latin typeface="Times New Roman"/>
                <a:ea typeface="Microsoft YaHei"/>
                <a:cs typeface="+mn-ea"/>
                <a:sym typeface="+mn-lt"/>
              </a:rPr>
              <a:t>案例</a:t>
            </a:r>
            <a:r>
              <a:rPr lang="en-US" altLang="zh-CN" sz="2800" b="0" dirty="0">
                <a:solidFill>
                  <a:srgbClr val="FEFFFF"/>
                </a:solidFill>
                <a:latin typeface="Times New Roman"/>
                <a:ea typeface="Microsoft YaHei"/>
                <a:cs typeface="+mn-ea"/>
                <a:sym typeface="+mn-lt"/>
              </a:rPr>
              <a:t> 4</a:t>
            </a:r>
            <a:r>
              <a:rPr lang="zh-CN" altLang="en-US" sz="2800" b="0" dirty="0">
                <a:solidFill>
                  <a:srgbClr val="FEFFFF"/>
                </a:solidFill>
                <a:latin typeface="Times New Roman"/>
                <a:ea typeface="Microsoft YaHei"/>
                <a:cs typeface="+mn-ea"/>
                <a:sym typeface="+mn-lt"/>
              </a:rPr>
              <a:t>：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Times New Roman"/>
                <a:ea typeface="Microsoft YaHei"/>
                <a:cs typeface="+mn-ea"/>
                <a:sym typeface="+mn-lt"/>
              </a:rPr>
              <a:t>迷宫求解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Times New Roman"/>
                <a:ea typeface="Microsoft YaHei"/>
                <a:cs typeface="+mn-ea"/>
                <a:sym typeface="+mn-lt"/>
              </a:rPr>
              <a:t>—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Times New Roman"/>
                <a:ea typeface="Microsoft YaHei"/>
                <a:cs typeface="+mn-ea"/>
                <a:sym typeface="+mn-lt"/>
              </a:rPr>
              <a:t>栈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7C3035C1-2CE0-4C48-ADC1-2BEEE942DE54}"/>
              </a:ext>
            </a:extLst>
          </p:cNvPr>
          <p:cNvSpPr txBox="1"/>
          <p:nvPr/>
        </p:nvSpPr>
        <p:spPr>
          <a:xfrm>
            <a:off x="529868" y="1268760"/>
            <a:ext cx="808426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使用一个</a:t>
            </a:r>
            <a:r>
              <a:rPr lang="zh-CN" altLang="en-US" sz="2800" b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栈</a:t>
            </a:r>
            <a:r>
              <a:rPr lang="zh-CN" altLang="en-US" sz="28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来求解迷宫从入口到出口的路径问题。</a:t>
            </a:r>
          </a:p>
        </p:txBody>
      </p:sp>
      <p:sp>
        <p:nvSpPr>
          <p:cNvPr id="3" name="爆炸形: 14 pt  2">
            <a:extLst>
              <a:ext uri="{FF2B5EF4-FFF2-40B4-BE49-F238E27FC236}">
                <a16:creationId xmlns:a16="http://schemas.microsoft.com/office/drawing/2014/main" id="{09971E09-1BB1-4B4D-835C-9CB10E5F4612}"/>
              </a:ext>
            </a:extLst>
          </p:cNvPr>
          <p:cNvSpPr/>
          <p:nvPr/>
        </p:nvSpPr>
        <p:spPr bwMode="auto">
          <a:xfrm>
            <a:off x="2771800" y="2852936"/>
            <a:ext cx="2952328" cy="1706488"/>
          </a:xfrm>
          <a:prstGeom prst="irregularSeal2">
            <a:avLst/>
          </a:prstGeom>
          <a:solidFill>
            <a:srgbClr val="FFFF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342900" marR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zh-CN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仿宋_GB2312" pitchFamily="49" charset="-122"/>
              </a:rPr>
              <a:t>作业！</a:t>
            </a:r>
          </a:p>
        </p:txBody>
      </p:sp>
    </p:spTree>
    <p:extLst>
      <p:ext uri="{BB962C8B-B14F-4D97-AF65-F5344CB8AC3E}">
        <p14:creationId xmlns:p14="http://schemas.microsoft.com/office/powerpoint/2010/main" val="129373229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NTYyYjA1ZGJjMGQ3Zjc4ZjRiYTA5MzdjMzk4NGFhZGIifQ=="/>
</p:tagLst>
</file>

<file path=ppt/theme/theme1.xml><?xml version="1.0" encoding="utf-8"?>
<a:theme xmlns:a="http://schemas.openxmlformats.org/drawingml/2006/main" name="1_默认设计模板">
  <a:themeElements>
    <a:clrScheme name="自定义 33">
      <a:dk1>
        <a:srgbClr val="000000"/>
      </a:dk1>
      <a:lt1>
        <a:srgbClr val="FEFFFF"/>
      </a:lt1>
      <a:dk2>
        <a:srgbClr val="000000"/>
      </a:dk2>
      <a:lt2>
        <a:srgbClr val="969696"/>
      </a:lt2>
      <a:accent1>
        <a:srgbClr val="6C4C8F"/>
      </a:accent1>
      <a:accent2>
        <a:srgbClr val="3333CC"/>
      </a:accent2>
      <a:accent3>
        <a:srgbClr val="FE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0000FF"/>
      </a:hlink>
      <a:folHlink>
        <a:srgbClr val="003366"/>
      </a:folHlink>
    </a:clrScheme>
    <a:fontScheme name="dmabmibi">
      <a:majorFont>
        <a:latin typeface="Times New Roman"/>
        <a:ea typeface="Microsoft YaHei"/>
        <a:cs typeface=""/>
      </a:majorFont>
      <a:minorFont>
        <a:latin typeface="Times New Roman"/>
        <a:ea typeface="Microsoft YaHe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rtlCol="0" anchor="t" anchorCtr="0" compatLnSpc="1"/>
      <a:lstStyle>
        <a:defPPr marL="342900" marR="0" indent="-342900" algn="l" defTabSz="914400" rtl="0" eaLnBrk="0" fontAlgn="base" latinLnBrk="0" hangingPunct="0">
          <a:lnSpc>
            <a:spcPct val="100000"/>
          </a:lnSpc>
          <a:spcBef>
            <a:spcPct val="20000"/>
          </a:spcBef>
          <a:spcAft>
            <a:spcPct val="0"/>
          </a:spcAft>
          <a:buClrTx/>
          <a:buSzTx/>
          <a:buFontTx/>
          <a:buNone/>
          <a:defRPr kumimoji="1" sz="2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仿宋_GB2312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342900" marR="0" indent="-342900" algn="l" defTabSz="914400" rtl="0" eaLnBrk="0" fontAlgn="base" latinLnBrk="0" hangingPunct="0">
          <a:lnSpc>
            <a:spcPct val="100000"/>
          </a:lnSpc>
          <a:spcBef>
            <a:spcPct val="20000"/>
          </a:spcBef>
          <a:spcAft>
            <a:spcPct val="0"/>
          </a:spcAft>
          <a:buClrTx/>
          <a:buSzTx/>
          <a:buFontTx/>
          <a:buNone/>
          <a:defRPr kumimoji="1" lang="zh-CN" altLang="en-US" sz="2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仿宋_GB2312" pitchFamily="49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Pixel">
  <a:themeElements>
    <a:clrScheme name="">
      <a:dk1>
        <a:srgbClr val="000099"/>
      </a:dk1>
      <a:lt1>
        <a:srgbClr val="FFFFFF"/>
      </a:lt1>
      <a:dk2>
        <a:srgbClr val="CC0000"/>
      </a:dk2>
      <a:lt2>
        <a:srgbClr val="0000CC"/>
      </a:lt2>
      <a:accent1>
        <a:srgbClr val="CCFFCC"/>
      </a:accent1>
      <a:accent2>
        <a:srgbClr val="3366FF"/>
      </a:accent2>
      <a:accent3>
        <a:srgbClr val="FFFFFF"/>
      </a:accent3>
      <a:accent4>
        <a:srgbClr val="000082"/>
      </a:accent4>
      <a:accent5>
        <a:srgbClr val="E2FFE2"/>
      </a:accent5>
      <a:accent6>
        <a:srgbClr val="2D5CE7"/>
      </a:accent6>
      <a:hlink>
        <a:srgbClr val="800000"/>
      </a:hlink>
      <a:folHlink>
        <a:srgbClr val="E1E1E1"/>
      </a:folHlink>
    </a:clrScheme>
    <a:fontScheme name="Pixel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Pixel 1">
        <a:dk1>
          <a:srgbClr val="0066FF"/>
        </a:dk1>
        <a:lt1>
          <a:srgbClr val="FFFFFF"/>
        </a:lt1>
        <a:dk2>
          <a:srgbClr val="000066"/>
        </a:dk2>
        <a:lt2>
          <a:srgbClr val="FFFFFF"/>
        </a:lt2>
        <a:accent1>
          <a:srgbClr val="6699FF"/>
        </a:accent1>
        <a:accent2>
          <a:srgbClr val="3333FF"/>
        </a:accent2>
        <a:accent3>
          <a:srgbClr val="AAAAB8"/>
        </a:accent3>
        <a:accent4>
          <a:srgbClr val="DADADA"/>
        </a:accent4>
        <a:accent5>
          <a:srgbClr val="B8CAFF"/>
        </a:accent5>
        <a:accent6>
          <a:srgbClr val="2D2DE7"/>
        </a:accent6>
        <a:hlink>
          <a:srgbClr val="FFCC00"/>
        </a:hlink>
        <a:folHlink>
          <a:srgbClr val="00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2">
        <a:dk1>
          <a:srgbClr val="009999"/>
        </a:dk1>
        <a:lt1>
          <a:srgbClr val="FFFFFF"/>
        </a:lt1>
        <a:dk2>
          <a:srgbClr val="334B49"/>
        </a:dk2>
        <a:lt2>
          <a:srgbClr val="FFFFFF"/>
        </a:lt2>
        <a:accent1>
          <a:srgbClr val="33CCCC"/>
        </a:accent1>
        <a:accent2>
          <a:srgbClr val="008080"/>
        </a:accent2>
        <a:accent3>
          <a:srgbClr val="ADB1B1"/>
        </a:accent3>
        <a:accent4>
          <a:srgbClr val="DADADA"/>
        </a:accent4>
        <a:accent5>
          <a:srgbClr val="ADE2E2"/>
        </a:accent5>
        <a:accent6>
          <a:srgbClr val="007373"/>
        </a:accent6>
        <a:hlink>
          <a:srgbClr val="FFCC00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3">
        <a:dk1>
          <a:srgbClr val="006699"/>
        </a:dk1>
        <a:lt1>
          <a:srgbClr val="FFFFFF"/>
        </a:lt1>
        <a:dk2>
          <a:srgbClr val="333399"/>
        </a:dk2>
        <a:lt2>
          <a:srgbClr val="FFFFFF"/>
        </a:lt2>
        <a:accent1>
          <a:srgbClr val="0099CC"/>
        </a:accent1>
        <a:accent2>
          <a:srgbClr val="0386AF"/>
        </a:accent2>
        <a:accent3>
          <a:srgbClr val="ADADCA"/>
        </a:accent3>
        <a:accent4>
          <a:srgbClr val="DADADA"/>
        </a:accent4>
        <a:accent5>
          <a:srgbClr val="AACAE2"/>
        </a:accent5>
        <a:accent6>
          <a:srgbClr val="02799E"/>
        </a:accent6>
        <a:hlink>
          <a:srgbClr val="FFCC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4">
        <a:dk1>
          <a:srgbClr val="008080"/>
        </a:dk1>
        <a:lt1>
          <a:srgbClr val="FFFFFF"/>
        </a:lt1>
        <a:dk2>
          <a:srgbClr val="2F978D"/>
        </a:dk2>
        <a:lt2>
          <a:srgbClr val="FFFFFF"/>
        </a:lt2>
        <a:accent1>
          <a:srgbClr val="0099FF"/>
        </a:accent1>
        <a:accent2>
          <a:srgbClr val="009999"/>
        </a:accent2>
        <a:accent3>
          <a:srgbClr val="ADC9C5"/>
        </a:accent3>
        <a:accent4>
          <a:srgbClr val="DADADA"/>
        </a:accent4>
        <a:accent5>
          <a:srgbClr val="AACAFF"/>
        </a:accent5>
        <a:accent6>
          <a:srgbClr val="008A8A"/>
        </a:accent6>
        <a:hlink>
          <a:srgbClr val="FFFFCC"/>
        </a:hlink>
        <a:folHlink>
          <a:srgbClr val="70CAC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5">
        <a:dk1>
          <a:srgbClr val="822504"/>
        </a:dk1>
        <a:lt1>
          <a:srgbClr val="FFFFFF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9E2A06"/>
        </a:accent2>
        <a:accent3>
          <a:srgbClr val="ADAAAA"/>
        </a:accent3>
        <a:accent4>
          <a:srgbClr val="DADADA"/>
        </a:accent4>
        <a:accent5>
          <a:srgbClr val="FFCAAA"/>
        </a:accent5>
        <a:accent6>
          <a:srgbClr val="8F2505"/>
        </a:accent6>
        <a:hlink>
          <a:srgbClr val="FF3300"/>
        </a:hlink>
        <a:folHlink>
          <a:srgbClr val="7C070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6">
        <a:dk1>
          <a:srgbClr val="336600"/>
        </a:dk1>
        <a:lt1>
          <a:srgbClr val="FFFFFF"/>
        </a:lt1>
        <a:dk2>
          <a:srgbClr val="4A7911"/>
        </a:dk2>
        <a:lt2>
          <a:srgbClr val="FFFFFF"/>
        </a:lt2>
        <a:accent1>
          <a:srgbClr val="666633"/>
        </a:accent1>
        <a:accent2>
          <a:srgbClr val="669900"/>
        </a:accent2>
        <a:accent3>
          <a:srgbClr val="B1BEAA"/>
        </a:accent3>
        <a:accent4>
          <a:srgbClr val="DADADA"/>
        </a:accent4>
        <a:accent5>
          <a:srgbClr val="B8B8AD"/>
        </a:accent5>
        <a:accent6>
          <a:srgbClr val="5C8A00"/>
        </a:accent6>
        <a:hlink>
          <a:srgbClr val="FFCC00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7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8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FFFFFF"/>
        </a:accent3>
        <a:accent4>
          <a:srgbClr val="002A00"/>
        </a:accent4>
        <a:accent5>
          <a:srgbClr val="E2E2AA"/>
        </a:accent5>
        <a:accent6>
          <a:srgbClr val="5C8A00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9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FFFFFF"/>
        </a:accent3>
        <a:accent4>
          <a:srgbClr val="000000"/>
        </a:accent4>
        <a:accent5>
          <a:srgbClr val="FFE2E2"/>
        </a:accent5>
        <a:accent6>
          <a:srgbClr val="6D046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0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39310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1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EB0C3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2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8A8AB9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3">
        <a:dk1>
          <a:srgbClr val="000099"/>
        </a:dk1>
        <a:lt1>
          <a:srgbClr val="FFFFFF"/>
        </a:lt1>
        <a:dk2>
          <a:srgbClr val="CC0000"/>
        </a:dk2>
        <a:lt2>
          <a:srgbClr val="808080"/>
        </a:lt2>
        <a:accent1>
          <a:srgbClr val="FFCC66"/>
        </a:accent1>
        <a:accent2>
          <a:srgbClr val="CC0000"/>
        </a:accent2>
        <a:accent3>
          <a:srgbClr val="FFFFFF"/>
        </a:accent3>
        <a:accent4>
          <a:srgbClr val="000082"/>
        </a:accent4>
        <a:accent5>
          <a:srgbClr val="FFE2B8"/>
        </a:accent5>
        <a:accent6>
          <a:srgbClr val="B90000"/>
        </a:accent6>
        <a:hlink>
          <a:srgbClr val="0000CC"/>
        </a:hlink>
        <a:folHlink>
          <a:srgbClr val="00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4">
        <a:dk1>
          <a:srgbClr val="000099"/>
        </a:dk1>
        <a:lt1>
          <a:srgbClr val="FFFFFF"/>
        </a:lt1>
        <a:dk2>
          <a:srgbClr val="CC0000"/>
        </a:dk2>
        <a:lt2>
          <a:srgbClr val="0000CC"/>
        </a:lt2>
        <a:accent1>
          <a:srgbClr val="FFCC66"/>
        </a:accent1>
        <a:accent2>
          <a:srgbClr val="CC0000"/>
        </a:accent2>
        <a:accent3>
          <a:srgbClr val="FFFFFF"/>
        </a:accent3>
        <a:accent4>
          <a:srgbClr val="000082"/>
        </a:accent4>
        <a:accent5>
          <a:srgbClr val="FFE2B8"/>
        </a:accent5>
        <a:accent6>
          <a:srgbClr val="B90000"/>
        </a:accent6>
        <a:hlink>
          <a:srgbClr val="800000"/>
        </a:hlink>
        <a:folHlink>
          <a:srgbClr val="FFCC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5">
        <a:dk1>
          <a:srgbClr val="000099"/>
        </a:dk1>
        <a:lt1>
          <a:srgbClr val="FFFFFF"/>
        </a:lt1>
        <a:dk2>
          <a:srgbClr val="CC0000"/>
        </a:dk2>
        <a:lt2>
          <a:srgbClr val="0000CC"/>
        </a:lt2>
        <a:accent1>
          <a:srgbClr val="FFCC66"/>
        </a:accent1>
        <a:accent2>
          <a:srgbClr val="99FFCC"/>
        </a:accent2>
        <a:accent3>
          <a:srgbClr val="FFFFFF"/>
        </a:accent3>
        <a:accent4>
          <a:srgbClr val="000082"/>
        </a:accent4>
        <a:accent5>
          <a:srgbClr val="FFE2B8"/>
        </a:accent5>
        <a:accent6>
          <a:srgbClr val="8AE7B9"/>
        </a:accent6>
        <a:hlink>
          <a:srgbClr val="800000"/>
        </a:hlink>
        <a:folHlink>
          <a:srgbClr val="FFCC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6">
        <a:dk1>
          <a:srgbClr val="000099"/>
        </a:dk1>
        <a:lt1>
          <a:srgbClr val="FFFFFF"/>
        </a:lt1>
        <a:dk2>
          <a:srgbClr val="CC0000"/>
        </a:dk2>
        <a:lt2>
          <a:srgbClr val="0000CC"/>
        </a:lt2>
        <a:accent1>
          <a:srgbClr val="99FFCC"/>
        </a:accent1>
        <a:accent2>
          <a:srgbClr val="99FFCC"/>
        </a:accent2>
        <a:accent3>
          <a:srgbClr val="FFFFFF"/>
        </a:accent3>
        <a:accent4>
          <a:srgbClr val="000082"/>
        </a:accent4>
        <a:accent5>
          <a:srgbClr val="CAFFE2"/>
        </a:accent5>
        <a:accent6>
          <a:srgbClr val="8AE7B9"/>
        </a:accent6>
        <a:hlink>
          <a:srgbClr val="800000"/>
        </a:hlink>
        <a:folHlink>
          <a:srgbClr val="FFCC99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11981</TotalTime>
  <Words>8581</Words>
  <Application>Microsoft Office PowerPoint</Application>
  <PresentationFormat>全屏显示(4:3)</PresentationFormat>
  <Paragraphs>1171</Paragraphs>
  <Slides>101</Slides>
  <Notes>2</Notes>
  <HiddenSlides>0</HiddenSlides>
  <MMClips>0</MMClips>
  <ScaleCrop>false</ScaleCrop>
  <HeadingPairs>
    <vt:vector size="8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101</vt:i4>
      </vt:variant>
    </vt:vector>
  </HeadingPairs>
  <TitlesOfParts>
    <vt:vector size="120" baseType="lpstr">
      <vt:lpstr>Monotype Sorts</vt:lpstr>
      <vt:lpstr>仿宋_GB2312</vt:lpstr>
      <vt:lpstr>黑体</vt:lpstr>
      <vt:lpstr>华文新魏</vt:lpstr>
      <vt:lpstr>楷体</vt:lpstr>
      <vt:lpstr>楷体_GB2312</vt:lpstr>
      <vt:lpstr>宋体</vt:lpstr>
      <vt:lpstr>Microsoft YaHei</vt:lpstr>
      <vt:lpstr>Microsoft YaHei</vt:lpstr>
      <vt:lpstr>Arial</vt:lpstr>
      <vt:lpstr>Arial Black</vt:lpstr>
      <vt:lpstr>Consolas</vt:lpstr>
      <vt:lpstr>Courier New</vt:lpstr>
      <vt:lpstr>Times New Roman</vt:lpstr>
      <vt:lpstr>Wingdings</vt:lpstr>
      <vt:lpstr>1_默认设计模板</vt:lpstr>
      <vt:lpstr>Pixel</vt:lpstr>
      <vt:lpstr>公式</vt:lpstr>
      <vt:lpstr>Document</vt:lpstr>
      <vt:lpstr>第三章 栈和队列 </vt:lpstr>
      <vt:lpstr>目录（Contents）</vt:lpstr>
      <vt:lpstr>栈</vt:lpstr>
      <vt:lpstr>课堂讨论 1</vt:lpstr>
      <vt:lpstr>课堂讨论 2</vt:lpstr>
      <vt:lpstr>课堂讨论 3</vt:lpstr>
      <vt:lpstr>关于栈的进一步讨论</vt:lpstr>
      <vt:lpstr>关于栈的进一步讨论</vt:lpstr>
      <vt:lpstr>关于栈的进一步讨论</vt:lpstr>
      <vt:lpstr>关于栈的进一步讨论</vt:lpstr>
      <vt:lpstr>关于栈的进一步讨论</vt:lpstr>
      <vt:lpstr>栈的主要基本操作</vt:lpstr>
      <vt:lpstr>目录（Contents）</vt:lpstr>
      <vt:lpstr>栈的顺序存储表示---顺序栈</vt:lpstr>
      <vt:lpstr>顺序栈的各种状态</vt:lpstr>
      <vt:lpstr>顺序栈的各种状态</vt:lpstr>
      <vt:lpstr>PowerPoint 演示文稿</vt:lpstr>
      <vt:lpstr>PowerPoint 演示文稿</vt:lpstr>
      <vt:lpstr>求顺序栈中的元素个数</vt:lpstr>
      <vt:lpstr>判断顺序栈是否满</vt:lpstr>
      <vt:lpstr>顺序栈进栈</vt:lpstr>
      <vt:lpstr>顺序栈出栈</vt:lpstr>
      <vt:lpstr>取顺序栈的栈顶元素</vt:lpstr>
      <vt:lpstr>考研试题</vt:lpstr>
      <vt:lpstr>考研试题</vt:lpstr>
      <vt:lpstr>考研试题</vt:lpstr>
      <vt:lpstr>考研试题</vt:lpstr>
      <vt:lpstr>提示</vt:lpstr>
      <vt:lpstr>目录（Contents）</vt:lpstr>
      <vt:lpstr>栈的链式存储表示---链栈</vt:lpstr>
      <vt:lpstr>链栈的初始化</vt:lpstr>
      <vt:lpstr>判断链栈是否为空</vt:lpstr>
      <vt:lpstr>链栈进栈</vt:lpstr>
      <vt:lpstr>链栈进栈</vt:lpstr>
      <vt:lpstr>链栈进栈</vt:lpstr>
      <vt:lpstr>链栈出栈</vt:lpstr>
      <vt:lpstr>链栈出栈</vt:lpstr>
      <vt:lpstr>PowerPoint 演示文稿</vt:lpstr>
      <vt:lpstr>PowerPoint 演示文稿</vt:lpstr>
      <vt:lpstr>PowerPoint 演示文稿</vt:lpstr>
      <vt:lpstr>目录（Contents）</vt:lpstr>
      <vt:lpstr>案例 1：数制转换</vt:lpstr>
      <vt:lpstr>PowerPoint 演示文稿</vt:lpstr>
      <vt:lpstr>PowerPoint 演示文稿</vt:lpstr>
      <vt:lpstr>案例 2：括号匹配的检验</vt:lpstr>
      <vt:lpstr>PowerPoint 演示文稿</vt:lpstr>
      <vt:lpstr>PowerPoint 演示文稿</vt:lpstr>
      <vt:lpstr>PowerPoint 演示文稿</vt:lpstr>
      <vt:lpstr>案例 3：表达式求值</vt:lpstr>
      <vt:lpstr>案例 3：表达式求值</vt:lpstr>
      <vt:lpstr>PowerPoint 演示文稿</vt:lpstr>
      <vt:lpstr>用后缀表示计算表达式的值</vt:lpstr>
      <vt:lpstr>用后缀表示计算表达式的值</vt:lpstr>
      <vt:lpstr>用后缀表示计算表达式的值</vt:lpstr>
      <vt:lpstr>PowerPoint 演示文稿</vt:lpstr>
      <vt:lpstr>算术操作符的优先关系</vt:lpstr>
      <vt:lpstr>算术操作符的优先级表</vt:lpstr>
      <vt:lpstr>中缀表示转为后缀表示的算法</vt:lpstr>
      <vt:lpstr>中缀表示转为后缀表示的算法</vt:lpstr>
      <vt:lpstr>中缀表示转为后缀表示</vt:lpstr>
      <vt:lpstr>中缀表示转为后缀表示</vt:lpstr>
      <vt:lpstr>用中缀表示计算表达式的值</vt:lpstr>
      <vt:lpstr>用中缀表示计算表达式的值</vt:lpstr>
      <vt:lpstr>用中缀表示计算表达式的值</vt:lpstr>
      <vt:lpstr>A + B * ( C - D ) - E / F</vt:lpstr>
      <vt:lpstr>A + B * ( C - D ) - E / F</vt:lpstr>
      <vt:lpstr>PowerPoint 演示文稿</vt:lpstr>
      <vt:lpstr>栈的应用：递归</vt:lpstr>
      <vt:lpstr>定义是递归的</vt:lpstr>
      <vt:lpstr>求解阶乘 n! 的过程</vt:lpstr>
      <vt:lpstr>数据结构是递归的</vt:lpstr>
      <vt:lpstr>链表的递归结构定义</vt:lpstr>
      <vt:lpstr>链表的递归结构定义</vt:lpstr>
      <vt:lpstr>链表的递归结构定义</vt:lpstr>
      <vt:lpstr>问题的解法是递归的</vt:lpstr>
      <vt:lpstr>汉诺塔的算法</vt:lpstr>
      <vt:lpstr>汉诺塔的算法</vt:lpstr>
      <vt:lpstr>递归与分治法</vt:lpstr>
      <vt:lpstr>构成递归的条件</vt:lpstr>
      <vt:lpstr>递归过程与递归工作栈</vt:lpstr>
      <vt:lpstr>PowerPoint 演示文稿</vt:lpstr>
      <vt:lpstr>递归工作栈</vt:lpstr>
      <vt:lpstr>函数递归时的活动记录</vt:lpstr>
      <vt:lpstr>PowerPoint 演示文稿</vt:lpstr>
      <vt:lpstr>递归过程改为非递归过程</vt:lpstr>
      <vt:lpstr> </vt:lpstr>
      <vt:lpstr>PowerPoint 演示文稿</vt:lpstr>
      <vt:lpstr>尾递归的迭代实现</vt:lpstr>
      <vt:lpstr>尾递归算法改为迭代算法</vt:lpstr>
      <vt:lpstr>单向递归用迭代法实现</vt:lpstr>
      <vt:lpstr>计算斐波那契数列的迭代算法</vt:lpstr>
      <vt:lpstr>用栈将递归算法改为非递归算法</vt:lpstr>
      <vt:lpstr>用栈将递归算法改为非递归算法</vt:lpstr>
      <vt:lpstr>用栈将递归算法改为非递归算法</vt:lpstr>
      <vt:lpstr>递归与回溯法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bjfu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数据结构</dc:title>
  <dc:creator>lidongmei</dc:creator>
  <cp:lastModifiedBy>Wang Qiuyue</cp:lastModifiedBy>
  <cp:revision>1498</cp:revision>
  <dcterms:created xsi:type="dcterms:W3CDTF">1996-07-15T15:40:00Z</dcterms:created>
  <dcterms:modified xsi:type="dcterms:W3CDTF">2025-10-10T08:46:40Z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2052-11.1.0.12358</vt:lpwstr>
  </property>
  <property fmtid="{D5CDD505-2E9C-101B-9397-08002B2CF9AE}" pid="3" name="ICV">
    <vt:lpwstr>BDD94B427A2D4C7BBC55BB66DA5D13B8</vt:lpwstr>
  </property>
</Properties>
</file>