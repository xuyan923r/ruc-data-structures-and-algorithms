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8" r:id="rId2"/>
  </p:sldMasterIdLst>
  <p:notesMasterIdLst>
    <p:notesMasterId r:id="rId42"/>
  </p:notesMasterIdLst>
  <p:handoutMasterIdLst>
    <p:handoutMasterId r:id="rId43"/>
  </p:handoutMasterIdLst>
  <p:sldIdLst>
    <p:sldId id="1310" r:id="rId3"/>
    <p:sldId id="1312" r:id="rId4"/>
    <p:sldId id="870" r:id="rId5"/>
    <p:sldId id="803" r:id="rId6"/>
    <p:sldId id="1313" r:id="rId7"/>
    <p:sldId id="923" r:id="rId8"/>
    <p:sldId id="1315" r:id="rId9"/>
    <p:sldId id="1316" r:id="rId10"/>
    <p:sldId id="1317" r:id="rId11"/>
    <p:sldId id="1318" r:id="rId12"/>
    <p:sldId id="875" r:id="rId13"/>
    <p:sldId id="877" r:id="rId14"/>
    <p:sldId id="879" r:id="rId15"/>
    <p:sldId id="881" r:id="rId16"/>
    <p:sldId id="882" r:id="rId17"/>
    <p:sldId id="1314" r:id="rId18"/>
    <p:sldId id="1319" r:id="rId19"/>
    <p:sldId id="1320" r:id="rId20"/>
    <p:sldId id="806" r:id="rId21"/>
    <p:sldId id="808" r:id="rId22"/>
    <p:sldId id="813" r:id="rId23"/>
    <p:sldId id="814" r:id="rId24"/>
    <p:sldId id="1321" r:id="rId25"/>
    <p:sldId id="1322" r:id="rId26"/>
    <p:sldId id="1333" r:id="rId27"/>
    <p:sldId id="1311" r:id="rId28"/>
    <p:sldId id="972" r:id="rId29"/>
    <p:sldId id="1323" r:id="rId30"/>
    <p:sldId id="1324" r:id="rId31"/>
    <p:sldId id="1325" r:id="rId32"/>
    <p:sldId id="1328" r:id="rId33"/>
    <p:sldId id="1329" r:id="rId34"/>
    <p:sldId id="1330" r:id="rId35"/>
    <p:sldId id="1331" r:id="rId36"/>
    <p:sldId id="1332" r:id="rId37"/>
    <p:sldId id="513" r:id="rId38"/>
    <p:sldId id="1326" r:id="rId39"/>
    <p:sldId id="1327" r:id="rId40"/>
    <p:sldId id="840" r:id="rId41"/>
  </p:sldIdLst>
  <p:sldSz cx="9144000" cy="6858000" type="screen4x3"/>
  <p:notesSz cx="6858000" cy="9144000"/>
  <p:custDataLst>
    <p:tags r:id="rId44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AEAEA"/>
    <a:srgbClr val="FF9393"/>
    <a:srgbClr val="FFCC99"/>
    <a:srgbClr val="C4B3D7"/>
    <a:srgbClr val="CCCCCC"/>
    <a:srgbClr val="B296CE"/>
    <a:srgbClr val="05B8CA"/>
    <a:srgbClr val="D4E6F4"/>
    <a:srgbClr val="6C4C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404"/>
    <p:restoredTop sz="91058" autoAdjust="0"/>
  </p:normalViewPr>
  <p:slideViewPr>
    <p:cSldViewPr snapToObjects="1">
      <p:cViewPr varScale="1">
        <p:scale>
          <a:sx n="78" d="100"/>
          <a:sy n="78" d="100"/>
        </p:scale>
        <p:origin x="1882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6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handoutMaster" Target="handoutMasters/handoutMaster1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 b="0">
                <a:ea typeface="仿宋_GB2312" pitchFamily="49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FontTx/>
              <a:buNone/>
              <a:defRPr kumimoji="1" sz="1200" b="0">
                <a:ea typeface="仿宋_GB2312" pitchFamily="49" charset="-122"/>
                <a:cs typeface="+mn-cs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 b="0">
                <a:ea typeface="仿宋_GB2312" pitchFamily="49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spcBef>
                <a:spcPct val="0"/>
              </a:spcBef>
              <a:buFont typeface="Arial" panose="020B0604020202020204" pitchFamily="34" charset="0"/>
              <a:buNone/>
              <a:defRPr sz="1200" b="0" noProof="1">
                <a:ea typeface="仿宋_GB2312" pitchFamily="49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B18CE1C-F683-44DB-9A13-DA9EABB7CE1C}" type="slidenum">
              <a:rPr kumimoji="0" lang="en-US" altLang="zh-CN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 b="0">
                <a:ea typeface="仿宋_GB2312" pitchFamily="49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FontTx/>
              <a:buNone/>
              <a:defRPr kumimoji="1" sz="1200" b="0">
                <a:ea typeface="仿宋_GB2312" pitchFamily="49" charset="-122"/>
                <a:cs typeface="+mn-cs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11268" name="Rectangle 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仿宋_GB2312" pitchFamily="49" charset="-122"/>
              </a:rPr>
              <a:t>单击以编辑母版文本样式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仿宋_GB2312" pitchFamily="49" charset="-122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仿宋_GB2312" pitchFamily="49" charset="-122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仿宋_GB2312" pitchFamily="49" charset="-122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仿宋_GB2312" pitchFamily="49" charset="-122"/>
              </a:rPr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 b="0">
                <a:ea typeface="仿宋_GB2312" pitchFamily="49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spcBef>
                <a:spcPct val="0"/>
              </a:spcBef>
              <a:buFont typeface="Arial" panose="020B0604020202020204" pitchFamily="34" charset="0"/>
              <a:buNone/>
              <a:defRPr sz="1200" b="0" noProof="1">
                <a:ea typeface="仿宋_GB2312" pitchFamily="49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21E0E58-AAA9-49A0-B4E4-6E203DE171ED}" type="slidenum">
              <a:rPr kumimoji="0" lang="en-US" altLang="zh-CN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仿宋_GB2312" pitchFamily="49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仿宋_GB2312" pitchFamily="49" charset="-122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仿宋_GB2312" pitchFamily="49" charset="-122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仿宋_GB2312" pitchFamily="49" charset="-122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仿宋_GB2312" pitchFamily="49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这个问题的程序可以有很多种写法，一种最直接的想法是利用两个数组，其中一个存放已经计算得到的第 </a:t>
            </a:r>
            <a:r>
              <a:rPr lang="en-US" altLang="zh-CN" dirty="0"/>
              <a:t>k </a:t>
            </a:r>
            <a:r>
              <a:rPr lang="zh-CN" altLang="en-US" dirty="0"/>
              <a:t>行的值，然后输出第 </a:t>
            </a:r>
            <a:r>
              <a:rPr lang="en-US" altLang="zh-CN" dirty="0"/>
              <a:t>k </a:t>
            </a:r>
            <a:r>
              <a:rPr lang="zh-CN" altLang="en-US" dirty="0"/>
              <a:t>行的值同时计算第 </a:t>
            </a:r>
            <a:r>
              <a:rPr lang="en-US" altLang="zh-CN" dirty="0"/>
              <a:t>k+1</a:t>
            </a:r>
            <a:r>
              <a:rPr lang="zh-CN" altLang="en-US" dirty="0"/>
              <a:t>行的值。如此写得的程序显然结构清晰，但需要两个辅助数组的空间，并且这两个数组在计算过程中需相互交换。如若引入</a:t>
            </a:r>
            <a:r>
              <a:rPr lang="en-US" altLang="zh-CN" dirty="0"/>
              <a:t>"</a:t>
            </a:r>
            <a:r>
              <a:rPr lang="zh-CN" altLang="en-US" dirty="0"/>
              <a:t>循环队列</a:t>
            </a:r>
            <a:r>
              <a:rPr lang="en-US" altLang="zh-CN" dirty="0"/>
              <a:t>"</a:t>
            </a:r>
            <a:r>
              <a:rPr lang="zh-CN" altLang="en-US" dirty="0"/>
              <a:t>，则可以省略一个数组的辅助空间，而且可以利用队列的操作将一</a:t>
            </a:r>
            <a:r>
              <a:rPr lang="en-US" altLang="zh-CN" dirty="0"/>
              <a:t>"</a:t>
            </a:r>
            <a:r>
              <a:rPr lang="zh-CN" altLang="en-US" dirty="0"/>
              <a:t>琐碎操作</a:t>
            </a:r>
            <a:r>
              <a:rPr lang="en-US" altLang="zh-CN" dirty="0"/>
              <a:t>"</a:t>
            </a:r>
            <a:r>
              <a:rPr lang="zh-CN" altLang="en-US" dirty="0"/>
              <a:t>屏蔽起来，使程序结构变得清晰，容易被人理解。</a:t>
            </a:r>
          </a:p>
        </p:txBody>
      </p:sp>
    </p:spTree>
    <p:extLst>
      <p:ext uri="{BB962C8B-B14F-4D97-AF65-F5344CB8AC3E}">
        <p14:creationId xmlns:p14="http://schemas.microsoft.com/office/powerpoint/2010/main" val="4178569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4171" y="235957"/>
            <a:ext cx="6400800" cy="456739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46087" y="906860"/>
            <a:ext cx="8251825" cy="5472112"/>
          </a:xfrm>
        </p:spPr>
        <p:txBody>
          <a:bodyPr/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-3429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342900" indent="-3429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lvl3pPr>
            <a:lvl4pPr marL="1714500" indent="-342900">
              <a:buFont typeface="Arial" panose="020B0604020202020204" pitchFamily="34" charset="0"/>
              <a:buChar char="•"/>
              <a:defRPr sz="2400"/>
            </a:lvl4pPr>
          </a:lstStyle>
          <a:p>
            <a:pPr lvl="0"/>
            <a:r>
              <a:rPr lang="zh-CN" altLang="en-US" noProof="1"/>
              <a:t>编辑母版文本样式</a:t>
            </a:r>
            <a:endParaRPr lang="en-US" altLang="zh-CN" noProof="1"/>
          </a:p>
          <a:p>
            <a:pPr lvl="1"/>
            <a:endParaRPr lang="zh-CN" altLang="en-US" noProof="1"/>
          </a:p>
          <a:p>
            <a:pPr lvl="0"/>
            <a:endParaRPr lang="zh-CN" altLang="en-US" noProof="1"/>
          </a:p>
        </p:txBody>
      </p:sp>
      <p:grpSp>
        <p:nvGrpSpPr>
          <p:cNvPr id="17" name="组合 16"/>
          <p:cNvGrpSpPr/>
          <p:nvPr/>
        </p:nvGrpSpPr>
        <p:grpSpPr>
          <a:xfrm>
            <a:off x="115637" y="404664"/>
            <a:ext cx="617410" cy="174607"/>
            <a:chOff x="384175" y="480608"/>
            <a:chExt cx="348872" cy="98663"/>
          </a:xfrm>
          <a:solidFill>
            <a:schemeClr val="bg1">
              <a:lumMod val="90000"/>
            </a:schemeClr>
          </a:solidFill>
        </p:grpSpPr>
        <p:sp>
          <p:nvSpPr>
            <p:cNvPr id="18" name="等腰三角形 17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101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grpSp>
        <p:nvGrpSpPr>
          <p:cNvPr id="17" name="组合 16"/>
          <p:cNvGrpSpPr/>
          <p:nvPr/>
        </p:nvGrpSpPr>
        <p:grpSpPr>
          <a:xfrm>
            <a:off x="115637" y="404664"/>
            <a:ext cx="617410" cy="174607"/>
            <a:chOff x="384175" y="480608"/>
            <a:chExt cx="348872" cy="98663"/>
          </a:xfrm>
          <a:solidFill>
            <a:schemeClr val="bg1">
              <a:lumMod val="90000"/>
            </a:schemeClr>
          </a:solidFill>
        </p:grpSpPr>
        <p:sp>
          <p:nvSpPr>
            <p:cNvPr id="18" name="等腰三角形 17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sp>
        <p:nvSpPr>
          <p:cNvPr id="16" name="矩形 15"/>
          <p:cNvSpPr/>
          <p:nvPr/>
        </p:nvSpPr>
        <p:spPr>
          <a:xfrm>
            <a:off x="0" y="172744"/>
            <a:ext cx="9144000" cy="536575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844550" y="260350"/>
            <a:ext cx="6400800" cy="4572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5126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grpSp>
        <p:nvGrpSpPr>
          <p:cNvPr id="18" name="组合 17"/>
          <p:cNvGrpSpPr/>
          <p:nvPr/>
        </p:nvGrpSpPr>
        <p:grpSpPr>
          <a:xfrm>
            <a:off x="115637" y="404664"/>
            <a:ext cx="617410" cy="174607"/>
            <a:chOff x="384175" y="480608"/>
            <a:chExt cx="348872" cy="98663"/>
          </a:xfrm>
          <a:solidFill>
            <a:schemeClr val="bg1">
              <a:lumMod val="90000"/>
            </a:schemeClr>
          </a:solidFill>
        </p:grpSpPr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等腰三角形 20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7588" y="609600"/>
            <a:ext cx="6400800" cy="6858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49288" y="1449388"/>
            <a:ext cx="3914775" cy="47259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16463" y="1449388"/>
            <a:ext cx="3916362" cy="47259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5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hangingPunct="1">
              <a:spcBef>
                <a:spcPct val="20000"/>
              </a:spcBef>
              <a:buFont typeface="Arial" panose="020B0604020202020204" pitchFamily="34" charset="0"/>
              <a:buNone/>
              <a:defRPr>
                <a:ea typeface="楷体_GB2312" pitchFamily="49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</a:t>
            </a:r>
            <a:fld id="{AB572357-15AF-486C-8610-07DE1029D9FD}" type="datetime2"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2025年10月10日</a:t>
            </a:fld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</a:t>
            </a:r>
          </a:p>
        </p:txBody>
      </p:sp>
      <p:sp>
        <p:nvSpPr>
          <p:cNvPr id="16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hangingPunct="1">
              <a:spcBef>
                <a:spcPct val="20000"/>
              </a:spcBef>
              <a:buFont typeface="Arial" panose="020B0604020202020204" pitchFamily="34" charset="0"/>
              <a:buNone/>
              <a:defRPr>
                <a:ea typeface="楷体_GB2312" pitchFamily="49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北京林业大学信息学院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8" name="Group 2">
            <a:extLst>
              <a:ext uri="{FF2B5EF4-FFF2-40B4-BE49-F238E27FC236}">
                <a16:creationId xmlns:a16="http://schemas.microsoft.com/office/drawing/2014/main" id="{8CAF50F0-3A55-4ADA-AA1D-9792FAE14E5B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29699" name="Rectangle 3">
              <a:extLst>
                <a:ext uri="{FF2B5EF4-FFF2-40B4-BE49-F238E27FC236}">
                  <a16:creationId xmlns:a16="http://schemas.microsoft.com/office/drawing/2014/main" id="{3CA8E321-DF00-4874-877B-385BA03E1297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9700" name="Rectangle 4">
              <a:extLst>
                <a:ext uri="{FF2B5EF4-FFF2-40B4-BE49-F238E27FC236}">
                  <a16:creationId xmlns:a16="http://schemas.microsoft.com/office/drawing/2014/main" id="{FD4184E0-E0DD-4579-BB7D-FE1E1AAC71A1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29701" name="Group 5">
              <a:extLst>
                <a:ext uri="{FF2B5EF4-FFF2-40B4-BE49-F238E27FC236}">
                  <a16:creationId xmlns:a16="http://schemas.microsoft.com/office/drawing/2014/main" id="{AC01B30C-1D2A-4938-A483-9F823E6096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29702" name="Rectangle 6">
                <a:extLst>
                  <a:ext uri="{FF2B5EF4-FFF2-40B4-BE49-F238E27FC236}">
                    <a16:creationId xmlns:a16="http://schemas.microsoft.com/office/drawing/2014/main" id="{2054F69F-1878-4EDF-A48B-E59D89D64FE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3" name="Rectangle 7">
                <a:extLst>
                  <a:ext uri="{FF2B5EF4-FFF2-40B4-BE49-F238E27FC236}">
                    <a16:creationId xmlns:a16="http://schemas.microsoft.com/office/drawing/2014/main" id="{585B3566-4EB7-49E0-A9C1-98563F1ABE6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4" name="Rectangle 8">
                <a:extLst>
                  <a:ext uri="{FF2B5EF4-FFF2-40B4-BE49-F238E27FC236}">
                    <a16:creationId xmlns:a16="http://schemas.microsoft.com/office/drawing/2014/main" id="{6BA47FA8-F952-43B3-9165-49552E7547B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5" name="Rectangle 9">
                <a:extLst>
                  <a:ext uri="{FF2B5EF4-FFF2-40B4-BE49-F238E27FC236}">
                    <a16:creationId xmlns:a16="http://schemas.microsoft.com/office/drawing/2014/main" id="{9D408330-8C6C-4B99-960C-3173B443C8B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6" name="Rectangle 10">
                <a:extLst>
                  <a:ext uri="{FF2B5EF4-FFF2-40B4-BE49-F238E27FC236}">
                    <a16:creationId xmlns:a16="http://schemas.microsoft.com/office/drawing/2014/main" id="{6DADB660-670B-43E3-B0B3-E6797782571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7" name="Rectangle 11">
                <a:extLst>
                  <a:ext uri="{FF2B5EF4-FFF2-40B4-BE49-F238E27FC236}">
                    <a16:creationId xmlns:a16="http://schemas.microsoft.com/office/drawing/2014/main" id="{21F32A29-CBB3-405F-B62F-AFCA2142A92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8" name="Rectangle 12">
                <a:extLst>
                  <a:ext uri="{FF2B5EF4-FFF2-40B4-BE49-F238E27FC236}">
                    <a16:creationId xmlns:a16="http://schemas.microsoft.com/office/drawing/2014/main" id="{BED7B892-C9DA-47F7-8DB7-0162F5E5969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9" name="Rectangle 13">
                <a:extLst>
                  <a:ext uri="{FF2B5EF4-FFF2-40B4-BE49-F238E27FC236}">
                    <a16:creationId xmlns:a16="http://schemas.microsoft.com/office/drawing/2014/main" id="{1CF2F4CA-5A16-4B2E-9649-8934827E6FE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10" name="Rectangle 14">
                <a:extLst>
                  <a:ext uri="{FF2B5EF4-FFF2-40B4-BE49-F238E27FC236}">
                    <a16:creationId xmlns:a16="http://schemas.microsoft.com/office/drawing/2014/main" id="{E44FE56F-87D5-470E-87AD-C89C43394C7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11" name="Rectangle 15">
                <a:extLst>
                  <a:ext uri="{FF2B5EF4-FFF2-40B4-BE49-F238E27FC236}">
                    <a16:creationId xmlns:a16="http://schemas.microsoft.com/office/drawing/2014/main" id="{2F046A15-3B8F-43A9-B095-F7C1CF803B9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29712" name="Rectangle 16">
            <a:extLst>
              <a:ext uri="{FF2B5EF4-FFF2-40B4-BE49-F238E27FC236}">
                <a16:creationId xmlns:a16="http://schemas.microsoft.com/office/drawing/2014/main" id="{67D1B36C-3839-47A5-A900-133A52291D6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29713" name="Rectangle 17">
            <a:extLst>
              <a:ext uri="{FF2B5EF4-FFF2-40B4-BE49-F238E27FC236}">
                <a16:creationId xmlns:a16="http://schemas.microsoft.com/office/drawing/2014/main" id="{0509F7D1-0841-4DCC-9FE2-AE04AD9F387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29714" name="Rectangle 18">
            <a:extLst>
              <a:ext uri="{FF2B5EF4-FFF2-40B4-BE49-F238E27FC236}">
                <a16:creationId xmlns:a16="http://schemas.microsoft.com/office/drawing/2014/main" id="{80A1332F-FCA7-48B5-9F83-5973E300D7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 sz="1200" b="0">
                <a:latin typeface="Arial Black" panose="020B0A04020102020204" pitchFamily="34" charset="0"/>
                <a:ea typeface="+mn-ea"/>
              </a:defRPr>
            </a:lvl1pPr>
          </a:lstStyle>
          <a:p>
            <a:fld id="{E5309CBB-3AEB-4BD3-8A17-C01AB13CAED3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29715" name="Rectangle 19">
            <a:extLst>
              <a:ext uri="{FF2B5EF4-FFF2-40B4-BE49-F238E27FC236}">
                <a16:creationId xmlns:a16="http://schemas.microsoft.com/office/drawing/2014/main" id="{8E8CB819-80A5-4466-9E73-B0A49F10772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9716" name="Rectangle 20">
            <a:extLst>
              <a:ext uri="{FF2B5EF4-FFF2-40B4-BE49-F238E27FC236}">
                <a16:creationId xmlns:a16="http://schemas.microsoft.com/office/drawing/2014/main" id="{92C074B9-A395-4156-9D56-1EC3461D110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842420199"/>
      </p:ext>
    </p:extLst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9048E9-7969-4300-BA6A-AB7F609A3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1078F0-05CD-4ADF-9A07-7E85E80AF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1CF52D6-C64F-4484-B872-4491C534C9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AD00F02-548B-4135-9E7E-FAB4FED24F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7DFCF5C-C2A2-4C66-B481-19AC68269094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F846A2C3-D87A-417F-97B7-6D0A37C6295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7923912"/>
      </p:ext>
    </p:extLst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EE5B9B-EAD2-474C-80D9-55EDBD5B3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DEB9AB-0B78-4779-B2DD-2156F4E52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9F454CB-5FA3-4EE5-A663-E5F42B206E6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6BDDD17-3EEF-410F-AD08-0F2841DB8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561422F-630F-49A1-B5EE-888F39F5095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30C34C09-E65E-40A6-A4C3-564AF541421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461411"/>
      </p:ext>
    </p:extLst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BF6908-2681-4A69-81B6-7F484EF54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703E58-A1D6-4DFF-B8A7-9F42B3BFBB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6F388D-E693-4968-8F3F-2567DCC163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FC00AB-6640-4CB8-8B95-ACA87343E42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4F2435-F14C-427A-B97F-EC0D7144A2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A31931F-EF41-40CE-B503-7D416B9597B0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3DAA1C9-D806-430A-BD3F-C90F1F93161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2569439"/>
      </p:ext>
    </p:extLst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C85370-78EB-4017-B873-01488CBEC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BFAADA-45BF-4757-B837-AB17A262A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4242B3C-64ED-4CAB-AAEC-5DCA64A313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1AD68A9-2257-42C5-BE0E-6B350D9FE4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7D4182D-0893-4FF4-8917-C7E4B519F5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8E19D611-22C1-4CD5-98B3-34A65825127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50070C82-9147-4D12-AE04-F72416F8B8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ED5FE2A-6A0D-46F0-9A25-D63A1B86CAA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9" name="日期占位符 8">
            <a:extLst>
              <a:ext uri="{FF2B5EF4-FFF2-40B4-BE49-F238E27FC236}">
                <a16:creationId xmlns:a16="http://schemas.microsoft.com/office/drawing/2014/main" id="{FC29BF08-1F99-4F41-9FE0-897CAFB2533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38868092"/>
      </p:ext>
    </p:extLst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7D100A-5B57-4855-8146-C6CF87D3E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E59A4E8-8ACF-4115-8384-5197E01C8D6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4A9A5F-FC52-48D2-AF1A-4C84D2DFE5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4F561C9-FB71-4454-A9F9-B9626922A02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90ABE2-FCE1-4421-818A-7C71304F76E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8763911"/>
      </p:ext>
    </p:extLst>
  </p:cSld>
  <p:clrMapOvr>
    <a:masterClrMapping/>
  </p:clrMapOvr>
  <p:transition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DAAE7580-9D24-411F-8067-CE1FA87A8B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2A20B5A-2B24-441F-827C-9288EFD0D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61FF4EF-7BBD-4FA0-9747-34A363CFCF8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84933C-F8BA-4D78-8B20-AC7E97CDEB7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1479028"/>
      </p:ext>
    </p:extLst>
  </p:cSld>
  <p:clrMapOvr>
    <a:masterClrMapping/>
  </p:clrMapOvr>
  <p:transition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EDAD98-0F2F-43ED-B9B8-D9BB4FA07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088B04-690B-4362-8C14-48C7BF313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E6A5527-53B5-431B-94A1-540395E6C6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12205B-3744-49D9-8FE7-56DF158DA2B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7C1708-194E-464B-A327-7D2563DDCB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77B8F39-10B7-4545-A6C0-3F0F860BA4FE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7918829-C0AE-484B-B38E-2B323896918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2122248"/>
      </p:ext>
    </p:extLst>
  </p:cSld>
  <p:clrMapOvr>
    <a:masterClrMapping/>
  </p:clrMapOvr>
  <p:transition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830182-45BC-4F98-8B9A-8E68F5430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8F2BEAD-96DE-46FB-9A5C-AE3D7EEA57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B6901F3-5B60-466C-895C-D40C8DA05C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B48F8F-5375-459A-8CD5-32FB7BFCB97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B7A2D5-5350-4E5D-8EE4-5E291E74D0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B5074B4-9195-4B33-9557-6D03CD715FC5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7C5420C-4B03-4E48-8D15-78B4EC17B17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8446016"/>
      </p:ext>
    </p:extLst>
  </p:cSld>
  <p:clrMapOvr>
    <a:masterClrMapping/>
  </p:clrMapOvr>
  <p:transition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72601D-8D66-4148-91AA-04A14BE1B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538F4D0-70DC-4DFD-A3A5-D0403CBDAB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320218F-08AA-4223-829D-1B50B3FCAA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E890FB-3E52-45DE-9DED-992E246EC6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31AE139-FCD8-49E9-AEFA-5B65DCDF169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7D1184F0-437D-45B8-BF2D-28153DE19E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0099061"/>
      </p:ext>
    </p:extLst>
  </p:cSld>
  <p:clrMapOvr>
    <a:masterClrMapping/>
  </p:clrMapOvr>
  <p:transition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7092409-CC5C-48C3-997B-292643DBCE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80ABE33-88BC-4EE2-8363-6804A8DD6D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D00B62E-76DB-4459-8ED0-41FE776239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E00F402-EFE4-4030-B673-02DA40FDB9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3D69601-9D7C-43AD-8E1E-015C13AF9FF6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E1AE1A58-1346-4E35-A034-D1C2F1FD2B8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9311941"/>
      </p:ext>
    </p:extLst>
  </p:cSld>
  <p:clrMapOvr>
    <a:masterClrMapping/>
  </p:clrMapOvr>
  <p:transition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DDBD91-EC1A-40D2-9866-C876A1679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>
            <a:extLst>
              <a:ext uri="{FF2B5EF4-FFF2-40B4-BE49-F238E27FC236}">
                <a16:creationId xmlns:a16="http://schemas.microsoft.com/office/drawing/2014/main" id="{8F8FAA65-1A10-4BF7-BD70-92C1323D8424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B7B263A-6192-4A79-BDC8-8FCDE3A274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3D9E543-2961-4C47-A642-8970409216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553200" y="6200775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3EE2D7AF-3E92-46C1-9199-DB3F303CD0D0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80BE2EAB-A84B-4F08-9F09-4EB913DF9E18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4337669"/>
      </p:ext>
    </p:extLst>
  </p:cSld>
  <p:clrMapOvr>
    <a:masterClrMapping/>
  </p:clrMapOvr>
  <p:transition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E5570E-AAE7-4CA9-9BBE-D75B9AE97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SmartArt 占位符 2">
            <a:extLst>
              <a:ext uri="{FF2B5EF4-FFF2-40B4-BE49-F238E27FC236}">
                <a16:creationId xmlns:a16="http://schemas.microsoft.com/office/drawing/2014/main" id="{69F0F830-8A64-4C74-B83A-8811742AEB6E}"/>
              </a:ext>
            </a:extLst>
          </p:cNvPr>
          <p:cNvSpPr>
            <a:spLocks noGrp="1"/>
          </p:cNvSpPr>
          <p:nvPr>
            <p:ph type="dgm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96245BF-E54E-4380-8C53-2103FE3972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940811D-1E6E-4F6C-AB3B-E818537711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553200" y="6200775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5D438AE6-C331-480D-9D64-09098024A32B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9F6DDA6E-80B0-47AF-9E5B-F22706BE61AE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0507181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9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/>
          </p:cNvSpPr>
          <p:nvPr>
            <p:ph type="body"/>
          </p:nvPr>
        </p:nvSpPr>
        <p:spPr>
          <a:xfrm>
            <a:off x="379202" y="812615"/>
            <a:ext cx="8385596" cy="54721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单击以编辑母版文本样式</a:t>
            </a:r>
          </a:p>
        </p:txBody>
      </p:sp>
      <p:cxnSp>
        <p:nvCxnSpPr>
          <p:cNvPr id="1027" name="直接连接符 9"/>
          <p:cNvCxnSpPr/>
          <p:nvPr userDrawn="1"/>
        </p:nvCxn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cxnSp>
      <p:sp>
        <p:nvSpPr>
          <p:cNvPr id="10" name="矩形 9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15637" y="404664"/>
            <a:ext cx="617410" cy="174607"/>
            <a:chOff x="384175" y="480608"/>
            <a:chExt cx="348872" cy="98663"/>
          </a:xfrm>
          <a:solidFill>
            <a:schemeClr val="bg1">
              <a:lumMod val="90000"/>
            </a:schemeClr>
          </a:solidFill>
        </p:grpSpPr>
        <p:sp>
          <p:nvSpPr>
            <p:cNvPr id="12" name="等腰三角形 11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等腰三角形 12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等腰三角形 13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031" name="Rectangle 2"/>
          <p:cNvSpPr>
            <a:spLocks noGrp="1"/>
          </p:cNvSpPr>
          <p:nvPr>
            <p:ph type="title"/>
          </p:nvPr>
        </p:nvSpPr>
        <p:spPr>
          <a:xfrm>
            <a:off x="844550" y="260350"/>
            <a:ext cx="6400800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单击以编辑</a:t>
            </a:r>
            <a:r>
              <a:rPr lang="en-US" altLang="en-US" dirty="0"/>
              <a:t>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5" r:id="rId5"/>
    <p:sldLayoutId id="2147483657" r:id="rId6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+mj-lt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9pPr>
    </p:titleStyle>
    <p:bodyStyle>
      <a:lvl1pPr marL="457200" indent="-457200" algn="l" rtl="0" eaLnBrk="0" fontAlgn="base" hangingPunct="0">
        <a:lnSpc>
          <a:spcPct val="150000"/>
        </a:lnSpc>
        <a:spcBef>
          <a:spcPct val="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微软雅黑" panose="020B0503020204020204" pitchFamily="34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微软雅黑" panose="020B0503020204020204" pitchFamily="34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微软雅黑" panose="020B0503020204020204" pitchFamily="34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微软雅黑" panose="020B0503020204020204" pitchFamily="34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AA46C38E-1E1E-4D64-934F-7CE1F6CA869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endParaRPr lang="en-US" altLang="zh-CN"/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95FE34E4-5EAA-43C2-A785-ACA20CF6D62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00775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b="1"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fld id="{1F4AA395-A1D4-4B09-9C75-AA052D7FA1A0}" type="slidenum">
              <a:rPr lang="en-US" altLang="zh-CN"/>
              <a:pPr/>
              <a:t>‹#›</a:t>
            </a:fld>
            <a:endParaRPr lang="en-US" altLang="zh-CN"/>
          </a:p>
        </p:txBody>
      </p:sp>
      <p:grpSp>
        <p:nvGrpSpPr>
          <p:cNvPr id="28676" name="Group 4">
            <a:extLst>
              <a:ext uri="{FF2B5EF4-FFF2-40B4-BE49-F238E27FC236}">
                <a16:creationId xmlns:a16="http://schemas.microsoft.com/office/drawing/2014/main" id="{0C925DCF-12C5-4B95-9392-08B66831CCBF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8677" name="Rectangle 5">
              <a:extLst>
                <a:ext uri="{FF2B5EF4-FFF2-40B4-BE49-F238E27FC236}">
                  <a16:creationId xmlns:a16="http://schemas.microsoft.com/office/drawing/2014/main" id="{7A338ACE-7AF2-4137-83FE-E24491DBD3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8678" name="Rectangle 6">
              <a:extLst>
                <a:ext uri="{FF2B5EF4-FFF2-40B4-BE49-F238E27FC236}">
                  <a16:creationId xmlns:a16="http://schemas.microsoft.com/office/drawing/2014/main" id="{93653F84-1782-4A00-B81C-167BEBA3C5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8679" name="Rectangle 7">
              <a:extLst>
                <a:ext uri="{FF2B5EF4-FFF2-40B4-BE49-F238E27FC236}">
                  <a16:creationId xmlns:a16="http://schemas.microsoft.com/office/drawing/2014/main" id="{F1A954A5-F7A0-4640-BEF0-93F5458C01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28680" name="Rectangle 8">
              <a:extLst>
                <a:ext uri="{FF2B5EF4-FFF2-40B4-BE49-F238E27FC236}">
                  <a16:creationId xmlns:a16="http://schemas.microsoft.com/office/drawing/2014/main" id="{2D195F7B-269B-458F-A0EE-2C766E6C8E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28681" name="Rectangle 9">
              <a:extLst>
                <a:ext uri="{FF2B5EF4-FFF2-40B4-BE49-F238E27FC236}">
                  <a16:creationId xmlns:a16="http://schemas.microsoft.com/office/drawing/2014/main" id="{DFB9C109-16C6-4E42-816C-B69A23CCEE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</a:endParaRPr>
            </a:p>
          </p:txBody>
        </p:sp>
        <p:sp>
          <p:nvSpPr>
            <p:cNvPr id="28682" name="Rectangle 10">
              <a:extLst>
                <a:ext uri="{FF2B5EF4-FFF2-40B4-BE49-F238E27FC236}">
                  <a16:creationId xmlns:a16="http://schemas.microsoft.com/office/drawing/2014/main" id="{98CC751E-7F3A-4B73-8A1C-62AE9BAD47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28683" name="Rectangle 11">
              <a:extLst>
                <a:ext uri="{FF2B5EF4-FFF2-40B4-BE49-F238E27FC236}">
                  <a16:creationId xmlns:a16="http://schemas.microsoft.com/office/drawing/2014/main" id="{104DD1E0-86CE-44BA-A4C3-8DF5C9D3A6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8684" name="Rectangle 12">
              <a:extLst>
                <a:ext uri="{FF2B5EF4-FFF2-40B4-BE49-F238E27FC236}">
                  <a16:creationId xmlns:a16="http://schemas.microsoft.com/office/drawing/2014/main" id="{0A789231-86A8-496A-A5CB-7895349BA3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</a:endParaRPr>
            </a:p>
          </p:txBody>
        </p:sp>
        <p:sp>
          <p:nvSpPr>
            <p:cNvPr id="28685" name="Rectangle 13">
              <a:extLst>
                <a:ext uri="{FF2B5EF4-FFF2-40B4-BE49-F238E27FC236}">
                  <a16:creationId xmlns:a16="http://schemas.microsoft.com/office/drawing/2014/main" id="{D24B3D9C-AB33-4D7F-82CC-7B005423D6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</a:endParaRPr>
            </a:p>
          </p:txBody>
        </p:sp>
      </p:grpSp>
      <p:sp>
        <p:nvSpPr>
          <p:cNvPr id="28686" name="Rectangle 14">
            <a:extLst>
              <a:ext uri="{FF2B5EF4-FFF2-40B4-BE49-F238E27FC236}">
                <a16:creationId xmlns:a16="http://schemas.microsoft.com/office/drawing/2014/main" id="{49D69E84-F191-4AF1-93FC-AF67C344A5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8687" name="Rectangle 15">
            <a:extLst>
              <a:ext uri="{FF2B5EF4-FFF2-40B4-BE49-F238E27FC236}">
                <a16:creationId xmlns:a16="http://schemas.microsoft.com/office/drawing/2014/main" id="{B118BF2E-8CDD-4976-A602-1FAE0C53A9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8688" name="Rectangle 16">
            <a:extLst>
              <a:ext uri="{FF2B5EF4-FFF2-40B4-BE49-F238E27FC236}">
                <a16:creationId xmlns:a16="http://schemas.microsoft.com/office/drawing/2014/main" id="{1670E9EC-8BD9-4ED0-AB5C-50279F4B690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5424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ransition>
    <p:wipe dir="r"/>
  </p:transition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4FF6BC-CF7C-4F6B-9A78-5CF855D18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55576"/>
          </a:xfrm>
        </p:spPr>
        <p:txBody>
          <a:bodyPr/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目录（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Contents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1C5CE0-1323-4255-9417-D46EBFCC9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700808"/>
            <a:ext cx="8064896" cy="489654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栈</a:t>
            </a:r>
            <a:endParaRPr lang="en-US" altLang="zh-CN" sz="2800" dirty="0">
              <a:solidFill>
                <a:schemeClr val="tx1">
                  <a:lumMod val="20000"/>
                  <a:lumOff val="8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栈的应用举例</a:t>
            </a:r>
            <a:endParaRPr lang="en-US" altLang="zh-CN" sz="2800" dirty="0">
              <a:solidFill>
                <a:schemeClr val="tx1">
                  <a:lumMod val="20000"/>
                  <a:lumOff val="8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队列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队列的抽象数据类型定义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队列的顺序存储表示</a:t>
            </a:r>
            <a:endParaRPr lang="en-US" altLang="zh-CN" sz="2400" dirty="0">
              <a:solidFill>
                <a:schemeClr val="tx1">
                  <a:lumMod val="20000"/>
                  <a:lumOff val="8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队列的链式存储表示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队列的应用举例</a:t>
            </a:r>
          </a:p>
        </p:txBody>
      </p:sp>
    </p:spTree>
    <p:extLst>
      <p:ext uri="{BB962C8B-B14F-4D97-AF65-F5344CB8AC3E}">
        <p14:creationId xmlns:p14="http://schemas.microsoft.com/office/powerpoint/2010/main" val="876813102"/>
      </p:ext>
    </p:extLst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481C7F-9815-475D-9C48-F259716EE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队列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6B8F576-0600-4A54-827B-300865E3098F}"/>
              </a:ext>
            </a:extLst>
          </p:cNvPr>
          <p:cNvSpPr txBox="1">
            <a:spLocks noChangeArrowheads="1"/>
          </p:cNvSpPr>
          <p:nvPr/>
        </p:nvSpPr>
        <p:spPr>
          <a:xfrm>
            <a:off x="539750" y="2996951"/>
            <a:ext cx="8062913" cy="3419723"/>
          </a:xfrm>
          <a:prstGeom prst="rect">
            <a:avLst/>
          </a:prstGeom>
        </p:spPr>
        <p:txBody>
          <a:bodyPr/>
          <a:lstStyle>
            <a:lvl1pPr marL="457200" indent="-4572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ts val="0"/>
              </a:spcBef>
              <a:buClr>
                <a:srgbClr val="800080"/>
              </a:buClr>
              <a:buSzPct val="50000"/>
              <a:buFont typeface="Wingdings" panose="05000000000000000000" pitchFamily="2" charset="2"/>
              <a:buChar char="n"/>
            </a:pPr>
            <a:r>
              <a:rPr lang="zh-CN" altLang="en-US" b="0" kern="0" dirty="0">
                <a:solidFill>
                  <a:srgbClr val="0000FF"/>
                </a:solidFill>
                <a:latin typeface="+mn-ea"/>
                <a:ea typeface="+mn-ea"/>
              </a:rPr>
              <a:t>只允许在</a:t>
            </a:r>
            <a:r>
              <a:rPr lang="zh-CN" altLang="en-US" kern="0" dirty="0">
                <a:solidFill>
                  <a:srgbClr val="0000FF"/>
                </a:solidFill>
                <a:latin typeface="+mn-ea"/>
                <a:ea typeface="+mn-ea"/>
              </a:rPr>
              <a:t>一端删除</a:t>
            </a:r>
            <a:r>
              <a:rPr lang="zh-CN" altLang="en-US" b="0" kern="0" dirty="0">
                <a:solidFill>
                  <a:srgbClr val="0000FF"/>
                </a:solidFill>
                <a:latin typeface="+mn-ea"/>
                <a:ea typeface="+mn-ea"/>
              </a:rPr>
              <a:t>，在</a:t>
            </a:r>
            <a:r>
              <a:rPr lang="zh-CN" altLang="en-US" kern="0" dirty="0">
                <a:solidFill>
                  <a:srgbClr val="0000FF"/>
                </a:solidFill>
                <a:latin typeface="+mn-ea"/>
                <a:ea typeface="+mn-ea"/>
              </a:rPr>
              <a:t>另一端插入</a:t>
            </a:r>
            <a:r>
              <a:rPr lang="zh-CN" altLang="en-US" b="0" kern="0" dirty="0">
                <a:solidFill>
                  <a:srgbClr val="0000FF"/>
                </a:solidFill>
                <a:latin typeface="+mn-ea"/>
                <a:ea typeface="+mn-ea"/>
              </a:rPr>
              <a:t>的</a:t>
            </a:r>
            <a:r>
              <a:rPr lang="zh-CN" altLang="en-US" kern="0" dirty="0">
                <a:solidFill>
                  <a:srgbClr val="0000FF"/>
                </a:solidFill>
                <a:latin typeface="+mn-ea"/>
                <a:ea typeface="+mn-ea"/>
              </a:rPr>
              <a:t>线性表</a:t>
            </a:r>
            <a:r>
              <a:rPr lang="zh-CN" altLang="en-US" b="0" kern="0" dirty="0">
                <a:solidFill>
                  <a:srgbClr val="0000FF"/>
                </a:solidFill>
                <a:latin typeface="+mn-ea"/>
                <a:ea typeface="+mn-ea"/>
              </a:rPr>
              <a:t>。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Clr>
                <a:srgbClr val="008000"/>
              </a:buClr>
              <a:buSzPct val="50000"/>
              <a:buFont typeface="Wingdings" panose="05000000000000000000" pitchFamily="2" charset="2"/>
              <a:buChar char="p"/>
            </a:pPr>
            <a:r>
              <a:rPr lang="zh-CN" altLang="en-US" sz="2400" b="0" kern="0" dirty="0">
                <a:latin typeface="+mn-ea"/>
                <a:ea typeface="+mn-ea"/>
              </a:rPr>
              <a:t>允许删除的一端叫</a:t>
            </a:r>
            <a:r>
              <a:rPr lang="zh-CN" altLang="en-US" sz="2400" b="0" kern="0" dirty="0">
                <a:solidFill>
                  <a:srgbClr val="FF0000"/>
                </a:solidFill>
                <a:latin typeface="+mn-ea"/>
                <a:ea typeface="+mn-ea"/>
              </a:rPr>
              <a:t>队头</a:t>
            </a:r>
            <a:r>
              <a:rPr lang="zh-CN" altLang="en-US" sz="2400" b="0" kern="0" dirty="0">
                <a:latin typeface="+mn-ea"/>
                <a:ea typeface="+mn-ea"/>
              </a:rPr>
              <a:t>（</a:t>
            </a:r>
            <a:r>
              <a:rPr lang="en-US" altLang="zh-CN" sz="2400" b="0" kern="0" dirty="0">
                <a:latin typeface="+mn-ea"/>
                <a:ea typeface="+mn-ea"/>
              </a:rPr>
              <a:t>front</a:t>
            </a:r>
            <a:r>
              <a:rPr lang="zh-CN" altLang="en-US" sz="2400" b="0" kern="0" dirty="0">
                <a:latin typeface="+mn-ea"/>
                <a:ea typeface="+mn-ea"/>
              </a:rPr>
              <a:t>），允许插入的一端叫</a:t>
            </a:r>
            <a:r>
              <a:rPr lang="zh-CN" altLang="en-US" sz="2400" b="0" kern="0" dirty="0">
                <a:solidFill>
                  <a:srgbClr val="FF0000"/>
                </a:solidFill>
                <a:latin typeface="+mn-ea"/>
                <a:ea typeface="+mn-ea"/>
              </a:rPr>
              <a:t>队尾</a:t>
            </a:r>
            <a:r>
              <a:rPr lang="zh-CN" altLang="en-US" sz="2400" b="0" kern="0" dirty="0">
                <a:latin typeface="+mn-ea"/>
                <a:ea typeface="+mn-ea"/>
              </a:rPr>
              <a:t>（</a:t>
            </a:r>
            <a:r>
              <a:rPr lang="en-US" altLang="zh-CN" sz="2400" b="0" kern="0" dirty="0">
                <a:latin typeface="+mn-ea"/>
                <a:ea typeface="+mn-ea"/>
              </a:rPr>
              <a:t>rear</a:t>
            </a:r>
            <a:r>
              <a:rPr lang="zh-CN" altLang="en-US" sz="2400" b="0" kern="0" dirty="0">
                <a:latin typeface="+mn-ea"/>
                <a:ea typeface="+mn-ea"/>
              </a:rPr>
              <a:t>）。</a:t>
            </a:r>
          </a:p>
          <a:p>
            <a:pPr>
              <a:spcBef>
                <a:spcPts val="0"/>
              </a:spcBef>
              <a:buClr>
                <a:srgbClr val="800080"/>
              </a:buClr>
              <a:buSzPct val="50000"/>
              <a:buFont typeface="Wingdings" panose="05000000000000000000" pitchFamily="2" charset="2"/>
              <a:buChar char="n"/>
            </a:pPr>
            <a:r>
              <a:rPr lang="zh-CN" altLang="en-US" b="0" kern="0" dirty="0">
                <a:solidFill>
                  <a:schemeClr val="tx2"/>
                </a:solidFill>
                <a:latin typeface="+mn-ea"/>
                <a:ea typeface="+mn-ea"/>
              </a:rPr>
              <a:t>特性</a:t>
            </a:r>
            <a:r>
              <a:rPr lang="zh-CN" altLang="en-US" b="0" kern="0" dirty="0">
                <a:latin typeface="+mn-ea"/>
                <a:ea typeface="+mn-ea"/>
              </a:rPr>
              <a:t>：先进先出（</a:t>
            </a:r>
            <a:r>
              <a:rPr lang="en-US" altLang="zh-CN" b="0" kern="0" dirty="0">
                <a:solidFill>
                  <a:srgbClr val="FF3300"/>
                </a:solidFill>
                <a:latin typeface="+mn-ea"/>
                <a:ea typeface="+mn-ea"/>
              </a:rPr>
              <a:t>FIFO</a:t>
            </a:r>
            <a:r>
              <a:rPr lang="en-US" altLang="zh-CN" b="0" kern="0" dirty="0">
                <a:latin typeface="+mn-ea"/>
                <a:ea typeface="+mn-ea"/>
              </a:rPr>
              <a:t>,</a:t>
            </a:r>
            <a:r>
              <a:rPr lang="en-US" altLang="zh-CN" b="0" kern="0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zh-CN" b="0" kern="0" dirty="0">
                <a:solidFill>
                  <a:srgbClr val="FF3300"/>
                </a:solidFill>
                <a:latin typeface="+mn-ea"/>
                <a:ea typeface="+mn-ea"/>
              </a:rPr>
              <a:t>First In First Out</a:t>
            </a:r>
            <a:r>
              <a:rPr lang="zh-CN" altLang="en-US" b="0" kern="0" dirty="0">
                <a:solidFill>
                  <a:srgbClr val="FF3300"/>
                </a:solidFill>
                <a:latin typeface="+mn-ea"/>
                <a:ea typeface="+mn-ea"/>
              </a:rPr>
              <a:t>）</a:t>
            </a:r>
            <a:endParaRPr lang="zh-CN" altLang="en-US" b="0" kern="0" dirty="0">
              <a:latin typeface="+mn-ea"/>
              <a:ea typeface="+mn-ea"/>
            </a:endParaRPr>
          </a:p>
          <a:p>
            <a:pPr>
              <a:spcBef>
                <a:spcPts val="0"/>
              </a:spcBef>
              <a:buClr>
                <a:srgbClr val="800080"/>
              </a:buClr>
              <a:buSzPct val="50000"/>
              <a:buFont typeface="Wingdings" panose="05000000000000000000" pitchFamily="2" charset="2"/>
              <a:buChar char="n"/>
            </a:pPr>
            <a:r>
              <a:rPr lang="zh-CN" altLang="en-US" b="0" kern="0" dirty="0">
                <a:solidFill>
                  <a:schemeClr val="tx2"/>
                </a:solidFill>
                <a:latin typeface="+mn-ea"/>
                <a:ea typeface="+mn-ea"/>
              </a:rPr>
              <a:t>注意</a:t>
            </a:r>
            <a:r>
              <a:rPr lang="zh-CN" altLang="en-US" b="0" kern="0" dirty="0">
                <a:latin typeface="+mn-ea"/>
                <a:ea typeface="+mn-ea"/>
              </a:rPr>
              <a:t>：队列也是一种</a:t>
            </a:r>
            <a:r>
              <a:rPr lang="zh-CN" altLang="en-US" b="0" kern="0" dirty="0">
                <a:solidFill>
                  <a:srgbClr val="FF0000"/>
                </a:solidFill>
                <a:latin typeface="+mn-ea"/>
                <a:ea typeface="+mn-ea"/>
              </a:rPr>
              <a:t>顺序存取</a:t>
            </a:r>
            <a:r>
              <a:rPr lang="zh-CN" altLang="en-US" b="0" kern="0" dirty="0">
                <a:latin typeface="+mn-ea"/>
                <a:ea typeface="+mn-ea"/>
              </a:rPr>
              <a:t>的线性表。</a:t>
            </a:r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8015DC38-1812-4719-8573-DBC07B7CDFBF}"/>
              </a:ext>
            </a:extLst>
          </p:cNvPr>
          <p:cNvGrpSpPr>
            <a:grpSpLocks/>
          </p:cNvGrpSpPr>
          <p:nvPr/>
        </p:nvGrpSpPr>
        <p:grpSpPr bwMode="auto">
          <a:xfrm>
            <a:off x="1043608" y="1465856"/>
            <a:ext cx="6845533" cy="1066918"/>
            <a:chOff x="806" y="846"/>
            <a:chExt cx="4164" cy="603"/>
          </a:xfrm>
        </p:grpSpPr>
        <p:sp>
          <p:nvSpPr>
            <p:cNvPr id="5" name="Line 6">
              <a:extLst>
                <a:ext uri="{FF2B5EF4-FFF2-40B4-BE49-F238E27FC236}">
                  <a16:creationId xmlns:a16="http://schemas.microsoft.com/office/drawing/2014/main" id="{6ADFC992-6F16-4A9C-82EF-F2EC6097AE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864"/>
              <a:ext cx="26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6" name="Line 7">
              <a:extLst>
                <a:ext uri="{FF2B5EF4-FFF2-40B4-BE49-F238E27FC236}">
                  <a16:creationId xmlns:a16="http://schemas.microsoft.com/office/drawing/2014/main" id="{86783492-52AE-4B90-9DB5-93F6B41A42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200"/>
              <a:ext cx="26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7" name="Text Box 8">
              <a:extLst>
                <a:ext uri="{FF2B5EF4-FFF2-40B4-BE49-F238E27FC236}">
                  <a16:creationId xmlns:a16="http://schemas.microsoft.com/office/drawing/2014/main" id="{06411816-2183-4859-ABBB-A2C6555CE2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8" y="846"/>
              <a:ext cx="2063" cy="2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 i="1" baseline="0" dirty="0"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2800" b="1" baseline="-25000" dirty="0">
                  <a:latin typeface="Times New Roman" panose="02020603050405020304" pitchFamily="18" charset="0"/>
                </a:rPr>
                <a:t>0</a:t>
              </a:r>
              <a:r>
                <a:rPr kumimoji="1" lang="en-US" altLang="zh-CN" sz="2800" b="1" baseline="0" dirty="0">
                  <a:latin typeface="Times New Roman" panose="02020603050405020304" pitchFamily="18" charset="0"/>
                </a:rPr>
                <a:t>   </a:t>
              </a:r>
              <a:r>
                <a:rPr kumimoji="1" lang="en-US" altLang="zh-CN" sz="2800" b="1" i="1" baseline="0" dirty="0"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2800" b="1" baseline="-25000" dirty="0">
                  <a:latin typeface="Times New Roman" panose="02020603050405020304" pitchFamily="18" charset="0"/>
                </a:rPr>
                <a:t>1</a:t>
              </a:r>
              <a:r>
                <a:rPr kumimoji="1" lang="en-US" altLang="zh-CN" sz="2800" b="1" baseline="0" dirty="0">
                  <a:latin typeface="Times New Roman" panose="02020603050405020304" pitchFamily="18" charset="0"/>
                </a:rPr>
                <a:t>   </a:t>
              </a:r>
              <a:r>
                <a:rPr kumimoji="1" lang="en-US" altLang="zh-CN" sz="2800" b="1" i="1" baseline="0" dirty="0"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2800" b="1" baseline="-25000" dirty="0">
                  <a:latin typeface="Times New Roman" panose="02020603050405020304" pitchFamily="18" charset="0"/>
                </a:rPr>
                <a:t>2</a:t>
              </a:r>
              <a:r>
                <a:rPr kumimoji="1" lang="en-US" altLang="zh-CN" sz="2800" b="1" baseline="0" dirty="0">
                  <a:latin typeface="Times New Roman" panose="02020603050405020304" pitchFamily="18" charset="0"/>
                </a:rPr>
                <a:t>     </a:t>
              </a:r>
              <a:r>
                <a:rPr kumimoji="1" lang="en-US" altLang="zh-CN" sz="2800" b="1" baseline="0" dirty="0">
                  <a:latin typeface="Times New Roman" panose="02020603050405020304" pitchFamily="18" charset="0"/>
                  <a:sym typeface="Symbol" panose="05050102010706020507" pitchFamily="18" charset="2"/>
                </a:rPr>
                <a:t>        </a:t>
              </a:r>
              <a:r>
                <a:rPr kumimoji="1" lang="en-US" altLang="zh-CN" sz="2800" b="1" i="1" baseline="0" dirty="0">
                  <a:latin typeface="Times New Roman" panose="02020603050405020304" pitchFamily="18" charset="0"/>
                  <a:sym typeface="Symbol" panose="05050102010706020507" pitchFamily="18" charset="2"/>
                </a:rPr>
                <a:t> a</a:t>
              </a:r>
              <a:r>
                <a:rPr kumimoji="1" lang="en-US" altLang="zh-CN" sz="2800" b="1" i="1" baseline="-250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n</a:t>
              </a:r>
              <a:r>
                <a:rPr kumimoji="1" lang="en-US" altLang="zh-CN" sz="2800" b="1" baseline="-250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-1</a:t>
              </a:r>
              <a:endParaRPr kumimoji="1" lang="en-US" altLang="zh-CN" sz="2800" baseline="0" dirty="0">
                <a:latin typeface="Times New Roman" panose="02020603050405020304" pitchFamily="18" charset="0"/>
              </a:endParaRPr>
            </a:p>
          </p:txBody>
        </p:sp>
        <p:sp>
          <p:nvSpPr>
            <p:cNvPr id="8" name="Text Box 9">
              <a:extLst>
                <a:ext uri="{FF2B5EF4-FFF2-40B4-BE49-F238E27FC236}">
                  <a16:creationId xmlns:a16="http://schemas.microsoft.com/office/drawing/2014/main" id="{3A2EA0EC-FAC2-4BD7-A543-81AD861975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6" y="1153"/>
              <a:ext cx="562" cy="2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 i="1" baseline="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front</a:t>
              </a:r>
              <a:endParaRPr kumimoji="1" lang="en-US" altLang="zh-CN" sz="2800" baseline="0" dirty="0">
                <a:solidFill>
                  <a:srgbClr val="C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" name="Text Box 10">
              <a:extLst>
                <a:ext uri="{FF2B5EF4-FFF2-40B4-BE49-F238E27FC236}">
                  <a16:creationId xmlns:a16="http://schemas.microsoft.com/office/drawing/2014/main" id="{06A38D74-43CC-4487-B7E9-8832B943BC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82" y="1153"/>
              <a:ext cx="488" cy="2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 i="1" baseline="0">
                  <a:solidFill>
                    <a:srgbClr val="C00000"/>
                  </a:solidFill>
                  <a:latin typeface="Times New Roman" panose="02020603050405020304" pitchFamily="18" charset="0"/>
                </a:rPr>
                <a:t>rear</a:t>
              </a:r>
              <a:endParaRPr kumimoji="1" lang="en-US" altLang="zh-CN" sz="2800" baseline="0">
                <a:solidFill>
                  <a:srgbClr val="C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" name="Line 11">
              <a:extLst>
                <a:ext uri="{FF2B5EF4-FFF2-40B4-BE49-F238E27FC236}">
                  <a16:creationId xmlns:a16="http://schemas.microsoft.com/office/drawing/2014/main" id="{E472BAF8-8793-45C3-AA9D-D134D368D6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52" y="1008"/>
              <a:ext cx="576" cy="192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1" name="Line 12">
              <a:extLst>
                <a:ext uri="{FF2B5EF4-FFF2-40B4-BE49-F238E27FC236}">
                  <a16:creationId xmlns:a16="http://schemas.microsoft.com/office/drawing/2014/main" id="{5905CB79-61D6-46FD-92B0-33E849CB99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76" y="1008"/>
              <a:ext cx="576" cy="192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</p:spTree>
    <p:extLst>
      <p:ext uri="{BB962C8B-B14F-4D97-AF65-F5344CB8AC3E}">
        <p14:creationId xmlns:p14="http://schemas.microsoft.com/office/powerpoint/2010/main" val="4211637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02" name="Rectangle 4"/>
          <p:cNvSpPr>
            <a:spLocks noChangeArrowheads="1"/>
          </p:cNvSpPr>
          <p:nvPr/>
        </p:nvSpPr>
        <p:spPr bwMode="auto">
          <a:xfrm>
            <a:off x="279400" y="880554"/>
            <a:ext cx="8569325" cy="2702186"/>
          </a:xfrm>
          <a:prstGeom prst="roundRect">
            <a:avLst>
              <a:gd name="adj" fmla="val 7782"/>
            </a:avLst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设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栈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S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和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队列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Q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的初始状态为空，元素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e1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、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e2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、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e3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、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e4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、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e5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、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e6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依次通过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S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，一个元素出栈后即进入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Q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，若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6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个元素出队的序列是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e2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、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e4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、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e3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、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e6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、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e5</a:t>
            </a:r>
            <a:r>
              <a:rPr lang="zh-CN" altLang="en-US" sz="2800" b="0" dirty="0">
                <a:solidFill>
                  <a:srgbClr val="FF0000"/>
                </a:solidFill>
                <a:latin typeface="+mn-ea"/>
                <a:ea typeface="+mn-ea"/>
                <a:cs typeface="+mn-ea"/>
                <a:sym typeface="+mn-lt"/>
              </a:rPr>
              <a:t>、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e1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，则栈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S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的容量至少应该是（　）。 </a:t>
            </a:r>
          </a:p>
        </p:txBody>
      </p:sp>
      <p:sp>
        <p:nvSpPr>
          <p:cNvPr id="106503" name="Rectangle 5"/>
          <p:cNvSpPr>
            <a:spLocks noChangeArrowheads="1"/>
          </p:cNvSpPr>
          <p:nvPr/>
        </p:nvSpPr>
        <p:spPr bwMode="auto">
          <a:xfrm>
            <a:off x="661441" y="4077072"/>
            <a:ext cx="7805241" cy="585788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 wrap="square"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（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A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）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2     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（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B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）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3         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（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C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）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4    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（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D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）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6</a:t>
            </a:r>
          </a:p>
        </p:txBody>
      </p:sp>
      <p:sp>
        <p:nvSpPr>
          <p:cNvPr id="106504" name="Rectangle 6"/>
          <p:cNvSpPr>
            <a:spLocks noChangeArrowheads="1"/>
          </p:cNvSpPr>
          <p:nvPr/>
        </p:nvSpPr>
        <p:spPr bwMode="auto">
          <a:xfrm>
            <a:off x="827088" y="128588"/>
            <a:ext cx="233997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练习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2" name="Comment 12"/>
          <p:cNvSpPr>
            <a:spLocks noChangeArrowheads="1"/>
          </p:cNvSpPr>
          <p:nvPr/>
        </p:nvSpPr>
        <p:spPr bwMode="auto">
          <a:xfrm>
            <a:off x="827088" y="188913"/>
            <a:ext cx="490696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队列的主要基本操作</a:t>
            </a:r>
          </a:p>
        </p:txBody>
      </p:sp>
      <p:sp>
        <p:nvSpPr>
          <p:cNvPr id="13" name="Text Box 5">
            <a:extLst>
              <a:ext uri="{FF2B5EF4-FFF2-40B4-BE49-F238E27FC236}">
                <a16:creationId xmlns:a16="http://schemas.microsoft.com/office/drawing/2014/main" id="{0482133F-DFF1-45FC-BC63-6D013F770F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756" y="1124744"/>
            <a:ext cx="8964488" cy="5013039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marL="457200" indent="-457200" algn="l">
              <a:lnSpc>
                <a:spcPts val="3200"/>
              </a:lnSpc>
              <a:defRPr sz="2000">
                <a:solidFill>
                  <a:srgbClr val="CE3B37"/>
                </a:solidFill>
                <a:latin typeface="楷体" panose="02010609060101010101" pitchFamily="49" charset="-122"/>
                <a:ea typeface="楷体" panose="02010609060101010101" pitchFamily="49" charset="-122"/>
                <a:cs typeface="Consolas" pitchFamily="49" charset="0"/>
              </a:defRPr>
            </a:lvl1pPr>
          </a:lstStyle>
          <a:p>
            <a:pPr marL="457200" marR="0" lvl="0" indent="-4572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sym typeface="Wingdings"/>
              </a:rPr>
              <a:t>  </a:t>
            </a:r>
            <a:r>
              <a:rPr kumimoji="1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InitQueue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(&amp;Q)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：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初始化队列。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构造一个空队列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Q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。</a:t>
            </a:r>
          </a:p>
          <a:p>
            <a:pPr marL="457200" marR="0" lvl="0" indent="-4572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sym typeface="Wingdings"/>
              </a:rPr>
              <a:t>  </a:t>
            </a:r>
            <a:r>
              <a:rPr kumimoji="1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DestroyQueue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(&amp;Q)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：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销毁队列。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释放队列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Q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占用的存储空间。</a:t>
            </a:r>
          </a:p>
          <a:p>
            <a:pPr marL="457200" marR="0" lvl="0" indent="-4572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sym typeface="Wingdings"/>
              </a:rPr>
              <a:t>  </a:t>
            </a:r>
            <a:r>
              <a:rPr kumimoji="1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QueueEmpty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(Q)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：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判断队列是否为空。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若队列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Q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为空，则返回真；否则返回假。</a:t>
            </a:r>
          </a:p>
          <a:p>
            <a:pPr marL="457200" marR="0" lvl="0" indent="-4572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sym typeface="Wingdings"/>
              </a:rPr>
              <a:t>  </a:t>
            </a:r>
            <a:r>
              <a:rPr kumimoji="1" lang="en-US" altLang="zh-CN" sz="2400" b="0" dirty="0">
                <a:solidFill>
                  <a:srgbClr val="FF0000"/>
                </a:solidFill>
                <a:latin typeface="+mn-ea"/>
                <a:ea typeface="+mn-ea"/>
                <a:sym typeface="Wingdings"/>
              </a:rPr>
              <a:t>E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nQueue(&amp;Q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，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e)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：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进队列。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将元素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e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进队列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Q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作为队尾元素。</a:t>
            </a:r>
          </a:p>
          <a:p>
            <a:pPr marL="457200" marR="0" lvl="0" indent="-4572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"/>
              <a:tabLst/>
              <a:defRPr/>
            </a:pPr>
            <a:r>
              <a:rPr kumimoji="1" lang="en-US" altLang="zh-CN" sz="2400" b="0" dirty="0">
                <a:solidFill>
                  <a:srgbClr val="FF0000"/>
                </a:solidFill>
                <a:latin typeface="+mn-ea"/>
                <a:ea typeface="+mn-ea"/>
              </a:rPr>
              <a:t>D</a:t>
            </a:r>
            <a:r>
              <a:rPr kumimoji="1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eQueue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(&amp;Q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，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&amp;e)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：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出队列。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从队列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Q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中出队一个元素，并将其值赋给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e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。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"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GetHead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(Q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，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&amp;e)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：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取队头元素。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返回栈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S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当前的栈顶元素，并将其值赋给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e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4FF6BC-CF7C-4F6B-9A78-5CF855D18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55576"/>
          </a:xfrm>
        </p:spPr>
        <p:txBody>
          <a:bodyPr/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目录（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Contents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1C5CE0-1323-4255-9417-D46EBFCC9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700808"/>
            <a:ext cx="8064896" cy="489654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栈</a:t>
            </a:r>
            <a:endParaRPr lang="en-US" altLang="zh-CN" sz="2800" dirty="0">
              <a:solidFill>
                <a:schemeClr val="tx1">
                  <a:lumMod val="20000"/>
                  <a:lumOff val="8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栈的应用举例</a:t>
            </a:r>
            <a:endParaRPr lang="en-US" altLang="zh-CN" sz="2800" dirty="0">
              <a:solidFill>
                <a:schemeClr val="tx1">
                  <a:lumMod val="20000"/>
                  <a:lumOff val="8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队列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队列的抽象数据类型定义</a:t>
            </a:r>
            <a:endParaRPr lang="en-US" altLang="zh-CN" sz="2400" dirty="0">
              <a:solidFill>
                <a:schemeClr val="tx1">
                  <a:lumMod val="20000"/>
                  <a:lumOff val="8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队列的顺序存储表示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队列的链式存储表示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队列的应用举例</a:t>
            </a:r>
          </a:p>
        </p:txBody>
      </p:sp>
    </p:spTree>
    <p:extLst>
      <p:ext uri="{BB962C8B-B14F-4D97-AF65-F5344CB8AC3E}">
        <p14:creationId xmlns:p14="http://schemas.microsoft.com/office/powerpoint/2010/main" val="2065963998"/>
      </p:ext>
    </p:extLst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mment 3"/>
          <p:cNvSpPr>
            <a:spLocks noChangeArrowheads="1"/>
          </p:cNvSpPr>
          <p:nvPr/>
        </p:nvSpPr>
        <p:spPr bwMode="auto">
          <a:xfrm>
            <a:off x="827088" y="174625"/>
            <a:ext cx="741680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队列的顺序表示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67543" y="1124744"/>
            <a:ext cx="8136905" cy="401761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#define MAXQSIZE  100        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// </a:t>
            </a:r>
            <a:r>
              <a: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队列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的</a:t>
            </a:r>
            <a:r>
              <a: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最大长度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typedef struct {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QElemType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*base;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队列的</a:t>
            </a:r>
            <a:r>
              <a: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存储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数组</a:t>
            </a:r>
            <a:endParaRPr kumimoji="0" lang="zh-CN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int  front;             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队</a:t>
            </a:r>
            <a:r>
              <a: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头指针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int  rear;               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队尾指针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SqQueue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; 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4A5D2FC-BCF6-4620-BCA8-3FDC77917838}"/>
              </a:ext>
            </a:extLst>
          </p:cNvPr>
          <p:cNvSpPr txBox="1"/>
          <p:nvPr/>
        </p:nvSpPr>
        <p:spPr>
          <a:xfrm>
            <a:off x="291069" y="5373216"/>
            <a:ext cx="8568951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队列与栈的共性在于它们都是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限制了存取位置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的线性表；区别在于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存取位置有所不同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764AA6-BF55-4754-919C-9D841DFB4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顺序队列的进队和出队</a:t>
            </a:r>
          </a:p>
        </p:txBody>
      </p:sp>
      <p:sp>
        <p:nvSpPr>
          <p:cNvPr id="158" name="Rectangle 2">
            <a:extLst>
              <a:ext uri="{FF2B5EF4-FFF2-40B4-BE49-F238E27FC236}">
                <a16:creationId xmlns:a16="http://schemas.microsoft.com/office/drawing/2014/main" id="{AA266ABB-75EC-4453-B508-B0E10E9D86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5257800"/>
            <a:ext cx="914400" cy="457200"/>
          </a:xfrm>
          <a:prstGeom prst="rect">
            <a:avLst/>
          </a:prstGeom>
          <a:solidFill>
            <a:srgbClr val="969696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969696"/>
            </a:extrusionClr>
            <a:contourClr>
              <a:srgbClr val="969696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eaLnBrk="1" hangingPunct="1"/>
            <a:endParaRPr lang="zh-CN" altLang="en-US" sz="1800" b="0" baseline="3000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9" name="Rectangle 3">
            <a:extLst>
              <a:ext uri="{FF2B5EF4-FFF2-40B4-BE49-F238E27FC236}">
                <a16:creationId xmlns:a16="http://schemas.microsoft.com/office/drawing/2014/main" id="{EC41D7CB-47E6-4E9B-8684-AC5D12507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257800"/>
            <a:ext cx="914400" cy="457200"/>
          </a:xfrm>
          <a:prstGeom prst="rect">
            <a:avLst/>
          </a:prstGeom>
          <a:solidFill>
            <a:srgbClr val="969696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969696"/>
            </a:extrusionClr>
            <a:contourClr>
              <a:srgbClr val="969696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eaLnBrk="1" hangingPunct="1"/>
            <a:endParaRPr lang="zh-CN" altLang="en-US" sz="1800" b="0" baseline="3000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0" name="Rectangle 4">
            <a:extLst>
              <a:ext uri="{FF2B5EF4-FFF2-40B4-BE49-F238E27FC236}">
                <a16:creationId xmlns:a16="http://schemas.microsoft.com/office/drawing/2014/main" id="{C67C1A37-8615-4E32-BB30-03557517E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3962400"/>
            <a:ext cx="914400" cy="457200"/>
          </a:xfrm>
          <a:prstGeom prst="rect">
            <a:avLst/>
          </a:prstGeom>
          <a:solidFill>
            <a:srgbClr val="969696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969696"/>
            </a:extrusionClr>
            <a:contourClr>
              <a:srgbClr val="969696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eaLnBrk="1" hangingPunct="1"/>
            <a:endParaRPr lang="zh-CN" altLang="en-US" sz="1800" b="0" baseline="3000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1" name="Rectangle 5">
            <a:extLst>
              <a:ext uri="{FF2B5EF4-FFF2-40B4-BE49-F238E27FC236}">
                <a16:creationId xmlns:a16="http://schemas.microsoft.com/office/drawing/2014/main" id="{0E840EFA-C57E-4767-A760-7D778FFC7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962400"/>
            <a:ext cx="457200" cy="457200"/>
          </a:xfrm>
          <a:prstGeom prst="rect">
            <a:avLst/>
          </a:prstGeom>
          <a:solidFill>
            <a:srgbClr val="969696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969696"/>
            </a:extrusionClr>
            <a:contourClr>
              <a:srgbClr val="969696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eaLnBrk="1" hangingPunct="1"/>
            <a:endParaRPr lang="zh-CN" altLang="en-US" sz="1800" b="0" baseline="3000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2" name="Rectangle 7">
            <a:extLst>
              <a:ext uri="{FF2B5EF4-FFF2-40B4-BE49-F238E27FC236}">
                <a16:creationId xmlns:a16="http://schemas.microsoft.com/office/drawing/2014/main" id="{2FDFCF85-36A8-474A-A36B-FB48858B7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371600"/>
            <a:ext cx="3200400" cy="457200"/>
          </a:xfrm>
          <a:prstGeom prst="rect">
            <a:avLst/>
          </a:prstGeom>
          <a:solidFill>
            <a:srgbClr val="FFFFFF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" name="Line 8">
            <a:extLst>
              <a:ext uri="{FF2B5EF4-FFF2-40B4-BE49-F238E27FC236}">
                <a16:creationId xmlns:a16="http://schemas.microsoft.com/office/drawing/2014/main" id="{28BB7FE9-6413-4798-B87E-418368B795E3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1371600"/>
            <a:ext cx="0" cy="4572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4" name="Line 9">
            <a:extLst>
              <a:ext uri="{FF2B5EF4-FFF2-40B4-BE49-F238E27FC236}">
                <a16:creationId xmlns:a16="http://schemas.microsoft.com/office/drawing/2014/main" id="{0DF30DBD-FCE2-4E77-A63A-CD6E7BCD16D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19200" y="1219200"/>
            <a:ext cx="152400" cy="152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5" name="Line 10">
            <a:extLst>
              <a:ext uri="{FF2B5EF4-FFF2-40B4-BE49-F238E27FC236}">
                <a16:creationId xmlns:a16="http://schemas.microsoft.com/office/drawing/2014/main" id="{DDA24121-0A42-4497-9162-2294643A68D8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1371600"/>
            <a:ext cx="0" cy="4572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6" name="Line 11">
            <a:extLst>
              <a:ext uri="{FF2B5EF4-FFF2-40B4-BE49-F238E27FC236}">
                <a16:creationId xmlns:a16="http://schemas.microsoft.com/office/drawing/2014/main" id="{BF48049E-BAE7-44BC-A71B-4A75D547C5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76400" y="1219200"/>
            <a:ext cx="152400" cy="152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7" name="Line 12">
            <a:extLst>
              <a:ext uri="{FF2B5EF4-FFF2-40B4-BE49-F238E27FC236}">
                <a16:creationId xmlns:a16="http://schemas.microsoft.com/office/drawing/2014/main" id="{30D0CBF8-EE5E-4A63-88E0-866F06FD980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1371600"/>
            <a:ext cx="0" cy="4572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8" name="Line 13">
            <a:extLst>
              <a:ext uri="{FF2B5EF4-FFF2-40B4-BE49-F238E27FC236}">
                <a16:creationId xmlns:a16="http://schemas.microsoft.com/office/drawing/2014/main" id="{300F2C91-36D1-442E-BBBD-82C70A532AE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33600" y="1219200"/>
            <a:ext cx="152400" cy="152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9" name="Line 14">
            <a:extLst>
              <a:ext uri="{FF2B5EF4-FFF2-40B4-BE49-F238E27FC236}">
                <a16:creationId xmlns:a16="http://schemas.microsoft.com/office/drawing/2014/main" id="{2DE81249-693C-4DC6-9982-08BB76B0F27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1371600"/>
            <a:ext cx="0" cy="4572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0" name="Line 15">
            <a:extLst>
              <a:ext uri="{FF2B5EF4-FFF2-40B4-BE49-F238E27FC236}">
                <a16:creationId xmlns:a16="http://schemas.microsoft.com/office/drawing/2014/main" id="{EC7BA7E4-BD9A-4102-9AD6-EB44C90CF2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90800" y="1219200"/>
            <a:ext cx="152400" cy="152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1" name="Line 16">
            <a:extLst>
              <a:ext uri="{FF2B5EF4-FFF2-40B4-BE49-F238E27FC236}">
                <a16:creationId xmlns:a16="http://schemas.microsoft.com/office/drawing/2014/main" id="{5AAEA801-9A7E-4366-99ED-A5AA38795BB1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1371600"/>
            <a:ext cx="0" cy="4572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2" name="Line 17">
            <a:extLst>
              <a:ext uri="{FF2B5EF4-FFF2-40B4-BE49-F238E27FC236}">
                <a16:creationId xmlns:a16="http://schemas.microsoft.com/office/drawing/2014/main" id="{CDD96736-EC22-4157-BC1F-17F71E3D2F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48000" y="1219200"/>
            <a:ext cx="152400" cy="152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3" name="Line 18">
            <a:extLst>
              <a:ext uri="{FF2B5EF4-FFF2-40B4-BE49-F238E27FC236}">
                <a16:creationId xmlns:a16="http://schemas.microsoft.com/office/drawing/2014/main" id="{A9D1B402-26C7-4F6E-844F-D796ED510808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1371600"/>
            <a:ext cx="0" cy="4572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" name="Line 19">
            <a:extLst>
              <a:ext uri="{FF2B5EF4-FFF2-40B4-BE49-F238E27FC236}">
                <a16:creationId xmlns:a16="http://schemas.microsoft.com/office/drawing/2014/main" id="{6F8F727D-8182-4F64-8649-7E75A1E6B2A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5200" y="1219200"/>
            <a:ext cx="152400" cy="152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5" name="Rectangle 20">
            <a:extLst>
              <a:ext uri="{FF2B5EF4-FFF2-40B4-BE49-F238E27FC236}">
                <a16:creationId xmlns:a16="http://schemas.microsoft.com/office/drawing/2014/main" id="{659087FC-4AA8-4857-82EC-0255D7C48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1371600"/>
            <a:ext cx="3200400" cy="457200"/>
          </a:xfrm>
          <a:prstGeom prst="rect">
            <a:avLst/>
          </a:prstGeom>
          <a:solidFill>
            <a:srgbClr val="FFFFFF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sp>
        <p:nvSpPr>
          <p:cNvPr id="176" name="Line 21">
            <a:extLst>
              <a:ext uri="{FF2B5EF4-FFF2-40B4-BE49-F238E27FC236}">
                <a16:creationId xmlns:a16="http://schemas.microsoft.com/office/drawing/2014/main" id="{893FA763-960A-48CB-9AB7-62F4E5FDCAE8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1371600"/>
            <a:ext cx="0" cy="4572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7" name="Line 22">
            <a:extLst>
              <a:ext uri="{FF2B5EF4-FFF2-40B4-BE49-F238E27FC236}">
                <a16:creationId xmlns:a16="http://schemas.microsoft.com/office/drawing/2014/main" id="{EE598A0C-8D15-47F5-B0B0-9EF2CE979D6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05400" y="1219200"/>
            <a:ext cx="152400" cy="152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8" name="Line 23">
            <a:extLst>
              <a:ext uri="{FF2B5EF4-FFF2-40B4-BE49-F238E27FC236}">
                <a16:creationId xmlns:a16="http://schemas.microsoft.com/office/drawing/2014/main" id="{0295FEEC-27DB-472D-B4B9-3CDC9BAA2C47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1371600"/>
            <a:ext cx="0" cy="4572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9" name="Line 24">
            <a:extLst>
              <a:ext uri="{FF2B5EF4-FFF2-40B4-BE49-F238E27FC236}">
                <a16:creationId xmlns:a16="http://schemas.microsoft.com/office/drawing/2014/main" id="{3F70AF3A-6A8E-45F1-A8FB-D79D68F7246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62600" y="1219200"/>
            <a:ext cx="152400" cy="152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0" name="Line 25">
            <a:extLst>
              <a:ext uri="{FF2B5EF4-FFF2-40B4-BE49-F238E27FC236}">
                <a16:creationId xmlns:a16="http://schemas.microsoft.com/office/drawing/2014/main" id="{FB5D261F-9961-4E84-A78A-4DDB492B5DA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1371600"/>
            <a:ext cx="0" cy="4572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1" name="Line 26">
            <a:extLst>
              <a:ext uri="{FF2B5EF4-FFF2-40B4-BE49-F238E27FC236}">
                <a16:creationId xmlns:a16="http://schemas.microsoft.com/office/drawing/2014/main" id="{DD4020D8-09A6-43E5-B2F9-D2F73DDA774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19800" y="1219200"/>
            <a:ext cx="152400" cy="152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2" name="Line 27">
            <a:extLst>
              <a:ext uri="{FF2B5EF4-FFF2-40B4-BE49-F238E27FC236}">
                <a16:creationId xmlns:a16="http://schemas.microsoft.com/office/drawing/2014/main" id="{903B1220-C016-4B69-BEFD-431024CF1DF9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1371600"/>
            <a:ext cx="0" cy="4572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3" name="Line 28">
            <a:extLst>
              <a:ext uri="{FF2B5EF4-FFF2-40B4-BE49-F238E27FC236}">
                <a16:creationId xmlns:a16="http://schemas.microsoft.com/office/drawing/2014/main" id="{AE5ED143-0EE0-4318-B25E-2FB70BF7D89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77000" y="1219200"/>
            <a:ext cx="152400" cy="152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" name="Line 29">
            <a:extLst>
              <a:ext uri="{FF2B5EF4-FFF2-40B4-BE49-F238E27FC236}">
                <a16:creationId xmlns:a16="http://schemas.microsoft.com/office/drawing/2014/main" id="{80390141-6EE0-42FA-BEBD-6AB678216096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1371600"/>
            <a:ext cx="0" cy="4572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5" name="Line 30">
            <a:extLst>
              <a:ext uri="{FF2B5EF4-FFF2-40B4-BE49-F238E27FC236}">
                <a16:creationId xmlns:a16="http://schemas.microsoft.com/office/drawing/2014/main" id="{874D7C90-16C5-4A49-BEE0-38DAF8E92A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34200" y="1219200"/>
            <a:ext cx="152400" cy="152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6" name="Line 31">
            <a:extLst>
              <a:ext uri="{FF2B5EF4-FFF2-40B4-BE49-F238E27FC236}">
                <a16:creationId xmlns:a16="http://schemas.microsoft.com/office/drawing/2014/main" id="{B74E105C-C376-4AE7-926F-E3556667332B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1371600"/>
            <a:ext cx="0" cy="4572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7" name="Line 32">
            <a:extLst>
              <a:ext uri="{FF2B5EF4-FFF2-40B4-BE49-F238E27FC236}">
                <a16:creationId xmlns:a16="http://schemas.microsoft.com/office/drawing/2014/main" id="{9BEC3671-9D9C-4656-ABD5-9E166279E84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91400" y="1219200"/>
            <a:ext cx="152400" cy="152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8" name="Rectangle 33">
            <a:extLst>
              <a:ext uri="{FF2B5EF4-FFF2-40B4-BE49-F238E27FC236}">
                <a16:creationId xmlns:a16="http://schemas.microsoft.com/office/drawing/2014/main" id="{9A47486C-1AC2-408E-AA56-0D3E4F530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667000"/>
            <a:ext cx="3200400" cy="457200"/>
          </a:xfrm>
          <a:prstGeom prst="rect">
            <a:avLst/>
          </a:prstGeom>
          <a:solidFill>
            <a:srgbClr val="FFFFFF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9" name="Line 34">
            <a:extLst>
              <a:ext uri="{FF2B5EF4-FFF2-40B4-BE49-F238E27FC236}">
                <a16:creationId xmlns:a16="http://schemas.microsoft.com/office/drawing/2014/main" id="{955296D7-44F5-4F08-B922-C85C5A33675A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2667000"/>
            <a:ext cx="0" cy="4572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0" name="Line 35">
            <a:extLst>
              <a:ext uri="{FF2B5EF4-FFF2-40B4-BE49-F238E27FC236}">
                <a16:creationId xmlns:a16="http://schemas.microsoft.com/office/drawing/2014/main" id="{339FD879-E675-46C7-BF13-6C3FB531B3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19200" y="2514600"/>
            <a:ext cx="152400" cy="152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1" name="Line 36">
            <a:extLst>
              <a:ext uri="{FF2B5EF4-FFF2-40B4-BE49-F238E27FC236}">
                <a16:creationId xmlns:a16="http://schemas.microsoft.com/office/drawing/2014/main" id="{A74AA179-3008-40FE-9D90-556F810F352D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2667000"/>
            <a:ext cx="0" cy="4572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2" name="Line 37">
            <a:extLst>
              <a:ext uri="{FF2B5EF4-FFF2-40B4-BE49-F238E27FC236}">
                <a16:creationId xmlns:a16="http://schemas.microsoft.com/office/drawing/2014/main" id="{B0EA7106-679C-42D4-84F3-0D1BEEA9834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76400" y="2514600"/>
            <a:ext cx="152400" cy="152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3" name="Line 38">
            <a:extLst>
              <a:ext uri="{FF2B5EF4-FFF2-40B4-BE49-F238E27FC236}">
                <a16:creationId xmlns:a16="http://schemas.microsoft.com/office/drawing/2014/main" id="{14159F84-6289-446F-B828-ABF2B2C2DA9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667000"/>
            <a:ext cx="0" cy="4572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" name="Line 39">
            <a:extLst>
              <a:ext uri="{FF2B5EF4-FFF2-40B4-BE49-F238E27FC236}">
                <a16:creationId xmlns:a16="http://schemas.microsoft.com/office/drawing/2014/main" id="{3C2BA9ED-D468-441A-8F31-74673FCA328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33600" y="2514600"/>
            <a:ext cx="152400" cy="152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5" name="Line 40">
            <a:extLst>
              <a:ext uri="{FF2B5EF4-FFF2-40B4-BE49-F238E27FC236}">
                <a16:creationId xmlns:a16="http://schemas.microsoft.com/office/drawing/2014/main" id="{D38491DA-7AF4-4E06-BBE1-11C73AE2F18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2667000"/>
            <a:ext cx="0" cy="4572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6" name="Line 41">
            <a:extLst>
              <a:ext uri="{FF2B5EF4-FFF2-40B4-BE49-F238E27FC236}">
                <a16:creationId xmlns:a16="http://schemas.microsoft.com/office/drawing/2014/main" id="{A311C3F9-C7EB-4BBC-90FB-4A133FE16E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90800" y="2514600"/>
            <a:ext cx="152400" cy="152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7" name="Line 42">
            <a:extLst>
              <a:ext uri="{FF2B5EF4-FFF2-40B4-BE49-F238E27FC236}">
                <a16:creationId xmlns:a16="http://schemas.microsoft.com/office/drawing/2014/main" id="{D6460220-F928-4D10-8B68-8F773109E843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2667000"/>
            <a:ext cx="0" cy="4572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8" name="Line 43">
            <a:extLst>
              <a:ext uri="{FF2B5EF4-FFF2-40B4-BE49-F238E27FC236}">
                <a16:creationId xmlns:a16="http://schemas.microsoft.com/office/drawing/2014/main" id="{0764FF41-172D-470C-A320-D8CBC8A1872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48000" y="2514600"/>
            <a:ext cx="152400" cy="152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9" name="Line 44">
            <a:extLst>
              <a:ext uri="{FF2B5EF4-FFF2-40B4-BE49-F238E27FC236}">
                <a16:creationId xmlns:a16="http://schemas.microsoft.com/office/drawing/2014/main" id="{5EA29FD3-31F9-40B2-95DE-5F738C160E02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2667000"/>
            <a:ext cx="0" cy="4572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0" name="Line 45">
            <a:extLst>
              <a:ext uri="{FF2B5EF4-FFF2-40B4-BE49-F238E27FC236}">
                <a16:creationId xmlns:a16="http://schemas.microsoft.com/office/drawing/2014/main" id="{3EEF35D7-B057-4050-B699-83D60FAA802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5200" y="2514600"/>
            <a:ext cx="152400" cy="152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1" name="Rectangle 46">
            <a:extLst>
              <a:ext uri="{FF2B5EF4-FFF2-40B4-BE49-F238E27FC236}">
                <a16:creationId xmlns:a16="http://schemas.microsoft.com/office/drawing/2014/main" id="{CBEA5719-EFA1-49F0-8B44-F2CCA1826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3962400"/>
            <a:ext cx="2743200" cy="457200"/>
          </a:xfrm>
          <a:prstGeom prst="rect">
            <a:avLst/>
          </a:prstGeom>
          <a:solidFill>
            <a:srgbClr val="FFFFFF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2" name="Line 47">
            <a:extLst>
              <a:ext uri="{FF2B5EF4-FFF2-40B4-BE49-F238E27FC236}">
                <a16:creationId xmlns:a16="http://schemas.microsoft.com/office/drawing/2014/main" id="{57592A4C-7499-42FE-8A84-920829B2AED4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3962400"/>
            <a:ext cx="0" cy="4572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3" name="Line 48">
            <a:extLst>
              <a:ext uri="{FF2B5EF4-FFF2-40B4-BE49-F238E27FC236}">
                <a16:creationId xmlns:a16="http://schemas.microsoft.com/office/drawing/2014/main" id="{30594778-4E57-4DA3-9067-2FC9DF9EFA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19200" y="3810000"/>
            <a:ext cx="152400" cy="152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4" name="Line 49">
            <a:extLst>
              <a:ext uri="{FF2B5EF4-FFF2-40B4-BE49-F238E27FC236}">
                <a16:creationId xmlns:a16="http://schemas.microsoft.com/office/drawing/2014/main" id="{13DB4092-C8BB-4EAE-8CF9-4C2F69E3A4B1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3962400"/>
            <a:ext cx="0" cy="4572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" name="Line 50">
            <a:extLst>
              <a:ext uri="{FF2B5EF4-FFF2-40B4-BE49-F238E27FC236}">
                <a16:creationId xmlns:a16="http://schemas.microsoft.com/office/drawing/2014/main" id="{425F1DAA-3F46-4467-9236-9C143CE4E2F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76400" y="3810000"/>
            <a:ext cx="152400" cy="152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6" name="Line 51">
            <a:extLst>
              <a:ext uri="{FF2B5EF4-FFF2-40B4-BE49-F238E27FC236}">
                <a16:creationId xmlns:a16="http://schemas.microsoft.com/office/drawing/2014/main" id="{61928034-77D9-4D46-AD47-E744CD1A1A5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3962400"/>
            <a:ext cx="0" cy="4572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7" name="Line 52">
            <a:extLst>
              <a:ext uri="{FF2B5EF4-FFF2-40B4-BE49-F238E27FC236}">
                <a16:creationId xmlns:a16="http://schemas.microsoft.com/office/drawing/2014/main" id="{4A60FA7F-96FC-458F-B266-649F852651F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33600" y="3810000"/>
            <a:ext cx="152400" cy="152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8" name="Line 53">
            <a:extLst>
              <a:ext uri="{FF2B5EF4-FFF2-40B4-BE49-F238E27FC236}">
                <a16:creationId xmlns:a16="http://schemas.microsoft.com/office/drawing/2014/main" id="{81A0B037-1696-44C2-A20D-6B3568825D7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3962400"/>
            <a:ext cx="0" cy="4572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9" name="Line 54">
            <a:extLst>
              <a:ext uri="{FF2B5EF4-FFF2-40B4-BE49-F238E27FC236}">
                <a16:creationId xmlns:a16="http://schemas.microsoft.com/office/drawing/2014/main" id="{D86A8342-D540-48B7-9D6A-7B4B665DA32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90800" y="3810000"/>
            <a:ext cx="152400" cy="152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0" name="Line 55">
            <a:extLst>
              <a:ext uri="{FF2B5EF4-FFF2-40B4-BE49-F238E27FC236}">
                <a16:creationId xmlns:a16="http://schemas.microsoft.com/office/drawing/2014/main" id="{A6F29FED-9CE2-4257-9AFA-D94C1F8FAE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3962400"/>
            <a:ext cx="0" cy="4572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1" name="Line 56">
            <a:extLst>
              <a:ext uri="{FF2B5EF4-FFF2-40B4-BE49-F238E27FC236}">
                <a16:creationId xmlns:a16="http://schemas.microsoft.com/office/drawing/2014/main" id="{3AF7C558-827B-4808-A909-E03E5DB8D39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48000" y="3810000"/>
            <a:ext cx="152400" cy="152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2" name="Line 57">
            <a:extLst>
              <a:ext uri="{FF2B5EF4-FFF2-40B4-BE49-F238E27FC236}">
                <a16:creationId xmlns:a16="http://schemas.microsoft.com/office/drawing/2014/main" id="{29E7D8C3-A8E9-43C8-AF85-4C5CA1202F77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3962400"/>
            <a:ext cx="0" cy="4572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3" name="Line 58">
            <a:extLst>
              <a:ext uri="{FF2B5EF4-FFF2-40B4-BE49-F238E27FC236}">
                <a16:creationId xmlns:a16="http://schemas.microsoft.com/office/drawing/2014/main" id="{B895CE95-A83D-4985-AE31-EDAB5E13A38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5200" y="3810000"/>
            <a:ext cx="152400" cy="152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4" name="Rectangle 59">
            <a:extLst>
              <a:ext uri="{FF2B5EF4-FFF2-40B4-BE49-F238E27FC236}">
                <a16:creationId xmlns:a16="http://schemas.microsoft.com/office/drawing/2014/main" id="{F21F76E6-CF0B-43CA-ADA8-A94C5329E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2667000"/>
            <a:ext cx="3200400" cy="457200"/>
          </a:xfrm>
          <a:prstGeom prst="rect">
            <a:avLst/>
          </a:prstGeom>
          <a:solidFill>
            <a:srgbClr val="FFFFFF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5" name="Line 60">
            <a:extLst>
              <a:ext uri="{FF2B5EF4-FFF2-40B4-BE49-F238E27FC236}">
                <a16:creationId xmlns:a16="http://schemas.microsoft.com/office/drawing/2014/main" id="{81E4B369-01C2-415B-AC86-5ACB8FAC837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2667000"/>
            <a:ext cx="0" cy="4572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6" name="Line 61">
            <a:extLst>
              <a:ext uri="{FF2B5EF4-FFF2-40B4-BE49-F238E27FC236}">
                <a16:creationId xmlns:a16="http://schemas.microsoft.com/office/drawing/2014/main" id="{9647DC07-1537-4EAA-820E-342943B335B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05400" y="2514600"/>
            <a:ext cx="152400" cy="152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7" name="Line 62">
            <a:extLst>
              <a:ext uri="{FF2B5EF4-FFF2-40B4-BE49-F238E27FC236}">
                <a16:creationId xmlns:a16="http://schemas.microsoft.com/office/drawing/2014/main" id="{9A38E3BA-20CE-4FC8-ADAE-93D0B2C77634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2667000"/>
            <a:ext cx="0" cy="4572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8" name="Line 63">
            <a:extLst>
              <a:ext uri="{FF2B5EF4-FFF2-40B4-BE49-F238E27FC236}">
                <a16:creationId xmlns:a16="http://schemas.microsoft.com/office/drawing/2014/main" id="{8CAEAD7E-B242-4986-B12D-2D0840BE5D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62600" y="2514600"/>
            <a:ext cx="152400" cy="152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9" name="Line 64">
            <a:extLst>
              <a:ext uri="{FF2B5EF4-FFF2-40B4-BE49-F238E27FC236}">
                <a16:creationId xmlns:a16="http://schemas.microsoft.com/office/drawing/2014/main" id="{26EB3798-2D80-4460-97CD-45265A7AD4A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2667000"/>
            <a:ext cx="0" cy="4572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0" name="Line 65">
            <a:extLst>
              <a:ext uri="{FF2B5EF4-FFF2-40B4-BE49-F238E27FC236}">
                <a16:creationId xmlns:a16="http://schemas.microsoft.com/office/drawing/2014/main" id="{FD579330-026C-4198-9091-0FB97A1F1BD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19800" y="2514600"/>
            <a:ext cx="152400" cy="152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1" name="Line 66">
            <a:extLst>
              <a:ext uri="{FF2B5EF4-FFF2-40B4-BE49-F238E27FC236}">
                <a16:creationId xmlns:a16="http://schemas.microsoft.com/office/drawing/2014/main" id="{82E0906B-C380-455A-8FF9-92E4196B601D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2667000"/>
            <a:ext cx="0" cy="4572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2" name="Line 67">
            <a:extLst>
              <a:ext uri="{FF2B5EF4-FFF2-40B4-BE49-F238E27FC236}">
                <a16:creationId xmlns:a16="http://schemas.microsoft.com/office/drawing/2014/main" id="{750730F4-C4C1-4784-BE8D-81C25F13326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77000" y="2514600"/>
            <a:ext cx="152400" cy="152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3" name="Line 68">
            <a:extLst>
              <a:ext uri="{FF2B5EF4-FFF2-40B4-BE49-F238E27FC236}">
                <a16:creationId xmlns:a16="http://schemas.microsoft.com/office/drawing/2014/main" id="{7517BF34-9443-48AB-B27B-73E55CA4874C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2667000"/>
            <a:ext cx="0" cy="4572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4" name="Line 69">
            <a:extLst>
              <a:ext uri="{FF2B5EF4-FFF2-40B4-BE49-F238E27FC236}">
                <a16:creationId xmlns:a16="http://schemas.microsoft.com/office/drawing/2014/main" id="{70AC2CDC-EE8A-41A3-BF0D-C70801AE35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34200" y="2514600"/>
            <a:ext cx="152400" cy="152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" name="Line 70">
            <a:extLst>
              <a:ext uri="{FF2B5EF4-FFF2-40B4-BE49-F238E27FC236}">
                <a16:creationId xmlns:a16="http://schemas.microsoft.com/office/drawing/2014/main" id="{7B0B232A-1254-4C10-B3A6-A7689F7BC747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2667000"/>
            <a:ext cx="0" cy="4572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6" name="Line 71">
            <a:extLst>
              <a:ext uri="{FF2B5EF4-FFF2-40B4-BE49-F238E27FC236}">
                <a16:creationId xmlns:a16="http://schemas.microsoft.com/office/drawing/2014/main" id="{74A61787-3FC5-4103-A126-DDA296E3C49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91400" y="2514600"/>
            <a:ext cx="152400" cy="152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7" name="Rectangle 72">
            <a:extLst>
              <a:ext uri="{FF2B5EF4-FFF2-40B4-BE49-F238E27FC236}">
                <a16:creationId xmlns:a16="http://schemas.microsoft.com/office/drawing/2014/main" id="{334BE542-BA8C-43C9-AFDB-1B1F0BD61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3962400"/>
            <a:ext cx="2286000" cy="457200"/>
          </a:xfrm>
          <a:prstGeom prst="rect">
            <a:avLst/>
          </a:prstGeom>
          <a:solidFill>
            <a:srgbClr val="FFFFFF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8" name="Line 73">
            <a:extLst>
              <a:ext uri="{FF2B5EF4-FFF2-40B4-BE49-F238E27FC236}">
                <a16:creationId xmlns:a16="http://schemas.microsoft.com/office/drawing/2014/main" id="{E50C566F-2AA5-45C0-B07C-0535601D3399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3962400"/>
            <a:ext cx="0" cy="4572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9" name="Line 74">
            <a:extLst>
              <a:ext uri="{FF2B5EF4-FFF2-40B4-BE49-F238E27FC236}">
                <a16:creationId xmlns:a16="http://schemas.microsoft.com/office/drawing/2014/main" id="{3EF01754-E00C-4D6E-932A-988721B603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05400" y="3810000"/>
            <a:ext cx="152400" cy="152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0" name="Line 75">
            <a:extLst>
              <a:ext uri="{FF2B5EF4-FFF2-40B4-BE49-F238E27FC236}">
                <a16:creationId xmlns:a16="http://schemas.microsoft.com/office/drawing/2014/main" id="{2EF1576F-9653-4071-8B48-B201DB782A43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3962400"/>
            <a:ext cx="0" cy="4572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1" name="Line 76">
            <a:extLst>
              <a:ext uri="{FF2B5EF4-FFF2-40B4-BE49-F238E27FC236}">
                <a16:creationId xmlns:a16="http://schemas.microsoft.com/office/drawing/2014/main" id="{42399D02-E05C-4CD2-833C-311CB180E4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62600" y="3810000"/>
            <a:ext cx="152400" cy="152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2" name="Line 77">
            <a:extLst>
              <a:ext uri="{FF2B5EF4-FFF2-40B4-BE49-F238E27FC236}">
                <a16:creationId xmlns:a16="http://schemas.microsoft.com/office/drawing/2014/main" id="{C3D6FF6A-4F37-49D8-9248-38E9149908CB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3962400"/>
            <a:ext cx="0" cy="4572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3" name="Line 78">
            <a:extLst>
              <a:ext uri="{FF2B5EF4-FFF2-40B4-BE49-F238E27FC236}">
                <a16:creationId xmlns:a16="http://schemas.microsoft.com/office/drawing/2014/main" id="{B7EE4C39-1280-4011-8200-694CBEBFA10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19800" y="3810000"/>
            <a:ext cx="152400" cy="152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4" name="Line 79">
            <a:extLst>
              <a:ext uri="{FF2B5EF4-FFF2-40B4-BE49-F238E27FC236}">
                <a16:creationId xmlns:a16="http://schemas.microsoft.com/office/drawing/2014/main" id="{476CCF61-DE29-42DD-8764-10E00E4F168E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3962400"/>
            <a:ext cx="0" cy="4572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" name="Line 80">
            <a:extLst>
              <a:ext uri="{FF2B5EF4-FFF2-40B4-BE49-F238E27FC236}">
                <a16:creationId xmlns:a16="http://schemas.microsoft.com/office/drawing/2014/main" id="{BA1E2E18-8A09-4683-938D-70AA14D9E9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77000" y="3810000"/>
            <a:ext cx="152400" cy="152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6" name="Line 81">
            <a:extLst>
              <a:ext uri="{FF2B5EF4-FFF2-40B4-BE49-F238E27FC236}">
                <a16:creationId xmlns:a16="http://schemas.microsoft.com/office/drawing/2014/main" id="{10CE0BC8-31AA-4EA3-8608-21D5271B1E8D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3962400"/>
            <a:ext cx="0" cy="4572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7" name="Line 82">
            <a:extLst>
              <a:ext uri="{FF2B5EF4-FFF2-40B4-BE49-F238E27FC236}">
                <a16:creationId xmlns:a16="http://schemas.microsoft.com/office/drawing/2014/main" id="{B797A2F9-04E4-41E6-A06E-B915C717CD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34200" y="3810000"/>
            <a:ext cx="152400" cy="152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8" name="Line 83">
            <a:extLst>
              <a:ext uri="{FF2B5EF4-FFF2-40B4-BE49-F238E27FC236}">
                <a16:creationId xmlns:a16="http://schemas.microsoft.com/office/drawing/2014/main" id="{90EF0131-60C1-46EB-9808-CC2D48A0EE10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3962400"/>
            <a:ext cx="0" cy="4572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9" name="Line 84">
            <a:extLst>
              <a:ext uri="{FF2B5EF4-FFF2-40B4-BE49-F238E27FC236}">
                <a16:creationId xmlns:a16="http://schemas.microsoft.com/office/drawing/2014/main" id="{89FB146B-120A-40A9-BEF7-913E8BDA0A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91400" y="3810000"/>
            <a:ext cx="152400" cy="152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0" name="Rectangle 85">
            <a:extLst>
              <a:ext uri="{FF2B5EF4-FFF2-40B4-BE49-F238E27FC236}">
                <a16:creationId xmlns:a16="http://schemas.microsoft.com/office/drawing/2014/main" id="{613AFAC7-C284-4CC0-AE42-9C9CA20D63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5257800"/>
            <a:ext cx="2286000" cy="457200"/>
          </a:xfrm>
          <a:prstGeom prst="rect">
            <a:avLst/>
          </a:prstGeom>
          <a:solidFill>
            <a:srgbClr val="FFFFFF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1" name="Line 86">
            <a:extLst>
              <a:ext uri="{FF2B5EF4-FFF2-40B4-BE49-F238E27FC236}">
                <a16:creationId xmlns:a16="http://schemas.microsoft.com/office/drawing/2014/main" id="{97DBEF0F-3B68-4222-96C0-F18CE4C48B8D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5257800"/>
            <a:ext cx="0" cy="4572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2" name="Line 87">
            <a:extLst>
              <a:ext uri="{FF2B5EF4-FFF2-40B4-BE49-F238E27FC236}">
                <a16:creationId xmlns:a16="http://schemas.microsoft.com/office/drawing/2014/main" id="{E6B70016-B12B-49E5-8314-9977A8FCDBD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05400" y="5105400"/>
            <a:ext cx="152400" cy="152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3" name="Line 88">
            <a:extLst>
              <a:ext uri="{FF2B5EF4-FFF2-40B4-BE49-F238E27FC236}">
                <a16:creationId xmlns:a16="http://schemas.microsoft.com/office/drawing/2014/main" id="{FA59A3AC-2E54-49E7-A169-FF4AEB9D3803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5257800"/>
            <a:ext cx="0" cy="4572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4" name="Line 89">
            <a:extLst>
              <a:ext uri="{FF2B5EF4-FFF2-40B4-BE49-F238E27FC236}">
                <a16:creationId xmlns:a16="http://schemas.microsoft.com/office/drawing/2014/main" id="{D8B10B33-3A5E-469B-A7DF-2CE438B68D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62600" y="5105400"/>
            <a:ext cx="152400" cy="152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5" name="Line 90">
            <a:extLst>
              <a:ext uri="{FF2B5EF4-FFF2-40B4-BE49-F238E27FC236}">
                <a16:creationId xmlns:a16="http://schemas.microsoft.com/office/drawing/2014/main" id="{3D9BCC70-3862-411D-BB29-CB0F12F4C39F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5257800"/>
            <a:ext cx="0" cy="4572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6" name="Line 91">
            <a:extLst>
              <a:ext uri="{FF2B5EF4-FFF2-40B4-BE49-F238E27FC236}">
                <a16:creationId xmlns:a16="http://schemas.microsoft.com/office/drawing/2014/main" id="{BC18311C-8362-46D4-80C8-B979C23398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19800" y="5105400"/>
            <a:ext cx="152400" cy="152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7" name="Line 92">
            <a:extLst>
              <a:ext uri="{FF2B5EF4-FFF2-40B4-BE49-F238E27FC236}">
                <a16:creationId xmlns:a16="http://schemas.microsoft.com/office/drawing/2014/main" id="{42B4E7AA-65A3-4D3F-9A00-73CE8C583FE1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5257800"/>
            <a:ext cx="0" cy="4572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8" name="Line 93">
            <a:extLst>
              <a:ext uri="{FF2B5EF4-FFF2-40B4-BE49-F238E27FC236}">
                <a16:creationId xmlns:a16="http://schemas.microsoft.com/office/drawing/2014/main" id="{1939C5F7-7B72-4282-9BF1-48F6252F79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77000" y="5105400"/>
            <a:ext cx="152400" cy="152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9" name="Line 94">
            <a:extLst>
              <a:ext uri="{FF2B5EF4-FFF2-40B4-BE49-F238E27FC236}">
                <a16:creationId xmlns:a16="http://schemas.microsoft.com/office/drawing/2014/main" id="{F6D37C05-F9CF-43B3-BC2D-F8FB42D9A96B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5257800"/>
            <a:ext cx="0" cy="4572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0" name="Line 95">
            <a:extLst>
              <a:ext uri="{FF2B5EF4-FFF2-40B4-BE49-F238E27FC236}">
                <a16:creationId xmlns:a16="http://schemas.microsoft.com/office/drawing/2014/main" id="{B450E698-67DF-4B47-BE96-DAEE1D02A28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34200" y="5105400"/>
            <a:ext cx="152400" cy="152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1" name="Line 96">
            <a:extLst>
              <a:ext uri="{FF2B5EF4-FFF2-40B4-BE49-F238E27FC236}">
                <a16:creationId xmlns:a16="http://schemas.microsoft.com/office/drawing/2014/main" id="{1ED02CA6-3277-498A-BB28-8CC8EFE0A94F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5257800"/>
            <a:ext cx="0" cy="4572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2" name="Line 97">
            <a:extLst>
              <a:ext uri="{FF2B5EF4-FFF2-40B4-BE49-F238E27FC236}">
                <a16:creationId xmlns:a16="http://schemas.microsoft.com/office/drawing/2014/main" id="{6A12E070-73D2-4CBC-88C6-5B07F158213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91400" y="5105400"/>
            <a:ext cx="152400" cy="152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3" name="Rectangle 98">
            <a:extLst>
              <a:ext uri="{FF2B5EF4-FFF2-40B4-BE49-F238E27FC236}">
                <a16:creationId xmlns:a16="http://schemas.microsoft.com/office/drawing/2014/main" id="{7DA043BC-F559-422A-9FE2-C4955F96D6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5257800"/>
            <a:ext cx="2286000" cy="457200"/>
          </a:xfrm>
          <a:prstGeom prst="rect">
            <a:avLst/>
          </a:prstGeom>
          <a:solidFill>
            <a:srgbClr val="FFFFFF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4" name="Line 99">
            <a:extLst>
              <a:ext uri="{FF2B5EF4-FFF2-40B4-BE49-F238E27FC236}">
                <a16:creationId xmlns:a16="http://schemas.microsoft.com/office/drawing/2014/main" id="{51D9E4E2-5838-4D7C-A79F-72E9C1BD8E4F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5257800"/>
            <a:ext cx="0" cy="4572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5" name="Line 100">
            <a:extLst>
              <a:ext uri="{FF2B5EF4-FFF2-40B4-BE49-F238E27FC236}">
                <a16:creationId xmlns:a16="http://schemas.microsoft.com/office/drawing/2014/main" id="{2060B5D9-F5BA-443A-A79F-3B600C4BFDB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19200" y="5105400"/>
            <a:ext cx="152400" cy="152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6" name="Line 101">
            <a:extLst>
              <a:ext uri="{FF2B5EF4-FFF2-40B4-BE49-F238E27FC236}">
                <a16:creationId xmlns:a16="http://schemas.microsoft.com/office/drawing/2014/main" id="{30FB29B2-6A98-46C5-B37E-E180DF9C6C2A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5257800"/>
            <a:ext cx="0" cy="4572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7" name="Line 102">
            <a:extLst>
              <a:ext uri="{FF2B5EF4-FFF2-40B4-BE49-F238E27FC236}">
                <a16:creationId xmlns:a16="http://schemas.microsoft.com/office/drawing/2014/main" id="{8C30B44C-2522-447D-AE63-A171B1EFA7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76400" y="5105400"/>
            <a:ext cx="152400" cy="152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8" name="Line 103">
            <a:extLst>
              <a:ext uri="{FF2B5EF4-FFF2-40B4-BE49-F238E27FC236}">
                <a16:creationId xmlns:a16="http://schemas.microsoft.com/office/drawing/2014/main" id="{102E0C04-6934-46BA-83A0-45A4D66DA2E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257800"/>
            <a:ext cx="0" cy="4572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9" name="Line 104">
            <a:extLst>
              <a:ext uri="{FF2B5EF4-FFF2-40B4-BE49-F238E27FC236}">
                <a16:creationId xmlns:a16="http://schemas.microsoft.com/office/drawing/2014/main" id="{F871E4A8-6E09-4C9D-B69F-77D11D48FDA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33600" y="5105400"/>
            <a:ext cx="152400" cy="152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0" name="Line 105">
            <a:extLst>
              <a:ext uri="{FF2B5EF4-FFF2-40B4-BE49-F238E27FC236}">
                <a16:creationId xmlns:a16="http://schemas.microsoft.com/office/drawing/2014/main" id="{921841ED-E5E4-4ACB-8F1E-CEAFC46BB86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5257800"/>
            <a:ext cx="0" cy="4572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1" name="Line 106">
            <a:extLst>
              <a:ext uri="{FF2B5EF4-FFF2-40B4-BE49-F238E27FC236}">
                <a16:creationId xmlns:a16="http://schemas.microsoft.com/office/drawing/2014/main" id="{BBDA2239-94FB-4991-B493-A0427AD700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90800" y="5105400"/>
            <a:ext cx="152400" cy="152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2" name="Line 107">
            <a:extLst>
              <a:ext uri="{FF2B5EF4-FFF2-40B4-BE49-F238E27FC236}">
                <a16:creationId xmlns:a16="http://schemas.microsoft.com/office/drawing/2014/main" id="{36F46905-0378-4F92-ACCB-97AFA03A828E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5257800"/>
            <a:ext cx="0" cy="4572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3" name="Line 108">
            <a:extLst>
              <a:ext uri="{FF2B5EF4-FFF2-40B4-BE49-F238E27FC236}">
                <a16:creationId xmlns:a16="http://schemas.microsoft.com/office/drawing/2014/main" id="{CA1E3D30-3434-4268-84E3-E5DF2CB273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48000" y="5105400"/>
            <a:ext cx="152400" cy="152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4" name="Line 109">
            <a:extLst>
              <a:ext uri="{FF2B5EF4-FFF2-40B4-BE49-F238E27FC236}">
                <a16:creationId xmlns:a16="http://schemas.microsoft.com/office/drawing/2014/main" id="{0B5FD9AD-A8EE-47EF-B0F9-106126C9AA88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5257800"/>
            <a:ext cx="0" cy="4572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5" name="Line 110">
            <a:extLst>
              <a:ext uri="{FF2B5EF4-FFF2-40B4-BE49-F238E27FC236}">
                <a16:creationId xmlns:a16="http://schemas.microsoft.com/office/drawing/2014/main" id="{27E7C1C2-F217-43DD-81AA-ADF729DF558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5200" y="5105400"/>
            <a:ext cx="152400" cy="152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3000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6" name="Text Box 111">
            <a:extLst>
              <a:ext uri="{FF2B5EF4-FFF2-40B4-BE49-F238E27FC236}">
                <a16:creationId xmlns:a16="http://schemas.microsoft.com/office/drawing/2014/main" id="{B4D880FA-A866-4FB2-A1D7-434FE5140B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13" y="1981200"/>
            <a:ext cx="844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front</a:t>
            </a:r>
            <a:endParaRPr kumimoji="1" lang="en-US" altLang="zh-CN" b="0">
              <a:solidFill>
                <a:srgbClr val="000099"/>
              </a:solidFill>
              <a:ea typeface="宋体" panose="02010600030101010101" pitchFamily="2" charset="-122"/>
            </a:endParaRPr>
          </a:p>
        </p:txBody>
      </p:sp>
      <p:sp>
        <p:nvSpPr>
          <p:cNvPr id="267" name="Text Box 112">
            <a:extLst>
              <a:ext uri="{FF2B5EF4-FFF2-40B4-BE49-F238E27FC236}">
                <a16:creationId xmlns:a16="http://schemas.microsoft.com/office/drawing/2014/main" id="{C3D1B2D7-9BD9-4EAC-B19D-43D1139232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7650" y="1981200"/>
            <a:ext cx="741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rear</a:t>
            </a:r>
            <a:endParaRPr kumimoji="1" lang="en-US" altLang="zh-CN" b="0">
              <a:solidFill>
                <a:srgbClr val="000099"/>
              </a:solidFill>
              <a:ea typeface="宋体" panose="02010600030101010101" pitchFamily="2" charset="-122"/>
            </a:endParaRPr>
          </a:p>
        </p:txBody>
      </p:sp>
      <p:sp>
        <p:nvSpPr>
          <p:cNvPr id="268" name="Line 113">
            <a:extLst>
              <a:ext uri="{FF2B5EF4-FFF2-40B4-BE49-F238E27FC236}">
                <a16:creationId xmlns:a16="http://schemas.microsoft.com/office/drawing/2014/main" id="{5E00547F-A141-48A3-ABF1-2AF599527ED5}"/>
              </a:ext>
            </a:extLst>
          </p:cNvPr>
          <p:cNvSpPr>
            <a:spLocks noChangeShapeType="1"/>
          </p:cNvSpPr>
          <p:nvPr/>
        </p:nvSpPr>
        <p:spPr bwMode="auto">
          <a:xfrm>
            <a:off x="935038" y="1879600"/>
            <a:ext cx="73025" cy="217488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 type="stealth" w="lg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sz="1800" b="0" baseline="3000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9" name="Line 114">
            <a:extLst>
              <a:ext uri="{FF2B5EF4-FFF2-40B4-BE49-F238E27FC236}">
                <a16:creationId xmlns:a16="http://schemas.microsoft.com/office/drawing/2014/main" id="{425BE297-FF8C-483D-800F-8183053E41A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42988" y="1881188"/>
            <a:ext cx="557212" cy="252412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sz="1800" b="0" baseline="3000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0" name="Text Box 115">
            <a:extLst>
              <a:ext uri="{FF2B5EF4-FFF2-40B4-BE49-F238E27FC236}">
                <a16:creationId xmlns:a16="http://schemas.microsoft.com/office/drawing/2014/main" id="{4C744BDD-F12A-4391-99D7-FAB052B7AD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1944688"/>
            <a:ext cx="1179513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2600">
                <a:solidFill>
                  <a:srgbClr val="000099"/>
                </a:solidFill>
                <a:ea typeface="仿宋_GB2312" pitchFamily="49" charset="-122"/>
              </a:rPr>
              <a:t>空队列</a:t>
            </a:r>
          </a:p>
        </p:txBody>
      </p:sp>
      <p:sp>
        <p:nvSpPr>
          <p:cNvPr id="271" name="Text Box 116">
            <a:extLst>
              <a:ext uri="{FF2B5EF4-FFF2-40B4-BE49-F238E27FC236}">
                <a16:creationId xmlns:a16="http://schemas.microsoft.com/office/drawing/2014/main" id="{A050F03D-D465-47D4-8153-A7D0664AE8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2163" y="1981200"/>
            <a:ext cx="844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front</a:t>
            </a:r>
            <a:endParaRPr kumimoji="1" lang="en-US" altLang="zh-CN" b="0">
              <a:solidFill>
                <a:srgbClr val="000099"/>
              </a:solidFill>
              <a:ea typeface="宋体" panose="02010600030101010101" pitchFamily="2" charset="-122"/>
            </a:endParaRPr>
          </a:p>
        </p:txBody>
      </p:sp>
      <p:sp>
        <p:nvSpPr>
          <p:cNvPr id="272" name="Text Box 117">
            <a:extLst>
              <a:ext uri="{FF2B5EF4-FFF2-40B4-BE49-F238E27FC236}">
                <a16:creationId xmlns:a16="http://schemas.microsoft.com/office/drawing/2014/main" id="{D1F5EAFE-C3B5-42D7-81A9-E9EA47B769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8300" y="1981200"/>
            <a:ext cx="741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rear</a:t>
            </a:r>
            <a:endParaRPr kumimoji="1" lang="en-US" altLang="zh-CN" b="0">
              <a:solidFill>
                <a:srgbClr val="000099"/>
              </a:solidFill>
              <a:ea typeface="宋体" panose="02010600030101010101" pitchFamily="2" charset="-122"/>
            </a:endParaRPr>
          </a:p>
        </p:txBody>
      </p:sp>
      <p:sp>
        <p:nvSpPr>
          <p:cNvPr id="273" name="Line 118">
            <a:extLst>
              <a:ext uri="{FF2B5EF4-FFF2-40B4-BE49-F238E27FC236}">
                <a16:creationId xmlns:a16="http://schemas.microsoft.com/office/drawing/2014/main" id="{4C6E25C8-FD44-4A2E-B0E7-450FE97939B4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463" y="1844675"/>
            <a:ext cx="160337" cy="252413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 type="stealth" w="lg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sz="1800" b="0" baseline="3000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4" name="Line 119">
            <a:extLst>
              <a:ext uri="{FF2B5EF4-FFF2-40B4-BE49-F238E27FC236}">
                <a16:creationId xmlns:a16="http://schemas.microsoft.com/office/drawing/2014/main" id="{B2CE7850-244C-4F96-90C5-33C3AE132A1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292725" y="1844675"/>
            <a:ext cx="466725" cy="288925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sz="1800" b="0" baseline="3000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5" name="Text Box 120">
            <a:extLst>
              <a:ext uri="{FF2B5EF4-FFF2-40B4-BE49-F238E27FC236}">
                <a16:creationId xmlns:a16="http://schemas.microsoft.com/office/drawing/2014/main" id="{A519E4DD-62BE-4122-925E-1AA486132E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0450" y="1966913"/>
            <a:ext cx="108585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2600">
                <a:solidFill>
                  <a:srgbClr val="000099"/>
                </a:solidFill>
                <a:ea typeface="隶书" panose="02010509060101010101" pitchFamily="49" charset="-122"/>
              </a:rPr>
              <a:t>A</a:t>
            </a:r>
            <a:r>
              <a:rPr kumimoji="1" lang="zh-CN" altLang="en-US" sz="2600">
                <a:solidFill>
                  <a:srgbClr val="000099"/>
                </a:solidFill>
                <a:ea typeface="仿宋_GB2312" pitchFamily="49" charset="-122"/>
              </a:rPr>
              <a:t>进队</a:t>
            </a:r>
          </a:p>
        </p:txBody>
      </p:sp>
      <p:sp>
        <p:nvSpPr>
          <p:cNvPr id="276" name="Text Box 121">
            <a:extLst>
              <a:ext uri="{FF2B5EF4-FFF2-40B4-BE49-F238E27FC236}">
                <a16:creationId xmlns:a16="http://schemas.microsoft.com/office/drawing/2014/main" id="{1B1839E8-266E-45B8-A059-C48E3135F5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4075" y="1309688"/>
            <a:ext cx="4413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2800">
                <a:solidFill>
                  <a:srgbClr val="CC0000"/>
                </a:solidFill>
                <a:ea typeface="宋体" panose="02010600030101010101" pitchFamily="2" charset="-122"/>
              </a:rPr>
              <a:t>A</a:t>
            </a:r>
            <a:endParaRPr kumimoji="1" lang="en-US" altLang="zh-CN" b="0">
              <a:solidFill>
                <a:srgbClr val="000099"/>
              </a:solidFill>
              <a:ea typeface="宋体" panose="02010600030101010101" pitchFamily="2" charset="-122"/>
            </a:endParaRPr>
          </a:p>
        </p:txBody>
      </p:sp>
      <p:sp>
        <p:nvSpPr>
          <p:cNvPr id="277" name="Text Box 122">
            <a:extLst>
              <a:ext uri="{FF2B5EF4-FFF2-40B4-BE49-F238E27FC236}">
                <a16:creationId xmlns:a16="http://schemas.microsoft.com/office/drawing/2014/main" id="{FE929566-0A78-4258-98DE-7B24F5C17C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963" y="3276600"/>
            <a:ext cx="844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front</a:t>
            </a:r>
            <a:endParaRPr kumimoji="1" lang="en-US" altLang="zh-CN" b="0">
              <a:solidFill>
                <a:srgbClr val="000099"/>
              </a:solidFill>
              <a:ea typeface="宋体" panose="02010600030101010101" pitchFamily="2" charset="-122"/>
            </a:endParaRPr>
          </a:p>
        </p:txBody>
      </p:sp>
      <p:sp>
        <p:nvSpPr>
          <p:cNvPr id="278" name="Text Box 123">
            <a:extLst>
              <a:ext uri="{FF2B5EF4-FFF2-40B4-BE49-F238E27FC236}">
                <a16:creationId xmlns:a16="http://schemas.microsoft.com/office/drawing/2014/main" id="{2A9E6AC9-95C4-49F1-B869-E8C99642F7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3284538"/>
            <a:ext cx="7413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rear</a:t>
            </a:r>
            <a:endParaRPr kumimoji="1" lang="en-US" altLang="zh-CN" b="0">
              <a:solidFill>
                <a:srgbClr val="000099"/>
              </a:solidFill>
              <a:ea typeface="宋体" panose="02010600030101010101" pitchFamily="2" charset="-122"/>
            </a:endParaRPr>
          </a:p>
        </p:txBody>
      </p:sp>
      <p:sp>
        <p:nvSpPr>
          <p:cNvPr id="279" name="Line 124">
            <a:extLst>
              <a:ext uri="{FF2B5EF4-FFF2-40B4-BE49-F238E27FC236}">
                <a16:creationId xmlns:a16="http://schemas.microsoft.com/office/drawing/2014/main" id="{47FB56BB-5E6E-4C7B-ACCA-375D51CC2E15}"/>
              </a:ext>
            </a:extLst>
          </p:cNvPr>
          <p:cNvSpPr>
            <a:spLocks noChangeShapeType="1"/>
          </p:cNvSpPr>
          <p:nvPr/>
        </p:nvSpPr>
        <p:spPr bwMode="auto">
          <a:xfrm>
            <a:off x="985838" y="3124200"/>
            <a:ext cx="165100" cy="268288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 type="stealth" w="lg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sz="1800" b="0" baseline="3000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0" name="Line 125">
            <a:extLst>
              <a:ext uri="{FF2B5EF4-FFF2-40B4-BE49-F238E27FC236}">
                <a16:creationId xmlns:a16="http://schemas.microsoft.com/office/drawing/2014/main" id="{87B92F43-239F-44F8-AF82-3C7377E0491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854200" y="3124200"/>
            <a:ext cx="125413" cy="268288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sz="1800" b="0" baseline="3000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1" name="Text Box 126">
            <a:extLst>
              <a:ext uri="{FF2B5EF4-FFF2-40B4-BE49-F238E27FC236}">
                <a16:creationId xmlns:a16="http://schemas.microsoft.com/office/drawing/2014/main" id="{1222CD49-72B3-416C-B3F3-787088973B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4250" y="3262313"/>
            <a:ext cx="1068388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2600">
                <a:solidFill>
                  <a:srgbClr val="000099"/>
                </a:solidFill>
                <a:ea typeface="隶书" panose="02010509060101010101" pitchFamily="49" charset="-122"/>
              </a:rPr>
              <a:t>B</a:t>
            </a:r>
            <a:r>
              <a:rPr kumimoji="1" lang="zh-CN" altLang="en-US" sz="2600">
                <a:solidFill>
                  <a:srgbClr val="000099"/>
                </a:solidFill>
                <a:ea typeface="仿宋_GB2312" pitchFamily="49" charset="-122"/>
              </a:rPr>
              <a:t>进队</a:t>
            </a:r>
          </a:p>
        </p:txBody>
      </p:sp>
      <p:sp>
        <p:nvSpPr>
          <p:cNvPr id="282" name="Text Box 127">
            <a:extLst>
              <a:ext uri="{FF2B5EF4-FFF2-40B4-BE49-F238E27FC236}">
                <a16:creationId xmlns:a16="http://schemas.microsoft.com/office/drawing/2014/main" id="{9683D711-4627-40C0-AD23-6D58BAE20C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738" y="2605088"/>
            <a:ext cx="8556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2800">
                <a:solidFill>
                  <a:srgbClr val="CC0000"/>
                </a:solidFill>
                <a:ea typeface="宋体" panose="02010600030101010101" pitchFamily="2" charset="-122"/>
              </a:rPr>
              <a:t>A  B</a:t>
            </a:r>
            <a:endParaRPr kumimoji="1" lang="en-US" altLang="zh-CN" b="0">
              <a:solidFill>
                <a:srgbClr val="000099"/>
              </a:solidFill>
              <a:ea typeface="宋体" panose="02010600030101010101" pitchFamily="2" charset="-122"/>
            </a:endParaRPr>
          </a:p>
        </p:txBody>
      </p:sp>
      <p:sp>
        <p:nvSpPr>
          <p:cNvPr id="283" name="Text Box 128">
            <a:extLst>
              <a:ext uri="{FF2B5EF4-FFF2-40B4-BE49-F238E27FC236}">
                <a16:creationId xmlns:a16="http://schemas.microsoft.com/office/drawing/2014/main" id="{78D0CBCC-225D-4335-89B0-B5E4EF8CA7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8825" y="3262313"/>
            <a:ext cx="844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front</a:t>
            </a:r>
            <a:endParaRPr kumimoji="1" lang="en-US" altLang="zh-CN" b="0">
              <a:solidFill>
                <a:srgbClr val="000099"/>
              </a:solidFill>
              <a:ea typeface="宋体" panose="02010600030101010101" pitchFamily="2" charset="-122"/>
            </a:endParaRPr>
          </a:p>
        </p:txBody>
      </p:sp>
      <p:sp>
        <p:nvSpPr>
          <p:cNvPr id="284" name="Text Box 129">
            <a:extLst>
              <a:ext uri="{FF2B5EF4-FFF2-40B4-BE49-F238E27FC236}">
                <a16:creationId xmlns:a16="http://schemas.microsoft.com/office/drawing/2014/main" id="{9213FC1D-380A-42EA-A4AF-661308B309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4963" y="3262313"/>
            <a:ext cx="7413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rear</a:t>
            </a:r>
            <a:endParaRPr kumimoji="1" lang="en-US" altLang="zh-CN" b="0">
              <a:solidFill>
                <a:srgbClr val="000099"/>
              </a:solidFill>
              <a:ea typeface="宋体" panose="02010600030101010101" pitchFamily="2" charset="-122"/>
            </a:endParaRPr>
          </a:p>
        </p:txBody>
      </p:sp>
      <p:sp>
        <p:nvSpPr>
          <p:cNvPr id="285" name="Line 130">
            <a:extLst>
              <a:ext uri="{FF2B5EF4-FFF2-40B4-BE49-F238E27FC236}">
                <a16:creationId xmlns:a16="http://schemas.microsoft.com/office/drawing/2014/main" id="{93E4847B-69DA-46AD-BB1C-62E213BE0C08}"/>
              </a:ext>
            </a:extLst>
          </p:cNvPr>
          <p:cNvSpPr>
            <a:spLocks noChangeShapeType="1"/>
          </p:cNvSpPr>
          <p:nvPr/>
        </p:nvSpPr>
        <p:spPr bwMode="auto">
          <a:xfrm>
            <a:off x="4895850" y="3141663"/>
            <a:ext cx="144463" cy="250825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 type="stealth" w="lg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sz="1800" b="0" baseline="3000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6" name="Line 131">
            <a:extLst>
              <a:ext uri="{FF2B5EF4-FFF2-40B4-BE49-F238E27FC236}">
                <a16:creationId xmlns:a16="http://schemas.microsoft.com/office/drawing/2014/main" id="{C210176F-9B16-4993-AC01-50A8AA3B40F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32475" y="3141663"/>
            <a:ext cx="817563" cy="250825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sz="1800" b="0" baseline="3000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7" name="Text Box 132">
            <a:extLst>
              <a:ext uri="{FF2B5EF4-FFF2-40B4-BE49-F238E27FC236}">
                <a16:creationId xmlns:a16="http://schemas.microsoft.com/office/drawing/2014/main" id="{210B65B2-5FF2-42C9-8E5F-8AADA568E2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1575" y="3248025"/>
            <a:ext cx="148907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2600">
                <a:solidFill>
                  <a:srgbClr val="000099"/>
                </a:solidFill>
                <a:ea typeface="隶书" panose="02010509060101010101" pitchFamily="49" charset="-122"/>
              </a:rPr>
              <a:t>C, D</a:t>
            </a:r>
            <a:r>
              <a:rPr kumimoji="1" lang="zh-CN" altLang="en-US" sz="2600">
                <a:solidFill>
                  <a:srgbClr val="000099"/>
                </a:solidFill>
                <a:ea typeface="仿宋_GB2312" pitchFamily="49" charset="-122"/>
              </a:rPr>
              <a:t>进队</a:t>
            </a:r>
          </a:p>
        </p:txBody>
      </p:sp>
      <p:sp>
        <p:nvSpPr>
          <p:cNvPr id="288" name="Text Box 133">
            <a:extLst>
              <a:ext uri="{FF2B5EF4-FFF2-40B4-BE49-F238E27FC236}">
                <a16:creationId xmlns:a16="http://schemas.microsoft.com/office/drawing/2014/main" id="{9A5A8674-37F0-4B90-B224-B30BB822C7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3600" y="2605088"/>
            <a:ext cx="18145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2800">
                <a:solidFill>
                  <a:srgbClr val="CC0000"/>
                </a:solidFill>
                <a:ea typeface="宋体" panose="02010600030101010101" pitchFamily="2" charset="-122"/>
              </a:rPr>
              <a:t>A  B   C  D</a:t>
            </a:r>
            <a:endParaRPr kumimoji="1" lang="en-US" altLang="zh-CN" b="0">
              <a:solidFill>
                <a:srgbClr val="000099"/>
              </a:solidFill>
              <a:ea typeface="宋体" panose="02010600030101010101" pitchFamily="2" charset="-122"/>
            </a:endParaRPr>
          </a:p>
        </p:txBody>
      </p:sp>
      <p:sp>
        <p:nvSpPr>
          <p:cNvPr id="289" name="Text Box 134">
            <a:extLst>
              <a:ext uri="{FF2B5EF4-FFF2-40B4-BE49-F238E27FC236}">
                <a16:creationId xmlns:a16="http://schemas.microsoft.com/office/drawing/2014/main" id="{F9BE29B2-1DC6-4634-84CB-B51520AFCC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963" y="4557713"/>
            <a:ext cx="844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front</a:t>
            </a:r>
            <a:endParaRPr kumimoji="1" lang="en-US" altLang="zh-CN" b="0">
              <a:solidFill>
                <a:srgbClr val="000099"/>
              </a:solidFill>
              <a:ea typeface="宋体" panose="02010600030101010101" pitchFamily="2" charset="-122"/>
            </a:endParaRPr>
          </a:p>
        </p:txBody>
      </p:sp>
      <p:sp>
        <p:nvSpPr>
          <p:cNvPr id="290" name="Text Box 135">
            <a:extLst>
              <a:ext uri="{FF2B5EF4-FFF2-40B4-BE49-F238E27FC236}">
                <a16:creationId xmlns:a16="http://schemas.microsoft.com/office/drawing/2014/main" id="{97559F38-332B-4EF1-8E31-F32313CFA0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2100" y="4557713"/>
            <a:ext cx="741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rear</a:t>
            </a:r>
            <a:endParaRPr kumimoji="1" lang="en-US" altLang="zh-CN" b="0">
              <a:solidFill>
                <a:srgbClr val="000099"/>
              </a:solidFill>
              <a:ea typeface="宋体" panose="02010600030101010101" pitchFamily="2" charset="-122"/>
            </a:endParaRPr>
          </a:p>
        </p:txBody>
      </p:sp>
      <p:sp>
        <p:nvSpPr>
          <p:cNvPr id="291" name="Line 136">
            <a:extLst>
              <a:ext uri="{FF2B5EF4-FFF2-40B4-BE49-F238E27FC236}">
                <a16:creationId xmlns:a16="http://schemas.microsoft.com/office/drawing/2014/main" id="{813BDD88-714E-4C48-82B3-1FE1CEA2B1C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19200" y="4437063"/>
            <a:ext cx="220663" cy="287337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 type="stealth" w="lg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sz="1800" b="0" baseline="3000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2" name="Line 137">
            <a:extLst>
              <a:ext uri="{FF2B5EF4-FFF2-40B4-BE49-F238E27FC236}">
                <a16:creationId xmlns:a16="http://schemas.microsoft.com/office/drawing/2014/main" id="{76247CA3-075A-420D-850B-FBD7F1055A1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1200" y="4437063"/>
            <a:ext cx="790575" cy="287337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sz="1800" b="0" baseline="3000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3" name="Text Box 138">
            <a:extLst>
              <a:ext uri="{FF2B5EF4-FFF2-40B4-BE49-F238E27FC236}">
                <a16:creationId xmlns:a16="http://schemas.microsoft.com/office/drawing/2014/main" id="{02B8960C-8E2C-456D-B2A5-A858627B7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6650" y="4543425"/>
            <a:ext cx="108585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2600">
                <a:solidFill>
                  <a:srgbClr val="000099"/>
                </a:solidFill>
                <a:ea typeface="隶书" panose="02010509060101010101" pitchFamily="49" charset="-122"/>
              </a:rPr>
              <a:t>A</a:t>
            </a:r>
            <a:r>
              <a:rPr kumimoji="1" lang="zh-CN" altLang="en-US" sz="2600">
                <a:solidFill>
                  <a:srgbClr val="000099"/>
                </a:solidFill>
                <a:ea typeface="仿宋_GB2312" pitchFamily="49" charset="-122"/>
              </a:rPr>
              <a:t>退队</a:t>
            </a:r>
          </a:p>
        </p:txBody>
      </p:sp>
      <p:sp>
        <p:nvSpPr>
          <p:cNvPr id="294" name="Text Box 139">
            <a:extLst>
              <a:ext uri="{FF2B5EF4-FFF2-40B4-BE49-F238E27FC236}">
                <a16:creationId xmlns:a16="http://schemas.microsoft.com/office/drawing/2014/main" id="{4DBE96F9-1BCD-4F3A-AF76-32465B2C90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3963" y="3886200"/>
            <a:ext cx="12906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2800">
                <a:solidFill>
                  <a:srgbClr val="CC0000"/>
                </a:solidFill>
                <a:ea typeface="宋体" panose="02010600030101010101" pitchFamily="2" charset="-122"/>
              </a:rPr>
              <a:t>B  C  D</a:t>
            </a:r>
            <a:endParaRPr kumimoji="1" lang="en-US" altLang="zh-CN" b="0">
              <a:solidFill>
                <a:srgbClr val="000099"/>
              </a:solidFill>
              <a:ea typeface="宋体" panose="02010600030101010101" pitchFamily="2" charset="-122"/>
            </a:endParaRPr>
          </a:p>
        </p:txBody>
      </p:sp>
      <p:sp>
        <p:nvSpPr>
          <p:cNvPr id="295" name="Text Box 140">
            <a:extLst>
              <a:ext uri="{FF2B5EF4-FFF2-40B4-BE49-F238E27FC236}">
                <a16:creationId xmlns:a16="http://schemas.microsoft.com/office/drawing/2014/main" id="{1F1513D3-ECD9-4141-9525-05DA5B0C8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8825" y="4557713"/>
            <a:ext cx="844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front</a:t>
            </a:r>
            <a:endParaRPr kumimoji="1" lang="en-US" altLang="zh-CN" b="0">
              <a:solidFill>
                <a:srgbClr val="000099"/>
              </a:solidFill>
              <a:ea typeface="宋体" panose="02010600030101010101" pitchFamily="2" charset="-122"/>
            </a:endParaRPr>
          </a:p>
        </p:txBody>
      </p:sp>
      <p:sp>
        <p:nvSpPr>
          <p:cNvPr id="296" name="Text Box 141">
            <a:extLst>
              <a:ext uri="{FF2B5EF4-FFF2-40B4-BE49-F238E27FC236}">
                <a16:creationId xmlns:a16="http://schemas.microsoft.com/office/drawing/2014/main" id="{5E5C9507-1F00-4FB4-90A6-7B4D322E2E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4963" y="4557713"/>
            <a:ext cx="7413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rear</a:t>
            </a:r>
            <a:endParaRPr kumimoji="1" lang="en-US" altLang="zh-CN" b="0">
              <a:solidFill>
                <a:srgbClr val="000099"/>
              </a:solidFill>
              <a:ea typeface="宋体" panose="02010600030101010101" pitchFamily="2" charset="-122"/>
            </a:endParaRPr>
          </a:p>
        </p:txBody>
      </p:sp>
      <p:sp>
        <p:nvSpPr>
          <p:cNvPr id="297" name="Line 142">
            <a:extLst>
              <a:ext uri="{FF2B5EF4-FFF2-40B4-BE49-F238E27FC236}">
                <a16:creationId xmlns:a16="http://schemas.microsoft.com/office/drawing/2014/main" id="{4D7B144B-D0A8-4E03-85D1-6C01F5D489D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72063" y="4437063"/>
            <a:ext cx="687387" cy="287337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 type="stealth" w="lg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sz="1800" b="0" baseline="3000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8" name="Line 143">
            <a:extLst>
              <a:ext uri="{FF2B5EF4-FFF2-40B4-BE49-F238E27FC236}">
                <a16:creationId xmlns:a16="http://schemas.microsoft.com/office/drawing/2014/main" id="{6F5BD027-A22D-40A4-92DF-CE315057179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34063" y="4437063"/>
            <a:ext cx="790575" cy="287337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sz="1800" b="0" baseline="3000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9" name="Text Box 144">
            <a:extLst>
              <a:ext uri="{FF2B5EF4-FFF2-40B4-BE49-F238E27FC236}">
                <a16:creationId xmlns:a16="http://schemas.microsoft.com/office/drawing/2014/main" id="{2D64B8EA-5A66-4312-89C2-D8D5E3F4F9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5388" y="4543425"/>
            <a:ext cx="1068387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2600">
                <a:solidFill>
                  <a:srgbClr val="000099"/>
                </a:solidFill>
                <a:ea typeface="隶书" panose="02010509060101010101" pitchFamily="49" charset="-122"/>
              </a:rPr>
              <a:t>B</a:t>
            </a:r>
            <a:r>
              <a:rPr kumimoji="1" lang="zh-CN" altLang="en-US" sz="2600">
                <a:solidFill>
                  <a:srgbClr val="000099"/>
                </a:solidFill>
                <a:ea typeface="仿宋_GB2312" pitchFamily="49" charset="-122"/>
              </a:rPr>
              <a:t>退队</a:t>
            </a:r>
          </a:p>
        </p:txBody>
      </p:sp>
      <p:sp>
        <p:nvSpPr>
          <p:cNvPr id="300" name="Text Box 145">
            <a:extLst>
              <a:ext uri="{FF2B5EF4-FFF2-40B4-BE49-F238E27FC236}">
                <a16:creationId xmlns:a16="http://schemas.microsoft.com/office/drawing/2014/main" id="{5CD79CAA-F9D7-4A3D-858B-C1511C211B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0700" y="3886200"/>
            <a:ext cx="8763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2800">
                <a:solidFill>
                  <a:srgbClr val="CC0000"/>
                </a:solidFill>
                <a:ea typeface="宋体" panose="02010600030101010101" pitchFamily="2" charset="-122"/>
              </a:rPr>
              <a:t>C  D</a:t>
            </a:r>
            <a:endParaRPr kumimoji="1" lang="en-US" altLang="zh-CN" b="0">
              <a:solidFill>
                <a:srgbClr val="000099"/>
              </a:solidFill>
              <a:ea typeface="宋体" panose="02010600030101010101" pitchFamily="2" charset="-122"/>
            </a:endParaRPr>
          </a:p>
        </p:txBody>
      </p:sp>
      <p:sp>
        <p:nvSpPr>
          <p:cNvPr id="301" name="Text Box 146">
            <a:extLst>
              <a:ext uri="{FF2B5EF4-FFF2-40B4-BE49-F238E27FC236}">
                <a16:creationId xmlns:a16="http://schemas.microsoft.com/office/drawing/2014/main" id="{075EF89D-A0F3-4F49-82F2-B56C93A6F6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853113"/>
            <a:ext cx="844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front</a:t>
            </a:r>
            <a:endParaRPr kumimoji="1" lang="en-US" altLang="zh-CN" b="0">
              <a:solidFill>
                <a:srgbClr val="000099"/>
              </a:solidFill>
              <a:ea typeface="宋体" panose="02010600030101010101" pitchFamily="2" charset="-122"/>
            </a:endParaRPr>
          </a:p>
        </p:txBody>
      </p:sp>
      <p:sp>
        <p:nvSpPr>
          <p:cNvPr id="302" name="Text Box 147">
            <a:extLst>
              <a:ext uri="{FF2B5EF4-FFF2-40B4-BE49-F238E27FC236}">
                <a16:creationId xmlns:a16="http://schemas.microsoft.com/office/drawing/2014/main" id="{7483F198-D4DE-422B-9538-D088882CE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1938" y="5853113"/>
            <a:ext cx="7413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rear</a:t>
            </a:r>
            <a:endParaRPr kumimoji="1" lang="en-US" altLang="zh-CN" b="0">
              <a:solidFill>
                <a:srgbClr val="000099"/>
              </a:solidFill>
              <a:ea typeface="宋体" panose="02010600030101010101" pitchFamily="2" charset="-122"/>
            </a:endParaRPr>
          </a:p>
        </p:txBody>
      </p:sp>
      <p:sp>
        <p:nvSpPr>
          <p:cNvPr id="303" name="Line 148">
            <a:extLst>
              <a:ext uri="{FF2B5EF4-FFF2-40B4-BE49-F238E27FC236}">
                <a16:creationId xmlns:a16="http://schemas.microsoft.com/office/drawing/2014/main" id="{5C8660E7-A327-4D31-85DA-9F245F312B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89038" y="5734050"/>
            <a:ext cx="719137" cy="28575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 type="stealth" w="lg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sz="1800" b="0" baseline="3000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4" name="Line 149">
            <a:extLst>
              <a:ext uri="{FF2B5EF4-FFF2-40B4-BE49-F238E27FC236}">
                <a16:creationId xmlns:a16="http://schemas.microsoft.com/office/drawing/2014/main" id="{4C183294-DC77-42AC-B595-9F32FF82445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51038" y="5734050"/>
            <a:ext cx="2225675" cy="28575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sz="1800" b="0" baseline="3000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5" name="Text Box 150">
            <a:extLst>
              <a:ext uri="{FF2B5EF4-FFF2-40B4-BE49-F238E27FC236}">
                <a16:creationId xmlns:a16="http://schemas.microsoft.com/office/drawing/2014/main" id="{E740ADBA-04DD-406A-8877-E3A2972DD5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6850" y="5838825"/>
            <a:ext cx="184044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2600" dirty="0">
                <a:solidFill>
                  <a:srgbClr val="000099"/>
                </a:solidFill>
                <a:ea typeface="隶书" panose="02010509060101010101" pitchFamily="49" charset="-122"/>
              </a:rPr>
              <a:t>E, F, G</a:t>
            </a:r>
            <a:r>
              <a:rPr kumimoji="1" lang="zh-CN" altLang="en-US" sz="2600" dirty="0">
                <a:solidFill>
                  <a:srgbClr val="000099"/>
                </a:solidFill>
                <a:ea typeface="仿宋_GB2312" pitchFamily="49" charset="-122"/>
              </a:rPr>
              <a:t>进队</a:t>
            </a:r>
          </a:p>
        </p:txBody>
      </p:sp>
      <p:sp>
        <p:nvSpPr>
          <p:cNvPr id="306" name="Text Box 151">
            <a:extLst>
              <a:ext uri="{FF2B5EF4-FFF2-40B4-BE49-F238E27FC236}">
                <a16:creationId xmlns:a16="http://schemas.microsoft.com/office/drawing/2014/main" id="{74EC2CA9-52A7-4003-A9DC-CF3D4FBA49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5195888"/>
            <a:ext cx="22288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2800">
                <a:solidFill>
                  <a:srgbClr val="CC0000"/>
                </a:solidFill>
                <a:ea typeface="宋体" panose="02010600030101010101" pitchFamily="2" charset="-122"/>
              </a:rPr>
              <a:t>C  D  E  F   G</a:t>
            </a:r>
            <a:endParaRPr kumimoji="1" lang="en-US" altLang="zh-CN" b="0">
              <a:solidFill>
                <a:srgbClr val="000099"/>
              </a:solidFill>
              <a:ea typeface="宋体" panose="02010600030101010101" pitchFamily="2" charset="-122"/>
            </a:endParaRPr>
          </a:p>
        </p:txBody>
      </p:sp>
      <p:sp>
        <p:nvSpPr>
          <p:cNvPr id="307" name="Text Box 152">
            <a:extLst>
              <a:ext uri="{FF2B5EF4-FFF2-40B4-BE49-F238E27FC236}">
                <a16:creationId xmlns:a16="http://schemas.microsoft.com/office/drawing/2014/main" id="{25C58163-A1CA-4ED0-87EC-CAC0B44EF3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5195888"/>
            <a:ext cx="22288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2800">
                <a:solidFill>
                  <a:srgbClr val="CC0000"/>
                </a:solidFill>
                <a:ea typeface="宋体" panose="02010600030101010101" pitchFamily="2" charset="-122"/>
              </a:rPr>
              <a:t>C  D  E  F   G</a:t>
            </a:r>
            <a:endParaRPr kumimoji="1" lang="en-US" altLang="zh-CN" b="0">
              <a:solidFill>
                <a:srgbClr val="000099"/>
              </a:solidFill>
              <a:ea typeface="宋体" panose="02010600030101010101" pitchFamily="2" charset="-122"/>
            </a:endParaRPr>
          </a:p>
        </p:txBody>
      </p:sp>
      <p:sp>
        <p:nvSpPr>
          <p:cNvPr id="308" name="Text Box 153">
            <a:extLst>
              <a:ext uri="{FF2B5EF4-FFF2-40B4-BE49-F238E27FC236}">
                <a16:creationId xmlns:a16="http://schemas.microsoft.com/office/drawing/2014/main" id="{08650EA8-002B-453A-AAED-C42E7BC1E5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2950" y="5838825"/>
            <a:ext cx="844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front</a:t>
            </a:r>
            <a:endParaRPr kumimoji="1" lang="en-US" altLang="zh-CN" b="0">
              <a:solidFill>
                <a:srgbClr val="000099"/>
              </a:solidFill>
              <a:ea typeface="宋体" panose="02010600030101010101" pitchFamily="2" charset="-122"/>
            </a:endParaRPr>
          </a:p>
        </p:txBody>
      </p:sp>
      <p:sp>
        <p:nvSpPr>
          <p:cNvPr id="309" name="Text Box 154">
            <a:extLst>
              <a:ext uri="{FF2B5EF4-FFF2-40B4-BE49-F238E27FC236}">
                <a16:creationId xmlns:a16="http://schemas.microsoft.com/office/drawing/2014/main" id="{4FB25443-574C-45A5-BBBF-906EBAB12E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9088" y="5838825"/>
            <a:ext cx="7413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rear</a:t>
            </a:r>
            <a:endParaRPr kumimoji="1" lang="en-US" altLang="zh-CN" b="0">
              <a:solidFill>
                <a:srgbClr val="000099"/>
              </a:solidFill>
              <a:ea typeface="宋体" panose="02010600030101010101" pitchFamily="2" charset="-122"/>
            </a:endParaRPr>
          </a:p>
        </p:txBody>
      </p:sp>
      <p:sp>
        <p:nvSpPr>
          <p:cNvPr id="310" name="Line 155">
            <a:extLst>
              <a:ext uri="{FF2B5EF4-FFF2-40B4-BE49-F238E27FC236}">
                <a16:creationId xmlns:a16="http://schemas.microsoft.com/office/drawing/2014/main" id="{817C859B-9109-4B3A-A9F7-36A547D3CD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56188" y="5734050"/>
            <a:ext cx="703262" cy="271463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 type="stealth" w="lg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sz="1800" b="0" baseline="3000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1" name="Line 156">
            <a:extLst>
              <a:ext uri="{FF2B5EF4-FFF2-40B4-BE49-F238E27FC236}">
                <a16:creationId xmlns:a16="http://schemas.microsoft.com/office/drawing/2014/main" id="{39D2683A-D394-4143-A39C-47006557C6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18188" y="5697538"/>
            <a:ext cx="2246312" cy="307975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sz="1800" b="0" baseline="3000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2" name="Text Box 157">
            <a:extLst>
              <a:ext uri="{FF2B5EF4-FFF2-40B4-BE49-F238E27FC236}">
                <a16:creationId xmlns:a16="http://schemas.microsoft.com/office/drawing/2014/main" id="{DA1995F5-324B-4941-B498-53A99FE8D8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1475" y="5824538"/>
            <a:ext cx="1972015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2600" dirty="0">
                <a:solidFill>
                  <a:srgbClr val="000099"/>
                </a:solidFill>
                <a:ea typeface="隶书" panose="02010509060101010101" pitchFamily="49" charset="-122"/>
              </a:rPr>
              <a:t>H</a:t>
            </a:r>
            <a:r>
              <a:rPr kumimoji="1" lang="zh-CN" altLang="en-US" sz="2600" dirty="0">
                <a:solidFill>
                  <a:srgbClr val="000099"/>
                </a:solidFill>
                <a:latin typeface="仿宋_GB2312" pitchFamily="49" charset="-122"/>
                <a:ea typeface="仿宋_GB2312" pitchFamily="49" charset="-122"/>
              </a:rPr>
              <a:t>进队</a:t>
            </a:r>
            <a:r>
              <a:rPr kumimoji="1" lang="en-US" altLang="zh-CN" sz="2600" dirty="0">
                <a:solidFill>
                  <a:srgbClr val="000099"/>
                </a:solidFill>
                <a:latin typeface="仿宋_GB2312" pitchFamily="49" charset="-122"/>
                <a:ea typeface="仿宋_GB2312" pitchFamily="49" charset="-122"/>
              </a:rPr>
              <a:t>, </a:t>
            </a:r>
            <a:r>
              <a:rPr kumimoji="1" lang="zh-CN" altLang="en-US" sz="2600" dirty="0">
                <a:solidFill>
                  <a:srgbClr val="000099"/>
                </a:solidFill>
                <a:latin typeface="仿宋_GB2312" pitchFamily="49" charset="-122"/>
                <a:ea typeface="仿宋_GB2312" pitchFamily="49" charset="-122"/>
              </a:rPr>
              <a:t>溢出</a:t>
            </a:r>
          </a:p>
        </p:txBody>
      </p:sp>
    </p:spTree>
    <p:extLst>
      <p:ext uri="{BB962C8B-B14F-4D97-AF65-F5344CB8AC3E}">
        <p14:creationId xmlns:p14="http://schemas.microsoft.com/office/powerpoint/2010/main" val="1482597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AAB27F-3D24-40C0-A0BD-0D5D9A060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顺序队列的进队和出队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46B6D3-EDE3-4364-8698-DC76D9A08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533" y="836712"/>
            <a:ext cx="8568951" cy="5832648"/>
          </a:xfrm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rear </a:t>
            </a:r>
            <a:r>
              <a:rPr lang="zh-CN" altLang="en-US" dirty="0"/>
              <a:t>指向队尾元素的后一个位置，</a:t>
            </a:r>
            <a:r>
              <a:rPr lang="en-US" altLang="zh-CN" dirty="0">
                <a:solidFill>
                  <a:srgbClr val="FF0000"/>
                </a:solidFill>
              </a:rPr>
              <a:t>front </a:t>
            </a:r>
            <a:r>
              <a:rPr lang="zh-CN" altLang="en-US" dirty="0"/>
              <a:t>指向队头位置。（或者 </a:t>
            </a:r>
            <a:r>
              <a:rPr lang="en-US" altLang="zh-CN" dirty="0">
                <a:solidFill>
                  <a:srgbClr val="FF0000"/>
                </a:solidFill>
              </a:rPr>
              <a:t>rear </a:t>
            </a:r>
            <a:r>
              <a:rPr lang="zh-CN" altLang="en-US" dirty="0"/>
              <a:t>指向队尾位置，</a:t>
            </a:r>
            <a:r>
              <a:rPr lang="en-US" altLang="zh-CN" dirty="0">
                <a:solidFill>
                  <a:srgbClr val="FF0000"/>
                </a:solidFill>
              </a:rPr>
              <a:t>front </a:t>
            </a:r>
            <a:r>
              <a:rPr lang="zh-CN" altLang="en-US" dirty="0"/>
              <a:t>指向队头元素的前一个位置）</a:t>
            </a:r>
            <a:endParaRPr lang="en-US" altLang="zh-CN" dirty="0"/>
          </a:p>
          <a:p>
            <a:r>
              <a:rPr lang="zh-CN" altLang="en-US" dirty="0"/>
              <a:t>元素进队，</a:t>
            </a:r>
            <a:r>
              <a:rPr lang="en-US" altLang="zh-CN" dirty="0">
                <a:solidFill>
                  <a:srgbClr val="FF0000"/>
                </a:solidFill>
              </a:rPr>
              <a:t>rear </a:t>
            </a:r>
            <a:r>
              <a:rPr lang="zh-CN" altLang="en-US" dirty="0"/>
              <a:t>增</a:t>
            </a:r>
            <a:r>
              <a:rPr lang="en-US" altLang="zh-CN" dirty="0"/>
              <a:t>1</a:t>
            </a:r>
            <a:r>
              <a:rPr lang="zh-CN" altLang="en-US" dirty="0"/>
              <a:t>；元素出队，</a:t>
            </a:r>
            <a:r>
              <a:rPr lang="en-US" altLang="zh-CN" dirty="0">
                <a:solidFill>
                  <a:srgbClr val="FF0000"/>
                </a:solidFill>
              </a:rPr>
              <a:t>front </a:t>
            </a:r>
            <a:r>
              <a:rPr lang="zh-CN" altLang="en-US" dirty="0"/>
              <a:t>增</a:t>
            </a:r>
            <a:r>
              <a:rPr lang="en-US" altLang="zh-CN" dirty="0"/>
              <a:t>1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队空：</a:t>
            </a:r>
            <a:r>
              <a:rPr lang="en-US" altLang="zh-CN" dirty="0">
                <a:solidFill>
                  <a:srgbClr val="0000FF"/>
                </a:solidFill>
              </a:rPr>
              <a:t>front==rear</a:t>
            </a:r>
          </a:p>
          <a:p>
            <a:r>
              <a:rPr lang="zh-CN" altLang="en-US" dirty="0"/>
              <a:t>队满：</a:t>
            </a:r>
            <a:r>
              <a:rPr lang="en-US" altLang="zh-CN" dirty="0">
                <a:solidFill>
                  <a:srgbClr val="0000FF"/>
                </a:solidFill>
              </a:rPr>
              <a:t>rear==MAXSIZE</a:t>
            </a:r>
          </a:p>
          <a:p>
            <a:r>
              <a:rPr lang="zh-CN" altLang="en-US" dirty="0"/>
              <a:t>队满条件为真时，队中可能还有若干空位。这时再进队出现的溢出是</a:t>
            </a:r>
            <a:r>
              <a:rPr lang="zh-CN" altLang="en-US" dirty="0">
                <a:solidFill>
                  <a:srgbClr val="0000FF"/>
                </a:solidFill>
              </a:rPr>
              <a:t>假溢出</a:t>
            </a:r>
            <a:r>
              <a:rPr lang="zh-CN" altLang="en-US" dirty="0"/>
              <a:t>。为有效利用队列空间，可将队列元素存放数组首尾相接，形成</a:t>
            </a:r>
            <a:r>
              <a:rPr lang="zh-CN" altLang="en-US" b="1" dirty="0">
                <a:solidFill>
                  <a:srgbClr val="FF0000"/>
                </a:solidFill>
              </a:rPr>
              <a:t>循环队列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989065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6ACADD-0BD4-48B6-BD0E-4438E4CF2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循环队列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FCB4AE-D51E-4A9F-9E61-79940CBC1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735513"/>
            <a:ext cx="8496943" cy="5834508"/>
          </a:xfrm>
        </p:spPr>
        <p:txBody>
          <a:bodyPr/>
          <a:lstStyle/>
          <a:p>
            <a:r>
              <a:rPr lang="zh-CN" altLang="en-US" dirty="0"/>
              <a:t>队列存放数组</a:t>
            </a:r>
            <a:r>
              <a:rPr lang="zh-CN" altLang="en-US" dirty="0">
                <a:solidFill>
                  <a:srgbClr val="FF0000"/>
                </a:solidFill>
              </a:rPr>
              <a:t>被当作首尾相接的表</a:t>
            </a:r>
            <a:r>
              <a:rPr lang="zh-CN" altLang="en-US" dirty="0"/>
              <a:t>处理。</a:t>
            </a:r>
          </a:p>
          <a:p>
            <a:r>
              <a:rPr lang="zh-CN" altLang="en-US" dirty="0"/>
              <a:t>队头、队尾指针加</a:t>
            </a:r>
            <a:r>
              <a:rPr lang="en-US" altLang="zh-CN" dirty="0"/>
              <a:t>1</a:t>
            </a:r>
            <a:r>
              <a:rPr lang="zh-CN" altLang="en-US" dirty="0"/>
              <a:t>时从 </a:t>
            </a:r>
            <a:r>
              <a:rPr lang="en-US" altLang="zh-CN" dirty="0"/>
              <a:t>maxSize-1 </a:t>
            </a:r>
            <a:r>
              <a:rPr lang="zh-CN" altLang="en-US" dirty="0"/>
              <a:t>直接进到</a:t>
            </a:r>
            <a:r>
              <a:rPr lang="en-US" altLang="zh-CN" dirty="0"/>
              <a:t>0</a:t>
            </a:r>
            <a:r>
              <a:rPr lang="zh-CN" altLang="en-US" dirty="0"/>
              <a:t>，可用语言的</a:t>
            </a:r>
            <a:r>
              <a:rPr lang="zh-CN" altLang="en-US" dirty="0">
                <a:solidFill>
                  <a:srgbClr val="0000FF"/>
                </a:solidFill>
              </a:rPr>
              <a:t>取模（余数）运算</a:t>
            </a:r>
            <a:r>
              <a:rPr lang="zh-CN" altLang="en-US" dirty="0"/>
              <a:t>实现。</a:t>
            </a:r>
          </a:p>
          <a:p>
            <a:r>
              <a:rPr lang="zh-CN" altLang="en-US" dirty="0"/>
              <a:t>队头指针进</a:t>
            </a:r>
            <a:r>
              <a:rPr lang="en-US" altLang="zh-CN" dirty="0"/>
              <a:t>1:  </a:t>
            </a:r>
            <a:r>
              <a:rPr lang="en-US" altLang="zh-CN" dirty="0">
                <a:solidFill>
                  <a:srgbClr val="FF0000"/>
                </a:solidFill>
              </a:rPr>
              <a:t>front = (front+1) </a:t>
            </a:r>
            <a:r>
              <a:rPr lang="en-US" altLang="zh-CN" dirty="0">
                <a:solidFill>
                  <a:srgbClr val="0000FF"/>
                </a:solidFill>
              </a:rPr>
              <a:t>% </a:t>
            </a:r>
            <a:r>
              <a:rPr lang="en-US" altLang="zh-CN" dirty="0" err="1">
                <a:solidFill>
                  <a:srgbClr val="0000FF"/>
                </a:solidFill>
              </a:rPr>
              <a:t>maxSize</a:t>
            </a:r>
            <a:r>
              <a:rPr lang="en-US" altLang="zh-CN" dirty="0">
                <a:solidFill>
                  <a:srgbClr val="FF0000"/>
                </a:solidFill>
              </a:rPr>
              <a:t>;</a:t>
            </a:r>
          </a:p>
          <a:p>
            <a:r>
              <a:rPr lang="zh-CN" altLang="en-US" dirty="0"/>
              <a:t>队尾指针进</a:t>
            </a:r>
            <a:r>
              <a:rPr lang="en-US" altLang="zh-CN" dirty="0"/>
              <a:t>1:  </a:t>
            </a:r>
            <a:r>
              <a:rPr lang="en-US" altLang="zh-CN" dirty="0">
                <a:solidFill>
                  <a:srgbClr val="FF0000"/>
                </a:solidFill>
              </a:rPr>
              <a:t>rear = (rear+1) </a:t>
            </a:r>
            <a:r>
              <a:rPr lang="en-US" altLang="zh-CN" dirty="0">
                <a:solidFill>
                  <a:srgbClr val="0000FF"/>
                </a:solidFill>
              </a:rPr>
              <a:t>% </a:t>
            </a:r>
            <a:r>
              <a:rPr lang="en-US" altLang="zh-CN" dirty="0" err="1">
                <a:solidFill>
                  <a:srgbClr val="0000FF"/>
                </a:solidFill>
              </a:rPr>
              <a:t>maxSize</a:t>
            </a:r>
            <a:r>
              <a:rPr lang="en-US" altLang="zh-CN" dirty="0">
                <a:solidFill>
                  <a:srgbClr val="FF0000"/>
                </a:solidFill>
              </a:rPr>
              <a:t>;</a:t>
            </a:r>
          </a:p>
          <a:p>
            <a:r>
              <a:rPr lang="zh-CN" altLang="en-US" dirty="0"/>
              <a:t>队列初始化：</a:t>
            </a:r>
            <a:r>
              <a:rPr lang="en-US" altLang="zh-CN" dirty="0">
                <a:solidFill>
                  <a:srgbClr val="FF0000"/>
                </a:solidFill>
              </a:rPr>
              <a:t>front = rear = 0;</a:t>
            </a:r>
          </a:p>
          <a:p>
            <a:r>
              <a:rPr lang="zh-CN" altLang="en-US" dirty="0"/>
              <a:t>队空条件：</a:t>
            </a:r>
            <a:r>
              <a:rPr lang="en-US" altLang="zh-CN" dirty="0">
                <a:solidFill>
                  <a:srgbClr val="FF0000"/>
                </a:solidFill>
              </a:rPr>
              <a:t>front == rear;</a:t>
            </a:r>
          </a:p>
          <a:p>
            <a:r>
              <a:rPr lang="zh-CN" altLang="en-US" dirty="0"/>
              <a:t>队满条件：</a:t>
            </a:r>
            <a:r>
              <a:rPr lang="en-US" altLang="zh-CN" b="1" dirty="0">
                <a:solidFill>
                  <a:srgbClr val="FF0000"/>
                </a:solidFill>
              </a:rPr>
              <a:t>(rear+1) % </a:t>
            </a:r>
            <a:r>
              <a:rPr lang="en-US" altLang="zh-CN" b="1" dirty="0" err="1">
                <a:solidFill>
                  <a:srgbClr val="FF0000"/>
                </a:solidFill>
              </a:rPr>
              <a:t>maxSize</a:t>
            </a:r>
            <a:r>
              <a:rPr lang="en-US" altLang="zh-CN" b="1" dirty="0">
                <a:solidFill>
                  <a:srgbClr val="FF0000"/>
                </a:solidFill>
              </a:rPr>
              <a:t> == front;</a:t>
            </a:r>
          </a:p>
          <a:p>
            <a:r>
              <a:rPr lang="zh-CN" altLang="en-US" dirty="0"/>
              <a:t>注意，进队和出队时指针都是顺时针前进。</a:t>
            </a:r>
          </a:p>
        </p:txBody>
      </p:sp>
    </p:spTree>
    <p:extLst>
      <p:ext uri="{BB962C8B-B14F-4D97-AF65-F5344CB8AC3E}">
        <p14:creationId xmlns:p14="http://schemas.microsoft.com/office/powerpoint/2010/main" val="1987572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F9477B-0C91-4431-A449-D52B7D219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循环队列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A20B0E2-FC9D-458B-AA96-6D53569680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263922"/>
            <a:ext cx="1828800" cy="18288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Line 3">
            <a:extLst>
              <a:ext uri="{FF2B5EF4-FFF2-40B4-BE49-F238E27FC236}">
                <a16:creationId xmlns:a16="http://schemas.microsoft.com/office/drawing/2014/main" id="{5B819226-D712-4189-997C-0123C1EBFB9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1263922"/>
            <a:ext cx="0" cy="1828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Line 4">
            <a:extLst>
              <a:ext uri="{FF2B5EF4-FFF2-40B4-BE49-F238E27FC236}">
                <a16:creationId xmlns:a16="http://schemas.microsoft.com/office/drawing/2014/main" id="{96A56602-EAE5-41A3-8F38-9661D55C831B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178322"/>
            <a:ext cx="18288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Line 5">
            <a:extLst>
              <a:ext uri="{FF2B5EF4-FFF2-40B4-BE49-F238E27FC236}">
                <a16:creationId xmlns:a16="http://schemas.microsoft.com/office/drawing/2014/main" id="{B716D7CA-1B31-48E6-A1FA-F7F633F6FDD6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1492522"/>
            <a:ext cx="1219200" cy="1371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Line 6">
            <a:extLst>
              <a:ext uri="{FF2B5EF4-FFF2-40B4-BE49-F238E27FC236}">
                <a16:creationId xmlns:a16="http://schemas.microsoft.com/office/drawing/2014/main" id="{051F556B-04B2-46BE-AD08-78244EDA4D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95400" y="1492522"/>
            <a:ext cx="1219200" cy="1371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BD1DBB-9FFD-4FBB-BBC8-215A722F50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1721122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9F573716-09F2-4659-8799-8EB3747C07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1644922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0</a:t>
            </a:r>
            <a:endParaRPr kumimoji="1" lang="en-US" altLang="zh-CN" sz="2400" baseline="0">
              <a:latin typeface="Times New Roman" panose="02020603050405020304" pitchFamily="18" charset="0"/>
            </a:endParaRP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0DF6D2F4-2670-43AA-A345-664C87DE3A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1450" y="2406922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1</a:t>
            </a:r>
            <a:endParaRPr kumimoji="1" lang="en-US" altLang="zh-CN" sz="2400" baseline="0">
              <a:latin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3D5BEE-57F5-45C0-BA43-C9A8AC1EF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1850" y="2940322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17D64B-81D5-41DA-AC58-11D84E2E4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2940322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AC0279-E9F9-43E3-9FA1-3FB1FD920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406922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7F7C24-2F85-4C54-8F40-057CFCD008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492522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1F10F7-D287-4608-A96A-43C55F715D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959122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8E4455-D79C-4022-BD4E-1638AF9C47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959122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17" name="Line 16">
            <a:extLst>
              <a:ext uri="{FF2B5EF4-FFF2-40B4-BE49-F238E27FC236}">
                <a16:creationId xmlns:a16="http://schemas.microsoft.com/office/drawing/2014/main" id="{2770CD2F-A079-403F-886F-FD7D11802BD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67000" y="1263922"/>
            <a:ext cx="228600" cy="38100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Text Box 17">
            <a:extLst>
              <a:ext uri="{FF2B5EF4-FFF2-40B4-BE49-F238E27FC236}">
                <a16:creationId xmlns:a16="http://schemas.microsoft.com/office/drawing/2014/main" id="{AF95BBDD-4A14-4D19-B5F4-AB18525FEA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882922"/>
            <a:ext cx="844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front</a:t>
            </a:r>
            <a:endParaRPr kumimoji="1" lang="en-US" altLang="zh-CN" sz="2400" baseline="0">
              <a:latin typeface="Times New Roman" panose="02020603050405020304" pitchFamily="18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DFD3020-F6B6-4208-8AB0-6F317DAB70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6925" y="1263922"/>
            <a:ext cx="1828800" cy="18288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Line 19">
            <a:extLst>
              <a:ext uri="{FF2B5EF4-FFF2-40B4-BE49-F238E27FC236}">
                <a16:creationId xmlns:a16="http://schemas.microsoft.com/office/drawing/2014/main" id="{36184849-5E0B-4C0A-8F98-4C881BAF3F9A}"/>
              </a:ext>
            </a:extLst>
          </p:cNvPr>
          <p:cNvSpPr>
            <a:spLocks noChangeShapeType="1"/>
          </p:cNvSpPr>
          <p:nvPr/>
        </p:nvSpPr>
        <p:spPr bwMode="auto">
          <a:xfrm>
            <a:off x="5876925" y="2178322"/>
            <a:ext cx="18288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Line 20">
            <a:extLst>
              <a:ext uri="{FF2B5EF4-FFF2-40B4-BE49-F238E27FC236}">
                <a16:creationId xmlns:a16="http://schemas.microsoft.com/office/drawing/2014/main" id="{31F6A2F2-4684-4AC7-AEEB-89EF0534FC9A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1725" y="1492522"/>
            <a:ext cx="1219200" cy="1371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Line 21">
            <a:extLst>
              <a:ext uri="{FF2B5EF4-FFF2-40B4-BE49-F238E27FC236}">
                <a16:creationId xmlns:a16="http://schemas.microsoft.com/office/drawing/2014/main" id="{2EFAE36E-6613-4DEE-B4D5-DBCB83F3BC8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81725" y="1492522"/>
            <a:ext cx="1219200" cy="1371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Text Box 22">
            <a:extLst>
              <a:ext uri="{FF2B5EF4-FFF2-40B4-BE49-F238E27FC236}">
                <a16:creationId xmlns:a16="http://schemas.microsoft.com/office/drawing/2014/main" id="{758DFAAC-20B7-4CFB-AA71-DA8DB5C82C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9525" y="1533797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0</a:t>
            </a:r>
            <a:endParaRPr kumimoji="1" lang="en-US" altLang="zh-CN" sz="2400" baseline="0">
              <a:latin typeface="Times New Roman" panose="02020603050405020304" pitchFamily="18" charset="0"/>
            </a:endParaRPr>
          </a:p>
        </p:txBody>
      </p:sp>
      <p:sp>
        <p:nvSpPr>
          <p:cNvPr id="24" name="Text Box 23">
            <a:extLst>
              <a:ext uri="{FF2B5EF4-FFF2-40B4-BE49-F238E27FC236}">
                <a16:creationId xmlns:a16="http://schemas.microsoft.com/office/drawing/2014/main" id="{72FC603E-2EAC-43C3-A3EF-FD3B23CE74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7775" y="2406922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1</a:t>
            </a:r>
            <a:endParaRPr kumimoji="1" lang="en-US" altLang="zh-CN" sz="2400" baseline="0">
              <a:latin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714D0AB-7282-49FC-A046-8CCDBE7B4E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8175" y="2940322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FC92AA7-82FD-41E2-AC73-2195908C6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2850" y="3016522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0D16E84-4ED8-4B33-AA83-0FDFE5F4A1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8325" y="2406922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917A48E-2407-4E3E-A4F4-0343CE0C8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8325" y="1492522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1F1280C-ABA0-4031-8BAF-333C5B06B3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1725" y="959122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18AFBD1-77D4-44F6-9460-6D3E80B3A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6125" y="959122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31" name="Line 30">
            <a:extLst>
              <a:ext uri="{FF2B5EF4-FFF2-40B4-BE49-F238E27FC236}">
                <a16:creationId xmlns:a16="http://schemas.microsoft.com/office/drawing/2014/main" id="{4787AE50-7A3C-434A-B081-3CA3132F9A5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43800" y="1340122"/>
            <a:ext cx="304800" cy="30480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Text Box 31">
            <a:extLst>
              <a:ext uri="{FF2B5EF4-FFF2-40B4-BE49-F238E27FC236}">
                <a16:creationId xmlns:a16="http://schemas.microsoft.com/office/drawing/2014/main" id="{766BCC90-606E-4B27-A3B0-35C90C9ADD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959122"/>
            <a:ext cx="844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front</a:t>
            </a:r>
            <a:endParaRPr kumimoji="1" lang="en-US" altLang="zh-CN" sz="2400" baseline="0">
              <a:latin typeface="Times New Roman" panose="02020603050405020304" pitchFamily="18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82A2AE6-F619-4800-9164-18B201D1F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8525" y="1263922"/>
            <a:ext cx="1828800" cy="18288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Line 33">
            <a:extLst>
              <a:ext uri="{FF2B5EF4-FFF2-40B4-BE49-F238E27FC236}">
                <a16:creationId xmlns:a16="http://schemas.microsoft.com/office/drawing/2014/main" id="{04A411A1-E499-4490-BEB8-0C64608A4819}"/>
              </a:ext>
            </a:extLst>
          </p:cNvPr>
          <p:cNvSpPr>
            <a:spLocks noChangeShapeType="1"/>
          </p:cNvSpPr>
          <p:nvPr/>
        </p:nvSpPr>
        <p:spPr bwMode="auto">
          <a:xfrm>
            <a:off x="3438525" y="2178322"/>
            <a:ext cx="18288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Line 34">
            <a:extLst>
              <a:ext uri="{FF2B5EF4-FFF2-40B4-BE49-F238E27FC236}">
                <a16:creationId xmlns:a16="http://schemas.microsoft.com/office/drawing/2014/main" id="{5EF0B811-EF4F-434F-ABAE-61AA9396F9F3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3325" y="1492522"/>
            <a:ext cx="1219200" cy="1371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Line 35">
            <a:extLst>
              <a:ext uri="{FF2B5EF4-FFF2-40B4-BE49-F238E27FC236}">
                <a16:creationId xmlns:a16="http://schemas.microsoft.com/office/drawing/2014/main" id="{5C346CFC-FC79-4C9A-8695-E98889045A7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43325" y="1492522"/>
            <a:ext cx="1219200" cy="1371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" name="Text Box 36">
            <a:extLst>
              <a:ext uri="{FF2B5EF4-FFF2-40B4-BE49-F238E27FC236}">
                <a16:creationId xmlns:a16="http://schemas.microsoft.com/office/drawing/2014/main" id="{251076AB-7594-40DD-BC53-60922923C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1125" y="1533797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0</a:t>
            </a:r>
            <a:endParaRPr kumimoji="1" lang="en-US" altLang="zh-CN" sz="2400" baseline="0">
              <a:latin typeface="Times New Roman" panose="02020603050405020304" pitchFamily="18" charset="0"/>
            </a:endParaRPr>
          </a:p>
        </p:txBody>
      </p:sp>
      <p:sp>
        <p:nvSpPr>
          <p:cNvPr id="38" name="Text Box 37">
            <a:extLst>
              <a:ext uri="{FF2B5EF4-FFF2-40B4-BE49-F238E27FC236}">
                <a16:creationId xmlns:a16="http://schemas.microsoft.com/office/drawing/2014/main" id="{1BC9794A-E282-41C2-B94A-2324C4E52A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9375" y="2406922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1</a:t>
            </a:r>
            <a:endParaRPr kumimoji="1" lang="en-US" altLang="zh-CN" sz="2400" baseline="0">
              <a:latin typeface="Times New Roman" panose="02020603050405020304" pitchFamily="18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B0F5250-7434-440C-B34B-20FB0CED58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9775" y="2940322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C756A63-90DF-44AB-B812-CB66ABD26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3325" y="2940322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66518A3-8423-4A22-9D48-DB0D87D8D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9925" y="2406922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282D928-60CA-4947-937B-4467B69CD0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9925" y="1492522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1E5700E-5F91-4EAD-9EDC-23E95CA262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3325" y="959122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05734BC-92CA-4590-A91A-697DE4ACE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7725" y="959122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45" name="Line 44">
            <a:extLst>
              <a:ext uri="{FF2B5EF4-FFF2-40B4-BE49-F238E27FC236}">
                <a16:creationId xmlns:a16="http://schemas.microsoft.com/office/drawing/2014/main" id="{EDB0A24D-9176-4B5E-AECA-545B56F50E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05400" y="1340122"/>
            <a:ext cx="304800" cy="30480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" name="Text Box 45">
            <a:extLst>
              <a:ext uri="{FF2B5EF4-FFF2-40B4-BE49-F238E27FC236}">
                <a16:creationId xmlns:a16="http://schemas.microsoft.com/office/drawing/2014/main" id="{199C2D0A-2CAE-4839-B940-789AA82C47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959122"/>
            <a:ext cx="844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front</a:t>
            </a:r>
            <a:endParaRPr kumimoji="1" lang="en-US" altLang="zh-CN" sz="2400" baseline="0">
              <a:latin typeface="Times New Roman" panose="02020603050405020304" pitchFamily="18" charset="0"/>
            </a:endParaRPr>
          </a:p>
        </p:txBody>
      </p:sp>
      <p:sp>
        <p:nvSpPr>
          <p:cNvPr id="47" name="Text Box 46">
            <a:extLst>
              <a:ext uri="{FF2B5EF4-FFF2-40B4-BE49-F238E27FC236}">
                <a16:creationId xmlns:a16="http://schemas.microsoft.com/office/drawing/2014/main" id="{7A890064-9673-45FD-AD3F-95D2EBD65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3050" y="1187722"/>
            <a:ext cx="741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rear</a:t>
            </a:r>
            <a:endParaRPr kumimoji="1" lang="en-US" altLang="zh-CN" sz="2400" baseline="0">
              <a:latin typeface="Times New Roman" panose="02020603050405020304" pitchFamily="18" charset="0"/>
            </a:endParaRPr>
          </a:p>
        </p:txBody>
      </p:sp>
      <p:sp>
        <p:nvSpPr>
          <p:cNvPr id="48" name="Line 47">
            <a:extLst>
              <a:ext uri="{FF2B5EF4-FFF2-40B4-BE49-F238E27FC236}">
                <a16:creationId xmlns:a16="http://schemas.microsoft.com/office/drawing/2014/main" id="{91B247B9-A929-4435-9422-A5D17E87B6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67000" y="1568722"/>
            <a:ext cx="381000" cy="15240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" name="Line 48">
            <a:extLst>
              <a:ext uri="{FF2B5EF4-FFF2-40B4-BE49-F238E27FC236}">
                <a16:creationId xmlns:a16="http://schemas.microsoft.com/office/drawing/2014/main" id="{646A946E-104A-4153-8D17-9FF29D274C60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1263922"/>
            <a:ext cx="0" cy="1828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C0900DB-28DE-404A-88FF-4FFFAA746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5725" y="1721122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" name="Line 50">
            <a:extLst>
              <a:ext uri="{FF2B5EF4-FFF2-40B4-BE49-F238E27FC236}">
                <a16:creationId xmlns:a16="http://schemas.microsoft.com/office/drawing/2014/main" id="{4174E5D6-B692-408D-BEC7-DA222184A254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1263922"/>
            <a:ext cx="0" cy="1828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897812D5-51F5-4C05-9F4C-48AE6881E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4125" y="1721122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" name="Text Box 52">
            <a:extLst>
              <a:ext uri="{FF2B5EF4-FFF2-40B4-BE49-F238E27FC236}">
                <a16:creationId xmlns:a16="http://schemas.microsoft.com/office/drawing/2014/main" id="{947AB56E-74C5-4591-9E6F-48B2A8DD59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8375" y="1586185"/>
            <a:ext cx="4778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A</a:t>
            </a:r>
            <a:endParaRPr kumimoji="1" lang="en-US" altLang="zh-CN" sz="2400" baseline="0">
              <a:latin typeface="Times New Roman" panose="02020603050405020304" pitchFamily="18" charset="0"/>
            </a:endParaRPr>
          </a:p>
        </p:txBody>
      </p:sp>
      <p:sp>
        <p:nvSpPr>
          <p:cNvPr id="54" name="Text Box 53">
            <a:extLst>
              <a:ext uri="{FF2B5EF4-FFF2-40B4-BE49-F238E27FC236}">
                <a16:creationId xmlns:a16="http://schemas.microsoft.com/office/drawing/2014/main" id="{EA1A0D7E-45C4-421C-A61B-492F9B34C9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0900" y="1586185"/>
            <a:ext cx="4778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A</a:t>
            </a:r>
            <a:endParaRPr kumimoji="1" lang="en-US" altLang="zh-CN" sz="2400" baseline="0">
              <a:latin typeface="Times New Roman" panose="02020603050405020304" pitchFamily="18" charset="0"/>
            </a:endParaRPr>
          </a:p>
        </p:txBody>
      </p:sp>
      <p:sp>
        <p:nvSpPr>
          <p:cNvPr id="55" name="Text Box 54">
            <a:extLst>
              <a:ext uri="{FF2B5EF4-FFF2-40B4-BE49-F238E27FC236}">
                <a16:creationId xmlns:a16="http://schemas.microsoft.com/office/drawing/2014/main" id="{1B18EB84-B75B-49F3-94B5-6D526090C8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7088" y="2159272"/>
            <a:ext cx="45561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B</a:t>
            </a:r>
            <a:endParaRPr kumimoji="1" lang="en-US" altLang="zh-CN" sz="2400" baseline="0">
              <a:latin typeface="Times New Roman" panose="02020603050405020304" pitchFamily="18" charset="0"/>
            </a:endParaRPr>
          </a:p>
        </p:txBody>
      </p:sp>
      <p:sp>
        <p:nvSpPr>
          <p:cNvPr id="56" name="Text Box 55">
            <a:extLst>
              <a:ext uri="{FF2B5EF4-FFF2-40B4-BE49-F238E27FC236}">
                <a16:creationId xmlns:a16="http://schemas.microsoft.com/office/drawing/2014/main" id="{DD5F941D-0CD4-4A61-A6FB-EB9F2CE2E3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4500" y="2513285"/>
            <a:ext cx="4778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C</a:t>
            </a:r>
            <a:endParaRPr kumimoji="1" lang="en-US" altLang="zh-CN" sz="2400" baseline="0">
              <a:latin typeface="Times New Roman" panose="02020603050405020304" pitchFamily="18" charset="0"/>
            </a:endParaRPr>
          </a:p>
        </p:txBody>
      </p:sp>
      <p:sp>
        <p:nvSpPr>
          <p:cNvPr id="57" name="Text Box 56">
            <a:extLst>
              <a:ext uri="{FF2B5EF4-FFF2-40B4-BE49-F238E27FC236}">
                <a16:creationId xmlns:a16="http://schemas.microsoft.com/office/drawing/2014/main" id="{36AC21D7-7230-4183-B67B-3C0071CE9F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2787922"/>
            <a:ext cx="741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rear</a:t>
            </a:r>
            <a:endParaRPr kumimoji="1" lang="en-US" altLang="zh-CN" sz="2400" baseline="0">
              <a:latin typeface="Times New Roman" panose="02020603050405020304" pitchFamily="18" charset="0"/>
            </a:endParaRPr>
          </a:p>
        </p:txBody>
      </p:sp>
      <p:sp>
        <p:nvSpPr>
          <p:cNvPr id="58" name="Line 57">
            <a:extLst>
              <a:ext uri="{FF2B5EF4-FFF2-40B4-BE49-F238E27FC236}">
                <a16:creationId xmlns:a16="http://schemas.microsoft.com/office/drawing/2014/main" id="{3449B5B6-4575-4F9A-867B-213BE09E2C2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105400" y="2711722"/>
            <a:ext cx="304800" cy="22860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" name="Text Box 58">
            <a:extLst>
              <a:ext uri="{FF2B5EF4-FFF2-40B4-BE49-F238E27FC236}">
                <a16:creationId xmlns:a16="http://schemas.microsoft.com/office/drawing/2014/main" id="{53ED2B21-62F5-44C0-896F-C36F5089EF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3238" y="3016522"/>
            <a:ext cx="7413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rear</a:t>
            </a:r>
            <a:endParaRPr kumimoji="1" lang="en-US" altLang="zh-CN" sz="2400" baseline="0">
              <a:latin typeface="Times New Roman" panose="02020603050405020304" pitchFamily="18" charset="0"/>
            </a:endParaRPr>
          </a:p>
        </p:txBody>
      </p:sp>
      <p:sp>
        <p:nvSpPr>
          <p:cNvPr id="60" name="Line 59">
            <a:extLst>
              <a:ext uri="{FF2B5EF4-FFF2-40B4-BE49-F238E27FC236}">
                <a16:creationId xmlns:a16="http://schemas.microsoft.com/office/drawing/2014/main" id="{A2B61910-C0CD-4580-9097-BD6100A84B9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0" y="3016522"/>
            <a:ext cx="304800" cy="15240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" name="Text Box 60">
            <a:extLst>
              <a:ext uri="{FF2B5EF4-FFF2-40B4-BE49-F238E27FC236}">
                <a16:creationId xmlns:a16="http://schemas.microsoft.com/office/drawing/2014/main" id="{F4641C62-B8B7-4C5A-BF21-B785728823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9525" y="3270522"/>
            <a:ext cx="1179513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600" b="1" baseline="0">
                <a:solidFill>
                  <a:srgbClr val="000099"/>
                </a:solidFill>
                <a:latin typeface="Times New Roman" panose="02020603050405020304" pitchFamily="18" charset="0"/>
                <a:ea typeface="仿宋_GB2312" pitchFamily="49" charset="-122"/>
              </a:rPr>
              <a:t>空队列</a:t>
            </a:r>
            <a:endParaRPr kumimoji="1" lang="zh-CN" altLang="en-US" sz="2600" baseline="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62" name="Text Box 61">
            <a:extLst>
              <a:ext uri="{FF2B5EF4-FFF2-40B4-BE49-F238E27FC236}">
                <a16:creationId xmlns:a16="http://schemas.microsoft.com/office/drawing/2014/main" id="{46BA3388-A877-4190-84D5-17D2E806DF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8725" y="3292747"/>
            <a:ext cx="108585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600" b="1" baseline="0">
                <a:solidFill>
                  <a:srgbClr val="000099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A</a:t>
            </a:r>
            <a:r>
              <a:rPr kumimoji="1" lang="zh-CN" altLang="zh-CN" sz="2600" b="1" baseline="0">
                <a:solidFill>
                  <a:srgbClr val="000099"/>
                </a:solidFill>
                <a:latin typeface="Times New Roman" panose="02020603050405020304" pitchFamily="18" charset="0"/>
                <a:ea typeface="仿宋_GB2312" pitchFamily="49" charset="-122"/>
              </a:rPr>
              <a:t>进</a:t>
            </a:r>
            <a:r>
              <a:rPr kumimoji="1" lang="zh-CN" altLang="en-US" sz="2600" b="1" baseline="0">
                <a:solidFill>
                  <a:srgbClr val="000099"/>
                </a:solidFill>
                <a:latin typeface="Times New Roman" panose="02020603050405020304" pitchFamily="18" charset="0"/>
                <a:ea typeface="仿宋_GB2312" pitchFamily="49" charset="-122"/>
              </a:rPr>
              <a:t>队</a:t>
            </a:r>
            <a:endParaRPr kumimoji="1" lang="zh-CN" altLang="en-US" sz="2600" baseline="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63" name="Text Box 62">
            <a:extLst>
              <a:ext uri="{FF2B5EF4-FFF2-40B4-BE49-F238E27FC236}">
                <a16:creationId xmlns:a16="http://schemas.microsoft.com/office/drawing/2014/main" id="{B99D8406-C662-4A26-9C40-ED45C59F63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8725" y="3284810"/>
            <a:ext cx="1471613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600" b="1" baseline="0">
                <a:solidFill>
                  <a:srgbClr val="000099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B, C</a:t>
            </a:r>
            <a:r>
              <a:rPr kumimoji="1" lang="zh-CN" altLang="zh-CN" sz="2600" b="1" baseline="0">
                <a:solidFill>
                  <a:srgbClr val="000099"/>
                </a:solidFill>
                <a:latin typeface="Times New Roman" panose="02020603050405020304" pitchFamily="18" charset="0"/>
                <a:ea typeface="仿宋_GB2312" pitchFamily="49" charset="-122"/>
              </a:rPr>
              <a:t>进</a:t>
            </a:r>
            <a:r>
              <a:rPr kumimoji="1" lang="zh-CN" altLang="en-US" sz="2600" b="1" baseline="0">
                <a:solidFill>
                  <a:srgbClr val="000099"/>
                </a:solidFill>
                <a:latin typeface="Times New Roman" panose="02020603050405020304" pitchFamily="18" charset="0"/>
                <a:ea typeface="仿宋_GB2312" pitchFamily="49" charset="-122"/>
              </a:rPr>
              <a:t>队</a:t>
            </a:r>
            <a:endParaRPr kumimoji="1" lang="zh-CN" altLang="en-US" sz="2600" baseline="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15066BCF-4835-4CAB-90A3-AD199FAB0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325" y="4083322"/>
            <a:ext cx="1828800" cy="18288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" name="Line 64">
            <a:extLst>
              <a:ext uri="{FF2B5EF4-FFF2-40B4-BE49-F238E27FC236}">
                <a16:creationId xmlns:a16="http://schemas.microsoft.com/office/drawing/2014/main" id="{177ED94A-67AD-40DC-AA24-28ECE62A4C0C}"/>
              </a:ext>
            </a:extLst>
          </p:cNvPr>
          <p:cNvSpPr>
            <a:spLocks noChangeShapeType="1"/>
          </p:cNvSpPr>
          <p:nvPr/>
        </p:nvSpPr>
        <p:spPr bwMode="auto">
          <a:xfrm>
            <a:off x="1863725" y="4083322"/>
            <a:ext cx="0" cy="1828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" name="Line 65">
            <a:extLst>
              <a:ext uri="{FF2B5EF4-FFF2-40B4-BE49-F238E27FC236}">
                <a16:creationId xmlns:a16="http://schemas.microsoft.com/office/drawing/2014/main" id="{B01EEBAE-49AC-4110-B0D3-C0B233AAEB37}"/>
              </a:ext>
            </a:extLst>
          </p:cNvPr>
          <p:cNvSpPr>
            <a:spLocks noChangeShapeType="1"/>
          </p:cNvSpPr>
          <p:nvPr/>
        </p:nvSpPr>
        <p:spPr bwMode="auto">
          <a:xfrm>
            <a:off x="949325" y="4997722"/>
            <a:ext cx="18288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" name="Line 66">
            <a:extLst>
              <a:ext uri="{FF2B5EF4-FFF2-40B4-BE49-F238E27FC236}">
                <a16:creationId xmlns:a16="http://schemas.microsoft.com/office/drawing/2014/main" id="{A47BB678-C42E-4261-AB1A-45FF120008E7}"/>
              </a:ext>
            </a:extLst>
          </p:cNvPr>
          <p:cNvSpPr>
            <a:spLocks noChangeShapeType="1"/>
          </p:cNvSpPr>
          <p:nvPr/>
        </p:nvSpPr>
        <p:spPr bwMode="auto">
          <a:xfrm>
            <a:off x="1254125" y="4311922"/>
            <a:ext cx="1219200" cy="1371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" name="Line 67">
            <a:extLst>
              <a:ext uri="{FF2B5EF4-FFF2-40B4-BE49-F238E27FC236}">
                <a16:creationId xmlns:a16="http://schemas.microsoft.com/office/drawing/2014/main" id="{881DF6C2-3E9A-475C-AB72-173821A58F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54125" y="4311922"/>
            <a:ext cx="1219200" cy="1371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71EA1098-7507-4C28-9568-0B9CF5A99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6525" y="4540522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" name="Text Box 69">
            <a:extLst>
              <a:ext uri="{FF2B5EF4-FFF2-40B4-BE49-F238E27FC236}">
                <a16:creationId xmlns:a16="http://schemas.microsoft.com/office/drawing/2014/main" id="{BB3D8611-47B4-4311-8025-E6236D33C8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1925" y="4464322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0</a:t>
            </a:r>
            <a:endParaRPr kumimoji="1" lang="en-US" altLang="zh-CN" sz="2400" baseline="0">
              <a:latin typeface="Times New Roman" panose="02020603050405020304" pitchFamily="18" charset="0"/>
            </a:endParaRPr>
          </a:p>
        </p:txBody>
      </p:sp>
      <p:sp>
        <p:nvSpPr>
          <p:cNvPr id="71" name="Text Box 70">
            <a:extLst>
              <a:ext uri="{FF2B5EF4-FFF2-40B4-BE49-F238E27FC236}">
                <a16:creationId xmlns:a16="http://schemas.microsoft.com/office/drawing/2014/main" id="{B821EB48-8081-4987-B8E0-FB15152FD2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0175" y="5226322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1</a:t>
            </a:r>
            <a:endParaRPr kumimoji="1" lang="en-US" altLang="zh-CN" sz="2400" baseline="0">
              <a:latin typeface="Times New Roman" panose="02020603050405020304" pitchFamily="18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F3A245F-38EC-4CD6-8F67-2F5848B40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0575" y="5759722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17318EB-465E-4C9F-8176-50B9579C5B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6050" y="5835922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6DC07F3-5614-40F5-A8E0-48A5A248D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725" y="5226322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881CBD6-2819-4ACB-8C56-79F57A3593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725" y="4311922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E4EECD51-F78E-4B3F-A78C-061526BA6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4125" y="3778522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3EBC015-E6CE-46DD-9525-6478A615A8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8525" y="3778522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 dirty="0">
                <a:solidFill>
                  <a:srgbClr val="000099"/>
                </a:solidFill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9E5F58DC-37C9-45C2-B55E-99558F785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7250" y="4083322"/>
            <a:ext cx="1828800" cy="18288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" name="Line 78">
            <a:extLst>
              <a:ext uri="{FF2B5EF4-FFF2-40B4-BE49-F238E27FC236}">
                <a16:creationId xmlns:a16="http://schemas.microsoft.com/office/drawing/2014/main" id="{2DBFF176-D219-4E6E-929C-8BE212F28662}"/>
              </a:ext>
            </a:extLst>
          </p:cNvPr>
          <p:cNvSpPr>
            <a:spLocks noChangeShapeType="1"/>
          </p:cNvSpPr>
          <p:nvPr/>
        </p:nvSpPr>
        <p:spPr bwMode="auto">
          <a:xfrm>
            <a:off x="3397250" y="4997722"/>
            <a:ext cx="18288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" name="Line 79">
            <a:extLst>
              <a:ext uri="{FF2B5EF4-FFF2-40B4-BE49-F238E27FC236}">
                <a16:creationId xmlns:a16="http://schemas.microsoft.com/office/drawing/2014/main" id="{BAF35ADA-61AE-47CE-BE68-098D1FA80090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2050" y="4311922"/>
            <a:ext cx="1219200" cy="1371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" name="Line 80">
            <a:extLst>
              <a:ext uri="{FF2B5EF4-FFF2-40B4-BE49-F238E27FC236}">
                <a16:creationId xmlns:a16="http://schemas.microsoft.com/office/drawing/2014/main" id="{37C03372-8495-45EA-B4A1-331EB51A2B2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02050" y="4311922"/>
            <a:ext cx="1219200" cy="1371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" name="Text Box 81">
            <a:extLst>
              <a:ext uri="{FF2B5EF4-FFF2-40B4-BE49-F238E27FC236}">
                <a16:creationId xmlns:a16="http://schemas.microsoft.com/office/drawing/2014/main" id="{5DA1340D-7A89-429D-B10A-7C98AE7B25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9850" y="4353197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0</a:t>
            </a:r>
            <a:endParaRPr kumimoji="1" lang="en-US" altLang="zh-CN" sz="2400" baseline="0">
              <a:latin typeface="Times New Roman" panose="02020603050405020304" pitchFamily="18" charset="0"/>
            </a:endParaRPr>
          </a:p>
        </p:txBody>
      </p:sp>
      <p:sp>
        <p:nvSpPr>
          <p:cNvPr id="83" name="Text Box 82">
            <a:extLst>
              <a:ext uri="{FF2B5EF4-FFF2-40B4-BE49-F238E27FC236}">
                <a16:creationId xmlns:a16="http://schemas.microsoft.com/office/drawing/2014/main" id="{8575C785-D849-4468-8473-DCDDB87F23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8100" y="5226322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1</a:t>
            </a:r>
            <a:endParaRPr kumimoji="1" lang="en-US" altLang="zh-CN" sz="2400" baseline="0">
              <a:latin typeface="Times New Roman" panose="02020603050405020304" pitchFamily="18" charset="0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645A76C3-875B-4C07-B396-0DE29CBC1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0" y="5759722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22B27C3D-26FD-4B8A-9EA4-A54A69600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8250" y="5835922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C2745E8-B47D-4C3B-ADDE-CC2DFCDE06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8650" y="5226322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7A56D74B-6622-44D5-A121-862AA4DC5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8650" y="4311922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1028F0E2-837A-4CD5-B929-3CF165CDA4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2050" y="3778522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220223C-898A-4CDC-9C3B-6DBDBA774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6450" y="3778522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90" name="Line 89">
            <a:extLst>
              <a:ext uri="{FF2B5EF4-FFF2-40B4-BE49-F238E27FC236}">
                <a16:creationId xmlns:a16="http://schemas.microsoft.com/office/drawing/2014/main" id="{74DDB70A-11B8-47B2-987D-D3B0B09B6288}"/>
              </a:ext>
            </a:extLst>
          </p:cNvPr>
          <p:cNvSpPr>
            <a:spLocks noChangeShapeType="1"/>
          </p:cNvSpPr>
          <p:nvPr/>
        </p:nvSpPr>
        <p:spPr bwMode="auto">
          <a:xfrm>
            <a:off x="4302125" y="4083322"/>
            <a:ext cx="0" cy="1828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71D2BE64-648F-49A9-9B8E-15C54DB1F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4450" y="4540522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" name="Text Box 91">
            <a:extLst>
              <a:ext uri="{FF2B5EF4-FFF2-40B4-BE49-F238E27FC236}">
                <a16:creationId xmlns:a16="http://schemas.microsoft.com/office/drawing/2014/main" id="{624EC397-39D7-426E-B206-AA5181643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0" y="6180410"/>
            <a:ext cx="108585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600" b="1" baseline="0">
                <a:solidFill>
                  <a:srgbClr val="000099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A</a:t>
            </a:r>
            <a:r>
              <a:rPr kumimoji="1" lang="zh-CN" altLang="zh-CN" sz="2600" b="1" baseline="0">
                <a:solidFill>
                  <a:srgbClr val="000099"/>
                </a:solidFill>
                <a:latin typeface="Times New Roman" panose="02020603050405020304" pitchFamily="18" charset="0"/>
                <a:ea typeface="仿宋_GB2312" pitchFamily="49" charset="-122"/>
              </a:rPr>
              <a:t>退</a:t>
            </a:r>
            <a:r>
              <a:rPr kumimoji="1" lang="zh-CN" altLang="en-US" sz="2600" b="1" baseline="0">
                <a:solidFill>
                  <a:srgbClr val="000099"/>
                </a:solidFill>
                <a:latin typeface="Times New Roman" panose="02020603050405020304" pitchFamily="18" charset="0"/>
                <a:ea typeface="仿宋_GB2312" pitchFamily="49" charset="-122"/>
              </a:rPr>
              <a:t>队</a:t>
            </a:r>
            <a:endParaRPr kumimoji="1" lang="zh-CN" altLang="en-US" sz="2600" baseline="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93" name="Text Box 92">
            <a:extLst>
              <a:ext uri="{FF2B5EF4-FFF2-40B4-BE49-F238E27FC236}">
                <a16:creationId xmlns:a16="http://schemas.microsoft.com/office/drawing/2014/main" id="{1C03C741-BFAA-4060-9740-D40EBC276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0963" y="6180410"/>
            <a:ext cx="1068387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600" b="1" baseline="0">
                <a:solidFill>
                  <a:srgbClr val="000099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B</a:t>
            </a:r>
            <a:r>
              <a:rPr kumimoji="1" lang="zh-CN" altLang="zh-CN" sz="2600" b="1" baseline="0">
                <a:solidFill>
                  <a:srgbClr val="000099"/>
                </a:solidFill>
                <a:latin typeface="Times New Roman" panose="02020603050405020304" pitchFamily="18" charset="0"/>
                <a:ea typeface="仿宋_GB2312" pitchFamily="49" charset="-122"/>
              </a:rPr>
              <a:t>退</a:t>
            </a:r>
            <a:r>
              <a:rPr kumimoji="1" lang="zh-CN" altLang="en-US" sz="2600" b="1" baseline="0">
                <a:solidFill>
                  <a:srgbClr val="000099"/>
                </a:solidFill>
                <a:latin typeface="Times New Roman" panose="02020603050405020304" pitchFamily="18" charset="0"/>
                <a:ea typeface="仿宋_GB2312" pitchFamily="49" charset="-122"/>
              </a:rPr>
              <a:t>队</a:t>
            </a:r>
            <a:endParaRPr kumimoji="1" lang="zh-CN" altLang="en-US" sz="2600" baseline="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C6D56698-4DD9-49EC-AB31-A71173BCC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2325" y="4083322"/>
            <a:ext cx="1828800" cy="18288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" name="Line 94">
            <a:extLst>
              <a:ext uri="{FF2B5EF4-FFF2-40B4-BE49-F238E27FC236}">
                <a16:creationId xmlns:a16="http://schemas.microsoft.com/office/drawing/2014/main" id="{ECD7AD06-4F63-4205-AE48-128BC864A976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6725" y="4083322"/>
            <a:ext cx="0" cy="1828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" name="Line 95">
            <a:extLst>
              <a:ext uri="{FF2B5EF4-FFF2-40B4-BE49-F238E27FC236}">
                <a16:creationId xmlns:a16="http://schemas.microsoft.com/office/drawing/2014/main" id="{5A3C1EA5-6F6E-4CFA-9870-96261872CBC0}"/>
              </a:ext>
            </a:extLst>
          </p:cNvPr>
          <p:cNvSpPr>
            <a:spLocks noChangeShapeType="1"/>
          </p:cNvSpPr>
          <p:nvPr/>
        </p:nvSpPr>
        <p:spPr bwMode="auto">
          <a:xfrm>
            <a:off x="5902325" y="4997722"/>
            <a:ext cx="18288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" name="Line 96">
            <a:extLst>
              <a:ext uri="{FF2B5EF4-FFF2-40B4-BE49-F238E27FC236}">
                <a16:creationId xmlns:a16="http://schemas.microsoft.com/office/drawing/2014/main" id="{D6E4C6AB-4647-4FA1-8F2A-8D7DD1570099}"/>
              </a:ext>
            </a:extLst>
          </p:cNvPr>
          <p:cNvSpPr>
            <a:spLocks noChangeShapeType="1"/>
          </p:cNvSpPr>
          <p:nvPr/>
        </p:nvSpPr>
        <p:spPr bwMode="auto">
          <a:xfrm>
            <a:off x="6207125" y="4311922"/>
            <a:ext cx="1219200" cy="1371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" name="Line 97">
            <a:extLst>
              <a:ext uri="{FF2B5EF4-FFF2-40B4-BE49-F238E27FC236}">
                <a16:creationId xmlns:a16="http://schemas.microsoft.com/office/drawing/2014/main" id="{54D05980-9D4E-426A-BE57-164E71F43DC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07125" y="4311922"/>
            <a:ext cx="1219200" cy="1371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5CDF1E7E-7809-41FF-92A2-E049BA57D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9525" y="4540522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" name="Text Box 99">
            <a:extLst>
              <a:ext uri="{FF2B5EF4-FFF2-40B4-BE49-F238E27FC236}">
                <a16:creationId xmlns:a16="http://schemas.microsoft.com/office/drawing/2014/main" id="{B071EA32-9013-4380-9B4B-6F1EC51AC7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4925" y="4464322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0</a:t>
            </a:r>
            <a:endParaRPr kumimoji="1" lang="en-US" altLang="zh-CN" sz="2400" baseline="0">
              <a:latin typeface="Times New Roman" panose="02020603050405020304" pitchFamily="18" charset="0"/>
            </a:endParaRPr>
          </a:p>
        </p:txBody>
      </p:sp>
      <p:sp>
        <p:nvSpPr>
          <p:cNvPr id="101" name="Text Box 100">
            <a:extLst>
              <a:ext uri="{FF2B5EF4-FFF2-40B4-BE49-F238E27FC236}">
                <a16:creationId xmlns:a16="http://schemas.microsoft.com/office/drawing/2014/main" id="{40618812-A8A1-4CF9-825C-7C812EBA98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3175" y="5226322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1</a:t>
            </a:r>
            <a:endParaRPr kumimoji="1" lang="en-US" altLang="zh-CN" sz="2400" baseline="0">
              <a:latin typeface="Times New Roman" panose="02020603050405020304" pitchFamily="18" charset="0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200F960-21CC-4647-9E54-F69593CF9C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3575" y="5759722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450776E6-F3CC-4E61-BB58-76B8715CCD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7125" y="5759722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121D468-7FED-4CE2-981D-551912D412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3725" y="5226322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D106C95F-7526-4596-A890-0E8D69F22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3725" y="4311922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4FE87CB7-B12A-42C1-A8FA-6BFFB3A5A5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7125" y="3778522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279F9830-0A6A-4E59-AF8D-828CE4527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1525" y="3778522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108" name="Text Box 107">
            <a:extLst>
              <a:ext uri="{FF2B5EF4-FFF2-40B4-BE49-F238E27FC236}">
                <a16:creationId xmlns:a16="http://schemas.microsoft.com/office/drawing/2014/main" id="{E0E0D56F-8B34-477F-AFD3-46042A0D91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6180410"/>
            <a:ext cx="3053913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600" b="1" baseline="0" dirty="0">
                <a:solidFill>
                  <a:srgbClr val="000099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D, E, F, G, H, I </a:t>
            </a:r>
            <a:r>
              <a:rPr kumimoji="1" lang="zh-CN" altLang="zh-CN" sz="2600" b="1" baseline="0" dirty="0">
                <a:solidFill>
                  <a:srgbClr val="000099"/>
                </a:solidFill>
                <a:latin typeface="Times New Roman" panose="02020603050405020304" pitchFamily="18" charset="0"/>
                <a:ea typeface="仿宋_GB2312" pitchFamily="49" charset="-122"/>
              </a:rPr>
              <a:t>进</a:t>
            </a:r>
            <a:r>
              <a:rPr kumimoji="1" lang="zh-CN" altLang="en-US" sz="2600" b="1" baseline="0" dirty="0">
                <a:solidFill>
                  <a:srgbClr val="000099"/>
                </a:solidFill>
                <a:latin typeface="Times New Roman" panose="02020603050405020304" pitchFamily="18" charset="0"/>
                <a:ea typeface="仿宋_GB2312" pitchFamily="49" charset="-122"/>
              </a:rPr>
              <a:t>队</a:t>
            </a:r>
            <a:endParaRPr kumimoji="1" lang="zh-CN" altLang="en-US" sz="2600" baseline="0" dirty="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109" name="Line 108">
            <a:extLst>
              <a:ext uri="{FF2B5EF4-FFF2-40B4-BE49-F238E27FC236}">
                <a16:creationId xmlns:a16="http://schemas.microsoft.com/office/drawing/2014/main" id="{E84F8B99-70B7-449B-886D-79FFD65272C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590800" y="5531122"/>
            <a:ext cx="304800" cy="22860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" name="Text Box 109">
            <a:extLst>
              <a:ext uri="{FF2B5EF4-FFF2-40B4-BE49-F238E27FC236}">
                <a16:creationId xmlns:a16="http://schemas.microsoft.com/office/drawing/2014/main" id="{925E7E22-2ABE-42D7-B9D4-E5D6AA8604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5607322"/>
            <a:ext cx="844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front</a:t>
            </a:r>
            <a:endParaRPr kumimoji="1" lang="en-US" altLang="zh-CN" sz="2400" baseline="0">
              <a:latin typeface="Times New Roman" panose="02020603050405020304" pitchFamily="18" charset="0"/>
            </a:endParaRPr>
          </a:p>
        </p:txBody>
      </p:sp>
      <p:sp>
        <p:nvSpPr>
          <p:cNvPr id="111" name="Text Box 110">
            <a:extLst>
              <a:ext uri="{FF2B5EF4-FFF2-40B4-BE49-F238E27FC236}">
                <a16:creationId xmlns:a16="http://schemas.microsoft.com/office/drawing/2014/main" id="{6807F526-D233-4A28-B9A8-7889A892E3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725" y="4970735"/>
            <a:ext cx="4556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B</a:t>
            </a:r>
            <a:endParaRPr kumimoji="1" lang="en-US" altLang="zh-CN" sz="2400" baseline="0">
              <a:latin typeface="Times New Roman" panose="02020603050405020304" pitchFamily="18" charset="0"/>
            </a:endParaRPr>
          </a:p>
        </p:txBody>
      </p:sp>
      <p:sp>
        <p:nvSpPr>
          <p:cNvPr id="112" name="Text Box 111">
            <a:extLst>
              <a:ext uri="{FF2B5EF4-FFF2-40B4-BE49-F238E27FC236}">
                <a16:creationId xmlns:a16="http://schemas.microsoft.com/office/drawing/2014/main" id="{AC73E1C0-E33D-458A-A0E7-C01CFD0C1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2138" y="5332685"/>
            <a:ext cx="4778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C</a:t>
            </a:r>
            <a:endParaRPr kumimoji="1" lang="en-US" altLang="zh-CN" sz="2400" baseline="0">
              <a:latin typeface="Times New Roman" panose="02020603050405020304" pitchFamily="18" charset="0"/>
            </a:endParaRPr>
          </a:p>
        </p:txBody>
      </p:sp>
      <p:sp>
        <p:nvSpPr>
          <p:cNvPr id="113" name="Text Box 112">
            <a:extLst>
              <a:ext uri="{FF2B5EF4-FFF2-40B4-BE49-F238E27FC236}">
                <a16:creationId xmlns:a16="http://schemas.microsoft.com/office/drawing/2014/main" id="{DD616BF6-2EF1-4DB1-BE06-B77C894977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835922"/>
            <a:ext cx="741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rear</a:t>
            </a:r>
            <a:endParaRPr kumimoji="1" lang="en-US" altLang="zh-CN" sz="2400" baseline="0">
              <a:latin typeface="Times New Roman" panose="02020603050405020304" pitchFamily="18" charset="0"/>
            </a:endParaRPr>
          </a:p>
        </p:txBody>
      </p:sp>
      <p:sp>
        <p:nvSpPr>
          <p:cNvPr id="114" name="Line 113">
            <a:extLst>
              <a:ext uri="{FF2B5EF4-FFF2-40B4-BE49-F238E27FC236}">
                <a16:creationId xmlns:a16="http://schemas.microsoft.com/office/drawing/2014/main" id="{62492591-D9F6-4DAD-B639-33359000B8C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98563" y="5835922"/>
            <a:ext cx="304800" cy="15240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" name="Text Box 114">
            <a:extLst>
              <a:ext uri="{FF2B5EF4-FFF2-40B4-BE49-F238E27FC236}">
                <a16:creationId xmlns:a16="http://schemas.microsoft.com/office/drawing/2014/main" id="{33690E15-8687-4F95-9571-45976AFF53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3938" y="4391297"/>
            <a:ext cx="4778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 b="1" baseline="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116" name="Text Box 115">
            <a:extLst>
              <a:ext uri="{FF2B5EF4-FFF2-40B4-BE49-F238E27FC236}">
                <a16:creationId xmlns:a16="http://schemas.microsoft.com/office/drawing/2014/main" id="{2F6943C4-E202-4FB9-B783-060E9A7D15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5835922"/>
            <a:ext cx="844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front</a:t>
            </a:r>
            <a:endParaRPr kumimoji="1" lang="en-US" altLang="zh-CN" sz="2400" baseline="0">
              <a:latin typeface="Times New Roman" panose="02020603050405020304" pitchFamily="18" charset="0"/>
            </a:endParaRPr>
          </a:p>
        </p:txBody>
      </p:sp>
      <p:sp>
        <p:nvSpPr>
          <p:cNvPr id="117" name="Text Box 116">
            <a:extLst>
              <a:ext uri="{FF2B5EF4-FFF2-40B4-BE49-F238E27FC236}">
                <a16:creationId xmlns:a16="http://schemas.microsoft.com/office/drawing/2014/main" id="{A667725A-7559-4358-98C5-0B4B25826C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2650" y="4967560"/>
            <a:ext cx="4556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 b="1" baseline="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118" name="Text Box 117">
            <a:extLst>
              <a:ext uri="{FF2B5EF4-FFF2-40B4-BE49-F238E27FC236}">
                <a16:creationId xmlns:a16="http://schemas.microsoft.com/office/drawing/2014/main" id="{96618F3B-C2EA-47E1-B8FC-4B32FA12A3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663" y="5332685"/>
            <a:ext cx="4778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C</a:t>
            </a:r>
            <a:endParaRPr kumimoji="1" lang="en-US" altLang="zh-CN" sz="2400" baseline="0">
              <a:latin typeface="Times New Roman" panose="02020603050405020304" pitchFamily="18" charset="0"/>
            </a:endParaRPr>
          </a:p>
        </p:txBody>
      </p:sp>
      <p:sp>
        <p:nvSpPr>
          <p:cNvPr id="119" name="Text Box 118">
            <a:extLst>
              <a:ext uri="{FF2B5EF4-FFF2-40B4-BE49-F238E27FC236}">
                <a16:creationId xmlns:a16="http://schemas.microsoft.com/office/drawing/2014/main" id="{FAB9E3BF-68A7-4A02-B50B-EE0689B3A0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7850" y="5835922"/>
            <a:ext cx="741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rear</a:t>
            </a:r>
            <a:endParaRPr kumimoji="1" lang="en-US" altLang="zh-CN" sz="2400" baseline="0">
              <a:latin typeface="Times New Roman" panose="02020603050405020304" pitchFamily="18" charset="0"/>
            </a:endParaRPr>
          </a:p>
        </p:txBody>
      </p:sp>
      <p:sp>
        <p:nvSpPr>
          <p:cNvPr id="120" name="Line 119">
            <a:extLst>
              <a:ext uri="{FF2B5EF4-FFF2-40B4-BE49-F238E27FC236}">
                <a16:creationId xmlns:a16="http://schemas.microsoft.com/office/drawing/2014/main" id="{DD13D7BC-070F-44EA-A259-A245583227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30613" y="5835922"/>
            <a:ext cx="304800" cy="15240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" name="Line 120">
            <a:extLst>
              <a:ext uri="{FF2B5EF4-FFF2-40B4-BE49-F238E27FC236}">
                <a16:creationId xmlns:a16="http://schemas.microsoft.com/office/drawing/2014/main" id="{66CF2CEE-39A5-44A2-AA65-120045F74C8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00600" y="5759722"/>
            <a:ext cx="381000" cy="22860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" name="Text Box 121">
            <a:extLst>
              <a:ext uri="{FF2B5EF4-FFF2-40B4-BE49-F238E27FC236}">
                <a16:creationId xmlns:a16="http://schemas.microsoft.com/office/drawing/2014/main" id="{FF6B8F74-E168-47A2-BB3D-7A4825643E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8850" y="5835922"/>
            <a:ext cx="844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front</a:t>
            </a:r>
            <a:endParaRPr kumimoji="1" lang="en-US" altLang="zh-CN" sz="2400" baseline="0">
              <a:latin typeface="Times New Roman" panose="02020603050405020304" pitchFamily="18" charset="0"/>
            </a:endParaRPr>
          </a:p>
        </p:txBody>
      </p:sp>
      <p:sp>
        <p:nvSpPr>
          <p:cNvPr id="123" name="Text Box 122">
            <a:extLst>
              <a:ext uri="{FF2B5EF4-FFF2-40B4-BE49-F238E27FC236}">
                <a16:creationId xmlns:a16="http://schemas.microsoft.com/office/drawing/2014/main" id="{E4370383-165F-43EF-BB3B-87273651E6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4500" y="5332685"/>
            <a:ext cx="4778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C</a:t>
            </a:r>
            <a:endParaRPr kumimoji="1" lang="en-US" altLang="zh-CN" sz="2400" baseline="0">
              <a:latin typeface="Times New Roman" panose="02020603050405020304" pitchFamily="18" charset="0"/>
            </a:endParaRPr>
          </a:p>
        </p:txBody>
      </p:sp>
      <p:sp>
        <p:nvSpPr>
          <p:cNvPr id="124" name="Text Box 123">
            <a:extLst>
              <a:ext uri="{FF2B5EF4-FFF2-40B4-BE49-F238E27FC236}">
                <a16:creationId xmlns:a16="http://schemas.microsoft.com/office/drawing/2014/main" id="{A0385F79-FDC4-47F6-B877-DC80AC9248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1638" y="4997722"/>
            <a:ext cx="7413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rear</a:t>
            </a:r>
            <a:endParaRPr kumimoji="1" lang="en-US" altLang="zh-CN" sz="2400" baseline="0">
              <a:latin typeface="Times New Roman" panose="02020603050405020304" pitchFamily="18" charset="0"/>
            </a:endParaRPr>
          </a:p>
        </p:txBody>
      </p:sp>
      <p:sp>
        <p:nvSpPr>
          <p:cNvPr id="125" name="Line 124">
            <a:extLst>
              <a:ext uri="{FF2B5EF4-FFF2-40B4-BE49-F238E27FC236}">
                <a16:creationId xmlns:a16="http://schemas.microsoft.com/office/drawing/2014/main" id="{E50BBBE7-CC89-4CA3-AF3F-44F9E3EE83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96200" y="5226322"/>
            <a:ext cx="381000" cy="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" name="Line 125">
            <a:extLst>
              <a:ext uri="{FF2B5EF4-FFF2-40B4-BE49-F238E27FC236}">
                <a16:creationId xmlns:a16="http://schemas.microsoft.com/office/drawing/2014/main" id="{45B33CB5-A057-4275-B621-D40D7FA47F2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308850" y="5759722"/>
            <a:ext cx="381000" cy="22860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" name="Text Box 126">
            <a:extLst>
              <a:ext uri="{FF2B5EF4-FFF2-40B4-BE49-F238E27FC236}">
                <a16:creationId xmlns:a16="http://schemas.microsoft.com/office/drawing/2014/main" id="{6AD99D64-0EF1-461C-8324-477EE70A86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2700" y="5327922"/>
            <a:ext cx="4778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D</a:t>
            </a:r>
            <a:endParaRPr kumimoji="1" lang="en-US" altLang="zh-CN" sz="2400" baseline="0">
              <a:latin typeface="Times New Roman" panose="02020603050405020304" pitchFamily="18" charset="0"/>
            </a:endParaRPr>
          </a:p>
        </p:txBody>
      </p:sp>
      <p:sp>
        <p:nvSpPr>
          <p:cNvPr id="128" name="Text Box 127">
            <a:extLst>
              <a:ext uri="{FF2B5EF4-FFF2-40B4-BE49-F238E27FC236}">
                <a16:creationId xmlns:a16="http://schemas.microsoft.com/office/drawing/2014/main" id="{E4ABE94D-881E-4C64-A6B9-3523BD45E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8050" y="4967560"/>
            <a:ext cx="4556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E</a:t>
            </a:r>
            <a:endParaRPr kumimoji="1" lang="en-US" altLang="zh-CN" sz="2400" baseline="0">
              <a:latin typeface="Times New Roman" panose="02020603050405020304" pitchFamily="18" charset="0"/>
            </a:endParaRPr>
          </a:p>
        </p:txBody>
      </p:sp>
      <p:sp>
        <p:nvSpPr>
          <p:cNvPr id="129" name="Text Box 128">
            <a:extLst>
              <a:ext uri="{FF2B5EF4-FFF2-40B4-BE49-F238E27FC236}">
                <a16:creationId xmlns:a16="http://schemas.microsoft.com/office/drawing/2014/main" id="{9C4BF0A0-C6FF-4A81-9204-7EF76B715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4427810"/>
            <a:ext cx="4318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F</a:t>
            </a:r>
            <a:endParaRPr kumimoji="1" lang="en-US" altLang="zh-CN" sz="2400" baseline="0">
              <a:latin typeface="Times New Roman" panose="02020603050405020304" pitchFamily="18" charset="0"/>
            </a:endParaRPr>
          </a:p>
        </p:txBody>
      </p:sp>
      <p:sp>
        <p:nvSpPr>
          <p:cNvPr id="130" name="Text Box 129">
            <a:extLst>
              <a:ext uri="{FF2B5EF4-FFF2-40B4-BE49-F238E27FC236}">
                <a16:creationId xmlns:a16="http://schemas.microsoft.com/office/drawing/2014/main" id="{7D0F4063-55E4-4479-A994-AE23CCE2F5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5713" y="4067447"/>
            <a:ext cx="5000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G</a:t>
            </a:r>
            <a:endParaRPr kumimoji="1" lang="en-US" altLang="zh-CN" sz="2400" baseline="0">
              <a:latin typeface="Times New Roman" panose="02020603050405020304" pitchFamily="18" charset="0"/>
            </a:endParaRPr>
          </a:p>
        </p:txBody>
      </p:sp>
      <p:sp>
        <p:nvSpPr>
          <p:cNvPr id="131" name="Text Box 130">
            <a:extLst>
              <a:ext uri="{FF2B5EF4-FFF2-40B4-BE49-F238E27FC236}">
                <a16:creationId xmlns:a16="http://schemas.microsoft.com/office/drawing/2014/main" id="{59FEA592-19BC-4848-B1BA-E2ACFAD1E6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4025" y="4034110"/>
            <a:ext cx="50006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H</a:t>
            </a:r>
            <a:endParaRPr kumimoji="1" lang="en-US" altLang="zh-CN" sz="2400" baseline="0">
              <a:latin typeface="Times New Roman" panose="02020603050405020304" pitchFamily="18" charset="0"/>
            </a:endParaRPr>
          </a:p>
        </p:txBody>
      </p:sp>
      <p:sp>
        <p:nvSpPr>
          <p:cNvPr id="132" name="Text Box 131">
            <a:extLst>
              <a:ext uri="{FF2B5EF4-FFF2-40B4-BE49-F238E27FC236}">
                <a16:creationId xmlns:a16="http://schemas.microsoft.com/office/drawing/2014/main" id="{2DC92FCB-D195-4E9C-BB44-2309C8E066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2338" y="4394472"/>
            <a:ext cx="3429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I</a:t>
            </a:r>
            <a:endParaRPr kumimoji="1" lang="en-US" altLang="zh-CN" sz="2400" baseline="0">
              <a:latin typeface="Times New Roman" panose="02020603050405020304" pitchFamily="18" charset="0"/>
            </a:endParaRPr>
          </a:p>
        </p:txBody>
      </p:sp>
      <p:sp>
        <p:nvSpPr>
          <p:cNvPr id="133" name="Freeform 132">
            <a:extLst>
              <a:ext uri="{FF2B5EF4-FFF2-40B4-BE49-F238E27FC236}">
                <a16:creationId xmlns:a16="http://schemas.microsoft.com/office/drawing/2014/main" id="{D6821775-7FD8-446A-AA66-2BC1729CEC88}"/>
              </a:ext>
            </a:extLst>
          </p:cNvPr>
          <p:cNvSpPr>
            <a:spLocks/>
          </p:cNvSpPr>
          <p:nvPr/>
        </p:nvSpPr>
        <p:spPr bwMode="auto">
          <a:xfrm>
            <a:off x="7956550" y="1694135"/>
            <a:ext cx="209550" cy="1152525"/>
          </a:xfrm>
          <a:custGeom>
            <a:avLst/>
            <a:gdLst>
              <a:gd name="T0" fmla="*/ 45 w 132"/>
              <a:gd name="T1" fmla="*/ 0 h 726"/>
              <a:gd name="T2" fmla="*/ 113 w 132"/>
              <a:gd name="T3" fmla="*/ 181 h 726"/>
              <a:gd name="T4" fmla="*/ 113 w 132"/>
              <a:gd name="T5" fmla="*/ 476 h 726"/>
              <a:gd name="T6" fmla="*/ 0 w 132"/>
              <a:gd name="T7" fmla="*/ 726 h 7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32" h="726">
                <a:moveTo>
                  <a:pt x="45" y="0"/>
                </a:moveTo>
                <a:cubicBezTo>
                  <a:pt x="73" y="51"/>
                  <a:pt x="102" y="102"/>
                  <a:pt x="113" y="181"/>
                </a:cubicBezTo>
                <a:cubicBezTo>
                  <a:pt x="124" y="260"/>
                  <a:pt x="132" y="385"/>
                  <a:pt x="113" y="476"/>
                </a:cubicBezTo>
                <a:cubicBezTo>
                  <a:pt x="94" y="567"/>
                  <a:pt x="19" y="684"/>
                  <a:pt x="0" y="726"/>
                </a:cubicBezTo>
              </a:path>
            </a:pathLst>
          </a:custGeom>
          <a:noFill/>
          <a:ln w="12700" cap="flat" cmpd="sng">
            <a:solidFill>
              <a:srgbClr val="008000"/>
            </a:solidFill>
            <a:prstDash val="solid"/>
            <a:round/>
            <a:headEnd type="none" w="lg" len="lg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830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/>
          <p:cNvGrpSpPr/>
          <p:nvPr/>
        </p:nvGrpSpPr>
        <p:grpSpPr>
          <a:xfrm>
            <a:off x="3686565" y="3484563"/>
            <a:ext cx="4247489" cy="2133600"/>
            <a:chOff x="1929" y="1852"/>
            <a:chExt cx="3047" cy="1344"/>
          </a:xfrm>
        </p:grpSpPr>
        <p:sp>
          <p:nvSpPr>
            <p:cNvPr id="114695" name="AutoShape 6"/>
            <p:cNvSpPr>
              <a:spLocks noChangeArrowheads="1"/>
            </p:cNvSpPr>
            <p:nvPr/>
          </p:nvSpPr>
          <p:spPr bwMode="auto">
            <a:xfrm>
              <a:off x="3542" y="1941"/>
              <a:ext cx="1434" cy="1255"/>
            </a:xfrm>
            <a:custGeom>
              <a:avLst/>
              <a:gdLst>
                <a:gd name="T0" fmla="*/ 0 w 21600"/>
                <a:gd name="T1" fmla="*/ 10800 h 21600"/>
                <a:gd name="T2" fmla="*/ 10800 w 21600"/>
                <a:gd name="T3" fmla="*/ 0 h 21600"/>
                <a:gd name="T4" fmla="*/ 21600 w 21600"/>
                <a:gd name="T5" fmla="*/ 10800 h 21600"/>
                <a:gd name="T6" fmla="*/ 10800 w 21600"/>
                <a:gd name="T7" fmla="*/ 21600 h 21600"/>
                <a:gd name="T8" fmla="*/ 0 w 21600"/>
                <a:gd name="T9" fmla="*/ 10800 h 21600"/>
                <a:gd name="T10" fmla="*/ 6582 w 21600"/>
                <a:gd name="T11" fmla="*/ 10800 h 21600"/>
                <a:gd name="T12" fmla="*/ 10800 w 21600"/>
                <a:gd name="T13" fmla="*/ 15018 h 21600"/>
                <a:gd name="T14" fmla="*/ 15018 w 21600"/>
                <a:gd name="T15" fmla="*/ 10800 h 21600"/>
                <a:gd name="T16" fmla="*/ 10800 w 21600"/>
                <a:gd name="T17" fmla="*/ 6582 h 21600"/>
                <a:gd name="T18" fmla="*/ 6582 w 21600"/>
                <a:gd name="T19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6582" y="10800"/>
                  </a:moveTo>
                  <a:cubicBezTo>
                    <a:pt x="6582" y="13130"/>
                    <a:pt x="8470" y="15018"/>
                    <a:pt x="10800" y="15018"/>
                  </a:cubicBezTo>
                  <a:cubicBezTo>
                    <a:pt x="13130" y="15018"/>
                    <a:pt x="15018" y="13130"/>
                    <a:pt x="15018" y="10800"/>
                  </a:cubicBezTo>
                  <a:cubicBezTo>
                    <a:pt x="15018" y="8470"/>
                    <a:pt x="13130" y="6582"/>
                    <a:pt x="10800" y="6582"/>
                  </a:cubicBezTo>
                  <a:cubicBezTo>
                    <a:pt x="8470" y="6582"/>
                    <a:pt x="6582" y="8470"/>
                    <a:pt x="6582" y="10800"/>
                  </a:cubicBezTo>
                  <a:close/>
                </a:path>
              </a:pathLst>
            </a:custGeom>
            <a:noFill/>
            <a:ln w="9525">
              <a:solidFill>
                <a:srgbClr val="0066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4696" name="Line 7"/>
            <p:cNvSpPr>
              <a:spLocks noChangeShapeType="1"/>
            </p:cNvSpPr>
            <p:nvPr/>
          </p:nvSpPr>
          <p:spPr bwMode="auto">
            <a:xfrm>
              <a:off x="3531" y="2552"/>
              <a:ext cx="434" cy="0"/>
            </a:xfrm>
            <a:prstGeom prst="line">
              <a:avLst/>
            </a:prstGeom>
            <a:noFill/>
            <a:ln w="9525">
              <a:solidFill>
                <a:srgbClr val="0066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4697" name="Line 8"/>
            <p:cNvSpPr>
              <a:spLocks noChangeShapeType="1"/>
            </p:cNvSpPr>
            <p:nvPr/>
          </p:nvSpPr>
          <p:spPr bwMode="auto">
            <a:xfrm>
              <a:off x="4528" y="2581"/>
              <a:ext cx="434" cy="0"/>
            </a:xfrm>
            <a:prstGeom prst="line">
              <a:avLst/>
            </a:prstGeom>
            <a:noFill/>
            <a:ln w="9525">
              <a:solidFill>
                <a:srgbClr val="0066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4698" name="Line 9"/>
            <p:cNvSpPr>
              <a:spLocks noChangeShapeType="1"/>
            </p:cNvSpPr>
            <p:nvPr/>
          </p:nvSpPr>
          <p:spPr bwMode="auto">
            <a:xfrm>
              <a:off x="3898" y="2030"/>
              <a:ext cx="222" cy="322"/>
            </a:xfrm>
            <a:prstGeom prst="line">
              <a:avLst/>
            </a:prstGeom>
            <a:noFill/>
            <a:ln w="9525">
              <a:solidFill>
                <a:srgbClr val="0066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4699" name="Line 10"/>
            <p:cNvSpPr>
              <a:spLocks noChangeShapeType="1"/>
            </p:cNvSpPr>
            <p:nvPr/>
          </p:nvSpPr>
          <p:spPr bwMode="auto">
            <a:xfrm>
              <a:off x="4450" y="2770"/>
              <a:ext cx="222" cy="322"/>
            </a:xfrm>
            <a:prstGeom prst="line">
              <a:avLst/>
            </a:prstGeom>
            <a:noFill/>
            <a:ln w="9525">
              <a:solidFill>
                <a:srgbClr val="0066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4700" name="Line 11"/>
            <p:cNvSpPr>
              <a:spLocks noChangeShapeType="1"/>
            </p:cNvSpPr>
            <p:nvPr/>
          </p:nvSpPr>
          <p:spPr bwMode="auto">
            <a:xfrm flipH="1">
              <a:off x="4420" y="2041"/>
              <a:ext cx="233" cy="311"/>
            </a:xfrm>
            <a:prstGeom prst="line">
              <a:avLst/>
            </a:prstGeom>
            <a:noFill/>
            <a:ln w="9525">
              <a:solidFill>
                <a:srgbClr val="0066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4701" name="Line 12"/>
            <p:cNvSpPr>
              <a:spLocks noChangeShapeType="1"/>
            </p:cNvSpPr>
            <p:nvPr/>
          </p:nvSpPr>
          <p:spPr bwMode="auto">
            <a:xfrm flipH="1">
              <a:off x="3871" y="2782"/>
              <a:ext cx="233" cy="311"/>
            </a:xfrm>
            <a:prstGeom prst="line">
              <a:avLst/>
            </a:prstGeom>
            <a:noFill/>
            <a:ln w="9525">
              <a:solidFill>
                <a:srgbClr val="0066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4702" name="Text Box 13"/>
            <p:cNvSpPr txBox="1">
              <a:spLocks noChangeArrowheads="1"/>
            </p:cNvSpPr>
            <p:nvPr/>
          </p:nvSpPr>
          <p:spPr bwMode="auto">
            <a:xfrm>
              <a:off x="3658" y="2272"/>
              <a:ext cx="25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J4</a:t>
              </a:r>
            </a:p>
          </p:txBody>
        </p:sp>
        <p:sp>
          <p:nvSpPr>
            <p:cNvPr id="114703" name="Text Box 14"/>
            <p:cNvSpPr txBox="1">
              <a:spLocks noChangeArrowheads="1"/>
            </p:cNvSpPr>
            <p:nvPr/>
          </p:nvSpPr>
          <p:spPr bwMode="auto">
            <a:xfrm>
              <a:off x="4158" y="2027"/>
              <a:ext cx="25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J5</a:t>
              </a:r>
            </a:p>
          </p:txBody>
        </p:sp>
        <p:sp>
          <p:nvSpPr>
            <p:cNvPr id="114704" name="Text Box 15"/>
            <p:cNvSpPr txBox="1">
              <a:spLocks noChangeArrowheads="1"/>
            </p:cNvSpPr>
            <p:nvPr/>
          </p:nvSpPr>
          <p:spPr bwMode="auto">
            <a:xfrm>
              <a:off x="4547" y="2238"/>
              <a:ext cx="25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J6</a:t>
              </a:r>
            </a:p>
          </p:txBody>
        </p:sp>
        <p:sp>
          <p:nvSpPr>
            <p:cNvPr id="114705" name="Text Box 16"/>
            <p:cNvSpPr txBox="1">
              <a:spLocks noChangeArrowheads="1"/>
            </p:cNvSpPr>
            <p:nvPr/>
          </p:nvSpPr>
          <p:spPr bwMode="auto">
            <a:xfrm>
              <a:off x="4379" y="2389"/>
              <a:ext cx="1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0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4706" name="Text Box 17"/>
            <p:cNvSpPr txBox="1">
              <a:spLocks noChangeArrowheads="1"/>
            </p:cNvSpPr>
            <p:nvPr/>
          </p:nvSpPr>
          <p:spPr bwMode="auto">
            <a:xfrm>
              <a:off x="4376" y="2562"/>
              <a:ext cx="1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1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4707" name="Text Box 18"/>
            <p:cNvSpPr txBox="1">
              <a:spLocks noChangeArrowheads="1"/>
            </p:cNvSpPr>
            <p:nvPr/>
          </p:nvSpPr>
          <p:spPr bwMode="auto">
            <a:xfrm>
              <a:off x="4187" y="2651"/>
              <a:ext cx="1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2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4708" name="Text Box 19"/>
            <p:cNvSpPr txBox="1">
              <a:spLocks noChangeArrowheads="1"/>
            </p:cNvSpPr>
            <p:nvPr/>
          </p:nvSpPr>
          <p:spPr bwMode="auto">
            <a:xfrm>
              <a:off x="3986" y="2552"/>
              <a:ext cx="1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3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4709" name="Text Box 20"/>
            <p:cNvSpPr txBox="1">
              <a:spLocks noChangeArrowheads="1"/>
            </p:cNvSpPr>
            <p:nvPr/>
          </p:nvSpPr>
          <p:spPr bwMode="auto">
            <a:xfrm>
              <a:off x="3997" y="2385"/>
              <a:ext cx="1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4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4710" name="Text Box 21"/>
            <p:cNvSpPr txBox="1">
              <a:spLocks noChangeArrowheads="1"/>
            </p:cNvSpPr>
            <p:nvPr/>
          </p:nvSpPr>
          <p:spPr bwMode="auto">
            <a:xfrm>
              <a:off x="4186" y="2296"/>
              <a:ext cx="1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5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4711" name="Text Box 22"/>
            <p:cNvSpPr txBox="1">
              <a:spLocks noChangeArrowheads="1"/>
            </p:cNvSpPr>
            <p:nvPr/>
          </p:nvSpPr>
          <p:spPr bwMode="auto">
            <a:xfrm>
              <a:off x="2907" y="2504"/>
              <a:ext cx="36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rear</a:t>
              </a:r>
            </a:p>
          </p:txBody>
        </p:sp>
        <p:sp>
          <p:nvSpPr>
            <p:cNvPr id="114712" name="Line 23"/>
            <p:cNvSpPr>
              <a:spLocks noChangeShapeType="1"/>
            </p:cNvSpPr>
            <p:nvPr/>
          </p:nvSpPr>
          <p:spPr bwMode="auto">
            <a:xfrm flipV="1">
              <a:off x="3287" y="2358"/>
              <a:ext cx="244" cy="1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4713" name="Text Box 24"/>
            <p:cNvSpPr txBox="1">
              <a:spLocks noChangeArrowheads="1"/>
            </p:cNvSpPr>
            <p:nvPr/>
          </p:nvSpPr>
          <p:spPr bwMode="auto">
            <a:xfrm>
              <a:off x="2854" y="2327"/>
              <a:ext cx="42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front</a:t>
              </a:r>
            </a:p>
          </p:txBody>
        </p:sp>
        <p:sp>
          <p:nvSpPr>
            <p:cNvPr id="114714" name="Text Box 25"/>
            <p:cNvSpPr txBox="1">
              <a:spLocks noChangeArrowheads="1"/>
            </p:cNvSpPr>
            <p:nvPr/>
          </p:nvSpPr>
          <p:spPr bwMode="auto">
            <a:xfrm>
              <a:off x="3687" y="2645"/>
              <a:ext cx="25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J9</a:t>
              </a:r>
            </a:p>
          </p:txBody>
        </p:sp>
        <p:sp>
          <p:nvSpPr>
            <p:cNvPr id="114715" name="Text Box 26"/>
            <p:cNvSpPr txBox="1">
              <a:spLocks noChangeArrowheads="1"/>
            </p:cNvSpPr>
            <p:nvPr/>
          </p:nvSpPr>
          <p:spPr bwMode="auto">
            <a:xfrm>
              <a:off x="4121" y="2857"/>
              <a:ext cx="25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J8</a:t>
              </a:r>
            </a:p>
          </p:txBody>
        </p:sp>
        <p:sp>
          <p:nvSpPr>
            <p:cNvPr id="114716" name="Text Box 27"/>
            <p:cNvSpPr txBox="1">
              <a:spLocks noChangeArrowheads="1"/>
            </p:cNvSpPr>
            <p:nvPr/>
          </p:nvSpPr>
          <p:spPr bwMode="auto">
            <a:xfrm>
              <a:off x="4554" y="2634"/>
              <a:ext cx="25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J7</a:t>
              </a:r>
            </a:p>
          </p:txBody>
        </p:sp>
        <p:sp>
          <p:nvSpPr>
            <p:cNvPr id="114717" name="Line 28"/>
            <p:cNvSpPr>
              <a:spLocks noChangeShapeType="1"/>
            </p:cNvSpPr>
            <p:nvPr/>
          </p:nvSpPr>
          <p:spPr bwMode="auto">
            <a:xfrm flipV="1">
              <a:off x="3312" y="2488"/>
              <a:ext cx="213" cy="1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4720" name="Text Box 31"/>
            <p:cNvSpPr txBox="1">
              <a:spLocks noChangeArrowheads="1"/>
            </p:cNvSpPr>
            <p:nvPr/>
          </p:nvSpPr>
          <p:spPr bwMode="auto">
            <a:xfrm rot="494453">
              <a:off x="1929" y="1852"/>
              <a:ext cx="140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J7, J8, J9</a:t>
              </a: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入队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765984" name="AutoShape 32"/>
          <p:cNvSpPr>
            <a:spLocks noChangeArrowheads="1"/>
          </p:cNvSpPr>
          <p:nvPr/>
        </p:nvSpPr>
        <p:spPr bwMode="auto">
          <a:xfrm>
            <a:off x="982071" y="927476"/>
            <a:ext cx="3059113" cy="919163"/>
          </a:xfrm>
          <a:prstGeom prst="wedgeRoundRectCallout">
            <a:avLst>
              <a:gd name="adj1" fmla="val 57457"/>
              <a:gd name="adj2" fmla="val 99996"/>
              <a:gd name="adj3" fmla="val 16667"/>
            </a:avLst>
          </a:prstGeom>
          <a:noFill/>
          <a:ln w="38100">
            <a:solidFill>
              <a:schemeClr val="accent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队空：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front==rear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队满：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front==rear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65985" name="Text Box 33"/>
          <p:cNvSpPr txBox="1">
            <a:spLocks noChangeArrowheads="1"/>
          </p:cNvSpPr>
          <p:nvPr/>
        </p:nvSpPr>
        <p:spPr bwMode="auto">
          <a:xfrm>
            <a:off x="12600" y="4509120"/>
            <a:ext cx="4031873" cy="2346091"/>
          </a:xfrm>
          <a:prstGeom prst="rect">
            <a:avLst/>
          </a:prstGeom>
          <a:noFill/>
          <a:ln w="3810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解决方案：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1.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另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设一个标志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以区别队空、队满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.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少用一个元素空间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：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队空：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front==rear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队满：(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rear+1)%M==front</a:t>
            </a:r>
          </a:p>
        </p:txBody>
      </p:sp>
      <p:grpSp>
        <p:nvGrpSpPr>
          <p:cNvPr id="128005" name="Group 34"/>
          <p:cNvGrpSpPr/>
          <p:nvPr/>
        </p:nvGrpSpPr>
        <p:grpSpPr>
          <a:xfrm>
            <a:off x="1364021" y="2347913"/>
            <a:ext cx="2069742" cy="1992312"/>
            <a:chOff x="1389" y="1311"/>
            <a:chExt cx="1445" cy="1255"/>
          </a:xfrm>
        </p:grpSpPr>
        <p:sp>
          <p:nvSpPr>
            <p:cNvPr id="114724" name="AutoShape 35"/>
            <p:cNvSpPr>
              <a:spLocks noChangeArrowheads="1"/>
            </p:cNvSpPr>
            <p:nvPr/>
          </p:nvSpPr>
          <p:spPr bwMode="auto">
            <a:xfrm>
              <a:off x="1400" y="1311"/>
              <a:ext cx="1434" cy="1255"/>
            </a:xfrm>
            <a:custGeom>
              <a:avLst/>
              <a:gdLst>
                <a:gd name="T0" fmla="*/ 0 w 21600"/>
                <a:gd name="T1" fmla="*/ 10800 h 21600"/>
                <a:gd name="T2" fmla="*/ 10800 w 21600"/>
                <a:gd name="T3" fmla="*/ 0 h 21600"/>
                <a:gd name="T4" fmla="*/ 21600 w 21600"/>
                <a:gd name="T5" fmla="*/ 10800 h 21600"/>
                <a:gd name="T6" fmla="*/ 10800 w 21600"/>
                <a:gd name="T7" fmla="*/ 21600 h 21600"/>
                <a:gd name="T8" fmla="*/ 0 w 21600"/>
                <a:gd name="T9" fmla="*/ 10800 h 21600"/>
                <a:gd name="T10" fmla="*/ 6582 w 21600"/>
                <a:gd name="T11" fmla="*/ 10800 h 21600"/>
                <a:gd name="T12" fmla="*/ 10800 w 21600"/>
                <a:gd name="T13" fmla="*/ 15018 h 21600"/>
                <a:gd name="T14" fmla="*/ 15018 w 21600"/>
                <a:gd name="T15" fmla="*/ 10800 h 21600"/>
                <a:gd name="T16" fmla="*/ 10800 w 21600"/>
                <a:gd name="T17" fmla="*/ 6582 h 21600"/>
                <a:gd name="T18" fmla="*/ 6582 w 21600"/>
                <a:gd name="T19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6582" y="10800"/>
                  </a:moveTo>
                  <a:cubicBezTo>
                    <a:pt x="6582" y="13130"/>
                    <a:pt x="8470" y="15018"/>
                    <a:pt x="10800" y="15018"/>
                  </a:cubicBezTo>
                  <a:cubicBezTo>
                    <a:pt x="13130" y="15018"/>
                    <a:pt x="15018" y="13130"/>
                    <a:pt x="15018" y="10800"/>
                  </a:cubicBezTo>
                  <a:cubicBezTo>
                    <a:pt x="15018" y="8470"/>
                    <a:pt x="13130" y="6582"/>
                    <a:pt x="10800" y="6582"/>
                  </a:cubicBezTo>
                  <a:cubicBezTo>
                    <a:pt x="8470" y="6582"/>
                    <a:pt x="6582" y="8470"/>
                    <a:pt x="6582" y="10800"/>
                  </a:cubicBezTo>
                  <a:close/>
                </a:path>
              </a:pathLst>
            </a:custGeom>
            <a:noFill/>
            <a:ln w="9525">
              <a:solidFill>
                <a:srgbClr val="0066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4725" name="Line 36"/>
            <p:cNvSpPr>
              <a:spLocks noChangeShapeType="1"/>
            </p:cNvSpPr>
            <p:nvPr/>
          </p:nvSpPr>
          <p:spPr bwMode="auto">
            <a:xfrm>
              <a:off x="1389" y="1922"/>
              <a:ext cx="434" cy="0"/>
            </a:xfrm>
            <a:prstGeom prst="line">
              <a:avLst/>
            </a:prstGeom>
            <a:noFill/>
            <a:ln w="9525">
              <a:solidFill>
                <a:srgbClr val="0066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4726" name="Line 37"/>
            <p:cNvSpPr>
              <a:spLocks noChangeShapeType="1"/>
            </p:cNvSpPr>
            <p:nvPr/>
          </p:nvSpPr>
          <p:spPr bwMode="auto">
            <a:xfrm>
              <a:off x="2398" y="1951"/>
              <a:ext cx="434" cy="0"/>
            </a:xfrm>
            <a:prstGeom prst="line">
              <a:avLst/>
            </a:prstGeom>
            <a:noFill/>
            <a:ln w="9525">
              <a:solidFill>
                <a:srgbClr val="0066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4727" name="Line 38"/>
            <p:cNvSpPr>
              <a:spLocks noChangeShapeType="1"/>
            </p:cNvSpPr>
            <p:nvPr/>
          </p:nvSpPr>
          <p:spPr bwMode="auto">
            <a:xfrm>
              <a:off x="1756" y="1400"/>
              <a:ext cx="222" cy="322"/>
            </a:xfrm>
            <a:prstGeom prst="line">
              <a:avLst/>
            </a:prstGeom>
            <a:noFill/>
            <a:ln w="9525">
              <a:solidFill>
                <a:srgbClr val="0066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4728" name="Line 39"/>
            <p:cNvSpPr>
              <a:spLocks noChangeShapeType="1"/>
            </p:cNvSpPr>
            <p:nvPr/>
          </p:nvSpPr>
          <p:spPr bwMode="auto">
            <a:xfrm>
              <a:off x="2308" y="2140"/>
              <a:ext cx="222" cy="322"/>
            </a:xfrm>
            <a:prstGeom prst="line">
              <a:avLst/>
            </a:prstGeom>
            <a:noFill/>
            <a:ln w="9525">
              <a:solidFill>
                <a:srgbClr val="0066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4729" name="Line 40"/>
            <p:cNvSpPr>
              <a:spLocks noChangeShapeType="1"/>
            </p:cNvSpPr>
            <p:nvPr/>
          </p:nvSpPr>
          <p:spPr bwMode="auto">
            <a:xfrm flipH="1">
              <a:off x="2278" y="1411"/>
              <a:ext cx="233" cy="311"/>
            </a:xfrm>
            <a:prstGeom prst="line">
              <a:avLst/>
            </a:prstGeom>
            <a:noFill/>
            <a:ln w="9525">
              <a:solidFill>
                <a:srgbClr val="0066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4730" name="Line 41"/>
            <p:cNvSpPr>
              <a:spLocks noChangeShapeType="1"/>
            </p:cNvSpPr>
            <p:nvPr/>
          </p:nvSpPr>
          <p:spPr bwMode="auto">
            <a:xfrm flipH="1">
              <a:off x="1729" y="2152"/>
              <a:ext cx="233" cy="311"/>
            </a:xfrm>
            <a:prstGeom prst="line">
              <a:avLst/>
            </a:prstGeom>
            <a:noFill/>
            <a:ln w="9525">
              <a:solidFill>
                <a:srgbClr val="0066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4731" name="Text Box 42"/>
            <p:cNvSpPr txBox="1">
              <a:spLocks noChangeArrowheads="1"/>
            </p:cNvSpPr>
            <p:nvPr/>
          </p:nvSpPr>
          <p:spPr bwMode="auto">
            <a:xfrm>
              <a:off x="1516" y="1642"/>
              <a:ext cx="25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J4</a:t>
              </a:r>
            </a:p>
          </p:txBody>
        </p:sp>
        <p:sp>
          <p:nvSpPr>
            <p:cNvPr id="114732" name="Text Box 43"/>
            <p:cNvSpPr txBox="1">
              <a:spLocks noChangeArrowheads="1"/>
            </p:cNvSpPr>
            <p:nvPr/>
          </p:nvSpPr>
          <p:spPr bwMode="auto">
            <a:xfrm>
              <a:off x="2016" y="1397"/>
              <a:ext cx="25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J5</a:t>
              </a:r>
            </a:p>
          </p:txBody>
        </p:sp>
        <p:sp>
          <p:nvSpPr>
            <p:cNvPr id="114733" name="Text Box 44"/>
            <p:cNvSpPr txBox="1">
              <a:spLocks noChangeArrowheads="1"/>
            </p:cNvSpPr>
            <p:nvPr/>
          </p:nvSpPr>
          <p:spPr bwMode="auto">
            <a:xfrm>
              <a:off x="2405" y="1608"/>
              <a:ext cx="25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J6</a:t>
              </a:r>
            </a:p>
          </p:txBody>
        </p:sp>
        <p:sp>
          <p:nvSpPr>
            <p:cNvPr id="114734" name="Text Box 45"/>
            <p:cNvSpPr txBox="1">
              <a:spLocks noChangeArrowheads="1"/>
            </p:cNvSpPr>
            <p:nvPr/>
          </p:nvSpPr>
          <p:spPr bwMode="auto">
            <a:xfrm>
              <a:off x="2237" y="1759"/>
              <a:ext cx="1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0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4735" name="Text Box 46"/>
            <p:cNvSpPr txBox="1">
              <a:spLocks noChangeArrowheads="1"/>
            </p:cNvSpPr>
            <p:nvPr/>
          </p:nvSpPr>
          <p:spPr bwMode="auto">
            <a:xfrm>
              <a:off x="2234" y="1932"/>
              <a:ext cx="1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1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4736" name="Text Box 47"/>
            <p:cNvSpPr txBox="1">
              <a:spLocks noChangeArrowheads="1"/>
            </p:cNvSpPr>
            <p:nvPr/>
          </p:nvSpPr>
          <p:spPr bwMode="auto">
            <a:xfrm>
              <a:off x="2045" y="2021"/>
              <a:ext cx="1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2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4737" name="Text Box 48"/>
            <p:cNvSpPr txBox="1">
              <a:spLocks noChangeArrowheads="1"/>
            </p:cNvSpPr>
            <p:nvPr/>
          </p:nvSpPr>
          <p:spPr bwMode="auto">
            <a:xfrm>
              <a:off x="1844" y="1922"/>
              <a:ext cx="1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3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4738" name="Text Box 49"/>
            <p:cNvSpPr txBox="1">
              <a:spLocks noChangeArrowheads="1"/>
            </p:cNvSpPr>
            <p:nvPr/>
          </p:nvSpPr>
          <p:spPr bwMode="auto">
            <a:xfrm>
              <a:off x="1855" y="1755"/>
              <a:ext cx="1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4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4739" name="Text Box 50"/>
            <p:cNvSpPr txBox="1">
              <a:spLocks noChangeArrowheads="1"/>
            </p:cNvSpPr>
            <p:nvPr/>
          </p:nvSpPr>
          <p:spPr bwMode="auto">
            <a:xfrm>
              <a:off x="2044" y="1666"/>
              <a:ext cx="1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5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114740" name="Text Box 51"/>
          <p:cNvSpPr txBox="1">
            <a:spLocks noChangeArrowheads="1"/>
          </p:cNvSpPr>
          <p:nvPr/>
        </p:nvSpPr>
        <p:spPr bwMode="auto">
          <a:xfrm>
            <a:off x="3184525" y="4176713"/>
            <a:ext cx="577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rear</a:t>
            </a:r>
          </a:p>
        </p:txBody>
      </p:sp>
      <p:sp>
        <p:nvSpPr>
          <p:cNvPr id="114741" name="Line 52"/>
          <p:cNvSpPr>
            <a:spLocks noChangeShapeType="1"/>
          </p:cNvSpPr>
          <p:nvPr/>
        </p:nvSpPr>
        <p:spPr bwMode="auto">
          <a:xfrm flipV="1">
            <a:off x="808038" y="3025775"/>
            <a:ext cx="387350" cy="1587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4742" name="Text Box 53"/>
          <p:cNvSpPr txBox="1">
            <a:spLocks noChangeArrowheads="1"/>
          </p:cNvSpPr>
          <p:nvPr/>
        </p:nvSpPr>
        <p:spPr bwMode="auto">
          <a:xfrm>
            <a:off x="169863" y="3021013"/>
            <a:ext cx="676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front</a:t>
            </a:r>
          </a:p>
        </p:txBody>
      </p:sp>
      <p:sp>
        <p:nvSpPr>
          <p:cNvPr id="114743" name="Line 54"/>
          <p:cNvSpPr>
            <a:spLocks noChangeShapeType="1"/>
          </p:cNvSpPr>
          <p:nvPr/>
        </p:nvSpPr>
        <p:spPr bwMode="auto">
          <a:xfrm>
            <a:off x="3151188" y="4062413"/>
            <a:ext cx="0" cy="4730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5" name="Group 55"/>
          <p:cNvGrpSpPr/>
          <p:nvPr/>
        </p:nvGrpSpPr>
        <p:grpSpPr>
          <a:xfrm>
            <a:off x="3785991" y="930275"/>
            <a:ext cx="4762698" cy="2070100"/>
            <a:chOff x="2044" y="163"/>
            <a:chExt cx="3301" cy="1304"/>
          </a:xfrm>
        </p:grpSpPr>
        <p:sp>
          <p:nvSpPr>
            <p:cNvPr id="114745" name="AutoShape 56"/>
            <p:cNvSpPr>
              <a:spLocks noChangeArrowheads="1"/>
            </p:cNvSpPr>
            <p:nvPr/>
          </p:nvSpPr>
          <p:spPr bwMode="auto">
            <a:xfrm>
              <a:off x="3386" y="163"/>
              <a:ext cx="1440" cy="1255"/>
            </a:xfrm>
            <a:custGeom>
              <a:avLst/>
              <a:gdLst>
                <a:gd name="T0" fmla="*/ 0 w 21600"/>
                <a:gd name="T1" fmla="*/ 10800 h 21600"/>
                <a:gd name="T2" fmla="*/ 10800 w 21600"/>
                <a:gd name="T3" fmla="*/ 0 h 21600"/>
                <a:gd name="T4" fmla="*/ 21600 w 21600"/>
                <a:gd name="T5" fmla="*/ 10800 h 21600"/>
                <a:gd name="T6" fmla="*/ 10800 w 21600"/>
                <a:gd name="T7" fmla="*/ 21600 h 21600"/>
                <a:gd name="T8" fmla="*/ 0 w 21600"/>
                <a:gd name="T9" fmla="*/ 10800 h 21600"/>
                <a:gd name="T10" fmla="*/ 6582 w 21600"/>
                <a:gd name="T11" fmla="*/ 10800 h 21600"/>
                <a:gd name="T12" fmla="*/ 10800 w 21600"/>
                <a:gd name="T13" fmla="*/ 15018 h 21600"/>
                <a:gd name="T14" fmla="*/ 15018 w 21600"/>
                <a:gd name="T15" fmla="*/ 10800 h 21600"/>
                <a:gd name="T16" fmla="*/ 10800 w 21600"/>
                <a:gd name="T17" fmla="*/ 6582 h 21600"/>
                <a:gd name="T18" fmla="*/ 6582 w 21600"/>
                <a:gd name="T19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6582" y="10800"/>
                  </a:moveTo>
                  <a:cubicBezTo>
                    <a:pt x="6582" y="13130"/>
                    <a:pt x="8470" y="15018"/>
                    <a:pt x="10800" y="15018"/>
                  </a:cubicBezTo>
                  <a:cubicBezTo>
                    <a:pt x="13130" y="15018"/>
                    <a:pt x="15018" y="13130"/>
                    <a:pt x="15018" y="10800"/>
                  </a:cubicBezTo>
                  <a:cubicBezTo>
                    <a:pt x="15018" y="8470"/>
                    <a:pt x="13130" y="6582"/>
                    <a:pt x="10800" y="6582"/>
                  </a:cubicBezTo>
                  <a:cubicBezTo>
                    <a:pt x="8470" y="6582"/>
                    <a:pt x="6582" y="8470"/>
                    <a:pt x="6582" y="10800"/>
                  </a:cubicBezTo>
                  <a:close/>
                </a:path>
              </a:pathLst>
            </a:custGeom>
            <a:noFill/>
            <a:ln w="9525">
              <a:solidFill>
                <a:srgbClr val="0066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4746" name="Line 57"/>
            <p:cNvSpPr>
              <a:spLocks noChangeShapeType="1"/>
            </p:cNvSpPr>
            <p:nvPr/>
          </p:nvSpPr>
          <p:spPr bwMode="auto">
            <a:xfrm>
              <a:off x="3375" y="774"/>
              <a:ext cx="440" cy="0"/>
            </a:xfrm>
            <a:prstGeom prst="line">
              <a:avLst/>
            </a:prstGeom>
            <a:noFill/>
            <a:ln w="9525">
              <a:solidFill>
                <a:srgbClr val="0066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4747" name="Line 58"/>
            <p:cNvSpPr>
              <a:spLocks noChangeShapeType="1"/>
            </p:cNvSpPr>
            <p:nvPr/>
          </p:nvSpPr>
          <p:spPr bwMode="auto">
            <a:xfrm>
              <a:off x="4390" y="803"/>
              <a:ext cx="434" cy="0"/>
            </a:xfrm>
            <a:prstGeom prst="line">
              <a:avLst/>
            </a:prstGeom>
            <a:noFill/>
            <a:ln w="9525">
              <a:solidFill>
                <a:srgbClr val="0066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4748" name="Line 59"/>
            <p:cNvSpPr>
              <a:spLocks noChangeShapeType="1"/>
            </p:cNvSpPr>
            <p:nvPr/>
          </p:nvSpPr>
          <p:spPr bwMode="auto">
            <a:xfrm>
              <a:off x="3742" y="252"/>
              <a:ext cx="228" cy="322"/>
            </a:xfrm>
            <a:prstGeom prst="line">
              <a:avLst/>
            </a:prstGeom>
            <a:noFill/>
            <a:ln w="9525">
              <a:solidFill>
                <a:srgbClr val="0066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4749" name="Line 60"/>
            <p:cNvSpPr>
              <a:spLocks noChangeShapeType="1"/>
            </p:cNvSpPr>
            <p:nvPr/>
          </p:nvSpPr>
          <p:spPr bwMode="auto">
            <a:xfrm>
              <a:off x="4294" y="992"/>
              <a:ext cx="222" cy="322"/>
            </a:xfrm>
            <a:prstGeom prst="line">
              <a:avLst/>
            </a:prstGeom>
            <a:noFill/>
            <a:ln w="9525">
              <a:solidFill>
                <a:srgbClr val="0066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4750" name="Line 61"/>
            <p:cNvSpPr>
              <a:spLocks noChangeShapeType="1"/>
            </p:cNvSpPr>
            <p:nvPr/>
          </p:nvSpPr>
          <p:spPr bwMode="auto">
            <a:xfrm flipH="1">
              <a:off x="4264" y="263"/>
              <a:ext cx="233" cy="311"/>
            </a:xfrm>
            <a:prstGeom prst="line">
              <a:avLst/>
            </a:prstGeom>
            <a:noFill/>
            <a:ln w="9525">
              <a:solidFill>
                <a:srgbClr val="0066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4751" name="Line 62"/>
            <p:cNvSpPr>
              <a:spLocks noChangeShapeType="1"/>
            </p:cNvSpPr>
            <p:nvPr/>
          </p:nvSpPr>
          <p:spPr bwMode="auto">
            <a:xfrm flipH="1">
              <a:off x="3715" y="1004"/>
              <a:ext cx="239" cy="311"/>
            </a:xfrm>
            <a:prstGeom prst="line">
              <a:avLst/>
            </a:prstGeom>
            <a:noFill/>
            <a:ln w="9525">
              <a:solidFill>
                <a:srgbClr val="0066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4752" name="Text Box 63"/>
            <p:cNvSpPr txBox="1">
              <a:spLocks noChangeArrowheads="1"/>
            </p:cNvSpPr>
            <p:nvPr/>
          </p:nvSpPr>
          <p:spPr bwMode="auto">
            <a:xfrm>
              <a:off x="4223" y="611"/>
              <a:ext cx="1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0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4753" name="Text Box 64"/>
            <p:cNvSpPr txBox="1">
              <a:spLocks noChangeArrowheads="1"/>
            </p:cNvSpPr>
            <p:nvPr/>
          </p:nvSpPr>
          <p:spPr bwMode="auto">
            <a:xfrm>
              <a:off x="4220" y="784"/>
              <a:ext cx="1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1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4754" name="Text Box 65"/>
            <p:cNvSpPr txBox="1">
              <a:spLocks noChangeArrowheads="1"/>
            </p:cNvSpPr>
            <p:nvPr/>
          </p:nvSpPr>
          <p:spPr bwMode="auto">
            <a:xfrm>
              <a:off x="4031" y="873"/>
              <a:ext cx="1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2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4755" name="Text Box 66"/>
            <p:cNvSpPr txBox="1">
              <a:spLocks noChangeArrowheads="1"/>
            </p:cNvSpPr>
            <p:nvPr/>
          </p:nvSpPr>
          <p:spPr bwMode="auto">
            <a:xfrm>
              <a:off x="3830" y="774"/>
              <a:ext cx="1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3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4756" name="Text Box 67"/>
            <p:cNvSpPr txBox="1">
              <a:spLocks noChangeArrowheads="1"/>
            </p:cNvSpPr>
            <p:nvPr/>
          </p:nvSpPr>
          <p:spPr bwMode="auto">
            <a:xfrm>
              <a:off x="3841" y="607"/>
              <a:ext cx="1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4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4757" name="Text Box 68"/>
            <p:cNvSpPr txBox="1">
              <a:spLocks noChangeArrowheads="1"/>
            </p:cNvSpPr>
            <p:nvPr/>
          </p:nvSpPr>
          <p:spPr bwMode="auto">
            <a:xfrm>
              <a:off x="4030" y="518"/>
              <a:ext cx="1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5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4758" name="Text Box 69"/>
            <p:cNvSpPr txBox="1">
              <a:spLocks noChangeArrowheads="1"/>
            </p:cNvSpPr>
            <p:nvPr/>
          </p:nvSpPr>
          <p:spPr bwMode="auto">
            <a:xfrm>
              <a:off x="4919" y="678"/>
              <a:ext cx="42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front</a:t>
              </a:r>
            </a:p>
          </p:txBody>
        </p:sp>
        <p:sp>
          <p:nvSpPr>
            <p:cNvPr id="114761" name="Text Box 72"/>
            <p:cNvSpPr txBox="1">
              <a:spLocks noChangeArrowheads="1"/>
            </p:cNvSpPr>
            <p:nvPr/>
          </p:nvSpPr>
          <p:spPr bwMode="auto">
            <a:xfrm rot="20811787">
              <a:off x="2044" y="1215"/>
              <a:ext cx="108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J4, J5, J6</a:t>
              </a: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出队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4762" name="Text Box 73"/>
            <p:cNvSpPr txBox="1">
              <a:spLocks noChangeArrowheads="1"/>
            </p:cNvSpPr>
            <p:nvPr/>
          </p:nvSpPr>
          <p:spPr bwMode="auto">
            <a:xfrm>
              <a:off x="4768" y="1189"/>
              <a:ext cx="36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rear</a:t>
              </a:r>
            </a:p>
          </p:txBody>
        </p:sp>
        <p:sp>
          <p:nvSpPr>
            <p:cNvPr id="114763" name="Line 74"/>
            <p:cNvSpPr>
              <a:spLocks noChangeShapeType="1"/>
            </p:cNvSpPr>
            <p:nvPr/>
          </p:nvSpPr>
          <p:spPr bwMode="auto">
            <a:xfrm>
              <a:off x="4747" y="1117"/>
              <a:ext cx="0" cy="29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4764" name="Line 75"/>
            <p:cNvSpPr>
              <a:spLocks noChangeShapeType="1"/>
            </p:cNvSpPr>
            <p:nvPr/>
          </p:nvSpPr>
          <p:spPr bwMode="auto">
            <a:xfrm flipH="1">
              <a:off x="4794" y="992"/>
              <a:ext cx="338" cy="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78" name="Comment 2"/>
          <p:cNvSpPr>
            <a:spLocks noChangeArrowheads="1"/>
          </p:cNvSpPr>
          <p:nvPr/>
        </p:nvSpPr>
        <p:spPr bwMode="auto">
          <a:xfrm>
            <a:off x="776288" y="196850"/>
            <a:ext cx="55562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循环队列</a:t>
            </a:r>
          </a:p>
        </p:txBody>
      </p:sp>
      <p:cxnSp>
        <p:nvCxnSpPr>
          <p:cNvPr id="4" name="直接箭头连接符 3"/>
          <p:cNvCxnSpPr>
            <a:cxnSpLocks/>
          </p:cNvCxnSpPr>
          <p:nvPr/>
        </p:nvCxnSpPr>
        <p:spPr bwMode="auto">
          <a:xfrm flipV="1">
            <a:off x="3398395" y="2220913"/>
            <a:ext cx="2234349" cy="609602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81" name="直接箭头连接符 80"/>
          <p:cNvCxnSpPr>
            <a:cxnSpLocks/>
          </p:cNvCxnSpPr>
          <p:nvPr/>
        </p:nvCxnSpPr>
        <p:spPr bwMode="auto">
          <a:xfrm>
            <a:off x="3493921" y="3736977"/>
            <a:ext cx="2370282" cy="360362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65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765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5984" grpId="0" animBg="1"/>
      <p:bldP spid="76598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矩形 5"/>
          <p:cNvSpPr/>
          <p:nvPr/>
        </p:nvSpPr>
        <p:spPr>
          <a:xfrm>
            <a:off x="0" y="1773238"/>
            <a:ext cx="9144000" cy="3887787"/>
          </a:xfrm>
          <a:prstGeom prst="rect">
            <a:avLst/>
          </a:prstGeom>
          <a:solidFill>
            <a:srgbClr val="EAEAEA"/>
          </a:solidFill>
          <a:ln w="9525">
            <a:noFill/>
          </a:ln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 b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marL="342900" lvl="0" indent="-342900">
              <a:lnSpc>
                <a:spcPct val="100000"/>
              </a:lnSpc>
              <a:spcBef>
                <a:spcPct val="20000"/>
              </a:spcBef>
            </a:pPr>
            <a:endParaRPr lang="zh-CN" altLang="en-US" sz="2800" dirty="0">
              <a:ea typeface="仿宋_GB2312" pitchFamily="49" charset="-122"/>
            </a:endParaRPr>
          </a:p>
        </p:txBody>
      </p:sp>
      <p:sp>
        <p:nvSpPr>
          <p:cNvPr id="768002" name="Rectangle 2"/>
          <p:cNvSpPr>
            <a:spLocks noGrp="1" noChangeArrowheads="1"/>
          </p:cNvSpPr>
          <p:nvPr>
            <p:ph idx="1" hasCustomPrompt="1"/>
          </p:nvPr>
        </p:nvSpPr>
        <p:spPr>
          <a:xfrm>
            <a:off x="95250" y="1773238"/>
            <a:ext cx="8915400" cy="3816002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53848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Status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InitQueue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(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SqQueue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&amp;Q) {</a:t>
            </a:r>
          </a:p>
          <a:p>
            <a:pPr marL="0" marR="0" lvl="0" indent="53848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Q.base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= new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QElemType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[MAXQSIZE]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;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</a:p>
          <a:p>
            <a:pPr marL="0" marR="0" lvl="0" indent="53848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if(!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Q.base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) exit(OVERFLOW);</a:t>
            </a:r>
          </a:p>
          <a:p>
            <a:pPr marL="0" marR="0" lvl="0" indent="53848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Q.front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=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Q.rear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= 0;</a:t>
            </a:r>
          </a:p>
          <a:p>
            <a:pPr marL="0" marR="0" lvl="0" indent="53848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return OK;</a:t>
            </a:r>
          </a:p>
          <a:p>
            <a:pPr marL="0" marR="0" lvl="0" indent="53848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</a:t>
            </a:r>
          </a:p>
        </p:txBody>
      </p:sp>
      <p:sp>
        <p:nvSpPr>
          <p:cNvPr id="768003" name="Comment 3"/>
          <p:cNvSpPr>
            <a:spLocks noChangeArrowheads="1"/>
          </p:cNvSpPr>
          <p:nvPr/>
        </p:nvSpPr>
        <p:spPr bwMode="auto">
          <a:xfrm>
            <a:off x="827088" y="188913"/>
            <a:ext cx="41878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循环队列初始化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0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0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0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0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0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0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矩形 5"/>
          <p:cNvSpPr/>
          <p:nvPr/>
        </p:nvSpPr>
        <p:spPr>
          <a:xfrm>
            <a:off x="0" y="1484784"/>
            <a:ext cx="9144000" cy="4608089"/>
          </a:xfrm>
          <a:prstGeom prst="rect">
            <a:avLst/>
          </a:prstGeom>
          <a:solidFill>
            <a:srgbClr val="EAEAEA"/>
          </a:solidFill>
          <a:ln w="9525">
            <a:noFill/>
          </a:ln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 b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marL="342900" lvl="0" indent="-342900">
              <a:lnSpc>
                <a:spcPct val="100000"/>
              </a:lnSpc>
              <a:spcBef>
                <a:spcPct val="20000"/>
              </a:spcBef>
            </a:pPr>
            <a:endParaRPr lang="zh-CN" altLang="en-US" sz="2800" dirty="0">
              <a:ea typeface="仿宋_GB2312" pitchFamily="49" charset="-122"/>
            </a:endParaRPr>
          </a:p>
        </p:txBody>
      </p:sp>
      <p:sp>
        <p:nvSpPr>
          <p:cNvPr id="770051" name="Rectangle 3"/>
          <p:cNvSpPr>
            <a:spLocks noGrp="1" noChangeArrowheads="1"/>
          </p:cNvSpPr>
          <p:nvPr>
            <p:ph idx="1" hasCustomPrompt="1"/>
          </p:nvPr>
        </p:nvSpPr>
        <p:spPr>
          <a:xfrm>
            <a:off x="95250" y="1484785"/>
            <a:ext cx="8915400" cy="46080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lvl="0" indent="538480">
              <a:spcBef>
                <a:spcPct val="0"/>
              </a:spcBef>
              <a:buNone/>
              <a:defRPr/>
            </a:pP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bool </a:t>
            </a:r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QueueEmpty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 (</a:t>
            </a:r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SeqQueue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&amp; Q) {</a:t>
            </a:r>
          </a:p>
          <a:p>
            <a:pPr marL="0" lvl="0" indent="538480">
              <a:spcBef>
                <a:spcPct val="0"/>
              </a:spcBef>
              <a:buNone/>
              <a:defRPr/>
            </a:pP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     return </a:t>
            </a:r>
            <a:r>
              <a:rPr lang="en-US" altLang="zh-CN" dirty="0" err="1">
                <a:solidFill>
                  <a:srgbClr val="0000FF"/>
                </a:solidFill>
                <a:latin typeface="+mn-lt"/>
                <a:ea typeface="+mn-ea"/>
                <a:cs typeface="+mn-ea"/>
                <a:sym typeface="+mn-lt"/>
              </a:rPr>
              <a:t>Q.rear</a:t>
            </a:r>
            <a:r>
              <a:rPr lang="en-US" altLang="zh-CN" dirty="0">
                <a:solidFill>
                  <a:srgbClr val="0000FF"/>
                </a:solidFill>
                <a:latin typeface="+mn-lt"/>
                <a:ea typeface="+mn-ea"/>
                <a:cs typeface="+mn-ea"/>
                <a:sym typeface="+mn-lt"/>
              </a:rPr>
              <a:t> == </a:t>
            </a:r>
            <a:r>
              <a:rPr lang="en-US" altLang="zh-CN" dirty="0" err="1">
                <a:solidFill>
                  <a:srgbClr val="0000FF"/>
                </a:solidFill>
                <a:latin typeface="+mn-lt"/>
                <a:ea typeface="+mn-ea"/>
                <a:cs typeface="+mn-ea"/>
                <a:sym typeface="+mn-lt"/>
              </a:rPr>
              <a:t>Q.front</a:t>
            </a:r>
            <a:r>
              <a:rPr lang="en-US" altLang="zh-CN" dirty="0">
                <a:solidFill>
                  <a:srgbClr val="0000FF"/>
                </a:solidFill>
                <a:latin typeface="+mn-lt"/>
                <a:ea typeface="+mn-ea"/>
                <a:cs typeface="+mn-ea"/>
                <a:sym typeface="+mn-lt"/>
              </a:rPr>
              <a:t>;</a:t>
            </a:r>
          </a:p>
          <a:p>
            <a:pPr marL="0" lvl="0" indent="538480">
              <a:spcBef>
                <a:spcPct val="0"/>
              </a:spcBef>
              <a:buNone/>
              <a:defRPr/>
            </a:pP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}</a:t>
            </a:r>
          </a:p>
          <a:p>
            <a:pPr marL="0" lvl="0" indent="538480">
              <a:spcBef>
                <a:spcPct val="0"/>
              </a:spcBef>
              <a:buNone/>
              <a:defRPr/>
            </a:pP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0" lvl="0" indent="538480">
              <a:spcBef>
                <a:spcPct val="0"/>
              </a:spcBef>
              <a:buNone/>
              <a:defRPr/>
            </a:pP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bool </a:t>
            </a:r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QueueFull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 (</a:t>
            </a:r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SeqQueue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&amp; Q) {</a:t>
            </a:r>
          </a:p>
          <a:p>
            <a:pPr marL="0" lvl="0" indent="538480">
              <a:spcBef>
                <a:spcPct val="0"/>
              </a:spcBef>
              <a:buNone/>
              <a:defRPr/>
            </a:pP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     return </a:t>
            </a:r>
            <a:r>
              <a:rPr lang="en-US" altLang="zh-CN" dirty="0">
                <a:solidFill>
                  <a:srgbClr val="0000FF"/>
                </a:solidFill>
                <a:latin typeface="+mn-lt"/>
                <a:ea typeface="+mn-ea"/>
                <a:cs typeface="+mn-ea"/>
                <a:sym typeface="+mn-lt"/>
              </a:rPr>
              <a:t>(Q.rear+1) % </a:t>
            </a:r>
            <a:r>
              <a:rPr lang="en-US" altLang="zh-CN" dirty="0" err="1">
                <a:solidFill>
                  <a:srgbClr val="0000FF"/>
                </a:solidFill>
                <a:latin typeface="+mn-lt"/>
                <a:ea typeface="+mn-ea"/>
                <a:cs typeface="+mn-ea"/>
                <a:sym typeface="+mn-lt"/>
              </a:rPr>
              <a:t>maxSize</a:t>
            </a:r>
            <a:r>
              <a:rPr lang="en-US" altLang="zh-CN" dirty="0">
                <a:solidFill>
                  <a:srgbClr val="0000FF"/>
                </a:solidFill>
                <a:latin typeface="+mn-lt"/>
                <a:ea typeface="+mn-ea"/>
                <a:cs typeface="+mn-ea"/>
                <a:sym typeface="+mn-lt"/>
              </a:rPr>
              <a:t> == </a:t>
            </a:r>
            <a:r>
              <a:rPr lang="en-US" altLang="zh-CN" dirty="0" err="1">
                <a:solidFill>
                  <a:srgbClr val="0000FF"/>
                </a:solidFill>
                <a:latin typeface="+mn-lt"/>
                <a:ea typeface="+mn-ea"/>
                <a:cs typeface="+mn-ea"/>
                <a:sym typeface="+mn-lt"/>
              </a:rPr>
              <a:t>Q.front</a:t>
            </a:r>
            <a:r>
              <a:rPr lang="en-US" altLang="zh-CN" dirty="0">
                <a:solidFill>
                  <a:srgbClr val="0000FF"/>
                </a:solidFill>
                <a:latin typeface="+mn-lt"/>
                <a:ea typeface="+mn-ea"/>
                <a:cs typeface="+mn-ea"/>
                <a:sym typeface="+mn-lt"/>
              </a:rPr>
              <a:t>;</a:t>
            </a:r>
          </a:p>
          <a:p>
            <a:pPr marL="0" lvl="0" indent="538480">
              <a:spcBef>
                <a:spcPct val="0"/>
              </a:spcBef>
              <a:buNone/>
              <a:defRPr/>
            </a:pP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}</a:t>
            </a:r>
          </a:p>
        </p:txBody>
      </p:sp>
      <p:sp>
        <p:nvSpPr>
          <p:cNvPr id="770050" name="Comment 2"/>
          <p:cNvSpPr>
            <a:spLocks noChangeArrowheads="1"/>
          </p:cNvSpPr>
          <p:nvPr/>
        </p:nvSpPr>
        <p:spPr bwMode="auto">
          <a:xfrm>
            <a:off x="827088" y="188913"/>
            <a:ext cx="519588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判断循环队列空或者满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0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0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0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0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0051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矩形 5"/>
          <p:cNvSpPr/>
          <p:nvPr/>
        </p:nvSpPr>
        <p:spPr>
          <a:xfrm>
            <a:off x="3175" y="1628775"/>
            <a:ext cx="9144000" cy="4032472"/>
          </a:xfrm>
          <a:prstGeom prst="rect">
            <a:avLst/>
          </a:prstGeom>
          <a:solidFill>
            <a:srgbClr val="EAEAEA"/>
          </a:solidFill>
          <a:ln w="9525">
            <a:noFill/>
          </a:ln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 b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marL="342900" lvl="0" indent="-342900">
              <a:lnSpc>
                <a:spcPct val="100000"/>
              </a:lnSpc>
              <a:spcBef>
                <a:spcPct val="20000"/>
              </a:spcBef>
            </a:pPr>
            <a:endParaRPr lang="zh-CN" altLang="en-US" sz="2800" dirty="0">
              <a:ea typeface="仿宋_GB2312" pitchFamily="49" charset="-122"/>
            </a:endParaRPr>
          </a:p>
        </p:txBody>
      </p:sp>
      <p:sp>
        <p:nvSpPr>
          <p:cNvPr id="772098" name="Rectangle 2"/>
          <p:cNvSpPr>
            <a:spLocks noGrp="1" noChangeArrowheads="1"/>
          </p:cNvSpPr>
          <p:nvPr>
            <p:ph idx="1" hasCustomPrompt="1"/>
          </p:nvPr>
        </p:nvSpPr>
        <p:spPr>
          <a:xfrm>
            <a:off x="251520" y="1628774"/>
            <a:ext cx="8640960" cy="403247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53848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Status </a:t>
            </a:r>
            <a:r>
              <a:rPr kumimoji="0" lang="en-US" altLang="zh-CN" sz="2800" b="0" i="0" u="none" strike="noStrike" kern="0" cap="none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EnQueue</a:t>
            </a:r>
            <a:r>
              <a:rPr kumimoji="0" lang="en-US" altLang="zh-CN" sz="2800" b="0" i="0" u="none" strike="noStrike" kern="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(</a:t>
            </a:r>
            <a:r>
              <a:rPr kumimoji="0" lang="en-US" altLang="zh-CN" sz="2800" b="0" i="0" u="none" strike="noStrike" kern="0" cap="none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SqQueue</a:t>
            </a:r>
            <a:r>
              <a:rPr kumimoji="0" lang="en-US" altLang="zh-CN" sz="2800" b="0" i="0" u="none" strike="noStrike" kern="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&amp;Q, </a:t>
            </a:r>
            <a:r>
              <a:rPr kumimoji="0" lang="en-US" altLang="zh-CN" sz="2800" b="0" i="0" u="none" strike="noStrike" kern="0" cap="none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QElemType</a:t>
            </a:r>
            <a:r>
              <a:rPr kumimoji="0" lang="en-US" altLang="zh-CN" sz="2800" b="0" i="0" u="none" strike="noStrike" kern="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e) {</a:t>
            </a:r>
          </a:p>
          <a:p>
            <a:pPr marL="0" lvl="0" indent="538480">
              <a:spcBef>
                <a:spcPct val="0"/>
              </a:spcBef>
              <a:buNone/>
              <a:defRPr/>
            </a:pPr>
            <a:r>
              <a:rPr kumimoji="0" lang="en-US" altLang="zh-CN" sz="2800" b="0" i="0" u="none" strike="noStrike" kern="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   if (</a:t>
            </a:r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QueueFull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(Q))  </a:t>
            </a:r>
            <a:r>
              <a:rPr kumimoji="0" lang="en-US" altLang="zh-CN" sz="2800" b="0" i="0" u="none" strike="noStrike" kern="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return ERROR;</a:t>
            </a:r>
          </a:p>
          <a:p>
            <a:pPr marL="0" marR="0" lvl="0" indent="53848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sz="2800" b="0" i="0" u="none" strike="noStrike" kern="0" cap="none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Q.base</a:t>
            </a:r>
            <a:r>
              <a:rPr kumimoji="0" lang="en-US" altLang="zh-CN" sz="2800" b="0" i="0" u="none" strike="noStrike" kern="0" cap="none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[</a:t>
            </a:r>
            <a:r>
              <a:rPr kumimoji="0" lang="en-US" altLang="zh-CN" sz="2800" b="0" i="0" u="none" strike="noStrike" kern="0" cap="none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Q.rear</a:t>
            </a:r>
            <a:r>
              <a:rPr kumimoji="0" lang="en-US" altLang="zh-CN" sz="2800" b="0" i="0" u="none" strike="noStrike" kern="0" cap="none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] = e;</a:t>
            </a:r>
          </a:p>
          <a:p>
            <a:pPr marL="0" marR="0" lvl="0" indent="53848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sz="2800" b="0" i="0" u="none" strike="noStrike" kern="0" cap="none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Q.rear</a:t>
            </a:r>
            <a:r>
              <a:rPr kumimoji="0" lang="en-US" altLang="zh-CN" sz="2800" b="0" i="0" u="none" strike="noStrike" kern="0" cap="none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= (Q.rear+1)%MAXQSIZE;</a:t>
            </a:r>
          </a:p>
          <a:p>
            <a:pPr marL="0" marR="0" lvl="0" indent="53848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return OK;</a:t>
            </a:r>
          </a:p>
          <a:p>
            <a:pPr marL="0" marR="0" lvl="0" indent="53848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</a:t>
            </a:r>
          </a:p>
          <a:p>
            <a:pPr marL="0" marR="0" lvl="0" indent="53848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800" b="0" i="0" u="none" strike="noStrike" kern="0" cap="none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72099" name="Comment 3"/>
          <p:cNvSpPr>
            <a:spLocks noChangeArrowheads="1"/>
          </p:cNvSpPr>
          <p:nvPr/>
        </p:nvSpPr>
        <p:spPr bwMode="auto">
          <a:xfrm>
            <a:off x="827088" y="185738"/>
            <a:ext cx="51958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循环队列入队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20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20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20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20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20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2098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矩形 5"/>
          <p:cNvSpPr/>
          <p:nvPr/>
        </p:nvSpPr>
        <p:spPr>
          <a:xfrm>
            <a:off x="-5701" y="1628774"/>
            <a:ext cx="9144000" cy="4104481"/>
          </a:xfrm>
          <a:prstGeom prst="rect">
            <a:avLst/>
          </a:prstGeom>
          <a:solidFill>
            <a:srgbClr val="EAEAEA"/>
          </a:solidFill>
          <a:ln w="9525">
            <a:noFill/>
          </a:ln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 b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marL="342900" lvl="0" indent="-342900">
              <a:lnSpc>
                <a:spcPct val="100000"/>
              </a:lnSpc>
              <a:spcBef>
                <a:spcPct val="20000"/>
              </a:spcBef>
            </a:pPr>
            <a:endParaRPr lang="zh-CN" altLang="en-US" sz="2800" dirty="0">
              <a:ea typeface="仿宋_GB2312" pitchFamily="49" charset="-122"/>
            </a:endParaRPr>
          </a:p>
        </p:txBody>
      </p:sp>
      <p:sp>
        <p:nvSpPr>
          <p:cNvPr id="773122" name="Rectangle 2"/>
          <p:cNvSpPr>
            <a:spLocks noGrp="1" noChangeArrowheads="1"/>
          </p:cNvSpPr>
          <p:nvPr>
            <p:ph idx="1" hasCustomPrompt="1"/>
          </p:nvPr>
        </p:nvSpPr>
        <p:spPr>
          <a:xfrm>
            <a:off x="107950" y="1705768"/>
            <a:ext cx="8856538" cy="3955479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53848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Status </a:t>
            </a:r>
            <a:r>
              <a:rPr kumimoji="0" lang="en-US" altLang="zh-CN" sz="2800" b="0" i="0" u="none" strike="noStrike" kern="0" cap="none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DeQueue</a:t>
            </a:r>
            <a:r>
              <a:rPr kumimoji="0" lang="en-US" altLang="zh-CN" sz="2800" b="0" i="0" u="none" strike="noStrike" kern="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(</a:t>
            </a:r>
            <a:r>
              <a:rPr kumimoji="0" lang="en-US" altLang="zh-CN" sz="2800" b="0" i="0" u="none" strike="noStrike" kern="0" cap="none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LinkQueue</a:t>
            </a:r>
            <a:r>
              <a:rPr kumimoji="0" lang="en-US" altLang="zh-CN" sz="2800" b="0" i="0" u="none" strike="noStrike" kern="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&amp;Q, </a:t>
            </a:r>
            <a:r>
              <a:rPr kumimoji="0" lang="en-US" altLang="zh-CN" sz="2800" b="0" i="0" u="none" strike="noStrike" kern="0" cap="none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QElemType</a:t>
            </a:r>
            <a:r>
              <a:rPr kumimoji="0" lang="en-US" altLang="zh-CN" sz="2800" b="0" i="0" u="none" strike="noStrike" kern="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&amp;e) {</a:t>
            </a:r>
          </a:p>
          <a:p>
            <a:pPr marL="0" lvl="0" indent="538480">
              <a:spcBef>
                <a:spcPct val="0"/>
              </a:spcBef>
              <a:buNone/>
              <a:defRPr/>
            </a:pP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     if (</a:t>
            </a:r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QueueEmpty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(Q))   return </a:t>
            </a:r>
            <a:r>
              <a:rPr kumimoji="0" lang="en-US" altLang="zh-CN" sz="2800" b="0" i="0" u="none" strike="noStrike" kern="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ERROR;</a:t>
            </a:r>
          </a:p>
          <a:p>
            <a:pPr marL="0" marR="0" lvl="0" indent="53848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e = </a:t>
            </a:r>
            <a:r>
              <a:rPr kumimoji="0" lang="en-US" altLang="zh-CN" sz="2800" b="0" i="0" u="none" strike="noStrike" kern="0" cap="none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Q.base</a:t>
            </a:r>
            <a:r>
              <a:rPr kumimoji="0" lang="en-US" altLang="zh-CN" sz="2800" b="0" i="0" u="none" strike="noStrike" kern="0" cap="none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[</a:t>
            </a:r>
            <a:r>
              <a:rPr kumimoji="0" lang="en-US" altLang="zh-CN" sz="2800" b="0" i="0" u="none" strike="noStrike" kern="0" cap="none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Q.front</a:t>
            </a:r>
            <a:r>
              <a:rPr kumimoji="0" lang="en-US" altLang="zh-CN" sz="2800" b="0" i="0" u="none" strike="noStrike" kern="0" cap="none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];</a:t>
            </a:r>
          </a:p>
          <a:p>
            <a:pPr marL="0" marR="0" lvl="0" indent="53848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</a:t>
            </a:r>
            <a:r>
              <a:rPr kumimoji="0" lang="en-US" altLang="zh-CN" sz="2800" b="0" i="0" u="none" strike="noStrike" kern="0" cap="none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Q.front</a:t>
            </a:r>
            <a:r>
              <a:rPr kumimoji="0" lang="en-US" altLang="zh-CN" sz="2800" b="0" i="0" u="none" strike="noStrike" kern="0" cap="none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= (Q.front+1)%MAXQSIZE;</a:t>
            </a:r>
          </a:p>
          <a:p>
            <a:pPr marL="0" marR="0" lvl="0" indent="53848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return OK;</a:t>
            </a:r>
          </a:p>
          <a:p>
            <a:pPr marL="0" marR="0" lvl="0" indent="53848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</a:t>
            </a:r>
          </a:p>
        </p:txBody>
      </p:sp>
      <p:sp>
        <p:nvSpPr>
          <p:cNvPr id="773123" name="Comment 3"/>
          <p:cNvSpPr>
            <a:spLocks noChangeArrowheads="1"/>
          </p:cNvSpPr>
          <p:nvPr/>
        </p:nvSpPr>
        <p:spPr bwMode="auto">
          <a:xfrm>
            <a:off x="827088" y="198438"/>
            <a:ext cx="51958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循环队列出队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3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3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3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3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3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3122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4FF6BC-CF7C-4F6B-9A78-5CF855D18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55576"/>
          </a:xfrm>
        </p:spPr>
        <p:txBody>
          <a:bodyPr/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目录（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Contents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1C5CE0-1323-4255-9417-D46EBFCC9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700808"/>
            <a:ext cx="8064896" cy="489654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栈</a:t>
            </a:r>
            <a:endParaRPr lang="en-US" altLang="zh-CN" sz="2800" dirty="0">
              <a:solidFill>
                <a:schemeClr val="tx1">
                  <a:lumMod val="20000"/>
                  <a:lumOff val="8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栈的应用举例</a:t>
            </a:r>
            <a:endParaRPr lang="en-US" altLang="zh-CN" sz="2800" dirty="0">
              <a:solidFill>
                <a:schemeClr val="tx1">
                  <a:lumMod val="20000"/>
                  <a:lumOff val="8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队列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队列的抽象数据类型定义</a:t>
            </a:r>
            <a:endParaRPr lang="en-US" altLang="zh-CN" sz="2400" dirty="0">
              <a:solidFill>
                <a:schemeClr val="tx1">
                  <a:lumMod val="20000"/>
                  <a:lumOff val="8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队列的顺序存储表示</a:t>
            </a:r>
            <a:endParaRPr lang="en-US" altLang="zh-CN" sz="2400" dirty="0">
              <a:solidFill>
                <a:schemeClr val="tx1">
                  <a:lumMod val="20000"/>
                  <a:lumOff val="8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队列的链式存储表示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队列的应用举例</a:t>
            </a:r>
          </a:p>
        </p:txBody>
      </p:sp>
    </p:spTree>
    <p:extLst>
      <p:ext uri="{BB962C8B-B14F-4D97-AF65-F5344CB8AC3E}">
        <p14:creationId xmlns:p14="http://schemas.microsoft.com/office/powerpoint/2010/main" val="3773625128"/>
      </p:ext>
    </p:extLst>
  </p:cSld>
  <p:clrMapOvr>
    <a:masterClrMapping/>
  </p:clrMapOvr>
  <p:transition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7CAF51-12A7-4DAA-A849-ACD576A8B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队列的链接表示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DAF3448-B849-4343-A97F-4860ED893A2C}"/>
              </a:ext>
            </a:extLst>
          </p:cNvPr>
          <p:cNvSpPr txBox="1"/>
          <p:nvPr/>
        </p:nvSpPr>
        <p:spPr>
          <a:xfrm>
            <a:off x="143513" y="2852936"/>
            <a:ext cx="8856974" cy="3904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dirty="0">
                <a:latin typeface="+mn-ea"/>
                <a:ea typeface="+mn-ea"/>
              </a:rPr>
              <a:t>链式队列采用带头结点的单链表存储队列元素，队头在链头，队尾在链尾。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dirty="0">
                <a:latin typeface="+mn-ea"/>
                <a:ea typeface="+mn-ea"/>
              </a:rPr>
              <a:t>链式队列在进队时</a:t>
            </a:r>
            <a:r>
              <a:rPr lang="zh-CN" altLang="en-US" b="0" dirty="0">
                <a:solidFill>
                  <a:srgbClr val="0000FF"/>
                </a:solidFill>
                <a:latin typeface="+mn-ea"/>
                <a:ea typeface="+mn-ea"/>
              </a:rPr>
              <a:t>无队满问题</a:t>
            </a:r>
            <a:r>
              <a:rPr lang="zh-CN" altLang="en-US" b="0" dirty="0">
                <a:latin typeface="+mn-ea"/>
                <a:ea typeface="+mn-ea"/>
              </a:rPr>
              <a:t>，但</a:t>
            </a:r>
            <a:r>
              <a:rPr lang="zh-CN" altLang="en-US" b="0" dirty="0">
                <a:solidFill>
                  <a:srgbClr val="0000FF"/>
                </a:solidFill>
                <a:latin typeface="+mn-ea"/>
                <a:ea typeface="+mn-ea"/>
              </a:rPr>
              <a:t>有队空问题</a:t>
            </a:r>
            <a:r>
              <a:rPr lang="zh-CN" altLang="en-US" b="0" dirty="0">
                <a:latin typeface="+mn-ea"/>
                <a:ea typeface="+mn-ea"/>
              </a:rPr>
              <a:t>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dirty="0">
                <a:latin typeface="+mn-ea"/>
                <a:ea typeface="+mn-ea"/>
              </a:rPr>
              <a:t>本课件的链式队列无头结点，队空条件为 </a:t>
            </a:r>
            <a:r>
              <a:rPr lang="en-US" altLang="zh-CN" b="0" dirty="0">
                <a:latin typeface="+mn-ea"/>
                <a:ea typeface="+mn-ea"/>
              </a:rPr>
              <a:t>front==NULL</a:t>
            </a:r>
            <a:r>
              <a:rPr lang="zh-CN" altLang="en-US" b="0" dirty="0">
                <a:latin typeface="+mn-ea"/>
                <a:ea typeface="+mn-ea"/>
              </a:rPr>
              <a:t>，不必判断是否 </a:t>
            </a:r>
            <a:r>
              <a:rPr lang="en-US" altLang="zh-CN" b="0" dirty="0">
                <a:latin typeface="+mn-ea"/>
                <a:ea typeface="+mn-ea"/>
              </a:rPr>
              <a:t>rear==front</a:t>
            </a:r>
            <a:r>
              <a:rPr lang="zh-CN" altLang="en-US" b="0" dirty="0">
                <a:latin typeface="+mn-ea"/>
                <a:ea typeface="+mn-ea"/>
              </a:rPr>
              <a:t>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dirty="0">
                <a:latin typeface="+mn-ea"/>
                <a:ea typeface="+mn-ea"/>
              </a:rPr>
              <a:t>链式队列特别适合多个队列同时操作的情形。在并行处理、排序等方面有用。</a:t>
            </a:r>
          </a:p>
        </p:txBody>
      </p:sp>
      <p:grpSp>
        <p:nvGrpSpPr>
          <p:cNvPr id="26" name="Group 27">
            <a:extLst>
              <a:ext uri="{FF2B5EF4-FFF2-40B4-BE49-F238E27FC236}">
                <a16:creationId xmlns:a16="http://schemas.microsoft.com/office/drawing/2014/main" id="{6C751D03-12F6-40B3-9924-527EAF176F17}"/>
              </a:ext>
            </a:extLst>
          </p:cNvPr>
          <p:cNvGrpSpPr>
            <a:grpSpLocks/>
          </p:cNvGrpSpPr>
          <p:nvPr/>
        </p:nvGrpSpPr>
        <p:grpSpPr bwMode="auto">
          <a:xfrm>
            <a:off x="654114" y="1361820"/>
            <a:ext cx="7866645" cy="1283153"/>
            <a:chOff x="432" y="1008"/>
            <a:chExt cx="4512" cy="618"/>
          </a:xfrm>
        </p:grpSpPr>
        <p:sp>
          <p:nvSpPr>
            <p:cNvPr id="27" name="Rectangle 5">
              <a:extLst>
                <a:ext uri="{FF2B5EF4-FFF2-40B4-BE49-F238E27FC236}">
                  <a16:creationId xmlns:a16="http://schemas.microsoft.com/office/drawing/2014/main" id="{587C2C5D-31E8-4C92-833F-048C02F84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1104"/>
              <a:ext cx="528" cy="288"/>
            </a:xfrm>
            <a:prstGeom prst="rect">
              <a:avLst/>
            </a:prstGeom>
            <a:solidFill>
              <a:srgbClr val="FFFF99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99"/>
              </a:extrusionClr>
              <a:contourClr>
                <a:srgbClr val="FFFF99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" name="Text Box 6">
              <a:extLst>
                <a:ext uri="{FF2B5EF4-FFF2-40B4-BE49-F238E27FC236}">
                  <a16:creationId xmlns:a16="http://schemas.microsoft.com/office/drawing/2014/main" id="{7E7B4679-B5BD-474F-8E93-10A1E27269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008"/>
              <a:ext cx="577" cy="2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0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front</a:t>
              </a:r>
            </a:p>
          </p:txBody>
        </p:sp>
        <p:sp>
          <p:nvSpPr>
            <p:cNvPr id="29" name="Line 7">
              <a:extLst>
                <a:ext uri="{FF2B5EF4-FFF2-40B4-BE49-F238E27FC236}">
                  <a16:creationId xmlns:a16="http://schemas.microsoft.com/office/drawing/2014/main" id="{57222FD3-AB7C-4EDB-9E66-7DCB7F4DC5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1200"/>
              <a:ext cx="240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" name="Line 8">
              <a:extLst>
                <a:ext uri="{FF2B5EF4-FFF2-40B4-BE49-F238E27FC236}">
                  <a16:creationId xmlns:a16="http://schemas.microsoft.com/office/drawing/2014/main" id="{78402608-C187-45B2-B005-9D206779D5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1104"/>
              <a:ext cx="0" cy="288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" name="Line 9">
              <a:extLst>
                <a:ext uri="{FF2B5EF4-FFF2-40B4-BE49-F238E27FC236}">
                  <a16:creationId xmlns:a16="http://schemas.microsoft.com/office/drawing/2014/main" id="{E654DB92-48DF-4ADC-88F2-4A8B2CE79B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1032"/>
              <a:ext cx="111" cy="72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" name="Rectangle 10">
              <a:extLst>
                <a:ext uri="{FF2B5EF4-FFF2-40B4-BE49-F238E27FC236}">
                  <a16:creationId xmlns:a16="http://schemas.microsoft.com/office/drawing/2014/main" id="{6D37A347-D239-47BB-8B6F-E583CB81F4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1104"/>
              <a:ext cx="528" cy="288"/>
            </a:xfrm>
            <a:prstGeom prst="rect">
              <a:avLst/>
            </a:prstGeom>
            <a:solidFill>
              <a:srgbClr val="FFFF66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66"/>
              </a:extrusionClr>
              <a:contourClr>
                <a:srgbClr val="FFFF66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" name="Line 11">
              <a:extLst>
                <a:ext uri="{FF2B5EF4-FFF2-40B4-BE49-F238E27FC236}">
                  <a16:creationId xmlns:a16="http://schemas.microsoft.com/office/drawing/2014/main" id="{B33DF09F-E6C0-462D-9AF7-47F0BC80E7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1200"/>
              <a:ext cx="240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4" name="Line 12">
              <a:extLst>
                <a:ext uri="{FF2B5EF4-FFF2-40B4-BE49-F238E27FC236}">
                  <a16:creationId xmlns:a16="http://schemas.microsoft.com/office/drawing/2014/main" id="{1944F265-8895-4E68-8324-FD3DCB6ABA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1104"/>
              <a:ext cx="0" cy="288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" name="Line 13">
              <a:extLst>
                <a:ext uri="{FF2B5EF4-FFF2-40B4-BE49-F238E27FC236}">
                  <a16:creationId xmlns:a16="http://schemas.microsoft.com/office/drawing/2014/main" id="{59104610-AC92-429C-BC6B-F36413AFFE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00" y="1032"/>
              <a:ext cx="78" cy="72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" name="Rectangle 14">
              <a:extLst>
                <a:ext uri="{FF2B5EF4-FFF2-40B4-BE49-F238E27FC236}">
                  <a16:creationId xmlns:a16="http://schemas.microsoft.com/office/drawing/2014/main" id="{B66249A0-DA6B-441F-AC93-4A4B855D0F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104"/>
              <a:ext cx="528" cy="288"/>
            </a:xfrm>
            <a:prstGeom prst="rect">
              <a:avLst/>
            </a:prstGeom>
            <a:solidFill>
              <a:srgbClr val="FFFF66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66"/>
              </a:extrusionClr>
              <a:contourClr>
                <a:srgbClr val="FFFF66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" name="Line 15">
              <a:extLst>
                <a:ext uri="{FF2B5EF4-FFF2-40B4-BE49-F238E27FC236}">
                  <a16:creationId xmlns:a16="http://schemas.microsoft.com/office/drawing/2014/main" id="{DC1799C6-F13F-472D-979F-C4F961E6B1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1200"/>
              <a:ext cx="240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8" name="Line 16">
              <a:extLst>
                <a:ext uri="{FF2B5EF4-FFF2-40B4-BE49-F238E27FC236}">
                  <a16:creationId xmlns:a16="http://schemas.microsoft.com/office/drawing/2014/main" id="{29AE0F04-B41C-4771-83AE-AA03ECA286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1104"/>
              <a:ext cx="0" cy="288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9" name="Line 17">
              <a:extLst>
                <a:ext uri="{FF2B5EF4-FFF2-40B4-BE49-F238E27FC236}">
                  <a16:creationId xmlns:a16="http://schemas.microsoft.com/office/drawing/2014/main" id="{3AB65DB0-4C8C-4086-8652-B799EB27AD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16" y="1032"/>
              <a:ext cx="96" cy="72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" name="Rectangle 18">
              <a:extLst>
                <a:ext uri="{FF2B5EF4-FFF2-40B4-BE49-F238E27FC236}">
                  <a16:creationId xmlns:a16="http://schemas.microsoft.com/office/drawing/2014/main" id="{389D407A-EAF0-4D92-A594-B40F739082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104"/>
              <a:ext cx="528" cy="288"/>
            </a:xfrm>
            <a:prstGeom prst="rect">
              <a:avLst/>
            </a:prstGeom>
            <a:solidFill>
              <a:srgbClr val="FFFF66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66"/>
              </a:extrusionClr>
              <a:contourClr>
                <a:srgbClr val="FFFF66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" name="Line 19">
              <a:extLst>
                <a:ext uri="{FF2B5EF4-FFF2-40B4-BE49-F238E27FC236}">
                  <a16:creationId xmlns:a16="http://schemas.microsoft.com/office/drawing/2014/main" id="{8818E3C7-463C-4CA5-9EE9-62E0E28F78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1200"/>
              <a:ext cx="240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" name="Line 20">
              <a:extLst>
                <a:ext uri="{FF2B5EF4-FFF2-40B4-BE49-F238E27FC236}">
                  <a16:creationId xmlns:a16="http://schemas.microsoft.com/office/drawing/2014/main" id="{EAE32274-B8CB-4879-AC90-EBEB6DC5C7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1104"/>
              <a:ext cx="0" cy="288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3" name="Line 21">
              <a:extLst>
                <a:ext uri="{FF2B5EF4-FFF2-40B4-BE49-F238E27FC236}">
                  <a16:creationId xmlns:a16="http://schemas.microsoft.com/office/drawing/2014/main" id="{CAC05B7F-3347-4747-9A62-E76F970172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52" y="1032"/>
              <a:ext cx="78" cy="72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4" name="Line 22">
              <a:extLst>
                <a:ext uri="{FF2B5EF4-FFF2-40B4-BE49-F238E27FC236}">
                  <a16:creationId xmlns:a16="http://schemas.microsoft.com/office/drawing/2014/main" id="{0F8D9CC9-670D-4995-9F29-78AAEF3E2E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1200"/>
              <a:ext cx="240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" name="Line 23">
              <a:extLst>
                <a:ext uri="{FF2B5EF4-FFF2-40B4-BE49-F238E27FC236}">
                  <a16:creationId xmlns:a16="http://schemas.microsoft.com/office/drawing/2014/main" id="{78772DCC-D421-4E46-90DC-FD3F1A17D9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1200"/>
              <a:ext cx="480" cy="0"/>
            </a:xfrm>
            <a:prstGeom prst="line">
              <a:avLst/>
            </a:prstGeom>
            <a:noFill/>
            <a:ln w="38100" cap="rnd">
              <a:solidFill>
                <a:srgbClr val="CC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6" name="Text Box 24">
              <a:extLst>
                <a:ext uri="{FF2B5EF4-FFF2-40B4-BE49-F238E27FC236}">
                  <a16:creationId xmlns:a16="http://schemas.microsoft.com/office/drawing/2014/main" id="{9C31DEFD-94FA-4D61-BBB0-0D8C58EE23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" y="1344"/>
              <a:ext cx="484" cy="2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0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rear</a:t>
              </a:r>
            </a:p>
          </p:txBody>
        </p:sp>
        <p:sp>
          <p:nvSpPr>
            <p:cNvPr id="47" name="Line 25">
              <a:extLst>
                <a:ext uri="{FF2B5EF4-FFF2-40B4-BE49-F238E27FC236}">
                  <a16:creationId xmlns:a16="http://schemas.microsoft.com/office/drawing/2014/main" id="{EA30ED76-F660-496E-88BC-896036F637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0" y="1296"/>
              <a:ext cx="336" cy="144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2766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3DCD68-1188-446F-B0FE-805191540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链式队列的基本操作演示</a:t>
            </a:r>
          </a:p>
        </p:txBody>
      </p:sp>
      <p:sp>
        <p:nvSpPr>
          <p:cNvPr id="50" name="Rectangle 3">
            <a:extLst>
              <a:ext uri="{FF2B5EF4-FFF2-40B4-BE49-F238E27FC236}">
                <a16:creationId xmlns:a16="http://schemas.microsoft.com/office/drawing/2014/main" id="{AD66E353-5703-4C5E-BFAD-7B5AD552C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7079" y="1395093"/>
            <a:ext cx="863600" cy="431800"/>
          </a:xfrm>
          <a:prstGeom prst="rect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Consolas" pitchFamily="49" charset="0"/>
              </a:rPr>
              <a:t>∧</a:t>
            </a:r>
          </a:p>
        </p:txBody>
      </p:sp>
      <p:sp>
        <p:nvSpPr>
          <p:cNvPr id="51" name="Arc 15">
            <a:extLst>
              <a:ext uri="{FF2B5EF4-FFF2-40B4-BE49-F238E27FC236}">
                <a16:creationId xmlns:a16="http://schemas.microsoft.com/office/drawing/2014/main" id="{EA87DA3B-13BC-4C38-B1D0-B4FF7F29768D}"/>
              </a:ext>
            </a:extLst>
          </p:cNvPr>
          <p:cNvSpPr>
            <a:spLocks/>
          </p:cNvSpPr>
          <p:nvPr/>
        </p:nvSpPr>
        <p:spPr bwMode="auto">
          <a:xfrm>
            <a:off x="3530415" y="1056641"/>
            <a:ext cx="360363" cy="360363"/>
          </a:xfrm>
          <a:custGeom>
            <a:avLst/>
            <a:gdLst>
              <a:gd name="T0" fmla="*/ 0 w 21600"/>
              <a:gd name="T1" fmla="*/ 0 h 21600"/>
              <a:gd name="T2" fmla="*/ 360363 w 21600"/>
              <a:gd name="T3" fmla="*/ 360363 h 21600"/>
              <a:gd name="T4" fmla="*/ 0 w 21600"/>
              <a:gd name="T5" fmla="*/ 360363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38100">
            <a:solidFill>
              <a:srgbClr val="F39801"/>
            </a:solidFill>
            <a:round/>
            <a:headEnd/>
            <a:tailEnd type="stealth" w="lg" len="lg"/>
          </a:ln>
        </p:spPr>
        <p:txBody>
          <a:bodyPr wrap="none" anchor="ctr"/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  <a:defRPr/>
            </a:pPr>
            <a:endParaRPr kumimoji="1" lang="zh-CN" altLang="en-US">
              <a:solidFill>
                <a:srgbClr val="0033CC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2" name="Text Box 16">
            <a:extLst>
              <a:ext uri="{FF2B5EF4-FFF2-40B4-BE49-F238E27FC236}">
                <a16:creationId xmlns:a16="http://schemas.microsoft.com/office/drawing/2014/main" id="{DF950688-7067-44C4-800B-7408BF28B7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6412" y="836712"/>
            <a:ext cx="431800" cy="393121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en-US" altLang="zh-CN" i="1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q</a:t>
            </a:r>
          </a:p>
        </p:txBody>
      </p:sp>
      <p:sp>
        <p:nvSpPr>
          <p:cNvPr id="53" name="Rectangle 20">
            <a:extLst>
              <a:ext uri="{FF2B5EF4-FFF2-40B4-BE49-F238E27FC236}">
                <a16:creationId xmlns:a16="http://schemas.microsoft.com/office/drawing/2014/main" id="{22C16C32-6CC1-4E28-A226-144F460388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7079" y="1826893"/>
            <a:ext cx="863600" cy="431800"/>
          </a:xfrm>
          <a:prstGeom prst="rect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Consolas" pitchFamily="49" charset="0"/>
              </a:rPr>
              <a:t>∧</a:t>
            </a:r>
          </a:p>
        </p:txBody>
      </p:sp>
      <p:sp>
        <p:nvSpPr>
          <p:cNvPr id="54" name="Text Box 21">
            <a:extLst>
              <a:ext uri="{FF2B5EF4-FFF2-40B4-BE49-F238E27FC236}">
                <a16:creationId xmlns:a16="http://schemas.microsoft.com/office/drawing/2014/main" id="{CE445CE1-D9ED-4592-AD09-AD3F69A340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1079" y="1395093"/>
            <a:ext cx="1232539" cy="393121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front</a:t>
            </a:r>
          </a:p>
        </p:txBody>
      </p:sp>
      <p:sp>
        <p:nvSpPr>
          <p:cNvPr id="55" name="Text Box 22">
            <a:extLst>
              <a:ext uri="{FF2B5EF4-FFF2-40B4-BE49-F238E27FC236}">
                <a16:creationId xmlns:a16="http://schemas.microsoft.com/office/drawing/2014/main" id="{8E3165CE-F88F-4C47-906D-EB81B7070D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776" y="1861818"/>
            <a:ext cx="905891" cy="393121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rear</a:t>
            </a:r>
          </a:p>
        </p:txBody>
      </p:sp>
      <p:sp>
        <p:nvSpPr>
          <p:cNvPr id="56" name="Text Box 45">
            <a:extLst>
              <a:ext uri="{FF2B5EF4-FFF2-40B4-BE49-F238E27FC236}">
                <a16:creationId xmlns:a16="http://schemas.microsoft.com/office/drawing/2014/main" id="{32FE1663-6C51-4207-8049-958E280BBD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03156" y="1477189"/>
            <a:ext cx="1604098" cy="387798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zh-CN" altLang="en-US" dirty="0">
                <a:solidFill>
                  <a:srgbClr val="008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（</a:t>
            </a:r>
            <a:r>
              <a:rPr kumimoji="1" lang="en-US" altLang="zh-CN" dirty="0">
                <a:solidFill>
                  <a:srgbClr val="008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1</a:t>
            </a:r>
            <a:r>
              <a:rPr kumimoji="1" lang="zh-CN" altLang="en-US" dirty="0">
                <a:solidFill>
                  <a:srgbClr val="008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）空队</a:t>
            </a:r>
          </a:p>
        </p:txBody>
      </p:sp>
      <p:sp>
        <p:nvSpPr>
          <p:cNvPr id="57" name="Text Box 65">
            <a:extLst>
              <a:ext uri="{FF2B5EF4-FFF2-40B4-BE49-F238E27FC236}">
                <a16:creationId xmlns:a16="http://schemas.microsoft.com/office/drawing/2014/main" id="{8E30102E-8025-4B17-A90F-3EB3DF0CBE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78689" y="5019382"/>
            <a:ext cx="2232865" cy="581569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50000"/>
              </a:spcBef>
              <a:defRPr/>
            </a:pPr>
            <a:r>
              <a:rPr kumimoji="1" lang="zh-CN" altLang="en-US" dirty="0">
                <a:solidFill>
                  <a:srgbClr val="008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（</a:t>
            </a:r>
            <a:r>
              <a:rPr kumimoji="1" lang="en-US" altLang="zh-CN" dirty="0">
                <a:solidFill>
                  <a:srgbClr val="008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3</a:t>
            </a:r>
            <a:r>
              <a:rPr kumimoji="1" lang="zh-CN" altLang="en-US" dirty="0">
                <a:solidFill>
                  <a:srgbClr val="008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）出队一次</a:t>
            </a:r>
          </a:p>
        </p:txBody>
      </p:sp>
      <p:sp>
        <p:nvSpPr>
          <p:cNvPr id="58" name="Text Box 46">
            <a:extLst>
              <a:ext uri="{FF2B5EF4-FFF2-40B4-BE49-F238E27FC236}">
                <a16:creationId xmlns:a16="http://schemas.microsoft.com/office/drawing/2014/main" id="{D41E33E0-6C1C-47FC-AEBF-5F67726D8C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10066" y="3173138"/>
            <a:ext cx="2730967" cy="581569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  <a:defRPr/>
            </a:pPr>
            <a:r>
              <a:rPr kumimoji="1" lang="zh-CN" altLang="en-US" dirty="0">
                <a:solidFill>
                  <a:srgbClr val="008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（</a:t>
            </a:r>
            <a:r>
              <a:rPr kumimoji="1" lang="en-US" altLang="zh-CN" dirty="0">
                <a:solidFill>
                  <a:srgbClr val="008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2</a:t>
            </a:r>
            <a:r>
              <a:rPr kumimoji="1" lang="zh-CN" altLang="en-US" dirty="0">
                <a:solidFill>
                  <a:srgbClr val="008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）</a:t>
            </a:r>
            <a:r>
              <a:rPr kumimoji="1" lang="en-US" altLang="zh-CN" i="1" dirty="0">
                <a:solidFill>
                  <a:srgbClr val="008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a</a:t>
            </a:r>
            <a:r>
              <a:rPr kumimoji="1" lang="zh-CN" altLang="en-US" dirty="0">
                <a:solidFill>
                  <a:srgbClr val="008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、</a:t>
            </a:r>
            <a:r>
              <a:rPr kumimoji="1" lang="en-US" altLang="zh-CN" i="1" dirty="0">
                <a:solidFill>
                  <a:srgbClr val="008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b</a:t>
            </a:r>
            <a:r>
              <a:rPr kumimoji="1" lang="zh-CN" altLang="en-US" dirty="0">
                <a:solidFill>
                  <a:srgbClr val="008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、</a:t>
            </a:r>
            <a:r>
              <a:rPr kumimoji="1" lang="en-US" altLang="zh-CN" i="1" dirty="0">
                <a:solidFill>
                  <a:srgbClr val="008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c</a:t>
            </a:r>
            <a:r>
              <a:rPr kumimoji="1" lang="zh-CN" altLang="en-US" dirty="0">
                <a:solidFill>
                  <a:srgbClr val="008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进队</a:t>
            </a:r>
          </a:p>
        </p:txBody>
      </p:sp>
      <p:grpSp>
        <p:nvGrpSpPr>
          <p:cNvPr id="59" name="组合 54">
            <a:extLst>
              <a:ext uri="{FF2B5EF4-FFF2-40B4-BE49-F238E27FC236}">
                <a16:creationId xmlns:a16="http://schemas.microsoft.com/office/drawing/2014/main" id="{44465301-1A51-4D20-A78D-7794B3687C7F}"/>
              </a:ext>
            </a:extLst>
          </p:cNvPr>
          <p:cNvGrpSpPr/>
          <p:nvPr/>
        </p:nvGrpSpPr>
        <p:grpSpPr>
          <a:xfrm>
            <a:off x="2499193" y="1861472"/>
            <a:ext cx="6443663" cy="2311250"/>
            <a:chOff x="2228830" y="1886100"/>
            <a:chExt cx="6443663" cy="2311250"/>
          </a:xfrm>
        </p:grpSpPr>
        <p:sp>
          <p:nvSpPr>
            <p:cNvPr id="60" name="Rectangle 24">
              <a:extLst>
                <a:ext uri="{FF2B5EF4-FFF2-40B4-BE49-F238E27FC236}">
                  <a16:creationId xmlns:a16="http://schemas.microsoft.com/office/drawing/2014/main" id="{1BB71E6B-F887-408A-8165-4E3EF6C07A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380" y="3333750"/>
              <a:ext cx="863600" cy="431800"/>
            </a:xfrm>
            <a:prstGeom prst="rect">
              <a:avLst/>
            </a:prstGeom>
            <a:gradFill rotWithShape="1">
              <a:gsLst>
                <a:gs pos="0">
                  <a:srgbClr val="4F81BD">
                    <a:tint val="50000"/>
                    <a:satMod val="300000"/>
                  </a:srgbClr>
                </a:gs>
                <a:gs pos="35000">
                  <a:srgbClr val="4F81BD">
                    <a:tint val="37000"/>
                    <a:satMod val="300000"/>
                  </a:srgbClr>
                </a:gs>
                <a:gs pos="100000">
                  <a:srgbClr val="4F81B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i="0" u="none" strike="noStrike" kern="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Consolas" pitchFamily="49" charset="0"/>
              </a:endParaRPr>
            </a:p>
          </p:txBody>
        </p:sp>
        <p:sp>
          <p:nvSpPr>
            <p:cNvPr id="61" name="Rectangle 25">
              <a:extLst>
                <a:ext uri="{FF2B5EF4-FFF2-40B4-BE49-F238E27FC236}">
                  <a16:creationId xmlns:a16="http://schemas.microsoft.com/office/drawing/2014/main" id="{1FE4AAC3-60F4-4D48-B56C-41422D8016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0705" y="3333750"/>
              <a:ext cx="539750" cy="431800"/>
            </a:xfrm>
            <a:prstGeom prst="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itchFamily="49" charset="0"/>
                  <a:ea typeface="宋体" panose="02010600030101010101" pitchFamily="2" charset="-122"/>
                  <a:cs typeface="Consolas" pitchFamily="49" charset="0"/>
                </a:rPr>
                <a:t>a</a:t>
              </a:r>
              <a:endParaRPr kumimoji="1" lang="en-US" altLang="zh-CN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Consolas" pitchFamily="49" charset="0"/>
              </a:endParaRPr>
            </a:p>
          </p:txBody>
        </p:sp>
        <p:sp>
          <p:nvSpPr>
            <p:cNvPr id="62" name="Rectangle 26">
              <a:extLst>
                <a:ext uri="{FF2B5EF4-FFF2-40B4-BE49-F238E27FC236}">
                  <a16:creationId xmlns:a16="http://schemas.microsoft.com/office/drawing/2014/main" id="{CE94A2C5-AFAA-48AB-A247-0296FE4449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5530" y="3333750"/>
              <a:ext cx="539750" cy="431800"/>
            </a:xfrm>
            <a:prstGeom prst="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i="0" u="none" strike="noStrike" kern="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Consolas" pitchFamily="49" charset="0"/>
              </a:endParaRPr>
            </a:p>
          </p:txBody>
        </p:sp>
        <p:sp>
          <p:nvSpPr>
            <p:cNvPr id="63" name="Line 27">
              <a:extLst>
                <a:ext uri="{FF2B5EF4-FFF2-40B4-BE49-F238E27FC236}">
                  <a16:creationId xmlns:a16="http://schemas.microsoft.com/office/drawing/2014/main" id="{4577C9FC-FA2B-4855-837A-8646171828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5055" y="3549650"/>
              <a:ext cx="792163" cy="0"/>
            </a:xfrm>
            <a:prstGeom prst="line">
              <a:avLst/>
            </a:prstGeom>
            <a:noFill/>
            <a:ln w="38100">
              <a:solidFill>
                <a:srgbClr val="660066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64" name="Rectangle 28">
              <a:extLst>
                <a:ext uri="{FF2B5EF4-FFF2-40B4-BE49-F238E27FC236}">
                  <a16:creationId xmlns:a16="http://schemas.microsoft.com/office/drawing/2014/main" id="{4B955999-4F86-4CBF-B6C2-9F590B4BEE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3593" y="3333750"/>
              <a:ext cx="539750" cy="431800"/>
            </a:xfrm>
            <a:prstGeom prst="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itchFamily="49" charset="0"/>
                  <a:ea typeface="宋体" panose="02010600030101010101" pitchFamily="2" charset="-122"/>
                  <a:cs typeface="Consolas" pitchFamily="49" charset="0"/>
                </a:rPr>
                <a:t>b</a:t>
              </a:r>
              <a:endParaRPr kumimoji="1" lang="en-US" altLang="zh-CN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Consolas" pitchFamily="49" charset="0"/>
              </a:endParaRPr>
            </a:p>
          </p:txBody>
        </p:sp>
        <p:sp>
          <p:nvSpPr>
            <p:cNvPr id="65" name="Rectangle 29">
              <a:extLst>
                <a:ext uri="{FF2B5EF4-FFF2-40B4-BE49-F238E27FC236}">
                  <a16:creationId xmlns:a16="http://schemas.microsoft.com/office/drawing/2014/main" id="{DDE035A1-76C2-4D7C-BD95-751CA1F2C1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48418" y="3333750"/>
              <a:ext cx="539750" cy="431800"/>
            </a:xfrm>
            <a:prstGeom prst="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i="0" u="none" strike="noStrike" kern="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Consolas" pitchFamily="49" charset="0"/>
              </a:endParaRPr>
            </a:p>
          </p:txBody>
        </p:sp>
        <p:sp>
          <p:nvSpPr>
            <p:cNvPr id="66" name="Line 30">
              <a:extLst>
                <a:ext uri="{FF2B5EF4-FFF2-40B4-BE49-F238E27FC236}">
                  <a16:creationId xmlns:a16="http://schemas.microsoft.com/office/drawing/2014/main" id="{85466659-6C3D-4E10-8406-DA76692460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7943" y="3549650"/>
              <a:ext cx="792163" cy="0"/>
            </a:xfrm>
            <a:prstGeom prst="line">
              <a:avLst/>
            </a:prstGeom>
            <a:noFill/>
            <a:ln w="38100">
              <a:solidFill>
                <a:srgbClr val="660066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67" name="Rectangle 31">
              <a:extLst>
                <a:ext uri="{FF2B5EF4-FFF2-40B4-BE49-F238E27FC236}">
                  <a16:creationId xmlns:a16="http://schemas.microsoft.com/office/drawing/2014/main" id="{7AA8938D-23D2-459E-92F2-8767EDC089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7918" y="3333750"/>
              <a:ext cx="539750" cy="431800"/>
            </a:xfrm>
            <a:prstGeom prst="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itchFamily="49" charset="0"/>
                  <a:ea typeface="宋体" panose="02010600030101010101" pitchFamily="2" charset="-122"/>
                  <a:cs typeface="Consolas" pitchFamily="49" charset="0"/>
                </a:rPr>
                <a:t>c</a:t>
              </a:r>
              <a:endParaRPr kumimoji="1" lang="en-US" altLang="zh-CN" i="1" u="none" strike="noStrike" kern="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Consolas" pitchFamily="49" charset="0"/>
              </a:endParaRPr>
            </a:p>
          </p:txBody>
        </p:sp>
        <p:sp>
          <p:nvSpPr>
            <p:cNvPr id="68" name="Rectangle 32">
              <a:extLst>
                <a:ext uri="{FF2B5EF4-FFF2-40B4-BE49-F238E27FC236}">
                  <a16:creationId xmlns:a16="http://schemas.microsoft.com/office/drawing/2014/main" id="{10BA400E-2585-4475-8F5B-6C170B6FE0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32743" y="3333750"/>
              <a:ext cx="539750" cy="431800"/>
            </a:xfrm>
            <a:prstGeom prst="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itchFamily="49" charset="0"/>
                  <a:ea typeface="宋体" panose="02010600030101010101" pitchFamily="2" charset="-122"/>
                  <a:cs typeface="Consolas" pitchFamily="49" charset="0"/>
                </a:rPr>
                <a:t>∧</a:t>
              </a:r>
            </a:p>
          </p:txBody>
        </p:sp>
        <p:sp>
          <p:nvSpPr>
            <p:cNvPr id="69" name="Line 34">
              <a:extLst>
                <a:ext uri="{FF2B5EF4-FFF2-40B4-BE49-F238E27FC236}">
                  <a16:creationId xmlns:a16="http://schemas.microsoft.com/office/drawing/2014/main" id="{31FB5898-91A0-459E-831D-B8CEE1E0F1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99243" y="3549650"/>
              <a:ext cx="792163" cy="0"/>
            </a:xfrm>
            <a:prstGeom prst="line">
              <a:avLst/>
            </a:prstGeom>
            <a:noFill/>
            <a:ln w="38100">
              <a:solidFill>
                <a:srgbClr val="660066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70" name="Arc 36">
              <a:extLst>
                <a:ext uri="{FF2B5EF4-FFF2-40B4-BE49-F238E27FC236}">
                  <a16:creationId xmlns:a16="http://schemas.microsoft.com/office/drawing/2014/main" id="{5EDD5989-DDCD-486B-8E63-29DDB0A4AD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7355" y="2973388"/>
              <a:ext cx="360363" cy="360363"/>
            </a:xfrm>
            <a:custGeom>
              <a:avLst/>
              <a:gdLst>
                <a:gd name="T0" fmla="*/ 0 w 21600"/>
                <a:gd name="T1" fmla="*/ 0 h 21600"/>
                <a:gd name="T2" fmla="*/ 227 w 21600"/>
                <a:gd name="T3" fmla="*/ 227 h 21600"/>
                <a:gd name="T4" fmla="*/ 0 w 21600"/>
                <a:gd name="T5" fmla="*/ 227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F39801"/>
              </a:solidFill>
              <a:round/>
              <a:headEnd/>
              <a:tailEnd type="stealth" w="lg" len="lg"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71" name="Text Box 37">
              <a:extLst>
                <a:ext uri="{FF2B5EF4-FFF2-40B4-BE49-F238E27FC236}">
                  <a16:creationId xmlns:a16="http://schemas.microsoft.com/office/drawing/2014/main" id="{5CECD472-C5E6-4670-AC8D-CA413D7668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2878" y="2686050"/>
              <a:ext cx="431800" cy="39312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itchFamily="49" charset="0"/>
                  <a:cs typeface="Consolas" pitchFamily="49" charset="0"/>
                </a:rPr>
                <a:t>q</a:t>
              </a:r>
            </a:p>
          </p:txBody>
        </p:sp>
        <p:sp>
          <p:nvSpPr>
            <p:cNvPr id="72" name="Text Box 38">
              <a:extLst>
                <a:ext uri="{FF2B5EF4-FFF2-40B4-BE49-F238E27FC236}">
                  <a16:creationId xmlns:a16="http://schemas.microsoft.com/office/drawing/2014/main" id="{BB1C8B90-0232-4C83-8887-3B42F99001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0" y="2846388"/>
              <a:ext cx="1008063" cy="38779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itchFamily="49" charset="0"/>
                </a:rPr>
                <a:t>队头</a:t>
              </a:r>
            </a:p>
          </p:txBody>
        </p:sp>
        <p:sp>
          <p:nvSpPr>
            <p:cNvPr id="73" name="Text Box 39">
              <a:extLst>
                <a:ext uri="{FF2B5EF4-FFF2-40B4-BE49-F238E27FC236}">
                  <a16:creationId xmlns:a16="http://schemas.microsoft.com/office/drawing/2014/main" id="{9FE042AB-695E-46DE-BD37-2B60340894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19968" y="2846388"/>
              <a:ext cx="1008063" cy="38779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itchFamily="49" charset="0"/>
                </a:rPr>
                <a:t>队尾</a:t>
              </a:r>
            </a:p>
          </p:txBody>
        </p:sp>
        <p:sp>
          <p:nvSpPr>
            <p:cNvPr id="74" name="Line 40">
              <a:extLst>
                <a:ext uri="{FF2B5EF4-FFF2-40B4-BE49-F238E27FC236}">
                  <a16:creationId xmlns:a16="http://schemas.microsoft.com/office/drawing/2014/main" id="{1EE3B3B7-451E-41F3-BF77-C715E59241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905730" y="3738563"/>
              <a:ext cx="0" cy="252413"/>
            </a:xfrm>
            <a:prstGeom prst="line">
              <a:avLst/>
            </a:prstGeom>
            <a:noFill/>
            <a:ln w="38100">
              <a:solidFill>
                <a:srgbClr val="660066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75" name="Rectangle 41">
              <a:extLst>
                <a:ext uri="{FF2B5EF4-FFF2-40B4-BE49-F238E27FC236}">
                  <a16:creationId xmlns:a16="http://schemas.microsoft.com/office/drawing/2014/main" id="{BFB828E7-7450-4F68-9957-8B78C16A1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380" y="3765550"/>
              <a:ext cx="863600" cy="431800"/>
            </a:xfrm>
            <a:prstGeom prst="rect">
              <a:avLst/>
            </a:prstGeom>
            <a:gradFill rotWithShape="1">
              <a:gsLst>
                <a:gs pos="0">
                  <a:srgbClr val="4F81BD">
                    <a:tint val="50000"/>
                    <a:satMod val="300000"/>
                  </a:srgbClr>
                </a:gs>
                <a:gs pos="35000">
                  <a:srgbClr val="4F81BD">
                    <a:tint val="37000"/>
                    <a:satMod val="300000"/>
                  </a:srgbClr>
                </a:gs>
                <a:gs pos="100000">
                  <a:srgbClr val="4F81B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i="0" u="none" strike="noStrike" kern="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Consolas" pitchFamily="49" charset="0"/>
              </a:endParaRPr>
            </a:p>
          </p:txBody>
        </p:sp>
        <p:sp>
          <p:nvSpPr>
            <p:cNvPr id="76" name="Text Box 42">
              <a:extLst>
                <a:ext uri="{FF2B5EF4-FFF2-40B4-BE49-F238E27FC236}">
                  <a16:creationId xmlns:a16="http://schemas.microsoft.com/office/drawing/2014/main" id="{657A4585-4A1F-489A-A102-3D8B120356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8830" y="3333750"/>
              <a:ext cx="1047761" cy="39312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itchFamily="49" charset="0"/>
                  <a:cs typeface="Consolas" pitchFamily="49" charset="0"/>
                </a:rPr>
                <a:t>front</a:t>
              </a:r>
            </a:p>
          </p:txBody>
        </p:sp>
        <p:sp>
          <p:nvSpPr>
            <p:cNvPr id="77" name="Text Box 43">
              <a:extLst>
                <a:ext uri="{FF2B5EF4-FFF2-40B4-BE49-F238E27FC236}">
                  <a16:creationId xmlns:a16="http://schemas.microsoft.com/office/drawing/2014/main" id="{038C7CFB-934F-4B44-8328-90AA76DCF3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3307" y="3800475"/>
              <a:ext cx="912809" cy="39312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itchFamily="49" charset="0"/>
                  <a:cs typeface="Consolas" pitchFamily="49" charset="0"/>
                </a:rPr>
                <a:t>rear</a:t>
              </a:r>
            </a:p>
          </p:txBody>
        </p:sp>
        <p:sp>
          <p:nvSpPr>
            <p:cNvPr id="78" name="Freeform 44">
              <a:extLst>
                <a:ext uri="{FF2B5EF4-FFF2-40B4-BE49-F238E27FC236}">
                  <a16:creationId xmlns:a16="http://schemas.microsoft.com/office/drawing/2014/main" id="{9D5872CD-415D-4393-8386-57BEB45F11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5055" y="3968750"/>
              <a:ext cx="4133850" cy="1588"/>
            </a:xfrm>
            <a:custGeom>
              <a:avLst/>
              <a:gdLst>
                <a:gd name="T0" fmla="*/ 0 w 2604"/>
                <a:gd name="T1" fmla="*/ 8 h 8"/>
                <a:gd name="T2" fmla="*/ 2604 w 2604"/>
                <a:gd name="T3" fmla="*/ 0 h 8"/>
                <a:gd name="T4" fmla="*/ 0 60000 65536"/>
                <a:gd name="T5" fmla="*/ 0 60000 65536"/>
                <a:gd name="T6" fmla="*/ 0 w 2604"/>
                <a:gd name="T7" fmla="*/ 0 h 8"/>
                <a:gd name="T8" fmla="*/ 2604 w 2604"/>
                <a:gd name="T9" fmla="*/ 8 h 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604" h="8">
                  <a:moveTo>
                    <a:pt x="0" y="8"/>
                  </a:moveTo>
                  <a:lnTo>
                    <a:pt x="2604" y="0"/>
                  </a:lnTo>
                </a:path>
              </a:pathLst>
            </a:custGeom>
            <a:noFill/>
            <a:ln w="38100">
              <a:solidFill>
                <a:srgbClr val="660066"/>
              </a:solidFill>
              <a:round/>
              <a:headEnd/>
              <a:tailEnd/>
            </a:ln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79" name="右弧形箭头 47">
              <a:extLst>
                <a:ext uri="{FF2B5EF4-FFF2-40B4-BE49-F238E27FC236}">
                  <a16:creationId xmlns:a16="http://schemas.microsoft.com/office/drawing/2014/main" id="{EF55942B-BAF8-47BC-9CF6-CAA4A8CB71FD}"/>
                </a:ext>
              </a:extLst>
            </p:cNvPr>
            <p:cNvSpPr/>
            <p:nvPr/>
          </p:nvSpPr>
          <p:spPr>
            <a:xfrm rot="19663757">
              <a:off x="5142997" y="1886100"/>
              <a:ext cx="428628" cy="928694"/>
            </a:xfrm>
            <a:prstGeom prst="curvedLeftArrow">
              <a:avLst>
                <a:gd name="adj1" fmla="val 25000"/>
                <a:gd name="adj2" fmla="val 50000"/>
                <a:gd name="adj3" fmla="val 68384"/>
              </a:avLst>
            </a:prstGeom>
            <a:gradFill rotWithShape="1">
              <a:gsLst>
                <a:gs pos="0">
                  <a:srgbClr val="C0504D">
                    <a:tint val="50000"/>
                    <a:satMod val="300000"/>
                  </a:srgbClr>
                </a:gs>
                <a:gs pos="35000">
                  <a:srgbClr val="C0504D">
                    <a:tint val="37000"/>
                    <a:satMod val="300000"/>
                  </a:srgbClr>
                </a:gs>
                <a:gs pos="100000">
                  <a:srgbClr val="C0504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Consolas" pitchFamily="49" charset="0"/>
              </a:endParaRPr>
            </a:p>
          </p:txBody>
        </p:sp>
      </p:grpSp>
      <p:grpSp>
        <p:nvGrpSpPr>
          <p:cNvPr id="80" name="组合 52">
            <a:extLst>
              <a:ext uri="{FF2B5EF4-FFF2-40B4-BE49-F238E27FC236}">
                <a16:creationId xmlns:a16="http://schemas.microsoft.com/office/drawing/2014/main" id="{FFC5B603-1742-48A5-8FA8-8562D877F96E}"/>
              </a:ext>
            </a:extLst>
          </p:cNvPr>
          <p:cNvGrpSpPr/>
          <p:nvPr/>
        </p:nvGrpSpPr>
        <p:grpSpPr>
          <a:xfrm>
            <a:off x="2385264" y="4363858"/>
            <a:ext cx="4932363" cy="1612895"/>
            <a:chOff x="2165330" y="4143380"/>
            <a:chExt cx="4932363" cy="1612895"/>
          </a:xfrm>
        </p:grpSpPr>
        <p:grpSp>
          <p:nvGrpSpPr>
            <p:cNvPr id="81" name="组合 50">
              <a:extLst>
                <a:ext uri="{FF2B5EF4-FFF2-40B4-BE49-F238E27FC236}">
                  <a16:creationId xmlns:a16="http://schemas.microsoft.com/office/drawing/2014/main" id="{69ECEFB7-DECE-4943-96F3-5716A5DFAAD5}"/>
                </a:ext>
              </a:extLst>
            </p:cNvPr>
            <p:cNvGrpSpPr/>
            <p:nvPr/>
          </p:nvGrpSpPr>
          <p:grpSpPr>
            <a:xfrm>
              <a:off x="2165330" y="4244975"/>
              <a:ext cx="4932363" cy="1511300"/>
              <a:chOff x="2165330" y="4244975"/>
              <a:chExt cx="4932363" cy="1511300"/>
            </a:xfrm>
          </p:grpSpPr>
          <p:sp>
            <p:nvSpPr>
              <p:cNvPr id="83" name="Text Box 58">
                <a:extLst>
                  <a:ext uri="{FF2B5EF4-FFF2-40B4-BE49-F238E27FC236}">
                    <a16:creationId xmlns:a16="http://schemas.microsoft.com/office/drawing/2014/main" id="{C128B94C-3F07-47F9-88A9-12F99CA147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86050" y="4244975"/>
                <a:ext cx="431800" cy="393121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8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i="1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itchFamily="49" charset="0"/>
                    <a:ea typeface="楷体" pitchFamily="49" charset="-122"/>
                    <a:cs typeface="Consolas" pitchFamily="49" charset="0"/>
                  </a:rPr>
                  <a:t>q</a:t>
                </a:r>
              </a:p>
            </p:txBody>
          </p:sp>
          <p:sp>
            <p:nvSpPr>
              <p:cNvPr id="84" name="Rectangle 47">
                <a:extLst>
                  <a:ext uri="{FF2B5EF4-FFF2-40B4-BE49-F238E27FC236}">
                    <a16:creationId xmlns:a16="http://schemas.microsoft.com/office/drawing/2014/main" id="{90BE15CC-2B3E-4B82-8DC2-60687A74D4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09905" y="4892675"/>
                <a:ext cx="863600" cy="431800"/>
              </a:xfrm>
              <a:prstGeom prst="rect">
                <a:avLst/>
              </a:prstGeom>
              <a:gradFill rotWithShape="1">
                <a:gsLst>
                  <a:gs pos="0">
                    <a:srgbClr val="4F81BD">
                      <a:tint val="50000"/>
                      <a:satMod val="300000"/>
                    </a:srgbClr>
                  </a:gs>
                  <a:gs pos="35000">
                    <a:srgbClr val="4F81BD">
                      <a:tint val="37000"/>
                      <a:satMod val="300000"/>
                    </a:srgbClr>
                  </a:gs>
                  <a:gs pos="100000">
                    <a:srgbClr val="4F81BD">
                      <a:tint val="15000"/>
                      <a:satMod val="350000"/>
                    </a:srgbClr>
                  </a:gs>
                </a:gsLst>
                <a:lin ang="16200000" scaled="1"/>
              </a:gradFill>
              <a:ln w="9525" cap="flat" cmpd="sng" algn="ctr">
                <a:solidFill>
                  <a:srgbClr val="4F81BD">
                    <a:shade val="95000"/>
                    <a:satMod val="105000"/>
                  </a:srgbClr>
                </a:solidFill>
                <a:prstDash val="solid"/>
                <a:headEnd/>
                <a:tailEnd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8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zh-CN" i="0" u="none" strike="noStrike" kern="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itchFamily="49" charset="0"/>
                  <a:ea typeface="楷体" pitchFamily="49" charset="-122"/>
                  <a:cs typeface="Consolas" pitchFamily="49" charset="0"/>
                </a:endParaRPr>
              </a:p>
            </p:txBody>
          </p:sp>
          <p:sp>
            <p:nvSpPr>
              <p:cNvPr id="85" name="Rectangle 48">
                <a:extLst>
                  <a:ext uri="{FF2B5EF4-FFF2-40B4-BE49-F238E27FC236}">
                    <a16:creationId xmlns:a16="http://schemas.microsoft.com/office/drawing/2014/main" id="{A51F676C-EB88-4DB4-92A5-D420358DBC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40230" y="4892675"/>
                <a:ext cx="539750" cy="431800"/>
              </a:xfrm>
              <a:prstGeom prst="rect">
                <a:avLst/>
              </a:prstGeom>
              <a:gradFill rotWithShape="1">
                <a:gsLst>
                  <a:gs pos="0">
                    <a:srgbClr val="9BBB59">
                      <a:tint val="50000"/>
                      <a:satMod val="300000"/>
                    </a:srgbClr>
                  </a:gs>
                  <a:gs pos="35000">
                    <a:srgbClr val="9BBB59">
                      <a:tint val="37000"/>
                      <a:satMod val="300000"/>
                    </a:srgbClr>
                  </a:gs>
                  <a:gs pos="100000">
                    <a:srgbClr val="9BBB59">
                      <a:tint val="15000"/>
                      <a:satMod val="350000"/>
                    </a:srgbClr>
                  </a:gs>
                </a:gsLst>
                <a:lin ang="16200000" scaled="1"/>
              </a:gradFill>
              <a:ln w="9525" cap="flat" cmpd="sng" algn="ctr">
                <a:solidFill>
                  <a:srgbClr val="9BBB59">
                    <a:shade val="95000"/>
                    <a:satMod val="105000"/>
                  </a:srgbClr>
                </a:solidFill>
                <a:prstDash val="solid"/>
                <a:headEnd/>
                <a:tailEnd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8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i="1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itchFamily="49" charset="0"/>
                    <a:ea typeface="楷体" pitchFamily="49" charset="-122"/>
                    <a:cs typeface="Consolas" pitchFamily="49" charset="0"/>
                  </a:rPr>
                  <a:t>b</a:t>
                </a:r>
                <a:endParaRPr kumimoji="1" lang="en-US" altLang="zh-CN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itchFamily="49" charset="0"/>
                  <a:ea typeface="楷体" pitchFamily="49" charset="-122"/>
                  <a:cs typeface="Consolas" pitchFamily="49" charset="0"/>
                </a:endParaRPr>
              </a:p>
            </p:txBody>
          </p:sp>
          <p:sp>
            <p:nvSpPr>
              <p:cNvPr id="86" name="Rectangle 49">
                <a:extLst>
                  <a:ext uri="{FF2B5EF4-FFF2-40B4-BE49-F238E27FC236}">
                    <a16:creationId xmlns:a16="http://schemas.microsoft.com/office/drawing/2014/main" id="{2256BBB6-251E-4376-8DF9-DA482DF916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5055" y="4892675"/>
                <a:ext cx="539750" cy="431800"/>
              </a:xfrm>
              <a:prstGeom prst="rect">
                <a:avLst/>
              </a:prstGeom>
              <a:gradFill rotWithShape="1">
                <a:gsLst>
                  <a:gs pos="0">
                    <a:srgbClr val="9BBB59">
                      <a:tint val="50000"/>
                      <a:satMod val="300000"/>
                    </a:srgbClr>
                  </a:gs>
                  <a:gs pos="35000">
                    <a:srgbClr val="9BBB59">
                      <a:tint val="37000"/>
                      <a:satMod val="300000"/>
                    </a:srgbClr>
                  </a:gs>
                  <a:gs pos="100000">
                    <a:srgbClr val="9BBB59">
                      <a:tint val="15000"/>
                      <a:satMod val="350000"/>
                    </a:srgbClr>
                  </a:gs>
                </a:gsLst>
                <a:lin ang="16200000" scaled="1"/>
              </a:gradFill>
              <a:ln w="9525" cap="flat" cmpd="sng" algn="ctr">
                <a:solidFill>
                  <a:srgbClr val="9BBB59">
                    <a:shade val="95000"/>
                    <a:satMod val="105000"/>
                  </a:srgbClr>
                </a:solidFill>
                <a:prstDash val="solid"/>
                <a:headEnd/>
                <a:tailEnd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8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zh-CN" i="0" u="none" strike="noStrike" kern="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itchFamily="49" charset="0"/>
                  <a:ea typeface="楷体" pitchFamily="49" charset="-122"/>
                  <a:cs typeface="Consolas" pitchFamily="49" charset="0"/>
                </a:endParaRPr>
              </a:p>
            </p:txBody>
          </p:sp>
          <p:sp>
            <p:nvSpPr>
              <p:cNvPr id="87" name="Line 50">
                <a:extLst>
                  <a:ext uri="{FF2B5EF4-FFF2-40B4-BE49-F238E27FC236}">
                    <a16:creationId xmlns:a16="http://schemas.microsoft.com/office/drawing/2014/main" id="{F62CFF78-6358-4B3E-B606-4737A369FD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84580" y="5108575"/>
                <a:ext cx="792163" cy="0"/>
              </a:xfrm>
              <a:prstGeom prst="line">
                <a:avLst/>
              </a:prstGeom>
              <a:noFill/>
              <a:ln w="38100">
                <a:solidFill>
                  <a:srgbClr val="660066"/>
                </a:solidFill>
                <a:round/>
                <a:headEnd/>
                <a:tailEnd type="triangle" w="med" len="med"/>
              </a:ln>
            </p:spPr>
            <p:txBody>
              <a:bodyPr wrap="none"/>
              <a:lstStyle/>
              <a:p>
                <a:pPr marL="0" marR="0" lvl="0" indent="0" algn="ctr" defTabSz="914400" eaLnBrk="1" fontAlgn="auto" latinLnBrk="0" hangingPunct="1">
                  <a:lnSpc>
                    <a:spcPct val="8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itchFamily="49" charset="0"/>
                  <a:ea typeface="楷体" pitchFamily="49" charset="-122"/>
                  <a:cs typeface="Consolas" pitchFamily="49" charset="0"/>
                </a:endParaRPr>
              </a:p>
            </p:txBody>
          </p:sp>
          <p:sp>
            <p:nvSpPr>
              <p:cNvPr id="88" name="Rectangle 51">
                <a:extLst>
                  <a:ext uri="{FF2B5EF4-FFF2-40B4-BE49-F238E27FC236}">
                    <a16:creationId xmlns:a16="http://schemas.microsoft.com/office/drawing/2014/main" id="{781DEE20-66AB-4F34-A4C7-8A96EF1636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3118" y="4892675"/>
                <a:ext cx="539750" cy="431800"/>
              </a:xfrm>
              <a:prstGeom prst="rect">
                <a:avLst/>
              </a:prstGeom>
              <a:gradFill rotWithShape="1">
                <a:gsLst>
                  <a:gs pos="0">
                    <a:srgbClr val="9BBB59">
                      <a:tint val="50000"/>
                      <a:satMod val="300000"/>
                    </a:srgbClr>
                  </a:gs>
                  <a:gs pos="35000">
                    <a:srgbClr val="9BBB59">
                      <a:tint val="37000"/>
                      <a:satMod val="300000"/>
                    </a:srgbClr>
                  </a:gs>
                  <a:gs pos="100000">
                    <a:srgbClr val="9BBB59">
                      <a:tint val="15000"/>
                      <a:satMod val="350000"/>
                    </a:srgbClr>
                  </a:gs>
                </a:gsLst>
                <a:lin ang="16200000" scaled="1"/>
              </a:gradFill>
              <a:ln w="9525" cap="flat" cmpd="sng" algn="ctr">
                <a:solidFill>
                  <a:srgbClr val="9BBB59">
                    <a:shade val="95000"/>
                    <a:satMod val="105000"/>
                  </a:srgbClr>
                </a:solidFill>
                <a:prstDash val="solid"/>
                <a:headEnd/>
                <a:tailEnd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8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i="1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itchFamily="49" charset="0"/>
                    <a:ea typeface="楷体" pitchFamily="49" charset="-122"/>
                    <a:cs typeface="Consolas" pitchFamily="49" charset="0"/>
                  </a:rPr>
                  <a:t>c</a:t>
                </a:r>
                <a:endParaRPr kumimoji="1" lang="en-US" altLang="zh-CN" i="0" u="none" strike="noStrike" kern="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itchFamily="49" charset="0"/>
                  <a:ea typeface="楷体" pitchFamily="49" charset="-122"/>
                  <a:cs typeface="Consolas" pitchFamily="49" charset="0"/>
                </a:endParaRPr>
              </a:p>
            </p:txBody>
          </p:sp>
          <p:sp>
            <p:nvSpPr>
              <p:cNvPr id="89" name="Rectangle 52">
                <a:extLst>
                  <a:ext uri="{FF2B5EF4-FFF2-40B4-BE49-F238E27FC236}">
                    <a16:creationId xmlns:a16="http://schemas.microsoft.com/office/drawing/2014/main" id="{2A6640F0-1F09-484E-BBF6-30A309F472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7943" y="4892675"/>
                <a:ext cx="539750" cy="431800"/>
              </a:xfrm>
              <a:prstGeom prst="rect">
                <a:avLst/>
              </a:prstGeom>
              <a:gradFill rotWithShape="1">
                <a:gsLst>
                  <a:gs pos="0">
                    <a:srgbClr val="9BBB59">
                      <a:tint val="50000"/>
                      <a:satMod val="300000"/>
                    </a:srgbClr>
                  </a:gs>
                  <a:gs pos="35000">
                    <a:srgbClr val="9BBB59">
                      <a:tint val="37000"/>
                      <a:satMod val="300000"/>
                    </a:srgbClr>
                  </a:gs>
                  <a:gs pos="100000">
                    <a:srgbClr val="9BBB59">
                      <a:tint val="15000"/>
                      <a:satMod val="350000"/>
                    </a:srgbClr>
                  </a:gs>
                </a:gsLst>
                <a:lin ang="16200000" scaled="1"/>
              </a:gradFill>
              <a:ln w="9525" cap="flat" cmpd="sng" algn="ctr">
                <a:solidFill>
                  <a:srgbClr val="9BBB59">
                    <a:shade val="95000"/>
                    <a:satMod val="105000"/>
                  </a:srgbClr>
                </a:solidFill>
                <a:prstDash val="solid"/>
                <a:headEnd/>
                <a:tailEnd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8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itchFamily="49" charset="0"/>
                    <a:ea typeface="楷体" pitchFamily="49" charset="-122"/>
                    <a:cs typeface="Consolas" pitchFamily="49" charset="0"/>
                  </a:rPr>
                  <a:t>∧</a:t>
                </a:r>
                <a:endParaRPr kumimoji="1" lang="zh-CN" altLang="zh-CN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itchFamily="49" charset="0"/>
                  <a:ea typeface="楷体" pitchFamily="49" charset="-122"/>
                  <a:cs typeface="Consolas" pitchFamily="49" charset="0"/>
                </a:endParaRPr>
              </a:p>
            </p:txBody>
          </p:sp>
          <p:sp>
            <p:nvSpPr>
              <p:cNvPr id="90" name="Line 53">
                <a:extLst>
                  <a:ext uri="{FF2B5EF4-FFF2-40B4-BE49-F238E27FC236}">
                    <a16:creationId xmlns:a16="http://schemas.microsoft.com/office/drawing/2014/main" id="{B5E3B2C9-F563-4F74-B4A0-DBD602DF23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97468" y="5108575"/>
                <a:ext cx="792163" cy="0"/>
              </a:xfrm>
              <a:prstGeom prst="line">
                <a:avLst/>
              </a:prstGeom>
              <a:noFill/>
              <a:ln w="38100">
                <a:solidFill>
                  <a:srgbClr val="660066"/>
                </a:solidFill>
                <a:round/>
                <a:headEnd/>
                <a:tailEnd type="triangle" w="med" len="med"/>
              </a:ln>
            </p:spPr>
            <p:txBody>
              <a:bodyPr wrap="none"/>
              <a:lstStyle/>
              <a:p>
                <a:pPr marL="0" marR="0" lvl="0" indent="0" algn="ctr" defTabSz="914400" eaLnBrk="1" fontAlgn="auto" latinLnBrk="0" hangingPunct="1">
                  <a:lnSpc>
                    <a:spcPct val="8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itchFamily="49" charset="0"/>
                  <a:ea typeface="楷体" pitchFamily="49" charset="-122"/>
                  <a:cs typeface="Consolas" pitchFamily="49" charset="0"/>
                </a:endParaRPr>
              </a:p>
            </p:txBody>
          </p:sp>
          <p:sp>
            <p:nvSpPr>
              <p:cNvPr id="91" name="Arc 57">
                <a:extLst>
                  <a:ext uri="{FF2B5EF4-FFF2-40B4-BE49-F238E27FC236}">
                    <a16:creationId xmlns:a16="http://schemas.microsoft.com/office/drawing/2014/main" id="{1CB88C3A-2F04-4652-A361-CC887FE97D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6880" y="4532313"/>
                <a:ext cx="360363" cy="360363"/>
              </a:xfrm>
              <a:custGeom>
                <a:avLst/>
                <a:gdLst>
                  <a:gd name="T0" fmla="*/ 0 w 21600"/>
                  <a:gd name="T1" fmla="*/ 0 h 21600"/>
                  <a:gd name="T2" fmla="*/ 227 w 21600"/>
                  <a:gd name="T3" fmla="*/ 227 h 21600"/>
                  <a:gd name="T4" fmla="*/ 0 w 21600"/>
                  <a:gd name="T5" fmla="*/ 227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F39801"/>
                </a:solidFill>
                <a:round/>
                <a:headEnd/>
                <a:tailEnd type="stealth" w="lg" len="lg"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8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itchFamily="49" charset="0"/>
                  <a:ea typeface="楷体" pitchFamily="49" charset="-122"/>
                  <a:cs typeface="Consolas" pitchFamily="49" charset="0"/>
                </a:endParaRPr>
              </a:p>
            </p:txBody>
          </p:sp>
          <p:sp>
            <p:nvSpPr>
              <p:cNvPr id="92" name="Line 60">
                <a:extLst>
                  <a:ext uri="{FF2B5EF4-FFF2-40B4-BE49-F238E27FC236}">
                    <a16:creationId xmlns:a16="http://schemas.microsoft.com/office/drawing/2014/main" id="{A5006E2D-A255-42DC-9C9C-BAD34EC5F8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440468" y="5297488"/>
                <a:ext cx="0" cy="252413"/>
              </a:xfrm>
              <a:prstGeom prst="line">
                <a:avLst/>
              </a:prstGeom>
              <a:noFill/>
              <a:ln w="38100">
                <a:solidFill>
                  <a:srgbClr val="660066"/>
                </a:solidFill>
                <a:round/>
                <a:headEnd/>
                <a:tailEnd type="triangle" w="med" len="med"/>
              </a:ln>
            </p:spPr>
            <p:txBody>
              <a:bodyPr wrap="none"/>
              <a:lstStyle/>
              <a:p>
                <a:pPr marL="0" marR="0" lvl="0" indent="0" algn="ctr" defTabSz="914400" eaLnBrk="1" fontAlgn="auto" latinLnBrk="0" hangingPunct="1">
                  <a:lnSpc>
                    <a:spcPct val="8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itchFamily="49" charset="0"/>
                  <a:ea typeface="楷体" pitchFamily="49" charset="-122"/>
                  <a:cs typeface="Consolas" pitchFamily="49" charset="0"/>
                </a:endParaRPr>
              </a:p>
            </p:txBody>
          </p:sp>
          <p:sp>
            <p:nvSpPr>
              <p:cNvPr id="93" name="Rectangle 61">
                <a:extLst>
                  <a:ext uri="{FF2B5EF4-FFF2-40B4-BE49-F238E27FC236}">
                    <a16:creationId xmlns:a16="http://schemas.microsoft.com/office/drawing/2014/main" id="{3CA0D243-EA9E-4EAC-AB9C-92EBE8CE53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09905" y="5324475"/>
                <a:ext cx="863600" cy="431800"/>
              </a:xfrm>
              <a:prstGeom prst="rect">
                <a:avLst/>
              </a:prstGeom>
              <a:gradFill rotWithShape="1">
                <a:gsLst>
                  <a:gs pos="0">
                    <a:srgbClr val="4F81BD">
                      <a:tint val="50000"/>
                      <a:satMod val="300000"/>
                    </a:srgbClr>
                  </a:gs>
                  <a:gs pos="35000">
                    <a:srgbClr val="4F81BD">
                      <a:tint val="37000"/>
                      <a:satMod val="300000"/>
                    </a:srgbClr>
                  </a:gs>
                  <a:gs pos="100000">
                    <a:srgbClr val="4F81BD">
                      <a:tint val="15000"/>
                      <a:satMod val="350000"/>
                    </a:srgbClr>
                  </a:gs>
                </a:gsLst>
                <a:lin ang="16200000" scaled="1"/>
              </a:gradFill>
              <a:ln w="9525" cap="flat" cmpd="sng" algn="ctr">
                <a:solidFill>
                  <a:srgbClr val="4F81BD">
                    <a:shade val="95000"/>
                    <a:satMod val="105000"/>
                  </a:srgbClr>
                </a:solidFill>
                <a:prstDash val="solid"/>
                <a:headEnd/>
                <a:tailEnd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8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zh-CN" i="0" u="none" strike="noStrike" kern="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itchFamily="49" charset="0"/>
                  <a:ea typeface="楷体" pitchFamily="49" charset="-122"/>
                  <a:cs typeface="Consolas" pitchFamily="49" charset="0"/>
                </a:endParaRPr>
              </a:p>
            </p:txBody>
          </p:sp>
          <p:sp>
            <p:nvSpPr>
              <p:cNvPr id="94" name="Text Box 62">
                <a:extLst>
                  <a:ext uri="{FF2B5EF4-FFF2-40B4-BE49-F238E27FC236}">
                    <a16:creationId xmlns:a16="http://schemas.microsoft.com/office/drawing/2014/main" id="{2B75BE97-5AB3-407D-BFA2-20B2E89A76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5330" y="4892675"/>
                <a:ext cx="1104902" cy="393121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8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itchFamily="49" charset="0"/>
                    <a:ea typeface="楷体" pitchFamily="49" charset="-122"/>
                    <a:cs typeface="Consolas" pitchFamily="49" charset="0"/>
                  </a:rPr>
                  <a:t>front</a:t>
                </a:r>
              </a:p>
            </p:txBody>
          </p:sp>
          <p:sp>
            <p:nvSpPr>
              <p:cNvPr id="95" name="Text Box 63">
                <a:extLst>
                  <a:ext uri="{FF2B5EF4-FFF2-40B4-BE49-F238E27FC236}">
                    <a16:creationId xmlns:a16="http://schemas.microsoft.com/office/drawing/2014/main" id="{E5455CE3-6D5D-44E2-AC0F-DE0383A809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0967" y="5359400"/>
                <a:ext cx="978789" cy="393121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8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itchFamily="49" charset="0"/>
                    <a:ea typeface="楷体" pitchFamily="49" charset="-122"/>
                    <a:cs typeface="Consolas" pitchFamily="49" charset="0"/>
                  </a:rPr>
                  <a:t>rear</a:t>
                </a:r>
              </a:p>
            </p:txBody>
          </p:sp>
          <p:sp>
            <p:nvSpPr>
              <p:cNvPr id="96" name="Freeform 64">
                <a:extLst>
                  <a:ext uri="{FF2B5EF4-FFF2-40B4-BE49-F238E27FC236}">
                    <a16:creationId xmlns:a16="http://schemas.microsoft.com/office/drawing/2014/main" id="{7397205C-73F3-4DFD-A29A-606EF28FB5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4580" y="5543550"/>
                <a:ext cx="2651125" cy="1588"/>
              </a:xfrm>
              <a:custGeom>
                <a:avLst/>
                <a:gdLst>
                  <a:gd name="T0" fmla="*/ 0 w 1670"/>
                  <a:gd name="T1" fmla="*/ 7 h 7"/>
                  <a:gd name="T2" fmla="*/ 1670 w 1670"/>
                  <a:gd name="T3" fmla="*/ 0 h 7"/>
                  <a:gd name="T4" fmla="*/ 0 60000 65536"/>
                  <a:gd name="T5" fmla="*/ 0 60000 65536"/>
                  <a:gd name="T6" fmla="*/ 0 w 1670"/>
                  <a:gd name="T7" fmla="*/ 0 h 7"/>
                  <a:gd name="T8" fmla="*/ 1670 w 1670"/>
                  <a:gd name="T9" fmla="*/ 7 h 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70" h="7">
                    <a:moveTo>
                      <a:pt x="0" y="7"/>
                    </a:moveTo>
                    <a:lnTo>
                      <a:pt x="1670" y="0"/>
                    </a:lnTo>
                  </a:path>
                </a:pathLst>
              </a:custGeom>
              <a:noFill/>
              <a:ln w="38100">
                <a:solidFill>
                  <a:srgbClr val="660066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pPr marL="0" marR="0" lvl="0" indent="0" algn="ctr" defTabSz="914400" eaLnBrk="1" fontAlgn="auto" latinLnBrk="0" hangingPunct="1">
                  <a:lnSpc>
                    <a:spcPct val="8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itchFamily="49" charset="0"/>
                  <a:ea typeface="楷体" pitchFamily="49" charset="-122"/>
                  <a:cs typeface="Consolas" pitchFamily="49" charset="0"/>
                </a:endParaRPr>
              </a:p>
            </p:txBody>
          </p:sp>
        </p:grpSp>
        <p:sp>
          <p:nvSpPr>
            <p:cNvPr id="82" name="下箭头 48">
              <a:extLst>
                <a:ext uri="{FF2B5EF4-FFF2-40B4-BE49-F238E27FC236}">
                  <a16:creationId xmlns:a16="http://schemas.microsoft.com/office/drawing/2014/main" id="{1488DFD1-D7C9-4CE1-87F5-6641FE548E9A}"/>
                </a:ext>
              </a:extLst>
            </p:cNvPr>
            <p:cNvSpPr/>
            <p:nvPr/>
          </p:nvSpPr>
          <p:spPr>
            <a:xfrm>
              <a:off x="5143504" y="4143380"/>
              <a:ext cx="285752" cy="571504"/>
            </a:xfrm>
            <a:prstGeom prst="downArrow">
              <a:avLst/>
            </a:prstGeom>
            <a:gradFill rotWithShape="1">
              <a:gsLst>
                <a:gs pos="0">
                  <a:srgbClr val="C0504D">
                    <a:shade val="51000"/>
                    <a:satMod val="130000"/>
                  </a:srgbClr>
                </a:gs>
                <a:gs pos="80000">
                  <a:srgbClr val="C0504D">
                    <a:shade val="93000"/>
                    <a:satMod val="130000"/>
                  </a:srgbClr>
                </a:gs>
                <a:gs pos="100000">
                  <a:srgbClr val="C0504D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Consolas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57302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5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 bwMode="auto">
          <a:xfrm>
            <a:off x="3175" y="908720"/>
            <a:ext cx="9144000" cy="5760640"/>
          </a:xfrm>
          <a:prstGeom prst="rect">
            <a:avLst/>
          </a:prstGeom>
          <a:solidFill>
            <a:srgbClr val="EAEAE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121859" name="Rectangle 3"/>
          <p:cNvSpPr>
            <a:spLocks noGrp="1" noChangeArrowheads="1"/>
          </p:cNvSpPr>
          <p:nvPr>
            <p:ph idx="1" hasCustomPrompt="1"/>
          </p:nvPr>
        </p:nvSpPr>
        <p:spPr>
          <a:xfrm>
            <a:off x="755650" y="836712"/>
            <a:ext cx="6985000" cy="576064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53848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typedef struct {</a:t>
            </a:r>
          </a:p>
          <a:p>
            <a:pPr marL="0" marR="0" lvl="0" indent="53848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QElemType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data;</a:t>
            </a:r>
          </a:p>
          <a:p>
            <a:pPr marL="0" marR="0" lvl="0" indent="53848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struct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QNode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*next;</a:t>
            </a:r>
          </a:p>
          <a:p>
            <a:pPr marL="0" marR="0" lvl="0" indent="53848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QNode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, *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QueuePtr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;</a:t>
            </a:r>
          </a:p>
          <a:p>
            <a:pPr marL="0" marR="0" lvl="0" indent="53848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53848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typedef struct {</a:t>
            </a:r>
          </a:p>
          <a:p>
            <a:pPr marL="0" marR="0" lvl="0" indent="53848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QueuePtr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front;     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//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队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头指针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</a:t>
            </a:r>
          </a:p>
          <a:p>
            <a:pPr marL="0" marR="0" lvl="0" indent="53848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QueuePtr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rear;       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//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队尾指针</a:t>
            </a:r>
          </a:p>
          <a:p>
            <a:pPr marL="0" marR="0" lvl="0" indent="53848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LinkQueue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;</a:t>
            </a:r>
          </a:p>
        </p:txBody>
      </p:sp>
      <p:sp>
        <p:nvSpPr>
          <p:cNvPr id="689159" name="Comment 7"/>
          <p:cNvSpPr>
            <a:spLocks noChangeArrowheads="1"/>
          </p:cNvSpPr>
          <p:nvPr/>
        </p:nvSpPr>
        <p:spPr bwMode="auto">
          <a:xfrm>
            <a:off x="900113" y="206375"/>
            <a:ext cx="2743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链式队列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 bwMode="auto">
          <a:xfrm>
            <a:off x="3175" y="1196752"/>
            <a:ext cx="9144000" cy="5184576"/>
          </a:xfrm>
          <a:prstGeom prst="rect">
            <a:avLst/>
          </a:prstGeom>
          <a:solidFill>
            <a:srgbClr val="EAEAE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123907" name="Rectangle 3"/>
          <p:cNvSpPr>
            <a:spLocks noGrp="1" noChangeArrowheads="1"/>
          </p:cNvSpPr>
          <p:nvPr>
            <p:ph idx="1" hasCustomPrompt="1"/>
          </p:nvPr>
        </p:nvSpPr>
        <p:spPr>
          <a:xfrm>
            <a:off x="251520" y="1196752"/>
            <a:ext cx="8667055" cy="5112568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53848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Status </a:t>
            </a:r>
            <a:r>
              <a:rPr kumimoji="0" lang="en-US" altLang="zh-CN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InitQueue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(</a:t>
            </a:r>
            <a:r>
              <a:rPr kumimoji="0" lang="en-US" altLang="zh-CN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LinkQueue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&amp;Q) {</a:t>
            </a:r>
          </a:p>
          <a:p>
            <a:pPr marL="0" marR="0" lvl="0" indent="53848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Q.rear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= </a:t>
            </a:r>
            <a:r>
              <a:rPr kumimoji="0" lang="en-US" altLang="zh-CN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Q.front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= NULL;</a:t>
            </a:r>
          </a:p>
          <a:p>
            <a:pPr marL="0" marR="0" lvl="0" indent="53848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return OK;</a:t>
            </a:r>
          </a:p>
          <a:p>
            <a:pPr marL="0" marR="0" lvl="0" indent="53848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</a:t>
            </a:r>
          </a:p>
          <a:p>
            <a:pPr marL="0" marR="0" lvl="0" indent="53848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53848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bool </a:t>
            </a:r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QueueEmpty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 (</a:t>
            </a:r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LinkQueue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 &amp;Q) {</a:t>
            </a:r>
          </a:p>
          <a:p>
            <a:pPr marL="0" marR="0" lvl="0" indent="53848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      return </a:t>
            </a:r>
            <a:r>
              <a:rPr lang="en-US" altLang="zh-CN" dirty="0" err="1">
                <a:solidFill>
                  <a:srgbClr val="0000FF"/>
                </a:solidFill>
                <a:latin typeface="+mn-lt"/>
                <a:ea typeface="+mn-ea"/>
                <a:cs typeface="+mn-ea"/>
                <a:sym typeface="+mn-lt"/>
              </a:rPr>
              <a:t>Q.front</a:t>
            </a:r>
            <a:r>
              <a:rPr lang="en-US" altLang="zh-CN" dirty="0">
                <a:solidFill>
                  <a:srgbClr val="0000FF"/>
                </a:solidFill>
                <a:latin typeface="+mn-lt"/>
                <a:ea typeface="+mn-ea"/>
                <a:cs typeface="+mn-ea"/>
                <a:sym typeface="+mn-lt"/>
              </a:rPr>
              <a:t> == NULL;</a:t>
            </a:r>
          </a:p>
          <a:p>
            <a:pPr marL="0" marR="0" lvl="0" indent="53848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}</a:t>
            </a:r>
          </a:p>
          <a:p>
            <a:pPr marL="0" marR="0" lvl="0" indent="53848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91204" name="Comment 4"/>
          <p:cNvSpPr>
            <a:spLocks noChangeArrowheads="1"/>
          </p:cNvSpPr>
          <p:nvPr/>
        </p:nvSpPr>
        <p:spPr bwMode="auto">
          <a:xfrm>
            <a:off x="827088" y="188913"/>
            <a:ext cx="34671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链队列初始化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矩形 8"/>
          <p:cNvSpPr/>
          <p:nvPr/>
        </p:nvSpPr>
        <p:spPr>
          <a:xfrm>
            <a:off x="-3175" y="1031875"/>
            <a:ext cx="9144000" cy="5627686"/>
          </a:xfrm>
          <a:prstGeom prst="rect">
            <a:avLst/>
          </a:prstGeom>
          <a:solidFill>
            <a:srgbClr val="EAEAEA"/>
          </a:solidFill>
          <a:ln w="9525">
            <a:noFill/>
          </a:ln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 b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marL="342900" lvl="0" indent="-342900">
              <a:lnSpc>
                <a:spcPct val="100000"/>
              </a:lnSpc>
              <a:spcBef>
                <a:spcPct val="20000"/>
              </a:spcBef>
            </a:pPr>
            <a:endParaRPr lang="zh-CN" altLang="en-US" sz="2800" dirty="0">
              <a:ea typeface="仿宋_GB2312" pitchFamily="49" charset="-122"/>
            </a:endParaRPr>
          </a:p>
        </p:txBody>
      </p:sp>
      <p:sp>
        <p:nvSpPr>
          <p:cNvPr id="696322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179512" y="1052512"/>
            <a:ext cx="8640959" cy="5607049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lvl="0" indent="538480">
              <a:buNone/>
              <a:defRPr/>
            </a:pPr>
            <a:r>
              <a:rPr lang="en-US" altLang="zh-CN" sz="2400" dirty="0">
                <a:ea typeface="+mn-ea"/>
                <a:cs typeface="+mn-ea"/>
                <a:sym typeface="+mn-lt"/>
              </a:rPr>
              <a:t>Status </a:t>
            </a:r>
            <a:r>
              <a:rPr lang="en-US" altLang="zh-CN" sz="2400" dirty="0" err="1">
                <a:ea typeface="+mn-ea"/>
                <a:cs typeface="+mn-ea"/>
                <a:sym typeface="+mn-lt"/>
              </a:rPr>
              <a:t>EnQueue</a:t>
            </a:r>
            <a:r>
              <a:rPr lang="en-US" altLang="zh-CN" sz="2400" dirty="0">
                <a:ea typeface="+mn-ea"/>
                <a:cs typeface="+mn-ea"/>
                <a:sym typeface="+mn-lt"/>
              </a:rPr>
              <a:t> ( </a:t>
            </a:r>
            <a:r>
              <a:rPr lang="en-US" altLang="zh-CN" sz="2400" dirty="0" err="1">
                <a:ea typeface="+mn-ea"/>
                <a:cs typeface="+mn-ea"/>
                <a:sym typeface="+mn-lt"/>
              </a:rPr>
              <a:t>LinkQueue</a:t>
            </a:r>
            <a:r>
              <a:rPr lang="en-US" altLang="zh-CN" sz="2400" dirty="0">
                <a:ea typeface="+mn-ea"/>
                <a:cs typeface="+mn-ea"/>
                <a:sym typeface="+mn-lt"/>
              </a:rPr>
              <a:t>&amp; Q, </a:t>
            </a:r>
            <a:r>
              <a:rPr lang="en-US" altLang="zh-CN" sz="2400" dirty="0" err="1">
                <a:ea typeface="+mn-ea"/>
                <a:cs typeface="+mn-ea"/>
                <a:sym typeface="+mn-lt"/>
              </a:rPr>
              <a:t>QElemType</a:t>
            </a:r>
            <a:r>
              <a:rPr lang="en-US" altLang="zh-CN" sz="2400" dirty="0">
                <a:ea typeface="+mn-ea"/>
                <a:cs typeface="+mn-ea"/>
                <a:sym typeface="+mn-lt"/>
              </a:rPr>
              <a:t> e ) {</a:t>
            </a:r>
          </a:p>
          <a:p>
            <a:pPr marL="0" lvl="0" indent="538480">
              <a:buNone/>
              <a:defRPr/>
            </a:pPr>
            <a:r>
              <a:rPr lang="en-US" altLang="zh-CN" sz="2400" dirty="0">
                <a:ea typeface="+mn-ea"/>
                <a:cs typeface="+mn-ea"/>
                <a:sym typeface="+mn-lt"/>
              </a:rPr>
              <a:t>    </a:t>
            </a:r>
            <a:r>
              <a:rPr lang="en-US" altLang="zh-CN" sz="2400" dirty="0" err="1">
                <a:ea typeface="+mn-ea"/>
                <a:cs typeface="+mn-ea"/>
                <a:sym typeface="+mn-lt"/>
              </a:rPr>
              <a:t>QNode</a:t>
            </a:r>
            <a:r>
              <a:rPr lang="en-US" altLang="zh-CN" sz="2400" dirty="0">
                <a:ea typeface="+mn-ea"/>
                <a:cs typeface="+mn-ea"/>
                <a:sym typeface="+mn-lt"/>
              </a:rPr>
              <a:t> * p = new </a:t>
            </a:r>
            <a:r>
              <a:rPr lang="en-US" altLang="zh-CN" sz="2400" dirty="0" err="1">
                <a:ea typeface="+mn-ea"/>
                <a:cs typeface="+mn-ea"/>
                <a:sym typeface="+mn-lt"/>
              </a:rPr>
              <a:t>QNode</a:t>
            </a:r>
            <a:r>
              <a:rPr lang="en-US" altLang="zh-CN" sz="2400" dirty="0">
                <a:ea typeface="+mn-ea"/>
                <a:cs typeface="+mn-ea"/>
                <a:sym typeface="+mn-lt"/>
              </a:rPr>
              <a:t>;        </a:t>
            </a:r>
            <a:r>
              <a:rPr lang="en-US" altLang="zh-CN" sz="2400" dirty="0">
                <a:solidFill>
                  <a:srgbClr val="00B050"/>
                </a:solidFill>
                <a:ea typeface="+mn-ea"/>
                <a:cs typeface="+mn-ea"/>
                <a:sym typeface="+mn-lt"/>
              </a:rPr>
              <a:t>// </a:t>
            </a:r>
            <a:r>
              <a:rPr lang="zh-CN" altLang="en-US" sz="2400" dirty="0">
                <a:solidFill>
                  <a:srgbClr val="00B050"/>
                </a:solidFill>
                <a:ea typeface="+mn-ea"/>
                <a:cs typeface="+mn-ea"/>
                <a:sym typeface="+mn-lt"/>
              </a:rPr>
              <a:t>创建新结点</a:t>
            </a:r>
          </a:p>
          <a:p>
            <a:pPr marL="0" lvl="0" indent="538480">
              <a:buNone/>
              <a:defRPr/>
            </a:pPr>
            <a:r>
              <a:rPr lang="zh-CN" altLang="en-US" sz="2400" dirty="0">
                <a:ea typeface="+mn-ea"/>
                <a:cs typeface="+mn-ea"/>
                <a:sym typeface="+mn-lt"/>
              </a:rPr>
              <a:t>    </a:t>
            </a:r>
            <a:r>
              <a:rPr lang="en-US" altLang="zh-CN" sz="2400" dirty="0">
                <a:ea typeface="+mn-ea"/>
                <a:cs typeface="+mn-ea"/>
                <a:sym typeface="+mn-lt"/>
              </a:rPr>
              <a:t>if (p == NULL) exit(1);</a:t>
            </a:r>
          </a:p>
          <a:p>
            <a:pPr marL="0" lvl="0" indent="538480">
              <a:buNone/>
              <a:defRPr/>
            </a:pPr>
            <a:r>
              <a:rPr lang="en-US" altLang="zh-CN" sz="2400" dirty="0">
                <a:ea typeface="+mn-ea"/>
                <a:cs typeface="+mn-ea"/>
                <a:sym typeface="+mn-lt"/>
              </a:rPr>
              <a:t>    p-&gt;data = e;  p-&gt;next = NULL; 	</a:t>
            </a:r>
          </a:p>
          <a:p>
            <a:pPr marL="0" lvl="0" indent="538480">
              <a:buNone/>
              <a:defRPr/>
            </a:pPr>
            <a:r>
              <a:rPr lang="zh-CN" altLang="en-US" sz="2400" dirty="0">
                <a:ea typeface="+mn-ea"/>
                <a:cs typeface="+mn-ea"/>
                <a:sym typeface="+mn-lt"/>
              </a:rPr>
              <a:t>    </a:t>
            </a:r>
            <a:r>
              <a:rPr lang="en-US" altLang="zh-CN" sz="2400" dirty="0">
                <a:ea typeface="+mn-ea"/>
                <a:cs typeface="+mn-ea"/>
                <a:sym typeface="+mn-lt"/>
              </a:rPr>
              <a:t>if (</a:t>
            </a:r>
            <a:r>
              <a:rPr lang="en-US" altLang="zh-CN" sz="2400" dirty="0" err="1">
                <a:ea typeface="+mn-ea"/>
                <a:cs typeface="+mn-ea"/>
                <a:sym typeface="+mn-lt"/>
              </a:rPr>
              <a:t>Q.rear</a:t>
            </a:r>
            <a:r>
              <a:rPr lang="en-US" altLang="zh-CN" sz="2400" dirty="0">
                <a:ea typeface="+mn-ea"/>
                <a:cs typeface="+mn-ea"/>
                <a:sym typeface="+mn-lt"/>
              </a:rPr>
              <a:t> != NULL) {            	</a:t>
            </a:r>
            <a:r>
              <a:rPr lang="en-US" altLang="zh-CN" sz="2400" dirty="0">
                <a:solidFill>
                  <a:srgbClr val="00B050"/>
                </a:solidFill>
                <a:ea typeface="+mn-ea"/>
                <a:cs typeface="+mn-ea"/>
                <a:sym typeface="+mn-lt"/>
              </a:rPr>
              <a:t>// </a:t>
            </a:r>
            <a:r>
              <a:rPr lang="zh-CN" altLang="en-US" sz="2400" dirty="0">
                <a:solidFill>
                  <a:srgbClr val="00B050"/>
                </a:solidFill>
                <a:ea typeface="+mn-ea"/>
                <a:cs typeface="+mn-ea"/>
                <a:sym typeface="+mn-lt"/>
              </a:rPr>
              <a:t>原队列非空时</a:t>
            </a:r>
          </a:p>
          <a:p>
            <a:pPr marL="0" lvl="0" indent="538480">
              <a:buNone/>
              <a:defRPr/>
            </a:pPr>
            <a:r>
              <a:rPr lang="zh-CN" altLang="en-US" sz="2400" dirty="0">
                <a:ea typeface="+mn-ea"/>
                <a:cs typeface="+mn-ea"/>
                <a:sym typeface="+mn-lt"/>
              </a:rPr>
              <a:t>        </a:t>
            </a:r>
            <a:r>
              <a:rPr lang="en-US" altLang="zh-CN" sz="2400" dirty="0" err="1">
                <a:solidFill>
                  <a:srgbClr val="0000FF"/>
                </a:solidFill>
                <a:ea typeface="+mn-ea"/>
                <a:cs typeface="+mn-ea"/>
                <a:sym typeface="+mn-lt"/>
              </a:rPr>
              <a:t>Q.rear</a:t>
            </a:r>
            <a:r>
              <a:rPr lang="en-US" altLang="zh-CN" sz="2400" dirty="0">
                <a:solidFill>
                  <a:srgbClr val="0000FF"/>
                </a:solidFill>
                <a:ea typeface="+mn-ea"/>
                <a:cs typeface="+mn-ea"/>
                <a:sym typeface="+mn-lt"/>
              </a:rPr>
              <a:t>-&gt;next = p;  </a:t>
            </a:r>
            <a:r>
              <a:rPr lang="en-US" altLang="zh-CN" sz="2400" dirty="0" err="1">
                <a:solidFill>
                  <a:srgbClr val="0000FF"/>
                </a:solidFill>
                <a:ea typeface="+mn-ea"/>
                <a:cs typeface="+mn-ea"/>
                <a:sym typeface="+mn-lt"/>
              </a:rPr>
              <a:t>Q.rear</a:t>
            </a:r>
            <a:r>
              <a:rPr lang="en-US" altLang="zh-CN" sz="2400" dirty="0">
                <a:solidFill>
                  <a:srgbClr val="0000FF"/>
                </a:solidFill>
                <a:ea typeface="+mn-ea"/>
                <a:cs typeface="+mn-ea"/>
                <a:sym typeface="+mn-lt"/>
              </a:rPr>
              <a:t> = p;         </a:t>
            </a:r>
            <a:r>
              <a:rPr lang="en-US" altLang="zh-CN" sz="2400" dirty="0">
                <a:solidFill>
                  <a:srgbClr val="00B050"/>
                </a:solidFill>
                <a:ea typeface="+mn-ea"/>
                <a:cs typeface="+mn-ea"/>
                <a:sym typeface="+mn-lt"/>
              </a:rPr>
              <a:t>// </a:t>
            </a:r>
            <a:r>
              <a:rPr lang="zh-CN" altLang="en-US" sz="2400" dirty="0">
                <a:solidFill>
                  <a:srgbClr val="00B050"/>
                </a:solidFill>
                <a:ea typeface="+mn-ea"/>
                <a:cs typeface="+mn-ea"/>
                <a:sym typeface="+mn-lt"/>
              </a:rPr>
              <a:t>队尾插入</a:t>
            </a:r>
          </a:p>
          <a:p>
            <a:pPr marL="0" lvl="0" indent="538480">
              <a:buNone/>
              <a:defRPr/>
            </a:pPr>
            <a:r>
              <a:rPr lang="zh-CN" altLang="en-US" sz="2400" dirty="0">
                <a:ea typeface="+mn-ea"/>
                <a:cs typeface="+mn-ea"/>
                <a:sym typeface="+mn-lt"/>
              </a:rPr>
              <a:t>    </a:t>
            </a:r>
            <a:r>
              <a:rPr lang="en-US" altLang="zh-CN" sz="2400" dirty="0">
                <a:ea typeface="+mn-ea"/>
                <a:cs typeface="+mn-ea"/>
                <a:sym typeface="+mn-lt"/>
              </a:rPr>
              <a:t>}</a:t>
            </a:r>
          </a:p>
          <a:p>
            <a:pPr marL="0" lvl="0" indent="538480">
              <a:buNone/>
              <a:defRPr/>
            </a:pPr>
            <a:r>
              <a:rPr lang="en-US" altLang="zh-CN" sz="2400" dirty="0">
                <a:ea typeface="+mn-ea"/>
                <a:cs typeface="+mn-ea"/>
                <a:sym typeface="+mn-lt"/>
              </a:rPr>
              <a:t>    else </a:t>
            </a:r>
            <a:r>
              <a:rPr lang="en-US" altLang="zh-CN" sz="2400" dirty="0" err="1">
                <a:solidFill>
                  <a:srgbClr val="0000FF"/>
                </a:solidFill>
                <a:ea typeface="+mn-ea"/>
                <a:cs typeface="+mn-ea"/>
                <a:sym typeface="+mn-lt"/>
              </a:rPr>
              <a:t>Q.rear</a:t>
            </a:r>
            <a:r>
              <a:rPr lang="en-US" altLang="zh-CN" sz="2400" dirty="0">
                <a:solidFill>
                  <a:srgbClr val="0000FF"/>
                </a:solidFill>
                <a:ea typeface="+mn-ea"/>
                <a:cs typeface="+mn-ea"/>
                <a:sym typeface="+mn-lt"/>
              </a:rPr>
              <a:t> = </a:t>
            </a:r>
            <a:r>
              <a:rPr lang="en-US" altLang="zh-CN" sz="2400" dirty="0" err="1">
                <a:solidFill>
                  <a:srgbClr val="0000FF"/>
                </a:solidFill>
                <a:ea typeface="+mn-ea"/>
                <a:cs typeface="+mn-ea"/>
                <a:sym typeface="+mn-lt"/>
              </a:rPr>
              <a:t>Q.front</a:t>
            </a:r>
            <a:r>
              <a:rPr lang="en-US" altLang="zh-CN" sz="2400" dirty="0">
                <a:solidFill>
                  <a:srgbClr val="0000FF"/>
                </a:solidFill>
                <a:ea typeface="+mn-ea"/>
                <a:cs typeface="+mn-ea"/>
                <a:sym typeface="+mn-lt"/>
              </a:rPr>
              <a:t> = p;      </a:t>
            </a:r>
            <a:r>
              <a:rPr lang="en-US" altLang="zh-CN" sz="2400" dirty="0">
                <a:ea typeface="+mn-ea"/>
                <a:cs typeface="+mn-ea"/>
                <a:sym typeface="+mn-lt"/>
              </a:rPr>
              <a:t>	</a:t>
            </a:r>
            <a:r>
              <a:rPr lang="en-US" altLang="zh-CN" sz="2400" dirty="0">
                <a:solidFill>
                  <a:srgbClr val="00B050"/>
                </a:solidFill>
                <a:ea typeface="+mn-ea"/>
                <a:cs typeface="+mn-ea"/>
                <a:sym typeface="+mn-lt"/>
              </a:rPr>
              <a:t>// </a:t>
            </a:r>
            <a:r>
              <a:rPr lang="zh-CN" altLang="en-US" sz="2400" dirty="0">
                <a:solidFill>
                  <a:srgbClr val="00B050"/>
                </a:solidFill>
                <a:ea typeface="+mn-ea"/>
                <a:cs typeface="+mn-ea"/>
                <a:sym typeface="+mn-lt"/>
              </a:rPr>
              <a:t>原队列为空时</a:t>
            </a:r>
          </a:p>
          <a:p>
            <a:pPr marL="0" marR="0" lvl="0" indent="53848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ea"/>
                <a:sym typeface="+mn-lt"/>
              </a:rPr>
              <a:t>    return OK;</a:t>
            </a:r>
          </a:p>
          <a:p>
            <a:pPr marL="0" marR="0" lvl="0" indent="53848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ea"/>
                <a:sym typeface="+mn-lt"/>
              </a:rPr>
              <a:t>}</a:t>
            </a:r>
          </a:p>
        </p:txBody>
      </p:sp>
      <p:sp>
        <p:nvSpPr>
          <p:cNvPr id="696325" name="Comment 5"/>
          <p:cNvSpPr>
            <a:spLocks noChangeArrowheads="1"/>
          </p:cNvSpPr>
          <p:nvPr/>
        </p:nvSpPr>
        <p:spPr bwMode="auto">
          <a:xfrm>
            <a:off x="900113" y="198438"/>
            <a:ext cx="48355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链</a:t>
            </a:r>
            <a:r>
              <a:rPr lang="zh-CN" altLang="en-US" sz="2800" b="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式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队列入队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63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63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963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963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963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963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963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963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963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963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963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963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963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963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963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963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963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963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22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矩形 1"/>
          <p:cNvSpPr/>
          <p:nvPr/>
        </p:nvSpPr>
        <p:spPr>
          <a:xfrm>
            <a:off x="0" y="1196752"/>
            <a:ext cx="9144000" cy="5112568"/>
          </a:xfrm>
          <a:prstGeom prst="rect">
            <a:avLst/>
          </a:prstGeom>
          <a:solidFill>
            <a:srgbClr val="EAEAEA"/>
          </a:solidFill>
          <a:ln w="9525">
            <a:noFill/>
          </a:ln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 b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marL="342900" lvl="0" indent="-342900">
              <a:lnSpc>
                <a:spcPct val="100000"/>
              </a:lnSpc>
              <a:spcBef>
                <a:spcPct val="20000"/>
              </a:spcBef>
            </a:pPr>
            <a:endParaRPr lang="zh-CN" altLang="en-US" sz="2800" dirty="0">
              <a:ea typeface="仿宋_GB2312" pitchFamily="49" charset="-122"/>
            </a:endParaRPr>
          </a:p>
        </p:txBody>
      </p:sp>
      <p:sp>
        <p:nvSpPr>
          <p:cNvPr id="69734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39738" y="1209010"/>
            <a:ext cx="8243888" cy="5100309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53848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ea"/>
                <a:sym typeface="+mn-lt"/>
              </a:rPr>
              <a:t>Status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ea"/>
                <a:sym typeface="+mn-lt"/>
              </a:rPr>
              <a:t>DeQueue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ea"/>
                <a:sym typeface="+mn-lt"/>
              </a:rPr>
              <a:t> (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ea"/>
                <a:sym typeface="+mn-lt"/>
              </a:rPr>
              <a:t>LinkQueue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ea"/>
                <a:sym typeface="+mn-lt"/>
              </a:rPr>
              <a:t> &amp;Q,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ea"/>
                <a:sym typeface="+mn-lt"/>
              </a:rPr>
              <a:t>QElemType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ea"/>
                <a:sym typeface="+mn-lt"/>
              </a:rPr>
              <a:t> &amp;e) {</a:t>
            </a:r>
          </a:p>
          <a:p>
            <a:pPr marL="0" lvl="0" indent="538480">
              <a:buNone/>
              <a:defRPr/>
            </a:pPr>
            <a:r>
              <a:rPr lang="en-US" altLang="zh-CN" sz="2400" dirty="0">
                <a:ea typeface="+mn-ea"/>
                <a:cs typeface="+mn-ea"/>
                <a:sym typeface="+mn-lt"/>
              </a:rPr>
              <a:t>    if (</a:t>
            </a:r>
            <a:r>
              <a:rPr lang="en-US" altLang="zh-CN" sz="2400" dirty="0" err="1">
                <a:ea typeface="+mn-ea"/>
                <a:cs typeface="+mn-ea"/>
                <a:sym typeface="+mn-lt"/>
              </a:rPr>
              <a:t>QueueEmpty</a:t>
            </a:r>
            <a:r>
              <a:rPr lang="en-US" altLang="zh-CN" sz="2400" dirty="0">
                <a:ea typeface="+mn-ea"/>
                <a:cs typeface="+mn-ea"/>
                <a:sym typeface="+mn-lt"/>
              </a:rPr>
              <a:t>(Q)) return ERROR;	</a:t>
            </a:r>
            <a:r>
              <a:rPr lang="en-US" altLang="zh-CN" sz="2400" dirty="0">
                <a:solidFill>
                  <a:srgbClr val="00B050"/>
                </a:solidFill>
                <a:ea typeface="+mn-ea"/>
                <a:cs typeface="+mn-ea"/>
                <a:sym typeface="+mn-lt"/>
              </a:rPr>
              <a:t>// </a:t>
            </a:r>
            <a:r>
              <a:rPr lang="zh-CN" altLang="en-US" sz="2400" dirty="0">
                <a:solidFill>
                  <a:srgbClr val="00B050"/>
                </a:solidFill>
                <a:ea typeface="+mn-ea"/>
                <a:cs typeface="+mn-ea"/>
                <a:sym typeface="+mn-lt"/>
              </a:rPr>
              <a:t>判队空</a:t>
            </a:r>
          </a:p>
          <a:p>
            <a:pPr marL="0" lvl="0" indent="538480">
              <a:buNone/>
              <a:defRPr/>
            </a:pPr>
            <a:r>
              <a:rPr lang="zh-CN" altLang="en-US" sz="2400" dirty="0">
                <a:ea typeface="+mn-ea"/>
                <a:cs typeface="+mn-ea"/>
                <a:sym typeface="+mn-lt"/>
              </a:rPr>
              <a:t>    </a:t>
            </a:r>
            <a:r>
              <a:rPr lang="en-US" altLang="zh-CN" sz="2400" dirty="0" err="1">
                <a:ea typeface="+mn-ea"/>
                <a:cs typeface="+mn-ea"/>
                <a:sym typeface="+mn-lt"/>
              </a:rPr>
              <a:t>QNode</a:t>
            </a:r>
            <a:r>
              <a:rPr lang="en-US" altLang="zh-CN" sz="2400" dirty="0">
                <a:ea typeface="+mn-ea"/>
                <a:cs typeface="+mn-ea"/>
                <a:sym typeface="+mn-lt"/>
              </a:rPr>
              <a:t> *p = </a:t>
            </a:r>
            <a:r>
              <a:rPr lang="en-US" altLang="zh-CN" sz="2400" dirty="0" err="1">
                <a:ea typeface="+mn-ea"/>
                <a:cs typeface="+mn-ea"/>
                <a:sym typeface="+mn-lt"/>
              </a:rPr>
              <a:t>Q.front</a:t>
            </a:r>
            <a:r>
              <a:rPr lang="en-US" altLang="zh-CN" sz="2400" dirty="0">
                <a:ea typeface="+mn-ea"/>
                <a:cs typeface="+mn-ea"/>
                <a:sym typeface="+mn-lt"/>
              </a:rPr>
              <a:t>;		</a:t>
            </a:r>
          </a:p>
          <a:p>
            <a:pPr marL="0" lvl="0" indent="538480">
              <a:buNone/>
              <a:defRPr/>
            </a:pPr>
            <a:r>
              <a:rPr lang="en-US" altLang="zh-CN" sz="2400" dirty="0">
                <a:ea typeface="+mn-ea"/>
                <a:cs typeface="+mn-ea"/>
                <a:sym typeface="+mn-lt"/>
              </a:rPr>
              <a:t>    e = p-&gt;data;                          </a:t>
            </a:r>
            <a:r>
              <a:rPr lang="en-US" altLang="zh-CN" sz="2400" dirty="0">
                <a:solidFill>
                  <a:srgbClr val="00B050"/>
                </a:solidFill>
                <a:ea typeface="+mn-ea"/>
                <a:cs typeface="+mn-ea"/>
                <a:sym typeface="+mn-lt"/>
              </a:rPr>
              <a:t>// </a:t>
            </a:r>
            <a:r>
              <a:rPr lang="zh-CN" altLang="en-US" sz="2400" dirty="0">
                <a:solidFill>
                  <a:srgbClr val="00B050"/>
                </a:solidFill>
                <a:ea typeface="+mn-ea"/>
                <a:cs typeface="+mn-ea"/>
                <a:sym typeface="+mn-lt"/>
              </a:rPr>
              <a:t>保存队头的值</a:t>
            </a:r>
          </a:p>
          <a:p>
            <a:pPr marL="0" lvl="0" indent="538480">
              <a:buNone/>
              <a:defRPr/>
            </a:pPr>
            <a:r>
              <a:rPr lang="zh-CN" altLang="en-US" sz="2400" dirty="0">
                <a:ea typeface="+mn-ea"/>
                <a:cs typeface="+mn-ea"/>
                <a:sym typeface="+mn-lt"/>
              </a:rPr>
              <a:t>    </a:t>
            </a:r>
            <a:r>
              <a:rPr lang="en-US" altLang="zh-CN" sz="2400" dirty="0" err="1">
                <a:solidFill>
                  <a:srgbClr val="0000FF"/>
                </a:solidFill>
                <a:ea typeface="+mn-ea"/>
                <a:cs typeface="+mn-ea"/>
                <a:sym typeface="+mn-lt"/>
              </a:rPr>
              <a:t>Q.front</a:t>
            </a:r>
            <a:r>
              <a:rPr lang="en-US" altLang="zh-CN" sz="2400" dirty="0">
                <a:solidFill>
                  <a:srgbClr val="0000FF"/>
                </a:solidFill>
                <a:ea typeface="+mn-ea"/>
                <a:cs typeface="+mn-ea"/>
                <a:sym typeface="+mn-lt"/>
              </a:rPr>
              <a:t> = </a:t>
            </a:r>
            <a:r>
              <a:rPr lang="en-US" altLang="zh-CN" sz="2400" dirty="0" err="1">
                <a:solidFill>
                  <a:srgbClr val="0000FF"/>
                </a:solidFill>
                <a:ea typeface="+mn-ea"/>
                <a:cs typeface="+mn-ea"/>
                <a:sym typeface="+mn-lt"/>
              </a:rPr>
              <a:t>Q.front</a:t>
            </a:r>
            <a:r>
              <a:rPr lang="en-US" altLang="zh-CN" sz="2400" dirty="0">
                <a:solidFill>
                  <a:srgbClr val="0000FF"/>
                </a:solidFill>
                <a:ea typeface="+mn-ea"/>
                <a:cs typeface="+mn-ea"/>
                <a:sym typeface="+mn-lt"/>
              </a:rPr>
              <a:t>-&gt;next;      </a:t>
            </a:r>
            <a:r>
              <a:rPr lang="en-US" altLang="zh-CN" sz="2400" dirty="0">
                <a:solidFill>
                  <a:srgbClr val="00B050"/>
                </a:solidFill>
                <a:ea typeface="+mn-ea"/>
                <a:cs typeface="+mn-ea"/>
                <a:sym typeface="+mn-lt"/>
              </a:rPr>
              <a:t>// </a:t>
            </a:r>
            <a:r>
              <a:rPr lang="zh-CN" altLang="en-US" sz="2400" dirty="0">
                <a:solidFill>
                  <a:srgbClr val="00B050"/>
                </a:solidFill>
                <a:ea typeface="+mn-ea"/>
                <a:cs typeface="+mn-ea"/>
                <a:sym typeface="+mn-lt"/>
              </a:rPr>
              <a:t>新队头</a:t>
            </a:r>
            <a:endParaRPr lang="en-US" altLang="zh-CN" sz="2400" dirty="0">
              <a:solidFill>
                <a:srgbClr val="00B050"/>
              </a:solidFill>
              <a:ea typeface="+mn-ea"/>
              <a:cs typeface="+mn-ea"/>
              <a:sym typeface="+mn-lt"/>
            </a:endParaRPr>
          </a:p>
          <a:p>
            <a:pPr marL="0" lvl="0" indent="538480">
              <a:buNone/>
              <a:defRPr/>
            </a:pPr>
            <a:r>
              <a:rPr lang="en-US" altLang="zh-CN" sz="2400" dirty="0">
                <a:ea typeface="+mn-ea"/>
                <a:cs typeface="+mn-ea"/>
                <a:sym typeface="+mn-lt"/>
              </a:rPr>
              <a:t>    if (</a:t>
            </a:r>
            <a:r>
              <a:rPr lang="en-US" altLang="zh-CN" sz="2400" dirty="0" err="1">
                <a:ea typeface="+mn-ea"/>
                <a:cs typeface="+mn-ea"/>
                <a:sym typeface="+mn-lt"/>
              </a:rPr>
              <a:t>Q.front</a:t>
            </a:r>
            <a:r>
              <a:rPr lang="en-US" altLang="zh-CN" sz="2400" dirty="0">
                <a:ea typeface="+mn-ea"/>
                <a:cs typeface="+mn-ea"/>
                <a:sym typeface="+mn-lt"/>
              </a:rPr>
              <a:t> == NULL) </a:t>
            </a:r>
            <a:r>
              <a:rPr lang="en-US" altLang="zh-CN" sz="2400" dirty="0" err="1">
                <a:ea typeface="+mn-ea"/>
                <a:cs typeface="+mn-ea"/>
                <a:sym typeface="+mn-lt"/>
              </a:rPr>
              <a:t>Q.rear</a:t>
            </a:r>
            <a:r>
              <a:rPr lang="en-US" altLang="zh-CN" sz="2400" dirty="0">
                <a:ea typeface="+mn-ea"/>
                <a:cs typeface="+mn-ea"/>
                <a:sym typeface="+mn-lt"/>
              </a:rPr>
              <a:t> = NULL;</a:t>
            </a:r>
          </a:p>
          <a:p>
            <a:pPr marL="0" lvl="0" indent="538480">
              <a:buNone/>
              <a:defRPr/>
            </a:pPr>
            <a:r>
              <a:rPr lang="en-US" altLang="zh-CN" sz="2400" dirty="0">
                <a:ea typeface="+mn-ea"/>
                <a:cs typeface="+mn-ea"/>
                <a:sym typeface="+mn-lt"/>
              </a:rPr>
              <a:t>    </a:t>
            </a:r>
            <a:r>
              <a:rPr lang="en-US" altLang="zh-CN" sz="2400" dirty="0">
                <a:solidFill>
                  <a:srgbClr val="0000FF"/>
                </a:solidFill>
                <a:ea typeface="+mn-ea"/>
                <a:cs typeface="+mn-ea"/>
                <a:sym typeface="+mn-lt"/>
              </a:rPr>
              <a:t>delete p;</a:t>
            </a:r>
          </a:p>
          <a:p>
            <a:pPr marL="0" marR="0" lvl="0" indent="53848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ea"/>
                <a:sym typeface="+mn-lt"/>
              </a:rPr>
              <a:t>    return OK;</a:t>
            </a:r>
          </a:p>
          <a:p>
            <a:pPr marL="0" marR="0" lvl="0" indent="53848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ea"/>
                <a:sym typeface="+mn-lt"/>
              </a:rPr>
              <a:t>}</a:t>
            </a:r>
          </a:p>
        </p:txBody>
      </p:sp>
      <p:sp>
        <p:nvSpPr>
          <p:cNvPr id="697349" name="Comment 5"/>
          <p:cNvSpPr>
            <a:spLocks noChangeArrowheads="1"/>
          </p:cNvSpPr>
          <p:nvPr/>
        </p:nvSpPr>
        <p:spPr bwMode="auto">
          <a:xfrm>
            <a:off x="900113" y="236538"/>
            <a:ext cx="48355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链式队列出队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73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73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973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973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973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973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973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973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973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973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973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973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973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973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973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973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7346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558AF8-6968-42E3-80AB-1F7E35AA7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双端队列（</a:t>
            </a:r>
            <a:r>
              <a:rPr lang="en-US" altLang="zh-CN" dirty="0"/>
              <a:t>Deque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DF37E0-30FC-4074-82A0-1869F9343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980728"/>
            <a:ext cx="8640960" cy="5641314"/>
          </a:xfrm>
        </p:spPr>
        <p:txBody>
          <a:bodyPr/>
          <a:lstStyle/>
          <a:p>
            <a:r>
              <a:rPr lang="zh-CN" altLang="en-US" dirty="0">
                <a:solidFill>
                  <a:srgbClr val="0000FF"/>
                </a:solidFill>
              </a:rPr>
              <a:t>可以在两端进行插入和删除的队列</a:t>
            </a:r>
            <a:r>
              <a:rPr lang="zh-CN" altLang="en-US" dirty="0"/>
              <a:t>。英文全称是</a:t>
            </a:r>
            <a:r>
              <a:rPr lang="en-US" altLang="zh-CN" dirty="0"/>
              <a:t>Double-ended queue</a:t>
            </a:r>
            <a:r>
              <a:rPr lang="zh-CN" altLang="en-US" dirty="0"/>
              <a:t>。</a:t>
            </a:r>
          </a:p>
        </p:txBody>
      </p:sp>
      <p:grpSp>
        <p:nvGrpSpPr>
          <p:cNvPr id="4" name="组合 31">
            <a:extLst>
              <a:ext uri="{FF2B5EF4-FFF2-40B4-BE49-F238E27FC236}">
                <a16:creationId xmlns:a16="http://schemas.microsoft.com/office/drawing/2014/main" id="{3ECCB8C9-6234-4198-8FDF-DD1E95C3EFB9}"/>
              </a:ext>
            </a:extLst>
          </p:cNvPr>
          <p:cNvGrpSpPr/>
          <p:nvPr/>
        </p:nvGrpSpPr>
        <p:grpSpPr>
          <a:xfrm>
            <a:off x="683569" y="2996952"/>
            <a:ext cx="7848872" cy="2944498"/>
            <a:chOff x="1042136" y="3643314"/>
            <a:chExt cx="6151478" cy="2000893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9359079B-15E1-445A-82CF-E904328D0CAA}"/>
                </a:ext>
              </a:extLst>
            </p:cNvPr>
            <p:cNvSpPr/>
            <p:nvPr/>
          </p:nvSpPr>
          <p:spPr bwMode="auto">
            <a:xfrm>
              <a:off x="2571736" y="4071942"/>
              <a:ext cx="2928958" cy="642942"/>
            </a:xfrm>
            <a:prstGeom prst="rect">
              <a:avLst/>
            </a:prstGeom>
            <a:gradFill>
              <a:gsLst>
                <a:gs pos="0">
                  <a:srgbClr val="F39801"/>
                </a:gs>
                <a:gs pos="100000">
                  <a:schemeClr val="accent6">
                    <a:lumMod val="20000"/>
                    <a:lumOff val="80000"/>
                  </a:schemeClr>
                </a:gs>
              </a:gsLst>
              <a:lin ang="16200000" scaled="1"/>
            </a:gradFill>
            <a:ln w="38100">
              <a:noFill/>
              <a:miter lim="800000"/>
              <a:headEnd/>
              <a:tailEnd type="triangle" w="med" len="med"/>
            </a:ln>
            <a:effectLst/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/>
          </p:spPr>
          <p:txBody>
            <a:bodyPr wrap="none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endParaRPr>
            </a:p>
          </p:txBody>
        </p:sp>
        <p:sp>
          <p:nvSpPr>
            <p:cNvPr id="6" name="TextBox 12">
              <a:extLst>
                <a:ext uri="{FF2B5EF4-FFF2-40B4-BE49-F238E27FC236}">
                  <a16:creationId xmlns:a16="http://schemas.microsoft.com/office/drawing/2014/main" id="{1CB43B89-2D16-4E86-A212-8DD2E70F58E3}"/>
                </a:ext>
              </a:extLst>
            </p:cNvPr>
            <p:cNvSpPr txBox="1"/>
            <p:nvPr/>
          </p:nvSpPr>
          <p:spPr>
            <a:xfrm>
              <a:off x="3500430" y="3643314"/>
              <a:ext cx="1071570" cy="3198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itchFamily="49" charset="0"/>
                </a:rPr>
                <a:t>线性表</a:t>
              </a: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endParaRPr>
            </a:p>
          </p:txBody>
        </p:sp>
        <p:sp>
          <p:nvSpPr>
            <p:cNvPr id="7" name="TextBox 13">
              <a:extLst>
                <a:ext uri="{FF2B5EF4-FFF2-40B4-BE49-F238E27FC236}">
                  <a16:creationId xmlns:a16="http://schemas.microsoft.com/office/drawing/2014/main" id="{CC2D3167-5A4E-46A9-9291-32E2DBF8BD2C}"/>
                </a:ext>
              </a:extLst>
            </p:cNvPr>
            <p:cNvSpPr txBox="1"/>
            <p:nvPr/>
          </p:nvSpPr>
          <p:spPr>
            <a:xfrm>
              <a:off x="2328847" y="5072074"/>
              <a:ext cx="714380" cy="5721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前端</a:t>
              </a:r>
            </a:p>
          </p:txBody>
        </p: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4653E675-E505-4E00-9D1E-D6210EDA45F2}"/>
                </a:ext>
              </a:extLst>
            </p:cNvPr>
            <p:cNvCxnSpPr/>
            <p:nvPr/>
          </p:nvCxnSpPr>
          <p:spPr>
            <a:xfrm rot="5400000" flipH="1" flipV="1">
              <a:off x="2507442" y="4893479"/>
              <a:ext cx="35719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TextBox 16">
              <a:extLst>
                <a:ext uri="{FF2B5EF4-FFF2-40B4-BE49-F238E27FC236}">
                  <a16:creationId xmlns:a16="http://schemas.microsoft.com/office/drawing/2014/main" id="{880A0D21-32AA-454D-A8C7-B9698993EDD8}"/>
                </a:ext>
              </a:extLst>
            </p:cNvPr>
            <p:cNvSpPr txBox="1"/>
            <p:nvPr/>
          </p:nvSpPr>
          <p:spPr>
            <a:xfrm>
              <a:off x="5072066" y="5071280"/>
              <a:ext cx="714380" cy="5721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后端</a:t>
              </a:r>
            </a:p>
          </p:txBody>
        </p: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27D2A345-4CD9-40FB-8627-4C794B031EF5}"/>
                </a:ext>
              </a:extLst>
            </p:cNvPr>
            <p:cNvCxnSpPr/>
            <p:nvPr/>
          </p:nvCxnSpPr>
          <p:spPr>
            <a:xfrm rot="5400000" flipH="1" flipV="1">
              <a:off x="5250661" y="4892685"/>
              <a:ext cx="35719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3DE06A3F-7346-4177-ACF4-B70FDD6B225F}"/>
                </a:ext>
              </a:extLst>
            </p:cNvPr>
            <p:cNvCxnSpPr/>
            <p:nvPr/>
          </p:nvCxnSpPr>
          <p:spPr>
            <a:xfrm rot="10800000" flipV="1">
              <a:off x="5496760" y="4214818"/>
              <a:ext cx="504000" cy="0"/>
            </a:xfrm>
            <a:prstGeom prst="straightConnector1">
              <a:avLst/>
            </a:prstGeom>
            <a:ln w="28575">
              <a:solidFill>
                <a:srgbClr val="CE3B37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24">
              <a:extLst>
                <a:ext uri="{FF2B5EF4-FFF2-40B4-BE49-F238E27FC236}">
                  <a16:creationId xmlns:a16="http://schemas.microsoft.com/office/drawing/2014/main" id="{35CE83CA-A4A6-456C-BB92-3593A777144B}"/>
                </a:ext>
              </a:extLst>
            </p:cNvPr>
            <p:cNvSpPr txBox="1"/>
            <p:nvPr/>
          </p:nvSpPr>
          <p:spPr>
            <a:xfrm>
              <a:off x="5967422" y="4007412"/>
              <a:ext cx="1226192" cy="3198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后端进</a:t>
              </a:r>
            </a:p>
          </p:txBody>
        </p: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54A7E751-0EBD-480B-A3D4-D0473BFBB7EB}"/>
                </a:ext>
              </a:extLst>
            </p:cNvPr>
            <p:cNvCxnSpPr/>
            <p:nvPr/>
          </p:nvCxnSpPr>
          <p:spPr>
            <a:xfrm rot="10800000" flipV="1">
              <a:off x="5500695" y="4552958"/>
              <a:ext cx="504000" cy="0"/>
            </a:xfrm>
            <a:prstGeom prst="straightConnector1">
              <a:avLst/>
            </a:prstGeom>
            <a:ln w="28575">
              <a:solidFill>
                <a:srgbClr val="CE3B37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26">
              <a:extLst>
                <a:ext uri="{FF2B5EF4-FFF2-40B4-BE49-F238E27FC236}">
                  <a16:creationId xmlns:a16="http://schemas.microsoft.com/office/drawing/2014/main" id="{C5D6A91A-9C16-4820-B162-7D0C217F4500}"/>
                </a:ext>
              </a:extLst>
            </p:cNvPr>
            <p:cNvSpPr txBox="1"/>
            <p:nvPr/>
          </p:nvSpPr>
          <p:spPr>
            <a:xfrm>
              <a:off x="5971358" y="4393413"/>
              <a:ext cx="1222256" cy="3198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后端出</a:t>
              </a:r>
            </a:p>
          </p:txBody>
        </p: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46666A38-0943-4C1B-AD18-3E90EA77487B}"/>
                </a:ext>
              </a:extLst>
            </p:cNvPr>
            <p:cNvCxnSpPr/>
            <p:nvPr/>
          </p:nvCxnSpPr>
          <p:spPr>
            <a:xfrm rot="10800000" flipV="1">
              <a:off x="2067736" y="4257681"/>
              <a:ext cx="504000" cy="0"/>
            </a:xfrm>
            <a:prstGeom prst="straightConnector1">
              <a:avLst/>
            </a:prstGeom>
            <a:ln w="28575">
              <a:solidFill>
                <a:srgbClr val="CE3B37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28">
              <a:extLst>
                <a:ext uri="{FF2B5EF4-FFF2-40B4-BE49-F238E27FC236}">
                  <a16:creationId xmlns:a16="http://schemas.microsoft.com/office/drawing/2014/main" id="{B4BAE5E7-5B04-4B60-99A3-9D3C8471E395}"/>
                </a:ext>
              </a:extLst>
            </p:cNvPr>
            <p:cNvSpPr txBox="1"/>
            <p:nvPr/>
          </p:nvSpPr>
          <p:spPr>
            <a:xfrm>
              <a:off x="1042136" y="4050275"/>
              <a:ext cx="1071570" cy="3198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前端出</a:t>
              </a:r>
            </a:p>
          </p:txBody>
        </p: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90BE0DF3-3186-4A9D-BEAD-6775EDCEADE9}"/>
                </a:ext>
              </a:extLst>
            </p:cNvPr>
            <p:cNvCxnSpPr/>
            <p:nvPr/>
          </p:nvCxnSpPr>
          <p:spPr>
            <a:xfrm rot="10800000" flipV="1">
              <a:off x="2067736" y="4643446"/>
              <a:ext cx="504000" cy="0"/>
            </a:xfrm>
            <a:prstGeom prst="straightConnector1">
              <a:avLst/>
            </a:prstGeom>
            <a:ln w="28575">
              <a:solidFill>
                <a:srgbClr val="CE3B37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30">
              <a:extLst>
                <a:ext uri="{FF2B5EF4-FFF2-40B4-BE49-F238E27FC236}">
                  <a16:creationId xmlns:a16="http://schemas.microsoft.com/office/drawing/2014/main" id="{B7753C59-623D-41C9-8677-8CD37EA79FBA}"/>
                </a:ext>
              </a:extLst>
            </p:cNvPr>
            <p:cNvSpPr txBox="1"/>
            <p:nvPr/>
          </p:nvSpPr>
          <p:spPr>
            <a:xfrm>
              <a:off x="1045776" y="4429913"/>
              <a:ext cx="1136106" cy="3198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前端进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4893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491EB2-C384-4F7B-AC1E-81CD31FEE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双端队列的主要存取操作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77469C-B4DB-46C7-9B0B-585A2D0CD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/>
            <a:r>
              <a:rPr lang="en-US" altLang="zh-CN" dirty="0">
                <a:solidFill>
                  <a:srgbClr val="FF0000"/>
                </a:solidFill>
              </a:rPr>
              <a:t>bool </a:t>
            </a:r>
            <a:r>
              <a:rPr lang="en-US" altLang="zh-CN" dirty="0" err="1">
                <a:solidFill>
                  <a:srgbClr val="FF0000"/>
                </a:solidFill>
              </a:rPr>
              <a:t>GetHead</a:t>
            </a:r>
            <a:r>
              <a:rPr lang="en-US" altLang="zh-CN" dirty="0">
                <a:solidFill>
                  <a:srgbClr val="FF0000"/>
                </a:solidFill>
              </a:rPr>
              <a:t>(E&amp; x)      </a:t>
            </a:r>
            <a:r>
              <a:rPr lang="en-US" altLang="zh-CN" dirty="0"/>
              <a:t>	        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en-US" dirty="0">
                <a:solidFill>
                  <a:srgbClr val="00B050"/>
                </a:solidFill>
              </a:rPr>
              <a:t>读队头元素 </a:t>
            </a:r>
          </a:p>
          <a:p>
            <a:pPr marL="0"/>
            <a:r>
              <a:rPr lang="en-US" altLang="zh-CN" dirty="0">
                <a:solidFill>
                  <a:srgbClr val="FF0000"/>
                </a:solidFill>
              </a:rPr>
              <a:t>bool </a:t>
            </a:r>
            <a:r>
              <a:rPr lang="en-US" altLang="zh-CN" dirty="0" err="1">
                <a:solidFill>
                  <a:srgbClr val="FF0000"/>
                </a:solidFill>
              </a:rPr>
              <a:t>EnQueueHead</a:t>
            </a:r>
            <a:r>
              <a:rPr lang="en-US" altLang="zh-CN" dirty="0">
                <a:solidFill>
                  <a:srgbClr val="FF0000"/>
                </a:solidFill>
              </a:rPr>
              <a:t>(E x)  </a:t>
            </a:r>
            <a:r>
              <a:rPr lang="en-US" altLang="zh-CN" dirty="0"/>
              <a:t>	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en-US" dirty="0">
                <a:solidFill>
                  <a:srgbClr val="00B050"/>
                </a:solidFill>
              </a:rPr>
              <a:t>在队头插入</a:t>
            </a:r>
          </a:p>
          <a:p>
            <a:pPr marL="0"/>
            <a:r>
              <a:rPr lang="en-US" altLang="zh-CN" dirty="0">
                <a:solidFill>
                  <a:srgbClr val="FF0000"/>
                </a:solidFill>
              </a:rPr>
              <a:t>bool </a:t>
            </a:r>
            <a:r>
              <a:rPr lang="en-US" altLang="zh-CN" dirty="0" err="1">
                <a:solidFill>
                  <a:srgbClr val="FF0000"/>
                </a:solidFill>
              </a:rPr>
              <a:t>DeQueueHead</a:t>
            </a:r>
            <a:r>
              <a:rPr lang="en-US" altLang="zh-CN" dirty="0">
                <a:solidFill>
                  <a:srgbClr val="FF0000"/>
                </a:solidFill>
              </a:rPr>
              <a:t>(E&amp; x)     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en-US" dirty="0">
                <a:solidFill>
                  <a:srgbClr val="00B050"/>
                </a:solidFill>
              </a:rPr>
              <a:t>删除队头元素 </a:t>
            </a:r>
          </a:p>
          <a:p>
            <a:pPr marL="0"/>
            <a:r>
              <a:rPr lang="en-US" altLang="zh-CN" dirty="0">
                <a:solidFill>
                  <a:srgbClr val="FF0000"/>
                </a:solidFill>
              </a:rPr>
              <a:t>bool </a:t>
            </a:r>
            <a:r>
              <a:rPr lang="en-US" altLang="zh-CN" dirty="0" err="1">
                <a:solidFill>
                  <a:srgbClr val="FF0000"/>
                </a:solidFill>
              </a:rPr>
              <a:t>GetTail</a:t>
            </a:r>
            <a:r>
              <a:rPr lang="en-US" altLang="zh-CN" dirty="0">
                <a:solidFill>
                  <a:srgbClr val="FF0000"/>
                </a:solidFill>
              </a:rPr>
              <a:t>(E&amp; x)           </a:t>
            </a:r>
            <a:r>
              <a:rPr lang="en-US" altLang="zh-CN" dirty="0"/>
              <a:t>	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en-US" dirty="0">
                <a:solidFill>
                  <a:srgbClr val="00B050"/>
                </a:solidFill>
              </a:rPr>
              <a:t>读队尾元素 </a:t>
            </a:r>
          </a:p>
          <a:p>
            <a:pPr marL="0"/>
            <a:r>
              <a:rPr lang="en-US" altLang="zh-CN" dirty="0">
                <a:solidFill>
                  <a:srgbClr val="FF0000"/>
                </a:solidFill>
              </a:rPr>
              <a:t>bool </a:t>
            </a:r>
            <a:r>
              <a:rPr lang="en-US" altLang="zh-CN" dirty="0" err="1">
                <a:solidFill>
                  <a:srgbClr val="FF0000"/>
                </a:solidFill>
              </a:rPr>
              <a:t>EnQueueTail</a:t>
            </a:r>
            <a:r>
              <a:rPr lang="en-US" altLang="zh-CN" dirty="0">
                <a:solidFill>
                  <a:srgbClr val="FF0000"/>
                </a:solidFill>
              </a:rPr>
              <a:t>(E x)  </a:t>
            </a:r>
            <a:r>
              <a:rPr lang="en-US" altLang="zh-CN" dirty="0"/>
              <a:t>	        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en-US" dirty="0">
                <a:solidFill>
                  <a:srgbClr val="00B050"/>
                </a:solidFill>
              </a:rPr>
              <a:t>在队尾插入</a:t>
            </a:r>
          </a:p>
          <a:p>
            <a:pPr marL="0"/>
            <a:r>
              <a:rPr lang="en-US" altLang="zh-CN" dirty="0">
                <a:solidFill>
                  <a:srgbClr val="FF0000"/>
                </a:solidFill>
              </a:rPr>
              <a:t>bool </a:t>
            </a:r>
            <a:r>
              <a:rPr lang="en-US" altLang="zh-CN" dirty="0" err="1">
                <a:solidFill>
                  <a:srgbClr val="FF0000"/>
                </a:solidFill>
              </a:rPr>
              <a:t>DeQueueTail</a:t>
            </a:r>
            <a:r>
              <a:rPr lang="en-US" altLang="zh-CN" dirty="0">
                <a:solidFill>
                  <a:srgbClr val="FF0000"/>
                </a:solidFill>
              </a:rPr>
              <a:t>(E&amp; x) </a:t>
            </a:r>
            <a:r>
              <a:rPr lang="en-US" altLang="zh-CN" dirty="0"/>
              <a:t>	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en-US" dirty="0">
                <a:solidFill>
                  <a:srgbClr val="00B050"/>
                </a:solidFill>
              </a:rPr>
              <a:t>删除队尾元素</a:t>
            </a:r>
          </a:p>
        </p:txBody>
      </p:sp>
      <p:sp>
        <p:nvSpPr>
          <p:cNvPr id="4" name="爆炸形: 14 pt  3">
            <a:extLst>
              <a:ext uri="{FF2B5EF4-FFF2-40B4-BE49-F238E27FC236}">
                <a16:creationId xmlns:a16="http://schemas.microsoft.com/office/drawing/2014/main" id="{3D8B3D56-2833-4A34-9145-D6C2273D2172}"/>
              </a:ext>
            </a:extLst>
          </p:cNvPr>
          <p:cNvSpPr/>
          <p:nvPr/>
        </p:nvSpPr>
        <p:spPr bwMode="auto">
          <a:xfrm>
            <a:off x="3131840" y="4941168"/>
            <a:ext cx="3096344" cy="1651968"/>
          </a:xfrm>
          <a:prstGeom prst="irregularSeal2">
            <a:avLst/>
          </a:prstGeom>
          <a:solidFill>
            <a:srgbClr val="FFFF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作业！</a:t>
            </a:r>
          </a:p>
        </p:txBody>
      </p:sp>
    </p:spTree>
    <p:extLst>
      <p:ext uri="{BB962C8B-B14F-4D97-AF65-F5344CB8AC3E}">
        <p14:creationId xmlns:p14="http://schemas.microsoft.com/office/powerpoint/2010/main" val="38244912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3A31AC-C65E-40C4-B058-48A6AC6A2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课堂讨论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EC5F89-FF13-4AFD-B0A8-D68F3FB8A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最不适合用作链式队列的链表是</a:t>
            </a:r>
            <a:r>
              <a:rPr lang="zh-CN" altLang="en-US"/>
              <a:t>（   ）。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A</a:t>
            </a:r>
            <a:r>
              <a:rPr lang="zh-CN" altLang="en-US" dirty="0"/>
              <a:t>．只带队头指针的非循环双链表</a:t>
            </a:r>
          </a:p>
          <a:p>
            <a:pPr marL="0" indent="0">
              <a:buNone/>
            </a:pPr>
            <a:r>
              <a:rPr lang="en-US" altLang="zh-CN" dirty="0"/>
              <a:t>B</a:t>
            </a:r>
            <a:r>
              <a:rPr lang="zh-CN" altLang="en-US" dirty="0"/>
              <a:t>．只带队头指针的循环双链表</a:t>
            </a:r>
          </a:p>
          <a:p>
            <a:pPr marL="0" indent="0">
              <a:buNone/>
            </a:pPr>
            <a:r>
              <a:rPr lang="en-US" altLang="zh-CN" dirty="0"/>
              <a:t>C</a:t>
            </a:r>
            <a:r>
              <a:rPr lang="zh-CN" altLang="en-US" dirty="0"/>
              <a:t>．只带队尾指针的循环双链表</a:t>
            </a:r>
          </a:p>
          <a:p>
            <a:pPr marL="0" indent="0">
              <a:buNone/>
            </a:pPr>
            <a:r>
              <a:rPr lang="en-US" altLang="zh-CN" dirty="0"/>
              <a:t>D</a:t>
            </a:r>
            <a:r>
              <a:rPr lang="zh-CN" altLang="en-US" dirty="0"/>
              <a:t>．只带队尾指针的循环单链表</a:t>
            </a:r>
          </a:p>
        </p:txBody>
      </p:sp>
    </p:spTree>
    <p:extLst>
      <p:ext uri="{BB962C8B-B14F-4D97-AF65-F5344CB8AC3E}">
        <p14:creationId xmlns:p14="http://schemas.microsoft.com/office/powerpoint/2010/main" val="19137098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4FF6BC-CF7C-4F6B-9A78-5CF855D18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55576"/>
          </a:xfrm>
        </p:spPr>
        <p:txBody>
          <a:bodyPr/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目录（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Contents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1C5CE0-1323-4255-9417-D46EBFCC9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700808"/>
            <a:ext cx="8064896" cy="489654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栈</a:t>
            </a:r>
            <a:endParaRPr lang="en-US" altLang="zh-CN" sz="2800" dirty="0">
              <a:solidFill>
                <a:schemeClr val="tx1">
                  <a:lumMod val="20000"/>
                  <a:lumOff val="8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栈的应用举例</a:t>
            </a:r>
            <a:endParaRPr lang="en-US" altLang="zh-CN" sz="2800" dirty="0">
              <a:solidFill>
                <a:schemeClr val="tx1">
                  <a:lumMod val="20000"/>
                  <a:lumOff val="8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队列</a:t>
            </a:r>
            <a:endParaRPr lang="en-US" altLang="zh-CN" sz="2800" dirty="0">
              <a:solidFill>
                <a:schemeClr val="tx1">
                  <a:lumMod val="20000"/>
                  <a:lumOff val="8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队列的抽象数据类型定义</a:t>
            </a:r>
            <a:endParaRPr lang="en-US" altLang="zh-CN" sz="2400" dirty="0">
              <a:solidFill>
                <a:schemeClr val="tx1">
                  <a:lumMod val="20000"/>
                  <a:lumOff val="8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队列的顺序存储表示</a:t>
            </a:r>
            <a:endParaRPr lang="en-US" altLang="zh-CN" sz="2400" dirty="0">
              <a:solidFill>
                <a:schemeClr val="tx1">
                  <a:lumMod val="20000"/>
                  <a:lumOff val="8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队列的链式存储表示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队列的应用举例</a:t>
            </a:r>
          </a:p>
        </p:txBody>
      </p:sp>
    </p:spTree>
    <p:extLst>
      <p:ext uri="{BB962C8B-B14F-4D97-AF65-F5344CB8AC3E}">
        <p14:creationId xmlns:p14="http://schemas.microsoft.com/office/powerpoint/2010/main" val="3233433411"/>
      </p:ext>
    </p:extLst>
  </p:cSld>
  <p:clrMapOvr>
    <a:masterClrMapping/>
  </p:clrMapOvr>
  <p:transition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839788" y="128588"/>
            <a:ext cx="61563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打印杨辉三角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17E33AF-C217-444C-89FC-B95184CC3092}"/>
              </a:ext>
            </a:extLst>
          </p:cNvPr>
          <p:cNvSpPr txBox="1"/>
          <p:nvPr/>
        </p:nvSpPr>
        <p:spPr>
          <a:xfrm>
            <a:off x="539552" y="814388"/>
            <a:ext cx="8064896" cy="1308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800" b="0" dirty="0">
                <a:solidFill>
                  <a:schemeClr val="tx1"/>
                </a:solidFill>
                <a:latin typeface="+mn-ea"/>
                <a:ea typeface="+mn-ea"/>
              </a:rPr>
              <a:t>逐行打印二项展开式</a:t>
            </a:r>
            <a:r>
              <a:rPr kumimoji="1" lang="zh-CN" altLang="en-US" sz="2800" b="0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kumimoji="1" lang="en-US" altLang="zh-CN" sz="2800" b="0" dirty="0">
                <a:solidFill>
                  <a:srgbClr val="CC3300"/>
                </a:solidFill>
                <a:latin typeface="+mn-ea"/>
                <a:ea typeface="+mn-ea"/>
              </a:rPr>
              <a:t>(</a:t>
            </a:r>
            <a:r>
              <a:rPr kumimoji="1" lang="en-US" altLang="zh-CN" sz="2800" b="0" dirty="0" err="1">
                <a:solidFill>
                  <a:srgbClr val="CC3300"/>
                </a:solidFill>
                <a:latin typeface="+mn-ea"/>
                <a:ea typeface="+mn-ea"/>
              </a:rPr>
              <a:t>a+b</a:t>
            </a:r>
            <a:r>
              <a:rPr kumimoji="1" lang="en-US" altLang="zh-CN" sz="2800" b="0" dirty="0">
                <a:solidFill>
                  <a:srgbClr val="CC3300"/>
                </a:solidFill>
                <a:latin typeface="+mn-ea"/>
                <a:ea typeface="+mn-ea"/>
              </a:rPr>
              <a:t>)</a:t>
            </a:r>
            <a:r>
              <a:rPr kumimoji="1" lang="en-US" altLang="zh-CN" sz="2800" b="0" baseline="30000" dirty="0" err="1">
                <a:solidFill>
                  <a:srgbClr val="CC3300"/>
                </a:solidFill>
                <a:latin typeface="+mn-ea"/>
                <a:ea typeface="+mn-ea"/>
              </a:rPr>
              <a:t>i</a:t>
            </a:r>
            <a:r>
              <a:rPr kumimoji="1" lang="en-US" altLang="zh-CN" sz="2800" b="0" dirty="0">
                <a:solidFill>
                  <a:srgbClr val="CC3300"/>
                </a:solidFill>
                <a:latin typeface="+mn-ea"/>
                <a:ea typeface="+mn-ea"/>
              </a:rPr>
              <a:t> </a:t>
            </a:r>
            <a:r>
              <a:rPr kumimoji="1" lang="zh-CN" altLang="en-US" sz="2800" b="0" dirty="0">
                <a:solidFill>
                  <a:schemeClr val="tx1"/>
                </a:solidFill>
                <a:latin typeface="+mn-ea"/>
                <a:ea typeface="+mn-ea"/>
              </a:rPr>
              <a:t>的系数</a:t>
            </a:r>
            <a:r>
              <a:rPr kumimoji="1" lang="zh-CN" altLang="en-US" sz="2800" b="0" dirty="0">
                <a:latin typeface="+mn-ea"/>
                <a:ea typeface="+mn-ea"/>
              </a:rPr>
              <a:t>：</a:t>
            </a:r>
            <a:r>
              <a:rPr kumimoji="1" lang="zh-CN" altLang="en-US" sz="2800" b="0" dirty="0">
                <a:solidFill>
                  <a:srgbClr val="0000FF"/>
                </a:solidFill>
                <a:latin typeface="+mn-ea"/>
                <a:ea typeface="+mn-ea"/>
              </a:rPr>
              <a:t>杨辉三角形  </a:t>
            </a:r>
            <a:r>
              <a:rPr kumimoji="1" lang="en-US" altLang="zh-CN" sz="2800" b="0" dirty="0">
                <a:solidFill>
                  <a:srgbClr val="0000FF"/>
                </a:solidFill>
                <a:latin typeface="+mn-ea"/>
                <a:ea typeface="+mn-ea"/>
              </a:rPr>
              <a:t>(Pascal's triangle)</a:t>
            </a:r>
            <a:endParaRPr lang="zh-CN" altLang="en-US" sz="2800" b="0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graphicFrame>
        <p:nvGraphicFramePr>
          <p:cNvPr id="10" name="Object 2">
            <a:extLst>
              <a:ext uri="{FF2B5EF4-FFF2-40B4-BE49-F238E27FC236}">
                <a16:creationId xmlns:a16="http://schemas.microsoft.com/office/drawing/2014/main" id="{77238781-CE2D-4E3A-8AD9-C118E6F5B1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5183458"/>
              </p:ext>
            </p:extLst>
          </p:nvPr>
        </p:nvGraphicFramePr>
        <p:xfrm>
          <a:off x="-9525" y="2419350"/>
          <a:ext cx="8470900" cy="480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14" name="Document" r:id="rId3" imgW="2664370" imgH="1506780" progId="Word.Document.8">
                  <p:embed/>
                </p:oleObj>
              </mc:Choice>
              <mc:Fallback>
                <p:oleObj name="Document" r:id="rId3" imgW="2664370" imgH="1506780" progId="Word.Document.8">
                  <p:embed/>
                  <p:pic>
                    <p:nvPicPr>
                      <p:cNvPr id="297986" name="Object 2">
                        <a:extLst>
                          <a:ext uri="{FF2B5EF4-FFF2-40B4-BE49-F238E27FC236}">
                            <a16:creationId xmlns:a16="http://schemas.microsoft.com/office/drawing/2014/main" id="{E2FECC20-1C60-4A7D-8E3C-D4387BCCF8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9525" y="2419350"/>
                        <a:ext cx="8470900" cy="4808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ECA4F0-B624-4564-9CB3-CDD5BE932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打印杨辉三角</a:t>
            </a:r>
          </a:p>
        </p:txBody>
      </p:sp>
      <p:sp>
        <p:nvSpPr>
          <p:cNvPr id="44" name="Text Box 2">
            <a:extLst>
              <a:ext uri="{FF2B5EF4-FFF2-40B4-BE49-F238E27FC236}">
                <a16:creationId xmlns:a16="http://schemas.microsoft.com/office/drawing/2014/main" id="{47F2C26D-00DE-44AB-A6AA-3BF220F157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035" y="1005111"/>
            <a:ext cx="619753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2800" b="0" dirty="0">
                <a:solidFill>
                  <a:srgbClr val="CC0000"/>
                </a:solidFill>
                <a:latin typeface="+mn-ea"/>
                <a:ea typeface="+mn-ea"/>
              </a:rPr>
              <a:t>分析第 </a:t>
            </a:r>
            <a:r>
              <a:rPr kumimoji="1" lang="en-US" altLang="zh-CN" sz="2800" b="0" dirty="0" err="1">
                <a:solidFill>
                  <a:srgbClr val="CC0000"/>
                </a:solidFill>
                <a:latin typeface="+mn-ea"/>
                <a:ea typeface="+mn-ea"/>
              </a:rPr>
              <a:t>i</a:t>
            </a:r>
            <a:r>
              <a:rPr kumimoji="1" lang="en-US" altLang="zh-CN" sz="2800" b="0" dirty="0">
                <a:solidFill>
                  <a:srgbClr val="CC0000"/>
                </a:solidFill>
                <a:latin typeface="+mn-ea"/>
                <a:ea typeface="+mn-ea"/>
              </a:rPr>
              <a:t> </a:t>
            </a:r>
            <a:r>
              <a:rPr kumimoji="1" lang="zh-CN" altLang="en-US" sz="2800" b="0" dirty="0">
                <a:solidFill>
                  <a:srgbClr val="CC0000"/>
                </a:solidFill>
                <a:latin typeface="+mn-ea"/>
                <a:ea typeface="+mn-ea"/>
              </a:rPr>
              <a:t>行元素与第 </a:t>
            </a:r>
            <a:r>
              <a:rPr kumimoji="1" lang="en-US" altLang="zh-CN" sz="2800" b="0" dirty="0">
                <a:solidFill>
                  <a:srgbClr val="CC0000"/>
                </a:solidFill>
                <a:latin typeface="+mn-ea"/>
                <a:ea typeface="+mn-ea"/>
              </a:rPr>
              <a:t>i+1</a:t>
            </a:r>
            <a:r>
              <a:rPr kumimoji="1" lang="zh-CN" altLang="en-US" sz="2800" b="0" dirty="0">
                <a:solidFill>
                  <a:srgbClr val="CC0000"/>
                </a:solidFill>
                <a:latin typeface="+mn-ea"/>
                <a:ea typeface="+mn-ea"/>
              </a:rPr>
              <a:t>行元素的关系</a:t>
            </a:r>
          </a:p>
        </p:txBody>
      </p:sp>
      <p:sp>
        <p:nvSpPr>
          <p:cNvPr id="45" name="Text Box 3">
            <a:extLst>
              <a:ext uri="{FF2B5EF4-FFF2-40B4-BE49-F238E27FC236}">
                <a16:creationId xmlns:a16="http://schemas.microsoft.com/office/drawing/2014/main" id="{5CC4AB0F-6149-4AA6-A9A7-7208B19AE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5805711"/>
            <a:ext cx="7315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kumimoji="1" lang="zh-CN" altLang="en-US" sz="2800" b="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从前一行的数据可以计算下一行的数据</a:t>
            </a:r>
          </a:p>
        </p:txBody>
      </p:sp>
      <p:sp>
        <p:nvSpPr>
          <p:cNvPr id="46" name="Text Box 4">
            <a:extLst>
              <a:ext uri="{FF2B5EF4-FFF2-40B4-BE49-F238E27FC236}">
                <a16:creationId xmlns:a16="http://schemas.microsoft.com/office/drawing/2014/main" id="{AC69420C-BE1C-4258-997D-1979299C82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840261"/>
            <a:ext cx="8413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2800">
                <a:solidFill>
                  <a:srgbClr val="CC0000"/>
                </a:solidFill>
                <a:ea typeface="宋体" panose="02010600030101010101" pitchFamily="2" charset="-122"/>
              </a:rPr>
              <a:t>i = 2</a:t>
            </a:r>
            <a:endParaRPr kumimoji="1" lang="en-US" altLang="zh-CN" sz="2800" b="0">
              <a:solidFill>
                <a:srgbClr val="000099"/>
              </a:solidFill>
              <a:ea typeface="宋体" panose="02010600030101010101" pitchFamily="2" charset="-122"/>
            </a:endParaRPr>
          </a:p>
        </p:txBody>
      </p:sp>
      <p:sp>
        <p:nvSpPr>
          <p:cNvPr id="47" name="Rectangle 5">
            <a:extLst>
              <a:ext uri="{FF2B5EF4-FFF2-40B4-BE49-F238E27FC236}">
                <a16:creationId xmlns:a16="http://schemas.microsoft.com/office/drawing/2014/main" id="{330B3585-7818-4E3A-A082-C66957FDC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953098"/>
            <a:ext cx="8413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2800">
                <a:solidFill>
                  <a:srgbClr val="CC0000"/>
                </a:solidFill>
                <a:ea typeface="宋体" panose="02010600030101010101" pitchFamily="2" charset="-122"/>
              </a:rPr>
              <a:t>i = 3</a:t>
            </a:r>
          </a:p>
        </p:txBody>
      </p:sp>
      <p:sp>
        <p:nvSpPr>
          <p:cNvPr id="48" name="Rectangle 6">
            <a:extLst>
              <a:ext uri="{FF2B5EF4-FFF2-40B4-BE49-F238E27FC236}">
                <a16:creationId xmlns:a16="http://schemas.microsoft.com/office/drawing/2014/main" id="{C03A4242-2597-4146-8B83-5E846A7FD7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563" y="5050061"/>
            <a:ext cx="8413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2800">
                <a:solidFill>
                  <a:srgbClr val="CC0000"/>
                </a:solidFill>
                <a:ea typeface="宋体" panose="02010600030101010101" pitchFamily="2" charset="-122"/>
              </a:rPr>
              <a:t>i = 4</a:t>
            </a:r>
          </a:p>
        </p:txBody>
      </p:sp>
      <p:sp>
        <p:nvSpPr>
          <p:cNvPr id="49" name="Line 7">
            <a:extLst>
              <a:ext uri="{FF2B5EF4-FFF2-40B4-BE49-F238E27FC236}">
                <a16:creationId xmlns:a16="http://schemas.microsoft.com/office/drawing/2014/main" id="{8F15B62D-A361-4B8F-846D-E7F580AF72A0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3372073"/>
            <a:ext cx="0" cy="5334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0" name="Line 8">
            <a:extLst>
              <a:ext uri="{FF2B5EF4-FFF2-40B4-BE49-F238E27FC236}">
                <a16:creationId xmlns:a16="http://schemas.microsoft.com/office/drawing/2014/main" id="{8DF37D07-FBAA-4E3B-B85A-3EA73C5E43A7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4515073"/>
            <a:ext cx="0" cy="5334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" name="Text Box 9">
            <a:extLst>
              <a:ext uri="{FF2B5EF4-FFF2-40B4-BE49-F238E27FC236}">
                <a16:creationId xmlns:a16="http://schemas.microsoft.com/office/drawing/2014/main" id="{D3CA7242-F892-4896-AB5C-02C43E98BF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0450" y="3935636"/>
            <a:ext cx="50609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3200">
                <a:solidFill>
                  <a:srgbClr val="000099"/>
                </a:solidFill>
                <a:ea typeface="宋体" panose="02010600030101010101" pitchFamily="2" charset="-122"/>
              </a:rPr>
              <a:t>0       1       3       3       1        0</a:t>
            </a:r>
            <a:endParaRPr kumimoji="1" lang="en-US" altLang="zh-CN" b="0">
              <a:solidFill>
                <a:srgbClr val="000099"/>
              </a:solidFill>
              <a:ea typeface="宋体" panose="02010600030101010101" pitchFamily="2" charset="-122"/>
            </a:endParaRPr>
          </a:p>
        </p:txBody>
      </p:sp>
      <p:sp>
        <p:nvSpPr>
          <p:cNvPr id="52" name="Text Box 10">
            <a:extLst>
              <a:ext uri="{FF2B5EF4-FFF2-40B4-BE49-F238E27FC236}">
                <a16:creationId xmlns:a16="http://schemas.microsoft.com/office/drawing/2014/main" id="{7EF27854-F5E0-4604-BBBA-E962C71E3A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7650" y="4972273"/>
            <a:ext cx="4146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3200">
                <a:solidFill>
                  <a:srgbClr val="000099"/>
                </a:solidFill>
                <a:ea typeface="宋体" panose="02010600030101010101" pitchFamily="2" charset="-122"/>
              </a:rPr>
              <a:t>1       4       6       4        1</a:t>
            </a:r>
            <a:endParaRPr kumimoji="1" lang="en-US" altLang="zh-CN" b="0">
              <a:solidFill>
                <a:srgbClr val="000099"/>
              </a:solidFill>
              <a:ea typeface="宋体" panose="02010600030101010101" pitchFamily="2" charset="-122"/>
            </a:endParaRPr>
          </a:p>
        </p:txBody>
      </p:sp>
      <p:sp>
        <p:nvSpPr>
          <p:cNvPr id="53" name="Text Box 11">
            <a:extLst>
              <a:ext uri="{FF2B5EF4-FFF2-40B4-BE49-F238E27FC236}">
                <a16:creationId xmlns:a16="http://schemas.microsoft.com/office/drawing/2014/main" id="{87841C12-EC5D-41F9-9E6B-DD3AE98C07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7650" y="2792636"/>
            <a:ext cx="40449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3200">
                <a:solidFill>
                  <a:srgbClr val="000099"/>
                </a:solidFill>
                <a:ea typeface="宋体" panose="02010600030101010101" pitchFamily="2" charset="-122"/>
              </a:rPr>
              <a:t>0       1       2       1       0</a:t>
            </a:r>
            <a:endParaRPr kumimoji="1" lang="en-US" altLang="zh-CN" b="0">
              <a:solidFill>
                <a:srgbClr val="000099"/>
              </a:solidFill>
              <a:ea typeface="宋体" panose="02010600030101010101" pitchFamily="2" charset="-122"/>
            </a:endParaRPr>
          </a:p>
        </p:txBody>
      </p:sp>
      <p:sp>
        <p:nvSpPr>
          <p:cNvPr id="54" name="Text Box 12">
            <a:extLst>
              <a:ext uri="{FF2B5EF4-FFF2-40B4-BE49-F238E27FC236}">
                <a16:creationId xmlns:a16="http://schemas.microsoft.com/office/drawing/2014/main" id="{C7375559-6D65-46EB-B38C-EAB6E40BB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0250" y="1619473"/>
            <a:ext cx="3130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3200">
                <a:solidFill>
                  <a:srgbClr val="000099"/>
                </a:solidFill>
                <a:ea typeface="宋体" panose="02010600030101010101" pitchFamily="2" charset="-122"/>
              </a:rPr>
              <a:t>0       1       1       0</a:t>
            </a:r>
            <a:endParaRPr kumimoji="1" lang="en-US" altLang="zh-CN" b="0">
              <a:solidFill>
                <a:srgbClr val="000099"/>
              </a:solidFill>
              <a:ea typeface="宋体" panose="02010600030101010101" pitchFamily="2" charset="-122"/>
            </a:endParaRPr>
          </a:p>
        </p:txBody>
      </p:sp>
      <p:sp>
        <p:nvSpPr>
          <p:cNvPr id="55" name="Line 13">
            <a:extLst>
              <a:ext uri="{FF2B5EF4-FFF2-40B4-BE49-F238E27FC236}">
                <a16:creationId xmlns:a16="http://schemas.microsoft.com/office/drawing/2014/main" id="{8951A5D0-7977-49E7-AF97-FE2E3AC7EDE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2457673"/>
            <a:ext cx="1143000" cy="5334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6" name="Text Box 14">
            <a:extLst>
              <a:ext uri="{FF2B5EF4-FFF2-40B4-BE49-F238E27FC236}">
                <a16:creationId xmlns:a16="http://schemas.microsoft.com/office/drawing/2014/main" id="{45922A69-91CC-4E1B-9378-FED761021B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2051273"/>
            <a:ext cx="3429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3200" i="1">
                <a:solidFill>
                  <a:srgbClr val="CC0000"/>
                </a:solidFill>
                <a:ea typeface="宋体" panose="02010600030101010101" pitchFamily="2" charset="-122"/>
              </a:rPr>
              <a:t>s</a:t>
            </a:r>
            <a:endParaRPr kumimoji="1" lang="en-US" altLang="zh-CN" sz="3200" b="0">
              <a:solidFill>
                <a:srgbClr val="000099"/>
              </a:solidFill>
              <a:ea typeface="宋体" panose="02010600030101010101" pitchFamily="2" charset="-122"/>
            </a:endParaRPr>
          </a:p>
        </p:txBody>
      </p:sp>
      <p:sp>
        <p:nvSpPr>
          <p:cNvPr id="57" name="Line 15">
            <a:extLst>
              <a:ext uri="{FF2B5EF4-FFF2-40B4-BE49-F238E27FC236}">
                <a16:creationId xmlns:a16="http://schemas.microsoft.com/office/drawing/2014/main" id="{DCB42FBE-36D0-483F-9DF2-13362B2C6B8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29200" y="2305273"/>
            <a:ext cx="1676400" cy="6858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8" name="Text Box 16">
            <a:extLst>
              <a:ext uri="{FF2B5EF4-FFF2-40B4-BE49-F238E27FC236}">
                <a16:creationId xmlns:a16="http://schemas.microsoft.com/office/drawing/2014/main" id="{9754F7A1-5331-4096-99F3-52A53F8D68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1975073"/>
            <a:ext cx="2968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3200" i="1">
                <a:solidFill>
                  <a:srgbClr val="CC0000"/>
                </a:solidFill>
                <a:ea typeface="宋体" panose="02010600030101010101" pitchFamily="2" charset="-122"/>
              </a:rPr>
              <a:t>t</a:t>
            </a:r>
            <a:endParaRPr kumimoji="1" lang="en-US" altLang="zh-CN" sz="3200" b="0">
              <a:solidFill>
                <a:srgbClr val="000099"/>
              </a:solidFill>
              <a:ea typeface="宋体" panose="02010600030101010101" pitchFamily="2" charset="-122"/>
            </a:endParaRPr>
          </a:p>
        </p:txBody>
      </p:sp>
      <p:sp>
        <p:nvSpPr>
          <p:cNvPr id="59" name="Line 17">
            <a:extLst>
              <a:ext uri="{FF2B5EF4-FFF2-40B4-BE49-F238E27FC236}">
                <a16:creationId xmlns:a16="http://schemas.microsoft.com/office/drawing/2014/main" id="{A0271AA6-ADDC-4069-9170-71460105C5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95800" y="3067273"/>
            <a:ext cx="3124200" cy="9906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0" name="Text Box 18">
            <a:extLst>
              <a:ext uri="{FF2B5EF4-FFF2-40B4-BE49-F238E27FC236}">
                <a16:creationId xmlns:a16="http://schemas.microsoft.com/office/drawing/2014/main" id="{5C129EE7-264D-45B0-8532-D77DD56965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2508473"/>
            <a:ext cx="6873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3200" i="1">
                <a:solidFill>
                  <a:srgbClr val="CC0000"/>
                </a:solidFill>
                <a:ea typeface="宋体" panose="02010600030101010101" pitchFamily="2" charset="-122"/>
              </a:rPr>
              <a:t>s+t</a:t>
            </a:r>
            <a:endParaRPr kumimoji="1" lang="en-US" altLang="zh-CN" sz="3200" b="0">
              <a:solidFill>
                <a:srgbClr val="000099"/>
              </a:solidFill>
              <a:ea typeface="宋体" panose="02010600030101010101" pitchFamily="2" charset="-122"/>
            </a:endParaRPr>
          </a:p>
        </p:txBody>
      </p:sp>
      <p:sp>
        <p:nvSpPr>
          <p:cNvPr id="61" name="Line 19">
            <a:extLst>
              <a:ext uri="{FF2B5EF4-FFF2-40B4-BE49-F238E27FC236}">
                <a16:creationId xmlns:a16="http://schemas.microsoft.com/office/drawing/2014/main" id="{F8E26C25-A2BA-43AE-B628-FD0FA2265B4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2152873"/>
            <a:ext cx="304800" cy="762000"/>
          </a:xfrm>
          <a:prstGeom prst="line">
            <a:avLst/>
          </a:prstGeom>
          <a:noFill/>
          <a:ln w="38100" cap="rnd">
            <a:solidFill>
              <a:srgbClr val="008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2" name="Line 20">
            <a:extLst>
              <a:ext uri="{FF2B5EF4-FFF2-40B4-BE49-F238E27FC236}">
                <a16:creationId xmlns:a16="http://schemas.microsoft.com/office/drawing/2014/main" id="{B0C7379D-EAD4-4BF5-AB61-1979AB16B0C7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3295873"/>
            <a:ext cx="304800" cy="762000"/>
          </a:xfrm>
          <a:prstGeom prst="line">
            <a:avLst/>
          </a:prstGeom>
          <a:noFill/>
          <a:ln w="38100" cap="rnd">
            <a:solidFill>
              <a:srgbClr val="008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" name="Line 21">
            <a:extLst>
              <a:ext uri="{FF2B5EF4-FFF2-40B4-BE49-F238E27FC236}">
                <a16:creationId xmlns:a16="http://schemas.microsoft.com/office/drawing/2014/main" id="{521BB534-357A-409D-A78D-8B1944D3549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4438873"/>
            <a:ext cx="304800" cy="609600"/>
          </a:xfrm>
          <a:prstGeom prst="line">
            <a:avLst/>
          </a:prstGeom>
          <a:noFill/>
          <a:ln w="38100" cap="rnd">
            <a:solidFill>
              <a:srgbClr val="008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4" name="Line 22">
            <a:extLst>
              <a:ext uri="{FF2B5EF4-FFF2-40B4-BE49-F238E27FC236}">
                <a16:creationId xmlns:a16="http://schemas.microsoft.com/office/drawing/2014/main" id="{62143D3E-ED42-47DB-A409-5919617E6A7B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4438873"/>
            <a:ext cx="304800" cy="685800"/>
          </a:xfrm>
          <a:prstGeom prst="line">
            <a:avLst/>
          </a:prstGeom>
          <a:noFill/>
          <a:ln w="38100" cap="rnd">
            <a:solidFill>
              <a:srgbClr val="008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" name="Line 23">
            <a:extLst>
              <a:ext uri="{FF2B5EF4-FFF2-40B4-BE49-F238E27FC236}">
                <a16:creationId xmlns:a16="http://schemas.microsoft.com/office/drawing/2014/main" id="{84A0EEE0-6C36-4101-9933-A14C9741C794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2076673"/>
            <a:ext cx="304800" cy="838200"/>
          </a:xfrm>
          <a:prstGeom prst="line">
            <a:avLst/>
          </a:prstGeom>
          <a:noFill/>
          <a:ln w="38100" cap="rnd">
            <a:solidFill>
              <a:srgbClr val="008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6" name="Line 24">
            <a:extLst>
              <a:ext uri="{FF2B5EF4-FFF2-40B4-BE49-F238E27FC236}">
                <a16:creationId xmlns:a16="http://schemas.microsoft.com/office/drawing/2014/main" id="{346C9382-F4F2-4C03-94CF-54D0AABD2F12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2152873"/>
            <a:ext cx="304800" cy="762000"/>
          </a:xfrm>
          <a:prstGeom prst="line">
            <a:avLst/>
          </a:prstGeom>
          <a:noFill/>
          <a:ln w="38100" cap="rnd">
            <a:solidFill>
              <a:srgbClr val="008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7" name="Line 25">
            <a:extLst>
              <a:ext uri="{FF2B5EF4-FFF2-40B4-BE49-F238E27FC236}">
                <a16:creationId xmlns:a16="http://schemas.microsoft.com/office/drawing/2014/main" id="{60C6A6D4-6642-447B-8283-59B876E1A2FE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3295873"/>
            <a:ext cx="304800" cy="685800"/>
          </a:xfrm>
          <a:prstGeom prst="line">
            <a:avLst/>
          </a:prstGeom>
          <a:noFill/>
          <a:ln w="38100" cap="rnd">
            <a:solidFill>
              <a:srgbClr val="008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8" name="Line 26">
            <a:extLst>
              <a:ext uri="{FF2B5EF4-FFF2-40B4-BE49-F238E27FC236}">
                <a16:creationId xmlns:a16="http://schemas.microsoft.com/office/drawing/2014/main" id="{4765E083-8B7F-4729-BEA9-9EB74A512E7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3295873"/>
            <a:ext cx="304800" cy="762000"/>
          </a:xfrm>
          <a:prstGeom prst="line">
            <a:avLst/>
          </a:prstGeom>
          <a:noFill/>
          <a:ln w="38100" cap="rnd">
            <a:solidFill>
              <a:srgbClr val="008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9" name="Line 27">
            <a:extLst>
              <a:ext uri="{FF2B5EF4-FFF2-40B4-BE49-F238E27FC236}">
                <a16:creationId xmlns:a16="http://schemas.microsoft.com/office/drawing/2014/main" id="{CD095913-3EC4-46E3-A358-5D0486A73260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3295873"/>
            <a:ext cx="304800" cy="685800"/>
          </a:xfrm>
          <a:prstGeom prst="line">
            <a:avLst/>
          </a:prstGeom>
          <a:noFill/>
          <a:ln w="38100" cap="rnd">
            <a:solidFill>
              <a:srgbClr val="008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0" name="Line 28">
            <a:extLst>
              <a:ext uri="{FF2B5EF4-FFF2-40B4-BE49-F238E27FC236}">
                <a16:creationId xmlns:a16="http://schemas.microsoft.com/office/drawing/2014/main" id="{31A01495-FF21-4DE2-AC93-EF31C983764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4438873"/>
            <a:ext cx="304800" cy="685800"/>
          </a:xfrm>
          <a:prstGeom prst="line">
            <a:avLst/>
          </a:prstGeom>
          <a:noFill/>
          <a:ln w="38100" cap="rnd">
            <a:solidFill>
              <a:srgbClr val="008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" name="Line 29">
            <a:extLst>
              <a:ext uri="{FF2B5EF4-FFF2-40B4-BE49-F238E27FC236}">
                <a16:creationId xmlns:a16="http://schemas.microsoft.com/office/drawing/2014/main" id="{191083B2-6AD4-4DF3-B2CF-87E233C2529C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4438873"/>
            <a:ext cx="304800" cy="685800"/>
          </a:xfrm>
          <a:prstGeom prst="line">
            <a:avLst/>
          </a:prstGeom>
          <a:noFill/>
          <a:ln w="38100" cap="rnd">
            <a:solidFill>
              <a:srgbClr val="008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2" name="Line 30">
            <a:extLst>
              <a:ext uri="{FF2B5EF4-FFF2-40B4-BE49-F238E27FC236}">
                <a16:creationId xmlns:a16="http://schemas.microsoft.com/office/drawing/2014/main" id="{C3B5E504-E890-4069-AE0E-2015E832D53F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4438873"/>
            <a:ext cx="304800" cy="685800"/>
          </a:xfrm>
          <a:prstGeom prst="line">
            <a:avLst/>
          </a:prstGeom>
          <a:noFill/>
          <a:ln w="38100" cap="rnd">
            <a:solidFill>
              <a:srgbClr val="008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3" name="Line 31">
            <a:extLst>
              <a:ext uri="{FF2B5EF4-FFF2-40B4-BE49-F238E27FC236}">
                <a16:creationId xmlns:a16="http://schemas.microsoft.com/office/drawing/2014/main" id="{9F98626E-6F46-4CBB-9C8D-F2C7FF7A245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3295873"/>
            <a:ext cx="304800" cy="762000"/>
          </a:xfrm>
          <a:prstGeom prst="line">
            <a:avLst/>
          </a:prstGeom>
          <a:noFill/>
          <a:ln w="38100" cap="rnd">
            <a:solidFill>
              <a:srgbClr val="008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4" name="Line 32">
            <a:extLst>
              <a:ext uri="{FF2B5EF4-FFF2-40B4-BE49-F238E27FC236}">
                <a16:creationId xmlns:a16="http://schemas.microsoft.com/office/drawing/2014/main" id="{524A460F-95DD-4D31-82A7-E0FCD1F91A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19600" y="3219673"/>
            <a:ext cx="304800" cy="762000"/>
          </a:xfrm>
          <a:prstGeom prst="line">
            <a:avLst/>
          </a:prstGeom>
          <a:noFill/>
          <a:ln w="38100" cap="rnd">
            <a:solidFill>
              <a:srgbClr val="008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5" name="Line 33">
            <a:extLst>
              <a:ext uri="{FF2B5EF4-FFF2-40B4-BE49-F238E27FC236}">
                <a16:creationId xmlns:a16="http://schemas.microsoft.com/office/drawing/2014/main" id="{FD4BB462-8191-422C-8EFE-5F50D66740D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34000" y="3295873"/>
            <a:ext cx="304800" cy="762000"/>
          </a:xfrm>
          <a:prstGeom prst="line">
            <a:avLst/>
          </a:prstGeom>
          <a:noFill/>
          <a:ln w="38100" cap="rnd">
            <a:solidFill>
              <a:srgbClr val="008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6" name="Line 34">
            <a:extLst>
              <a:ext uri="{FF2B5EF4-FFF2-40B4-BE49-F238E27FC236}">
                <a16:creationId xmlns:a16="http://schemas.microsoft.com/office/drawing/2014/main" id="{75E59DE5-CACF-436A-BADF-6136CC15EC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48400" y="3295873"/>
            <a:ext cx="304800" cy="762000"/>
          </a:xfrm>
          <a:prstGeom prst="line">
            <a:avLst/>
          </a:prstGeom>
          <a:noFill/>
          <a:ln w="38100" cap="rnd">
            <a:solidFill>
              <a:srgbClr val="008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" name="Line 35">
            <a:extLst>
              <a:ext uri="{FF2B5EF4-FFF2-40B4-BE49-F238E27FC236}">
                <a16:creationId xmlns:a16="http://schemas.microsoft.com/office/drawing/2014/main" id="{C1F66164-62D6-4D1A-B0E9-5E67D23DAE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48000" y="4438873"/>
            <a:ext cx="304800" cy="685800"/>
          </a:xfrm>
          <a:prstGeom prst="line">
            <a:avLst/>
          </a:prstGeom>
          <a:noFill/>
          <a:ln w="38100" cap="rnd">
            <a:solidFill>
              <a:srgbClr val="008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8" name="Line 36">
            <a:extLst>
              <a:ext uri="{FF2B5EF4-FFF2-40B4-BE49-F238E27FC236}">
                <a16:creationId xmlns:a16="http://schemas.microsoft.com/office/drawing/2014/main" id="{37CEDE30-EB5C-4D5D-9883-B5D5418BD5E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38600" y="4438873"/>
            <a:ext cx="304800" cy="685800"/>
          </a:xfrm>
          <a:prstGeom prst="line">
            <a:avLst/>
          </a:prstGeom>
          <a:noFill/>
          <a:ln w="38100" cap="rnd">
            <a:solidFill>
              <a:srgbClr val="008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9" name="Line 37">
            <a:extLst>
              <a:ext uri="{FF2B5EF4-FFF2-40B4-BE49-F238E27FC236}">
                <a16:creationId xmlns:a16="http://schemas.microsoft.com/office/drawing/2014/main" id="{FDD8FA50-4007-4FD5-A323-FA50F65AB1E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76800" y="4438873"/>
            <a:ext cx="304800" cy="685800"/>
          </a:xfrm>
          <a:prstGeom prst="line">
            <a:avLst/>
          </a:prstGeom>
          <a:noFill/>
          <a:ln w="38100" cap="rnd">
            <a:solidFill>
              <a:srgbClr val="008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0" name="Line 38">
            <a:extLst>
              <a:ext uri="{FF2B5EF4-FFF2-40B4-BE49-F238E27FC236}">
                <a16:creationId xmlns:a16="http://schemas.microsoft.com/office/drawing/2014/main" id="{102AAB51-8961-454F-8DC4-908F398CFC5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8000" y="4438873"/>
            <a:ext cx="304800" cy="685800"/>
          </a:xfrm>
          <a:prstGeom prst="line">
            <a:avLst/>
          </a:prstGeom>
          <a:noFill/>
          <a:ln w="38100" cap="rnd">
            <a:solidFill>
              <a:srgbClr val="008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" name="Line 39">
            <a:extLst>
              <a:ext uri="{FF2B5EF4-FFF2-40B4-BE49-F238E27FC236}">
                <a16:creationId xmlns:a16="http://schemas.microsoft.com/office/drawing/2014/main" id="{7B239A2E-6421-49EE-AB5C-6CAD6630B9D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62400" y="2152873"/>
            <a:ext cx="381000" cy="762000"/>
          </a:xfrm>
          <a:prstGeom prst="line">
            <a:avLst/>
          </a:prstGeom>
          <a:noFill/>
          <a:ln w="38100" cap="rnd">
            <a:solidFill>
              <a:srgbClr val="008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" name="Line 40">
            <a:extLst>
              <a:ext uri="{FF2B5EF4-FFF2-40B4-BE49-F238E27FC236}">
                <a16:creationId xmlns:a16="http://schemas.microsoft.com/office/drawing/2014/main" id="{9B856250-DF77-4CD3-BA07-323F765967E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76800" y="2152873"/>
            <a:ext cx="381000" cy="762000"/>
          </a:xfrm>
          <a:prstGeom prst="line">
            <a:avLst/>
          </a:prstGeom>
          <a:noFill/>
          <a:ln w="38100" cap="rnd">
            <a:solidFill>
              <a:srgbClr val="008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3" name="Line 41">
            <a:extLst>
              <a:ext uri="{FF2B5EF4-FFF2-40B4-BE49-F238E27FC236}">
                <a16:creationId xmlns:a16="http://schemas.microsoft.com/office/drawing/2014/main" id="{09E6BD99-A4B3-40DF-BEE2-E0DF8CBBCA2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91200" y="2076673"/>
            <a:ext cx="381000" cy="838200"/>
          </a:xfrm>
          <a:prstGeom prst="line">
            <a:avLst/>
          </a:prstGeom>
          <a:noFill/>
          <a:ln w="38100" cap="rnd">
            <a:solidFill>
              <a:srgbClr val="008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97531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AB729D-930A-4660-A987-84F12E59D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打印杨辉三角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8A667D93-E6B8-4EF5-8074-7E57738A3E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974948"/>
            <a:ext cx="8229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kumimoji="1"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从第 </a:t>
            </a:r>
            <a:r>
              <a:rPr kumimoji="1" lang="en-US" altLang="zh-CN" sz="28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kumimoji="1" lang="en-US" altLang="zh-CN" sz="2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行数据计算并存放第 </a:t>
            </a:r>
            <a:r>
              <a:rPr kumimoji="1" lang="en-US" altLang="zh-CN" sz="2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i+1 </a:t>
            </a:r>
            <a:r>
              <a:rPr kumimoji="1"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行数据</a:t>
            </a:r>
          </a:p>
        </p:txBody>
      </p:sp>
      <p:sp>
        <p:nvSpPr>
          <p:cNvPr id="4" name="Line 3">
            <a:extLst>
              <a:ext uri="{FF2B5EF4-FFF2-40B4-BE49-F238E27FC236}">
                <a16:creationId xmlns:a16="http://schemas.microsoft.com/office/drawing/2014/main" id="{E9C194B1-96D4-4F68-BE1C-873E62C2ACE7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" y="1775048"/>
            <a:ext cx="7696200" cy="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Line 4">
            <a:extLst>
              <a:ext uri="{FF2B5EF4-FFF2-40B4-BE49-F238E27FC236}">
                <a16:creationId xmlns:a16="http://schemas.microsoft.com/office/drawing/2014/main" id="{32608F95-BE53-4F9D-8C4E-64854DE829E7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" y="2308448"/>
            <a:ext cx="7696200" cy="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Line 5">
            <a:extLst>
              <a:ext uri="{FF2B5EF4-FFF2-40B4-BE49-F238E27FC236}">
                <a16:creationId xmlns:a16="http://schemas.microsoft.com/office/drawing/2014/main" id="{88EFBD8D-8AF8-4F13-BB31-68952BE87A0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1775048"/>
            <a:ext cx="0" cy="533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Line 6">
            <a:extLst>
              <a:ext uri="{FF2B5EF4-FFF2-40B4-BE49-F238E27FC236}">
                <a16:creationId xmlns:a16="http://schemas.microsoft.com/office/drawing/2014/main" id="{42668B41-2237-4D48-8FA4-D5956E02317A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1775048"/>
            <a:ext cx="0" cy="533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Line 7">
            <a:extLst>
              <a:ext uri="{FF2B5EF4-FFF2-40B4-BE49-F238E27FC236}">
                <a16:creationId xmlns:a16="http://schemas.microsoft.com/office/drawing/2014/main" id="{C2EC6681-1F25-4CFF-904D-CF89B6D096B9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1775048"/>
            <a:ext cx="0" cy="533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Line 8">
            <a:extLst>
              <a:ext uri="{FF2B5EF4-FFF2-40B4-BE49-F238E27FC236}">
                <a16:creationId xmlns:a16="http://schemas.microsoft.com/office/drawing/2014/main" id="{63576EF0-5280-48E4-A071-79BC83CD6125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1775048"/>
            <a:ext cx="0" cy="533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Line 9">
            <a:extLst>
              <a:ext uri="{FF2B5EF4-FFF2-40B4-BE49-F238E27FC236}">
                <a16:creationId xmlns:a16="http://schemas.microsoft.com/office/drawing/2014/main" id="{80F9247E-49E2-4394-AC5D-D9862BB7EEB5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1775048"/>
            <a:ext cx="0" cy="533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D99D006C-DE75-4E2B-BC2F-EB0F95781843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1775048"/>
            <a:ext cx="0" cy="533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Line 11">
            <a:extLst>
              <a:ext uri="{FF2B5EF4-FFF2-40B4-BE49-F238E27FC236}">
                <a16:creationId xmlns:a16="http://schemas.microsoft.com/office/drawing/2014/main" id="{6BCF1817-B143-4E13-9A5C-78341BA6F89D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1775048"/>
            <a:ext cx="0" cy="533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Line 12">
            <a:extLst>
              <a:ext uri="{FF2B5EF4-FFF2-40B4-BE49-F238E27FC236}">
                <a16:creationId xmlns:a16="http://schemas.microsoft.com/office/drawing/2014/main" id="{F499B055-E5A7-4BF4-9D06-067F0ECD27AF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1775048"/>
            <a:ext cx="0" cy="533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Line 13">
            <a:extLst>
              <a:ext uri="{FF2B5EF4-FFF2-40B4-BE49-F238E27FC236}">
                <a16:creationId xmlns:a16="http://schemas.microsoft.com/office/drawing/2014/main" id="{438699A1-8BC3-4650-901F-E25FB4EC5129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1775048"/>
            <a:ext cx="0" cy="533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Line 14">
            <a:extLst>
              <a:ext uri="{FF2B5EF4-FFF2-40B4-BE49-F238E27FC236}">
                <a16:creationId xmlns:a16="http://schemas.microsoft.com/office/drawing/2014/main" id="{953A72BF-751C-4C34-A65C-84A565726820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1775048"/>
            <a:ext cx="0" cy="533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Line 15">
            <a:extLst>
              <a:ext uri="{FF2B5EF4-FFF2-40B4-BE49-F238E27FC236}">
                <a16:creationId xmlns:a16="http://schemas.microsoft.com/office/drawing/2014/main" id="{FBDB18C7-5812-45D6-AB72-51E9BEEAA1FA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2800" y="1775048"/>
            <a:ext cx="0" cy="533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16">
            <a:extLst>
              <a:ext uri="{FF2B5EF4-FFF2-40B4-BE49-F238E27FC236}">
                <a16:creationId xmlns:a16="http://schemas.microsoft.com/office/drawing/2014/main" id="{DDF10C07-54E0-4356-AA8D-947573AA75A0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1775048"/>
            <a:ext cx="0" cy="533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Line 17">
            <a:extLst>
              <a:ext uri="{FF2B5EF4-FFF2-40B4-BE49-F238E27FC236}">
                <a16:creationId xmlns:a16="http://schemas.microsoft.com/office/drawing/2014/main" id="{326F1985-317E-4C09-AA19-B4EE9C1BC81C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0" y="1775048"/>
            <a:ext cx="0" cy="5334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Text Box 18">
            <a:extLst>
              <a:ext uri="{FF2B5EF4-FFF2-40B4-BE49-F238E27FC236}">
                <a16:creationId xmlns:a16="http://schemas.microsoft.com/office/drawing/2014/main" id="{59DEB887-F399-476F-A9E1-A0F0BD0F01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1767111"/>
            <a:ext cx="708977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 dirty="0">
                <a:solidFill>
                  <a:srgbClr val="00B050"/>
                </a:solidFill>
                <a:latin typeface="Times New Roman" panose="02020603050405020304" pitchFamily="18" charset="0"/>
              </a:rPr>
              <a:t>1     2     1     </a:t>
            </a:r>
            <a:r>
              <a:rPr kumimoji="1"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0     1     3     3    1     </a:t>
            </a:r>
            <a:r>
              <a:rPr kumimoji="1"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0     1    4     6</a:t>
            </a:r>
            <a:endParaRPr kumimoji="1" lang="en-US" altLang="zh-CN" sz="2800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" name="Text Box 19">
            <a:extLst>
              <a:ext uri="{FF2B5EF4-FFF2-40B4-BE49-F238E27FC236}">
                <a16:creationId xmlns:a16="http://schemas.microsoft.com/office/drawing/2014/main" id="{D695C7A5-4560-4023-A73B-47B09AED21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950" y="2384648"/>
            <a:ext cx="6727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b="1">
                <a:solidFill>
                  <a:schemeClr val="hlink"/>
                </a:solidFill>
                <a:latin typeface="Times New Roman" panose="02020603050405020304" pitchFamily="18" charset="0"/>
              </a:rPr>
              <a:t>s=0</a:t>
            </a:r>
            <a:r>
              <a:rPr kumimoji="1" lang="en-US" altLang="zh-CN" b="1">
                <a:solidFill>
                  <a:srgbClr val="006600"/>
                </a:solidFill>
                <a:latin typeface="Times New Roman" panose="02020603050405020304" pitchFamily="18" charset="0"/>
              </a:rPr>
              <a:t> t=1  t=2   t=1  t=0   t=1   t=3   t=3  t=1   t=0  t=1</a:t>
            </a:r>
            <a:endParaRPr kumimoji="1" lang="en-US" altLang="zh-CN">
              <a:latin typeface="Times New Roman" panose="02020603050405020304" pitchFamily="18" charset="0"/>
            </a:endParaRPr>
          </a:p>
        </p:txBody>
      </p:sp>
      <p:sp>
        <p:nvSpPr>
          <p:cNvPr id="21" name="Text Box 20">
            <a:extLst>
              <a:ext uri="{FF2B5EF4-FFF2-40B4-BE49-F238E27FC236}">
                <a16:creationId xmlns:a16="http://schemas.microsoft.com/office/drawing/2014/main" id="{D5B8A0FA-5C74-496F-95F0-8F34B8C06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25" y="2689448"/>
            <a:ext cx="604524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b="1" dirty="0" err="1">
                <a:solidFill>
                  <a:srgbClr val="000099"/>
                </a:solidFill>
                <a:latin typeface="Times New Roman" panose="02020603050405020304" pitchFamily="18" charset="0"/>
              </a:rPr>
              <a:t>s+t</a:t>
            </a:r>
            <a:r>
              <a:rPr kumimoji="1" lang="en-US" altLang="zh-CN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  s=1   s=2   s=1   s=0   s=1   s=3    s=3    s=1</a:t>
            </a:r>
            <a:endParaRPr kumimoji="1"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2" name="Line 21">
            <a:extLst>
              <a:ext uri="{FF2B5EF4-FFF2-40B4-BE49-F238E27FC236}">
                <a16:creationId xmlns:a16="http://schemas.microsoft.com/office/drawing/2014/main" id="{EA667FCC-0758-4E75-B35F-0857FF4C518C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3299048"/>
            <a:ext cx="0" cy="304800"/>
          </a:xfrm>
          <a:prstGeom prst="line">
            <a:avLst/>
          </a:prstGeom>
          <a:noFill/>
          <a:ln w="28575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Line 22">
            <a:extLst>
              <a:ext uri="{FF2B5EF4-FFF2-40B4-BE49-F238E27FC236}">
                <a16:creationId xmlns:a16="http://schemas.microsoft.com/office/drawing/2014/main" id="{0FFB7D35-C812-49CF-B71A-35E5822095FC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3603848"/>
            <a:ext cx="2667000" cy="0"/>
          </a:xfrm>
          <a:prstGeom prst="line">
            <a:avLst/>
          </a:prstGeom>
          <a:noFill/>
          <a:ln w="28575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Line 23">
            <a:extLst>
              <a:ext uri="{FF2B5EF4-FFF2-40B4-BE49-F238E27FC236}">
                <a16:creationId xmlns:a16="http://schemas.microsoft.com/office/drawing/2014/main" id="{B5341A75-15B7-4D2F-A153-A98C692A48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57600" y="2384648"/>
            <a:ext cx="0" cy="1219200"/>
          </a:xfrm>
          <a:prstGeom prst="line">
            <a:avLst/>
          </a:prstGeom>
          <a:noFill/>
          <a:ln w="28575">
            <a:solidFill>
              <a:srgbClr val="80008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Line 24">
            <a:extLst>
              <a:ext uri="{FF2B5EF4-FFF2-40B4-BE49-F238E27FC236}">
                <a16:creationId xmlns:a16="http://schemas.microsoft.com/office/drawing/2014/main" id="{358887EC-8339-46C7-9239-67E3BAECDEEC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3451448"/>
            <a:ext cx="0" cy="381000"/>
          </a:xfrm>
          <a:prstGeom prst="line">
            <a:avLst/>
          </a:prstGeom>
          <a:noFill/>
          <a:ln w="28575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Line 25">
            <a:extLst>
              <a:ext uri="{FF2B5EF4-FFF2-40B4-BE49-F238E27FC236}">
                <a16:creationId xmlns:a16="http://schemas.microsoft.com/office/drawing/2014/main" id="{E0636AD2-1F2D-4F6E-9895-02A68C884B04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3832448"/>
            <a:ext cx="2590800" cy="0"/>
          </a:xfrm>
          <a:prstGeom prst="line">
            <a:avLst/>
          </a:prstGeom>
          <a:noFill/>
          <a:ln w="28575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Line 26">
            <a:extLst>
              <a:ext uri="{FF2B5EF4-FFF2-40B4-BE49-F238E27FC236}">
                <a16:creationId xmlns:a16="http://schemas.microsoft.com/office/drawing/2014/main" id="{141C614C-BFD5-403F-9D5C-D02629684C9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3400" y="2384648"/>
            <a:ext cx="0" cy="1447800"/>
          </a:xfrm>
          <a:prstGeom prst="line">
            <a:avLst/>
          </a:prstGeom>
          <a:noFill/>
          <a:ln w="28575">
            <a:solidFill>
              <a:srgbClr val="80008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" name="Line 27">
            <a:extLst>
              <a:ext uri="{FF2B5EF4-FFF2-40B4-BE49-F238E27FC236}">
                <a16:creationId xmlns:a16="http://schemas.microsoft.com/office/drawing/2014/main" id="{97CF4884-638F-444C-B41F-7131884BCEED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3451448"/>
            <a:ext cx="0" cy="609600"/>
          </a:xfrm>
          <a:prstGeom prst="line">
            <a:avLst/>
          </a:prstGeom>
          <a:noFill/>
          <a:ln w="28575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Text Box 28">
            <a:extLst>
              <a:ext uri="{FF2B5EF4-FFF2-40B4-BE49-F238E27FC236}">
                <a16:creationId xmlns:a16="http://schemas.microsoft.com/office/drawing/2014/main" id="{758B5657-8CFC-42BA-B164-7B2357EFF7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1450" y="3070448"/>
            <a:ext cx="5010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b="1">
                <a:solidFill>
                  <a:srgbClr val="000099"/>
                </a:solidFill>
                <a:latin typeface="Times New Roman" panose="02020603050405020304" pitchFamily="18" charset="0"/>
              </a:rPr>
              <a:t>s+t</a:t>
            </a:r>
            <a:r>
              <a:rPr kumimoji="1" lang="en-US" altLang="zh-CN" b="1">
                <a:solidFill>
                  <a:schemeClr val="hlink"/>
                </a:solidFill>
                <a:latin typeface="Times New Roman" panose="02020603050405020304" pitchFamily="18" charset="0"/>
              </a:rPr>
              <a:t>   </a:t>
            </a:r>
            <a:r>
              <a:rPr kumimoji="1" lang="en-US" altLang="zh-CN" b="1">
                <a:solidFill>
                  <a:srgbClr val="000099"/>
                </a:solidFill>
                <a:latin typeface="Times New Roman" panose="02020603050405020304" pitchFamily="18" charset="0"/>
              </a:rPr>
              <a:t>s+t</a:t>
            </a:r>
            <a:r>
              <a:rPr kumimoji="1" lang="en-US" altLang="zh-CN" b="1">
                <a:solidFill>
                  <a:schemeClr val="hlink"/>
                </a:solidFill>
                <a:latin typeface="Times New Roman" panose="02020603050405020304" pitchFamily="18" charset="0"/>
              </a:rPr>
              <a:t>   </a:t>
            </a:r>
            <a:r>
              <a:rPr kumimoji="1" lang="en-US" altLang="zh-CN" b="1">
                <a:solidFill>
                  <a:srgbClr val="000099"/>
                </a:solidFill>
                <a:latin typeface="Times New Roman" panose="02020603050405020304" pitchFamily="18" charset="0"/>
              </a:rPr>
              <a:t>s+t</a:t>
            </a:r>
            <a:r>
              <a:rPr kumimoji="1" lang="en-US" altLang="zh-CN" b="1">
                <a:solidFill>
                  <a:schemeClr val="hlink"/>
                </a:solidFill>
                <a:latin typeface="Times New Roman" panose="02020603050405020304" pitchFamily="18" charset="0"/>
              </a:rPr>
              <a:t>   </a:t>
            </a:r>
            <a:r>
              <a:rPr kumimoji="1" lang="en-US" altLang="zh-CN" b="1">
                <a:solidFill>
                  <a:srgbClr val="000099"/>
                </a:solidFill>
                <a:latin typeface="Times New Roman" panose="02020603050405020304" pitchFamily="18" charset="0"/>
              </a:rPr>
              <a:t>s+t</a:t>
            </a:r>
            <a:r>
              <a:rPr kumimoji="1" lang="en-US" altLang="zh-CN" b="1">
                <a:solidFill>
                  <a:schemeClr val="hlink"/>
                </a:solidFill>
                <a:latin typeface="Times New Roman" panose="02020603050405020304" pitchFamily="18" charset="0"/>
              </a:rPr>
              <a:t>   </a:t>
            </a:r>
            <a:r>
              <a:rPr kumimoji="1" lang="en-US" altLang="zh-CN" b="1">
                <a:solidFill>
                  <a:srgbClr val="000099"/>
                </a:solidFill>
                <a:latin typeface="Times New Roman" panose="02020603050405020304" pitchFamily="18" charset="0"/>
              </a:rPr>
              <a:t>s+t</a:t>
            </a:r>
            <a:r>
              <a:rPr kumimoji="1" lang="en-US" altLang="zh-CN" b="1">
                <a:solidFill>
                  <a:schemeClr val="hlink"/>
                </a:solidFill>
                <a:latin typeface="Times New Roman" panose="02020603050405020304" pitchFamily="18" charset="0"/>
              </a:rPr>
              <a:t>   </a:t>
            </a:r>
            <a:r>
              <a:rPr kumimoji="1" lang="en-US" altLang="zh-CN" b="1">
                <a:solidFill>
                  <a:srgbClr val="000099"/>
                </a:solidFill>
                <a:latin typeface="Times New Roman" panose="02020603050405020304" pitchFamily="18" charset="0"/>
              </a:rPr>
              <a:t>s+t   s+t    s+t</a:t>
            </a:r>
            <a:endParaRPr kumimoji="1" lang="en-US" altLang="zh-CN">
              <a:latin typeface="Times New Roman" panose="02020603050405020304" pitchFamily="18" charset="0"/>
            </a:endParaRPr>
          </a:p>
        </p:txBody>
      </p:sp>
      <p:sp>
        <p:nvSpPr>
          <p:cNvPr id="30" name="Line 29">
            <a:extLst>
              <a:ext uri="{FF2B5EF4-FFF2-40B4-BE49-F238E27FC236}">
                <a16:creationId xmlns:a16="http://schemas.microsoft.com/office/drawing/2014/main" id="{DC3D8383-ADBE-4246-8CEE-CF7C4731153E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4061048"/>
            <a:ext cx="2590800" cy="0"/>
          </a:xfrm>
          <a:prstGeom prst="line">
            <a:avLst/>
          </a:prstGeom>
          <a:noFill/>
          <a:ln w="28575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Line 30">
            <a:extLst>
              <a:ext uri="{FF2B5EF4-FFF2-40B4-BE49-F238E27FC236}">
                <a16:creationId xmlns:a16="http://schemas.microsoft.com/office/drawing/2014/main" id="{DFB85692-022F-45F1-8BE2-581009C22BF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53000" y="2384648"/>
            <a:ext cx="0" cy="1676400"/>
          </a:xfrm>
          <a:prstGeom prst="line">
            <a:avLst/>
          </a:prstGeom>
          <a:noFill/>
          <a:ln w="28575">
            <a:solidFill>
              <a:srgbClr val="80008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Line 31">
            <a:extLst>
              <a:ext uri="{FF2B5EF4-FFF2-40B4-BE49-F238E27FC236}">
                <a16:creationId xmlns:a16="http://schemas.microsoft.com/office/drawing/2014/main" id="{DF24DD42-805C-43FB-B03E-7659A0BEE8AC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3451448"/>
            <a:ext cx="0" cy="838200"/>
          </a:xfrm>
          <a:prstGeom prst="line">
            <a:avLst/>
          </a:prstGeom>
          <a:noFill/>
          <a:ln w="28575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Line 32">
            <a:extLst>
              <a:ext uri="{FF2B5EF4-FFF2-40B4-BE49-F238E27FC236}">
                <a16:creationId xmlns:a16="http://schemas.microsoft.com/office/drawing/2014/main" id="{3F9934C8-A345-4A90-AF66-156CE2E80E2F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4289648"/>
            <a:ext cx="2590800" cy="0"/>
          </a:xfrm>
          <a:prstGeom prst="line">
            <a:avLst/>
          </a:prstGeom>
          <a:noFill/>
          <a:ln w="28575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Line 33">
            <a:extLst>
              <a:ext uri="{FF2B5EF4-FFF2-40B4-BE49-F238E27FC236}">
                <a16:creationId xmlns:a16="http://schemas.microsoft.com/office/drawing/2014/main" id="{1C5104AA-102B-4982-8ADC-F1A2329176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62600" y="2384648"/>
            <a:ext cx="0" cy="1905000"/>
          </a:xfrm>
          <a:prstGeom prst="line">
            <a:avLst/>
          </a:prstGeom>
          <a:noFill/>
          <a:ln w="28575">
            <a:solidFill>
              <a:srgbClr val="80008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Line 34">
            <a:extLst>
              <a:ext uri="{FF2B5EF4-FFF2-40B4-BE49-F238E27FC236}">
                <a16:creationId xmlns:a16="http://schemas.microsoft.com/office/drawing/2014/main" id="{47AC2417-26BF-43F8-9A03-3EAB74005B86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3451448"/>
            <a:ext cx="0" cy="106680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Line 35">
            <a:extLst>
              <a:ext uri="{FF2B5EF4-FFF2-40B4-BE49-F238E27FC236}">
                <a16:creationId xmlns:a16="http://schemas.microsoft.com/office/drawing/2014/main" id="{5E3ABA7D-BD12-48F1-9361-856AB4F88CA9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4518248"/>
            <a:ext cx="3200400" cy="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" name="Line 36">
            <a:extLst>
              <a:ext uri="{FF2B5EF4-FFF2-40B4-BE49-F238E27FC236}">
                <a16:creationId xmlns:a16="http://schemas.microsoft.com/office/drawing/2014/main" id="{6393096E-0A1D-4852-BEA5-90C7601E6E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81800" y="2384648"/>
            <a:ext cx="0" cy="213360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" name="Line 37">
            <a:extLst>
              <a:ext uri="{FF2B5EF4-FFF2-40B4-BE49-F238E27FC236}">
                <a16:creationId xmlns:a16="http://schemas.microsoft.com/office/drawing/2014/main" id="{B80C8F9F-05A9-4559-8824-E9A54DABAB01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3451448"/>
            <a:ext cx="0" cy="129540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" name="Line 38">
            <a:extLst>
              <a:ext uri="{FF2B5EF4-FFF2-40B4-BE49-F238E27FC236}">
                <a16:creationId xmlns:a16="http://schemas.microsoft.com/office/drawing/2014/main" id="{05EA9A41-208E-4034-A16C-FF8C641D029C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4746848"/>
            <a:ext cx="3200400" cy="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" name="Line 39">
            <a:extLst>
              <a:ext uri="{FF2B5EF4-FFF2-40B4-BE49-F238E27FC236}">
                <a16:creationId xmlns:a16="http://schemas.microsoft.com/office/drawing/2014/main" id="{4ABB58B9-3067-4E4A-8AAF-30B4E5540A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91400" y="2384648"/>
            <a:ext cx="0" cy="236220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" name="Line 40">
            <a:extLst>
              <a:ext uri="{FF2B5EF4-FFF2-40B4-BE49-F238E27FC236}">
                <a16:creationId xmlns:a16="http://schemas.microsoft.com/office/drawing/2014/main" id="{0CF15FCB-08EC-43C4-9471-1D5DE7F5329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3451448"/>
            <a:ext cx="0" cy="160020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" name="Line 41">
            <a:extLst>
              <a:ext uri="{FF2B5EF4-FFF2-40B4-BE49-F238E27FC236}">
                <a16:creationId xmlns:a16="http://schemas.microsoft.com/office/drawing/2014/main" id="{7816CC7C-9490-4DD1-BDAD-EF0C9DEBE4FC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5051648"/>
            <a:ext cx="3200400" cy="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" name="Line 42">
            <a:extLst>
              <a:ext uri="{FF2B5EF4-FFF2-40B4-BE49-F238E27FC236}">
                <a16:creationId xmlns:a16="http://schemas.microsoft.com/office/drawing/2014/main" id="{E935E8CA-A0B1-4E18-A29A-B7B0BBF01AA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01000" y="2384648"/>
            <a:ext cx="0" cy="266700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" name="Line 43">
            <a:extLst>
              <a:ext uri="{FF2B5EF4-FFF2-40B4-BE49-F238E27FC236}">
                <a16:creationId xmlns:a16="http://schemas.microsoft.com/office/drawing/2014/main" id="{DFAA3EFA-4DBC-484E-9806-C4B90A58E17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3451448"/>
            <a:ext cx="0" cy="190500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" name="Line 44">
            <a:extLst>
              <a:ext uri="{FF2B5EF4-FFF2-40B4-BE49-F238E27FC236}">
                <a16:creationId xmlns:a16="http://schemas.microsoft.com/office/drawing/2014/main" id="{19AF7D47-E682-4A57-BACD-05D536E00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5356448"/>
            <a:ext cx="2819400" cy="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" name="Line 45">
            <a:extLst>
              <a:ext uri="{FF2B5EF4-FFF2-40B4-BE49-F238E27FC236}">
                <a16:creationId xmlns:a16="http://schemas.microsoft.com/office/drawing/2014/main" id="{EB97067B-3B03-46E1-AB2D-20CBC54DD061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5661248"/>
            <a:ext cx="2057400" cy="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" name="Line 46">
            <a:extLst>
              <a:ext uri="{FF2B5EF4-FFF2-40B4-BE49-F238E27FC236}">
                <a16:creationId xmlns:a16="http://schemas.microsoft.com/office/drawing/2014/main" id="{B301F7BE-654D-41DC-BBC2-EAB181DC4B0E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3451448"/>
            <a:ext cx="0" cy="220980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A30090BB-7ACF-406C-AC10-4EAF0819B847}"/>
              </a:ext>
            </a:extLst>
          </p:cNvPr>
          <p:cNvSpPr txBox="1"/>
          <p:nvPr/>
        </p:nvSpPr>
        <p:spPr>
          <a:xfrm>
            <a:off x="679406" y="177281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00B050"/>
                </a:solidFill>
              </a:rPr>
              <a:t>0</a:t>
            </a:r>
            <a:endParaRPr lang="zh-CN" altLang="en-US" sz="28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93568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0BDD33-D5D9-4A51-90B4-57DEBBA9D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打印杨辉三角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2312BB-203A-4513-A2D8-8F037F809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764704"/>
            <a:ext cx="8784976" cy="6093296"/>
          </a:xfrm>
          <a:solidFill>
            <a:srgbClr val="EAEAEA"/>
          </a:solidFill>
        </p:spPr>
        <p:txBody>
          <a:bodyPr/>
          <a:lstStyle/>
          <a:p>
            <a:pPr marL="0">
              <a:buFont typeface="Wingdings" panose="05000000000000000000" pitchFamily="2" charset="2"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隶书" panose="02010509060101010101" pitchFamily="49" charset="-122"/>
              </a:rPr>
              <a:t>void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隶书" panose="02010509060101010101" pitchFamily="49" charset="-122"/>
              </a:rPr>
              <a:t>Yanghui</a:t>
            </a:r>
            <a:r>
              <a:rPr kumimoji="1" lang="en-US" altLang="zh-CN" sz="2400" dirty="0">
                <a:latin typeface="Times New Roman" panose="02020603050405020304" pitchFamily="18" charset="0"/>
                <a:ea typeface="隶书" panose="02010509060101010101" pitchFamily="49" charset="-122"/>
              </a:rPr>
              <a:t> (int </a:t>
            </a:r>
            <a:r>
              <a:rPr kumimoji="1" lang="en-US" altLang="zh-CN" sz="2400" b="0" dirty="0">
                <a:latin typeface="Times New Roman" panose="02020603050405020304" pitchFamily="18" charset="0"/>
                <a:ea typeface="隶书" panose="02010509060101010101" pitchFamily="49" charset="-122"/>
              </a:rPr>
              <a:t>n</a:t>
            </a:r>
            <a:r>
              <a:rPr kumimoji="1" lang="en-US" altLang="zh-CN" sz="2400" dirty="0">
                <a:latin typeface="Times New Roman" panose="02020603050405020304" pitchFamily="18" charset="0"/>
                <a:ea typeface="隶书" panose="02010509060101010101" pitchFamily="49" charset="-122"/>
              </a:rPr>
              <a:t>)</a:t>
            </a:r>
            <a:r>
              <a:rPr kumimoji="1" lang="en-US" altLang="zh-CN" sz="2400" b="0" dirty="0">
                <a:latin typeface="Times New Roman" panose="02020603050405020304" pitchFamily="18" charset="0"/>
                <a:ea typeface="隶书" panose="02010509060101010101" pitchFamily="49" charset="-122"/>
              </a:rPr>
              <a:t> {</a:t>
            </a:r>
            <a:endParaRPr kumimoji="1" lang="en-US" altLang="zh-CN" sz="24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marL="0">
              <a:buNone/>
            </a:pPr>
            <a:r>
              <a:rPr kumimoji="1" lang="en-US" altLang="zh-CN" sz="2400" b="0" dirty="0">
                <a:latin typeface="Times New Roman" panose="02020603050405020304" pitchFamily="18" charset="0"/>
                <a:ea typeface="隶书" panose="02010509060101010101" pitchFamily="49" charset="-122"/>
              </a:rPr>
              <a:t>    </a:t>
            </a:r>
            <a:r>
              <a:rPr kumimoji="1" lang="en-US" altLang="zh-CN" sz="2400" b="0" dirty="0" err="1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InitQueue</a:t>
            </a:r>
            <a:r>
              <a:rPr kumimoji="1"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(Q)</a:t>
            </a: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; </a:t>
            </a:r>
            <a:r>
              <a:rPr kumimoji="1"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EnQueue</a:t>
            </a: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(Q, 0); </a:t>
            </a:r>
            <a:r>
              <a:rPr kumimoji="1" lang="en-US" altLang="zh-CN" sz="2400" b="0" dirty="0" err="1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EnQueue</a:t>
            </a:r>
            <a:r>
              <a:rPr kumimoji="1"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(Q</a:t>
            </a: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, </a:t>
            </a:r>
            <a:r>
              <a:rPr kumimoji="1"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1)</a:t>
            </a: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; </a:t>
            </a:r>
            <a:r>
              <a:rPr kumimoji="1" lang="en-US" altLang="zh-CN" sz="2400" b="0" dirty="0" err="1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EnQueue</a:t>
            </a:r>
            <a:r>
              <a:rPr kumimoji="1"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(Q</a:t>
            </a: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, </a:t>
            </a:r>
            <a:r>
              <a:rPr kumimoji="1"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1)</a:t>
            </a: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;</a:t>
            </a:r>
            <a:r>
              <a:rPr kumimoji="1"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</a:p>
          <a:p>
            <a:pPr marL="0">
              <a:buNone/>
            </a:pPr>
            <a:r>
              <a:rPr kumimoji="1"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    for </a:t>
            </a:r>
            <a:r>
              <a:rPr kumimoji="1" lang="en-US" altLang="zh-CN" sz="2400" b="0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sz="2400" i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0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0" dirty="0">
                <a:solidFill>
                  <a:schemeClr val="tx2"/>
                </a:solidFill>
                <a:latin typeface="Times New Roman" panose="02020603050405020304" pitchFamily="18" charset="0"/>
              </a:rPr>
              <a:t> = 1</a:t>
            </a:r>
            <a:r>
              <a:rPr kumimoji="1"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; </a:t>
            </a:r>
            <a:r>
              <a:rPr kumimoji="1" lang="en-US" altLang="zh-CN" sz="2400" b="0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0" dirty="0">
                <a:solidFill>
                  <a:schemeClr val="tx2"/>
                </a:solidFill>
                <a:latin typeface="Times New Roman" panose="02020603050405020304" pitchFamily="18" charset="0"/>
              </a:rPr>
              <a:t> &lt;= n</a:t>
            </a:r>
            <a:r>
              <a:rPr kumimoji="1"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; </a:t>
            </a:r>
            <a:r>
              <a:rPr kumimoji="1" lang="en-US" altLang="zh-CN" sz="2400" b="0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0" dirty="0">
                <a:solidFill>
                  <a:schemeClr val="tx2"/>
                </a:solidFill>
                <a:latin typeface="Times New Roman" panose="02020603050405020304" pitchFamily="18" charset="0"/>
              </a:rPr>
              <a:t>++ )</a:t>
            </a:r>
            <a:r>
              <a:rPr kumimoji="1"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 {     </a:t>
            </a:r>
            <a:r>
              <a:rPr kumimoji="1"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// </a:t>
            </a:r>
            <a:r>
              <a:rPr kumimoji="1" lang="zh-CN" altLang="en-US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逐行输出 </a:t>
            </a:r>
            <a:r>
              <a:rPr kumimoji="1"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n </a:t>
            </a:r>
            <a:r>
              <a:rPr kumimoji="1" lang="zh-CN" altLang="en-US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行</a:t>
            </a:r>
          </a:p>
          <a:p>
            <a:pPr marL="0">
              <a:buFont typeface="Wingdings" panose="05000000000000000000" pitchFamily="2" charset="2"/>
              <a:buNone/>
            </a:pPr>
            <a:r>
              <a:rPr kumimoji="1" lang="en-US" altLang="zh-CN" sz="2400" b="0" dirty="0">
                <a:solidFill>
                  <a:schemeClr val="tx2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en-US" altLang="zh-CN" sz="2400" b="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EnQueue</a:t>
            </a:r>
            <a:r>
              <a:rPr kumimoji="1"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 (Q</a:t>
            </a: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, </a:t>
            </a:r>
            <a:r>
              <a:rPr kumimoji="1"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0)</a:t>
            </a: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;</a:t>
            </a:r>
          </a:p>
          <a:p>
            <a:pPr marL="0">
              <a:buFont typeface="Wingdings" panose="05000000000000000000" pitchFamily="2" charset="2"/>
              <a:buNone/>
            </a:pPr>
            <a:r>
              <a:rPr kumimoji="1"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        do{             </a:t>
            </a:r>
            <a:r>
              <a:rPr kumimoji="1"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// </a:t>
            </a:r>
            <a:r>
              <a:rPr kumimoji="1" lang="zh-CN" altLang="en-US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输出第 </a:t>
            </a:r>
            <a:r>
              <a:rPr kumimoji="1" lang="en-US" altLang="zh-CN" sz="2400" dirty="0" err="1">
                <a:solidFill>
                  <a:srgbClr val="00B05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行系数，同时计算第 </a:t>
            </a:r>
            <a:r>
              <a:rPr kumimoji="1"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i+1 </a:t>
            </a:r>
            <a:r>
              <a:rPr kumimoji="1" lang="zh-CN" altLang="en-US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行系数</a:t>
            </a:r>
            <a:endParaRPr kumimoji="1" lang="en-US" altLang="zh-CN" sz="2400" dirty="0">
              <a:solidFill>
                <a:srgbClr val="00B050"/>
              </a:solidFill>
              <a:latin typeface="Times New Roman" panose="02020603050405020304" pitchFamily="18" charset="0"/>
            </a:endParaRPr>
          </a:p>
          <a:p>
            <a:pPr marL="0">
              <a:buFont typeface="Wingdings" panose="05000000000000000000" pitchFamily="2" charset="2"/>
              <a:buNone/>
            </a:pPr>
            <a:r>
              <a:rPr kumimoji="1"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            </a:t>
            </a:r>
            <a:r>
              <a:rPr kumimoji="1"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DeQueue</a:t>
            </a: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(Q, s);   </a:t>
            </a:r>
            <a:r>
              <a:rPr kumimoji="1"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GetHead</a:t>
            </a: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(Q, t);</a:t>
            </a:r>
          </a:p>
          <a:p>
            <a:pPr marL="0">
              <a:buFont typeface="Wingdings" panose="05000000000000000000" pitchFamily="2" charset="2"/>
              <a:buNone/>
            </a:pPr>
            <a:r>
              <a:rPr kumimoji="1"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            if </a:t>
            </a:r>
            <a:r>
              <a:rPr kumimoji="1" lang="en-US" altLang="zh-CN" sz="2400" b="0" dirty="0">
                <a:solidFill>
                  <a:schemeClr val="tx2"/>
                </a:solidFill>
                <a:latin typeface="Times New Roman" panose="02020603050405020304" pitchFamily="18" charset="0"/>
              </a:rPr>
              <a:t>(t != 0)</a:t>
            </a:r>
            <a:r>
              <a:rPr kumimoji="1"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cout</a:t>
            </a:r>
            <a:r>
              <a:rPr kumimoji="1"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 &lt;&lt; t &lt;&lt; ‘ ’; else </a:t>
            </a:r>
            <a:r>
              <a:rPr kumimoji="1" lang="en-US" altLang="zh-CN" sz="2400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cout</a:t>
            </a:r>
            <a:r>
              <a:rPr kumimoji="1"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 &lt;&lt; </a:t>
            </a:r>
            <a:r>
              <a:rPr kumimoji="1" lang="en-US" altLang="zh-CN" sz="2400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endl</a:t>
            </a:r>
            <a:r>
              <a:rPr kumimoji="1"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;	 </a:t>
            </a:r>
            <a:r>
              <a:rPr kumimoji="1"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// </a:t>
            </a:r>
            <a:r>
              <a:rPr kumimoji="1" lang="zh-CN" altLang="en-US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输出一个系数</a:t>
            </a:r>
            <a:endParaRPr kumimoji="1" lang="en-US" altLang="zh-CN" sz="2400" dirty="0">
              <a:solidFill>
                <a:srgbClr val="00B050"/>
              </a:solidFill>
              <a:latin typeface="Times New Roman" panose="02020603050405020304" pitchFamily="18" charset="0"/>
            </a:endParaRPr>
          </a:p>
          <a:p>
            <a:pPr marL="0">
              <a:buFont typeface="Wingdings" panose="05000000000000000000" pitchFamily="2" charset="2"/>
              <a:buNone/>
            </a:pP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    </a:t>
            </a:r>
            <a:r>
              <a:rPr kumimoji="1"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EnQueue</a:t>
            </a: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(Q, </a:t>
            </a:r>
            <a:r>
              <a:rPr kumimoji="1"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s+t</a:t>
            </a: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);     </a:t>
            </a:r>
            <a:r>
              <a:rPr kumimoji="1"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// </a:t>
            </a:r>
            <a:r>
              <a:rPr kumimoji="1" lang="zh-CN" altLang="en-US" sz="2400" dirty="0">
                <a:solidFill>
                  <a:srgbClr val="00B050"/>
                </a:solidFill>
                <a:latin typeface="仿宋_GB2312" pitchFamily="49" charset="-122"/>
              </a:rPr>
              <a:t>计算下一行的系数</a:t>
            </a:r>
            <a:r>
              <a:rPr kumimoji="1" lang="en-US" altLang="zh-CN" sz="2400" dirty="0">
                <a:solidFill>
                  <a:srgbClr val="00B050"/>
                </a:solidFill>
                <a:latin typeface="仿宋_GB2312" pitchFamily="49" charset="-122"/>
              </a:rPr>
              <a:t>, </a:t>
            </a:r>
            <a:r>
              <a:rPr kumimoji="1" lang="zh-CN" altLang="en-US" sz="2400" dirty="0">
                <a:solidFill>
                  <a:srgbClr val="00B050"/>
                </a:solidFill>
                <a:latin typeface="仿宋_GB2312" pitchFamily="49" charset="-122"/>
              </a:rPr>
              <a:t>并进队</a:t>
            </a:r>
            <a:endParaRPr kumimoji="1" lang="zh-CN" altLang="en-US" sz="2400" dirty="0">
              <a:solidFill>
                <a:srgbClr val="00B050"/>
              </a:solidFill>
              <a:latin typeface="Times New Roman" panose="02020603050405020304" pitchFamily="18" charset="0"/>
            </a:endParaRPr>
          </a:p>
          <a:p>
            <a:pPr marL="0">
              <a:buFont typeface="Wingdings" panose="05000000000000000000" pitchFamily="2" charset="2"/>
              <a:buNone/>
            </a:pPr>
            <a:r>
              <a:rPr kumimoji="1"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        } while (t != 0)</a:t>
            </a:r>
            <a:endParaRPr kumimoji="1" lang="en-US" altLang="zh-CN" sz="2400" dirty="0">
              <a:solidFill>
                <a:srgbClr val="00B050"/>
              </a:solidFill>
              <a:latin typeface="Times New Roman" panose="02020603050405020304" pitchFamily="18" charset="0"/>
            </a:endParaRPr>
          </a:p>
          <a:p>
            <a:pPr marL="0">
              <a:buFont typeface="Wingdings" panose="05000000000000000000" pitchFamily="2" charset="2"/>
              <a:buNone/>
            </a:pPr>
            <a:r>
              <a:rPr kumimoji="1"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    } </a:t>
            </a:r>
            <a:r>
              <a:rPr kumimoji="1"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//</a:t>
            </a:r>
            <a:r>
              <a:rPr kumimoji="1" lang="zh-CN" altLang="en-US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for</a:t>
            </a:r>
          </a:p>
          <a:p>
            <a:pPr marL="0">
              <a:buFont typeface="Wingdings" panose="05000000000000000000" pitchFamily="2" charset="2"/>
              <a:buNone/>
            </a:pPr>
            <a:r>
              <a:rPr kumimoji="1"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} </a:t>
            </a:r>
            <a:r>
              <a:rPr kumimoji="1"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// </a:t>
            </a:r>
            <a:r>
              <a:rPr kumimoji="1" lang="en-US" altLang="zh-CN" sz="2400" dirty="0" err="1">
                <a:solidFill>
                  <a:srgbClr val="00B050"/>
                </a:solidFill>
                <a:latin typeface="Times New Roman" panose="02020603050405020304" pitchFamily="18" charset="0"/>
              </a:rPr>
              <a:t>Yanghui</a:t>
            </a:r>
            <a:endParaRPr lang="zh-CN" altLang="en-US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47826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EEFA8C-EB98-4A5C-91B2-F219BA5EE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车厢重排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7A6567-E74E-4E0D-B705-386FA0216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64704"/>
            <a:ext cx="8640959" cy="6093296"/>
          </a:xfrm>
        </p:spPr>
        <p:txBody>
          <a:bodyPr/>
          <a:lstStyle/>
          <a:p>
            <a:pPr marL="0" lvl="1" indent="0">
              <a:buNone/>
            </a:pPr>
            <a:r>
              <a:rPr lang="zh-CN" altLang="zh-CN" dirty="0">
                <a:latin typeface="+mj-ea"/>
                <a:ea typeface="+mj-ea"/>
              </a:rPr>
              <a:t>一列挂有</a:t>
            </a:r>
            <a:r>
              <a:rPr lang="zh-CN" altLang="en-US" dirty="0">
                <a:latin typeface="+mj-ea"/>
                <a:ea typeface="+mj-ea"/>
              </a:rPr>
              <a:t> </a:t>
            </a:r>
            <a:r>
              <a:rPr lang="en-US" altLang="zh-CN" i="1" dirty="0">
                <a:solidFill>
                  <a:srgbClr val="FF0000"/>
                </a:solidFill>
                <a:latin typeface="+mj-ea"/>
                <a:ea typeface="+mj-ea"/>
              </a:rPr>
              <a:t>n</a:t>
            </a:r>
            <a:r>
              <a:rPr lang="zh-CN" altLang="en-US" dirty="0">
                <a:latin typeface="+mj-ea"/>
                <a:ea typeface="+mj-ea"/>
              </a:rPr>
              <a:t> </a:t>
            </a:r>
            <a:r>
              <a:rPr lang="zh-CN" altLang="zh-CN" dirty="0">
                <a:latin typeface="+mj-ea"/>
                <a:ea typeface="+mj-ea"/>
              </a:rPr>
              <a:t>节车厢的货运列车途径</a:t>
            </a:r>
            <a:r>
              <a:rPr lang="zh-CN" altLang="en-US" dirty="0">
                <a:latin typeface="+mj-ea"/>
                <a:ea typeface="+mj-ea"/>
              </a:rPr>
              <a:t> </a:t>
            </a:r>
            <a:r>
              <a:rPr lang="en-US" altLang="zh-CN" i="1" dirty="0">
                <a:solidFill>
                  <a:srgbClr val="FF0000"/>
                </a:solidFill>
                <a:latin typeface="+mj-ea"/>
                <a:ea typeface="+mj-ea"/>
              </a:rPr>
              <a:t>n</a:t>
            </a:r>
            <a:r>
              <a:rPr lang="zh-CN" altLang="en-US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zh-CN" altLang="zh-CN" dirty="0">
                <a:latin typeface="+mj-ea"/>
                <a:ea typeface="+mj-ea"/>
              </a:rPr>
              <a:t>个车站，计划在行车途中将各节车厢停放在不同的车站。假设</a:t>
            </a:r>
            <a:r>
              <a:rPr lang="zh-CN" altLang="en-US" dirty="0">
                <a:latin typeface="+mj-ea"/>
                <a:ea typeface="+mj-ea"/>
              </a:rPr>
              <a:t> </a:t>
            </a:r>
            <a:r>
              <a:rPr lang="en-US" altLang="zh-CN" i="1" dirty="0">
                <a:solidFill>
                  <a:srgbClr val="FF0000"/>
                </a:solidFill>
                <a:latin typeface="+mj-ea"/>
                <a:ea typeface="+mj-ea"/>
              </a:rPr>
              <a:t>n</a:t>
            </a:r>
            <a:r>
              <a:rPr lang="zh-CN" altLang="en-US" dirty="0">
                <a:latin typeface="+mj-ea"/>
                <a:ea typeface="+mj-ea"/>
              </a:rPr>
              <a:t> </a:t>
            </a:r>
            <a:r>
              <a:rPr lang="zh-CN" altLang="zh-CN" dirty="0">
                <a:latin typeface="+mj-ea"/>
                <a:ea typeface="+mj-ea"/>
              </a:rPr>
              <a:t>个车站的编号从</a:t>
            </a:r>
            <a:r>
              <a:rPr lang="en-US" altLang="zh-CN" i="1" dirty="0">
                <a:solidFill>
                  <a:srgbClr val="FF0000"/>
                </a:solidFill>
                <a:latin typeface="+mj-ea"/>
                <a:ea typeface="+mj-ea"/>
              </a:rPr>
              <a:t>1</a:t>
            </a:r>
            <a:r>
              <a:rPr lang="zh-CN" altLang="en-US" i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zh-CN" altLang="zh-CN" dirty="0">
                <a:latin typeface="+mj-ea"/>
                <a:ea typeface="+mj-ea"/>
              </a:rPr>
              <a:t>到</a:t>
            </a:r>
            <a:r>
              <a:rPr lang="zh-CN" altLang="en-US" dirty="0">
                <a:latin typeface="+mj-ea"/>
                <a:ea typeface="+mj-ea"/>
              </a:rPr>
              <a:t> </a:t>
            </a:r>
            <a:r>
              <a:rPr lang="en-US" altLang="zh-CN" i="1" dirty="0">
                <a:solidFill>
                  <a:srgbClr val="FF0000"/>
                </a:solidFill>
                <a:latin typeface="+mj-ea"/>
                <a:ea typeface="+mj-ea"/>
              </a:rPr>
              <a:t>n</a:t>
            </a:r>
            <a:r>
              <a:rPr lang="zh-CN" altLang="zh-CN" dirty="0">
                <a:latin typeface="+mj-ea"/>
                <a:ea typeface="+mj-ea"/>
              </a:rPr>
              <a:t>，货运列车按照从第</a:t>
            </a:r>
            <a:r>
              <a:rPr lang="en-US" altLang="zh-CN" dirty="0">
                <a:latin typeface="+mj-ea"/>
                <a:ea typeface="+mj-ea"/>
              </a:rPr>
              <a:t> </a:t>
            </a:r>
            <a:r>
              <a:rPr lang="en-US" altLang="zh-CN" i="1" dirty="0">
                <a:solidFill>
                  <a:srgbClr val="FF0000"/>
                </a:solidFill>
                <a:latin typeface="+mj-ea"/>
                <a:ea typeface="+mj-ea"/>
              </a:rPr>
              <a:t>n</a:t>
            </a:r>
            <a:r>
              <a:rPr lang="zh-CN" altLang="en-US" i="1" dirty="0">
                <a:solidFill>
                  <a:srgbClr val="C00000"/>
                </a:solidFill>
                <a:latin typeface="+mj-ea"/>
                <a:ea typeface="+mj-ea"/>
              </a:rPr>
              <a:t> </a:t>
            </a:r>
            <a:r>
              <a:rPr lang="zh-CN" altLang="zh-CN" dirty="0">
                <a:latin typeface="+mj-ea"/>
                <a:ea typeface="+mj-ea"/>
              </a:rPr>
              <a:t>站到第</a:t>
            </a:r>
            <a:r>
              <a:rPr lang="en-US" altLang="zh-CN" i="1" dirty="0">
                <a:solidFill>
                  <a:srgbClr val="FF0000"/>
                </a:solidFill>
                <a:latin typeface="+mj-ea"/>
                <a:ea typeface="+mj-ea"/>
              </a:rPr>
              <a:t>1</a:t>
            </a:r>
            <a:r>
              <a:rPr lang="zh-CN" altLang="en-US" i="1" dirty="0">
                <a:solidFill>
                  <a:srgbClr val="C00000"/>
                </a:solidFill>
                <a:latin typeface="+mj-ea"/>
                <a:ea typeface="+mj-ea"/>
              </a:rPr>
              <a:t> </a:t>
            </a:r>
            <a:r>
              <a:rPr lang="zh-CN" altLang="zh-CN" dirty="0">
                <a:latin typeface="+mj-ea"/>
                <a:ea typeface="+mj-ea"/>
              </a:rPr>
              <a:t>站的顺序经过这些车站，且将与车站编号相同的车厢卸下</a:t>
            </a:r>
            <a:r>
              <a:rPr lang="zh-CN" altLang="en-US" dirty="0">
                <a:latin typeface="+mj-ea"/>
                <a:ea typeface="+mj-ea"/>
              </a:rPr>
              <a:t>。</a:t>
            </a:r>
            <a:r>
              <a:rPr lang="zh-CN" altLang="zh-CN" dirty="0">
                <a:latin typeface="+mj-ea"/>
                <a:ea typeface="+mj-ea"/>
              </a:rPr>
              <a:t>货运列车的各节车厢以随机顺序入轨，为方便列车在各个车站卸掉相应的车厢，则须重排这些车厢，使得各车厢</a:t>
            </a:r>
            <a:r>
              <a:rPr lang="zh-CN" altLang="zh-CN" dirty="0">
                <a:solidFill>
                  <a:srgbClr val="FF0000"/>
                </a:solidFill>
                <a:latin typeface="+mj-ea"/>
                <a:ea typeface="+mj-ea"/>
              </a:rPr>
              <a:t>从前往后</a:t>
            </a:r>
            <a:r>
              <a:rPr lang="zh-CN" altLang="zh-CN" dirty="0">
                <a:latin typeface="+mj-ea"/>
                <a:ea typeface="+mj-ea"/>
              </a:rPr>
              <a:t>依次编号为</a:t>
            </a:r>
            <a:r>
              <a:rPr lang="en-US" altLang="zh-CN" i="1" dirty="0">
                <a:solidFill>
                  <a:srgbClr val="FF0000"/>
                </a:solidFill>
                <a:latin typeface="+mj-ea"/>
                <a:ea typeface="+mj-ea"/>
              </a:rPr>
              <a:t>1 </a:t>
            </a:r>
            <a:r>
              <a:rPr lang="zh-CN" altLang="zh-CN" dirty="0">
                <a:latin typeface="+mj-ea"/>
                <a:ea typeface="+mj-ea"/>
              </a:rPr>
              <a:t>到</a:t>
            </a:r>
            <a:r>
              <a:rPr lang="en-US" altLang="zh-CN" dirty="0">
                <a:latin typeface="+mj-ea"/>
                <a:ea typeface="+mj-ea"/>
              </a:rPr>
              <a:t> </a:t>
            </a:r>
            <a:r>
              <a:rPr lang="en-US" altLang="zh-CN" i="1" dirty="0">
                <a:solidFill>
                  <a:srgbClr val="FF0000"/>
                </a:solidFill>
                <a:latin typeface="+mj-ea"/>
                <a:ea typeface="+mj-ea"/>
              </a:rPr>
              <a:t>n</a:t>
            </a:r>
            <a:r>
              <a:rPr lang="zh-CN" altLang="zh-CN" dirty="0">
                <a:latin typeface="+mj-ea"/>
                <a:ea typeface="+mj-ea"/>
              </a:rPr>
              <a:t>，这样在每个车站只需</a:t>
            </a:r>
            <a:r>
              <a:rPr lang="zh-CN" altLang="zh-CN" dirty="0">
                <a:solidFill>
                  <a:srgbClr val="0000FF"/>
                </a:solidFill>
                <a:latin typeface="+mj-ea"/>
                <a:ea typeface="+mj-ea"/>
              </a:rPr>
              <a:t>卸掉当前最后一节车厢</a:t>
            </a:r>
            <a:r>
              <a:rPr lang="zh-CN" altLang="zh-CN" dirty="0">
                <a:latin typeface="+mj-ea"/>
                <a:ea typeface="+mj-ea"/>
              </a:rPr>
              <a:t>即可。</a:t>
            </a:r>
            <a:endParaRPr lang="en-US" altLang="zh-CN" dirty="0">
              <a:latin typeface="+mj-ea"/>
              <a:ea typeface="+mj-ea"/>
            </a:endParaRPr>
          </a:p>
          <a:p>
            <a:pPr marL="0" lvl="1" indent="0">
              <a:buFont typeface="Wingdings" panose="05000000000000000000" pitchFamily="2" charset="2"/>
              <a:buNone/>
            </a:pPr>
            <a:r>
              <a:rPr lang="zh-CN" altLang="zh-CN" dirty="0">
                <a:latin typeface="+mj-ea"/>
                <a:ea typeface="+mj-ea"/>
              </a:rPr>
              <a:t>车厢重排可通过</a:t>
            </a:r>
            <a:r>
              <a:rPr lang="zh-CN" altLang="zh-CN" b="1" dirty="0">
                <a:solidFill>
                  <a:srgbClr val="00B050"/>
                </a:solidFill>
                <a:latin typeface="+mj-ea"/>
                <a:ea typeface="+mj-ea"/>
              </a:rPr>
              <a:t>转轨站</a:t>
            </a:r>
            <a:r>
              <a:rPr lang="zh-CN" altLang="zh-CN" dirty="0">
                <a:latin typeface="+mj-ea"/>
                <a:ea typeface="+mj-ea"/>
              </a:rPr>
              <a:t>完成。一个转轨站包含</a:t>
            </a:r>
            <a:r>
              <a:rPr lang="en-US" altLang="zh-CN" b="1" i="1" dirty="0">
                <a:solidFill>
                  <a:srgbClr val="00B050"/>
                </a:solidFill>
                <a:latin typeface="+mj-ea"/>
                <a:ea typeface="+mj-ea"/>
              </a:rPr>
              <a:t>1</a:t>
            </a:r>
            <a:r>
              <a:rPr lang="zh-CN" altLang="en-US" b="1" i="1" dirty="0">
                <a:solidFill>
                  <a:srgbClr val="00B050"/>
                </a:solidFill>
                <a:latin typeface="+mj-ea"/>
                <a:ea typeface="+mj-ea"/>
              </a:rPr>
              <a:t> </a:t>
            </a:r>
            <a:r>
              <a:rPr lang="zh-CN" altLang="zh-CN" dirty="0">
                <a:solidFill>
                  <a:srgbClr val="00B050"/>
                </a:solidFill>
                <a:latin typeface="+mj-ea"/>
                <a:ea typeface="+mj-ea"/>
              </a:rPr>
              <a:t>个入轨</a:t>
            </a:r>
            <a:r>
              <a:rPr lang="zh-CN" altLang="en-US" dirty="0">
                <a:latin typeface="+mj-ea"/>
                <a:ea typeface="+mj-ea"/>
              </a:rPr>
              <a:t>（</a:t>
            </a:r>
            <a:r>
              <a:rPr lang="en-US" altLang="zh-CN" b="1" dirty="0">
                <a:latin typeface="+mj-ea"/>
                <a:ea typeface="+mj-ea"/>
              </a:rPr>
              <a:t>I</a:t>
            </a:r>
            <a:r>
              <a:rPr lang="zh-CN" altLang="en-US" dirty="0">
                <a:latin typeface="+mj-ea"/>
                <a:ea typeface="+mj-ea"/>
              </a:rPr>
              <a:t>）</a:t>
            </a:r>
            <a:r>
              <a:rPr lang="zh-CN" altLang="zh-CN" dirty="0">
                <a:latin typeface="+mj-ea"/>
                <a:ea typeface="+mj-ea"/>
              </a:rPr>
              <a:t>，</a:t>
            </a:r>
            <a:r>
              <a:rPr lang="en-US" altLang="zh-CN" b="1" i="1" dirty="0">
                <a:solidFill>
                  <a:srgbClr val="00B050"/>
                </a:solidFill>
                <a:latin typeface="+mj-ea"/>
                <a:ea typeface="+mj-ea"/>
              </a:rPr>
              <a:t>1</a:t>
            </a:r>
            <a:r>
              <a:rPr lang="zh-CN" altLang="en-US" dirty="0">
                <a:solidFill>
                  <a:srgbClr val="00B050"/>
                </a:solidFill>
                <a:latin typeface="+mj-ea"/>
                <a:ea typeface="+mj-ea"/>
              </a:rPr>
              <a:t> </a:t>
            </a:r>
            <a:r>
              <a:rPr lang="zh-CN" altLang="zh-CN" dirty="0">
                <a:solidFill>
                  <a:srgbClr val="00B050"/>
                </a:solidFill>
                <a:latin typeface="+mj-ea"/>
                <a:ea typeface="+mj-ea"/>
              </a:rPr>
              <a:t>个出轨</a:t>
            </a:r>
            <a:r>
              <a:rPr lang="zh-CN" altLang="en-US" dirty="0">
                <a:latin typeface="+mj-ea"/>
                <a:ea typeface="+mj-ea"/>
              </a:rPr>
              <a:t>（</a:t>
            </a:r>
            <a:r>
              <a:rPr lang="en-US" altLang="zh-CN" b="1" dirty="0">
                <a:latin typeface="+mj-ea"/>
                <a:ea typeface="+mj-ea"/>
              </a:rPr>
              <a:t>O</a:t>
            </a:r>
            <a:r>
              <a:rPr lang="zh-CN" altLang="en-US" dirty="0">
                <a:latin typeface="+mj-ea"/>
                <a:ea typeface="+mj-ea"/>
              </a:rPr>
              <a:t>）</a:t>
            </a:r>
            <a:r>
              <a:rPr lang="zh-CN" altLang="zh-CN" dirty="0">
                <a:latin typeface="+mj-ea"/>
                <a:ea typeface="+mj-ea"/>
              </a:rPr>
              <a:t>和</a:t>
            </a:r>
            <a:r>
              <a:rPr lang="zh-CN" altLang="en-US" dirty="0">
                <a:latin typeface="+mj-ea"/>
                <a:ea typeface="+mj-ea"/>
              </a:rPr>
              <a:t> </a:t>
            </a:r>
            <a:r>
              <a:rPr lang="en-US" altLang="zh-CN" b="1" i="1" dirty="0">
                <a:solidFill>
                  <a:srgbClr val="00B050"/>
                </a:solidFill>
                <a:latin typeface="+mj-ea"/>
                <a:ea typeface="+mj-ea"/>
              </a:rPr>
              <a:t>k</a:t>
            </a:r>
            <a:r>
              <a:rPr lang="zh-CN" altLang="en-US" b="1" dirty="0">
                <a:solidFill>
                  <a:srgbClr val="00B050"/>
                </a:solidFill>
                <a:latin typeface="+mj-ea"/>
                <a:ea typeface="+mj-ea"/>
              </a:rPr>
              <a:t> </a:t>
            </a:r>
            <a:r>
              <a:rPr lang="zh-CN" altLang="zh-CN" dirty="0">
                <a:solidFill>
                  <a:srgbClr val="00B050"/>
                </a:solidFill>
                <a:latin typeface="+mj-ea"/>
                <a:ea typeface="+mj-ea"/>
              </a:rPr>
              <a:t>个</a:t>
            </a:r>
            <a:r>
              <a:rPr lang="zh-CN" altLang="zh-CN" dirty="0">
                <a:latin typeface="+mj-ea"/>
                <a:ea typeface="+mj-ea"/>
              </a:rPr>
              <a:t>位于入轨和出轨之间</a:t>
            </a:r>
            <a:r>
              <a:rPr lang="zh-CN" altLang="zh-CN" dirty="0">
                <a:solidFill>
                  <a:srgbClr val="00B050"/>
                </a:solidFill>
                <a:latin typeface="+mj-ea"/>
                <a:ea typeface="+mj-ea"/>
              </a:rPr>
              <a:t>缓冲轨</a:t>
            </a:r>
            <a:r>
              <a:rPr lang="zh-CN" altLang="en-US" dirty="0">
                <a:latin typeface="+mj-ea"/>
                <a:ea typeface="+mj-ea"/>
              </a:rPr>
              <a:t>（</a:t>
            </a:r>
            <a:r>
              <a:rPr lang="en-US" altLang="zh-CN" b="1" dirty="0">
                <a:latin typeface="+mj-ea"/>
                <a:ea typeface="+mj-ea"/>
              </a:rPr>
              <a:t>H</a:t>
            </a:r>
            <a:r>
              <a:rPr lang="en-US" altLang="zh-CN" b="1" baseline="-25000" dirty="0">
                <a:latin typeface="+mj-ea"/>
                <a:ea typeface="+mj-ea"/>
              </a:rPr>
              <a:t>i</a:t>
            </a:r>
            <a:r>
              <a:rPr lang="zh-CN" altLang="en-US" dirty="0">
                <a:latin typeface="+mj-ea"/>
                <a:ea typeface="+mj-ea"/>
              </a:rPr>
              <a:t>）</a:t>
            </a:r>
            <a:r>
              <a:rPr lang="zh-CN" altLang="zh-CN" dirty="0">
                <a:latin typeface="+mj-ea"/>
                <a:ea typeface="+mj-ea"/>
              </a:rPr>
              <a:t>。请设计合适的算法来实现火车车厢的重排。</a:t>
            </a:r>
            <a:endParaRPr lang="zh-CN" altLang="en-US" dirty="0">
              <a:latin typeface="+mj-ea"/>
              <a:ea typeface="+mj-ea"/>
            </a:endParaRPr>
          </a:p>
          <a:p>
            <a:pPr marL="0"/>
            <a:endParaRPr lang="zh-CN" altLang="en-US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154926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C0ED45-C7F8-403D-A85E-3EDFE8703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车厢重排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1315D3-2804-4197-AD55-B8BD344FB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908720"/>
            <a:ext cx="8784975" cy="5785331"/>
          </a:xfrm>
        </p:spPr>
        <p:txBody>
          <a:bodyPr/>
          <a:lstStyle/>
          <a:p>
            <a:pPr marL="341313" indent="-341313"/>
            <a:r>
              <a:rPr lang="zh-CN" altLang="zh-CN" sz="2400" dirty="0">
                <a:latin typeface="+mn-ea"/>
                <a:ea typeface="+mn-ea"/>
              </a:rPr>
              <a:t>本质</a:t>
            </a:r>
            <a:r>
              <a:rPr lang="zh-CN" altLang="en-US" sz="2400" dirty="0">
                <a:latin typeface="+mn-ea"/>
                <a:ea typeface="+mn-ea"/>
              </a:rPr>
              <a:t>：</a:t>
            </a:r>
            <a:r>
              <a:rPr lang="zh-CN" altLang="zh-CN" sz="2400" dirty="0">
                <a:solidFill>
                  <a:srgbClr val="0000FF"/>
                </a:solidFill>
                <a:latin typeface="+mn-ea"/>
                <a:ea typeface="+mn-ea"/>
              </a:rPr>
              <a:t>将一个无序序列转换成一个以队列方式组织的有序序列</a:t>
            </a:r>
            <a:endParaRPr lang="en-US" altLang="zh-CN" dirty="0">
              <a:solidFill>
                <a:srgbClr val="0000FF"/>
              </a:solidFill>
              <a:latin typeface="+mn-ea"/>
              <a:ea typeface="+mn-ea"/>
            </a:endParaRPr>
          </a:p>
          <a:p>
            <a:pPr marL="684000" lvl="3">
              <a:lnSpc>
                <a:spcPct val="150000"/>
              </a:lnSpc>
              <a:spcBef>
                <a:spcPts val="0"/>
              </a:spcBef>
            </a:pPr>
            <a:r>
              <a:rPr lang="zh-CN" altLang="zh-CN" sz="2000" dirty="0">
                <a:latin typeface="+mn-ea"/>
                <a:ea typeface="+mn-ea"/>
              </a:rPr>
              <a:t>转换过程</a:t>
            </a:r>
            <a:r>
              <a:rPr lang="zh-CN" altLang="en-US" sz="2000" dirty="0">
                <a:latin typeface="+mn-ea"/>
                <a:ea typeface="+mn-ea"/>
              </a:rPr>
              <a:t>采用</a:t>
            </a:r>
            <a:r>
              <a:rPr lang="zh-CN" altLang="zh-CN" sz="2000" dirty="0">
                <a:latin typeface="+mn-ea"/>
                <a:ea typeface="+mn-ea"/>
              </a:rPr>
              <a:t>缓冲轨存储尚未确定输出次序的车厢，满足递增或递减的特性即可，以栈或队列组织均可</a:t>
            </a:r>
            <a:endParaRPr lang="en-US" altLang="zh-CN" sz="2000" dirty="0">
              <a:latin typeface="+mn-ea"/>
              <a:ea typeface="+mn-ea"/>
            </a:endParaRPr>
          </a:p>
          <a:p>
            <a:pPr marL="341313" indent="-341313"/>
            <a:r>
              <a:rPr lang="zh-CN" altLang="en-US" sz="2400" dirty="0">
                <a:latin typeface="+mn-ea"/>
                <a:ea typeface="+mn-ea"/>
              </a:rPr>
              <a:t>转化为：</a:t>
            </a:r>
            <a:r>
              <a:rPr lang="zh-CN" altLang="zh-CN" sz="2400" dirty="0">
                <a:solidFill>
                  <a:srgbClr val="0000FF"/>
                </a:solidFill>
                <a:latin typeface="+mn-ea"/>
                <a:ea typeface="+mn-ea"/>
              </a:rPr>
              <a:t>将一个长度为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n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zh-CN" altLang="zh-CN" sz="2400" dirty="0">
                <a:solidFill>
                  <a:srgbClr val="0000FF"/>
                </a:solidFill>
                <a:latin typeface="+mn-ea"/>
                <a:ea typeface="+mn-ea"/>
              </a:rPr>
              <a:t>的随机序列</a:t>
            </a:r>
            <a:r>
              <a:rPr lang="zh-CN" altLang="zh-CN" sz="2400" dirty="0">
                <a:latin typeface="+mn-ea"/>
                <a:ea typeface="+mn-ea"/>
              </a:rPr>
              <a:t>（车厢进入入轨），</a:t>
            </a:r>
            <a:r>
              <a:rPr lang="zh-CN" altLang="zh-CN" sz="2400" dirty="0">
                <a:solidFill>
                  <a:srgbClr val="0000FF"/>
                </a:solidFill>
                <a:latin typeface="+mn-ea"/>
                <a:ea typeface="+mn-ea"/>
              </a:rPr>
              <a:t>通过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k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zh-CN" altLang="zh-CN" sz="2400" dirty="0">
                <a:solidFill>
                  <a:srgbClr val="0000FF"/>
                </a:solidFill>
                <a:latin typeface="+mn-ea"/>
                <a:ea typeface="+mn-ea"/>
              </a:rPr>
              <a:t>个缓冲队列，输出到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 1 </a:t>
            </a:r>
            <a:r>
              <a:rPr lang="zh-CN" altLang="zh-CN" sz="2400" dirty="0">
                <a:solidFill>
                  <a:srgbClr val="0000FF"/>
                </a:solidFill>
                <a:latin typeface="+mn-ea"/>
                <a:ea typeface="+mn-ea"/>
              </a:rPr>
              <a:t>个队列</a:t>
            </a:r>
            <a:r>
              <a:rPr lang="zh-CN" altLang="zh-CN" sz="2400" dirty="0">
                <a:latin typeface="+mn-ea"/>
                <a:ea typeface="+mn-ea"/>
              </a:rPr>
              <a:t>（出轨）</a:t>
            </a:r>
            <a:endParaRPr lang="en-US" altLang="zh-CN" sz="2400" dirty="0">
              <a:latin typeface="+mn-ea"/>
              <a:ea typeface="+mn-ea"/>
            </a:endParaRPr>
          </a:p>
          <a:p>
            <a:pPr marL="712788" lvl="1" indent="-354013"/>
            <a:r>
              <a:rPr lang="zh-CN" altLang="zh-CN" sz="2000" dirty="0">
                <a:latin typeface="+mn-ea"/>
                <a:ea typeface="+mn-ea"/>
              </a:rPr>
              <a:t>重排规则：</a:t>
            </a:r>
          </a:p>
          <a:p>
            <a:pPr marL="1074738" lvl="2" indent="-361950">
              <a:buFont typeface="Garamond" panose="02020404030301010803" pitchFamily="18" charset="0"/>
              <a:buAutoNum type="arabicPeriod"/>
              <a:tabLst/>
            </a:pPr>
            <a:r>
              <a:rPr lang="zh-CN" altLang="zh-CN" sz="2000" dirty="0">
                <a:latin typeface="+mn-ea"/>
                <a:ea typeface="+mn-ea"/>
              </a:rPr>
              <a:t>一个车厢从</a:t>
            </a:r>
            <a:r>
              <a:rPr lang="zh-CN" altLang="zh-CN" sz="2000" b="1" dirty="0">
                <a:solidFill>
                  <a:srgbClr val="00B050"/>
                </a:solidFill>
                <a:latin typeface="+mn-ea"/>
                <a:ea typeface="+mn-ea"/>
              </a:rPr>
              <a:t>入轨</a:t>
            </a:r>
            <a:r>
              <a:rPr lang="zh-CN" altLang="zh-CN" sz="2000" dirty="0">
                <a:latin typeface="+mn-ea"/>
                <a:ea typeface="+mn-ea"/>
              </a:rPr>
              <a:t>移至</a:t>
            </a:r>
            <a:r>
              <a:rPr lang="zh-CN" altLang="zh-CN" sz="2000" b="1" dirty="0">
                <a:solidFill>
                  <a:srgbClr val="00B050"/>
                </a:solidFill>
                <a:latin typeface="+mn-ea"/>
                <a:ea typeface="+mn-ea"/>
              </a:rPr>
              <a:t>出轨</a:t>
            </a:r>
            <a:r>
              <a:rPr lang="zh-CN" altLang="zh-CN" sz="2000" dirty="0">
                <a:latin typeface="+mn-ea"/>
                <a:ea typeface="+mn-ea"/>
              </a:rPr>
              <a:t>或</a:t>
            </a:r>
            <a:r>
              <a:rPr lang="zh-CN" altLang="zh-CN" sz="2000" b="1" dirty="0">
                <a:solidFill>
                  <a:srgbClr val="00B050"/>
                </a:solidFill>
                <a:latin typeface="+mn-ea"/>
                <a:ea typeface="+mn-ea"/>
              </a:rPr>
              <a:t>缓冲轨</a:t>
            </a:r>
            <a:r>
              <a:rPr lang="zh-CN" altLang="zh-CN" sz="2000" dirty="0">
                <a:latin typeface="+mn-ea"/>
                <a:ea typeface="+mn-ea"/>
              </a:rPr>
              <a:t>；</a:t>
            </a:r>
          </a:p>
          <a:p>
            <a:pPr marL="1074738" lvl="2" indent="-361950">
              <a:buFont typeface="Garamond" panose="02020404030301010803" pitchFamily="18" charset="0"/>
              <a:buAutoNum type="arabicPeriod"/>
              <a:tabLst/>
            </a:pPr>
            <a:r>
              <a:rPr lang="zh-CN" altLang="zh-CN" sz="2000" dirty="0">
                <a:latin typeface="+mn-ea"/>
                <a:ea typeface="+mn-ea"/>
              </a:rPr>
              <a:t>一个车厢只有在</a:t>
            </a:r>
            <a:r>
              <a:rPr lang="zh-CN" altLang="zh-CN" sz="2000" b="1" dirty="0">
                <a:latin typeface="+mn-ea"/>
                <a:ea typeface="+mn-ea"/>
              </a:rPr>
              <a:t>其编号恰是下一个待输出编号</a:t>
            </a:r>
            <a:r>
              <a:rPr lang="zh-CN" altLang="zh-CN" sz="2000" dirty="0">
                <a:latin typeface="+mn-ea"/>
                <a:ea typeface="+mn-ea"/>
              </a:rPr>
              <a:t>时，可移到出轨；</a:t>
            </a:r>
          </a:p>
          <a:p>
            <a:pPr marL="1074738" lvl="2" indent="-361950">
              <a:buFont typeface="Garamond" panose="02020404030301010803" pitchFamily="18" charset="0"/>
              <a:buAutoNum type="arabicPeriod"/>
              <a:tabLst/>
            </a:pPr>
            <a:r>
              <a:rPr lang="zh-CN" altLang="zh-CN" sz="2000" dirty="0">
                <a:latin typeface="+mn-ea"/>
                <a:ea typeface="+mn-ea"/>
              </a:rPr>
              <a:t>一个车厢移到某个缓冲轨，仅当其编号大于该缓冲轨中队尾车厢的编号，若多个缓冲轨满足这一条件，则选择队尾车厢编号最大的，否则选择一个空缓冲轨，若无空缓冲轨则无法重排</a:t>
            </a:r>
            <a:r>
              <a:rPr lang="zh-CN" altLang="en-US" sz="2000" dirty="0">
                <a:latin typeface="+mn-ea"/>
                <a:ea typeface="+mn-ea"/>
              </a:rPr>
              <a:t>。</a:t>
            </a:r>
            <a:endParaRPr lang="zh-CN" altLang="zh-CN" sz="20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551731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DD08CD-C876-4882-952F-C157D4BA9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车厢重排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8E71EB6B-DABB-4821-AD4D-FED4CDFA8205}"/>
              </a:ext>
            </a:extLst>
          </p:cNvPr>
          <p:cNvCxnSpPr>
            <a:cxnSpLocks/>
          </p:cNvCxnSpPr>
          <p:nvPr/>
        </p:nvCxnSpPr>
        <p:spPr>
          <a:xfrm>
            <a:off x="1534145" y="2676352"/>
            <a:ext cx="161766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6FC1497B-7AB2-4924-83D1-B6EA7AB1D0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6033" y="2204864"/>
            <a:ext cx="17525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/>
              <a:t>581742963</a:t>
            </a:r>
            <a:endParaRPr lang="zh-CN" alt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3BFCA50-276B-4A86-92B1-DB2A41F49D8A}"/>
              </a:ext>
            </a:extLst>
          </p:cNvPr>
          <p:cNvCxnSpPr>
            <a:cxnSpLocks/>
          </p:cNvCxnSpPr>
          <p:nvPr/>
        </p:nvCxnSpPr>
        <p:spPr>
          <a:xfrm>
            <a:off x="3931443" y="2862089"/>
            <a:ext cx="1668463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7FEAA63-C273-45EA-95D7-0550FA7F1A4F}"/>
              </a:ext>
            </a:extLst>
          </p:cNvPr>
          <p:cNvCxnSpPr>
            <a:cxnSpLocks/>
          </p:cNvCxnSpPr>
          <p:nvPr/>
        </p:nvCxnSpPr>
        <p:spPr>
          <a:xfrm>
            <a:off x="6033467" y="2676352"/>
            <a:ext cx="161766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6368D14-A16B-4CFE-A50F-86729A9888D9}"/>
              </a:ext>
            </a:extLst>
          </p:cNvPr>
          <p:cNvCxnSpPr>
            <a:cxnSpLocks/>
          </p:cNvCxnSpPr>
          <p:nvPr/>
        </p:nvCxnSpPr>
        <p:spPr>
          <a:xfrm>
            <a:off x="3931443" y="3283630"/>
            <a:ext cx="1668463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C25FAFB8-8838-4279-81E3-0D3EF1607E01}"/>
              </a:ext>
            </a:extLst>
          </p:cNvPr>
          <p:cNvCxnSpPr>
            <a:cxnSpLocks/>
          </p:cNvCxnSpPr>
          <p:nvPr/>
        </p:nvCxnSpPr>
        <p:spPr>
          <a:xfrm>
            <a:off x="3945731" y="3668543"/>
            <a:ext cx="1668463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4ACBC2C-2FA4-4F30-B48E-31ED0360A410}"/>
              </a:ext>
            </a:extLst>
          </p:cNvPr>
          <p:cNvCxnSpPr>
            <a:cxnSpLocks/>
          </p:cNvCxnSpPr>
          <p:nvPr/>
        </p:nvCxnSpPr>
        <p:spPr>
          <a:xfrm>
            <a:off x="1534145" y="5100662"/>
            <a:ext cx="161766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78B9693A-A4E0-4AAD-B486-13295599153D}"/>
              </a:ext>
            </a:extLst>
          </p:cNvPr>
          <p:cNvCxnSpPr>
            <a:cxnSpLocks/>
          </p:cNvCxnSpPr>
          <p:nvPr/>
        </p:nvCxnSpPr>
        <p:spPr>
          <a:xfrm>
            <a:off x="3931443" y="5270525"/>
            <a:ext cx="1668463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5B45D531-3EFE-430C-9632-C8B7AC56B3DE}"/>
              </a:ext>
            </a:extLst>
          </p:cNvPr>
          <p:cNvCxnSpPr>
            <a:cxnSpLocks/>
          </p:cNvCxnSpPr>
          <p:nvPr/>
        </p:nvCxnSpPr>
        <p:spPr>
          <a:xfrm>
            <a:off x="6033467" y="5100662"/>
            <a:ext cx="161766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AB9F1647-FAA6-4F9F-839B-BB9E66E69A1B}"/>
              </a:ext>
            </a:extLst>
          </p:cNvPr>
          <p:cNvCxnSpPr>
            <a:cxnSpLocks/>
          </p:cNvCxnSpPr>
          <p:nvPr/>
        </p:nvCxnSpPr>
        <p:spPr>
          <a:xfrm>
            <a:off x="3931443" y="5694893"/>
            <a:ext cx="1668463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04AF2D65-0B56-4019-9537-2E9BB9EBE2A1}"/>
              </a:ext>
            </a:extLst>
          </p:cNvPr>
          <p:cNvCxnSpPr>
            <a:cxnSpLocks/>
          </p:cNvCxnSpPr>
          <p:nvPr/>
        </p:nvCxnSpPr>
        <p:spPr>
          <a:xfrm>
            <a:off x="3931443" y="6073787"/>
            <a:ext cx="1668463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13FDD437-5F56-48D2-8BBA-514D5FD2C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0531" y="4900637"/>
            <a:ext cx="13493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/>
              <a:t>9 6 3 </a:t>
            </a:r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65F5B9C-A3EA-4E30-8302-185BA14DC8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0531" y="5308625"/>
            <a:ext cx="13493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/>
              <a:t> 7 4 2</a:t>
            </a:r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AB1CD93-ED2E-4E35-8777-20C0A3E5A1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0531" y="5683275"/>
            <a:ext cx="13493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67E3B8C-05AB-4658-B389-BC7B3A9054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4718" y="2655714"/>
            <a:ext cx="427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H</a:t>
            </a:r>
            <a:r>
              <a:rPr lang="en-US" altLang="zh-CN" baseline="-25000"/>
              <a:t>1</a:t>
            </a:r>
            <a:endParaRPr lang="zh-CN" altLang="en-US" baseline="-2500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82EB413-468D-4B32-9682-A09CC5D921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4718" y="3047827"/>
            <a:ext cx="4270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H</a:t>
            </a:r>
            <a:r>
              <a:rPr lang="en-US" altLang="zh-CN" baseline="-25000"/>
              <a:t>2</a:t>
            </a:r>
            <a:endParaRPr lang="zh-CN" altLang="en-US" baseline="-2500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8B7EC67-9203-4108-B6E6-84C71F68A6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4718" y="3458989"/>
            <a:ext cx="4270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H</a:t>
            </a:r>
            <a:r>
              <a:rPr lang="en-US" altLang="zh-CN" baseline="-25000"/>
              <a:t>3</a:t>
            </a:r>
            <a:endParaRPr lang="zh-CN" altLang="en-US" baseline="-2500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FD447AD-E25D-43AA-B233-71D38A50DF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608" y="2492202"/>
            <a:ext cx="2428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I</a:t>
            </a:r>
            <a:endParaRPr lang="zh-CN" altLang="en-US" baseline="-2500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BC98988-B42A-4919-9926-747B1285F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1617" y="2492202"/>
            <a:ext cx="3587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O</a:t>
            </a:r>
            <a:endParaRPr lang="zh-CN" altLang="en-US" baseline="-2500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3A9995F-66C0-4F25-B46B-4BCDF9674C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608" y="4941912"/>
            <a:ext cx="2428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I</a:t>
            </a:r>
            <a:endParaRPr lang="zh-CN" altLang="en-US" baseline="-2500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3C63047-EBB1-4DD6-9E6B-07D031486D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1617" y="4941912"/>
            <a:ext cx="3587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O</a:t>
            </a:r>
            <a:endParaRPr lang="zh-CN" altLang="en-US" baseline="-2500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75D7E89-5836-4547-BA29-133D6CB2BE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0281" y="5065737"/>
            <a:ext cx="4254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H</a:t>
            </a:r>
            <a:r>
              <a:rPr lang="en-US" altLang="zh-CN" baseline="-25000"/>
              <a:t>1</a:t>
            </a:r>
            <a:endParaRPr lang="zh-CN" altLang="en-US" baseline="-2500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7E97083-126C-4F1C-83D2-B3816BF9EF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0281" y="5456262"/>
            <a:ext cx="425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H</a:t>
            </a:r>
            <a:r>
              <a:rPr lang="en-US" altLang="zh-CN" baseline="-25000"/>
              <a:t>2</a:t>
            </a:r>
            <a:endParaRPr lang="zh-CN" altLang="en-US" baseline="-2500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F5D6161-AA65-4FA1-855F-25D8CA9390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0281" y="5867425"/>
            <a:ext cx="4254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H</a:t>
            </a:r>
            <a:r>
              <a:rPr lang="en-US" altLang="zh-CN" baseline="-25000"/>
              <a:t>3</a:t>
            </a:r>
            <a:endParaRPr lang="zh-CN" altLang="en-US" baseline="-2500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A4D8B74-F4CF-4F46-8BC2-8BEE3C6EFF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9" y="764704"/>
            <a:ext cx="8568952" cy="1284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b="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示例：</a:t>
            </a:r>
            <a:r>
              <a:rPr lang="en-US" altLang="zh-CN" sz="2800" b="0" dirty="0">
                <a:latin typeface="+mn-ea"/>
                <a:ea typeface="+mn-ea"/>
                <a:cs typeface="Times New Roman" panose="02020603050405020304" pitchFamily="18" charset="0"/>
              </a:rPr>
              <a:t>9</a:t>
            </a:r>
            <a:r>
              <a:rPr lang="zh-CN" altLang="en-US" sz="2800" b="0" dirty="0">
                <a:latin typeface="+mn-ea"/>
                <a:ea typeface="+mn-ea"/>
                <a:cs typeface="Times New Roman" panose="02020603050405020304" pitchFamily="18" charset="0"/>
              </a:rPr>
              <a:t>节车厢的货车，使用</a:t>
            </a:r>
            <a:r>
              <a:rPr lang="en-US" altLang="zh-CN" sz="2800" b="0" dirty="0">
                <a:latin typeface="+mn-ea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en-US" sz="2800" b="0" dirty="0">
                <a:latin typeface="+mn-ea"/>
                <a:ea typeface="+mn-ea"/>
                <a:cs typeface="Times New Roman" panose="02020603050405020304" pitchFamily="18" charset="0"/>
              </a:rPr>
              <a:t>个容量为</a:t>
            </a:r>
            <a:r>
              <a:rPr lang="en-US" altLang="zh-CN" sz="2800" b="0" dirty="0">
                <a:latin typeface="+mn-ea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en-US" sz="2800" b="0" dirty="0">
                <a:latin typeface="+mn-ea"/>
                <a:ea typeface="+mn-ea"/>
                <a:cs typeface="Times New Roman" panose="02020603050405020304" pitchFamily="18" charset="0"/>
              </a:rPr>
              <a:t>的缓冲轨</a:t>
            </a:r>
            <a:endParaRPr lang="en-US" altLang="zh-CN" sz="2800" b="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b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初始状态</a:t>
            </a:r>
            <a:r>
              <a:rPr kumimoji="1" lang="zh-CN" altLang="en-US" sz="2800" b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8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9</a:t>
            </a:r>
            <a:r>
              <a:rPr lang="zh-CN" altLang="zh-CN" sz="28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节车厢均</a:t>
            </a:r>
            <a:r>
              <a:rPr lang="zh-CN" altLang="en-US" sz="28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zh-CN" altLang="zh-CN" sz="2800" dirty="0">
                <a:solidFill>
                  <a:srgbClr val="00B05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入轨</a:t>
            </a:r>
            <a:r>
              <a:rPr lang="zh-CN" altLang="en-US" sz="28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排队</a:t>
            </a:r>
            <a:r>
              <a:rPr lang="zh-CN" altLang="zh-CN" sz="28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endParaRPr kumimoji="1" lang="zh-CN" altLang="en-US" sz="2800" b="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C8C6E77-2D84-4D3A-9213-6F40D39532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879" y="4149080"/>
            <a:ext cx="856895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800" dirty="0">
                <a:solidFill>
                  <a:srgbClr val="00B05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入轨</a:t>
            </a:r>
            <a:r>
              <a:rPr lang="zh-CN" altLang="zh-CN" sz="28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的车厢按序分别进入</a:t>
            </a:r>
            <a:r>
              <a:rPr lang="zh-CN" altLang="zh-CN" sz="2800" dirty="0">
                <a:solidFill>
                  <a:srgbClr val="00B05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缓冲轨</a:t>
            </a:r>
            <a:r>
              <a:rPr lang="zh-CN" altLang="en-US" sz="28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H1</a:t>
            </a:r>
            <a:r>
              <a:rPr lang="zh-CN" altLang="zh-CN" sz="28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8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H2</a:t>
            </a:r>
            <a:r>
              <a:rPr lang="zh-CN" altLang="zh-CN" sz="28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8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H3</a:t>
            </a:r>
            <a:r>
              <a:rPr lang="zh-CN" altLang="zh-CN" sz="28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endParaRPr kumimoji="1" lang="zh-CN" altLang="en-US" sz="2800" b="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56B7EDE-C14A-4856-9E9C-514C01741A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1608" y="4733950"/>
            <a:ext cx="15970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dirty="0"/>
              <a:t>         58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63674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D2E86E-5C0F-4298-8D32-D66E3577E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车厢重排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97A1F3C-6457-4AB6-ACF9-32DCC655DDD8}"/>
              </a:ext>
            </a:extLst>
          </p:cNvPr>
          <p:cNvCxnSpPr>
            <a:cxnSpLocks/>
          </p:cNvCxnSpPr>
          <p:nvPr/>
        </p:nvCxnSpPr>
        <p:spPr>
          <a:xfrm>
            <a:off x="1539478" y="2054821"/>
            <a:ext cx="161766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46">
            <a:extLst>
              <a:ext uri="{FF2B5EF4-FFF2-40B4-BE49-F238E27FC236}">
                <a16:creationId xmlns:a16="http://schemas.microsoft.com/office/drawing/2014/main" id="{4090A2BB-E87A-40BC-B70C-26E7C45901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466" y="1700808"/>
            <a:ext cx="13493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/>
              <a:t>         58</a:t>
            </a:r>
            <a:endParaRPr lang="zh-CN" alt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BF31380-C8C6-4584-92F1-1BF53828EDB7}"/>
              </a:ext>
            </a:extLst>
          </p:cNvPr>
          <p:cNvCxnSpPr>
            <a:cxnSpLocks/>
          </p:cNvCxnSpPr>
          <p:nvPr/>
        </p:nvCxnSpPr>
        <p:spPr>
          <a:xfrm>
            <a:off x="3840039" y="2226271"/>
            <a:ext cx="1668462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A25E975-730C-4B18-8E30-AFDC37D66EA9}"/>
              </a:ext>
            </a:extLst>
          </p:cNvPr>
          <p:cNvCxnSpPr>
            <a:cxnSpLocks/>
          </p:cNvCxnSpPr>
          <p:nvPr/>
        </p:nvCxnSpPr>
        <p:spPr>
          <a:xfrm>
            <a:off x="6105475" y="2054821"/>
            <a:ext cx="161766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0731ED4-D67D-4FCF-B050-23367B2AC33E}"/>
              </a:ext>
            </a:extLst>
          </p:cNvPr>
          <p:cNvCxnSpPr>
            <a:cxnSpLocks/>
          </p:cNvCxnSpPr>
          <p:nvPr/>
        </p:nvCxnSpPr>
        <p:spPr>
          <a:xfrm>
            <a:off x="3840039" y="2614247"/>
            <a:ext cx="1668462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2EF5F63-3662-4559-B6B0-B78F66AFC5E8}"/>
              </a:ext>
            </a:extLst>
          </p:cNvPr>
          <p:cNvCxnSpPr>
            <a:cxnSpLocks/>
          </p:cNvCxnSpPr>
          <p:nvPr/>
        </p:nvCxnSpPr>
        <p:spPr>
          <a:xfrm>
            <a:off x="3840039" y="2993141"/>
            <a:ext cx="1668462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53668B12-F2D4-45D8-B1CD-56F07D2855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4214" y="1856383"/>
            <a:ext cx="13493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/>
              <a:t>9 6 3 </a:t>
            </a:r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B182A3A-D815-4975-B414-CDADEEF069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4214" y="2264371"/>
            <a:ext cx="13493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/>
              <a:t>7 4 2</a:t>
            </a:r>
            <a:endParaRPr lang="zh-CN" altLang="en-US"/>
          </a:p>
        </p:txBody>
      </p:sp>
      <p:sp>
        <p:nvSpPr>
          <p:cNvPr id="11" name="文本框 53">
            <a:extLst>
              <a:ext uri="{FF2B5EF4-FFF2-40B4-BE49-F238E27FC236}">
                <a16:creationId xmlns:a16="http://schemas.microsoft.com/office/drawing/2014/main" id="{C5D7F5C4-CD5E-42EC-97D8-E10DF8F1A1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175" y="1700808"/>
            <a:ext cx="13509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2A9428B-40EF-4C3C-8B12-246A52FBF0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6" y="1844824"/>
            <a:ext cx="2428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/>
              <a:t>I</a:t>
            </a:r>
            <a:endParaRPr lang="zh-CN" altLang="en-US" baseline="-250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6E174FA-9F07-495A-B8DD-2990DF9DCF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3625" y="1844824"/>
            <a:ext cx="3587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/>
              <a:t>O</a:t>
            </a:r>
            <a:endParaRPr lang="zh-CN" altLang="en-US" baseline="-250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3A86A17-2FDF-4A80-9D2F-B1B5D9D277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5864" y="2000846"/>
            <a:ext cx="4270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H</a:t>
            </a:r>
            <a:r>
              <a:rPr lang="en-US" altLang="zh-CN" baseline="-25000"/>
              <a:t>1</a:t>
            </a:r>
            <a:endParaRPr lang="zh-CN" altLang="en-US" baseline="-2500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B6890BC-356A-4032-8244-9739D96FC7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5864" y="2391371"/>
            <a:ext cx="4270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H</a:t>
            </a:r>
            <a:r>
              <a:rPr lang="en-US" altLang="zh-CN" baseline="-25000"/>
              <a:t>2</a:t>
            </a:r>
            <a:endParaRPr lang="zh-CN" altLang="en-US" baseline="-250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6445720-AC39-447F-963D-D2711C850C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5864" y="2802533"/>
            <a:ext cx="4270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H</a:t>
            </a:r>
            <a:r>
              <a:rPr lang="en-US" altLang="zh-CN" baseline="-25000"/>
              <a:t>3</a:t>
            </a:r>
            <a:endParaRPr lang="zh-CN" altLang="en-US" baseline="-2500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2ECAD12-DDA0-42DC-8F3C-E394424F2E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426" y="1052736"/>
            <a:ext cx="848404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8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车厢</a:t>
            </a:r>
            <a:r>
              <a:rPr lang="en-US" altLang="zh-CN" sz="28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zh-CN" sz="28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从</a:t>
            </a:r>
            <a:r>
              <a:rPr lang="en-US" altLang="zh-CN" sz="28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H</a:t>
            </a:r>
            <a:r>
              <a:rPr lang="en-US" altLang="zh-CN" sz="2800" b="0" baseline="-25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zh-CN" sz="28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出队进入</a:t>
            </a:r>
            <a:r>
              <a:rPr lang="zh-CN" altLang="zh-CN" sz="2800" dirty="0">
                <a:solidFill>
                  <a:srgbClr val="00B05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出轨</a:t>
            </a:r>
            <a:r>
              <a:rPr lang="zh-CN" altLang="zh-CN" sz="28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en-US" sz="2800" b="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2213285-34EE-4973-906C-3BBB9372F4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4214" y="2602508"/>
            <a:ext cx="13493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zh-CN" altLang="en-US" dirty="0"/>
              <a:t> 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C4D7C1E-B26F-49A5-8326-ADDA599E32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427" y="3356992"/>
            <a:ext cx="8484046" cy="1284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8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车厢</a:t>
            </a:r>
            <a:r>
              <a:rPr lang="en-US" altLang="zh-CN" sz="28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zh-CN" sz="28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8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zh-CN" sz="28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8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zh-CN" sz="28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按序分别从</a:t>
            </a:r>
            <a:r>
              <a:rPr lang="en-US" altLang="zh-CN" sz="28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H</a:t>
            </a:r>
            <a:r>
              <a:rPr lang="en-US" altLang="zh-CN" sz="2800" b="0" baseline="-25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zh-CN" sz="28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8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H</a:t>
            </a:r>
            <a:r>
              <a:rPr lang="en-US" altLang="zh-CN" sz="2800" b="0" baseline="-25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zh-CN" sz="28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8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H</a:t>
            </a:r>
            <a:r>
              <a:rPr lang="en-US" altLang="zh-CN" sz="2800" b="0" baseline="-25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 </a:t>
            </a:r>
            <a:r>
              <a:rPr lang="zh-CN" altLang="zh-CN" sz="28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出队进入</a:t>
            </a:r>
            <a:r>
              <a:rPr lang="zh-CN" altLang="zh-CN" sz="2800" dirty="0">
                <a:solidFill>
                  <a:srgbClr val="00B05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出轨</a:t>
            </a:r>
            <a:r>
              <a:rPr lang="zh-CN" altLang="en-US" sz="28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endParaRPr lang="en-US" altLang="zh-CN" sz="2800" b="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28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车厢</a:t>
            </a:r>
            <a:r>
              <a:rPr lang="en-US" altLang="zh-CN" sz="28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lang="zh-CN" altLang="zh-CN" sz="28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进入</a:t>
            </a:r>
            <a:r>
              <a:rPr lang="zh-CN" altLang="zh-CN" sz="2800" dirty="0">
                <a:solidFill>
                  <a:srgbClr val="00B05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缓冲轨</a:t>
            </a:r>
            <a:r>
              <a:rPr lang="en-US" altLang="zh-CN" sz="2800" dirty="0">
                <a:solidFill>
                  <a:srgbClr val="00B05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H</a:t>
            </a:r>
            <a:r>
              <a:rPr lang="en-US" altLang="zh-CN" sz="2800" b="0" baseline="-25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zh-CN" sz="28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车厢</a:t>
            </a:r>
            <a:r>
              <a:rPr lang="en-US" altLang="zh-CN" sz="28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sz="28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直接</a:t>
            </a:r>
            <a:r>
              <a:rPr lang="zh-CN" altLang="zh-CN" sz="28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进入</a:t>
            </a:r>
            <a:r>
              <a:rPr lang="zh-CN" altLang="en-US" sz="2800" dirty="0">
                <a:solidFill>
                  <a:srgbClr val="00B05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出</a:t>
            </a:r>
            <a:r>
              <a:rPr lang="zh-CN" altLang="zh-CN" sz="2800" dirty="0">
                <a:solidFill>
                  <a:srgbClr val="00B05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轨</a:t>
            </a:r>
            <a:endParaRPr lang="zh-CN" altLang="en-US" sz="2800" dirty="0">
              <a:solidFill>
                <a:srgbClr val="00B05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0" name="直接连接符 43">
            <a:extLst>
              <a:ext uri="{FF2B5EF4-FFF2-40B4-BE49-F238E27FC236}">
                <a16:creationId xmlns:a16="http://schemas.microsoft.com/office/drawing/2014/main" id="{1B27B48A-F217-4C30-9719-827F5A3CE6CD}"/>
              </a:ext>
            </a:extLst>
          </p:cNvPr>
          <p:cNvCxnSpPr>
            <a:cxnSpLocks/>
          </p:cNvCxnSpPr>
          <p:nvPr/>
        </p:nvCxnSpPr>
        <p:spPr>
          <a:xfrm>
            <a:off x="1566466" y="5017542"/>
            <a:ext cx="161766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44">
            <a:extLst>
              <a:ext uri="{FF2B5EF4-FFF2-40B4-BE49-F238E27FC236}">
                <a16:creationId xmlns:a16="http://schemas.microsoft.com/office/drawing/2014/main" id="{10DE97C4-77F1-4932-B4EA-04EAA38C9395}"/>
              </a:ext>
            </a:extLst>
          </p:cNvPr>
          <p:cNvCxnSpPr>
            <a:cxnSpLocks/>
          </p:cNvCxnSpPr>
          <p:nvPr/>
        </p:nvCxnSpPr>
        <p:spPr>
          <a:xfrm>
            <a:off x="3773364" y="5188992"/>
            <a:ext cx="1668462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55">
            <a:extLst>
              <a:ext uri="{FF2B5EF4-FFF2-40B4-BE49-F238E27FC236}">
                <a16:creationId xmlns:a16="http://schemas.microsoft.com/office/drawing/2014/main" id="{B9A706B3-2C3A-4CC5-9851-5A9C59348978}"/>
              </a:ext>
            </a:extLst>
          </p:cNvPr>
          <p:cNvCxnSpPr>
            <a:cxnSpLocks/>
          </p:cNvCxnSpPr>
          <p:nvPr/>
        </p:nvCxnSpPr>
        <p:spPr>
          <a:xfrm>
            <a:off x="5959425" y="5017542"/>
            <a:ext cx="161766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62">
            <a:extLst>
              <a:ext uri="{FF2B5EF4-FFF2-40B4-BE49-F238E27FC236}">
                <a16:creationId xmlns:a16="http://schemas.microsoft.com/office/drawing/2014/main" id="{CE20A5BA-534E-42F1-9524-67221333C069}"/>
              </a:ext>
            </a:extLst>
          </p:cNvPr>
          <p:cNvCxnSpPr>
            <a:cxnSpLocks/>
          </p:cNvCxnSpPr>
          <p:nvPr/>
        </p:nvCxnSpPr>
        <p:spPr>
          <a:xfrm>
            <a:off x="3773364" y="5632967"/>
            <a:ext cx="1668462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74">
            <a:extLst>
              <a:ext uri="{FF2B5EF4-FFF2-40B4-BE49-F238E27FC236}">
                <a16:creationId xmlns:a16="http://schemas.microsoft.com/office/drawing/2014/main" id="{57043FEA-99AF-4319-9F69-40430EB7C7BB}"/>
              </a:ext>
            </a:extLst>
          </p:cNvPr>
          <p:cNvCxnSpPr>
            <a:cxnSpLocks/>
          </p:cNvCxnSpPr>
          <p:nvPr/>
        </p:nvCxnSpPr>
        <p:spPr>
          <a:xfrm>
            <a:off x="3773364" y="6021288"/>
            <a:ext cx="1668462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13">
            <a:extLst>
              <a:ext uri="{FF2B5EF4-FFF2-40B4-BE49-F238E27FC236}">
                <a16:creationId xmlns:a16="http://schemas.microsoft.com/office/drawing/2014/main" id="{9C3429E7-DE03-456D-BEF9-B7F4225FA7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4082" y="4806404"/>
            <a:ext cx="13493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dirty="0"/>
              <a:t>9 6  </a:t>
            </a:r>
            <a:endParaRPr lang="zh-CN" altLang="en-US" dirty="0"/>
          </a:p>
        </p:txBody>
      </p:sp>
      <p:sp>
        <p:nvSpPr>
          <p:cNvPr id="26" name="文本框 14">
            <a:extLst>
              <a:ext uri="{FF2B5EF4-FFF2-40B4-BE49-F238E27FC236}">
                <a16:creationId xmlns:a16="http://schemas.microsoft.com/office/drawing/2014/main" id="{18F36FB8-F1D0-40E6-A743-E9A5F6C53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7539" y="5227092"/>
            <a:ext cx="13493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/>
              <a:t>8 7</a:t>
            </a:r>
            <a:endParaRPr lang="zh-CN" altLang="en-US"/>
          </a:p>
        </p:txBody>
      </p:sp>
      <p:sp>
        <p:nvSpPr>
          <p:cNvPr id="27" name="文本框 15">
            <a:extLst>
              <a:ext uri="{FF2B5EF4-FFF2-40B4-BE49-F238E27FC236}">
                <a16:creationId xmlns:a16="http://schemas.microsoft.com/office/drawing/2014/main" id="{BDB740CD-8700-443B-8E81-B4C01F19CB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13" y="4630192"/>
            <a:ext cx="13493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/>
              <a:t>54321</a:t>
            </a:r>
            <a:endParaRPr lang="zh-CN" altLang="en-US"/>
          </a:p>
        </p:txBody>
      </p:sp>
      <p:sp>
        <p:nvSpPr>
          <p:cNvPr id="28" name="文本框 17">
            <a:extLst>
              <a:ext uri="{FF2B5EF4-FFF2-40B4-BE49-F238E27FC236}">
                <a16:creationId xmlns:a16="http://schemas.microsoft.com/office/drawing/2014/main" id="{D71881A1-E376-466E-ABE7-96DA2FA334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491" y="4833392"/>
            <a:ext cx="2413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I</a:t>
            </a:r>
            <a:endParaRPr lang="zh-CN" altLang="en-US" baseline="-25000"/>
          </a:p>
        </p:txBody>
      </p:sp>
      <p:sp>
        <p:nvSpPr>
          <p:cNvPr id="29" name="文本框 18">
            <a:extLst>
              <a:ext uri="{FF2B5EF4-FFF2-40B4-BE49-F238E27FC236}">
                <a16:creationId xmlns:a16="http://schemas.microsoft.com/office/drawing/2014/main" id="{1090564F-E553-4433-A047-AE474788F8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3138" y="4833392"/>
            <a:ext cx="3587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O</a:t>
            </a:r>
            <a:endParaRPr lang="zh-CN" altLang="en-US" baseline="-25000"/>
          </a:p>
        </p:txBody>
      </p:sp>
      <p:sp>
        <p:nvSpPr>
          <p:cNvPr id="30" name="文本框 19">
            <a:extLst>
              <a:ext uri="{FF2B5EF4-FFF2-40B4-BE49-F238E27FC236}">
                <a16:creationId xmlns:a16="http://schemas.microsoft.com/office/drawing/2014/main" id="{A51640BF-AB93-438D-8BE8-92B702D2FB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2201" y="4992142"/>
            <a:ext cx="4254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H</a:t>
            </a:r>
            <a:r>
              <a:rPr lang="en-US" altLang="zh-CN" baseline="-25000"/>
              <a:t>1</a:t>
            </a:r>
            <a:endParaRPr lang="zh-CN" altLang="en-US" baseline="-25000"/>
          </a:p>
        </p:txBody>
      </p:sp>
      <p:sp>
        <p:nvSpPr>
          <p:cNvPr id="31" name="文本框 20">
            <a:extLst>
              <a:ext uri="{FF2B5EF4-FFF2-40B4-BE49-F238E27FC236}">
                <a16:creationId xmlns:a16="http://schemas.microsoft.com/office/drawing/2014/main" id="{8A668B87-2EAD-411F-8C78-55534DCC1A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2201" y="5384254"/>
            <a:ext cx="425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H</a:t>
            </a:r>
            <a:r>
              <a:rPr lang="en-US" altLang="zh-CN" baseline="-25000"/>
              <a:t>2</a:t>
            </a:r>
            <a:endParaRPr lang="zh-CN" altLang="en-US" baseline="-25000"/>
          </a:p>
        </p:txBody>
      </p:sp>
      <p:sp>
        <p:nvSpPr>
          <p:cNvPr id="32" name="文本框 21">
            <a:extLst>
              <a:ext uri="{FF2B5EF4-FFF2-40B4-BE49-F238E27FC236}">
                <a16:creationId xmlns:a16="http://schemas.microsoft.com/office/drawing/2014/main" id="{23D961DB-4584-4E17-AE6D-E8418AD2DF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2201" y="5795417"/>
            <a:ext cx="4254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H</a:t>
            </a:r>
            <a:r>
              <a:rPr lang="en-US" altLang="zh-CN" baseline="-25000"/>
              <a:t>3</a:t>
            </a:r>
            <a:endParaRPr lang="zh-CN" altLang="en-US" baseline="-25000"/>
          </a:p>
        </p:txBody>
      </p:sp>
    </p:spTree>
    <p:extLst>
      <p:ext uri="{BB962C8B-B14F-4D97-AF65-F5344CB8AC3E}">
        <p14:creationId xmlns:p14="http://schemas.microsoft.com/office/powerpoint/2010/main" val="3892908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9" grpId="1"/>
      <p:bldP spid="10" grpId="0"/>
      <p:bldP spid="10" grpId="1"/>
      <p:bldP spid="11" grpId="0"/>
      <p:bldP spid="12" grpId="0"/>
      <p:bldP spid="12" grpId="1"/>
      <p:bldP spid="13" grpId="0"/>
      <p:bldP spid="13" grpId="1"/>
      <p:bldP spid="14" grpId="0"/>
      <p:bldP spid="14" grpId="1"/>
      <p:bldP spid="15" grpId="0"/>
      <p:bldP spid="15" grpId="1"/>
      <p:bldP spid="16" grpId="0"/>
      <p:bldP spid="16" grpId="1"/>
      <p:bldP spid="17" grpId="0"/>
      <p:bldP spid="18" grpId="0"/>
      <p:bldP spid="18" grpId="1"/>
      <p:bldP spid="18" grpId="2"/>
      <p:bldP spid="19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51B401-ECA0-4B22-A0A7-8AD7B3D74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车厢重排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56B400E-9611-49F0-8F1B-E404C7F95CF3}"/>
              </a:ext>
            </a:extLst>
          </p:cNvPr>
          <p:cNvCxnSpPr>
            <a:cxnSpLocks/>
          </p:cNvCxnSpPr>
          <p:nvPr/>
        </p:nvCxnSpPr>
        <p:spPr>
          <a:xfrm>
            <a:off x="1180009" y="3286407"/>
            <a:ext cx="161766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55AD22C2-B058-4210-BE65-954E7F03B075}"/>
              </a:ext>
            </a:extLst>
          </p:cNvPr>
          <p:cNvCxnSpPr>
            <a:cxnSpLocks/>
          </p:cNvCxnSpPr>
          <p:nvPr/>
        </p:nvCxnSpPr>
        <p:spPr>
          <a:xfrm>
            <a:off x="3551609" y="3457857"/>
            <a:ext cx="1668463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AC192E67-9EAC-4ECB-9F60-C07E078DDC19}"/>
              </a:ext>
            </a:extLst>
          </p:cNvPr>
          <p:cNvCxnSpPr>
            <a:cxnSpLocks/>
          </p:cNvCxnSpPr>
          <p:nvPr/>
        </p:nvCxnSpPr>
        <p:spPr>
          <a:xfrm>
            <a:off x="5749751" y="3286407"/>
            <a:ext cx="161766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D426C48-C1CD-4C34-B84D-657DE252C1E3}"/>
              </a:ext>
            </a:extLst>
          </p:cNvPr>
          <p:cNvCxnSpPr>
            <a:cxnSpLocks/>
          </p:cNvCxnSpPr>
          <p:nvPr/>
        </p:nvCxnSpPr>
        <p:spPr>
          <a:xfrm>
            <a:off x="3551609" y="3861048"/>
            <a:ext cx="1668463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15EFD61A-2B6E-436E-B42B-BC0DB3FBC9E7}"/>
              </a:ext>
            </a:extLst>
          </p:cNvPr>
          <p:cNvCxnSpPr>
            <a:cxnSpLocks/>
          </p:cNvCxnSpPr>
          <p:nvPr/>
        </p:nvCxnSpPr>
        <p:spPr>
          <a:xfrm>
            <a:off x="3551609" y="4258796"/>
            <a:ext cx="1668463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FE58CC25-1678-46BA-B64D-6BB4E929F6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0262" y="2903819"/>
            <a:ext cx="17462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dirty="0"/>
              <a:t>987654321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4E23B67-A870-4517-BDA3-38778A139D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3130832"/>
            <a:ext cx="2428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I</a:t>
            </a:r>
            <a:endParaRPr lang="zh-CN" altLang="en-US" baseline="-2500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8CA7B7A-679E-4FA0-88C3-82631AFE56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6013" y="3130832"/>
            <a:ext cx="3603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O</a:t>
            </a:r>
            <a:endParaRPr lang="zh-CN" altLang="en-US" baseline="-2500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44C555B-51A2-4529-98EC-B5C94817C6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7909" y="3273707"/>
            <a:ext cx="4270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H</a:t>
            </a:r>
            <a:r>
              <a:rPr lang="en-US" altLang="zh-CN" baseline="-25000"/>
              <a:t>1</a:t>
            </a:r>
            <a:endParaRPr lang="zh-CN" altLang="en-US" baseline="-2500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1B46EE8-E231-4C22-B8C7-05035C7167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7909" y="3664232"/>
            <a:ext cx="4270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H</a:t>
            </a:r>
            <a:r>
              <a:rPr lang="en-US" altLang="zh-CN" baseline="-25000"/>
              <a:t>2</a:t>
            </a:r>
            <a:endParaRPr lang="zh-CN" altLang="en-US" baseline="-2500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077B433-DA6A-45A3-B6C3-D9F9DF53A6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7909" y="4075394"/>
            <a:ext cx="427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H</a:t>
            </a:r>
            <a:r>
              <a:rPr lang="en-US" altLang="zh-CN" baseline="-25000"/>
              <a:t>3</a:t>
            </a:r>
            <a:endParaRPr lang="zh-CN" altLang="en-US" baseline="-25000"/>
          </a:p>
        </p:txBody>
      </p:sp>
      <p:sp>
        <p:nvSpPr>
          <p:cNvPr id="25" name="文本框 1">
            <a:extLst>
              <a:ext uri="{FF2B5EF4-FFF2-40B4-BE49-F238E27FC236}">
                <a16:creationId xmlns:a16="http://schemas.microsoft.com/office/drawing/2014/main" id="{D61FBDF4-1291-4A3E-B5E2-5502A0A69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1649694"/>
            <a:ext cx="835292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各</a:t>
            </a:r>
            <a:r>
              <a:rPr lang="zh-CN" altLang="en-US" sz="2800" dirty="0">
                <a:solidFill>
                  <a:srgbClr val="00B05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缓冲轨</a:t>
            </a:r>
            <a:r>
              <a:rPr lang="zh-CN" altLang="en-US" sz="28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中车厢</a:t>
            </a:r>
            <a:r>
              <a:rPr lang="zh-CN" altLang="zh-CN" sz="2800" b="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按编号进入</a:t>
            </a:r>
            <a:r>
              <a:rPr lang="zh-CN" altLang="en-US" sz="2800" dirty="0">
                <a:solidFill>
                  <a:srgbClr val="00B05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出轨</a:t>
            </a:r>
            <a:endParaRPr lang="zh-CN" altLang="zh-CN" sz="2800" dirty="0">
              <a:solidFill>
                <a:srgbClr val="00B05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638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/>
          <p:cNvSpPr>
            <a:spLocks noGrp="1" noChangeArrowheads="1"/>
          </p:cNvSpPr>
          <p:nvPr>
            <p:ph type="title"/>
          </p:nvPr>
        </p:nvSpPr>
        <p:spPr>
          <a:xfrm>
            <a:off x="844550" y="236538"/>
            <a:ext cx="6400800" cy="45561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栈、队列与一般线性表的区别</a:t>
            </a:r>
          </a:p>
        </p:txBody>
      </p:sp>
      <p:sp>
        <p:nvSpPr>
          <p:cNvPr id="605186" name="Rectangle 2"/>
          <p:cNvSpPr>
            <a:spLocks noChangeArrowheads="1"/>
          </p:cNvSpPr>
          <p:nvPr/>
        </p:nvSpPr>
        <p:spPr bwMode="auto">
          <a:xfrm>
            <a:off x="393700" y="760413"/>
            <a:ext cx="8324850" cy="5953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468312" y="836712"/>
            <a:ext cx="8250237" cy="1308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栈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、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队列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是一种特殊（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操作受限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）的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线性表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区别：仅在于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运算规则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不同</a:t>
            </a:r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463550" y="2247649"/>
            <a:ext cx="8250237" cy="2242858"/>
          </a:xfrm>
          <a:prstGeom prst="rect">
            <a:avLst/>
          </a:prstGeom>
          <a:solidFill>
            <a:srgbClr val="D4E6F4"/>
          </a:solidFill>
          <a:ln w="38100">
            <a:noFill/>
            <a:miter lim="800000"/>
          </a:ln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一般线性表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                                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逻辑结构：一对一                     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存储结构：顺序表、链表         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运算规则：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随机存取、顺序存取</a:t>
            </a:r>
          </a:p>
        </p:txBody>
      </p:sp>
      <p:sp>
        <p:nvSpPr>
          <p:cNvPr id="23558" name="Rectangle 9"/>
          <p:cNvSpPr>
            <a:spLocks noChangeArrowheads="1"/>
          </p:cNvSpPr>
          <p:nvPr/>
        </p:nvSpPr>
        <p:spPr bwMode="auto">
          <a:xfrm>
            <a:off x="463550" y="4545013"/>
            <a:ext cx="3963988" cy="2242858"/>
          </a:xfrm>
          <a:prstGeom prst="rect">
            <a:avLst/>
          </a:prstGeom>
          <a:solidFill>
            <a:srgbClr val="D4E6F4"/>
          </a:solidFill>
          <a:ln w="38100">
            <a:solidFill>
              <a:srgbClr val="CCCCFF"/>
            </a:solidFill>
            <a:miter lim="800000"/>
          </a:ln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栈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逻辑结构：一对一                     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存储结构：顺序栈、链栈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运算规则：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后进先出</a:t>
            </a:r>
          </a:p>
        </p:txBody>
      </p:sp>
      <p:sp>
        <p:nvSpPr>
          <p:cNvPr id="23560" name="Rectangle 9"/>
          <p:cNvSpPr>
            <a:spLocks noChangeArrowheads="1"/>
          </p:cNvSpPr>
          <p:nvPr/>
        </p:nvSpPr>
        <p:spPr bwMode="auto">
          <a:xfrm>
            <a:off x="4716463" y="4545013"/>
            <a:ext cx="4002087" cy="2242858"/>
          </a:xfrm>
          <a:prstGeom prst="rect">
            <a:avLst/>
          </a:prstGeom>
          <a:solidFill>
            <a:srgbClr val="D4E6F4"/>
          </a:solidFill>
          <a:ln w="38100">
            <a:solidFill>
              <a:srgbClr val="CCCCFF"/>
            </a:solidFill>
            <a:miter lim="800000"/>
          </a:ln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队列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逻辑结构：一对一                     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存储结构：顺序队、链队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运算规则：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先进先出</a:t>
            </a:r>
          </a:p>
        </p:txBody>
      </p:sp>
    </p:spTree>
    <p:extLst>
      <p:ext uri="{BB962C8B-B14F-4D97-AF65-F5344CB8AC3E}">
        <p14:creationId xmlns:p14="http://schemas.microsoft.com/office/powerpoint/2010/main" val="10211854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489640-6448-4C8B-853F-077A76746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课堂讨论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11B09E-2B2C-4302-A9C4-C735C5487A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是否可以用</a:t>
            </a:r>
            <a:r>
              <a:rPr lang="zh-CN" altLang="en-US" dirty="0">
                <a:solidFill>
                  <a:srgbClr val="0000FF"/>
                </a:solidFill>
              </a:rPr>
              <a:t>栈</a:t>
            </a:r>
            <a:r>
              <a:rPr lang="zh-CN" altLang="en-US" dirty="0"/>
              <a:t>来模拟</a:t>
            </a:r>
            <a:r>
              <a:rPr lang="zh-CN" altLang="en-US" dirty="0">
                <a:solidFill>
                  <a:srgbClr val="FF0000"/>
                </a:solidFill>
              </a:rPr>
              <a:t>队列</a:t>
            </a:r>
            <a:r>
              <a:rPr lang="zh-CN" altLang="en-US" dirty="0"/>
              <a:t>？若可以的话，需要几个栈，如何来模拟？</a:t>
            </a:r>
          </a:p>
        </p:txBody>
      </p:sp>
    </p:spTree>
    <p:extLst>
      <p:ext uri="{BB962C8B-B14F-4D97-AF65-F5344CB8AC3E}">
        <p14:creationId xmlns:p14="http://schemas.microsoft.com/office/powerpoint/2010/main" val="23207828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BAEAD3-FC57-4F24-908E-B222FB0E1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382E4F-713F-4CC5-85A2-FC1FF34D7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试利用非数组变量，按下述条件各设计一个相应的算法以使队列中的元素有序：</a:t>
            </a:r>
          </a:p>
          <a:p>
            <a:pPr lvl="1"/>
            <a:r>
              <a:rPr lang="zh-CN" altLang="en-US" sz="2800" dirty="0"/>
              <a:t>使用两个辅助队列；</a:t>
            </a:r>
          </a:p>
          <a:p>
            <a:pPr lvl="1"/>
            <a:r>
              <a:rPr lang="zh-CN" altLang="en-US" sz="2800" dirty="0"/>
              <a:t>使用一个辅助队列。</a:t>
            </a:r>
          </a:p>
        </p:txBody>
      </p:sp>
    </p:spTree>
    <p:extLst>
      <p:ext uri="{BB962C8B-B14F-4D97-AF65-F5344CB8AC3E}">
        <p14:creationId xmlns:p14="http://schemas.microsoft.com/office/powerpoint/2010/main" val="26265790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996" name="Rectangle 4"/>
          <p:cNvSpPr>
            <a:spLocks noChangeArrowheads="1"/>
          </p:cNvSpPr>
          <p:nvPr/>
        </p:nvSpPr>
        <p:spPr bwMode="auto">
          <a:xfrm>
            <a:off x="403225" y="1052736"/>
            <a:ext cx="8337550" cy="511256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54330" marR="0" lvl="0" indent="-35433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1.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掌握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栈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和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队列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的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特点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，并能在相应的应用问题中正确选用</a:t>
            </a:r>
          </a:p>
          <a:p>
            <a:pPr marL="354330" marR="0" lvl="0" indent="-35433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2.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熟练掌握栈的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顺序栈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和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链栈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的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进栈出栈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算法，特别应注意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栈满和栈空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的条件</a:t>
            </a:r>
          </a:p>
          <a:p>
            <a:pPr marL="354330" marR="0" lvl="0" indent="-35433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3.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熟练掌握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循环队列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和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链队列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的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进队出队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算法，特别注意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队满和队空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的条件</a:t>
            </a:r>
          </a:p>
          <a:p>
            <a:pPr marL="354330" marR="0" lvl="0" indent="-35433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4.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理解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递归算法</a:t>
            </a:r>
            <a:r>
              <a:rPr kumimoji="1" lang="zh-CN" altLang="en-US" sz="2800" b="0" dirty="0">
                <a:latin typeface="+mn-ea"/>
                <a:ea typeface="+mn-ea"/>
                <a:cs typeface="+mn-ea"/>
                <a:sym typeface="+mn-lt"/>
              </a:rPr>
              <a:t>与</a:t>
            </a:r>
            <a:r>
              <a:rPr kumimoji="1" lang="zh-CN" altLang="en-US" sz="2800" b="0" dirty="0">
                <a:solidFill>
                  <a:srgbClr val="FF0000"/>
                </a:solidFill>
                <a:latin typeface="+mn-ea"/>
                <a:ea typeface="+mn-ea"/>
                <a:cs typeface="+mn-ea"/>
                <a:sym typeface="+mn-lt"/>
              </a:rPr>
              <a:t>栈</a:t>
            </a:r>
            <a:r>
              <a:rPr kumimoji="1" lang="zh-CN" altLang="en-US" sz="2800" b="0" dirty="0">
                <a:latin typeface="+mn-ea"/>
                <a:ea typeface="+mn-ea"/>
                <a:cs typeface="+mn-ea"/>
                <a:sym typeface="+mn-lt"/>
              </a:rPr>
              <a:t>的关系，以及如何将递归算法转换为非递归算法。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724997" name="Comment 5"/>
          <p:cNvSpPr>
            <a:spLocks noChangeArrowheads="1"/>
          </p:cNvSpPr>
          <p:nvPr/>
        </p:nvSpPr>
        <p:spPr bwMode="auto">
          <a:xfrm>
            <a:off x="900113" y="198438"/>
            <a:ext cx="1676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小结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TYyYjA1ZGJjMGQ3Zjc4ZjRiYTA5MzdjMzk4NGFhZGIifQ=="/>
</p:tagLst>
</file>

<file path=ppt/theme/theme1.xml><?xml version="1.0" encoding="utf-8"?>
<a:theme xmlns:a="http://schemas.openxmlformats.org/drawingml/2006/main" name="1_默认设计模板">
  <a:themeElements>
    <a:clrScheme name="自定义 33">
      <a:dk1>
        <a:srgbClr val="000000"/>
      </a:dk1>
      <a:lt1>
        <a:srgbClr val="FEFFFF"/>
      </a:lt1>
      <a:dk2>
        <a:srgbClr val="000000"/>
      </a:dk2>
      <a:lt2>
        <a:srgbClr val="969696"/>
      </a:lt2>
      <a:accent1>
        <a:srgbClr val="6C4C8F"/>
      </a:accent1>
      <a:accent2>
        <a:srgbClr val="3333CC"/>
      </a:accent2>
      <a:accent3>
        <a:srgbClr val="FE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003366"/>
      </a:folHlink>
    </a:clrScheme>
    <a:fontScheme name="dmabmibi">
      <a:majorFont>
        <a:latin typeface="Times New Roman"/>
        <a:ea typeface="Microsoft YaHei"/>
        <a:cs typeface=""/>
      </a:majorFont>
      <a:minorFont>
        <a:latin typeface="Times New Roman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rtlCol="0" anchor="t" anchorCtr="0" compatLnSpc="1"/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1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仿宋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仿宋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ixel">
  <a:themeElements>
    <a:clrScheme name="">
      <a:dk1>
        <a:srgbClr val="000099"/>
      </a:dk1>
      <a:lt1>
        <a:srgbClr val="FFFFFF"/>
      </a:lt1>
      <a:dk2>
        <a:srgbClr val="CC0000"/>
      </a:dk2>
      <a:lt2>
        <a:srgbClr val="0000CC"/>
      </a:lt2>
      <a:accent1>
        <a:srgbClr val="CCFFCC"/>
      </a:accent1>
      <a:accent2>
        <a:srgbClr val="3366FF"/>
      </a:accent2>
      <a:accent3>
        <a:srgbClr val="FFFFFF"/>
      </a:accent3>
      <a:accent4>
        <a:srgbClr val="000082"/>
      </a:accent4>
      <a:accent5>
        <a:srgbClr val="E2FFE2"/>
      </a:accent5>
      <a:accent6>
        <a:srgbClr val="2D5CE7"/>
      </a:accent6>
      <a:hlink>
        <a:srgbClr val="800000"/>
      </a:hlink>
      <a:folHlink>
        <a:srgbClr val="E1E1E1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3">
        <a:dk1>
          <a:srgbClr val="000099"/>
        </a:dk1>
        <a:lt1>
          <a:srgbClr val="FFFFFF"/>
        </a:lt1>
        <a:dk2>
          <a:srgbClr val="CC0000"/>
        </a:dk2>
        <a:lt2>
          <a:srgbClr val="808080"/>
        </a:lt2>
        <a:accent1>
          <a:srgbClr val="FFCC66"/>
        </a:accent1>
        <a:accent2>
          <a:srgbClr val="CC0000"/>
        </a:accent2>
        <a:accent3>
          <a:srgbClr val="FFFFFF"/>
        </a:accent3>
        <a:accent4>
          <a:srgbClr val="000082"/>
        </a:accent4>
        <a:accent5>
          <a:srgbClr val="FFE2B8"/>
        </a:accent5>
        <a:accent6>
          <a:srgbClr val="B90000"/>
        </a:accent6>
        <a:hlink>
          <a:srgbClr val="0000CC"/>
        </a:hlink>
        <a:folHlink>
          <a:srgbClr val="00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4">
        <a:dk1>
          <a:srgbClr val="000099"/>
        </a:dk1>
        <a:lt1>
          <a:srgbClr val="FFFFFF"/>
        </a:lt1>
        <a:dk2>
          <a:srgbClr val="CC0000"/>
        </a:dk2>
        <a:lt2>
          <a:srgbClr val="0000CC"/>
        </a:lt2>
        <a:accent1>
          <a:srgbClr val="FFCC66"/>
        </a:accent1>
        <a:accent2>
          <a:srgbClr val="CC0000"/>
        </a:accent2>
        <a:accent3>
          <a:srgbClr val="FFFFFF"/>
        </a:accent3>
        <a:accent4>
          <a:srgbClr val="000082"/>
        </a:accent4>
        <a:accent5>
          <a:srgbClr val="FFE2B8"/>
        </a:accent5>
        <a:accent6>
          <a:srgbClr val="B90000"/>
        </a:accent6>
        <a:hlink>
          <a:srgbClr val="800000"/>
        </a:hlink>
        <a:folHlink>
          <a:srgbClr val="FF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5">
        <a:dk1>
          <a:srgbClr val="000099"/>
        </a:dk1>
        <a:lt1>
          <a:srgbClr val="FFFFFF"/>
        </a:lt1>
        <a:dk2>
          <a:srgbClr val="CC0000"/>
        </a:dk2>
        <a:lt2>
          <a:srgbClr val="0000CC"/>
        </a:lt2>
        <a:accent1>
          <a:srgbClr val="FFCC66"/>
        </a:accent1>
        <a:accent2>
          <a:srgbClr val="99FFCC"/>
        </a:accent2>
        <a:accent3>
          <a:srgbClr val="FFFFFF"/>
        </a:accent3>
        <a:accent4>
          <a:srgbClr val="000082"/>
        </a:accent4>
        <a:accent5>
          <a:srgbClr val="FFE2B8"/>
        </a:accent5>
        <a:accent6>
          <a:srgbClr val="8AE7B9"/>
        </a:accent6>
        <a:hlink>
          <a:srgbClr val="800000"/>
        </a:hlink>
        <a:folHlink>
          <a:srgbClr val="FF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6">
        <a:dk1>
          <a:srgbClr val="000099"/>
        </a:dk1>
        <a:lt1>
          <a:srgbClr val="FFFFFF"/>
        </a:lt1>
        <a:dk2>
          <a:srgbClr val="CC0000"/>
        </a:dk2>
        <a:lt2>
          <a:srgbClr val="0000CC"/>
        </a:lt2>
        <a:accent1>
          <a:srgbClr val="99FFCC"/>
        </a:accent1>
        <a:accent2>
          <a:srgbClr val="99FFCC"/>
        </a:accent2>
        <a:accent3>
          <a:srgbClr val="FFFFFF"/>
        </a:accent3>
        <a:accent4>
          <a:srgbClr val="000082"/>
        </a:accent4>
        <a:accent5>
          <a:srgbClr val="CAFFE2"/>
        </a:accent5>
        <a:accent6>
          <a:srgbClr val="8AE7B9"/>
        </a:accent6>
        <a:hlink>
          <a:srgbClr val="800000"/>
        </a:hlink>
        <a:folHlink>
          <a:srgbClr val="FFCC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9944</TotalTime>
  <Words>3027</Words>
  <Application>Microsoft Office PowerPoint</Application>
  <PresentationFormat>全屏显示(4:3)</PresentationFormat>
  <Paragraphs>475</Paragraphs>
  <Slides>39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54" baseType="lpstr">
      <vt:lpstr>仿宋_GB2312</vt:lpstr>
      <vt:lpstr>黑体</vt:lpstr>
      <vt:lpstr>华文新魏</vt:lpstr>
      <vt:lpstr>楷体</vt:lpstr>
      <vt:lpstr>Microsoft YaHei</vt:lpstr>
      <vt:lpstr>Microsoft YaHei</vt:lpstr>
      <vt:lpstr>Arial</vt:lpstr>
      <vt:lpstr>Arial Black</vt:lpstr>
      <vt:lpstr>Consolas</vt:lpstr>
      <vt:lpstr>Garamond</vt:lpstr>
      <vt:lpstr>Times New Roman</vt:lpstr>
      <vt:lpstr>Wingdings</vt:lpstr>
      <vt:lpstr>1_默认设计模板</vt:lpstr>
      <vt:lpstr>Pixel</vt:lpstr>
      <vt:lpstr>Document</vt:lpstr>
      <vt:lpstr>目录（Contents）</vt:lpstr>
      <vt:lpstr>队列</vt:lpstr>
      <vt:lpstr>PowerPoint 演示文稿</vt:lpstr>
      <vt:lpstr>PowerPoint 演示文稿</vt:lpstr>
      <vt:lpstr>目录（Contents）</vt:lpstr>
      <vt:lpstr>PowerPoint 演示文稿</vt:lpstr>
      <vt:lpstr>顺序队列的进队和出队</vt:lpstr>
      <vt:lpstr>顺序队列的进队和出队</vt:lpstr>
      <vt:lpstr>循环队列</vt:lpstr>
      <vt:lpstr>循环队列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目录（Contents）</vt:lpstr>
      <vt:lpstr>队列的链接表示</vt:lpstr>
      <vt:lpstr>链式队列的基本操作演示</vt:lpstr>
      <vt:lpstr>PowerPoint 演示文稿</vt:lpstr>
      <vt:lpstr>PowerPoint 演示文稿</vt:lpstr>
      <vt:lpstr>PowerPoint 演示文稿</vt:lpstr>
      <vt:lpstr>PowerPoint 演示文稿</vt:lpstr>
      <vt:lpstr>双端队列（Deque）</vt:lpstr>
      <vt:lpstr>双端队列的主要存取操作</vt:lpstr>
      <vt:lpstr>课堂讨论</vt:lpstr>
      <vt:lpstr>目录（Contents）</vt:lpstr>
      <vt:lpstr>PowerPoint 演示文稿</vt:lpstr>
      <vt:lpstr>打印杨辉三角</vt:lpstr>
      <vt:lpstr>打印杨辉三角</vt:lpstr>
      <vt:lpstr>打印杨辉三角</vt:lpstr>
      <vt:lpstr>车厢重排</vt:lpstr>
      <vt:lpstr>车厢重排</vt:lpstr>
      <vt:lpstr>车厢重排</vt:lpstr>
      <vt:lpstr>车厢重排</vt:lpstr>
      <vt:lpstr>车厢重排</vt:lpstr>
      <vt:lpstr>栈、队列与一般线性表的区别</vt:lpstr>
      <vt:lpstr>课堂讨论</vt:lpstr>
      <vt:lpstr>思考题</vt:lpstr>
      <vt:lpstr>PowerPoint 演示文稿</vt:lpstr>
    </vt:vector>
  </TitlesOfParts>
  <Company>bjfu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数据结构</dc:title>
  <dc:creator>lidongmei</dc:creator>
  <cp:lastModifiedBy>Wang Qiuyue</cp:lastModifiedBy>
  <cp:revision>1456</cp:revision>
  <dcterms:created xsi:type="dcterms:W3CDTF">1996-07-15T15:40:00Z</dcterms:created>
  <dcterms:modified xsi:type="dcterms:W3CDTF">2025-10-10T09:23:24Z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2052-11.1.0.12358</vt:lpwstr>
  </property>
  <property fmtid="{D5CDD505-2E9C-101B-9397-08002B2CF9AE}" pid="3" name="ICV">
    <vt:lpwstr>BDD94B427A2D4C7BBC55BB66DA5D13B8</vt:lpwstr>
  </property>
</Properties>
</file>