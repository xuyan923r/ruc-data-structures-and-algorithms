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46"/>
  </p:notesMasterIdLst>
  <p:handoutMasterIdLst>
    <p:handoutMasterId r:id="rId47"/>
  </p:handoutMasterIdLst>
  <p:sldIdLst>
    <p:sldId id="256" r:id="rId3"/>
    <p:sldId id="1223" r:id="rId4"/>
    <p:sldId id="970" r:id="rId5"/>
    <p:sldId id="1338" r:id="rId6"/>
    <p:sldId id="1339" r:id="rId7"/>
    <p:sldId id="1340" r:id="rId8"/>
    <p:sldId id="1341" r:id="rId9"/>
    <p:sldId id="1342" r:id="rId10"/>
    <p:sldId id="1343" r:id="rId11"/>
    <p:sldId id="1344" r:id="rId12"/>
    <p:sldId id="1345" r:id="rId13"/>
    <p:sldId id="1346" r:id="rId14"/>
    <p:sldId id="1347" r:id="rId15"/>
    <p:sldId id="1348" r:id="rId16"/>
    <p:sldId id="1349" r:id="rId17"/>
    <p:sldId id="1350" r:id="rId18"/>
    <p:sldId id="1351" r:id="rId19"/>
    <p:sldId id="1352" r:id="rId20"/>
    <p:sldId id="1353" r:id="rId21"/>
    <p:sldId id="1354" r:id="rId22"/>
    <p:sldId id="1355" r:id="rId23"/>
    <p:sldId id="1359" r:id="rId24"/>
    <p:sldId id="1356" r:id="rId25"/>
    <p:sldId id="1357" r:id="rId26"/>
    <p:sldId id="1358" r:id="rId27"/>
    <p:sldId id="1360" r:id="rId28"/>
    <p:sldId id="1361" r:id="rId29"/>
    <p:sldId id="1362" r:id="rId30"/>
    <p:sldId id="1363" r:id="rId31"/>
    <p:sldId id="1364" r:id="rId32"/>
    <p:sldId id="1367" r:id="rId33"/>
    <p:sldId id="1369" r:id="rId34"/>
    <p:sldId id="1368" r:id="rId35"/>
    <p:sldId id="1365" r:id="rId36"/>
    <p:sldId id="1366" r:id="rId37"/>
    <p:sldId id="1371" r:id="rId38"/>
    <p:sldId id="1370" r:id="rId39"/>
    <p:sldId id="1373" r:id="rId40"/>
    <p:sldId id="1372" r:id="rId41"/>
    <p:sldId id="1374" r:id="rId42"/>
    <p:sldId id="1375" r:id="rId43"/>
    <p:sldId id="1376" r:id="rId44"/>
    <p:sldId id="1377" r:id="rId45"/>
  </p:sldIdLst>
  <p:sldSz cx="9144000" cy="6858000" type="screen4x3"/>
  <p:notesSz cx="6858000" cy="9144000"/>
  <p:custDataLst>
    <p:tags r:id="rId4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>
          <p15:clr>
            <a:srgbClr val="A4A3A4"/>
          </p15:clr>
        </p15:guide>
        <p15:guide id="2" pos="2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0000"/>
    <a:srgbClr val="FFFF99"/>
    <a:srgbClr val="6C4C8F"/>
    <a:srgbClr val="A5A5E9"/>
    <a:srgbClr val="E2D9EB"/>
    <a:srgbClr val="EBEBEB"/>
    <a:srgbClr val="A78DC2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/>
    <p:restoredTop sz="94682"/>
  </p:normalViewPr>
  <p:slideViewPr>
    <p:cSldViewPr snapToObjects="1" showGuides="1">
      <p:cViewPr varScale="1">
        <p:scale>
          <a:sx n="81" d="100"/>
          <a:sy n="81" d="100"/>
        </p:scale>
        <p:origin x="1738" y="48"/>
      </p:cViewPr>
      <p:guideLst>
        <p:guide orient="horz" pos="2215"/>
        <p:guide pos="28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3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67AFD3B-C4E1-4416-BD3D-68F2CFCE9377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819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B6E9BB8-4EBB-4AE6-9C42-E84A705BD6EB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739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8297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 sz="2400"/>
            </a:lvl2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7" y="38592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101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7" name="组合 16"/>
          <p:cNvGrpSpPr/>
          <p:nvPr/>
        </p:nvGrpSpPr>
        <p:grpSpPr>
          <a:xfrm>
            <a:off x="115636" y="378030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44550" y="190500"/>
            <a:ext cx="6400800" cy="5270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15637" y="378030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8CAF50F0-3A55-4ADA-AA1D-9792FAE14E5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9699" name="Rectangle 3">
              <a:extLst>
                <a:ext uri="{FF2B5EF4-FFF2-40B4-BE49-F238E27FC236}">
                  <a16:creationId xmlns:a16="http://schemas.microsoft.com/office/drawing/2014/main" id="{3CA8E321-DF00-4874-877B-385BA03E129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00" name="Rectangle 4">
              <a:extLst>
                <a:ext uri="{FF2B5EF4-FFF2-40B4-BE49-F238E27FC236}">
                  <a16:creationId xmlns:a16="http://schemas.microsoft.com/office/drawing/2014/main" id="{FD4184E0-E0DD-4579-BB7D-FE1E1AAC71A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9701" name="Group 5">
              <a:extLst>
                <a:ext uri="{FF2B5EF4-FFF2-40B4-BE49-F238E27FC236}">
                  <a16:creationId xmlns:a16="http://schemas.microsoft.com/office/drawing/2014/main" id="{AC01B30C-1D2A-4938-A483-9F823E609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9702" name="Rectangle 6">
                <a:extLst>
                  <a:ext uri="{FF2B5EF4-FFF2-40B4-BE49-F238E27FC236}">
                    <a16:creationId xmlns:a16="http://schemas.microsoft.com/office/drawing/2014/main" id="{2054F69F-1878-4EDF-A48B-E59D89D64F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3" name="Rectangle 7">
                <a:extLst>
                  <a:ext uri="{FF2B5EF4-FFF2-40B4-BE49-F238E27FC236}">
                    <a16:creationId xmlns:a16="http://schemas.microsoft.com/office/drawing/2014/main" id="{585B3566-4EB7-49E0-A9C1-98563F1ABE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" name="Rectangle 8">
                <a:extLst>
                  <a:ext uri="{FF2B5EF4-FFF2-40B4-BE49-F238E27FC236}">
                    <a16:creationId xmlns:a16="http://schemas.microsoft.com/office/drawing/2014/main" id="{6BA47FA8-F952-43B3-9165-49552E7547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" name="Rectangle 9">
                <a:extLst>
                  <a:ext uri="{FF2B5EF4-FFF2-40B4-BE49-F238E27FC236}">
                    <a16:creationId xmlns:a16="http://schemas.microsoft.com/office/drawing/2014/main" id="{9D408330-8C6C-4B99-960C-3173B443C8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6" name="Rectangle 10">
                <a:extLst>
                  <a:ext uri="{FF2B5EF4-FFF2-40B4-BE49-F238E27FC236}">
                    <a16:creationId xmlns:a16="http://schemas.microsoft.com/office/drawing/2014/main" id="{6DADB660-670B-43E3-B0B3-E679778257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7" name="Rectangle 11">
                <a:extLst>
                  <a:ext uri="{FF2B5EF4-FFF2-40B4-BE49-F238E27FC236}">
                    <a16:creationId xmlns:a16="http://schemas.microsoft.com/office/drawing/2014/main" id="{21F32A29-CBB3-405F-B62F-AFCA2142A9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8" name="Rectangle 12">
                <a:extLst>
                  <a:ext uri="{FF2B5EF4-FFF2-40B4-BE49-F238E27FC236}">
                    <a16:creationId xmlns:a16="http://schemas.microsoft.com/office/drawing/2014/main" id="{BED7B892-C9DA-47F7-8DB7-0162F5E596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9" name="Rectangle 13">
                <a:extLst>
                  <a:ext uri="{FF2B5EF4-FFF2-40B4-BE49-F238E27FC236}">
                    <a16:creationId xmlns:a16="http://schemas.microsoft.com/office/drawing/2014/main" id="{1CF2F4CA-5A16-4B2E-9649-8934827E6F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0" name="Rectangle 14">
                <a:extLst>
                  <a:ext uri="{FF2B5EF4-FFF2-40B4-BE49-F238E27FC236}">
                    <a16:creationId xmlns:a16="http://schemas.microsoft.com/office/drawing/2014/main" id="{E44FE56F-87D5-470E-87AD-C89C43394C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1" name="Rectangle 15">
                <a:extLst>
                  <a:ext uri="{FF2B5EF4-FFF2-40B4-BE49-F238E27FC236}">
                    <a16:creationId xmlns:a16="http://schemas.microsoft.com/office/drawing/2014/main" id="{2F046A15-3B8F-43A9-B095-F7C1CF803B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67D1B36C-3839-47A5-A900-133A52291D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0509F7D1-0841-4DCC-9FE2-AE04AD9F38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80A1332F-FCA7-48B5-9F83-5973E300D7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latin typeface="Arial Black" panose="020B0A04020102020204" pitchFamily="34" charset="0"/>
                <a:ea typeface="+mn-ea"/>
              </a:defRPr>
            </a:lvl1pPr>
          </a:lstStyle>
          <a:p>
            <a:fld id="{E5309CBB-3AEB-4BD3-8A17-C01AB13CAED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8E8CB819-80A5-4466-9E73-B0A49F1077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9716" name="Rectangle 20">
            <a:extLst>
              <a:ext uri="{FF2B5EF4-FFF2-40B4-BE49-F238E27FC236}">
                <a16:creationId xmlns:a16="http://schemas.microsoft.com/office/drawing/2014/main" id="{92C074B9-A395-4156-9D56-1EC3461D11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93720075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048E9-7969-4300-BA6A-AB7F609A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078F0-05CD-4ADF-9A07-7E85E80AF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CF52D6-C64F-4484-B872-4491C534C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D00F02-548B-4135-9E7E-FAB4FED24F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DFCF5C-C2A2-4C66-B481-19AC6826909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846A2C3-D87A-417F-97B7-6D0A37C629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4442774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5B9B-EAD2-474C-80D9-55EDBD5B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EB9AB-0B78-4779-B2DD-2156F4E5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F454CB-5FA3-4EE5-A663-E5F42B206E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BDDD17-3EEF-410F-AD08-0F2841DB8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61422F-630F-49A1-B5EE-888F39F509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0C34C09-E65E-40A6-A4C3-564AF541421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470319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F6908-2681-4A69-81B6-7F484EF5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03E58-A1D6-4DFF-B8A7-9F42B3BF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6F388D-E693-4968-8F3F-2567DCC1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C00AB-6640-4CB8-8B95-ACA87343E4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F2435-F14C-427A-B97F-EC0D7144A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31931F-EF41-40CE-B503-7D416B9597B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AA1C9-D806-430A-BD3F-C90F1F93161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03973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85370-78EB-4017-B873-01488CBE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FAADA-45BF-4757-B837-AB17A262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42B3C-64ED-4CAB-AAEC-5DCA64A31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AD68A9-2257-42C5-BE0E-6B350D9FE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D4182D-0893-4FF4-8917-C7E4B519F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E19D611-22C1-4CD5-98B3-34A658251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0070C82-9147-4D12-AE04-F72416F8B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D5FE2A-6A0D-46F0-9A25-D63A1B86CAA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FC29BF08-1F99-4F41-9FE0-897CAFB253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337104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D100A-5B57-4855-8146-C6CF87D3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9A4E8-8ACF-4115-8384-5197E01C8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A9A5F-FC52-48D2-AF1A-4C84D2DFE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F561C9-FB71-4454-A9F9-B9626922A02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90ABE2-FCE1-4421-818A-7C71304F76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7098532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AAE7580-9D24-411F-8067-CE1FA87A8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A20B5A-2B24-441F-827C-9288EFD0D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1FF4EF-7BBD-4FA0-9747-34A363CFCF8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4933C-F8BA-4D78-8B20-AC7E97CDEB7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924998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DAD98-0F2F-43ED-B9B8-D9BB4FA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88B04-690B-4362-8C14-48C7BF31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6A5527-53B5-431B-94A1-540395E6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2205B-3744-49D9-8FE7-56DF158DA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C1708-194E-464B-A327-7D2563DDCB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7B8F39-10B7-4545-A6C0-3F0F860BA4F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918829-C0AE-484B-B38E-2B32389691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9815105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30182-45BC-4F98-8B9A-8E68F543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2BEAD-96DE-46FB-9A5C-AE3D7EEA5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6901F3-5B60-466C-895C-D40C8DA05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48F8F-5375-459A-8CD5-32FB7BFCB9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7A2D5-5350-4E5D-8EE4-5E291E74D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074B4-9195-4B33-9557-6D03CD715F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5420C-4B03-4E48-8D15-78B4EC17B1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153820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601D-8D66-4148-91AA-04A14BE1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38F4D0-70DC-4DFD-A3A5-D0403CBDA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20218F-08AA-4223-829D-1B50B3FCA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E890FB-3E52-45DE-9DED-992E246EC6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1AE139-FCD8-49E9-AEFA-5B65DCDF16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D1184F0-437D-45B8-BF2D-28153DE19E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246904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092409-CC5C-48C3-997B-292643DBC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0ABE33-88BC-4EE2-8363-6804A8DD6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00B62E-76DB-4459-8ED0-41FE77623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00F402-EFE4-4030-B673-02DA40FDB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D69601-9D7C-43AD-8E1E-015C13AF9FF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E1AE1A58-1346-4E35-A034-D1C2F1FD2B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100745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DBD91-EC1A-40D2-9866-C876A167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8F8FAA65-1A10-4BF7-BD70-92C1323D842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B263A-6192-4A79-BDC8-8FCDE3A27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9E543-2961-4C47-A642-897040921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EE2D7AF-3E92-46C1-9199-DB3F303CD0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0BE2EAB-A84B-4F08-9F09-4EB913DF9E1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6161047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570E-AAE7-4CA9-9BBE-D75B9AE9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69F0F830-8A64-4C74-B83A-8811742AEB6E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6245BF-E54E-4380-8C53-2103FE397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40811D-1E6E-4F6C-AB3B-E81853771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D438AE6-C331-480D-9D64-09098024A32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F6DDA6E-80B0-47AF-9E5B-F22706BE61A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175179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249821" y="744505"/>
            <a:ext cx="8642659" cy="54721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cxnSp>
        <p:nvCxnSpPr>
          <p:cNvPr id="1027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7" y="377046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190500"/>
            <a:ext cx="6400800" cy="5270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marL="457200" indent="-4572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ea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A46C38E-1E1E-4D64-934F-7CE1F6CA86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5FE34E4-5EAA-43C2-A785-ACA20CF6D6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0077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1F4AA395-A1D4-4B09-9C75-AA052D7FA1A0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0C925DCF-12C5-4B95-9392-08B66831CCB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677" name="Rectangle 5">
              <a:extLst>
                <a:ext uri="{FF2B5EF4-FFF2-40B4-BE49-F238E27FC236}">
                  <a16:creationId xmlns:a16="http://schemas.microsoft.com/office/drawing/2014/main" id="{7A338ACE-7AF2-4137-83FE-E24491DB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8" name="Rectangle 6">
              <a:extLst>
                <a:ext uri="{FF2B5EF4-FFF2-40B4-BE49-F238E27FC236}">
                  <a16:creationId xmlns:a16="http://schemas.microsoft.com/office/drawing/2014/main" id="{93653F84-1782-4A00-B81C-167BEBA3C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9" name="Rectangle 7">
              <a:extLst>
                <a:ext uri="{FF2B5EF4-FFF2-40B4-BE49-F238E27FC236}">
                  <a16:creationId xmlns:a16="http://schemas.microsoft.com/office/drawing/2014/main" id="{F1A954A5-F7A0-4640-BEF0-93F5458C0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0" name="Rectangle 8">
              <a:extLst>
                <a:ext uri="{FF2B5EF4-FFF2-40B4-BE49-F238E27FC236}">
                  <a16:creationId xmlns:a16="http://schemas.microsoft.com/office/drawing/2014/main" id="{2D195F7B-269B-458F-A0EE-2C766E6C8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1" name="Rectangle 9">
              <a:extLst>
                <a:ext uri="{FF2B5EF4-FFF2-40B4-BE49-F238E27FC236}">
                  <a16:creationId xmlns:a16="http://schemas.microsoft.com/office/drawing/2014/main" id="{DFB9C109-16C6-4E42-816C-B69A23CCE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2" name="Rectangle 10">
              <a:extLst>
                <a:ext uri="{FF2B5EF4-FFF2-40B4-BE49-F238E27FC236}">
                  <a16:creationId xmlns:a16="http://schemas.microsoft.com/office/drawing/2014/main" id="{98CC751E-7F3A-4B73-8A1C-62AE9BAD4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3" name="Rectangle 11">
              <a:extLst>
                <a:ext uri="{FF2B5EF4-FFF2-40B4-BE49-F238E27FC236}">
                  <a16:creationId xmlns:a16="http://schemas.microsoft.com/office/drawing/2014/main" id="{104DD1E0-86CE-44BA-A4C3-8DF5C9D3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84" name="Rectangle 12">
              <a:extLst>
                <a:ext uri="{FF2B5EF4-FFF2-40B4-BE49-F238E27FC236}">
                  <a16:creationId xmlns:a16="http://schemas.microsoft.com/office/drawing/2014/main" id="{0A789231-86A8-496A-A5CB-7895349BA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5" name="Rectangle 13">
              <a:extLst>
                <a:ext uri="{FF2B5EF4-FFF2-40B4-BE49-F238E27FC236}">
                  <a16:creationId xmlns:a16="http://schemas.microsoft.com/office/drawing/2014/main" id="{D24B3D9C-AB33-4D7F-82CC-7B005423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28686" name="Rectangle 14">
            <a:extLst>
              <a:ext uri="{FF2B5EF4-FFF2-40B4-BE49-F238E27FC236}">
                <a16:creationId xmlns:a16="http://schemas.microsoft.com/office/drawing/2014/main" id="{49D69E84-F191-4AF1-93FC-AF67C344A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B118BF2E-8CDD-4976-A602-1FAE0C53A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1670E9EC-8BD9-4ED0-AB5C-50279F4B6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673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ransition>
    <p:wipe dir="r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AD70D86-A9E0-4A58-892E-B8E771EC9B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08288" y="1773238"/>
            <a:ext cx="6019800" cy="2209800"/>
          </a:xfrm>
        </p:spPr>
        <p:txBody>
          <a:bodyPr/>
          <a:lstStyle/>
          <a:p>
            <a:pPr algn="ctr"/>
            <a:r>
              <a:rPr lang="zh-CN" altLang="en-US" sz="4800" dirty="0">
                <a:latin typeface="楷体_GB2312" pitchFamily="49" charset="-122"/>
                <a:ea typeface="楷体_GB2312" pitchFamily="49" charset="-122"/>
              </a:rPr>
              <a:t>第六章 树和二叉树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03CFA724-2FB7-4C8F-815C-179C5D2A37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树、二叉树、森林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哈夫曼树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定义和基本术语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基本运算和存储结构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遍历二叉树和线索二叉树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树和森林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哈夫曼树及其应用</a:t>
            </a:r>
          </a:p>
        </p:txBody>
      </p:sp>
    </p:spTree>
    <p:extLst>
      <p:ext uri="{BB962C8B-B14F-4D97-AF65-F5344CB8AC3E}">
        <p14:creationId xmlns:p14="http://schemas.microsoft.com/office/powerpoint/2010/main" val="1525590459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5" name="Rectangle 41"/>
          <p:cNvSpPr>
            <a:spLocks noChangeArrowheads="1"/>
          </p:cNvSpPr>
          <p:nvPr/>
        </p:nvSpPr>
        <p:spPr bwMode="auto">
          <a:xfrm>
            <a:off x="244128" y="2788058"/>
            <a:ext cx="79047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线性结构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——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一个对一个，如线性表、栈、队列</a:t>
            </a:r>
          </a:p>
        </p:txBody>
      </p:sp>
      <p:sp>
        <p:nvSpPr>
          <p:cNvPr id="16426" name="Rectangle 42"/>
          <p:cNvSpPr>
            <a:spLocks noChangeArrowheads="1"/>
          </p:cNvSpPr>
          <p:nvPr/>
        </p:nvSpPr>
        <p:spPr bwMode="auto">
          <a:xfrm>
            <a:off x="244128" y="3971299"/>
            <a:ext cx="53912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树形结构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——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一个对多个，如树</a:t>
            </a:r>
          </a:p>
        </p:txBody>
      </p:sp>
      <p:sp>
        <p:nvSpPr>
          <p:cNvPr id="16427" name="Rectangle 43"/>
          <p:cNvSpPr>
            <a:spLocks noChangeArrowheads="1"/>
          </p:cNvSpPr>
          <p:nvPr/>
        </p:nvSpPr>
        <p:spPr bwMode="auto">
          <a:xfrm>
            <a:off x="244128" y="1110317"/>
            <a:ext cx="6779481" cy="13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集合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——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数据元素间除“同属于一个集合”外，无其它关系</a:t>
            </a:r>
          </a:p>
        </p:txBody>
      </p:sp>
      <p:sp>
        <p:nvSpPr>
          <p:cNvPr id="16428" name="Rectangle 44"/>
          <p:cNvSpPr>
            <a:spLocks noChangeArrowheads="1"/>
          </p:cNvSpPr>
          <p:nvPr/>
        </p:nvSpPr>
        <p:spPr bwMode="auto">
          <a:xfrm>
            <a:off x="244128" y="5234639"/>
            <a:ext cx="53912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图形结构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——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多个对多个，如图</a:t>
            </a:r>
          </a:p>
        </p:txBody>
      </p:sp>
      <p:sp>
        <p:nvSpPr>
          <p:cNvPr id="16429" name="Rectangle 45"/>
          <p:cNvSpPr>
            <a:spLocks noChangeArrowheads="1"/>
          </p:cNvSpPr>
          <p:nvPr/>
        </p:nvSpPr>
        <p:spPr bwMode="auto">
          <a:xfrm>
            <a:off x="873125" y="190500"/>
            <a:ext cx="2346325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</a:t>
            </a:r>
          </a:p>
        </p:txBody>
      </p:sp>
      <p:grpSp>
        <p:nvGrpSpPr>
          <p:cNvPr id="12295" name="Group 16"/>
          <p:cNvGrpSpPr/>
          <p:nvPr/>
        </p:nvGrpSpPr>
        <p:grpSpPr>
          <a:xfrm>
            <a:off x="6234113" y="4167269"/>
            <a:ext cx="1941513" cy="1000125"/>
            <a:chOff x="4185" y="2055"/>
            <a:chExt cx="1223" cy="630"/>
          </a:xfrm>
        </p:grpSpPr>
        <p:grpSp>
          <p:nvGrpSpPr>
            <p:cNvPr id="12322" name="Group 17"/>
            <p:cNvGrpSpPr/>
            <p:nvPr/>
          </p:nvGrpSpPr>
          <p:grpSpPr>
            <a:xfrm>
              <a:off x="4185" y="2055"/>
              <a:ext cx="629" cy="336"/>
              <a:chOff x="2474" y="2489"/>
              <a:chExt cx="629" cy="336"/>
            </a:xfrm>
          </p:grpSpPr>
          <p:sp>
            <p:nvSpPr>
              <p:cNvPr id="12331" name="Oval 18"/>
              <p:cNvSpPr/>
              <p:nvPr/>
            </p:nvSpPr>
            <p:spPr>
              <a:xfrm>
                <a:off x="2711" y="2489"/>
                <a:ext cx="156" cy="144"/>
              </a:xfrm>
              <a:prstGeom prst="ellipse">
                <a:avLst/>
              </a:prstGeom>
              <a:noFill/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 b="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endParaRPr lang="zh-CN" altLang="en-US" sz="2800" b="1" dirty="0">
                  <a:ea typeface="仿宋_GB2312" pitchFamily="49" charset="-122"/>
                </a:endParaRPr>
              </a:p>
            </p:txBody>
          </p:sp>
          <p:sp>
            <p:nvSpPr>
              <p:cNvPr id="12332" name="Oval 19"/>
              <p:cNvSpPr/>
              <p:nvPr/>
            </p:nvSpPr>
            <p:spPr>
              <a:xfrm>
                <a:off x="2474" y="2674"/>
                <a:ext cx="156" cy="144"/>
              </a:xfrm>
              <a:prstGeom prst="ellipse">
                <a:avLst/>
              </a:prstGeom>
              <a:noFill/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 b="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endParaRPr lang="zh-CN" altLang="en-US" sz="2800" b="1" dirty="0">
                  <a:ea typeface="仿宋_GB2312" pitchFamily="49" charset="-122"/>
                </a:endParaRPr>
              </a:p>
            </p:txBody>
          </p:sp>
          <p:sp>
            <p:nvSpPr>
              <p:cNvPr id="12333" name="Oval 20"/>
              <p:cNvSpPr/>
              <p:nvPr/>
            </p:nvSpPr>
            <p:spPr>
              <a:xfrm>
                <a:off x="2947" y="2681"/>
                <a:ext cx="156" cy="144"/>
              </a:xfrm>
              <a:prstGeom prst="ellipse">
                <a:avLst/>
              </a:prstGeom>
              <a:noFill/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 b="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endParaRPr lang="zh-CN" altLang="en-US" sz="2800" b="1" dirty="0">
                  <a:ea typeface="仿宋_GB2312" pitchFamily="49" charset="-122"/>
                </a:endParaRPr>
              </a:p>
            </p:txBody>
          </p:sp>
        </p:grpSp>
        <p:sp>
          <p:nvSpPr>
            <p:cNvPr id="12323" name="Oval 21"/>
            <p:cNvSpPr/>
            <p:nvPr/>
          </p:nvSpPr>
          <p:spPr>
            <a:xfrm>
              <a:off x="4374" y="2519"/>
              <a:ext cx="156" cy="144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24" name="Oval 22"/>
            <p:cNvSpPr/>
            <p:nvPr/>
          </p:nvSpPr>
          <p:spPr>
            <a:xfrm>
              <a:off x="4897" y="2530"/>
              <a:ext cx="156" cy="144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25" name="Oval 23"/>
            <p:cNvSpPr/>
            <p:nvPr/>
          </p:nvSpPr>
          <p:spPr>
            <a:xfrm>
              <a:off x="5252" y="2541"/>
              <a:ext cx="156" cy="144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26" name="Line 24"/>
            <p:cNvSpPr/>
            <p:nvPr/>
          </p:nvSpPr>
          <p:spPr>
            <a:xfrm flipH="1">
              <a:off x="4334" y="2189"/>
              <a:ext cx="111" cy="111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7" name="Line 25"/>
            <p:cNvSpPr/>
            <p:nvPr/>
          </p:nvSpPr>
          <p:spPr>
            <a:xfrm flipH="1">
              <a:off x="4501" y="2378"/>
              <a:ext cx="166" cy="16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8" name="Line 26"/>
            <p:cNvSpPr/>
            <p:nvPr/>
          </p:nvSpPr>
          <p:spPr>
            <a:xfrm>
              <a:off x="4534" y="2178"/>
              <a:ext cx="122" cy="12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9" name="Line 27"/>
            <p:cNvSpPr/>
            <p:nvPr/>
          </p:nvSpPr>
          <p:spPr>
            <a:xfrm>
              <a:off x="4778" y="2366"/>
              <a:ext cx="178" cy="178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0" name="Line 28"/>
            <p:cNvSpPr/>
            <p:nvPr/>
          </p:nvSpPr>
          <p:spPr>
            <a:xfrm>
              <a:off x="4812" y="2333"/>
              <a:ext cx="466" cy="233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296" name="Group 2"/>
          <p:cNvGrpSpPr/>
          <p:nvPr/>
        </p:nvGrpSpPr>
        <p:grpSpPr>
          <a:xfrm>
            <a:off x="6996045" y="1870286"/>
            <a:ext cx="1676400" cy="581025"/>
            <a:chOff x="3774" y="1252"/>
            <a:chExt cx="1056" cy="366"/>
          </a:xfrm>
        </p:grpSpPr>
        <p:sp>
          <p:nvSpPr>
            <p:cNvPr id="61" name="Oval 3"/>
            <p:cNvSpPr>
              <a:spLocks noChangeArrowheads="1"/>
            </p:cNvSpPr>
            <p:nvPr/>
          </p:nvSpPr>
          <p:spPr bwMode="auto">
            <a:xfrm>
              <a:off x="3774" y="1307"/>
              <a:ext cx="156" cy="144"/>
            </a:xfrm>
            <a:prstGeom prst="ellipse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2" name="Oval 4"/>
            <p:cNvSpPr>
              <a:spLocks noChangeArrowheads="1"/>
            </p:cNvSpPr>
            <p:nvPr/>
          </p:nvSpPr>
          <p:spPr bwMode="auto">
            <a:xfrm>
              <a:off x="4096" y="1252"/>
              <a:ext cx="156" cy="144"/>
            </a:xfrm>
            <a:prstGeom prst="ellipse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3" name="Oval 5"/>
            <p:cNvSpPr>
              <a:spLocks noChangeArrowheads="1"/>
            </p:cNvSpPr>
            <p:nvPr/>
          </p:nvSpPr>
          <p:spPr bwMode="auto">
            <a:xfrm>
              <a:off x="4063" y="1474"/>
              <a:ext cx="156" cy="144"/>
            </a:xfrm>
            <a:prstGeom prst="ellipse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4" name="Oval 6"/>
            <p:cNvSpPr>
              <a:spLocks noChangeArrowheads="1"/>
            </p:cNvSpPr>
            <p:nvPr/>
          </p:nvSpPr>
          <p:spPr bwMode="auto">
            <a:xfrm>
              <a:off x="4373" y="1396"/>
              <a:ext cx="156" cy="144"/>
            </a:xfrm>
            <a:prstGeom prst="ellipse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65" name="Oval 7"/>
            <p:cNvSpPr>
              <a:spLocks noChangeArrowheads="1"/>
            </p:cNvSpPr>
            <p:nvPr/>
          </p:nvSpPr>
          <p:spPr bwMode="auto">
            <a:xfrm>
              <a:off x="4674" y="1385"/>
              <a:ext cx="156" cy="144"/>
            </a:xfrm>
            <a:prstGeom prst="ellipse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12297" name="Group 8"/>
          <p:cNvGrpSpPr/>
          <p:nvPr/>
        </p:nvGrpSpPr>
        <p:grpSpPr>
          <a:xfrm>
            <a:off x="6431471" y="3507403"/>
            <a:ext cx="2268538" cy="211137"/>
            <a:chOff x="3056" y="2100"/>
            <a:chExt cx="1429" cy="133"/>
          </a:xfrm>
        </p:grpSpPr>
        <p:sp>
          <p:nvSpPr>
            <p:cNvPr id="12310" name="Oval 9"/>
            <p:cNvSpPr/>
            <p:nvPr/>
          </p:nvSpPr>
          <p:spPr>
            <a:xfrm>
              <a:off x="3056" y="2100"/>
              <a:ext cx="144" cy="133"/>
            </a:xfrm>
            <a:prstGeom prst="ellipse">
              <a:avLst/>
            </a:prstGeom>
            <a:noFill/>
            <a:ln w="381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11" name="Oval 10"/>
            <p:cNvSpPr/>
            <p:nvPr/>
          </p:nvSpPr>
          <p:spPr>
            <a:xfrm>
              <a:off x="3474" y="2100"/>
              <a:ext cx="144" cy="133"/>
            </a:xfrm>
            <a:prstGeom prst="ellipse">
              <a:avLst/>
            </a:prstGeom>
            <a:noFill/>
            <a:ln w="381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12" name="Oval 11"/>
            <p:cNvSpPr/>
            <p:nvPr/>
          </p:nvSpPr>
          <p:spPr>
            <a:xfrm>
              <a:off x="3919" y="2100"/>
              <a:ext cx="144" cy="133"/>
            </a:xfrm>
            <a:prstGeom prst="ellipse">
              <a:avLst/>
            </a:prstGeom>
            <a:noFill/>
            <a:ln w="381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13" name="Oval 12"/>
            <p:cNvSpPr/>
            <p:nvPr/>
          </p:nvSpPr>
          <p:spPr>
            <a:xfrm>
              <a:off x="4341" y="2100"/>
              <a:ext cx="144" cy="133"/>
            </a:xfrm>
            <a:prstGeom prst="ellipse">
              <a:avLst/>
            </a:prstGeom>
            <a:noFill/>
            <a:ln w="381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14" name="Line 13"/>
            <p:cNvSpPr/>
            <p:nvPr/>
          </p:nvSpPr>
          <p:spPr>
            <a:xfrm>
              <a:off x="3200" y="2166"/>
              <a:ext cx="267" cy="0"/>
            </a:xfrm>
            <a:prstGeom prst="line">
              <a:avLst/>
            </a:prstGeom>
            <a:ln w="381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5" name="Line 14"/>
            <p:cNvSpPr/>
            <p:nvPr/>
          </p:nvSpPr>
          <p:spPr>
            <a:xfrm>
              <a:off x="3612" y="2166"/>
              <a:ext cx="311" cy="0"/>
            </a:xfrm>
            <a:prstGeom prst="line">
              <a:avLst/>
            </a:prstGeom>
            <a:ln w="381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6" name="Line 15"/>
            <p:cNvSpPr/>
            <p:nvPr/>
          </p:nvSpPr>
          <p:spPr>
            <a:xfrm>
              <a:off x="4078" y="2166"/>
              <a:ext cx="256" cy="0"/>
            </a:xfrm>
            <a:prstGeom prst="line">
              <a:avLst/>
            </a:prstGeom>
            <a:ln w="38100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298" name="Group 29"/>
          <p:cNvGrpSpPr/>
          <p:nvPr/>
        </p:nvGrpSpPr>
        <p:grpSpPr>
          <a:xfrm>
            <a:off x="6155532" y="5630859"/>
            <a:ext cx="1658937" cy="882650"/>
            <a:chOff x="4363" y="2073"/>
            <a:chExt cx="1045" cy="556"/>
          </a:xfrm>
        </p:grpSpPr>
        <p:sp>
          <p:nvSpPr>
            <p:cNvPr id="12299" name="Oval 30"/>
            <p:cNvSpPr/>
            <p:nvPr/>
          </p:nvSpPr>
          <p:spPr>
            <a:xfrm>
              <a:off x="4819" y="2073"/>
              <a:ext cx="156" cy="144"/>
            </a:xfrm>
            <a:prstGeom prst="ellipse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00" name="Oval 31"/>
            <p:cNvSpPr/>
            <p:nvPr/>
          </p:nvSpPr>
          <p:spPr>
            <a:xfrm>
              <a:off x="4385" y="2485"/>
              <a:ext cx="156" cy="144"/>
            </a:xfrm>
            <a:prstGeom prst="ellipse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01" name="Oval 32"/>
            <p:cNvSpPr/>
            <p:nvPr/>
          </p:nvSpPr>
          <p:spPr>
            <a:xfrm>
              <a:off x="4841" y="2474"/>
              <a:ext cx="156" cy="144"/>
            </a:xfrm>
            <a:prstGeom prst="ellipse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02" name="Oval 33"/>
            <p:cNvSpPr/>
            <p:nvPr/>
          </p:nvSpPr>
          <p:spPr>
            <a:xfrm>
              <a:off x="5252" y="2252"/>
              <a:ext cx="156" cy="144"/>
            </a:xfrm>
            <a:prstGeom prst="ellipse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03" name="Oval 34"/>
            <p:cNvSpPr/>
            <p:nvPr/>
          </p:nvSpPr>
          <p:spPr>
            <a:xfrm>
              <a:off x="4363" y="2107"/>
              <a:ext cx="156" cy="144"/>
            </a:xfrm>
            <a:prstGeom prst="ellipse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 b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b="1" dirty="0">
                <a:ea typeface="仿宋_GB2312" pitchFamily="49" charset="-122"/>
              </a:endParaRPr>
            </a:p>
          </p:txBody>
        </p:sp>
        <p:sp>
          <p:nvSpPr>
            <p:cNvPr id="12304" name="Line 35"/>
            <p:cNvSpPr/>
            <p:nvPr/>
          </p:nvSpPr>
          <p:spPr>
            <a:xfrm>
              <a:off x="4445" y="2266"/>
              <a:ext cx="0" cy="245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5" name="Line 36"/>
            <p:cNvSpPr/>
            <p:nvPr/>
          </p:nvSpPr>
          <p:spPr>
            <a:xfrm>
              <a:off x="4512" y="2211"/>
              <a:ext cx="366" cy="289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6" name="Line 37"/>
            <p:cNvSpPr/>
            <p:nvPr/>
          </p:nvSpPr>
          <p:spPr>
            <a:xfrm>
              <a:off x="4967" y="2189"/>
              <a:ext cx="300" cy="133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7" name="Line 38"/>
            <p:cNvSpPr/>
            <p:nvPr/>
          </p:nvSpPr>
          <p:spPr>
            <a:xfrm flipH="1">
              <a:off x="4523" y="2200"/>
              <a:ext cx="322" cy="322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8" name="Line 39"/>
            <p:cNvSpPr/>
            <p:nvPr/>
          </p:nvSpPr>
          <p:spPr>
            <a:xfrm flipH="1">
              <a:off x="5001" y="2400"/>
              <a:ext cx="277" cy="144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9" name="Line 40"/>
            <p:cNvSpPr/>
            <p:nvPr/>
          </p:nvSpPr>
          <p:spPr>
            <a:xfrm>
              <a:off x="4512" y="2144"/>
              <a:ext cx="311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3CD9A-3005-44A7-9870-9D58D074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树的定义</a:t>
            </a:r>
            <a:r>
              <a:rPr lang="en-US" altLang="zh-CN" dirty="0"/>
              <a:t>---</a:t>
            </a:r>
            <a:r>
              <a:rPr lang="zh-CN" altLang="en-US" dirty="0"/>
              <a:t>形式化定义（二元组）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3EADA29F-DF6D-4B36-9B2D-B4B75DDAF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523" y="908720"/>
            <a:ext cx="8483836" cy="19552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树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 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可定义为一个二元组，即 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T=</a:t>
            </a:r>
            <a:r>
              <a:rPr kumimoji="1"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V</a:t>
            </a:r>
            <a:r>
              <a:rPr kumimoji="1"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</a:t>
            </a:r>
            <a:r>
              <a:rPr kumimoji="1" lang="en-US" altLang="zh-CN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E </a:t>
            </a:r>
            <a:r>
              <a:rPr kumimoji="1"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r>
              <a:rPr kumimoji="1" lang="en-US" altLang="zh-CN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V</a:t>
            </a:r>
            <a:r>
              <a:rPr kumimoji="1" lang="en-US" altLang="zh-CN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是包含 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（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≥0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）个结点的有限集合，即 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|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V 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|=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当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=0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时，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为空树；否则关系 </a:t>
            </a:r>
            <a:r>
              <a:rPr kumimoji="1" lang="en-US" altLang="zh-CN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E</a:t>
            </a:r>
            <a:r>
              <a:rPr kumimoji="1"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满足以下条件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：</a:t>
            </a:r>
            <a:endParaRPr kumimoji="1"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EAD4E1B-3127-4E42-A7A9-CAC9B873D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24" y="2863935"/>
            <a:ext cx="8483836" cy="280002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92000" tIns="144000" bIns="144000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有且仅有一个结点 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v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0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∈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V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，它在关系 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E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中没有前驱结点，结点 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v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0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称作树的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根结点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endParaRPr kumimoji="1" lang="zh-CN" altLang="en-US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除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根结点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外，每个结点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有且仅有一个前驱结点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每个结点可以有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零个或多个后继结点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FE18D6-A738-421F-A1BF-4EA12EB6EAA7}"/>
              </a:ext>
            </a:extLst>
          </p:cNvPr>
          <p:cNvSpPr txBox="1"/>
          <p:nvPr/>
        </p:nvSpPr>
        <p:spPr>
          <a:xfrm>
            <a:off x="3707701" y="5831686"/>
            <a:ext cx="1786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B050"/>
                </a:solidFill>
                <a:latin typeface="+mn-ea"/>
                <a:ea typeface="+mn-ea"/>
              </a:rPr>
              <a:t>|</a:t>
            </a:r>
            <a:r>
              <a:rPr lang="en-US" altLang="zh-CN" sz="3200" i="1" dirty="0">
                <a:solidFill>
                  <a:srgbClr val="00B050"/>
                </a:solidFill>
                <a:latin typeface="+mn-ea"/>
                <a:ea typeface="+mn-ea"/>
              </a:rPr>
              <a:t>E </a:t>
            </a:r>
            <a:r>
              <a:rPr lang="en-US" altLang="zh-CN" sz="3200" dirty="0">
                <a:solidFill>
                  <a:srgbClr val="00B050"/>
                </a:solidFill>
                <a:latin typeface="+mn-ea"/>
                <a:ea typeface="+mn-ea"/>
              </a:rPr>
              <a:t>| = </a:t>
            </a:r>
            <a:r>
              <a:rPr lang="zh-CN" altLang="en-US" sz="3200" dirty="0">
                <a:solidFill>
                  <a:srgbClr val="00B050"/>
                </a:solidFill>
                <a:latin typeface="+mn-ea"/>
                <a:ea typeface="+mn-ea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3058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3CD9A-3005-44A7-9870-9D58D074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树的定义</a:t>
            </a:r>
            <a:r>
              <a:rPr lang="en-US" altLang="zh-CN" dirty="0"/>
              <a:t>---</a:t>
            </a:r>
            <a:r>
              <a:rPr lang="zh-CN" altLang="en-US" dirty="0"/>
              <a:t>递归定义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3EADA29F-DF6D-4B36-9B2D-B4B75DDAF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51" y="830342"/>
            <a:ext cx="8605866" cy="13088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树 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 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是由 </a:t>
            </a:r>
            <a:r>
              <a:rPr kumimoji="1" lang="en-US" altLang="zh-CN" b="0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n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（</a:t>
            </a:r>
            <a:r>
              <a:rPr kumimoji="1"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≥0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）个结点组成的有限集合。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=0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时，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称为空树；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&gt;0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时，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为非空树，满足以下条件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：</a:t>
            </a:r>
            <a:endParaRPr kumimoji="1" lang="en-US" altLang="zh-CN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EAD4E1B-3127-4E42-A7A9-CAC9B873D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84" y="2122735"/>
            <a:ext cx="8730633" cy="409268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92000" tIns="144000" bIns="144000">
            <a:spAutoFit/>
          </a:bodyPr>
          <a:lstStyle/>
          <a:p>
            <a:pPr marL="457200" indent="-457200">
              <a:lnSpc>
                <a:spcPct val="150000"/>
              </a:lnSpc>
              <a:buBlip>
                <a:blip r:embed="rId3"/>
              </a:buBlip>
            </a:pP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中有且仅有一个特殊结点 </a:t>
            </a:r>
            <a:r>
              <a:rPr kumimoji="1" lang="en-US" altLang="zh-CN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r 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∈ T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，称为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根节点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；</a:t>
            </a:r>
          </a:p>
          <a:p>
            <a:pPr marL="457200" indent="-457200">
              <a:lnSpc>
                <a:spcPct val="150000"/>
              </a:lnSpc>
              <a:buBlip>
                <a:blip r:embed="rId3"/>
              </a:buBlip>
            </a:pP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其它结点 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T−{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r 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}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划分为 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m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（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≥0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）个互不相交的子集 </a:t>
            </a:r>
            <a:r>
              <a:rPr kumimoji="1"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</a:t>
            </a:r>
            <a:r>
              <a:rPr kumimoji="1" lang="en-US" altLang="zh-CN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1</a:t>
            </a:r>
            <a:r>
              <a:rPr kumimoji="1"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, T</a:t>
            </a:r>
            <a:r>
              <a:rPr kumimoji="1" lang="en-US" altLang="zh-CN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2</a:t>
            </a:r>
            <a:r>
              <a:rPr kumimoji="1"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, …, T</a:t>
            </a:r>
            <a:r>
              <a:rPr kumimoji="1" lang="en-US" altLang="zh-CN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m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，每个子集 </a:t>
            </a:r>
            <a:r>
              <a:rPr kumimoji="1"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</a:t>
            </a:r>
            <a:r>
              <a:rPr kumimoji="1" lang="en-US" altLang="zh-CN" b="0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（</a:t>
            </a:r>
            <a:r>
              <a:rPr kumimoji="1" lang="en-US" altLang="zh-CN" b="0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∈[1,…,m]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）也是树，称为根结点 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子树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；</a:t>
            </a:r>
          </a:p>
          <a:p>
            <a:pPr marL="457200" indent="-457200">
              <a:lnSpc>
                <a:spcPct val="150000"/>
              </a:lnSpc>
              <a:buBlip>
                <a:blip r:embed="rId3"/>
              </a:buBlip>
            </a:pP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若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</a:t>
            </a:r>
            <a:r>
              <a:rPr kumimoji="1" lang="en-US" altLang="zh-CN" b="0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非空，则子树的根 </a:t>
            </a:r>
            <a:r>
              <a:rPr kumimoji="1" lang="en-US" altLang="zh-CN" b="0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r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∈</a:t>
            </a:r>
            <a:r>
              <a:rPr kumimoji="1"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T</a:t>
            </a:r>
            <a:r>
              <a:rPr kumimoji="1" lang="en-US" altLang="zh-CN" b="0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是 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r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子结点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</a:t>
            </a:r>
            <a:r>
              <a:rPr kumimoji="1" lang="en-US" altLang="zh-CN" b="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是 </a:t>
            </a:r>
            <a:r>
              <a:rPr kumimoji="1" lang="en-US" altLang="zh-CN" b="0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r</a:t>
            </a:r>
            <a:r>
              <a:rPr kumimoji="1" lang="en-US" altLang="zh-CN" b="0" i="1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</a:t>
            </a:r>
            <a:r>
              <a:rPr kumimoji="1"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父结点</a:t>
            </a:r>
            <a:r>
              <a:rPr kumimoji="1"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7631DE6-85DE-4078-9F08-5093A535A2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906567"/>
              </p:ext>
            </p:extLst>
          </p:nvPr>
        </p:nvGraphicFramePr>
        <p:xfrm>
          <a:off x="3347864" y="5639445"/>
          <a:ext cx="4572000" cy="1151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6" name="公式" r:id="rId4" imgW="1815840" imgH="482400" progId="Equation.3">
                  <p:embed/>
                </p:oleObj>
              </mc:Choice>
              <mc:Fallback>
                <p:oleObj name="公式" r:id="rId4" imgW="1815840" imgH="482400" progId="Equation.3">
                  <p:embed/>
                  <p:pic>
                    <p:nvPicPr>
                      <p:cNvPr id="116741" name="Object 5">
                        <a:extLst>
                          <a:ext uri="{FF2B5EF4-FFF2-40B4-BE49-F238E27FC236}">
                            <a16:creationId xmlns:a16="http://schemas.microsoft.com/office/drawing/2014/main" id="{4FEF8527-EF92-4A97-8D01-2F4D9AA2AF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5639445"/>
                        <a:ext cx="4572000" cy="1151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325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97F35-C04C-483A-A583-0E19713F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树的逻辑结构表示方法</a:t>
            </a:r>
          </a:p>
        </p:txBody>
      </p:sp>
      <p:sp>
        <p:nvSpPr>
          <p:cNvPr id="37" name="Text Box 1027">
            <a:extLst>
              <a:ext uri="{FF2B5EF4-FFF2-40B4-BE49-F238E27FC236}">
                <a16:creationId xmlns:a16="http://schemas.microsoft.com/office/drawing/2014/main" id="{B11B9E54-A0F6-45F2-BEDE-62E3B955E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974115"/>
            <a:ext cx="8568952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（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1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）树形表示法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: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52743A0-E946-4492-A31E-2F07AB06A061}"/>
              </a:ext>
            </a:extLst>
          </p:cNvPr>
          <p:cNvGrpSpPr/>
          <p:nvPr/>
        </p:nvGrpSpPr>
        <p:grpSpPr>
          <a:xfrm>
            <a:off x="1619672" y="2564904"/>
            <a:ext cx="6264696" cy="3821854"/>
            <a:chOff x="1692275" y="2276475"/>
            <a:chExt cx="3816350" cy="2305050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39" name="Freeform 47">
              <a:extLst>
                <a:ext uri="{FF2B5EF4-FFF2-40B4-BE49-F238E27FC236}">
                  <a16:creationId xmlns:a16="http://schemas.microsoft.com/office/drawing/2014/main" id="{FF415489-0706-43A9-AC39-8042DFBA7517}"/>
                </a:ext>
              </a:extLst>
            </p:cNvPr>
            <p:cNvSpPr/>
            <p:nvPr/>
          </p:nvSpPr>
          <p:spPr bwMode="auto">
            <a:xfrm>
              <a:off x="1931988" y="3286124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Freeform 48">
              <a:extLst>
                <a:ext uri="{FF2B5EF4-FFF2-40B4-BE49-F238E27FC236}">
                  <a16:creationId xmlns:a16="http://schemas.microsoft.com/office/drawing/2014/main" id="{8101D950-A757-45FD-AF26-48C6AC451FD5}"/>
                </a:ext>
              </a:extLst>
            </p:cNvPr>
            <p:cNvSpPr/>
            <p:nvPr/>
          </p:nvSpPr>
          <p:spPr bwMode="auto">
            <a:xfrm>
              <a:off x="2357422" y="3248024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Oval 31">
              <a:extLst>
                <a:ext uri="{FF2B5EF4-FFF2-40B4-BE49-F238E27FC236}">
                  <a16:creationId xmlns:a16="http://schemas.microsoft.com/office/drawing/2014/main" id="{7DAEE97F-E8F1-41B3-883B-079F5CBE2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276475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2" name="Oval 32">
              <a:extLst>
                <a:ext uri="{FF2B5EF4-FFF2-40B4-BE49-F238E27FC236}">
                  <a16:creationId xmlns:a16="http://schemas.microsoft.com/office/drawing/2014/main" id="{F682E14D-D630-4B44-9A54-101BC3F1B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638" y="2925763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3" name="Oval 33">
              <a:extLst>
                <a:ext uri="{FF2B5EF4-FFF2-40B4-BE49-F238E27FC236}">
                  <a16:creationId xmlns:a16="http://schemas.microsoft.com/office/drawing/2014/main" id="{6503E80D-84D1-443A-AC78-8D6772E97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925763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4" name="Oval 34">
              <a:extLst>
                <a:ext uri="{FF2B5EF4-FFF2-40B4-BE49-F238E27FC236}">
                  <a16:creationId xmlns:a16="http://schemas.microsoft.com/office/drawing/2014/main" id="{539E5E8F-24E0-41A3-B6E1-EABA54B62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29257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45" name="Oval 35">
              <a:extLst>
                <a:ext uri="{FF2B5EF4-FFF2-40B4-BE49-F238E27FC236}">
                  <a16:creationId xmlns:a16="http://schemas.microsoft.com/office/drawing/2014/main" id="{F87ED557-E420-48AD-9624-089905688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6" name="Oval 36">
              <a:extLst>
                <a:ext uri="{FF2B5EF4-FFF2-40B4-BE49-F238E27FC236}">
                  <a16:creationId xmlns:a16="http://schemas.microsoft.com/office/drawing/2014/main" id="{0150A46C-99D5-43AF-A66F-0999335EE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47" name="Oval 37">
              <a:extLst>
                <a:ext uri="{FF2B5EF4-FFF2-40B4-BE49-F238E27FC236}">
                  <a16:creationId xmlns:a16="http://schemas.microsoft.com/office/drawing/2014/main" id="{937E1AC4-BF35-409D-9002-C8A262D9B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48" name="Oval 38">
              <a:extLst>
                <a:ext uri="{FF2B5EF4-FFF2-40B4-BE49-F238E27FC236}">
                  <a16:creationId xmlns:a16="http://schemas.microsoft.com/office/drawing/2014/main" id="{4768CB78-4DD0-49EB-BC1C-3C9900E6E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49" name="Oval 39">
              <a:extLst>
                <a:ext uri="{FF2B5EF4-FFF2-40B4-BE49-F238E27FC236}">
                  <a16:creationId xmlns:a16="http://schemas.microsoft.com/office/drawing/2014/main" id="{CCA2CE46-8769-4CAF-9E11-50CB2509C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50" name="Oval 40">
              <a:extLst>
                <a:ext uri="{FF2B5EF4-FFF2-40B4-BE49-F238E27FC236}">
                  <a16:creationId xmlns:a16="http://schemas.microsoft.com/office/drawing/2014/main" id="{43AD3119-00BE-49D0-BA3B-CE5AA0CB5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51" name="Oval 41">
              <a:extLst>
                <a:ext uri="{FF2B5EF4-FFF2-40B4-BE49-F238E27FC236}">
                  <a16:creationId xmlns:a16="http://schemas.microsoft.com/office/drawing/2014/main" id="{8103F7FA-D58B-4678-AB85-D065AD5B3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52" name="Oval 42">
              <a:extLst>
                <a:ext uri="{FF2B5EF4-FFF2-40B4-BE49-F238E27FC236}">
                  <a16:creationId xmlns:a16="http://schemas.microsoft.com/office/drawing/2014/main" id="{C2B3E7AB-94E0-49F2-8D15-6AD11AA2D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325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53" name="Oval 43">
              <a:extLst>
                <a:ext uri="{FF2B5EF4-FFF2-40B4-BE49-F238E27FC236}">
                  <a16:creationId xmlns:a16="http://schemas.microsoft.com/office/drawing/2014/main" id="{34B2E3A7-78F0-4F13-9C78-DFB7CA8F4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63" y="42211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54" name="Line 44">
              <a:extLst>
                <a:ext uri="{FF2B5EF4-FFF2-40B4-BE49-F238E27FC236}">
                  <a16:creationId xmlns:a16="http://schemas.microsoft.com/office/drawing/2014/main" id="{625C4305-2DDB-4086-8BC1-5364BCEDB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7421" y="2493963"/>
              <a:ext cx="703278" cy="434971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5" name="Line 45">
              <a:extLst>
                <a:ext uri="{FF2B5EF4-FFF2-40B4-BE49-F238E27FC236}">
                  <a16:creationId xmlns:a16="http://schemas.microsoft.com/office/drawing/2014/main" id="{01FBCE55-D3D9-40B0-A88E-60951D493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00" y="2636838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6" name="Line 46">
              <a:extLst>
                <a:ext uri="{FF2B5EF4-FFF2-40B4-BE49-F238E27FC236}">
                  <a16:creationId xmlns:a16="http://schemas.microsoft.com/office/drawing/2014/main" id="{820C70E8-EA99-42F8-BABD-47B0CAC18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588" y="2522538"/>
              <a:ext cx="64770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7" name="Line 49">
              <a:extLst>
                <a:ext uri="{FF2B5EF4-FFF2-40B4-BE49-F238E27FC236}">
                  <a16:creationId xmlns:a16="http://schemas.microsoft.com/office/drawing/2014/main" id="{4BD738B9-938C-4D71-A880-FCE8DDD35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319463"/>
              <a:ext cx="0" cy="252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8" name="Line 50">
              <a:extLst>
                <a:ext uri="{FF2B5EF4-FFF2-40B4-BE49-F238E27FC236}">
                  <a16:creationId xmlns:a16="http://schemas.microsoft.com/office/drawing/2014/main" id="{469B328E-2E74-41C5-B5CD-31BAFEAF7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F7A05D83-6865-4C99-967D-07F1CD434D28}"/>
                </a:ext>
              </a:extLst>
            </p:cNvPr>
            <p:cNvSpPr/>
            <p:nvPr/>
          </p:nvSpPr>
          <p:spPr bwMode="auto">
            <a:xfrm>
              <a:off x="3940175" y="3271838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0" name="Freeform 52">
              <a:extLst>
                <a:ext uri="{FF2B5EF4-FFF2-40B4-BE49-F238E27FC236}">
                  <a16:creationId xmlns:a16="http://schemas.microsoft.com/office/drawing/2014/main" id="{5CFAE1DA-6649-46FC-9AE1-8FF325300B39}"/>
                </a:ext>
              </a:extLst>
            </p:cNvPr>
            <p:cNvSpPr/>
            <p:nvPr/>
          </p:nvSpPr>
          <p:spPr bwMode="auto">
            <a:xfrm>
              <a:off x="4379913" y="3243263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1" name="Line 53">
              <a:extLst>
                <a:ext uri="{FF2B5EF4-FFF2-40B4-BE49-F238E27FC236}">
                  <a16:creationId xmlns:a16="http://schemas.microsoft.com/office/drawing/2014/main" id="{E45F522A-827C-41F4-91A4-7E4FABDAE4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4650" y="3862388"/>
              <a:ext cx="360363" cy="358775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2" name="Line 54">
              <a:extLst>
                <a:ext uri="{FF2B5EF4-FFF2-40B4-BE49-F238E27FC236}">
                  <a16:creationId xmlns:a16="http://schemas.microsoft.com/office/drawing/2014/main" id="{920C36FB-7F72-48A3-A081-6F5650E47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7888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ACE73DB6-4551-481C-B32C-951E14C71DB2}"/>
                </a:ext>
              </a:extLst>
            </p:cNvPr>
            <p:cNvSpPr/>
            <p:nvPr/>
          </p:nvSpPr>
          <p:spPr bwMode="auto">
            <a:xfrm>
              <a:off x="4827588" y="3843338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E205B971-5B57-4C21-932D-BDF5DFEEE132}"/>
              </a:ext>
            </a:extLst>
          </p:cNvPr>
          <p:cNvSpPr txBox="1"/>
          <p:nvPr/>
        </p:nvSpPr>
        <p:spPr>
          <a:xfrm>
            <a:off x="537793" y="1681705"/>
            <a:ext cx="8084264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eaLnBrk="1" hangingPunct="1"/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使用一棵倒置的树表示树结构，非常直观和形象。</a:t>
            </a:r>
          </a:p>
        </p:txBody>
      </p:sp>
    </p:spTree>
    <p:extLst>
      <p:ext uri="{BB962C8B-B14F-4D97-AF65-F5344CB8AC3E}">
        <p14:creationId xmlns:p14="http://schemas.microsoft.com/office/powerpoint/2010/main" val="342093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08F6D-77A9-4CF6-B958-8DD18D34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树的逻辑结构表示方法</a:t>
            </a:r>
          </a:p>
        </p:txBody>
      </p:sp>
      <p:sp>
        <p:nvSpPr>
          <p:cNvPr id="101" name="Text Box 55">
            <a:extLst>
              <a:ext uri="{FF2B5EF4-FFF2-40B4-BE49-F238E27FC236}">
                <a16:creationId xmlns:a16="http://schemas.microsoft.com/office/drawing/2014/main" id="{202ACB04-A583-4251-933A-29F0D2B8C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71" y="928179"/>
            <a:ext cx="8640961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（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2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）文氏图表示法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:</a:t>
            </a:r>
          </a:p>
        </p:txBody>
      </p:sp>
      <p:grpSp>
        <p:nvGrpSpPr>
          <p:cNvPr id="102" name="Group 83">
            <a:extLst>
              <a:ext uri="{FF2B5EF4-FFF2-40B4-BE49-F238E27FC236}">
                <a16:creationId xmlns:a16="http://schemas.microsoft.com/office/drawing/2014/main" id="{005F8D00-4876-46B8-8D9B-A410DC87F3E8}"/>
              </a:ext>
            </a:extLst>
          </p:cNvPr>
          <p:cNvGrpSpPr/>
          <p:nvPr/>
        </p:nvGrpSpPr>
        <p:grpSpPr bwMode="auto">
          <a:xfrm>
            <a:off x="93080" y="2414638"/>
            <a:ext cx="4158827" cy="3876887"/>
            <a:chOff x="158" y="935"/>
            <a:chExt cx="2812" cy="2631"/>
          </a:xfrm>
        </p:grpSpPr>
        <p:sp>
          <p:nvSpPr>
            <p:cNvPr id="103" name="Oval 84">
              <a:extLst>
                <a:ext uri="{FF2B5EF4-FFF2-40B4-BE49-F238E27FC236}">
                  <a16:creationId xmlns:a16="http://schemas.microsoft.com/office/drawing/2014/main" id="{D3E8EE27-BF1D-4A39-BEC6-B3844289F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2812" cy="2631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4" name="Text Box 85">
              <a:extLst>
                <a:ext uri="{FF2B5EF4-FFF2-40B4-BE49-F238E27FC236}">
                  <a16:creationId xmlns:a16="http://schemas.microsoft.com/office/drawing/2014/main" id="{9213D91B-7C31-42B2-B7C6-4D11C91771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1162"/>
              <a:ext cx="226" cy="312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105" name="Oval 86">
              <a:extLst>
                <a:ext uri="{FF2B5EF4-FFF2-40B4-BE49-F238E27FC236}">
                  <a16:creationId xmlns:a16="http://schemas.microsoft.com/office/drawing/2014/main" id="{862E7385-44CE-4BA7-8014-AB956D179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" y="1706"/>
              <a:ext cx="862" cy="104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6" name="Oval 87">
              <a:extLst>
                <a:ext uri="{FF2B5EF4-FFF2-40B4-BE49-F238E27FC236}">
                  <a16:creationId xmlns:a16="http://schemas.microsoft.com/office/drawing/2014/main" id="{4CC07261-08EB-4C63-9EF3-49C6DC0CB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2206"/>
              <a:ext cx="272" cy="226"/>
            </a:xfrm>
            <a:prstGeom prst="ellipse">
              <a:avLst/>
            </a:prstGeom>
            <a:noFill/>
            <a:ln w="9525" cap="flat" cmpd="sng" algn="ctr">
              <a:solidFill>
                <a:srgbClr val="F79646">
                  <a:lumMod val="7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07" name="Oval 88">
              <a:extLst>
                <a:ext uri="{FF2B5EF4-FFF2-40B4-BE49-F238E27FC236}">
                  <a16:creationId xmlns:a16="http://schemas.microsoft.com/office/drawing/2014/main" id="{B36E4E4B-9F4B-47AC-9E06-D8498E933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" y="2206"/>
              <a:ext cx="272" cy="226"/>
            </a:xfrm>
            <a:prstGeom prst="ellipse">
              <a:avLst/>
            </a:prstGeom>
            <a:noFill/>
            <a:ln w="9525" cap="flat" cmpd="sng" algn="ctr">
              <a:solidFill>
                <a:srgbClr val="F79646">
                  <a:lumMod val="7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108" name="Text Box 89">
              <a:extLst>
                <a:ext uri="{FF2B5EF4-FFF2-40B4-BE49-F238E27FC236}">
                  <a16:creationId xmlns:a16="http://schemas.microsoft.com/office/drawing/2014/main" id="{AD1C4D20-45D7-4A12-8E8E-9344BAF18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" y="1888"/>
              <a:ext cx="227" cy="312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109" name="Oval 90">
              <a:extLst>
                <a:ext uri="{FF2B5EF4-FFF2-40B4-BE49-F238E27FC236}">
                  <a16:creationId xmlns:a16="http://schemas.microsoft.com/office/drawing/2014/main" id="{CB0CC16F-D879-4E07-AEA6-E929F38CE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1479"/>
              <a:ext cx="680" cy="163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10" name="Text Box 91">
              <a:extLst>
                <a:ext uri="{FF2B5EF4-FFF2-40B4-BE49-F238E27FC236}">
                  <a16:creationId xmlns:a16="http://schemas.microsoft.com/office/drawing/2014/main" id="{997E4F27-02DF-4FD9-9FB1-C586FF250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0" y="1661"/>
              <a:ext cx="182" cy="312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111" name="Oval 92">
              <a:extLst>
                <a:ext uri="{FF2B5EF4-FFF2-40B4-BE49-F238E27FC236}">
                  <a16:creationId xmlns:a16="http://schemas.microsoft.com/office/drawing/2014/main" id="{C9EDAE4F-46F6-4967-8976-E2C82C182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0" y="1978"/>
              <a:ext cx="408" cy="998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12" name="Text Box 93">
              <a:extLst>
                <a:ext uri="{FF2B5EF4-FFF2-40B4-BE49-F238E27FC236}">
                  <a16:creationId xmlns:a16="http://schemas.microsoft.com/office/drawing/2014/main" id="{8E8D77F8-2CD0-477E-99A4-B4B422C77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8" y="2108"/>
              <a:ext cx="181" cy="312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113" name="Oval 94">
              <a:extLst>
                <a:ext uri="{FF2B5EF4-FFF2-40B4-BE49-F238E27FC236}">
                  <a16:creationId xmlns:a16="http://schemas.microsoft.com/office/drawing/2014/main" id="{8C3B10F6-12DA-4D09-9FA0-281EE9625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" y="2522"/>
              <a:ext cx="227" cy="273"/>
            </a:xfrm>
            <a:prstGeom prst="ellipse">
              <a:avLst/>
            </a:prstGeom>
            <a:noFill/>
            <a:ln w="9525" cap="flat" cmpd="sng" algn="ctr">
              <a:solidFill>
                <a:srgbClr val="F79646">
                  <a:lumMod val="7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114" name="Oval 95">
              <a:extLst>
                <a:ext uri="{FF2B5EF4-FFF2-40B4-BE49-F238E27FC236}">
                  <a16:creationId xmlns:a16="http://schemas.microsoft.com/office/drawing/2014/main" id="{F1B19853-F90D-4162-8F7D-B6C224408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1389"/>
              <a:ext cx="816" cy="1769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15" name="Oval 96">
              <a:extLst>
                <a:ext uri="{FF2B5EF4-FFF2-40B4-BE49-F238E27FC236}">
                  <a16:creationId xmlns:a16="http://schemas.microsoft.com/office/drawing/2014/main" id="{3297BF4A-A899-4A0C-93DA-E673C68EA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" y="1888"/>
              <a:ext cx="589" cy="1134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16" name="Oval 97">
              <a:extLst>
                <a:ext uri="{FF2B5EF4-FFF2-40B4-BE49-F238E27FC236}">
                  <a16:creationId xmlns:a16="http://schemas.microsoft.com/office/drawing/2014/main" id="{254211A2-6921-4860-B6D2-82123A751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" y="1620"/>
              <a:ext cx="182" cy="227"/>
            </a:xfrm>
            <a:prstGeom prst="ellipse">
              <a:avLst/>
            </a:prstGeom>
            <a:noFill/>
            <a:ln w="9525" cap="flat" cmpd="sng" algn="ctr">
              <a:solidFill>
                <a:srgbClr val="F79646">
                  <a:lumMod val="7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7" name="Text Box 98">
              <a:extLst>
                <a:ext uri="{FF2B5EF4-FFF2-40B4-BE49-F238E27FC236}">
                  <a16:creationId xmlns:a16="http://schemas.microsoft.com/office/drawing/2014/main" id="{F1C8DADE-C0DA-4925-8942-2479984330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8" y="1570"/>
              <a:ext cx="232" cy="312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18" name="Oval 99">
              <a:extLst>
                <a:ext uri="{FF2B5EF4-FFF2-40B4-BE49-F238E27FC236}">
                  <a16:creationId xmlns:a16="http://schemas.microsoft.com/office/drawing/2014/main" id="{5BA308C1-2A8A-4EC8-9C18-616F2D1B8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2296"/>
              <a:ext cx="182" cy="227"/>
            </a:xfrm>
            <a:prstGeom prst="ellipse">
              <a:avLst/>
            </a:prstGeom>
            <a:noFill/>
            <a:ln w="9525" cap="flat" cmpd="sng" algn="ctr">
              <a:solidFill>
                <a:srgbClr val="F79646">
                  <a:lumMod val="7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119" name="Oval 100">
              <a:extLst>
                <a:ext uri="{FF2B5EF4-FFF2-40B4-BE49-F238E27FC236}">
                  <a16:creationId xmlns:a16="http://schemas.microsoft.com/office/drawing/2014/main" id="{E44A3E52-51D0-406D-B976-B2F0D8CDC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2523"/>
              <a:ext cx="182" cy="227"/>
            </a:xfrm>
            <a:prstGeom prst="ellipse">
              <a:avLst/>
            </a:prstGeom>
            <a:noFill/>
            <a:ln w="9525" cap="flat" cmpd="sng" algn="ctr">
              <a:solidFill>
                <a:srgbClr val="F79646">
                  <a:lumMod val="7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20" name="Oval 101">
              <a:extLst>
                <a:ext uri="{FF2B5EF4-FFF2-40B4-BE49-F238E27FC236}">
                  <a16:creationId xmlns:a16="http://schemas.microsoft.com/office/drawing/2014/main" id="{C80A361E-AD66-43E6-853F-67F205031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2659"/>
              <a:ext cx="182" cy="227"/>
            </a:xfrm>
            <a:prstGeom prst="ellipse">
              <a:avLst/>
            </a:prstGeom>
            <a:noFill/>
            <a:ln w="9525" cap="flat" cmpd="sng" algn="ctr">
              <a:solidFill>
                <a:srgbClr val="F79646">
                  <a:lumMod val="7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21" name="Text Box 102">
              <a:extLst>
                <a:ext uri="{FF2B5EF4-FFF2-40B4-BE49-F238E27FC236}">
                  <a16:creationId xmlns:a16="http://schemas.microsoft.com/office/drawing/2014/main" id="{5B34C6E6-5924-4EF3-80BD-08E5F1946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3" y="2114"/>
              <a:ext cx="227" cy="312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</p:grpSp>
      <p:sp>
        <p:nvSpPr>
          <p:cNvPr id="122" name="AutoShape 103">
            <a:extLst>
              <a:ext uri="{FF2B5EF4-FFF2-40B4-BE49-F238E27FC236}">
                <a16:creationId xmlns:a16="http://schemas.microsoft.com/office/drawing/2014/main" id="{46704200-3FEC-40E8-863A-A6491915E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602" y="4053780"/>
            <a:ext cx="642656" cy="384000"/>
          </a:xfrm>
          <a:prstGeom prst="leftRightArrow">
            <a:avLst>
              <a:gd name="adj1" fmla="val 50000"/>
              <a:gd name="adj2" fmla="val 64248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tailEnd type="none" w="med" len="lg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6EF9596-A9CD-46A7-8FBC-1567057FEE08}"/>
              </a:ext>
            </a:extLst>
          </p:cNvPr>
          <p:cNvGrpSpPr/>
          <p:nvPr/>
        </p:nvGrpSpPr>
        <p:grpSpPr>
          <a:xfrm>
            <a:off x="4789056" y="2931527"/>
            <a:ext cx="4315460" cy="2843107"/>
            <a:chOff x="1692275" y="2276475"/>
            <a:chExt cx="3816350" cy="2305050"/>
          </a:xfrm>
        </p:grpSpPr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1A20F031-9FEA-45E0-BDB1-FB4CB4C7F3EB}"/>
                </a:ext>
              </a:extLst>
            </p:cNvPr>
            <p:cNvSpPr/>
            <p:nvPr/>
          </p:nvSpPr>
          <p:spPr bwMode="auto">
            <a:xfrm>
              <a:off x="1931988" y="3286124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E67B2F62-C65F-446D-8F8E-F6E4D0EF8F18}"/>
                </a:ext>
              </a:extLst>
            </p:cNvPr>
            <p:cNvSpPr/>
            <p:nvPr/>
          </p:nvSpPr>
          <p:spPr bwMode="auto">
            <a:xfrm>
              <a:off x="2357422" y="3248024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26" name="Oval 31">
              <a:extLst>
                <a:ext uri="{FF2B5EF4-FFF2-40B4-BE49-F238E27FC236}">
                  <a16:creationId xmlns:a16="http://schemas.microsoft.com/office/drawing/2014/main" id="{BBE51A8A-955A-4C98-AEBD-EB6F6D75A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276475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127" name="Oval 32">
              <a:extLst>
                <a:ext uri="{FF2B5EF4-FFF2-40B4-BE49-F238E27FC236}">
                  <a16:creationId xmlns:a16="http://schemas.microsoft.com/office/drawing/2014/main" id="{CDD22FAB-DBAE-4961-B34E-891419EE5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638" y="2925763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128" name="Oval 33">
              <a:extLst>
                <a:ext uri="{FF2B5EF4-FFF2-40B4-BE49-F238E27FC236}">
                  <a16:creationId xmlns:a16="http://schemas.microsoft.com/office/drawing/2014/main" id="{7D44C19E-E70F-4989-A277-48DA683A6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925763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129" name="Oval 34">
              <a:extLst>
                <a:ext uri="{FF2B5EF4-FFF2-40B4-BE49-F238E27FC236}">
                  <a16:creationId xmlns:a16="http://schemas.microsoft.com/office/drawing/2014/main" id="{38A0114C-62D5-449D-93DA-949C550B2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29257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130" name="Oval 35">
              <a:extLst>
                <a:ext uri="{FF2B5EF4-FFF2-40B4-BE49-F238E27FC236}">
                  <a16:creationId xmlns:a16="http://schemas.microsoft.com/office/drawing/2014/main" id="{6CA4BE10-01C6-46E5-97DE-38B67245E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31" name="Oval 36">
              <a:extLst>
                <a:ext uri="{FF2B5EF4-FFF2-40B4-BE49-F238E27FC236}">
                  <a16:creationId xmlns:a16="http://schemas.microsoft.com/office/drawing/2014/main" id="{6150B605-76A9-4922-B6C3-2C8962957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132" name="Oval 37">
              <a:extLst>
                <a:ext uri="{FF2B5EF4-FFF2-40B4-BE49-F238E27FC236}">
                  <a16:creationId xmlns:a16="http://schemas.microsoft.com/office/drawing/2014/main" id="{5B7B6F5C-B7DF-4F3E-B112-FB30B4CAD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133" name="Oval 38">
              <a:extLst>
                <a:ext uri="{FF2B5EF4-FFF2-40B4-BE49-F238E27FC236}">
                  <a16:creationId xmlns:a16="http://schemas.microsoft.com/office/drawing/2014/main" id="{44DD5F7A-91BA-4E4F-BD6A-878F8F748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134" name="Oval 39">
              <a:extLst>
                <a:ext uri="{FF2B5EF4-FFF2-40B4-BE49-F238E27FC236}">
                  <a16:creationId xmlns:a16="http://schemas.microsoft.com/office/drawing/2014/main" id="{3A3A31D4-3500-442E-BA3E-C9B6C7B02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35" name="Oval 40">
              <a:extLst>
                <a:ext uri="{FF2B5EF4-FFF2-40B4-BE49-F238E27FC236}">
                  <a16:creationId xmlns:a16="http://schemas.microsoft.com/office/drawing/2014/main" id="{F1F59211-E8F9-4FF5-B185-7C57A5E0E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136" name="Oval 41">
              <a:extLst>
                <a:ext uri="{FF2B5EF4-FFF2-40B4-BE49-F238E27FC236}">
                  <a16:creationId xmlns:a16="http://schemas.microsoft.com/office/drawing/2014/main" id="{62677922-BCD5-41DD-BDAE-77A5478A2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137" name="Oval 42">
              <a:extLst>
                <a:ext uri="{FF2B5EF4-FFF2-40B4-BE49-F238E27FC236}">
                  <a16:creationId xmlns:a16="http://schemas.microsoft.com/office/drawing/2014/main" id="{8FA59F2C-CB14-400F-8236-3A91826C9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325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38" name="Oval 43">
              <a:extLst>
                <a:ext uri="{FF2B5EF4-FFF2-40B4-BE49-F238E27FC236}">
                  <a16:creationId xmlns:a16="http://schemas.microsoft.com/office/drawing/2014/main" id="{0CF2BE93-5A7F-4945-B5AA-FBE184B6A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63" y="42211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6AC09BF1-0C59-40C0-800C-53C966292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5353" y="2493963"/>
              <a:ext cx="695346" cy="515926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0" name="Line 45">
              <a:extLst>
                <a:ext uri="{FF2B5EF4-FFF2-40B4-BE49-F238E27FC236}">
                  <a16:creationId xmlns:a16="http://schemas.microsoft.com/office/drawing/2014/main" id="{1241F4B4-8FEC-4894-9BB4-080E2099B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00" y="2636838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1" name="Line 46">
              <a:extLst>
                <a:ext uri="{FF2B5EF4-FFF2-40B4-BE49-F238E27FC236}">
                  <a16:creationId xmlns:a16="http://schemas.microsoft.com/office/drawing/2014/main" id="{6CF34ECC-C756-481F-9ADA-75E0A81C3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588" y="2522538"/>
              <a:ext cx="64770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2" name="Line 49">
              <a:extLst>
                <a:ext uri="{FF2B5EF4-FFF2-40B4-BE49-F238E27FC236}">
                  <a16:creationId xmlns:a16="http://schemas.microsoft.com/office/drawing/2014/main" id="{913E16DC-EA10-47CA-BD75-6EDAA64D3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306763"/>
              <a:ext cx="0" cy="252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3" name="Line 50">
              <a:extLst>
                <a:ext uri="{FF2B5EF4-FFF2-40B4-BE49-F238E27FC236}">
                  <a16:creationId xmlns:a16="http://schemas.microsoft.com/office/drawing/2014/main" id="{00B7C807-12CB-4DCD-9942-1F9BF553E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4" name="Freeform 51">
              <a:extLst>
                <a:ext uri="{FF2B5EF4-FFF2-40B4-BE49-F238E27FC236}">
                  <a16:creationId xmlns:a16="http://schemas.microsoft.com/office/drawing/2014/main" id="{533357EC-4D0C-4F1F-96D5-17C4FF6A71F6}"/>
                </a:ext>
              </a:extLst>
            </p:cNvPr>
            <p:cNvSpPr/>
            <p:nvPr/>
          </p:nvSpPr>
          <p:spPr bwMode="auto">
            <a:xfrm>
              <a:off x="3940175" y="3271838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5" name="Freeform 52">
              <a:extLst>
                <a:ext uri="{FF2B5EF4-FFF2-40B4-BE49-F238E27FC236}">
                  <a16:creationId xmlns:a16="http://schemas.microsoft.com/office/drawing/2014/main" id="{5B050F98-D1A8-4FD5-881D-21E6DB7E8A03}"/>
                </a:ext>
              </a:extLst>
            </p:cNvPr>
            <p:cNvSpPr/>
            <p:nvPr/>
          </p:nvSpPr>
          <p:spPr bwMode="auto">
            <a:xfrm>
              <a:off x="4379913" y="3243263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6" name="Line 53">
              <a:extLst>
                <a:ext uri="{FF2B5EF4-FFF2-40B4-BE49-F238E27FC236}">
                  <a16:creationId xmlns:a16="http://schemas.microsoft.com/office/drawing/2014/main" id="{5355695E-1DAF-446A-9A69-E8455FE3D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4650" y="3862388"/>
              <a:ext cx="360363" cy="358775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7" name="Line 54">
              <a:extLst>
                <a:ext uri="{FF2B5EF4-FFF2-40B4-BE49-F238E27FC236}">
                  <a16:creationId xmlns:a16="http://schemas.microsoft.com/office/drawing/2014/main" id="{368EA794-4A66-438B-AE85-C219F1112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7888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8" name="Freeform 55">
              <a:extLst>
                <a:ext uri="{FF2B5EF4-FFF2-40B4-BE49-F238E27FC236}">
                  <a16:creationId xmlns:a16="http://schemas.microsoft.com/office/drawing/2014/main" id="{5959DD54-359F-47EE-A56D-9F10D9B85B7F}"/>
                </a:ext>
              </a:extLst>
            </p:cNvPr>
            <p:cNvSpPr/>
            <p:nvPr/>
          </p:nvSpPr>
          <p:spPr bwMode="auto">
            <a:xfrm>
              <a:off x="4827588" y="3843338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49" name="文本框 148">
            <a:extLst>
              <a:ext uri="{FF2B5EF4-FFF2-40B4-BE49-F238E27FC236}">
                <a16:creationId xmlns:a16="http://schemas.microsoft.com/office/drawing/2014/main" id="{2A547C41-C052-4C45-AAC2-F3A41D4AF3F1}"/>
              </a:ext>
            </a:extLst>
          </p:cNvPr>
          <p:cNvSpPr txBox="1"/>
          <p:nvPr/>
        </p:nvSpPr>
        <p:spPr>
          <a:xfrm>
            <a:off x="585961" y="1604400"/>
            <a:ext cx="7007046" cy="53328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使用集合以及集合的包含关系描述树结构。</a:t>
            </a:r>
          </a:p>
        </p:txBody>
      </p:sp>
    </p:spTree>
    <p:extLst>
      <p:ext uri="{BB962C8B-B14F-4D97-AF65-F5344CB8AC3E}">
        <p14:creationId xmlns:p14="http://schemas.microsoft.com/office/powerpoint/2010/main" val="298162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BB9DF-7C4E-4F62-A8F0-112D84FB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树的逻辑结构表示方法</a:t>
            </a:r>
          </a:p>
        </p:txBody>
      </p:sp>
      <p:sp>
        <p:nvSpPr>
          <p:cNvPr id="58" name="Text Box 35">
            <a:extLst>
              <a:ext uri="{FF2B5EF4-FFF2-40B4-BE49-F238E27FC236}">
                <a16:creationId xmlns:a16="http://schemas.microsoft.com/office/drawing/2014/main" id="{E8CADB7C-ECCD-4647-A827-7776DE076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92" y="994504"/>
            <a:ext cx="8269564" cy="12227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（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3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）凹入表示法：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Bold" panose="020B0800000000000000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使用线段的伸缩关系描述树结构。</a:t>
            </a:r>
          </a:p>
        </p:txBody>
      </p:sp>
      <p:sp>
        <p:nvSpPr>
          <p:cNvPr id="59" name="AutoShape 64">
            <a:extLst>
              <a:ext uri="{FF2B5EF4-FFF2-40B4-BE49-F238E27FC236}">
                <a16:creationId xmlns:a16="http://schemas.microsoft.com/office/drawing/2014/main" id="{E1BFAA8B-1EB1-4A04-814A-5ACFD8638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5372" y="4080981"/>
            <a:ext cx="722496" cy="384000"/>
          </a:xfrm>
          <a:prstGeom prst="leftRightArrow">
            <a:avLst>
              <a:gd name="adj1" fmla="val 50000"/>
              <a:gd name="adj2" fmla="val 64248"/>
            </a:avLst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54C644B-5A49-44AB-B7A2-28F6E5FBB3A8}"/>
              </a:ext>
            </a:extLst>
          </p:cNvPr>
          <p:cNvGrpSpPr/>
          <p:nvPr/>
        </p:nvGrpSpPr>
        <p:grpSpPr>
          <a:xfrm>
            <a:off x="4526848" y="3021339"/>
            <a:ext cx="4572032" cy="2857520"/>
            <a:chOff x="1692275" y="2276475"/>
            <a:chExt cx="3816350" cy="2305050"/>
          </a:xfrm>
        </p:grpSpPr>
        <p:sp>
          <p:nvSpPr>
            <p:cNvPr id="61" name="Freeform 47">
              <a:extLst>
                <a:ext uri="{FF2B5EF4-FFF2-40B4-BE49-F238E27FC236}">
                  <a16:creationId xmlns:a16="http://schemas.microsoft.com/office/drawing/2014/main" id="{210E395D-013B-47A4-B4AD-BB3405C68B57}"/>
                </a:ext>
              </a:extLst>
            </p:cNvPr>
            <p:cNvSpPr/>
            <p:nvPr/>
          </p:nvSpPr>
          <p:spPr bwMode="auto">
            <a:xfrm>
              <a:off x="1931988" y="3286124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1388C9EC-5E1B-4765-86F7-6B08427E52CD}"/>
                </a:ext>
              </a:extLst>
            </p:cNvPr>
            <p:cNvSpPr/>
            <p:nvPr/>
          </p:nvSpPr>
          <p:spPr bwMode="auto">
            <a:xfrm>
              <a:off x="2357422" y="3248024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3" name="Oval 31">
              <a:extLst>
                <a:ext uri="{FF2B5EF4-FFF2-40B4-BE49-F238E27FC236}">
                  <a16:creationId xmlns:a16="http://schemas.microsoft.com/office/drawing/2014/main" id="{ABCEC710-E75A-4B6A-BCA0-FC80B91DA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276475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64" name="Oval 32">
              <a:extLst>
                <a:ext uri="{FF2B5EF4-FFF2-40B4-BE49-F238E27FC236}">
                  <a16:creationId xmlns:a16="http://schemas.microsoft.com/office/drawing/2014/main" id="{01E00D66-EDE2-443B-9A26-52C443941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638" y="2925763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65" name="Oval 33">
              <a:extLst>
                <a:ext uri="{FF2B5EF4-FFF2-40B4-BE49-F238E27FC236}">
                  <a16:creationId xmlns:a16="http://schemas.microsoft.com/office/drawing/2014/main" id="{4F03D29F-4EC8-4F2D-AE79-B97AD0B82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925763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66" name="Oval 34">
              <a:extLst>
                <a:ext uri="{FF2B5EF4-FFF2-40B4-BE49-F238E27FC236}">
                  <a16:creationId xmlns:a16="http://schemas.microsoft.com/office/drawing/2014/main" id="{BE0DDB49-49A4-4E5F-9FC2-F7DB1FD70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29257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67" name="Oval 35">
              <a:extLst>
                <a:ext uri="{FF2B5EF4-FFF2-40B4-BE49-F238E27FC236}">
                  <a16:creationId xmlns:a16="http://schemas.microsoft.com/office/drawing/2014/main" id="{9ADF21B4-BE6E-4652-BD7D-302FF2AB3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68" name="Oval 36">
              <a:extLst>
                <a:ext uri="{FF2B5EF4-FFF2-40B4-BE49-F238E27FC236}">
                  <a16:creationId xmlns:a16="http://schemas.microsoft.com/office/drawing/2014/main" id="{9962AC38-8075-4ABA-A0E4-BDBF620A9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69" name="Oval 37">
              <a:extLst>
                <a:ext uri="{FF2B5EF4-FFF2-40B4-BE49-F238E27FC236}">
                  <a16:creationId xmlns:a16="http://schemas.microsoft.com/office/drawing/2014/main" id="{9DD40CF5-384A-4EDB-B98D-02ADBE521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70" name="Oval 38">
              <a:extLst>
                <a:ext uri="{FF2B5EF4-FFF2-40B4-BE49-F238E27FC236}">
                  <a16:creationId xmlns:a16="http://schemas.microsoft.com/office/drawing/2014/main" id="{401747A4-6114-4FA0-B462-5DE42353F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71" name="Oval 39">
              <a:extLst>
                <a:ext uri="{FF2B5EF4-FFF2-40B4-BE49-F238E27FC236}">
                  <a16:creationId xmlns:a16="http://schemas.microsoft.com/office/drawing/2014/main" id="{7C7ADC1E-58D7-4717-B3CA-36E1DC839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72" name="Oval 40">
              <a:extLst>
                <a:ext uri="{FF2B5EF4-FFF2-40B4-BE49-F238E27FC236}">
                  <a16:creationId xmlns:a16="http://schemas.microsoft.com/office/drawing/2014/main" id="{6EB08131-E0EC-41AD-BFC1-54232B676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73" name="Oval 41">
              <a:extLst>
                <a:ext uri="{FF2B5EF4-FFF2-40B4-BE49-F238E27FC236}">
                  <a16:creationId xmlns:a16="http://schemas.microsoft.com/office/drawing/2014/main" id="{F499FD9A-7EA6-43A0-B38B-A8B3D91FB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74" name="Oval 42">
              <a:extLst>
                <a:ext uri="{FF2B5EF4-FFF2-40B4-BE49-F238E27FC236}">
                  <a16:creationId xmlns:a16="http://schemas.microsoft.com/office/drawing/2014/main" id="{1CB7EC44-CC1F-4D92-9B8E-CE7C6CB71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325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5" name="Oval 43">
              <a:extLst>
                <a:ext uri="{FF2B5EF4-FFF2-40B4-BE49-F238E27FC236}">
                  <a16:creationId xmlns:a16="http://schemas.microsoft.com/office/drawing/2014/main" id="{0C30DFB6-33B7-4054-B50D-2915E80C4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63" y="42211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76" name="Line 44">
              <a:extLst>
                <a:ext uri="{FF2B5EF4-FFF2-40B4-BE49-F238E27FC236}">
                  <a16:creationId xmlns:a16="http://schemas.microsoft.com/office/drawing/2014/main" id="{2537790D-D668-4140-B9FF-F62AC91D2E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7421" y="2493963"/>
              <a:ext cx="703278" cy="434971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7" name="Line 45">
              <a:extLst>
                <a:ext uri="{FF2B5EF4-FFF2-40B4-BE49-F238E27FC236}">
                  <a16:creationId xmlns:a16="http://schemas.microsoft.com/office/drawing/2014/main" id="{387A91B3-08B4-4D7D-935C-DDFD162F6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00" y="2636838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8" name="Line 46">
              <a:extLst>
                <a:ext uri="{FF2B5EF4-FFF2-40B4-BE49-F238E27FC236}">
                  <a16:creationId xmlns:a16="http://schemas.microsoft.com/office/drawing/2014/main" id="{7029E638-5BF0-4601-AD64-27263DD46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588" y="2522538"/>
              <a:ext cx="64770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9" name="Line 49">
              <a:extLst>
                <a:ext uri="{FF2B5EF4-FFF2-40B4-BE49-F238E27FC236}">
                  <a16:creationId xmlns:a16="http://schemas.microsoft.com/office/drawing/2014/main" id="{247B57D5-7D3E-483B-9DE9-1F91422DA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319463"/>
              <a:ext cx="0" cy="252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0" name="Line 50">
              <a:extLst>
                <a:ext uri="{FF2B5EF4-FFF2-40B4-BE49-F238E27FC236}">
                  <a16:creationId xmlns:a16="http://schemas.microsoft.com/office/drawing/2014/main" id="{B367228E-5637-4FE7-B153-C83157B56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1" name="Freeform 51">
              <a:extLst>
                <a:ext uri="{FF2B5EF4-FFF2-40B4-BE49-F238E27FC236}">
                  <a16:creationId xmlns:a16="http://schemas.microsoft.com/office/drawing/2014/main" id="{DA0A83ED-1C43-4EEB-A788-445A76355F91}"/>
                </a:ext>
              </a:extLst>
            </p:cNvPr>
            <p:cNvSpPr/>
            <p:nvPr/>
          </p:nvSpPr>
          <p:spPr bwMode="auto">
            <a:xfrm>
              <a:off x="3940175" y="3271838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2" name="Freeform 52">
              <a:extLst>
                <a:ext uri="{FF2B5EF4-FFF2-40B4-BE49-F238E27FC236}">
                  <a16:creationId xmlns:a16="http://schemas.microsoft.com/office/drawing/2014/main" id="{9B67DAE9-0AFD-43DC-8C95-BFFF5AD6AFCC}"/>
                </a:ext>
              </a:extLst>
            </p:cNvPr>
            <p:cNvSpPr/>
            <p:nvPr/>
          </p:nvSpPr>
          <p:spPr bwMode="auto">
            <a:xfrm>
              <a:off x="4379913" y="3243263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3" name="Line 53">
              <a:extLst>
                <a:ext uri="{FF2B5EF4-FFF2-40B4-BE49-F238E27FC236}">
                  <a16:creationId xmlns:a16="http://schemas.microsoft.com/office/drawing/2014/main" id="{F468509F-5C6A-4F42-AE8C-D60D7ECC9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4650" y="3862388"/>
              <a:ext cx="360363" cy="358775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4" name="Line 54">
              <a:extLst>
                <a:ext uri="{FF2B5EF4-FFF2-40B4-BE49-F238E27FC236}">
                  <a16:creationId xmlns:a16="http://schemas.microsoft.com/office/drawing/2014/main" id="{0A0DB699-B7AC-45E8-98D1-35526EBFE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7888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5" name="Freeform 55">
              <a:extLst>
                <a:ext uri="{FF2B5EF4-FFF2-40B4-BE49-F238E27FC236}">
                  <a16:creationId xmlns:a16="http://schemas.microsoft.com/office/drawing/2014/main" id="{DDB46A78-8657-4886-8F49-2943FB533DF2}"/>
                </a:ext>
              </a:extLst>
            </p:cNvPr>
            <p:cNvSpPr/>
            <p:nvPr/>
          </p:nvSpPr>
          <p:spPr bwMode="auto">
            <a:xfrm>
              <a:off x="4827588" y="3843338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F68EC10C-3827-4972-B4FE-772CBC5551CF}"/>
              </a:ext>
            </a:extLst>
          </p:cNvPr>
          <p:cNvGrpSpPr/>
          <p:nvPr/>
        </p:nvGrpSpPr>
        <p:grpSpPr>
          <a:xfrm>
            <a:off x="59050" y="2377936"/>
            <a:ext cx="3967120" cy="4360551"/>
            <a:chOff x="357158" y="1142984"/>
            <a:chExt cx="3286148" cy="5026057"/>
          </a:xfrm>
        </p:grpSpPr>
        <p:sp>
          <p:nvSpPr>
            <p:cNvPr id="87" name="TextBox 33">
              <a:extLst>
                <a:ext uri="{FF2B5EF4-FFF2-40B4-BE49-F238E27FC236}">
                  <a16:creationId xmlns:a16="http://schemas.microsoft.com/office/drawing/2014/main" id="{4E36DB15-10C3-4BE9-B423-B1DD3D3759F7}"/>
                </a:ext>
              </a:extLst>
            </p:cNvPr>
            <p:cNvSpPr txBox="1"/>
            <p:nvPr/>
          </p:nvSpPr>
          <p:spPr>
            <a:xfrm>
              <a:off x="357158" y="1142984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A756046A-715C-41B8-A272-1A0479CC3255}"/>
                </a:ext>
              </a:extLst>
            </p:cNvPr>
            <p:cNvSpPr/>
            <p:nvPr/>
          </p:nvSpPr>
          <p:spPr bwMode="auto">
            <a:xfrm>
              <a:off x="714348" y="1214422"/>
              <a:ext cx="2928958" cy="216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9" name="TextBox 35">
              <a:extLst>
                <a:ext uri="{FF2B5EF4-FFF2-40B4-BE49-F238E27FC236}">
                  <a16:creationId xmlns:a16="http://schemas.microsoft.com/office/drawing/2014/main" id="{75C401CB-86DE-4D59-B2D6-380D3D074EB2}"/>
                </a:ext>
              </a:extLst>
            </p:cNvPr>
            <p:cNvSpPr txBox="1"/>
            <p:nvPr/>
          </p:nvSpPr>
          <p:spPr>
            <a:xfrm>
              <a:off x="500034" y="1500174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E3BBC532-B7E5-48C4-B919-9DC0811A1ECE}"/>
                </a:ext>
              </a:extLst>
            </p:cNvPr>
            <p:cNvSpPr/>
            <p:nvPr/>
          </p:nvSpPr>
          <p:spPr bwMode="auto">
            <a:xfrm>
              <a:off x="835306" y="1571612"/>
              <a:ext cx="2808000" cy="216000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1" name="TextBox 37">
              <a:extLst>
                <a:ext uri="{FF2B5EF4-FFF2-40B4-BE49-F238E27FC236}">
                  <a16:creationId xmlns:a16="http://schemas.microsoft.com/office/drawing/2014/main" id="{D31576D6-D2D0-434E-AEFE-733512E58FA7}"/>
                </a:ext>
              </a:extLst>
            </p:cNvPr>
            <p:cNvSpPr txBox="1"/>
            <p:nvPr/>
          </p:nvSpPr>
          <p:spPr>
            <a:xfrm>
              <a:off x="785786" y="1948898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54471D63-E892-471C-A195-5DE507897E03}"/>
                </a:ext>
              </a:extLst>
            </p:cNvPr>
            <p:cNvSpPr/>
            <p:nvPr/>
          </p:nvSpPr>
          <p:spPr bwMode="auto">
            <a:xfrm>
              <a:off x="1123306" y="1948898"/>
              <a:ext cx="2520000" cy="2160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3" name="TextBox 39">
              <a:extLst>
                <a:ext uri="{FF2B5EF4-FFF2-40B4-BE49-F238E27FC236}">
                  <a16:creationId xmlns:a16="http://schemas.microsoft.com/office/drawing/2014/main" id="{17E22310-DF99-4F98-808D-4D2BF6C80F80}"/>
                </a:ext>
              </a:extLst>
            </p:cNvPr>
            <p:cNvSpPr txBox="1"/>
            <p:nvPr/>
          </p:nvSpPr>
          <p:spPr>
            <a:xfrm>
              <a:off x="785786" y="2337334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CE0198D3-E7BD-446D-8238-3C1E824CB07D}"/>
                </a:ext>
              </a:extLst>
            </p:cNvPr>
            <p:cNvSpPr/>
            <p:nvPr/>
          </p:nvSpPr>
          <p:spPr bwMode="auto">
            <a:xfrm>
              <a:off x="1123306" y="2337334"/>
              <a:ext cx="2520000" cy="2160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5" name="TextBox 41">
              <a:extLst>
                <a:ext uri="{FF2B5EF4-FFF2-40B4-BE49-F238E27FC236}">
                  <a16:creationId xmlns:a16="http://schemas.microsoft.com/office/drawing/2014/main" id="{2DCA6924-7832-41C0-A0A9-D48080F1B68A}"/>
                </a:ext>
              </a:extLst>
            </p:cNvPr>
            <p:cNvSpPr txBox="1"/>
            <p:nvPr/>
          </p:nvSpPr>
          <p:spPr>
            <a:xfrm>
              <a:off x="500034" y="2664380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A4E2C9A7-04CC-4447-9FB2-0D43F1144E64}"/>
                </a:ext>
              </a:extLst>
            </p:cNvPr>
            <p:cNvSpPr/>
            <p:nvPr/>
          </p:nvSpPr>
          <p:spPr bwMode="auto">
            <a:xfrm>
              <a:off x="835306" y="2735818"/>
              <a:ext cx="2808000" cy="216000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7" name="TextBox 43">
              <a:extLst>
                <a:ext uri="{FF2B5EF4-FFF2-40B4-BE49-F238E27FC236}">
                  <a16:creationId xmlns:a16="http://schemas.microsoft.com/office/drawing/2014/main" id="{CDC51A05-2CD9-4A56-A777-5686E6AE14BE}"/>
                </a:ext>
              </a:extLst>
            </p:cNvPr>
            <p:cNvSpPr txBox="1"/>
            <p:nvPr/>
          </p:nvSpPr>
          <p:spPr>
            <a:xfrm>
              <a:off x="785786" y="3113104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D746A4C0-2B5E-4CBB-B2C9-1D47418AF67B}"/>
                </a:ext>
              </a:extLst>
            </p:cNvPr>
            <p:cNvSpPr/>
            <p:nvPr/>
          </p:nvSpPr>
          <p:spPr bwMode="auto">
            <a:xfrm>
              <a:off x="1123306" y="3113104"/>
              <a:ext cx="2520000" cy="2160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9" name="TextBox 45">
              <a:extLst>
                <a:ext uri="{FF2B5EF4-FFF2-40B4-BE49-F238E27FC236}">
                  <a16:creationId xmlns:a16="http://schemas.microsoft.com/office/drawing/2014/main" id="{48D5A5D5-FC37-4CC6-98BF-DEC440F9FC06}"/>
                </a:ext>
              </a:extLst>
            </p:cNvPr>
            <p:cNvSpPr txBox="1"/>
            <p:nvPr/>
          </p:nvSpPr>
          <p:spPr>
            <a:xfrm>
              <a:off x="928662" y="3449096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6B78E96-30A8-4E13-AFC2-58C9CC897D57}"/>
                </a:ext>
              </a:extLst>
            </p:cNvPr>
            <p:cNvSpPr/>
            <p:nvPr/>
          </p:nvSpPr>
          <p:spPr bwMode="auto">
            <a:xfrm>
              <a:off x="1303306" y="3520534"/>
              <a:ext cx="2340000" cy="216000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1" name="TextBox 47">
              <a:extLst>
                <a:ext uri="{FF2B5EF4-FFF2-40B4-BE49-F238E27FC236}">
                  <a16:creationId xmlns:a16="http://schemas.microsoft.com/office/drawing/2014/main" id="{9D52ABF9-F914-4B13-8316-7F28633B5757}"/>
                </a:ext>
              </a:extLst>
            </p:cNvPr>
            <p:cNvSpPr txBox="1"/>
            <p:nvPr/>
          </p:nvSpPr>
          <p:spPr>
            <a:xfrm>
              <a:off x="500034" y="3837532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1C5BE865-70F5-496E-BAC8-8B27DD8E8ABB}"/>
                </a:ext>
              </a:extLst>
            </p:cNvPr>
            <p:cNvSpPr/>
            <p:nvPr/>
          </p:nvSpPr>
          <p:spPr bwMode="auto">
            <a:xfrm>
              <a:off x="835306" y="3908970"/>
              <a:ext cx="2808000" cy="216000"/>
            </a:xfrm>
            <a:prstGeom prst="rect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3" name="TextBox 49">
              <a:extLst>
                <a:ext uri="{FF2B5EF4-FFF2-40B4-BE49-F238E27FC236}">
                  <a16:creationId xmlns:a16="http://schemas.microsoft.com/office/drawing/2014/main" id="{9016A161-8761-452E-B47D-2445752FF4C3}"/>
                </a:ext>
              </a:extLst>
            </p:cNvPr>
            <p:cNvSpPr txBox="1"/>
            <p:nvPr/>
          </p:nvSpPr>
          <p:spPr>
            <a:xfrm>
              <a:off x="785786" y="4256112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D061E59F-CF3D-4910-95F1-4C4479B85EB3}"/>
                </a:ext>
              </a:extLst>
            </p:cNvPr>
            <p:cNvSpPr/>
            <p:nvPr/>
          </p:nvSpPr>
          <p:spPr bwMode="auto">
            <a:xfrm>
              <a:off x="1123306" y="4256112"/>
              <a:ext cx="2520000" cy="2160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930682EE-E4F1-411F-BF41-5947D840DEF8}"/>
                </a:ext>
              </a:extLst>
            </p:cNvPr>
            <p:cNvSpPr txBox="1"/>
            <p:nvPr/>
          </p:nvSpPr>
          <p:spPr>
            <a:xfrm>
              <a:off x="785786" y="4624452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5DA85CAC-01F3-4244-9675-3C014798B883}"/>
                </a:ext>
              </a:extLst>
            </p:cNvPr>
            <p:cNvSpPr/>
            <p:nvPr/>
          </p:nvSpPr>
          <p:spPr bwMode="auto">
            <a:xfrm>
              <a:off x="1123306" y="4624452"/>
              <a:ext cx="2520000" cy="216000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7" name="TextBox 53">
              <a:extLst>
                <a:ext uri="{FF2B5EF4-FFF2-40B4-BE49-F238E27FC236}">
                  <a16:creationId xmlns:a16="http://schemas.microsoft.com/office/drawing/2014/main" id="{313C3FA2-08EB-4AD5-BC2C-9644C9F8340D}"/>
                </a:ext>
              </a:extLst>
            </p:cNvPr>
            <p:cNvSpPr txBox="1"/>
            <p:nvPr/>
          </p:nvSpPr>
          <p:spPr>
            <a:xfrm>
              <a:off x="928662" y="4951498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73EEFDA5-9997-45E9-B673-F7186FED274E}"/>
                </a:ext>
              </a:extLst>
            </p:cNvPr>
            <p:cNvSpPr/>
            <p:nvPr/>
          </p:nvSpPr>
          <p:spPr bwMode="auto">
            <a:xfrm>
              <a:off x="1303306" y="5022936"/>
              <a:ext cx="2340000" cy="216000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9" name="TextBox 55">
              <a:extLst>
                <a:ext uri="{FF2B5EF4-FFF2-40B4-BE49-F238E27FC236}">
                  <a16:creationId xmlns:a16="http://schemas.microsoft.com/office/drawing/2014/main" id="{A49763F9-073C-4871-B3AB-E8DC6C266B9C}"/>
                </a:ext>
              </a:extLst>
            </p:cNvPr>
            <p:cNvSpPr txBox="1"/>
            <p:nvPr/>
          </p:nvSpPr>
          <p:spPr>
            <a:xfrm>
              <a:off x="928662" y="5327324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727A6331-AF37-4C5D-944B-950F61C2DD14}"/>
                </a:ext>
              </a:extLst>
            </p:cNvPr>
            <p:cNvSpPr/>
            <p:nvPr/>
          </p:nvSpPr>
          <p:spPr bwMode="auto">
            <a:xfrm>
              <a:off x="1303306" y="5398762"/>
              <a:ext cx="2340000" cy="216000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1" name="TextBox 83">
              <a:extLst>
                <a:ext uri="{FF2B5EF4-FFF2-40B4-BE49-F238E27FC236}">
                  <a16:creationId xmlns:a16="http://schemas.microsoft.com/office/drawing/2014/main" id="{4DCBDE66-C9F6-48D8-AD96-A5F625377505}"/>
                </a:ext>
              </a:extLst>
            </p:cNvPr>
            <p:cNvSpPr txBox="1"/>
            <p:nvPr/>
          </p:nvSpPr>
          <p:spPr>
            <a:xfrm>
              <a:off x="928662" y="5684514"/>
              <a:ext cx="428628" cy="484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135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C68E40B4-E485-4E1F-914C-172C2D7C6386}"/>
                </a:ext>
              </a:extLst>
            </p:cNvPr>
            <p:cNvSpPr/>
            <p:nvPr/>
          </p:nvSpPr>
          <p:spPr bwMode="auto">
            <a:xfrm>
              <a:off x="1303306" y="5755952"/>
              <a:ext cx="2340000" cy="216000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9525" cap="flat" cmpd="sng" algn="ctr">
              <a:noFill/>
              <a:prstDash val="solid"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476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DE8DA-D543-4C0F-9B17-1392185C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树的逻辑结构表示方法</a:t>
            </a:r>
          </a:p>
        </p:txBody>
      </p:sp>
      <p:sp>
        <p:nvSpPr>
          <p:cNvPr id="32" name="Text Box 36">
            <a:extLst>
              <a:ext uri="{FF2B5EF4-FFF2-40B4-BE49-F238E27FC236}">
                <a16:creationId xmlns:a16="http://schemas.microsoft.com/office/drawing/2014/main" id="{88CAE9DA-10BE-4A98-A5E3-60425D351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64" y="947195"/>
            <a:ext cx="8807472" cy="13233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（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4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）广义表表示法：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用一个字符串表示树。</a:t>
            </a:r>
            <a:endParaRPr kumimoji="1" lang="en-US" altLang="zh-CN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         </a:t>
            </a:r>
            <a:r>
              <a:rPr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基本形式：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根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(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子树</a:t>
            </a:r>
            <a:r>
              <a:rPr lang="en-US" altLang="zh-CN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1,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子树</a:t>
            </a:r>
            <a:r>
              <a:rPr lang="en-US" altLang="zh-CN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2,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…,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子树</a:t>
            </a:r>
            <a:r>
              <a:rPr lang="en-US" altLang="zh-CN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m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)</a:t>
            </a:r>
            <a:endParaRPr kumimoji="1"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C3EEE53-9EBB-4D46-BD86-FF1F04A1D820}"/>
              </a:ext>
            </a:extLst>
          </p:cNvPr>
          <p:cNvGrpSpPr/>
          <p:nvPr/>
        </p:nvGrpSpPr>
        <p:grpSpPr>
          <a:xfrm>
            <a:off x="168264" y="2451236"/>
            <a:ext cx="5088467" cy="3073400"/>
            <a:chOff x="1692275" y="2276475"/>
            <a:chExt cx="3816350" cy="2305050"/>
          </a:xfrm>
        </p:grpSpPr>
        <p:sp>
          <p:nvSpPr>
            <p:cNvPr id="34" name="Freeform 47">
              <a:extLst>
                <a:ext uri="{FF2B5EF4-FFF2-40B4-BE49-F238E27FC236}">
                  <a16:creationId xmlns:a16="http://schemas.microsoft.com/office/drawing/2014/main" id="{1673D704-0C0D-47DD-A518-1223A1A1E749}"/>
                </a:ext>
              </a:extLst>
            </p:cNvPr>
            <p:cNvSpPr/>
            <p:nvPr/>
          </p:nvSpPr>
          <p:spPr bwMode="auto">
            <a:xfrm>
              <a:off x="1931988" y="3286124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Freeform 48">
              <a:extLst>
                <a:ext uri="{FF2B5EF4-FFF2-40B4-BE49-F238E27FC236}">
                  <a16:creationId xmlns:a16="http://schemas.microsoft.com/office/drawing/2014/main" id="{D3D387CD-9100-4D3B-B121-3F1892D0F943}"/>
                </a:ext>
              </a:extLst>
            </p:cNvPr>
            <p:cNvSpPr/>
            <p:nvPr/>
          </p:nvSpPr>
          <p:spPr bwMode="auto">
            <a:xfrm>
              <a:off x="2357422" y="3248024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Oval 31">
              <a:extLst>
                <a:ext uri="{FF2B5EF4-FFF2-40B4-BE49-F238E27FC236}">
                  <a16:creationId xmlns:a16="http://schemas.microsoft.com/office/drawing/2014/main" id="{DE055CAA-F9A9-47D6-94FB-D24081F19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276475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37" name="Oval 32">
              <a:extLst>
                <a:ext uri="{FF2B5EF4-FFF2-40B4-BE49-F238E27FC236}">
                  <a16:creationId xmlns:a16="http://schemas.microsoft.com/office/drawing/2014/main" id="{163F149D-C4F9-4F6A-9BFE-040ADF22B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638" y="2925763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38" name="Oval 33">
              <a:extLst>
                <a:ext uri="{FF2B5EF4-FFF2-40B4-BE49-F238E27FC236}">
                  <a16:creationId xmlns:a16="http://schemas.microsoft.com/office/drawing/2014/main" id="{EAB1A94E-F5D1-4014-96C1-5F0327B01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925763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39" name="Oval 34">
              <a:extLst>
                <a:ext uri="{FF2B5EF4-FFF2-40B4-BE49-F238E27FC236}">
                  <a16:creationId xmlns:a16="http://schemas.microsoft.com/office/drawing/2014/main" id="{004D57A3-1775-41A6-B52A-7F1AA653C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29257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40" name="Oval 35">
              <a:extLst>
                <a:ext uri="{FF2B5EF4-FFF2-40B4-BE49-F238E27FC236}">
                  <a16:creationId xmlns:a16="http://schemas.microsoft.com/office/drawing/2014/main" id="{EA0261FB-E7D3-412A-B5F4-AFDB113D8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1" name="Oval 36">
              <a:extLst>
                <a:ext uri="{FF2B5EF4-FFF2-40B4-BE49-F238E27FC236}">
                  <a16:creationId xmlns:a16="http://schemas.microsoft.com/office/drawing/2014/main" id="{721C8537-578E-4E3C-8672-3FA606BFE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42" name="Oval 37">
              <a:extLst>
                <a:ext uri="{FF2B5EF4-FFF2-40B4-BE49-F238E27FC236}">
                  <a16:creationId xmlns:a16="http://schemas.microsoft.com/office/drawing/2014/main" id="{48D5AEAA-4D93-4FFB-8FF5-F1B1925B6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43" name="Oval 38">
              <a:extLst>
                <a:ext uri="{FF2B5EF4-FFF2-40B4-BE49-F238E27FC236}">
                  <a16:creationId xmlns:a16="http://schemas.microsoft.com/office/drawing/2014/main" id="{FA232506-E567-44E5-966F-09D6B052D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44" name="Oval 39">
              <a:extLst>
                <a:ext uri="{FF2B5EF4-FFF2-40B4-BE49-F238E27FC236}">
                  <a16:creationId xmlns:a16="http://schemas.microsoft.com/office/drawing/2014/main" id="{EA2EF682-1901-4C87-A965-C73EBE79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45" name="Oval 40">
              <a:extLst>
                <a:ext uri="{FF2B5EF4-FFF2-40B4-BE49-F238E27FC236}">
                  <a16:creationId xmlns:a16="http://schemas.microsoft.com/office/drawing/2014/main" id="{003947FF-DCC8-491A-BEC3-4D56A3451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46" name="Oval 41">
              <a:extLst>
                <a:ext uri="{FF2B5EF4-FFF2-40B4-BE49-F238E27FC236}">
                  <a16:creationId xmlns:a16="http://schemas.microsoft.com/office/drawing/2014/main" id="{23519238-1E4A-40D5-9AB6-2474542AF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47" name="Oval 42">
              <a:extLst>
                <a:ext uri="{FF2B5EF4-FFF2-40B4-BE49-F238E27FC236}">
                  <a16:creationId xmlns:a16="http://schemas.microsoft.com/office/drawing/2014/main" id="{C8E60F3D-B7FD-4B01-8901-FB524F4AF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325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48" name="Oval 43">
              <a:extLst>
                <a:ext uri="{FF2B5EF4-FFF2-40B4-BE49-F238E27FC236}">
                  <a16:creationId xmlns:a16="http://schemas.microsoft.com/office/drawing/2014/main" id="{4875EBCC-85A8-41B2-9009-BC849D18C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63" y="42211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9" name="Line 44">
              <a:extLst>
                <a:ext uri="{FF2B5EF4-FFF2-40B4-BE49-F238E27FC236}">
                  <a16:creationId xmlns:a16="http://schemas.microsoft.com/office/drawing/2014/main" id="{5F5E3DF0-F0A3-4B5B-878C-4D16751735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5217" y="2493963"/>
              <a:ext cx="725482" cy="496892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Line 45">
              <a:extLst>
                <a:ext uri="{FF2B5EF4-FFF2-40B4-BE49-F238E27FC236}">
                  <a16:creationId xmlns:a16="http://schemas.microsoft.com/office/drawing/2014/main" id="{2717E654-6F9A-4BF8-A435-2DE0748DA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00" y="2636838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1" name="Line 46">
              <a:extLst>
                <a:ext uri="{FF2B5EF4-FFF2-40B4-BE49-F238E27FC236}">
                  <a16:creationId xmlns:a16="http://schemas.microsoft.com/office/drawing/2014/main" id="{0F70FF66-8B48-4D49-A1B9-0E69DF281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588" y="2522538"/>
              <a:ext cx="64770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172F1C84-EE5D-4FB2-AA20-CCDBC5A21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319463"/>
              <a:ext cx="0" cy="252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2BDDB924-F191-4371-BC3E-0CF02AE5B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0B44C96D-638D-4E05-A23A-A9F60F9F6AE8}"/>
                </a:ext>
              </a:extLst>
            </p:cNvPr>
            <p:cNvSpPr/>
            <p:nvPr/>
          </p:nvSpPr>
          <p:spPr bwMode="auto">
            <a:xfrm>
              <a:off x="3940175" y="3271838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0EDB9610-E587-4415-B40F-75ABD6905B9D}"/>
                </a:ext>
              </a:extLst>
            </p:cNvPr>
            <p:cNvSpPr/>
            <p:nvPr/>
          </p:nvSpPr>
          <p:spPr bwMode="auto">
            <a:xfrm>
              <a:off x="4379913" y="3243263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D25B02F7-774C-40D3-A4F7-C2C9C123B1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4650" y="3862388"/>
              <a:ext cx="360363" cy="358775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1740BEA0-FFF5-41E7-97CB-91E208962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7888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876EC181-6BDA-47FF-8A50-3288F24E3D8E}"/>
                </a:ext>
              </a:extLst>
            </p:cNvPr>
            <p:cNvSpPr/>
            <p:nvPr/>
          </p:nvSpPr>
          <p:spPr bwMode="auto">
            <a:xfrm>
              <a:off x="4827588" y="3843338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59" name="Text Box 64">
            <a:extLst>
              <a:ext uri="{FF2B5EF4-FFF2-40B4-BE49-F238E27FC236}">
                <a16:creationId xmlns:a16="http://schemas.microsoft.com/office/drawing/2014/main" id="{AD02377B-DF78-4BCF-AE99-9FC54406D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681" y="6117470"/>
            <a:ext cx="5669320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A(</a:t>
            </a:r>
            <a:r>
              <a:rPr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B(E,</a:t>
            </a:r>
            <a:r>
              <a:rPr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F),</a:t>
            </a:r>
            <a:r>
              <a:rPr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C(G(J)),</a:t>
            </a:r>
            <a:r>
              <a:rPr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D(H,</a:t>
            </a:r>
            <a:r>
              <a:rPr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I(K,</a:t>
            </a:r>
            <a:r>
              <a:rPr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L,</a:t>
            </a:r>
            <a:r>
              <a:rPr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M))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60" name="上弧形箭头 57">
            <a:extLst>
              <a:ext uri="{FF2B5EF4-FFF2-40B4-BE49-F238E27FC236}">
                <a16:creationId xmlns:a16="http://schemas.microsoft.com/office/drawing/2014/main" id="{4EA1A603-9C61-47B5-8445-3068DCCD9A82}"/>
              </a:ext>
            </a:extLst>
          </p:cNvPr>
          <p:cNvSpPr/>
          <p:nvPr/>
        </p:nvSpPr>
        <p:spPr>
          <a:xfrm rot="2593145">
            <a:off x="4436049" y="4191671"/>
            <a:ext cx="2853982" cy="888402"/>
          </a:xfrm>
          <a:prstGeom prst="curvedDownArrow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490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6AD81-F072-4DF8-BBF2-8A450246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36" name="Text Box 1026">
            <a:extLst>
              <a:ext uri="{FF2B5EF4-FFF2-40B4-BE49-F238E27FC236}">
                <a16:creationId xmlns:a16="http://schemas.microsoft.com/office/drawing/2014/main" id="{260B7337-C57B-4207-A5EC-36AA12CED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484784"/>
            <a:ext cx="8820981" cy="19552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一个结点的子树个数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称为该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结点的度</a:t>
            </a: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r>
              <a:rPr kumimoji="1" lang="en-US" altLang="zh-CN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树中各结点的度的最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大值称为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树的度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，通常将度为 m 的树称为 </a:t>
            </a: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m</a:t>
            </a:r>
            <a:r>
              <a:rPr kumimoji="1" lang="en-US" altLang="zh-CN" b="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次树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或者 </a:t>
            </a:r>
            <a:r>
              <a:rPr kumimoji="1"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m</a:t>
            </a:r>
            <a:r>
              <a:rPr kumimoji="1" lang="en-US" altLang="zh-CN" b="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叉树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r>
              <a:rPr kumimoji="1" lang="zh-CN" altLang="en-US" b="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       </a:t>
            </a:r>
          </a:p>
        </p:txBody>
      </p:sp>
      <p:sp>
        <p:nvSpPr>
          <p:cNvPr id="37" name="Line 31">
            <a:extLst>
              <a:ext uri="{FF2B5EF4-FFF2-40B4-BE49-F238E27FC236}">
                <a16:creationId xmlns:a16="http://schemas.microsoft.com/office/drawing/2014/main" id="{8EA99A5E-AADC-457E-B1C0-0A96D137C8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5961" y="3337131"/>
            <a:ext cx="670984" cy="192617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tailEnd type="stealth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8" name="Text Box 32">
            <a:extLst>
              <a:ext uri="{FF2B5EF4-FFF2-40B4-BE49-F238E27FC236}">
                <a16:creationId xmlns:a16="http://schemas.microsoft.com/office/drawing/2014/main" id="{9D791FC3-0303-4DF7-ACD6-C824BD817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327" y="3097525"/>
            <a:ext cx="1439333" cy="461665"/>
          </a:xfrm>
          <a:prstGeom prst="rect">
            <a:avLst/>
          </a:prstGeom>
          <a:noFill/>
          <a:ln w="9525" cap="flat" cmpd="sng" algn="ctr">
            <a:noFill/>
            <a:prstDash val="soli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6">
                        <a:tint val="50000"/>
                        <a:satMod val="300000"/>
                      </a:schemeClr>
                    </a:gs>
                    <a:gs pos="35000">
                      <a:schemeClr val="accent6">
                        <a:tint val="37000"/>
                        <a:satMod val="300000"/>
                      </a:schemeClr>
                    </a:gs>
                    <a:gs pos="100000">
                      <a:schemeClr val="accent6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" panose="02010609060101010101" pitchFamily="49" charset="-122"/>
              </a:rPr>
              <a:t>度为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" panose="02010609060101010101" pitchFamily="49" charset="-122"/>
              </a:rPr>
              <a:t>3</a:t>
            </a:r>
          </a:p>
        </p:txBody>
      </p:sp>
      <p:sp>
        <p:nvSpPr>
          <p:cNvPr id="39" name="Text Box 33">
            <a:extLst>
              <a:ext uri="{FF2B5EF4-FFF2-40B4-BE49-F238E27FC236}">
                <a16:creationId xmlns:a16="http://schemas.microsoft.com/office/drawing/2014/main" id="{41732E41-7507-4F29-AC2A-FCE32A92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929" y="3758359"/>
            <a:ext cx="1439333" cy="461665"/>
          </a:xfrm>
          <a:prstGeom prst="rect">
            <a:avLst/>
          </a:prstGeom>
          <a:noFill/>
          <a:ln w="9525" cap="flat" cmpd="sng" algn="ctr">
            <a:noFill/>
            <a:prstDash val="soli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6">
                        <a:tint val="50000"/>
                        <a:satMod val="300000"/>
                      </a:schemeClr>
                    </a:gs>
                    <a:gs pos="35000">
                      <a:schemeClr val="accent6">
                        <a:tint val="37000"/>
                        <a:satMod val="300000"/>
                      </a:schemeClr>
                    </a:gs>
                    <a:gs pos="100000">
                      <a:schemeClr val="accent6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" panose="02010609060101010101" pitchFamily="49" charset="-122"/>
              </a:rPr>
              <a:t>度为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" panose="02010609060101010101" pitchFamily="49" charset="-122"/>
              </a:rPr>
              <a:t>2</a:t>
            </a:r>
          </a:p>
        </p:txBody>
      </p:sp>
      <p:sp>
        <p:nvSpPr>
          <p:cNvPr id="40" name="Line 34">
            <a:extLst>
              <a:ext uri="{FF2B5EF4-FFF2-40B4-BE49-F238E27FC236}">
                <a16:creationId xmlns:a16="http://schemas.microsoft.com/office/drawing/2014/main" id="{26496C3D-468B-4EA4-B1C4-5C8AC39785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7929" y="4190159"/>
            <a:ext cx="287867" cy="287867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tailEnd type="stealth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1" name="TextBox 38">
            <a:extLst>
              <a:ext uri="{FF2B5EF4-FFF2-40B4-BE49-F238E27FC236}">
                <a16:creationId xmlns:a16="http://schemas.microsoft.com/office/drawing/2014/main" id="{2CEB8FF3-7C79-494A-ADD8-40E1B0AC1F39}"/>
              </a:ext>
            </a:extLst>
          </p:cNvPr>
          <p:cNvSpPr txBox="1"/>
          <p:nvPr/>
        </p:nvSpPr>
        <p:spPr>
          <a:xfrm>
            <a:off x="386974" y="6050320"/>
            <a:ext cx="2384081" cy="52322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" panose="02010609060101010101" pitchFamily="49" charset="-122"/>
              </a:rPr>
              <a:t>3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" panose="02010609060101010101" pitchFamily="49" charset="-122"/>
              </a:rPr>
              <a:t>次树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" panose="02010609060101010101" pitchFamily="49" charset="-122"/>
              </a:rPr>
              <a:t>/3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楷体" panose="02010609060101010101" pitchFamily="49" charset="-122"/>
              </a:rPr>
              <a:t>叉树</a:t>
            </a:r>
          </a:p>
        </p:txBody>
      </p:sp>
      <p:grpSp>
        <p:nvGrpSpPr>
          <p:cNvPr id="42" name="组合 39">
            <a:extLst>
              <a:ext uri="{FF2B5EF4-FFF2-40B4-BE49-F238E27FC236}">
                <a16:creationId xmlns:a16="http://schemas.microsoft.com/office/drawing/2014/main" id="{AA17A639-C4F2-44B1-9F69-8C71624EBA2F}"/>
              </a:ext>
            </a:extLst>
          </p:cNvPr>
          <p:cNvGrpSpPr/>
          <p:nvPr/>
        </p:nvGrpSpPr>
        <p:grpSpPr>
          <a:xfrm>
            <a:off x="2169945" y="3500140"/>
            <a:ext cx="5088467" cy="3073400"/>
            <a:chOff x="1692275" y="2276475"/>
            <a:chExt cx="3816350" cy="2305050"/>
          </a:xfrm>
        </p:grpSpPr>
        <p:sp>
          <p:nvSpPr>
            <p:cNvPr id="43" name="Freeform 47">
              <a:extLst>
                <a:ext uri="{FF2B5EF4-FFF2-40B4-BE49-F238E27FC236}">
                  <a16:creationId xmlns:a16="http://schemas.microsoft.com/office/drawing/2014/main" id="{5368B465-8F40-4095-A599-BF9BAC429270}"/>
                </a:ext>
              </a:extLst>
            </p:cNvPr>
            <p:cNvSpPr/>
            <p:nvPr/>
          </p:nvSpPr>
          <p:spPr bwMode="auto">
            <a:xfrm>
              <a:off x="1931988" y="3286124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Freeform 48">
              <a:extLst>
                <a:ext uri="{FF2B5EF4-FFF2-40B4-BE49-F238E27FC236}">
                  <a16:creationId xmlns:a16="http://schemas.microsoft.com/office/drawing/2014/main" id="{2FE5E1F9-D514-44E2-8A55-0E722BCD8024}"/>
                </a:ext>
              </a:extLst>
            </p:cNvPr>
            <p:cNvSpPr/>
            <p:nvPr/>
          </p:nvSpPr>
          <p:spPr bwMode="auto">
            <a:xfrm>
              <a:off x="2357422" y="3248024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Oval 31">
              <a:extLst>
                <a:ext uri="{FF2B5EF4-FFF2-40B4-BE49-F238E27FC236}">
                  <a16:creationId xmlns:a16="http://schemas.microsoft.com/office/drawing/2014/main" id="{216E69A3-8013-4C69-9858-D68C36A7D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276475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6" name="Oval 32">
              <a:extLst>
                <a:ext uri="{FF2B5EF4-FFF2-40B4-BE49-F238E27FC236}">
                  <a16:creationId xmlns:a16="http://schemas.microsoft.com/office/drawing/2014/main" id="{9F874521-5DAD-464B-AB58-E7A6A5444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638" y="2925763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7" name="Oval 33">
              <a:extLst>
                <a:ext uri="{FF2B5EF4-FFF2-40B4-BE49-F238E27FC236}">
                  <a16:creationId xmlns:a16="http://schemas.microsoft.com/office/drawing/2014/main" id="{9C7BCDA6-A612-442E-B0D6-E5BFC26EB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925763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8" name="Oval 34">
              <a:extLst>
                <a:ext uri="{FF2B5EF4-FFF2-40B4-BE49-F238E27FC236}">
                  <a16:creationId xmlns:a16="http://schemas.microsoft.com/office/drawing/2014/main" id="{09D2DB84-182F-4194-8787-794511802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29257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49" name="Oval 35">
              <a:extLst>
                <a:ext uri="{FF2B5EF4-FFF2-40B4-BE49-F238E27FC236}">
                  <a16:creationId xmlns:a16="http://schemas.microsoft.com/office/drawing/2014/main" id="{D0FDEF93-34A3-42B4-A969-59F83C485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50" name="Oval 36">
              <a:extLst>
                <a:ext uri="{FF2B5EF4-FFF2-40B4-BE49-F238E27FC236}">
                  <a16:creationId xmlns:a16="http://schemas.microsoft.com/office/drawing/2014/main" id="{8DE60647-2F67-4BE1-813A-DCD915AE4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51" name="Oval 37">
              <a:extLst>
                <a:ext uri="{FF2B5EF4-FFF2-40B4-BE49-F238E27FC236}">
                  <a16:creationId xmlns:a16="http://schemas.microsoft.com/office/drawing/2014/main" id="{8B070164-2FE6-4A83-A1A8-034B17039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52" name="Oval 38">
              <a:extLst>
                <a:ext uri="{FF2B5EF4-FFF2-40B4-BE49-F238E27FC236}">
                  <a16:creationId xmlns:a16="http://schemas.microsoft.com/office/drawing/2014/main" id="{66F839CA-D877-43F8-BDBD-DDB2DD7B2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53" name="Oval 39">
              <a:extLst>
                <a:ext uri="{FF2B5EF4-FFF2-40B4-BE49-F238E27FC236}">
                  <a16:creationId xmlns:a16="http://schemas.microsoft.com/office/drawing/2014/main" id="{FEB76B90-1D01-4045-8E6B-6CCD1DA17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54" name="Oval 40">
              <a:extLst>
                <a:ext uri="{FF2B5EF4-FFF2-40B4-BE49-F238E27FC236}">
                  <a16:creationId xmlns:a16="http://schemas.microsoft.com/office/drawing/2014/main" id="{795E35CD-0968-41C1-BCF1-56812E83F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55" name="Oval 41">
              <a:extLst>
                <a:ext uri="{FF2B5EF4-FFF2-40B4-BE49-F238E27FC236}">
                  <a16:creationId xmlns:a16="http://schemas.microsoft.com/office/drawing/2014/main" id="{BDA260B3-FCC1-41DB-ABEB-3DB016F09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56" name="Oval 42">
              <a:extLst>
                <a:ext uri="{FF2B5EF4-FFF2-40B4-BE49-F238E27FC236}">
                  <a16:creationId xmlns:a16="http://schemas.microsoft.com/office/drawing/2014/main" id="{EED70A60-9C37-492D-9A92-382560C42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325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57" name="Oval 43">
              <a:extLst>
                <a:ext uri="{FF2B5EF4-FFF2-40B4-BE49-F238E27FC236}">
                  <a16:creationId xmlns:a16="http://schemas.microsoft.com/office/drawing/2014/main" id="{27D8CC2A-B7F4-4A33-8169-436C01080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63" y="42211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58" name="Line 44">
              <a:extLst>
                <a:ext uri="{FF2B5EF4-FFF2-40B4-BE49-F238E27FC236}">
                  <a16:creationId xmlns:a16="http://schemas.microsoft.com/office/drawing/2014/main" id="{18321615-6807-4F88-AB65-9FB764E8B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6655" y="2493963"/>
              <a:ext cx="654044" cy="515926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9" name="Line 45">
              <a:extLst>
                <a:ext uri="{FF2B5EF4-FFF2-40B4-BE49-F238E27FC236}">
                  <a16:creationId xmlns:a16="http://schemas.microsoft.com/office/drawing/2014/main" id="{6C2E73FD-EDB7-40D3-8C41-6B080DEE0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00" y="2636838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0" name="Line 46">
              <a:extLst>
                <a:ext uri="{FF2B5EF4-FFF2-40B4-BE49-F238E27FC236}">
                  <a16:creationId xmlns:a16="http://schemas.microsoft.com/office/drawing/2014/main" id="{41CC1464-475A-4728-8BDB-B08DDA28E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588" y="2522538"/>
              <a:ext cx="64770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1" name="Line 49">
              <a:extLst>
                <a:ext uri="{FF2B5EF4-FFF2-40B4-BE49-F238E27FC236}">
                  <a16:creationId xmlns:a16="http://schemas.microsoft.com/office/drawing/2014/main" id="{77A12AFB-418C-489E-AF74-CA808DE07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300413"/>
              <a:ext cx="0" cy="2592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2" name="Line 50">
              <a:extLst>
                <a:ext uri="{FF2B5EF4-FFF2-40B4-BE49-F238E27FC236}">
                  <a16:creationId xmlns:a16="http://schemas.microsoft.com/office/drawing/2014/main" id="{C3988408-D05C-4E12-8E13-C930BDDF4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3" name="Freeform 51">
              <a:extLst>
                <a:ext uri="{FF2B5EF4-FFF2-40B4-BE49-F238E27FC236}">
                  <a16:creationId xmlns:a16="http://schemas.microsoft.com/office/drawing/2014/main" id="{C2E469B1-18FE-4468-AC6C-C8C7B485F9DF}"/>
                </a:ext>
              </a:extLst>
            </p:cNvPr>
            <p:cNvSpPr/>
            <p:nvPr/>
          </p:nvSpPr>
          <p:spPr bwMode="auto">
            <a:xfrm>
              <a:off x="3940175" y="3271838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C30D1501-FF66-4A14-AD69-34953772A820}"/>
                </a:ext>
              </a:extLst>
            </p:cNvPr>
            <p:cNvSpPr/>
            <p:nvPr/>
          </p:nvSpPr>
          <p:spPr bwMode="auto">
            <a:xfrm>
              <a:off x="4379913" y="3243263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5" name="Line 53">
              <a:extLst>
                <a:ext uri="{FF2B5EF4-FFF2-40B4-BE49-F238E27FC236}">
                  <a16:creationId xmlns:a16="http://schemas.microsoft.com/office/drawing/2014/main" id="{F7891332-7377-4ED0-9C30-1BBF041F2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4650" y="3862388"/>
              <a:ext cx="360363" cy="358775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6" name="Line 54">
              <a:extLst>
                <a:ext uri="{FF2B5EF4-FFF2-40B4-BE49-F238E27FC236}">
                  <a16:creationId xmlns:a16="http://schemas.microsoft.com/office/drawing/2014/main" id="{3A3610A6-C8DB-4897-8621-8F1D26DE9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7888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0DBD0C4F-FC35-40D6-B9D3-2BE49EA6A9B2}"/>
                </a:ext>
              </a:extLst>
            </p:cNvPr>
            <p:cNvSpPr/>
            <p:nvPr/>
          </p:nvSpPr>
          <p:spPr bwMode="auto">
            <a:xfrm>
              <a:off x="4827588" y="3843338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68" name="Text Box 35">
            <a:extLst>
              <a:ext uri="{FF2B5EF4-FFF2-40B4-BE49-F238E27FC236}">
                <a16:creationId xmlns:a16="http://schemas.microsoft.com/office/drawing/2014/main" id="{D698AE99-BB72-4BC2-A39F-A878EB8F1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67733"/>
            <a:ext cx="8568952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1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、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结点的度</a:t>
            </a:r>
            <a:r>
              <a:rPr kumimoji="1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与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树的度：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 </a:t>
            </a:r>
            <a:endParaRPr kumimoji="1" lang="zh-CN" altLang="en-US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637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40B7F-5F61-4AB7-83A6-71B88037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35" name="Line 31">
            <a:extLst>
              <a:ext uri="{FF2B5EF4-FFF2-40B4-BE49-F238E27FC236}">
                <a16:creationId xmlns:a16="http://schemas.microsoft.com/office/drawing/2014/main" id="{6B57B162-98D8-42DB-B711-DBF44BB4A4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3541" y="6093297"/>
            <a:ext cx="484718" cy="258624"/>
          </a:xfrm>
          <a:prstGeom prst="lin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FF"/>
            </a:solidFill>
            <a:prstDash val="solid"/>
            <a:tailEnd type="stealth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6" name="Text Box 32">
            <a:extLst>
              <a:ext uri="{FF2B5EF4-FFF2-40B4-BE49-F238E27FC236}">
                <a16:creationId xmlns:a16="http://schemas.microsoft.com/office/drawing/2014/main" id="{61CB46B8-08D3-44DB-980B-6BEBCAAE4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908" y="5708735"/>
            <a:ext cx="1106596" cy="461665"/>
          </a:xfrm>
          <a:prstGeom prst="rect">
            <a:avLst/>
          </a:prstGeom>
          <a:noFill/>
          <a:ln w="952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叶结点</a:t>
            </a:r>
          </a:p>
        </p:txBody>
      </p:sp>
      <p:sp>
        <p:nvSpPr>
          <p:cNvPr id="37" name="Text Box 33">
            <a:extLst>
              <a:ext uri="{FF2B5EF4-FFF2-40B4-BE49-F238E27FC236}">
                <a16:creationId xmlns:a16="http://schemas.microsoft.com/office/drawing/2014/main" id="{A24DCE8C-6D13-4E04-A400-199F49B5B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1075" y="4065904"/>
            <a:ext cx="1247852" cy="830997"/>
          </a:xfrm>
          <a:prstGeom prst="rect">
            <a:avLst/>
          </a:prstGeom>
          <a:noFill/>
          <a:ln w="9525" cap="flat" cmpd="sng" algn="ctr">
            <a:noFill/>
            <a:prstDash val="soli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6">
                        <a:tint val="50000"/>
                        <a:satMod val="300000"/>
                      </a:schemeClr>
                    </a:gs>
                    <a:gs pos="35000">
                      <a:schemeClr val="accent6">
                        <a:tint val="37000"/>
                        <a:satMod val="300000"/>
                      </a:schemeClr>
                    </a:gs>
                    <a:gs pos="100000">
                      <a:schemeClr val="accent6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双分支结点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4D1C6F8-56DC-4A87-BBDF-375559339583}"/>
              </a:ext>
            </a:extLst>
          </p:cNvPr>
          <p:cNvCxnSpPr/>
          <p:nvPr/>
        </p:nvCxnSpPr>
        <p:spPr>
          <a:xfrm>
            <a:off x="2297441" y="4542157"/>
            <a:ext cx="550849" cy="176192"/>
          </a:xfrm>
          <a:prstGeom prst="straightConnector1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FF"/>
            </a:solidFill>
            <a:prstDash val="solid"/>
            <a:tailEnd type="arrow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9" name="组合 36">
            <a:extLst>
              <a:ext uri="{FF2B5EF4-FFF2-40B4-BE49-F238E27FC236}">
                <a16:creationId xmlns:a16="http://schemas.microsoft.com/office/drawing/2014/main" id="{33F0C993-A6AF-42A9-BE06-A623FD103E1D}"/>
              </a:ext>
            </a:extLst>
          </p:cNvPr>
          <p:cNvGrpSpPr/>
          <p:nvPr/>
        </p:nvGrpSpPr>
        <p:grpSpPr>
          <a:xfrm>
            <a:off x="2420243" y="3705676"/>
            <a:ext cx="5088467" cy="3073400"/>
            <a:chOff x="1692275" y="2276475"/>
            <a:chExt cx="3816350" cy="2305050"/>
          </a:xfrm>
        </p:grpSpPr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E428A780-640B-4CEC-96E7-16B8419C10AA}"/>
                </a:ext>
              </a:extLst>
            </p:cNvPr>
            <p:cNvSpPr/>
            <p:nvPr/>
          </p:nvSpPr>
          <p:spPr bwMode="auto">
            <a:xfrm>
              <a:off x="1931988" y="3286124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Freeform 48">
              <a:extLst>
                <a:ext uri="{FF2B5EF4-FFF2-40B4-BE49-F238E27FC236}">
                  <a16:creationId xmlns:a16="http://schemas.microsoft.com/office/drawing/2014/main" id="{4B8AC960-6D36-476F-979E-D8D47550E490}"/>
                </a:ext>
              </a:extLst>
            </p:cNvPr>
            <p:cNvSpPr/>
            <p:nvPr/>
          </p:nvSpPr>
          <p:spPr bwMode="auto">
            <a:xfrm>
              <a:off x="2357422" y="3248024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Oval 31">
              <a:extLst>
                <a:ext uri="{FF2B5EF4-FFF2-40B4-BE49-F238E27FC236}">
                  <a16:creationId xmlns:a16="http://schemas.microsoft.com/office/drawing/2014/main" id="{BBB90AF2-062C-4854-8824-1BC3E62AA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276475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3" name="Oval 32">
              <a:extLst>
                <a:ext uri="{FF2B5EF4-FFF2-40B4-BE49-F238E27FC236}">
                  <a16:creationId xmlns:a16="http://schemas.microsoft.com/office/drawing/2014/main" id="{B90C640F-9B57-4970-A50A-220E6F579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638" y="2925763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4" name="Oval 33">
              <a:extLst>
                <a:ext uri="{FF2B5EF4-FFF2-40B4-BE49-F238E27FC236}">
                  <a16:creationId xmlns:a16="http://schemas.microsoft.com/office/drawing/2014/main" id="{3BF1B1B2-72BD-4E83-90C1-B5B06A1FF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925763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5" name="Oval 34">
              <a:extLst>
                <a:ext uri="{FF2B5EF4-FFF2-40B4-BE49-F238E27FC236}">
                  <a16:creationId xmlns:a16="http://schemas.microsoft.com/office/drawing/2014/main" id="{407A942F-1812-4D4F-A059-2CE34B708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29257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46" name="Oval 35">
              <a:extLst>
                <a:ext uri="{FF2B5EF4-FFF2-40B4-BE49-F238E27FC236}">
                  <a16:creationId xmlns:a16="http://schemas.microsoft.com/office/drawing/2014/main" id="{3C64A73C-6E9E-43B1-9D29-25CB6BD1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AF8DEB9D-0358-46F9-AACA-BA21DFE23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48" name="Oval 37">
              <a:extLst>
                <a:ext uri="{FF2B5EF4-FFF2-40B4-BE49-F238E27FC236}">
                  <a16:creationId xmlns:a16="http://schemas.microsoft.com/office/drawing/2014/main" id="{6CDBB04C-755A-4F57-9D19-6F259B17A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49" name="Oval 38">
              <a:extLst>
                <a:ext uri="{FF2B5EF4-FFF2-40B4-BE49-F238E27FC236}">
                  <a16:creationId xmlns:a16="http://schemas.microsoft.com/office/drawing/2014/main" id="{E84CAC17-187E-4510-A4DE-CA16E1F2A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50" name="Oval 39">
              <a:extLst>
                <a:ext uri="{FF2B5EF4-FFF2-40B4-BE49-F238E27FC236}">
                  <a16:creationId xmlns:a16="http://schemas.microsoft.com/office/drawing/2014/main" id="{821317F3-D53A-4E5A-BC56-00A5B046C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51" name="Oval 40">
              <a:extLst>
                <a:ext uri="{FF2B5EF4-FFF2-40B4-BE49-F238E27FC236}">
                  <a16:creationId xmlns:a16="http://schemas.microsoft.com/office/drawing/2014/main" id="{618CC96B-AC8D-451E-9E92-929344B7A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52" name="Oval 41">
              <a:extLst>
                <a:ext uri="{FF2B5EF4-FFF2-40B4-BE49-F238E27FC236}">
                  <a16:creationId xmlns:a16="http://schemas.microsoft.com/office/drawing/2014/main" id="{944C89F7-D9A5-486E-B190-A1E768E8F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53" name="Oval 42">
              <a:extLst>
                <a:ext uri="{FF2B5EF4-FFF2-40B4-BE49-F238E27FC236}">
                  <a16:creationId xmlns:a16="http://schemas.microsoft.com/office/drawing/2014/main" id="{A5EB2FF7-516A-4BFD-B5B7-BE3A0C29A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325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54" name="Oval 43">
              <a:extLst>
                <a:ext uri="{FF2B5EF4-FFF2-40B4-BE49-F238E27FC236}">
                  <a16:creationId xmlns:a16="http://schemas.microsoft.com/office/drawing/2014/main" id="{01DD7D97-466D-4622-8527-088DE7C8E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63" y="42211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55" name="Line 44">
              <a:extLst>
                <a:ext uri="{FF2B5EF4-FFF2-40B4-BE49-F238E27FC236}">
                  <a16:creationId xmlns:a16="http://schemas.microsoft.com/office/drawing/2014/main" id="{EF09632B-9537-40C3-BDBA-7560CE88A2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7421" y="2493963"/>
              <a:ext cx="703278" cy="434971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6" name="Line 45">
              <a:extLst>
                <a:ext uri="{FF2B5EF4-FFF2-40B4-BE49-F238E27FC236}">
                  <a16:creationId xmlns:a16="http://schemas.microsoft.com/office/drawing/2014/main" id="{0BE3CBF4-8A1F-461C-8E03-818F6FE04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00" y="2636838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7" name="Line 46">
              <a:extLst>
                <a:ext uri="{FF2B5EF4-FFF2-40B4-BE49-F238E27FC236}">
                  <a16:creationId xmlns:a16="http://schemas.microsoft.com/office/drawing/2014/main" id="{198B84CD-4878-4CAE-BCDB-8455A27B1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588" y="2522538"/>
              <a:ext cx="64770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8" name="Line 49">
              <a:extLst>
                <a:ext uri="{FF2B5EF4-FFF2-40B4-BE49-F238E27FC236}">
                  <a16:creationId xmlns:a16="http://schemas.microsoft.com/office/drawing/2014/main" id="{5821C1D3-B070-4C61-A95F-8B2F2784E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303588"/>
              <a:ext cx="0" cy="2592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9" name="Line 50">
              <a:extLst>
                <a:ext uri="{FF2B5EF4-FFF2-40B4-BE49-F238E27FC236}">
                  <a16:creationId xmlns:a16="http://schemas.microsoft.com/office/drawing/2014/main" id="{A3BD2BB1-D1A9-40CA-B8B7-8D4F0572E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273031E9-37BA-45D5-91B3-749DFB4A1927}"/>
                </a:ext>
              </a:extLst>
            </p:cNvPr>
            <p:cNvSpPr/>
            <p:nvPr/>
          </p:nvSpPr>
          <p:spPr bwMode="auto">
            <a:xfrm>
              <a:off x="3940175" y="3271838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C756DC85-9671-4631-B602-463EA9984401}"/>
                </a:ext>
              </a:extLst>
            </p:cNvPr>
            <p:cNvSpPr/>
            <p:nvPr/>
          </p:nvSpPr>
          <p:spPr bwMode="auto">
            <a:xfrm>
              <a:off x="4379913" y="3243263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2" name="Line 53">
              <a:extLst>
                <a:ext uri="{FF2B5EF4-FFF2-40B4-BE49-F238E27FC236}">
                  <a16:creationId xmlns:a16="http://schemas.microsoft.com/office/drawing/2014/main" id="{E95DCC95-079C-42F0-9AA2-A3D9EC848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4650" y="3862388"/>
              <a:ext cx="360363" cy="358775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3" name="Line 54">
              <a:extLst>
                <a:ext uri="{FF2B5EF4-FFF2-40B4-BE49-F238E27FC236}">
                  <a16:creationId xmlns:a16="http://schemas.microsoft.com/office/drawing/2014/main" id="{61EB33E4-60C4-4093-85B9-383CC62E3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7888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912B3605-906C-455C-BC6A-0FD1B7C799DA}"/>
                </a:ext>
              </a:extLst>
            </p:cNvPr>
            <p:cNvSpPr/>
            <p:nvPr/>
          </p:nvSpPr>
          <p:spPr bwMode="auto">
            <a:xfrm>
              <a:off x="4827588" y="3843338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65" name="Text Box 1026">
            <a:extLst>
              <a:ext uri="{FF2B5EF4-FFF2-40B4-BE49-F238E27FC236}">
                <a16:creationId xmlns:a16="http://schemas.microsoft.com/office/drawing/2014/main" id="{F2B15165-C6CE-4703-8AAA-C130EA3AC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410585"/>
            <a:ext cx="8640960" cy="24805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sz="2665" b="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度为</a:t>
            </a:r>
            <a:r>
              <a:rPr kumimoji="1" lang="en-US" sz="2665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0 </a:t>
            </a:r>
            <a:r>
              <a:rPr kumimoji="1" sz="2665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的结点称为</a:t>
            </a:r>
            <a:r>
              <a:rPr kumimoji="1" sz="2665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终端结点</a:t>
            </a:r>
            <a:r>
              <a:rPr kumimoji="1" sz="2665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或</a:t>
            </a:r>
            <a:r>
              <a:rPr kumimoji="1" sz="2665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叶结点</a:t>
            </a:r>
            <a:r>
              <a:rPr kumimoji="1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r>
              <a:rPr kumimoji="1" lang="zh-CN" altLang="en-US" sz="2665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度不为 </a:t>
            </a:r>
            <a:r>
              <a:rPr kumimoji="1" lang="en-US" altLang="zh-CN" sz="2665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0 </a:t>
            </a:r>
            <a:r>
              <a:rPr kumimoji="1" lang="zh-CN" alt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的结点称为</a:t>
            </a:r>
            <a:r>
              <a:rPr kumimoji="1" lang="zh-CN" altLang="en-US" sz="2665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非终端结点</a:t>
            </a:r>
            <a:r>
              <a:rPr kumimoji="1" lang="zh-CN" alt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，又叫</a:t>
            </a:r>
            <a:r>
              <a:rPr kumimoji="1" lang="zh-CN" altLang="en-US" sz="2665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分支结点</a:t>
            </a:r>
            <a:r>
              <a:rPr kumimoji="1" lang="zh-CN" altLang="en-US" sz="2665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或</a:t>
            </a:r>
            <a:r>
              <a:rPr kumimoji="1" lang="zh-CN" altLang="en-US" sz="2665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中间结点</a:t>
            </a:r>
            <a:r>
              <a:rPr kumimoji="1" lang="zh-CN" altLang="en-US" sz="2665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或</a:t>
            </a:r>
            <a:r>
              <a:rPr kumimoji="1" lang="zh-CN" altLang="en-US" sz="2665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内部结点</a:t>
            </a:r>
            <a:r>
              <a:rPr kumimoji="1" lang="en-US" altLang="zh-CN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r>
              <a:rPr kumimoji="1" sz="2665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度为</a:t>
            </a:r>
            <a:r>
              <a:rPr kumimoji="1" 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1</a:t>
            </a:r>
            <a:r>
              <a:rPr kumimoji="1" 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sz="2665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的结点</a:t>
            </a:r>
            <a:r>
              <a:rPr kumimoji="1" lang="zh-CN" alt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叫</a:t>
            </a:r>
            <a:r>
              <a:rPr kumimoji="1" sz="2665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单分支结点</a:t>
            </a:r>
            <a:r>
              <a:rPr kumimoji="1" sz="2665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；度为</a:t>
            </a:r>
            <a:r>
              <a:rPr kumimoji="1" 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2</a:t>
            </a:r>
            <a:r>
              <a:rPr kumimoji="1" 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sz="2665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的结点</a:t>
            </a:r>
            <a:r>
              <a:rPr kumimoji="1" lang="zh-CN" alt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叫</a:t>
            </a:r>
            <a:r>
              <a:rPr kumimoji="1" sz="2665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双分支结点</a:t>
            </a:r>
            <a:r>
              <a:rPr kumimoji="1" lang="zh-CN" alt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</a:t>
            </a:r>
            <a:r>
              <a:rPr kumimoji="1" sz="2665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依此类推</a:t>
            </a:r>
            <a:r>
              <a:rPr kumimoji="1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r>
              <a:rPr kumimoji="1" lang="zh-CN" altLang="en-US" sz="2665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       </a:t>
            </a:r>
          </a:p>
        </p:txBody>
      </p:sp>
      <p:sp>
        <p:nvSpPr>
          <p:cNvPr id="66" name="Text Box 35">
            <a:extLst>
              <a:ext uri="{FF2B5EF4-FFF2-40B4-BE49-F238E27FC236}">
                <a16:creationId xmlns:a16="http://schemas.microsoft.com/office/drawing/2014/main" id="{08F1986E-AE5A-4048-95B2-14EC614F7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80" y="918432"/>
            <a:ext cx="7744104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2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、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分支结点</a:t>
            </a:r>
            <a:r>
              <a:rPr kumimoji="1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与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叶结点：</a:t>
            </a:r>
          </a:p>
        </p:txBody>
      </p:sp>
    </p:spTree>
    <p:extLst>
      <p:ext uri="{BB962C8B-B14F-4D97-AF65-F5344CB8AC3E}">
        <p14:creationId xmlns:p14="http://schemas.microsoft.com/office/powerpoint/2010/main" val="43749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D97F2-83B7-4F01-A02F-6E17B787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32" name="Text Box 2">
            <a:extLst>
              <a:ext uri="{FF2B5EF4-FFF2-40B4-BE49-F238E27FC236}">
                <a16:creationId xmlns:a16="http://schemas.microsoft.com/office/drawing/2014/main" id="{EC9715FC-B6D7-4C75-BEED-EB090C1A2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334" y="1477442"/>
            <a:ext cx="8640960" cy="26015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结点序列</a:t>
            </a:r>
            <a:r>
              <a:rPr kumimoji="1"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（</a:t>
            </a:r>
            <a:r>
              <a:rPr kumimoji="1" lang="en-US" altLang="zh-CN" b="0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d</a:t>
            </a:r>
            <a:r>
              <a:rPr kumimoji="1" lang="en-US" altLang="zh-CN" b="0" i="1" baseline="-30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 </a:t>
            </a:r>
            <a:r>
              <a:rPr kumimoji="1" lang="en-US" altLang="zh-CN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,</a:t>
            </a:r>
            <a:r>
              <a:rPr kumimoji="1" lang="en-US" altLang="zh-CN" b="0" i="1" baseline="-30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d</a:t>
            </a:r>
            <a:r>
              <a:rPr kumimoji="1" lang="en-US" altLang="zh-CN" b="0" i="1" baseline="-30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i1 </a:t>
            </a:r>
            <a:r>
              <a:rPr kumimoji="1" lang="en-US" altLang="zh-CN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,</a:t>
            </a:r>
            <a:r>
              <a:rPr kumimoji="1" lang="en-US" altLang="zh-CN" b="0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en-US" altLang="zh-CN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…, </a:t>
            </a:r>
            <a:r>
              <a:rPr kumimoji="1" lang="en-US" altLang="zh-CN" b="0" i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d</a:t>
            </a:r>
            <a:r>
              <a:rPr kumimoji="1" lang="en-US" altLang="zh-CN" b="0" i="1" baseline="-30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j</a:t>
            </a:r>
            <a:r>
              <a:rPr kumimoji="1"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）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称为从结点 </a:t>
            </a:r>
            <a:r>
              <a:rPr kumimoji="1" lang="en-US" altLang="zh-CN" b="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d</a:t>
            </a:r>
            <a:r>
              <a:rPr kumimoji="1" lang="en-US" altLang="zh-CN" b="0" i="1" baseline="-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 </a:t>
            </a:r>
            <a:r>
              <a:rPr kumimoji="1" lang="zh-CN" altLang="en-US" b="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到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en-US" altLang="zh-CN" b="0" 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d</a:t>
            </a:r>
            <a:r>
              <a:rPr kumimoji="1" lang="en-US" altLang="zh-CN" b="0" i="1" baseline="-30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j</a:t>
            </a:r>
            <a:r>
              <a:rPr kumimoji="1" lang="en-US" altLang="zh-CN" b="0" i="1" baseline="-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路径</a:t>
            </a:r>
            <a:r>
              <a: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，序列中每两个相邻结点满足后继关系，称为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分支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路径长度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等于路径上的分支数目（即路径上的结点数目减 </a:t>
            </a: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1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）。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314F8BB-DC63-47D0-8ED7-BEC71481321E}"/>
              </a:ext>
            </a:extLst>
          </p:cNvPr>
          <p:cNvGrpSpPr/>
          <p:nvPr/>
        </p:nvGrpSpPr>
        <p:grpSpPr>
          <a:xfrm>
            <a:off x="683568" y="3691507"/>
            <a:ext cx="5088255" cy="2508885"/>
            <a:chOff x="2143108" y="2285992"/>
            <a:chExt cx="3816350" cy="2305050"/>
          </a:xfrm>
        </p:grpSpPr>
        <p:sp>
          <p:nvSpPr>
            <p:cNvPr id="34" name="Line 20">
              <a:extLst>
                <a:ext uri="{FF2B5EF4-FFF2-40B4-BE49-F238E27FC236}">
                  <a16:creationId xmlns:a16="http://schemas.microsoft.com/office/drawing/2014/main" id="{F18FC8BC-C93F-41B7-A89D-B2D37D3187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9705" y="2503480"/>
              <a:ext cx="731827" cy="512753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D00563A-4263-4D96-BF49-6CDAEB70302E}"/>
                </a:ext>
              </a:extLst>
            </p:cNvPr>
            <p:cNvSpPr/>
            <p:nvPr/>
          </p:nvSpPr>
          <p:spPr bwMode="auto">
            <a:xfrm>
              <a:off x="2382822" y="3301985"/>
              <a:ext cx="182570" cy="293695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7A3EE1C1-4C7B-4979-BA3F-AEADFD9E45CF}"/>
                </a:ext>
              </a:extLst>
            </p:cNvPr>
            <p:cNvSpPr/>
            <p:nvPr/>
          </p:nvSpPr>
          <p:spPr bwMode="auto">
            <a:xfrm>
              <a:off x="2808281" y="3289285"/>
              <a:ext cx="185738" cy="2984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2" y="150"/>
                </a:cxn>
              </a:cxnLst>
              <a:rect l="0" t="0" r="r" b="b"/>
              <a:pathLst>
                <a:path w="72" h="150">
                  <a:moveTo>
                    <a:pt x="0" y="0"/>
                  </a:moveTo>
                  <a:lnTo>
                    <a:pt x="72" y="15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Oval 7">
              <a:extLst>
                <a:ext uri="{FF2B5EF4-FFF2-40B4-BE49-F238E27FC236}">
                  <a16:creationId xmlns:a16="http://schemas.microsoft.com/office/drawing/2014/main" id="{F6C67576-711F-41DD-8E23-11D353F86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33" y="2285992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38" name="Oval 8">
              <a:extLst>
                <a:ext uri="{FF2B5EF4-FFF2-40B4-BE49-F238E27FC236}">
                  <a16:creationId xmlns:a16="http://schemas.microsoft.com/office/drawing/2014/main" id="{B536A803-9C6D-4AB0-9D31-3D7E891D1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71" y="2935280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39" name="Oval 9">
              <a:extLst>
                <a:ext uri="{FF2B5EF4-FFF2-40B4-BE49-F238E27FC236}">
                  <a16:creationId xmlns:a16="http://schemas.microsoft.com/office/drawing/2014/main" id="{263596B7-B1AD-4B70-AB12-88EFA72E8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33" y="2935280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0" name="Oval 10">
              <a:extLst>
                <a:ext uri="{FF2B5EF4-FFF2-40B4-BE49-F238E27FC236}">
                  <a16:creationId xmlns:a16="http://schemas.microsoft.com/office/drawing/2014/main" id="{472AD01D-A1F5-499D-9A58-DE9FF0A6D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596" y="2935280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41" name="Oval 11">
              <a:extLst>
                <a:ext uri="{FF2B5EF4-FFF2-40B4-BE49-F238E27FC236}">
                  <a16:creationId xmlns:a16="http://schemas.microsoft.com/office/drawing/2014/main" id="{A1E9BE9E-F12C-4A47-B4F3-17813B3E6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08" y="3582980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2" name="Oval 12">
              <a:extLst>
                <a:ext uri="{FF2B5EF4-FFF2-40B4-BE49-F238E27FC236}">
                  <a16:creationId xmlns:a16="http://schemas.microsoft.com/office/drawing/2014/main" id="{F26EB6C2-CAF8-4F4F-BFAC-4B4637F27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396" y="3582980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43" name="Oval 13">
              <a:extLst>
                <a:ext uri="{FF2B5EF4-FFF2-40B4-BE49-F238E27FC236}">
                  <a16:creationId xmlns:a16="http://schemas.microsoft.com/office/drawing/2014/main" id="{E55D3820-B116-4551-8B3E-41BA1B05E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33" y="3582980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44" name="Oval 14">
              <a:extLst>
                <a:ext uri="{FF2B5EF4-FFF2-40B4-BE49-F238E27FC236}">
                  <a16:creationId xmlns:a16="http://schemas.microsoft.com/office/drawing/2014/main" id="{28CD39AA-2AF5-4971-948D-8842D96EE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33" y="4230680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45" name="Oval 15">
              <a:extLst>
                <a:ext uri="{FF2B5EF4-FFF2-40B4-BE49-F238E27FC236}">
                  <a16:creationId xmlns:a16="http://schemas.microsoft.com/office/drawing/2014/main" id="{673A0A8B-C68D-4824-851C-939E4AA02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33" y="3582980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46" name="Oval 16">
              <a:extLst>
                <a:ext uri="{FF2B5EF4-FFF2-40B4-BE49-F238E27FC236}">
                  <a16:creationId xmlns:a16="http://schemas.microsoft.com/office/drawing/2014/main" id="{F33DB826-A686-44C5-9C8E-8200C6CAB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1396" y="3582980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47" name="Oval 17">
              <a:extLst>
                <a:ext uri="{FF2B5EF4-FFF2-40B4-BE49-F238E27FC236}">
                  <a16:creationId xmlns:a16="http://schemas.microsoft.com/office/drawing/2014/main" id="{177AF3DF-929F-4471-B627-99AC80573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133" y="4230680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48" name="Oval 18">
              <a:extLst>
                <a:ext uri="{FF2B5EF4-FFF2-40B4-BE49-F238E27FC236}">
                  <a16:creationId xmlns:a16="http://schemas.microsoft.com/office/drawing/2014/main" id="{DD9E6E11-5524-4B5C-A320-EB3BE65A4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6158" y="4230680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49" name="Oval 19">
              <a:extLst>
                <a:ext uri="{FF2B5EF4-FFF2-40B4-BE49-F238E27FC236}">
                  <a16:creationId xmlns:a16="http://schemas.microsoft.com/office/drawing/2014/main" id="{7B5E50B4-2801-44F3-BB89-D8E3600C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9096" y="4230680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50" name="Line 21">
              <a:extLst>
                <a:ext uri="{FF2B5EF4-FFF2-40B4-BE49-F238E27FC236}">
                  <a16:creationId xmlns:a16="http://schemas.microsoft.com/office/drawing/2014/main" id="{B4641F9A-A2CD-48C7-889A-0387AD884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9333" y="2646355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1" name="Line 22">
              <a:extLst>
                <a:ext uri="{FF2B5EF4-FFF2-40B4-BE49-F238E27FC236}">
                  <a16:creationId xmlns:a16="http://schemas.microsoft.com/office/drawing/2014/main" id="{28EB5376-C96E-4759-BF71-CD13229C7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1421" y="2532055"/>
              <a:ext cx="647700" cy="503237"/>
            </a:xfrm>
            <a:prstGeom prst="line">
              <a:avLst/>
            </a:prstGeom>
            <a:noFill/>
            <a:ln w="38100" cap="flat" cmpd="sng" algn="ctr">
              <a:solidFill>
                <a:srgbClr val="C0504D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2" name="Line 23">
              <a:extLst>
                <a:ext uri="{FF2B5EF4-FFF2-40B4-BE49-F238E27FC236}">
                  <a16:creationId xmlns:a16="http://schemas.microsoft.com/office/drawing/2014/main" id="{1A5421CC-30C6-4D44-941B-E1FF0F7C4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096" y="3332155"/>
              <a:ext cx="0" cy="252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3" name="Line 24">
              <a:extLst>
                <a:ext uri="{FF2B5EF4-FFF2-40B4-BE49-F238E27FC236}">
                  <a16:creationId xmlns:a16="http://schemas.microsoft.com/office/drawing/2014/main" id="{A7A18485-2D28-44A7-AC83-AA8C55156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096" y="3943342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5B8C5782-56DE-48C9-90E1-1FF8CC270885}"/>
                </a:ext>
              </a:extLst>
            </p:cNvPr>
            <p:cNvSpPr/>
            <p:nvPr/>
          </p:nvSpPr>
          <p:spPr bwMode="auto">
            <a:xfrm>
              <a:off x="4391008" y="3281355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DC3D4BAD-FDAE-4E24-A3F7-72E54AFD5EE8}"/>
                </a:ext>
              </a:extLst>
            </p:cNvPr>
            <p:cNvSpPr/>
            <p:nvPr/>
          </p:nvSpPr>
          <p:spPr bwMode="auto">
            <a:xfrm>
              <a:off x="4830746" y="3252780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noFill/>
            <a:ln w="38100" cap="flat" cmpd="sng" algn="ctr">
              <a:solidFill>
                <a:srgbClr val="C0504D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BED9CFA1-8254-44D9-98BC-1D636397C8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5483" y="3871905"/>
              <a:ext cx="360363" cy="358775"/>
            </a:xfrm>
            <a:prstGeom prst="line">
              <a:avLst/>
            </a:prstGeom>
            <a:noFill/>
            <a:ln w="38100" cap="flat" cmpd="sng" algn="ctr">
              <a:solidFill>
                <a:srgbClr val="C0504D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7" name="Line 28">
              <a:extLst>
                <a:ext uri="{FF2B5EF4-FFF2-40B4-BE49-F238E27FC236}">
                  <a16:creationId xmlns:a16="http://schemas.microsoft.com/office/drawing/2014/main" id="{F467DCE0-8A17-471F-8618-447A60990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721" y="3943342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2CBD9282-7EB8-4D90-934C-98ABAAFC2BE1}"/>
                </a:ext>
              </a:extLst>
            </p:cNvPr>
            <p:cNvSpPr/>
            <p:nvPr/>
          </p:nvSpPr>
          <p:spPr bwMode="auto">
            <a:xfrm>
              <a:off x="5278421" y="3852855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59" name="Text Box 30">
            <a:extLst>
              <a:ext uri="{FF2B5EF4-FFF2-40B4-BE49-F238E27FC236}">
                <a16:creationId xmlns:a16="http://schemas.microsoft.com/office/drawing/2014/main" id="{E4635231-FDD7-4EC4-8159-6BB758CB7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0008" y="4365104"/>
            <a:ext cx="4203992" cy="1135054"/>
          </a:xfrm>
          <a:prstGeom prst="rect">
            <a:avLst/>
          </a:prstGeom>
          <a:noFill/>
          <a:ln w="952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从 </a:t>
            </a: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A 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到 </a:t>
            </a: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K 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的路径为</a:t>
            </a: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(A,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D,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I,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K)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，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其长度为</a:t>
            </a: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3</a:t>
            </a:r>
          </a:p>
        </p:txBody>
      </p:sp>
      <p:sp>
        <p:nvSpPr>
          <p:cNvPr id="60" name="Text Box 35">
            <a:extLst>
              <a:ext uri="{FF2B5EF4-FFF2-40B4-BE49-F238E27FC236}">
                <a16:creationId xmlns:a16="http://schemas.microsoft.com/office/drawing/2014/main" id="{65C975B5-E44E-4DF8-9F05-E41C132FF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334" y="961012"/>
            <a:ext cx="8352928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3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、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路径</a:t>
            </a:r>
            <a:r>
              <a:rPr kumimoji="1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与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路径长度</a:t>
            </a:r>
          </a:p>
        </p:txBody>
      </p:sp>
    </p:spTree>
    <p:extLst>
      <p:ext uri="{BB962C8B-B14F-4D97-AF65-F5344CB8AC3E}">
        <p14:creationId xmlns:p14="http://schemas.microsoft.com/office/powerpoint/2010/main" val="2679004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4B7D1-4091-4954-8363-C87819DD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34" name="Text Box 2">
            <a:extLst>
              <a:ext uri="{FF2B5EF4-FFF2-40B4-BE49-F238E27FC236}">
                <a16:creationId xmlns:a16="http://schemas.microsoft.com/office/drawing/2014/main" id="{AC9EBAF4-4EA3-44BB-A7D8-3284B5864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498889"/>
            <a:ext cx="8784976" cy="19552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每个结点的后继（或子树的根），称作该结点的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孩子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（或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子女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）。相应地，该结点被称作其孩子的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双亲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（或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父母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）。具有同一双亲的结点互为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兄弟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</a:p>
        </p:txBody>
      </p:sp>
      <p:grpSp>
        <p:nvGrpSpPr>
          <p:cNvPr id="35" name="组合 59">
            <a:extLst>
              <a:ext uri="{FF2B5EF4-FFF2-40B4-BE49-F238E27FC236}">
                <a16:creationId xmlns:a16="http://schemas.microsoft.com/office/drawing/2014/main" id="{CEB4F28F-D503-46AA-B703-761410EADF60}"/>
              </a:ext>
            </a:extLst>
          </p:cNvPr>
          <p:cNvGrpSpPr/>
          <p:nvPr/>
        </p:nvGrpSpPr>
        <p:grpSpPr>
          <a:xfrm>
            <a:off x="1333467" y="3721515"/>
            <a:ext cx="5088467" cy="3073400"/>
            <a:chOff x="1000100" y="2500306"/>
            <a:chExt cx="3816350" cy="2305050"/>
          </a:xfrm>
        </p:grpSpPr>
        <p:sp>
          <p:nvSpPr>
            <p:cNvPr id="36" name="Line 44">
              <a:extLst>
                <a:ext uri="{FF2B5EF4-FFF2-40B4-BE49-F238E27FC236}">
                  <a16:creationId xmlns:a16="http://schemas.microsoft.com/office/drawing/2014/main" id="{F2A04785-F31E-4A83-B54D-0B689059CF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3042" y="2717794"/>
              <a:ext cx="725482" cy="496892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Freeform 47">
              <a:extLst>
                <a:ext uri="{FF2B5EF4-FFF2-40B4-BE49-F238E27FC236}">
                  <a16:creationId xmlns:a16="http://schemas.microsoft.com/office/drawing/2014/main" id="{003656F3-3AE1-4CD5-AD69-021A924AA1FD}"/>
                </a:ext>
              </a:extLst>
            </p:cNvPr>
            <p:cNvSpPr/>
            <p:nvPr/>
          </p:nvSpPr>
          <p:spPr bwMode="auto">
            <a:xfrm>
              <a:off x="1239813" y="3509955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Freeform 48">
              <a:extLst>
                <a:ext uri="{FF2B5EF4-FFF2-40B4-BE49-F238E27FC236}">
                  <a16:creationId xmlns:a16="http://schemas.microsoft.com/office/drawing/2014/main" id="{42CC85C4-D9D9-4F67-88FD-7B55593E32A6}"/>
                </a:ext>
              </a:extLst>
            </p:cNvPr>
            <p:cNvSpPr/>
            <p:nvPr/>
          </p:nvSpPr>
          <p:spPr bwMode="auto">
            <a:xfrm>
              <a:off x="1665247" y="3471855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Oval 31">
              <a:extLst>
                <a:ext uri="{FF2B5EF4-FFF2-40B4-BE49-F238E27FC236}">
                  <a16:creationId xmlns:a16="http://schemas.microsoft.com/office/drawing/2014/main" id="{0CD2E925-9B9D-497E-9A03-115E4CFC6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525" y="2500306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0" name="Oval 32">
              <a:extLst>
                <a:ext uri="{FF2B5EF4-FFF2-40B4-BE49-F238E27FC236}">
                  <a16:creationId xmlns:a16="http://schemas.microsoft.com/office/drawing/2014/main" id="{DD61C037-24C1-44FB-BD86-54F987959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0463" y="3149594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1" name="Oval 33">
              <a:extLst>
                <a:ext uri="{FF2B5EF4-FFF2-40B4-BE49-F238E27FC236}">
                  <a16:creationId xmlns:a16="http://schemas.microsoft.com/office/drawing/2014/main" id="{E82F2DAC-A8AA-4D00-8F04-740DFC40D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525" y="3149594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2" name="Oval 34">
              <a:extLst>
                <a:ext uri="{FF2B5EF4-FFF2-40B4-BE49-F238E27FC236}">
                  <a16:creationId xmlns:a16="http://schemas.microsoft.com/office/drawing/2014/main" id="{9B965713-650E-4845-A54D-5B5976679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588" y="3149594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43" name="Oval 35">
              <a:extLst>
                <a:ext uri="{FF2B5EF4-FFF2-40B4-BE49-F238E27FC236}">
                  <a16:creationId xmlns:a16="http://schemas.microsoft.com/office/drawing/2014/main" id="{E9B2034D-38EC-4460-B9B6-5ED905141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100" y="3797294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4" name="Oval 36">
              <a:extLst>
                <a:ext uri="{FF2B5EF4-FFF2-40B4-BE49-F238E27FC236}">
                  <a16:creationId xmlns:a16="http://schemas.microsoft.com/office/drawing/2014/main" id="{6902059C-E130-41D1-A17B-D7EF041B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8" y="3797294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45" name="Oval 37">
              <a:extLst>
                <a:ext uri="{FF2B5EF4-FFF2-40B4-BE49-F238E27FC236}">
                  <a16:creationId xmlns:a16="http://schemas.microsoft.com/office/drawing/2014/main" id="{7B35A83C-E95A-48DE-98DA-320AAFA3A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525" y="3797294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46" name="Oval 38">
              <a:extLst>
                <a:ext uri="{FF2B5EF4-FFF2-40B4-BE49-F238E27FC236}">
                  <a16:creationId xmlns:a16="http://schemas.microsoft.com/office/drawing/2014/main" id="{28539B71-2DC4-4E65-93BA-48AD22AA0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525" y="4444994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47" name="Oval 39">
              <a:extLst>
                <a:ext uri="{FF2B5EF4-FFF2-40B4-BE49-F238E27FC236}">
                  <a16:creationId xmlns:a16="http://schemas.microsoft.com/office/drawing/2014/main" id="{569C2783-4AAC-44CB-B027-373F78175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25" y="3797294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48" name="Oval 40">
              <a:extLst>
                <a:ext uri="{FF2B5EF4-FFF2-40B4-BE49-F238E27FC236}">
                  <a16:creationId xmlns:a16="http://schemas.microsoft.com/office/drawing/2014/main" id="{03188A8F-0EE6-4B6F-BF2D-A08561233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388" y="3797294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49" name="Oval 41">
              <a:extLst>
                <a:ext uri="{FF2B5EF4-FFF2-40B4-BE49-F238E27FC236}">
                  <a16:creationId xmlns:a16="http://schemas.microsoft.com/office/drawing/2014/main" id="{410B36D4-248D-422D-906B-05AA060B1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125" y="4444994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50" name="Oval 42">
              <a:extLst>
                <a:ext uri="{FF2B5EF4-FFF2-40B4-BE49-F238E27FC236}">
                  <a16:creationId xmlns:a16="http://schemas.microsoft.com/office/drawing/2014/main" id="{C167F5F7-FC5B-4134-85E7-1001AA9E2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150" y="4444994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51" name="Oval 43">
              <a:extLst>
                <a:ext uri="{FF2B5EF4-FFF2-40B4-BE49-F238E27FC236}">
                  <a16:creationId xmlns:a16="http://schemas.microsoft.com/office/drawing/2014/main" id="{74770A07-532D-4DB6-8098-2C9A2286E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088" y="4444994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:a16="http://schemas.microsoft.com/office/drawing/2014/main" id="{B87F9353-FBD6-4A80-AD92-7310F3664F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6325" y="2860669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3" name="Line 46">
              <a:extLst>
                <a:ext uri="{FF2B5EF4-FFF2-40B4-BE49-F238E27FC236}">
                  <a16:creationId xmlns:a16="http://schemas.microsoft.com/office/drawing/2014/main" id="{CAB1A242-302D-47ED-89A7-93C5D8C37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413" y="2746369"/>
              <a:ext cx="64770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4" name="Line 49">
              <a:extLst>
                <a:ext uri="{FF2B5EF4-FFF2-40B4-BE49-F238E27FC236}">
                  <a16:creationId xmlns:a16="http://schemas.microsoft.com/office/drawing/2014/main" id="{27A69585-F0CB-41B4-820F-0E73E8ABD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088" y="3546469"/>
              <a:ext cx="0" cy="252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5" name="Line 50">
              <a:extLst>
                <a:ext uri="{FF2B5EF4-FFF2-40B4-BE49-F238E27FC236}">
                  <a16:creationId xmlns:a16="http://schemas.microsoft.com/office/drawing/2014/main" id="{1C479DF0-126C-4A74-B3ED-EB515BD64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088" y="4157656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C08E6B68-CE5B-45CC-BBFE-A30CEC7D63DC}"/>
                </a:ext>
              </a:extLst>
            </p:cNvPr>
            <p:cNvSpPr/>
            <p:nvPr/>
          </p:nvSpPr>
          <p:spPr bwMode="auto">
            <a:xfrm>
              <a:off x="3248000" y="3495669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DD8172F1-5F4E-44A4-B8AE-C19AAF44F36E}"/>
                </a:ext>
              </a:extLst>
            </p:cNvPr>
            <p:cNvSpPr/>
            <p:nvPr/>
          </p:nvSpPr>
          <p:spPr bwMode="auto">
            <a:xfrm>
              <a:off x="3687738" y="3467094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8" name="Line 53">
              <a:extLst>
                <a:ext uri="{FF2B5EF4-FFF2-40B4-BE49-F238E27FC236}">
                  <a16:creationId xmlns:a16="http://schemas.microsoft.com/office/drawing/2014/main" id="{3B070C0D-E881-43AE-9F24-22272E831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2475" y="4086219"/>
              <a:ext cx="360363" cy="358775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9" name="Line 54">
              <a:extLst>
                <a:ext uri="{FF2B5EF4-FFF2-40B4-BE49-F238E27FC236}">
                  <a16:creationId xmlns:a16="http://schemas.microsoft.com/office/drawing/2014/main" id="{FC10D98F-F1BF-4290-B2EA-E396BC0A2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713" y="4157656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C8C575A8-C3EF-468C-A21F-6AC604169575}"/>
                </a:ext>
              </a:extLst>
            </p:cNvPr>
            <p:cNvSpPr/>
            <p:nvPr/>
          </p:nvSpPr>
          <p:spPr bwMode="auto">
            <a:xfrm>
              <a:off x="4135413" y="4067169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61" name="TextBox 56">
            <a:extLst>
              <a:ext uri="{FF2B5EF4-FFF2-40B4-BE49-F238E27FC236}">
                <a16:creationId xmlns:a16="http://schemas.microsoft.com/office/drawing/2014/main" id="{A9CD9D87-9E87-4838-8329-B835158A3764}"/>
              </a:ext>
            </a:extLst>
          </p:cNvPr>
          <p:cNvSpPr txBox="1"/>
          <p:nvPr/>
        </p:nvSpPr>
        <p:spPr>
          <a:xfrm>
            <a:off x="5633387" y="3857940"/>
            <a:ext cx="30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kumimoji="1" lang="en-US" altLang="zh-CN" sz="2400" b="0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A 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</a:t>
            </a:r>
            <a:r>
              <a:rPr kumimoji="1"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孩子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有</a:t>
            </a:r>
            <a:r>
              <a:rPr kumimoji="1" lang="en-US" altLang="zh-CN" sz="2400" b="0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B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、</a:t>
            </a:r>
            <a:r>
              <a:rPr kumimoji="1" lang="en-US" altLang="zh-CN" sz="2400" b="0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C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、</a:t>
            </a:r>
            <a:r>
              <a:rPr kumimoji="1" lang="en-US" altLang="zh-CN" sz="2400" b="0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D 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;</a:t>
            </a:r>
          </a:p>
        </p:txBody>
      </p:sp>
      <p:sp>
        <p:nvSpPr>
          <p:cNvPr id="62" name="TextBox 57">
            <a:extLst>
              <a:ext uri="{FF2B5EF4-FFF2-40B4-BE49-F238E27FC236}">
                <a16:creationId xmlns:a16="http://schemas.microsoft.com/office/drawing/2014/main" id="{1F5806A8-A740-4BEB-AD0B-6F9AC2C831ED}"/>
              </a:ext>
            </a:extLst>
          </p:cNvPr>
          <p:cNvSpPr txBox="1"/>
          <p:nvPr/>
        </p:nvSpPr>
        <p:spPr>
          <a:xfrm>
            <a:off x="5633387" y="4386171"/>
            <a:ext cx="3187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kumimoji="1" lang="en-US" altLang="zh-CN" sz="2400" b="0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B、C、D 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</a:t>
            </a:r>
            <a:r>
              <a:rPr kumimoji="1"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双亲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为 </a:t>
            </a:r>
            <a:r>
              <a:rPr kumimoji="1" lang="en-US" altLang="zh-CN" sz="2400" b="0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A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;</a:t>
            </a:r>
            <a:endParaRPr kumimoji="1" lang="en-US" altLang="zh-CN" sz="2400" b="0" i="1" dirty="0"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</p:txBody>
      </p:sp>
      <p:sp>
        <p:nvSpPr>
          <p:cNvPr id="63" name="TextBox 58">
            <a:extLst>
              <a:ext uri="{FF2B5EF4-FFF2-40B4-BE49-F238E27FC236}">
                <a16:creationId xmlns:a16="http://schemas.microsoft.com/office/drawing/2014/main" id="{01739F21-0813-4CB6-9444-1421D1276AD0}"/>
              </a:ext>
            </a:extLst>
          </p:cNvPr>
          <p:cNvSpPr txBox="1"/>
          <p:nvPr/>
        </p:nvSpPr>
        <p:spPr>
          <a:xfrm>
            <a:off x="5633387" y="4914402"/>
            <a:ext cx="30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kumimoji="1" lang="en-US" altLang="zh-CN" sz="2400" b="0" i="1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B、C、D 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互为</a:t>
            </a:r>
            <a:r>
              <a:rPr kumimoji="1"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兄弟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;</a:t>
            </a:r>
            <a:endParaRPr kumimoji="1" lang="zh-CN" altLang="en-US" sz="2400" b="0" i="1" dirty="0"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</p:txBody>
      </p:sp>
      <p:sp>
        <p:nvSpPr>
          <p:cNvPr id="64" name="Text Box 35">
            <a:extLst>
              <a:ext uri="{FF2B5EF4-FFF2-40B4-BE49-F238E27FC236}">
                <a16:creationId xmlns:a16="http://schemas.microsoft.com/office/drawing/2014/main" id="{05F71215-D080-477F-88E6-92B30E029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981530"/>
            <a:ext cx="8208273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4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、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孩子结点、双亲结点</a:t>
            </a:r>
            <a:r>
              <a:rPr kumimoji="1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和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兄弟结点</a:t>
            </a:r>
          </a:p>
        </p:txBody>
      </p:sp>
    </p:spTree>
    <p:extLst>
      <p:ext uri="{BB962C8B-B14F-4D97-AF65-F5344CB8AC3E}">
        <p14:creationId xmlns:p14="http://schemas.microsoft.com/office/powerpoint/2010/main" val="1843466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633E2-E0A1-4DF1-82FD-63EC44A3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FE88F2A3-7DB0-47CD-AE25-0095342E996D}"/>
              </a:ext>
            </a:extLst>
          </p:cNvPr>
          <p:cNvSpPr txBox="1"/>
          <p:nvPr/>
        </p:nvSpPr>
        <p:spPr>
          <a:xfrm>
            <a:off x="190480" y="1547240"/>
            <a:ext cx="8763040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一个结点的所有子树中的结点，称为该结点的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子孙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endParaRPr kumimoji="1" lang="en-US" altLang="zh-CN" b="0" dirty="0">
              <a:solidFill>
                <a:srgbClr val="333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从根结点到一个结点的路径上的所有结点，称作该结点的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祖先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 　</a:t>
            </a:r>
            <a:endParaRPr kumimoji="1" lang="zh-CN" altLang="en-US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</p:txBody>
      </p:sp>
      <p:sp>
        <p:nvSpPr>
          <p:cNvPr id="35" name="TextBox 57">
            <a:extLst>
              <a:ext uri="{FF2B5EF4-FFF2-40B4-BE49-F238E27FC236}">
                <a16:creationId xmlns:a16="http://schemas.microsoft.com/office/drawing/2014/main" id="{37A05023-4DA9-4241-9322-5634AB617F2C}"/>
              </a:ext>
            </a:extLst>
          </p:cNvPr>
          <p:cNvSpPr txBox="1"/>
          <p:nvPr/>
        </p:nvSpPr>
        <p:spPr>
          <a:xfrm>
            <a:off x="5756892" y="3580105"/>
            <a:ext cx="3381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所有结点都是 </a:t>
            </a:r>
            <a:r>
              <a:rPr kumimoji="1"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A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</a:t>
            </a:r>
            <a:r>
              <a:rPr kumimoji="1"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子孙</a:t>
            </a:r>
            <a:endParaRPr kumimoji="1"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</p:txBody>
      </p:sp>
      <p:sp>
        <p:nvSpPr>
          <p:cNvPr id="36" name="TextBox 58">
            <a:extLst>
              <a:ext uri="{FF2B5EF4-FFF2-40B4-BE49-F238E27FC236}">
                <a16:creationId xmlns:a16="http://schemas.microsoft.com/office/drawing/2014/main" id="{F1924934-5DB5-4140-A45F-F15DA83B4B03}"/>
              </a:ext>
            </a:extLst>
          </p:cNvPr>
          <p:cNvSpPr txBox="1"/>
          <p:nvPr/>
        </p:nvSpPr>
        <p:spPr>
          <a:xfrm>
            <a:off x="6156176" y="5184128"/>
            <a:ext cx="298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kumimoji="1"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L 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的</a:t>
            </a:r>
            <a:r>
              <a:rPr kumimoji="1"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祖先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为 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A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、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D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、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I</a:t>
            </a:r>
          </a:p>
        </p:txBody>
      </p:sp>
      <p:grpSp>
        <p:nvGrpSpPr>
          <p:cNvPr id="37" name="组合 59">
            <a:extLst>
              <a:ext uri="{FF2B5EF4-FFF2-40B4-BE49-F238E27FC236}">
                <a16:creationId xmlns:a16="http://schemas.microsoft.com/office/drawing/2014/main" id="{46507448-CCA9-4B4C-B8EA-6EE98A580D02}"/>
              </a:ext>
            </a:extLst>
          </p:cNvPr>
          <p:cNvGrpSpPr/>
          <p:nvPr/>
        </p:nvGrpSpPr>
        <p:grpSpPr>
          <a:xfrm>
            <a:off x="1960244" y="3338195"/>
            <a:ext cx="4339947" cy="2827248"/>
            <a:chOff x="1692275" y="2276475"/>
            <a:chExt cx="3816350" cy="2305050"/>
          </a:xfrm>
        </p:grpSpPr>
        <p:sp>
          <p:nvSpPr>
            <p:cNvPr id="38" name="Freeform 47">
              <a:extLst>
                <a:ext uri="{FF2B5EF4-FFF2-40B4-BE49-F238E27FC236}">
                  <a16:creationId xmlns:a16="http://schemas.microsoft.com/office/drawing/2014/main" id="{334D286C-CB28-44D7-8658-77261D4F1EBF}"/>
                </a:ext>
              </a:extLst>
            </p:cNvPr>
            <p:cNvSpPr/>
            <p:nvPr/>
          </p:nvSpPr>
          <p:spPr bwMode="auto">
            <a:xfrm>
              <a:off x="1931988" y="3286124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Freeform 48">
              <a:extLst>
                <a:ext uri="{FF2B5EF4-FFF2-40B4-BE49-F238E27FC236}">
                  <a16:creationId xmlns:a16="http://schemas.microsoft.com/office/drawing/2014/main" id="{66473C2F-5C40-4849-9B35-9F9FD87B4BB1}"/>
                </a:ext>
              </a:extLst>
            </p:cNvPr>
            <p:cNvSpPr/>
            <p:nvPr/>
          </p:nvSpPr>
          <p:spPr bwMode="auto">
            <a:xfrm>
              <a:off x="2357422" y="3248024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Oval 31">
              <a:extLst>
                <a:ext uri="{FF2B5EF4-FFF2-40B4-BE49-F238E27FC236}">
                  <a16:creationId xmlns:a16="http://schemas.microsoft.com/office/drawing/2014/main" id="{5FC2FBE0-BDFD-4303-A03B-BC2EC0EA3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276475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1" name="Oval 32">
              <a:extLst>
                <a:ext uri="{FF2B5EF4-FFF2-40B4-BE49-F238E27FC236}">
                  <a16:creationId xmlns:a16="http://schemas.microsoft.com/office/drawing/2014/main" id="{FB3CF8FE-247F-4413-B19F-FA86AABA9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638" y="2925763"/>
              <a:ext cx="360362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2" name="Oval 33">
              <a:extLst>
                <a:ext uri="{FF2B5EF4-FFF2-40B4-BE49-F238E27FC236}">
                  <a16:creationId xmlns:a16="http://schemas.microsoft.com/office/drawing/2014/main" id="{73CE842A-69A9-44C6-921C-29FB7E510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2925763"/>
              <a:ext cx="360363" cy="36036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3" name="Oval 34">
              <a:extLst>
                <a:ext uri="{FF2B5EF4-FFF2-40B4-BE49-F238E27FC236}">
                  <a16:creationId xmlns:a16="http://schemas.microsoft.com/office/drawing/2014/main" id="{8AD21AEC-D240-47F5-A4B0-AEBA92834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29257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44" name="Oval 35">
              <a:extLst>
                <a:ext uri="{FF2B5EF4-FFF2-40B4-BE49-F238E27FC236}">
                  <a16:creationId xmlns:a16="http://schemas.microsoft.com/office/drawing/2014/main" id="{7CCEB09C-2E3F-42DB-9DF3-30FDE93AB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5" name="Oval 36">
              <a:extLst>
                <a:ext uri="{FF2B5EF4-FFF2-40B4-BE49-F238E27FC236}">
                  <a16:creationId xmlns:a16="http://schemas.microsoft.com/office/drawing/2014/main" id="{A070508A-DE71-483B-A831-E5C0FFA16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46" name="Oval 37">
              <a:extLst>
                <a:ext uri="{FF2B5EF4-FFF2-40B4-BE49-F238E27FC236}">
                  <a16:creationId xmlns:a16="http://schemas.microsoft.com/office/drawing/2014/main" id="{A8CCB561-EC29-4CA9-9F96-F31CB948C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47" name="Oval 38">
              <a:extLst>
                <a:ext uri="{FF2B5EF4-FFF2-40B4-BE49-F238E27FC236}">
                  <a16:creationId xmlns:a16="http://schemas.microsoft.com/office/drawing/2014/main" id="{A15C3243-A365-41E7-9998-051994FFC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48" name="Oval 39">
              <a:extLst>
                <a:ext uri="{FF2B5EF4-FFF2-40B4-BE49-F238E27FC236}">
                  <a16:creationId xmlns:a16="http://schemas.microsoft.com/office/drawing/2014/main" id="{7086A545-6AAD-41FE-BE14-4B3B5383A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35734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49" name="Oval 40">
              <a:extLst>
                <a:ext uri="{FF2B5EF4-FFF2-40B4-BE49-F238E27FC236}">
                  <a16:creationId xmlns:a16="http://schemas.microsoft.com/office/drawing/2014/main" id="{6265B430-FF40-4822-9485-1A6643D10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35734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50" name="Oval 41">
              <a:extLst>
                <a:ext uri="{FF2B5EF4-FFF2-40B4-BE49-F238E27FC236}">
                  <a16:creationId xmlns:a16="http://schemas.microsoft.com/office/drawing/2014/main" id="{70DA4652-0E8C-4EA5-92DC-8474E66F2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51" name="Oval 42">
              <a:extLst>
                <a:ext uri="{FF2B5EF4-FFF2-40B4-BE49-F238E27FC236}">
                  <a16:creationId xmlns:a16="http://schemas.microsoft.com/office/drawing/2014/main" id="{0BE0922B-9D83-464B-B7A7-8AF5E29A0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325" y="4221163"/>
              <a:ext cx="360363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52" name="Oval 43">
              <a:extLst>
                <a:ext uri="{FF2B5EF4-FFF2-40B4-BE49-F238E27FC236}">
                  <a16:creationId xmlns:a16="http://schemas.microsoft.com/office/drawing/2014/main" id="{7902E6B7-BEF8-4E75-A54F-B75063A88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63" y="4221163"/>
              <a:ext cx="360362" cy="360362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53" name="Line 44">
              <a:extLst>
                <a:ext uri="{FF2B5EF4-FFF2-40B4-BE49-F238E27FC236}">
                  <a16:creationId xmlns:a16="http://schemas.microsoft.com/office/drawing/2014/main" id="{E7116BFB-95EE-42E0-9C98-0A54FA104B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6655" y="2493963"/>
              <a:ext cx="654044" cy="515926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4" name="Line 45">
              <a:extLst>
                <a:ext uri="{FF2B5EF4-FFF2-40B4-BE49-F238E27FC236}">
                  <a16:creationId xmlns:a16="http://schemas.microsoft.com/office/drawing/2014/main" id="{204549B7-CA96-4FBF-AFDD-6803A0054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00" y="2636838"/>
              <a:ext cx="0" cy="288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5" name="Line 46">
              <a:extLst>
                <a:ext uri="{FF2B5EF4-FFF2-40B4-BE49-F238E27FC236}">
                  <a16:creationId xmlns:a16="http://schemas.microsoft.com/office/drawing/2014/main" id="{52D7635B-8758-49C1-B32A-3D9F91E36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588" y="2522538"/>
              <a:ext cx="64770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6" name="Line 49">
              <a:extLst>
                <a:ext uri="{FF2B5EF4-FFF2-40B4-BE49-F238E27FC236}">
                  <a16:creationId xmlns:a16="http://schemas.microsoft.com/office/drawing/2014/main" id="{7F585C35-EF96-4F36-8BEA-82BBE8E77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319463"/>
              <a:ext cx="0" cy="252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7" name="Line 50">
              <a:extLst>
                <a:ext uri="{FF2B5EF4-FFF2-40B4-BE49-F238E27FC236}">
                  <a16:creationId xmlns:a16="http://schemas.microsoft.com/office/drawing/2014/main" id="{62158D01-A39E-499C-B8B3-1D1A562F7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F495C9A2-0064-4E52-A483-5882F5516951}"/>
                </a:ext>
              </a:extLst>
            </p:cNvPr>
            <p:cNvSpPr/>
            <p:nvPr/>
          </p:nvSpPr>
          <p:spPr bwMode="auto">
            <a:xfrm>
              <a:off x="3940175" y="3271838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736EA86C-E67C-4FAD-B136-ACA5D0AB751D}"/>
                </a:ext>
              </a:extLst>
            </p:cNvPr>
            <p:cNvSpPr/>
            <p:nvPr/>
          </p:nvSpPr>
          <p:spPr bwMode="auto">
            <a:xfrm>
              <a:off x="4379913" y="3243263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0" name="Line 53">
              <a:extLst>
                <a:ext uri="{FF2B5EF4-FFF2-40B4-BE49-F238E27FC236}">
                  <a16:creationId xmlns:a16="http://schemas.microsoft.com/office/drawing/2014/main" id="{E9EC0B73-E7DF-4BC2-94BB-2B115E7AC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4650" y="3862388"/>
              <a:ext cx="360363" cy="358775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1" name="Line 54">
              <a:extLst>
                <a:ext uri="{FF2B5EF4-FFF2-40B4-BE49-F238E27FC236}">
                  <a16:creationId xmlns:a16="http://schemas.microsoft.com/office/drawing/2014/main" id="{D03603F9-9C1E-48BA-B028-1BD6B1A1C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7888" y="3933825"/>
              <a:ext cx="0" cy="2873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0FC82174-A149-4D3F-B20A-C6A0A9C9DDEA}"/>
                </a:ext>
              </a:extLst>
            </p:cNvPr>
            <p:cNvSpPr/>
            <p:nvPr/>
          </p:nvSpPr>
          <p:spPr bwMode="auto">
            <a:xfrm>
              <a:off x="4827588" y="3843338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63" name="Text Box 35">
            <a:extLst>
              <a:ext uri="{FF2B5EF4-FFF2-40B4-BE49-F238E27FC236}">
                <a16:creationId xmlns:a16="http://schemas.microsoft.com/office/drawing/2014/main" id="{19DF7FE3-EE8F-4A3D-9381-A656C8DC7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480" y="940471"/>
            <a:ext cx="8120752" cy="5422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5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、</a:t>
            </a:r>
            <a:r>
              <a:rPr kumimoj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子孙结点</a:t>
            </a:r>
            <a:r>
              <a:rPr kumimoji="1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和</a:t>
            </a:r>
            <a:r>
              <a:rPr kumimoj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祖先结点</a:t>
            </a:r>
            <a:endParaRPr kumimoji="1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Bold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704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B0D26-5ED7-4C77-9843-98621ABA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47" name="Text Box 2">
            <a:extLst>
              <a:ext uri="{FF2B5EF4-FFF2-40B4-BE49-F238E27FC236}">
                <a16:creationId xmlns:a16="http://schemas.microsoft.com/office/drawing/2014/main" id="{4978B330-A6F5-4062-A55B-D0F70626D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07" y="1448755"/>
            <a:ext cx="4924189" cy="50130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结点的层次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又称</a:t>
            </a:r>
            <a:r>
              <a:rPr kumimoji="1"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结点的深度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：根结点为第</a:t>
            </a:r>
            <a:r>
              <a:rPr kumimoji="1" lang="en-US" altLang="zh-CN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1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层，</a:t>
            </a:r>
            <a:r>
              <a:rPr kumimoji="1"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一个结点的层次等于其双亲结点的层次加</a:t>
            </a:r>
            <a:r>
              <a:rPr kumimoji="1"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1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  <a:endParaRPr kumimoji="1" lang="en-US" altLang="zh-CN" sz="2400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结点的高度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：叶结点的高度为</a:t>
            </a:r>
            <a:r>
              <a:rPr kumimoji="1" lang="en-US" altLang="zh-CN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1, </a:t>
            </a:r>
            <a:r>
              <a:rPr kumimoji="1"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中间结点的高度等于其所有子女结点的最大高度加</a:t>
            </a:r>
            <a:r>
              <a:rPr kumimoji="1"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1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树的深度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是离根最远的叶结点的深度，</a:t>
            </a:r>
            <a:r>
              <a:rPr kumimoji="1"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树的高度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是根结点的高度。两者相等。</a:t>
            </a:r>
          </a:p>
        </p:txBody>
      </p:sp>
      <p:sp>
        <p:nvSpPr>
          <p:cNvPr id="90" name="Text Box 35">
            <a:extLst>
              <a:ext uri="{FF2B5EF4-FFF2-40B4-BE49-F238E27FC236}">
                <a16:creationId xmlns:a16="http://schemas.microsoft.com/office/drawing/2014/main" id="{B289EC15-9D6D-4E65-8445-4EC5E6FCF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78" y="868605"/>
            <a:ext cx="8226747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6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、</a:t>
            </a:r>
            <a:r>
              <a:rPr kumimoj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结点的层次</a:t>
            </a:r>
            <a:r>
              <a:rPr kumimoji="1" b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和</a:t>
            </a:r>
            <a:r>
              <a:rPr kumimoj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树的高度</a:t>
            </a:r>
            <a:endParaRPr kumimoji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Bold" panose="020B0800000000000000" charset="-122"/>
            </a:endParaRPr>
          </a:p>
        </p:txBody>
      </p:sp>
      <p:sp>
        <p:nvSpPr>
          <p:cNvPr id="91" name="Line 5">
            <a:extLst>
              <a:ext uri="{FF2B5EF4-FFF2-40B4-BE49-F238E27FC236}">
                <a16:creationId xmlns:a16="http://schemas.microsoft.com/office/drawing/2014/main" id="{8BEC43A6-5799-4001-80BC-197E695B3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7717" y="2367734"/>
            <a:ext cx="1160463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6">
            <a:extLst>
              <a:ext uri="{FF2B5EF4-FFF2-40B4-BE49-F238E27FC236}">
                <a16:creationId xmlns:a16="http://schemas.microsoft.com/office/drawing/2014/main" id="{8D90BEEB-6BE7-4ED0-85A2-9F909BD59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4217" y="3765426"/>
            <a:ext cx="11430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Line 7">
            <a:extLst>
              <a:ext uri="{FF2B5EF4-FFF2-40B4-BE49-F238E27FC236}">
                <a16:creationId xmlns:a16="http://schemas.microsoft.com/office/drawing/2014/main" id="{2CF03D25-6E91-4E39-850C-DA38F2299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6855" y="5805264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Line 8">
            <a:extLst>
              <a:ext uri="{FF2B5EF4-FFF2-40B4-BE49-F238E27FC236}">
                <a16:creationId xmlns:a16="http://schemas.microsoft.com/office/drawing/2014/main" id="{2A1DB572-DF89-4B1E-8D20-1DD3331566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3180" y="3788226"/>
            <a:ext cx="10255" cy="195684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Line 9">
            <a:extLst>
              <a:ext uri="{FF2B5EF4-FFF2-40B4-BE49-F238E27FC236}">
                <a16:creationId xmlns:a16="http://schemas.microsoft.com/office/drawing/2014/main" id="{A5DB8A71-6A1B-4E79-B430-E3338C4A9D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1930" y="3765426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6" name="Group 10">
            <a:extLst>
              <a:ext uri="{FF2B5EF4-FFF2-40B4-BE49-F238E27FC236}">
                <a16:creationId xmlns:a16="http://schemas.microsoft.com/office/drawing/2014/main" id="{80CDFFB4-25FE-4A3D-AD49-9DE15F99D41B}"/>
              </a:ext>
            </a:extLst>
          </p:cNvPr>
          <p:cNvGrpSpPr>
            <a:grpSpLocks/>
          </p:cNvGrpSpPr>
          <p:nvPr/>
        </p:nvGrpSpPr>
        <p:grpSpPr bwMode="auto">
          <a:xfrm>
            <a:off x="6275296" y="2060849"/>
            <a:ext cx="2793294" cy="4020148"/>
            <a:chOff x="2561" y="1196"/>
            <a:chExt cx="1362" cy="2190"/>
          </a:xfrm>
        </p:grpSpPr>
        <p:sp>
          <p:nvSpPr>
            <p:cNvPr id="97" name="Line 11">
              <a:extLst>
                <a:ext uri="{FF2B5EF4-FFF2-40B4-BE49-F238E27FC236}">
                  <a16:creationId xmlns:a16="http://schemas.microsoft.com/office/drawing/2014/main" id="{27226611-D8EE-48B6-A6C2-1D7A1C49C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2205"/>
              <a:ext cx="114" cy="227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12">
              <a:extLst>
                <a:ext uri="{FF2B5EF4-FFF2-40B4-BE49-F238E27FC236}">
                  <a16:creationId xmlns:a16="http://schemas.microsoft.com/office/drawing/2014/main" id="{12FD1A5B-6CDA-4B5E-9D43-666926FDE4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6" y="2137"/>
              <a:ext cx="158" cy="318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13">
              <a:extLst>
                <a:ext uri="{FF2B5EF4-FFF2-40B4-BE49-F238E27FC236}">
                  <a16:creationId xmlns:a16="http://schemas.microsoft.com/office/drawing/2014/main" id="{76C12B6F-F105-4EF1-985F-368ABBCA4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2523"/>
              <a:ext cx="45" cy="658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14">
              <a:extLst>
                <a:ext uri="{FF2B5EF4-FFF2-40B4-BE49-F238E27FC236}">
                  <a16:creationId xmlns:a16="http://schemas.microsoft.com/office/drawing/2014/main" id="{5F919236-4D2C-44AE-AD50-15A1746C1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7" y="1774"/>
              <a:ext cx="272" cy="295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15">
              <a:extLst>
                <a:ext uri="{FF2B5EF4-FFF2-40B4-BE49-F238E27FC236}">
                  <a16:creationId xmlns:a16="http://schemas.microsoft.com/office/drawing/2014/main" id="{712A029A-EDB2-4DDA-8EAF-F4FDAC50B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4" y="1412"/>
              <a:ext cx="332" cy="247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16">
              <a:extLst>
                <a:ext uri="{FF2B5EF4-FFF2-40B4-BE49-F238E27FC236}">
                  <a16:creationId xmlns:a16="http://schemas.microsoft.com/office/drawing/2014/main" id="{966F180C-573D-4DDB-B5EA-E44718AAA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1" y="1457"/>
              <a:ext cx="327" cy="204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17">
              <a:extLst>
                <a:ext uri="{FF2B5EF4-FFF2-40B4-BE49-F238E27FC236}">
                  <a16:creationId xmlns:a16="http://schemas.microsoft.com/office/drawing/2014/main" id="{A54C79B7-EC8A-4A1F-AE97-73B34A3BC2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7" y="1752"/>
              <a:ext cx="0" cy="363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18">
              <a:extLst>
                <a:ext uri="{FF2B5EF4-FFF2-40B4-BE49-F238E27FC236}">
                  <a16:creationId xmlns:a16="http://schemas.microsoft.com/office/drawing/2014/main" id="{5376807C-E7F2-4764-A52A-B6B6B2A2A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1820"/>
              <a:ext cx="227" cy="227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19">
              <a:extLst>
                <a:ext uri="{FF2B5EF4-FFF2-40B4-BE49-F238E27FC236}">
                  <a16:creationId xmlns:a16="http://schemas.microsoft.com/office/drawing/2014/main" id="{7E8D0FBA-773D-4D8B-A012-400D705B2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2908"/>
              <a:ext cx="272" cy="273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20">
              <a:extLst>
                <a:ext uri="{FF2B5EF4-FFF2-40B4-BE49-F238E27FC236}">
                  <a16:creationId xmlns:a16="http://schemas.microsoft.com/office/drawing/2014/main" id="{D99ADD32-8D86-4C1D-8DE4-2F7264FD8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2954"/>
              <a:ext cx="183" cy="249"/>
            </a:xfrm>
            <a:prstGeom prst="line">
              <a:avLst/>
            </a:prstGeom>
            <a:noFill/>
            <a:ln w="222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7" name="Group 21">
              <a:extLst>
                <a:ext uri="{FF2B5EF4-FFF2-40B4-BE49-F238E27FC236}">
                  <a16:creationId xmlns:a16="http://schemas.microsoft.com/office/drawing/2014/main" id="{3CD80343-7635-4334-9E14-F000298061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1" y="1196"/>
              <a:ext cx="280" cy="330"/>
              <a:chOff x="3531" y="1514"/>
              <a:chExt cx="280" cy="330"/>
            </a:xfrm>
          </p:grpSpPr>
          <p:sp>
            <p:nvSpPr>
              <p:cNvPr id="141" name="Oval 22">
                <a:extLst>
                  <a:ext uri="{FF2B5EF4-FFF2-40B4-BE49-F238E27FC236}">
                    <a16:creationId xmlns:a16="http://schemas.microsoft.com/office/drawing/2014/main" id="{FDCF6122-90EC-4A6E-93D3-768C3009B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" y="1570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Text Box 23">
                <a:extLst>
                  <a:ext uri="{FF2B5EF4-FFF2-40B4-BE49-F238E27FC236}">
                    <a16:creationId xmlns:a16="http://schemas.microsoft.com/office/drawing/2014/main" id="{A9EA972C-6C76-4E3E-B427-A9BD16E20E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1" y="1514"/>
                <a:ext cx="28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A</a:t>
                </a:r>
                <a:endParaRPr kumimoji="1"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8" name="Group 24">
              <a:extLst>
                <a:ext uri="{FF2B5EF4-FFF2-40B4-BE49-F238E27FC236}">
                  <a16:creationId xmlns:a16="http://schemas.microsoft.com/office/drawing/2014/main" id="{E8AAC2F2-7153-455C-8FF9-DA0C0EF91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1" y="1537"/>
              <a:ext cx="273" cy="330"/>
              <a:chOff x="4104" y="1582"/>
              <a:chExt cx="273" cy="330"/>
            </a:xfrm>
          </p:grpSpPr>
          <p:sp>
            <p:nvSpPr>
              <p:cNvPr id="139" name="Oval 25">
                <a:extLst>
                  <a:ext uri="{FF2B5EF4-FFF2-40B4-BE49-F238E27FC236}">
                    <a16:creationId xmlns:a16="http://schemas.microsoft.com/office/drawing/2014/main" id="{7F113484-E443-4126-88A6-AE6570597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5" y="1615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Text Box 26">
                <a:extLst>
                  <a:ext uri="{FF2B5EF4-FFF2-40B4-BE49-F238E27FC236}">
                    <a16:creationId xmlns:a16="http://schemas.microsoft.com/office/drawing/2014/main" id="{188D32A1-76D3-45CB-98AE-3F1774151A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4" y="1582"/>
                <a:ext cx="267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B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9" name="Group 27">
              <a:extLst>
                <a:ext uri="{FF2B5EF4-FFF2-40B4-BE49-F238E27FC236}">
                  <a16:creationId xmlns:a16="http://schemas.microsoft.com/office/drawing/2014/main" id="{DB3B380A-2AC2-4DC6-9DB3-CF6B6DEEBF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0" y="1559"/>
              <a:ext cx="280" cy="330"/>
              <a:chOff x="4671" y="1582"/>
              <a:chExt cx="280" cy="330"/>
            </a:xfrm>
          </p:grpSpPr>
          <p:sp>
            <p:nvSpPr>
              <p:cNvPr id="137" name="Oval 28">
                <a:extLst>
                  <a:ext uri="{FF2B5EF4-FFF2-40B4-BE49-F238E27FC236}">
                    <a16:creationId xmlns:a16="http://schemas.microsoft.com/office/drawing/2014/main" id="{D4C4AE9A-FE26-452D-A765-F3303F62D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2" y="1615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Text Box 29">
                <a:extLst>
                  <a:ext uri="{FF2B5EF4-FFF2-40B4-BE49-F238E27FC236}">
                    <a16:creationId xmlns:a16="http://schemas.microsoft.com/office/drawing/2014/main" id="{D2F3C9DE-9885-4B17-88D4-1B42F5026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1" y="1582"/>
                <a:ext cx="28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C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0" name="Group 30">
              <a:extLst>
                <a:ext uri="{FF2B5EF4-FFF2-40B4-BE49-F238E27FC236}">
                  <a16:creationId xmlns:a16="http://schemas.microsoft.com/office/drawing/2014/main" id="{8FDF27EE-37DD-4C4E-AC1E-7406661CB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7" y="1922"/>
              <a:ext cx="280" cy="330"/>
              <a:chOff x="2947" y="1922"/>
              <a:chExt cx="280" cy="330"/>
            </a:xfrm>
          </p:grpSpPr>
          <p:sp>
            <p:nvSpPr>
              <p:cNvPr id="135" name="Oval 31">
                <a:extLst>
                  <a:ext uri="{FF2B5EF4-FFF2-40B4-BE49-F238E27FC236}">
                    <a16:creationId xmlns:a16="http://schemas.microsoft.com/office/drawing/2014/main" id="{5DA7D829-400B-40C9-AF27-38E2CE7AD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8" y="1956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" name="Text Box 32">
                <a:extLst>
                  <a:ext uri="{FF2B5EF4-FFF2-40B4-BE49-F238E27FC236}">
                    <a16:creationId xmlns:a16="http://schemas.microsoft.com/office/drawing/2014/main" id="{66D831E3-47CD-4131-B8DF-6A3370166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7" y="1922"/>
                <a:ext cx="28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D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1" name="Group 33">
              <a:extLst>
                <a:ext uri="{FF2B5EF4-FFF2-40B4-BE49-F238E27FC236}">
                  <a16:creationId xmlns:a16="http://schemas.microsoft.com/office/drawing/2014/main" id="{33F0AA51-BA79-4605-A5EA-749049C9C6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0" y="1922"/>
              <a:ext cx="273" cy="330"/>
              <a:chOff x="3514" y="1922"/>
              <a:chExt cx="273" cy="330"/>
            </a:xfrm>
          </p:grpSpPr>
          <p:sp>
            <p:nvSpPr>
              <p:cNvPr id="133" name="Oval 34">
                <a:extLst>
                  <a:ext uri="{FF2B5EF4-FFF2-40B4-BE49-F238E27FC236}">
                    <a16:creationId xmlns:a16="http://schemas.microsoft.com/office/drawing/2014/main" id="{B304DFED-D6FB-4ED2-9C7B-BDB56B872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5" y="1956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Text Box 35">
                <a:extLst>
                  <a:ext uri="{FF2B5EF4-FFF2-40B4-BE49-F238E27FC236}">
                    <a16:creationId xmlns:a16="http://schemas.microsoft.com/office/drawing/2014/main" id="{BF79A8AF-32D4-4A5B-84AB-A6EA40858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4" y="1922"/>
                <a:ext cx="267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E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" name="Group 36">
              <a:extLst>
                <a:ext uri="{FF2B5EF4-FFF2-40B4-BE49-F238E27FC236}">
                  <a16:creationId xmlns:a16="http://schemas.microsoft.com/office/drawing/2014/main" id="{32DB78EE-A535-48A4-82C4-4D491640DD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922"/>
              <a:ext cx="272" cy="330"/>
              <a:chOff x="3311" y="2330"/>
              <a:chExt cx="272" cy="330"/>
            </a:xfrm>
          </p:grpSpPr>
          <p:sp>
            <p:nvSpPr>
              <p:cNvPr id="131" name="Oval 37">
                <a:extLst>
                  <a:ext uri="{FF2B5EF4-FFF2-40B4-BE49-F238E27FC236}">
                    <a16:creationId xmlns:a16="http://schemas.microsoft.com/office/drawing/2014/main" id="{401E5AE9-B92A-46DF-B36A-526CA558D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" y="2364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Text Box 38">
                <a:extLst>
                  <a:ext uri="{FF2B5EF4-FFF2-40B4-BE49-F238E27FC236}">
                    <a16:creationId xmlns:a16="http://schemas.microsoft.com/office/drawing/2014/main" id="{B8A24833-CEDF-4EDD-A199-5BD61FF957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1" y="2330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F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3" name="Group 39">
              <a:extLst>
                <a:ext uri="{FF2B5EF4-FFF2-40B4-BE49-F238E27FC236}">
                  <a16:creationId xmlns:a16="http://schemas.microsoft.com/office/drawing/2014/main" id="{E8EAD9C5-3A47-4B07-88CD-52ECD0598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2" y="2295"/>
              <a:ext cx="292" cy="330"/>
              <a:chOff x="3293" y="2330"/>
              <a:chExt cx="292" cy="330"/>
            </a:xfrm>
          </p:grpSpPr>
          <p:sp>
            <p:nvSpPr>
              <p:cNvPr id="129" name="Oval 40">
                <a:extLst>
                  <a:ext uri="{FF2B5EF4-FFF2-40B4-BE49-F238E27FC236}">
                    <a16:creationId xmlns:a16="http://schemas.microsoft.com/office/drawing/2014/main" id="{D8C97FB2-1304-413C-888C-A5095924C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" y="2364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Text Box 41">
                <a:extLst>
                  <a:ext uri="{FF2B5EF4-FFF2-40B4-BE49-F238E27FC236}">
                    <a16:creationId xmlns:a16="http://schemas.microsoft.com/office/drawing/2014/main" id="{0B24FD79-586F-4439-B6C8-008553B244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3" y="2330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G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4" name="Group 42">
              <a:extLst>
                <a:ext uri="{FF2B5EF4-FFF2-40B4-BE49-F238E27FC236}">
                  <a16:creationId xmlns:a16="http://schemas.microsoft.com/office/drawing/2014/main" id="{5F6F0717-4F58-4152-B084-7D51234DFF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5" y="2285"/>
              <a:ext cx="292" cy="330"/>
              <a:chOff x="3293" y="2330"/>
              <a:chExt cx="292" cy="330"/>
            </a:xfrm>
          </p:grpSpPr>
          <p:sp>
            <p:nvSpPr>
              <p:cNvPr id="127" name="Oval 43">
                <a:extLst>
                  <a:ext uri="{FF2B5EF4-FFF2-40B4-BE49-F238E27FC236}">
                    <a16:creationId xmlns:a16="http://schemas.microsoft.com/office/drawing/2014/main" id="{D646D0BD-600C-4959-A029-0011A0345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" y="2364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Text Box 44">
                <a:extLst>
                  <a:ext uri="{FF2B5EF4-FFF2-40B4-BE49-F238E27FC236}">
                    <a16:creationId xmlns:a16="http://schemas.microsoft.com/office/drawing/2014/main" id="{DBB6EE9C-FD13-48C2-BA9B-917714C64C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3" y="2330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H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5" name="Group 45">
              <a:extLst>
                <a:ext uri="{FF2B5EF4-FFF2-40B4-BE49-F238E27FC236}">
                  <a16:creationId xmlns:a16="http://schemas.microsoft.com/office/drawing/2014/main" id="{73823E05-4F6A-4249-8EB9-2184B0B2AC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2" y="2703"/>
              <a:ext cx="272" cy="330"/>
              <a:chOff x="4694" y="3192"/>
              <a:chExt cx="272" cy="330"/>
            </a:xfrm>
          </p:grpSpPr>
          <p:sp>
            <p:nvSpPr>
              <p:cNvPr id="125" name="Oval 46">
                <a:extLst>
                  <a:ext uri="{FF2B5EF4-FFF2-40B4-BE49-F238E27FC236}">
                    <a16:creationId xmlns:a16="http://schemas.microsoft.com/office/drawing/2014/main" id="{B3485CC2-A1DE-4089-96D5-04B5EE799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" y="3226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Text Box 47">
                <a:extLst>
                  <a:ext uri="{FF2B5EF4-FFF2-40B4-BE49-F238E27FC236}">
                    <a16:creationId xmlns:a16="http://schemas.microsoft.com/office/drawing/2014/main" id="{69D46BB0-6004-4289-B2AC-04259B5959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36" y="3192"/>
                <a:ext cx="204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6" name="Group 48">
              <a:extLst>
                <a:ext uri="{FF2B5EF4-FFF2-40B4-BE49-F238E27FC236}">
                  <a16:creationId xmlns:a16="http://schemas.microsoft.com/office/drawing/2014/main" id="{1820D611-08FB-4EB0-885F-A54006ED4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3" y="3056"/>
              <a:ext cx="278" cy="330"/>
              <a:chOff x="3305" y="2330"/>
              <a:chExt cx="278" cy="330"/>
            </a:xfrm>
          </p:grpSpPr>
          <p:sp>
            <p:nvSpPr>
              <p:cNvPr id="123" name="Oval 49">
                <a:extLst>
                  <a:ext uri="{FF2B5EF4-FFF2-40B4-BE49-F238E27FC236}">
                    <a16:creationId xmlns:a16="http://schemas.microsoft.com/office/drawing/2014/main" id="{D7773716-B227-404E-9ACB-15F46A48B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" y="2364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Text Box 50">
                <a:extLst>
                  <a:ext uri="{FF2B5EF4-FFF2-40B4-BE49-F238E27FC236}">
                    <a16:creationId xmlns:a16="http://schemas.microsoft.com/office/drawing/2014/main" id="{3308A089-0076-401F-904D-9DAE36C315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5" y="2330"/>
                <a:ext cx="267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L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7" name="Group 51">
              <a:extLst>
                <a:ext uri="{FF2B5EF4-FFF2-40B4-BE49-F238E27FC236}">
                  <a16:creationId xmlns:a16="http://schemas.microsoft.com/office/drawing/2014/main" id="{D86D21CF-A411-4485-B5D7-E420C1333E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5" y="3056"/>
              <a:ext cx="292" cy="330"/>
              <a:chOff x="3293" y="2330"/>
              <a:chExt cx="292" cy="330"/>
            </a:xfrm>
          </p:grpSpPr>
          <p:sp>
            <p:nvSpPr>
              <p:cNvPr id="121" name="Oval 52">
                <a:extLst>
                  <a:ext uri="{FF2B5EF4-FFF2-40B4-BE49-F238E27FC236}">
                    <a16:creationId xmlns:a16="http://schemas.microsoft.com/office/drawing/2014/main" id="{1EBEB5C5-4EEB-48FE-A367-F745F2A0E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" y="2364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Text Box 53">
                <a:extLst>
                  <a:ext uri="{FF2B5EF4-FFF2-40B4-BE49-F238E27FC236}">
                    <a16:creationId xmlns:a16="http://schemas.microsoft.com/office/drawing/2014/main" id="{F9CD8B0F-A93E-4DA1-B788-CAEBF0CBC4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3" y="2330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K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8" name="Group 54">
              <a:extLst>
                <a:ext uri="{FF2B5EF4-FFF2-40B4-BE49-F238E27FC236}">
                  <a16:creationId xmlns:a16="http://schemas.microsoft.com/office/drawing/2014/main" id="{15A8E542-FAB0-4F98-8BBC-0DBB71C423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7" y="3056"/>
              <a:ext cx="272" cy="330"/>
              <a:chOff x="3311" y="2330"/>
              <a:chExt cx="272" cy="330"/>
            </a:xfrm>
          </p:grpSpPr>
          <p:sp>
            <p:nvSpPr>
              <p:cNvPr id="119" name="Oval 55">
                <a:extLst>
                  <a:ext uri="{FF2B5EF4-FFF2-40B4-BE49-F238E27FC236}">
                    <a16:creationId xmlns:a16="http://schemas.microsoft.com/office/drawing/2014/main" id="{93D8DBE6-945A-445B-8CBD-29E01D4D7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" y="2364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Text Box 56">
                <a:extLst>
                  <a:ext uri="{FF2B5EF4-FFF2-40B4-BE49-F238E27FC236}">
                    <a16:creationId xmlns:a16="http://schemas.microsoft.com/office/drawing/2014/main" id="{074C5BE7-B707-4C41-8FFE-391E85E294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3" y="2330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J</a:t>
                </a:r>
                <a:endParaRPr kumimoji="1" lang="en-US" altLang="zh-CN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3" name="Text Box 57">
            <a:extLst>
              <a:ext uri="{FF2B5EF4-FFF2-40B4-BE49-F238E27FC236}">
                <a16:creationId xmlns:a16="http://schemas.microsoft.com/office/drawing/2014/main" id="{CC7A47A1-F5C4-43C2-94C0-4CE536977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615" y="4554513"/>
            <a:ext cx="1128835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高度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=4</a:t>
            </a:r>
          </a:p>
        </p:txBody>
      </p:sp>
      <p:sp>
        <p:nvSpPr>
          <p:cNvPr id="144" name="Line 58">
            <a:extLst>
              <a:ext uri="{FF2B5EF4-FFF2-40B4-BE49-F238E27FC236}">
                <a16:creationId xmlns:a16="http://schemas.microsoft.com/office/drawing/2014/main" id="{01809AC0-45A8-48EC-BDBD-5B7AD4E27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7717" y="3765426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" name="Line 59">
            <a:extLst>
              <a:ext uri="{FF2B5EF4-FFF2-40B4-BE49-F238E27FC236}">
                <a16:creationId xmlns:a16="http://schemas.microsoft.com/office/drawing/2014/main" id="{69DDAA2E-6DBC-4C49-9D36-1CA45C420F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65667" y="2420887"/>
            <a:ext cx="9708" cy="1321739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" name="Line 60">
            <a:extLst>
              <a:ext uri="{FF2B5EF4-FFF2-40B4-BE49-F238E27FC236}">
                <a16:creationId xmlns:a16="http://schemas.microsoft.com/office/drawing/2014/main" id="{71AAA8C1-2C79-4D5B-93D2-E2561A0FE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792" y="2367734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" name="Text Box 61">
            <a:extLst>
              <a:ext uri="{FF2B5EF4-FFF2-40B4-BE49-F238E27FC236}">
                <a16:creationId xmlns:a16="http://schemas.microsoft.com/office/drawing/2014/main" id="{945CBFBE-D059-44F8-9575-2046BAFD1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9485" y="2850656"/>
            <a:ext cx="112723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深度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=3</a:t>
            </a:r>
          </a:p>
        </p:txBody>
      </p:sp>
    </p:spTree>
    <p:extLst>
      <p:ext uri="{BB962C8B-B14F-4D97-AF65-F5344CB8AC3E}">
        <p14:creationId xmlns:p14="http://schemas.microsoft.com/office/powerpoint/2010/main" val="2960323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5BD83-59E4-42CB-83A6-A1329BFF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4ECEE637-AC1B-478A-910B-6F9B94920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134" y="1503638"/>
            <a:ext cx="6391989" cy="4085602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70817A7E-B170-4AE7-8F81-F7F25F3FC134}"/>
              </a:ext>
            </a:extLst>
          </p:cNvPr>
          <p:cNvSpPr txBox="1"/>
          <p:nvPr/>
        </p:nvSpPr>
        <p:spPr>
          <a:xfrm>
            <a:off x="5657843" y="156168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结点的度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6BD4AF-F1C1-4883-9ED1-084CF53B7590}"/>
              </a:ext>
            </a:extLst>
          </p:cNvPr>
          <p:cNvSpPr txBox="1"/>
          <p:nvPr/>
        </p:nvSpPr>
        <p:spPr>
          <a:xfrm>
            <a:off x="3242556" y="11126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400" dirty="0">
                <a:solidFill>
                  <a:srgbClr val="2E75B6"/>
                </a:solidFill>
                <a:latin typeface="+mn-ea"/>
                <a:ea typeface="+mn-ea"/>
              </a:rPr>
              <a:t>结点高度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F45D8C0-AF51-4A75-AB06-BB88B0D01C1D}"/>
              </a:ext>
            </a:extLst>
          </p:cNvPr>
          <p:cNvSpPr txBox="1"/>
          <p:nvPr/>
        </p:nvSpPr>
        <p:spPr>
          <a:xfrm>
            <a:off x="4907967" y="1681681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AB3259A-CCD1-4C07-95A5-506C5CBFDE34}"/>
              </a:ext>
            </a:extLst>
          </p:cNvPr>
          <p:cNvSpPr txBox="1"/>
          <p:nvPr/>
        </p:nvSpPr>
        <p:spPr>
          <a:xfrm>
            <a:off x="4080488" y="1681681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4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80BEB23-7288-455C-8C51-06A5AE36A49D}"/>
              </a:ext>
            </a:extLst>
          </p:cNvPr>
          <p:cNvSpPr txBox="1"/>
          <p:nvPr/>
        </p:nvSpPr>
        <p:spPr>
          <a:xfrm>
            <a:off x="7583363" y="1168274"/>
            <a:ext cx="1587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400" dirty="0">
                <a:solidFill>
                  <a:srgbClr val="00B050"/>
                </a:solidFill>
                <a:latin typeface="+mn-ea"/>
                <a:ea typeface="+mn-ea"/>
              </a:rPr>
              <a:t>层次</a:t>
            </a:r>
            <a:r>
              <a:rPr kumimoji="1"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/</a:t>
            </a:r>
            <a:r>
              <a:rPr kumimoji="1" lang="zh-CN" altLang="en-US" sz="2400" dirty="0">
                <a:solidFill>
                  <a:srgbClr val="00B050"/>
                </a:solidFill>
                <a:latin typeface="+mn-ea"/>
                <a:ea typeface="+mn-ea"/>
              </a:rPr>
              <a:t>深度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99813F3-1E28-4D55-BD71-BFAC633B21BC}"/>
              </a:ext>
            </a:extLst>
          </p:cNvPr>
          <p:cNvSpPr txBox="1"/>
          <p:nvPr/>
        </p:nvSpPr>
        <p:spPr>
          <a:xfrm>
            <a:off x="8112003" y="1707324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1</a:t>
            </a:r>
            <a:endParaRPr kumimoji="1" lang="zh-CN" altLang="en-US" sz="2400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9DEB097-8314-43A8-AF26-64753FC61F97}"/>
              </a:ext>
            </a:extLst>
          </p:cNvPr>
          <p:cNvSpPr txBox="1"/>
          <p:nvPr/>
        </p:nvSpPr>
        <p:spPr>
          <a:xfrm>
            <a:off x="8112003" y="2795304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2</a:t>
            </a:r>
            <a:endParaRPr kumimoji="1" lang="zh-CN" altLang="en-US" sz="2400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B488462-9F4C-44C1-94BE-2CD54A63296C}"/>
              </a:ext>
            </a:extLst>
          </p:cNvPr>
          <p:cNvSpPr txBox="1"/>
          <p:nvPr/>
        </p:nvSpPr>
        <p:spPr>
          <a:xfrm>
            <a:off x="8112003" y="3783865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3</a:t>
            </a:r>
            <a:endParaRPr kumimoji="1" lang="zh-CN" altLang="en-US" sz="2400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07F286C-CE3D-4977-8AFA-D26D9D3BF9A9}"/>
              </a:ext>
            </a:extLst>
          </p:cNvPr>
          <p:cNvSpPr txBox="1"/>
          <p:nvPr/>
        </p:nvSpPr>
        <p:spPr>
          <a:xfrm>
            <a:off x="8112003" y="4817715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400" dirty="0">
                <a:solidFill>
                  <a:srgbClr val="00B050"/>
                </a:solidFill>
                <a:latin typeface="+mn-ea"/>
                <a:ea typeface="+mn-ea"/>
              </a:rPr>
              <a:t>4</a:t>
            </a:r>
            <a:endParaRPr kumimoji="1" lang="zh-CN" altLang="en-US" sz="2400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cxnSp>
        <p:nvCxnSpPr>
          <p:cNvPr id="57" name="直线连接符 42">
            <a:extLst>
              <a:ext uri="{FF2B5EF4-FFF2-40B4-BE49-F238E27FC236}">
                <a16:creationId xmlns:a16="http://schemas.microsoft.com/office/drawing/2014/main" id="{9120A79A-AEC2-4C83-910C-4D16CCD95D11}"/>
              </a:ext>
            </a:extLst>
          </p:cNvPr>
          <p:cNvCxnSpPr>
            <a:cxnSpLocks/>
          </p:cNvCxnSpPr>
          <p:nvPr/>
        </p:nvCxnSpPr>
        <p:spPr>
          <a:xfrm>
            <a:off x="535236" y="2422564"/>
            <a:ext cx="8122915" cy="0"/>
          </a:xfrm>
          <a:prstGeom prst="line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dash"/>
            <a:miter lim="800000"/>
          </a:ln>
          <a:effectLst/>
        </p:spPr>
      </p:cxnSp>
      <p:cxnSp>
        <p:nvCxnSpPr>
          <p:cNvPr id="58" name="直线连接符 44">
            <a:extLst>
              <a:ext uri="{FF2B5EF4-FFF2-40B4-BE49-F238E27FC236}">
                <a16:creationId xmlns:a16="http://schemas.microsoft.com/office/drawing/2014/main" id="{254B4BD8-1D5E-417F-A371-5EEF339EFE93}"/>
              </a:ext>
            </a:extLst>
          </p:cNvPr>
          <p:cNvCxnSpPr>
            <a:cxnSpLocks/>
          </p:cNvCxnSpPr>
          <p:nvPr/>
        </p:nvCxnSpPr>
        <p:spPr>
          <a:xfrm>
            <a:off x="471736" y="3540164"/>
            <a:ext cx="8122915" cy="0"/>
          </a:xfrm>
          <a:prstGeom prst="line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dash"/>
            <a:miter lim="800000"/>
          </a:ln>
          <a:effectLst/>
        </p:spPr>
      </p:cxnSp>
      <p:cxnSp>
        <p:nvCxnSpPr>
          <p:cNvPr id="59" name="直线连接符 45">
            <a:extLst>
              <a:ext uri="{FF2B5EF4-FFF2-40B4-BE49-F238E27FC236}">
                <a16:creationId xmlns:a16="http://schemas.microsoft.com/office/drawing/2014/main" id="{51D04A39-8D25-43ED-AABA-DB948342D399}"/>
              </a:ext>
            </a:extLst>
          </p:cNvPr>
          <p:cNvCxnSpPr>
            <a:cxnSpLocks/>
          </p:cNvCxnSpPr>
          <p:nvPr/>
        </p:nvCxnSpPr>
        <p:spPr>
          <a:xfrm>
            <a:off x="395536" y="4518064"/>
            <a:ext cx="8122915" cy="0"/>
          </a:xfrm>
          <a:prstGeom prst="line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dash"/>
            <a:miter lim="800000"/>
          </a:ln>
          <a:effectLst/>
        </p:spPr>
      </p:cxnSp>
      <p:sp>
        <p:nvSpPr>
          <p:cNvPr id="60" name="任意多边形: 形状 28">
            <a:extLst>
              <a:ext uri="{FF2B5EF4-FFF2-40B4-BE49-F238E27FC236}">
                <a16:creationId xmlns:a16="http://schemas.microsoft.com/office/drawing/2014/main" id="{1F0C5464-1ED4-4771-8E70-8E3CD09DFF49}"/>
              </a:ext>
            </a:extLst>
          </p:cNvPr>
          <p:cNvSpPr/>
          <p:nvPr/>
        </p:nvSpPr>
        <p:spPr>
          <a:xfrm>
            <a:off x="230978" y="6259708"/>
            <a:ext cx="3929294" cy="4969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叶结点：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H,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J,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1" name="任意多边形: 形状 28">
            <a:extLst>
              <a:ext uri="{FF2B5EF4-FFF2-40B4-BE49-F238E27FC236}">
                <a16:creationId xmlns:a16="http://schemas.microsoft.com/office/drawing/2014/main" id="{D81FFFD4-D03E-4203-93FC-D5BBC0881C46}"/>
              </a:ext>
            </a:extLst>
          </p:cNvPr>
          <p:cNvSpPr/>
          <p:nvPr/>
        </p:nvSpPr>
        <p:spPr>
          <a:xfrm>
            <a:off x="113733" y="797660"/>
            <a:ext cx="2437734" cy="4969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树的高度：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2" name="任意多边形: 形状 28">
            <a:extLst>
              <a:ext uri="{FF2B5EF4-FFF2-40B4-BE49-F238E27FC236}">
                <a16:creationId xmlns:a16="http://schemas.microsoft.com/office/drawing/2014/main" id="{CEBD6BB4-C33F-4630-8B93-1741FBD248A1}"/>
              </a:ext>
            </a:extLst>
          </p:cNvPr>
          <p:cNvSpPr/>
          <p:nvPr/>
        </p:nvSpPr>
        <p:spPr>
          <a:xfrm>
            <a:off x="113733" y="1405174"/>
            <a:ext cx="2078261" cy="4969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树的度：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3" name="任意多边形: 形状 28">
            <a:extLst>
              <a:ext uri="{FF2B5EF4-FFF2-40B4-BE49-F238E27FC236}">
                <a16:creationId xmlns:a16="http://schemas.microsoft.com/office/drawing/2014/main" id="{427DD8E8-A95C-4997-B8F6-5A6DC6DEF28D}"/>
              </a:ext>
            </a:extLst>
          </p:cNvPr>
          <p:cNvSpPr/>
          <p:nvPr/>
        </p:nvSpPr>
        <p:spPr>
          <a:xfrm>
            <a:off x="230978" y="5649733"/>
            <a:ext cx="3770133" cy="4969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中间结点：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8B27594-89F1-452E-8B03-FCB647A2C3A6}"/>
              </a:ext>
            </a:extLst>
          </p:cNvPr>
          <p:cNvSpPr txBox="1"/>
          <p:nvPr/>
        </p:nvSpPr>
        <p:spPr>
          <a:xfrm>
            <a:off x="2971257" y="28372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10B8FB8-E6B3-48B1-9CEE-9F7F2BA6E0D2}"/>
              </a:ext>
            </a:extLst>
          </p:cNvPr>
          <p:cNvSpPr txBox="1"/>
          <p:nvPr/>
        </p:nvSpPr>
        <p:spPr>
          <a:xfrm>
            <a:off x="2143778" y="28372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3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1F94BA8-AB5A-4E09-89F3-4330B340BABC}"/>
              </a:ext>
            </a:extLst>
          </p:cNvPr>
          <p:cNvSpPr txBox="1"/>
          <p:nvPr/>
        </p:nvSpPr>
        <p:spPr>
          <a:xfrm>
            <a:off x="5073067" y="28372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0E68B45-F406-48BB-8EB6-4E973E56F0A6}"/>
              </a:ext>
            </a:extLst>
          </p:cNvPr>
          <p:cNvSpPr txBox="1"/>
          <p:nvPr/>
        </p:nvSpPr>
        <p:spPr>
          <a:xfrm>
            <a:off x="4245588" y="28372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2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EBDAF07-D6B8-47C8-86CD-C71B3AF7064D}"/>
              </a:ext>
            </a:extLst>
          </p:cNvPr>
          <p:cNvSpPr txBox="1"/>
          <p:nvPr/>
        </p:nvSpPr>
        <p:spPr>
          <a:xfrm>
            <a:off x="7105067" y="28372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838B0C9-7F37-4194-B413-2F535097647C}"/>
              </a:ext>
            </a:extLst>
          </p:cNvPr>
          <p:cNvSpPr txBox="1"/>
          <p:nvPr/>
        </p:nvSpPr>
        <p:spPr>
          <a:xfrm>
            <a:off x="6277588" y="28372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3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1165A88-83CF-461B-97D1-3F646405EE88}"/>
              </a:ext>
            </a:extLst>
          </p:cNvPr>
          <p:cNvSpPr txBox="1"/>
          <p:nvPr/>
        </p:nvSpPr>
        <p:spPr>
          <a:xfrm>
            <a:off x="2958557" y="37770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91A5F68-F89E-4B66-A7FF-3F099B32511E}"/>
              </a:ext>
            </a:extLst>
          </p:cNvPr>
          <p:cNvSpPr txBox="1"/>
          <p:nvPr/>
        </p:nvSpPr>
        <p:spPr>
          <a:xfrm>
            <a:off x="2181878" y="37770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2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0A0AD51-3F4F-4A41-AB97-031DCFB85175}"/>
              </a:ext>
            </a:extLst>
          </p:cNvPr>
          <p:cNvSpPr txBox="1"/>
          <p:nvPr/>
        </p:nvSpPr>
        <p:spPr>
          <a:xfrm>
            <a:off x="6514557" y="37770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D65F415-F3F8-4BEB-8F06-31844F3DCF0C}"/>
              </a:ext>
            </a:extLst>
          </p:cNvPr>
          <p:cNvSpPr txBox="1"/>
          <p:nvPr/>
        </p:nvSpPr>
        <p:spPr>
          <a:xfrm>
            <a:off x="5737878" y="37770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2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6F07AF0-6172-4044-A6BD-DA1FC60A9D1A}"/>
              </a:ext>
            </a:extLst>
          </p:cNvPr>
          <p:cNvSpPr txBox="1"/>
          <p:nvPr/>
        </p:nvSpPr>
        <p:spPr>
          <a:xfrm>
            <a:off x="7632157" y="3777067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endParaRPr kumimoji="1"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3F6F195-396A-4D01-9154-02CDD0C71A42}"/>
              </a:ext>
            </a:extLst>
          </p:cNvPr>
          <p:cNvSpPr txBox="1"/>
          <p:nvPr/>
        </p:nvSpPr>
        <p:spPr>
          <a:xfrm>
            <a:off x="6855478" y="37770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7800FE5-CA3B-43D5-8E1C-03CD31044D99}"/>
              </a:ext>
            </a:extLst>
          </p:cNvPr>
          <p:cNvSpPr txBox="1"/>
          <p:nvPr/>
        </p:nvSpPr>
        <p:spPr>
          <a:xfrm>
            <a:off x="5058141" y="3783865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6C02233-8610-4ACC-A238-6C2679BBAA82}"/>
              </a:ext>
            </a:extLst>
          </p:cNvPr>
          <p:cNvSpPr txBox="1"/>
          <p:nvPr/>
        </p:nvSpPr>
        <p:spPr>
          <a:xfrm>
            <a:off x="4281462" y="3783865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5B15C95-090C-407C-B51C-2F484D88C2AB}"/>
              </a:ext>
            </a:extLst>
          </p:cNvPr>
          <p:cNvSpPr txBox="1"/>
          <p:nvPr/>
        </p:nvSpPr>
        <p:spPr>
          <a:xfrm>
            <a:off x="6514557" y="48057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A3B6F09-4A73-467E-8D90-5F8B38BFD450}"/>
              </a:ext>
            </a:extLst>
          </p:cNvPr>
          <p:cNvSpPr txBox="1"/>
          <p:nvPr/>
        </p:nvSpPr>
        <p:spPr>
          <a:xfrm>
            <a:off x="5737878" y="48057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05B4BD9-DBF5-4E4E-89D1-E5EA802D4105}"/>
              </a:ext>
            </a:extLst>
          </p:cNvPr>
          <p:cNvSpPr txBox="1"/>
          <p:nvPr/>
        </p:nvSpPr>
        <p:spPr>
          <a:xfrm>
            <a:off x="3530057" y="48057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5FEF927-D3FB-45D0-BCFA-05A639F244CA}"/>
              </a:ext>
            </a:extLst>
          </p:cNvPr>
          <p:cNvSpPr txBox="1"/>
          <p:nvPr/>
        </p:nvSpPr>
        <p:spPr>
          <a:xfrm>
            <a:off x="2753378" y="48057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7AB4050-EBF6-44EB-8865-C346DC0DC46C}"/>
              </a:ext>
            </a:extLst>
          </p:cNvPr>
          <p:cNvSpPr txBox="1"/>
          <p:nvPr/>
        </p:nvSpPr>
        <p:spPr>
          <a:xfrm>
            <a:off x="2501357" y="48057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5C0FB80-E146-4901-BC6E-BAB453D6422B}"/>
              </a:ext>
            </a:extLst>
          </p:cNvPr>
          <p:cNvSpPr txBox="1"/>
          <p:nvPr/>
        </p:nvSpPr>
        <p:spPr>
          <a:xfrm>
            <a:off x="1724678" y="48057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6787271-DF05-49F8-886F-2F3785403E02}"/>
              </a:ext>
            </a:extLst>
          </p:cNvPr>
          <p:cNvSpPr txBox="1"/>
          <p:nvPr/>
        </p:nvSpPr>
        <p:spPr>
          <a:xfrm>
            <a:off x="1967957" y="41580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8DAA0C7-BDAC-481C-AC05-220C6F38610B}"/>
              </a:ext>
            </a:extLst>
          </p:cNvPr>
          <p:cNvSpPr txBox="1"/>
          <p:nvPr/>
        </p:nvSpPr>
        <p:spPr>
          <a:xfrm>
            <a:off x="1635778" y="41580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B62344F-9096-4742-BA3B-F68D82BBA81B}"/>
              </a:ext>
            </a:extLst>
          </p:cNvPr>
          <p:cNvSpPr txBox="1"/>
          <p:nvPr/>
        </p:nvSpPr>
        <p:spPr>
          <a:xfrm>
            <a:off x="3606257" y="41707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34D4E81-7C40-45AB-90BC-D4FC704D3E30}"/>
              </a:ext>
            </a:extLst>
          </p:cNvPr>
          <p:cNvSpPr txBox="1"/>
          <p:nvPr/>
        </p:nvSpPr>
        <p:spPr>
          <a:xfrm>
            <a:off x="3274078" y="4170767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>
                <a:solidFill>
                  <a:srgbClr val="2E75B6"/>
                </a:solidFill>
                <a:latin typeface="+mn-ea"/>
                <a:ea typeface="+mn-ea"/>
              </a:rPr>
              <a:t>1</a:t>
            </a:r>
            <a:endParaRPr kumimoji="1" lang="zh-CN" altLang="en-US" sz="2000" dirty="0">
              <a:solidFill>
                <a:srgbClr val="2E75B6"/>
              </a:solidFill>
              <a:latin typeface="+mn-ea"/>
              <a:ea typeface="+mn-ea"/>
            </a:endParaRPr>
          </a:p>
        </p:txBody>
      </p:sp>
      <p:cxnSp>
        <p:nvCxnSpPr>
          <p:cNvPr id="89" name="直线箭头连接符 78">
            <a:extLst>
              <a:ext uri="{FF2B5EF4-FFF2-40B4-BE49-F238E27FC236}">
                <a16:creationId xmlns:a16="http://schemas.microsoft.com/office/drawing/2014/main" id="{58C18449-B776-4893-B3CC-6CEC652F701D}"/>
              </a:ext>
            </a:extLst>
          </p:cNvPr>
          <p:cNvCxnSpPr>
            <a:cxnSpLocks/>
          </p:cNvCxnSpPr>
          <p:nvPr/>
        </p:nvCxnSpPr>
        <p:spPr>
          <a:xfrm>
            <a:off x="3913985" y="1522607"/>
            <a:ext cx="261930" cy="293663"/>
          </a:xfrm>
          <a:prstGeom prst="straightConnector1">
            <a:avLst/>
          </a:prstGeom>
          <a:noFill/>
          <a:ln w="1270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0" name="直线箭头连接符 80">
            <a:extLst>
              <a:ext uri="{FF2B5EF4-FFF2-40B4-BE49-F238E27FC236}">
                <a16:creationId xmlns:a16="http://schemas.microsoft.com/office/drawing/2014/main" id="{68896E55-A9FE-4390-95E6-1B2B8640EFE1}"/>
              </a:ext>
            </a:extLst>
          </p:cNvPr>
          <p:cNvCxnSpPr>
            <a:endCxn id="50" idx="3"/>
          </p:cNvCxnSpPr>
          <p:nvPr/>
        </p:nvCxnSpPr>
        <p:spPr>
          <a:xfrm flipH="1">
            <a:off x="5251331" y="1807606"/>
            <a:ext cx="388342" cy="74130"/>
          </a:xfrm>
          <a:prstGeom prst="straightConnector1">
            <a:avLst/>
          </a:prstGeom>
          <a:noFill/>
          <a:ln w="12700" cap="flat" cmpd="sng" algn="ctr">
            <a:solidFill>
              <a:srgbClr val="ED7D31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8336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8E20C-8169-4CDE-B598-9B7B94D4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4A5F0EBB-B5A6-4BF3-8E02-A774E2E34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01" y="1483729"/>
            <a:ext cx="8367483" cy="13088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若树中各结点的子树从左向右依次排列，不能交换次序，则称为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有序树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；否则称为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无序</a:t>
            </a:r>
            <a:r>
              <a:rPr kumimoji="1" lang="zh-CN" altLang="en-US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树</a:t>
            </a:r>
            <a:r>
              <a:rPr kumimoji="1" lang="zh-CN" altLang="en-US" b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kumimoji="1" lang="zh-CN" altLang="en-US" b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08F09D9-0A50-44E4-969B-8C21F69A0824}"/>
              </a:ext>
            </a:extLst>
          </p:cNvPr>
          <p:cNvSpPr/>
          <p:nvPr/>
        </p:nvSpPr>
        <p:spPr>
          <a:xfrm>
            <a:off x="1631514" y="3160669"/>
            <a:ext cx="1238259" cy="762005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15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届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803F24B-456C-4115-9031-48B10F6A2315}"/>
              </a:ext>
            </a:extLst>
          </p:cNvPr>
          <p:cNvSpPr/>
          <p:nvPr/>
        </p:nvSpPr>
        <p:spPr>
          <a:xfrm>
            <a:off x="107504" y="4494178"/>
            <a:ext cx="1238259" cy="76200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1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班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6944FD5-4AAC-419D-8418-D8E1FE5D1756}"/>
              </a:ext>
            </a:extLst>
          </p:cNvPr>
          <p:cNvSpPr/>
          <p:nvPr/>
        </p:nvSpPr>
        <p:spPr>
          <a:xfrm>
            <a:off x="1536264" y="4494178"/>
            <a:ext cx="1238259" cy="76200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2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班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A0945E4-70C5-46F6-9885-68A4C8F5F01B}"/>
              </a:ext>
            </a:extLst>
          </p:cNvPr>
          <p:cNvSpPr/>
          <p:nvPr/>
        </p:nvSpPr>
        <p:spPr>
          <a:xfrm>
            <a:off x="3250776" y="4494178"/>
            <a:ext cx="1238259" cy="76200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3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班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062DF4A-2F45-4278-B8E9-779E5CF78890}"/>
              </a:ext>
            </a:extLst>
          </p:cNvPr>
          <p:cNvCxnSpPr>
            <a:stCxn id="29" idx="3"/>
            <a:endCxn id="30" idx="0"/>
          </p:cNvCxnSpPr>
          <p:nvPr/>
        </p:nvCxnSpPr>
        <p:spPr>
          <a:xfrm rot="5400000">
            <a:off x="928196" y="3609519"/>
            <a:ext cx="683097" cy="1086220"/>
          </a:xfrm>
          <a:prstGeom prst="line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738B262-98A1-4F4E-AE44-92BF5EC2FD76}"/>
              </a:ext>
            </a:extLst>
          </p:cNvPr>
          <p:cNvCxnSpPr>
            <a:stCxn id="29" idx="4"/>
            <a:endCxn id="31" idx="0"/>
          </p:cNvCxnSpPr>
          <p:nvPr/>
        </p:nvCxnSpPr>
        <p:spPr>
          <a:xfrm rot="5400000">
            <a:off x="1917266" y="4160801"/>
            <a:ext cx="571504" cy="95251"/>
          </a:xfrm>
          <a:prstGeom prst="line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C3B5BC3-1838-4E03-ABA3-E82C6AC48F8D}"/>
              </a:ext>
            </a:extLst>
          </p:cNvPr>
          <p:cNvCxnSpPr>
            <a:stCxn id="29" idx="5"/>
            <a:endCxn id="32" idx="0"/>
          </p:cNvCxnSpPr>
          <p:nvPr/>
        </p:nvCxnSpPr>
        <p:spPr>
          <a:xfrm rot="16200000" flipH="1">
            <a:off x="2937621" y="3561893"/>
            <a:ext cx="683097" cy="1181471"/>
          </a:xfrm>
          <a:prstGeom prst="line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C56C3645-7B83-4DE9-B8FE-F06E6283C91F}"/>
              </a:ext>
            </a:extLst>
          </p:cNvPr>
          <p:cNvSpPr txBox="1"/>
          <p:nvPr/>
        </p:nvSpPr>
        <p:spPr>
          <a:xfrm>
            <a:off x="1269744" y="6250998"/>
            <a:ext cx="1714512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kumimoji="1" lang="zh-CN" altLang="en-US" sz="2665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有序树</a:t>
            </a:r>
          </a:p>
        </p:txBody>
      </p:sp>
      <p:sp>
        <p:nvSpPr>
          <p:cNvPr id="37" name="等腰三角形 36">
            <a:extLst>
              <a:ext uri="{FF2B5EF4-FFF2-40B4-BE49-F238E27FC236}">
                <a16:creationId xmlns:a16="http://schemas.microsoft.com/office/drawing/2014/main" id="{83215334-BB46-4084-AA89-002D85880DD1}"/>
              </a:ext>
            </a:extLst>
          </p:cNvPr>
          <p:cNvSpPr/>
          <p:nvPr/>
        </p:nvSpPr>
        <p:spPr>
          <a:xfrm>
            <a:off x="499090" y="5273117"/>
            <a:ext cx="476253" cy="762005"/>
          </a:xfrm>
          <a:prstGeom prst="triangle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7CC483C2-2BDE-4255-BC02-EE05FDE90750}"/>
              </a:ext>
            </a:extLst>
          </p:cNvPr>
          <p:cNvSpPr/>
          <p:nvPr/>
        </p:nvSpPr>
        <p:spPr>
          <a:xfrm>
            <a:off x="1917266" y="5273117"/>
            <a:ext cx="476253" cy="762005"/>
          </a:xfrm>
          <a:prstGeom prst="triangle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9" name="等腰三角形 38">
            <a:extLst>
              <a:ext uri="{FF2B5EF4-FFF2-40B4-BE49-F238E27FC236}">
                <a16:creationId xmlns:a16="http://schemas.microsoft.com/office/drawing/2014/main" id="{15B9FAA5-8210-4709-B91A-5DA9C927ADBB}"/>
              </a:ext>
            </a:extLst>
          </p:cNvPr>
          <p:cNvSpPr/>
          <p:nvPr/>
        </p:nvSpPr>
        <p:spPr>
          <a:xfrm>
            <a:off x="3727029" y="5273117"/>
            <a:ext cx="476253" cy="762005"/>
          </a:xfrm>
          <a:prstGeom prst="triangle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68CB796A-9A10-43A3-8A5D-BFA372320CFC}"/>
              </a:ext>
            </a:extLst>
          </p:cNvPr>
          <p:cNvSpPr/>
          <p:nvPr/>
        </p:nvSpPr>
        <p:spPr>
          <a:xfrm>
            <a:off x="6240027" y="3187505"/>
            <a:ext cx="1238259" cy="762005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15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届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83436B65-1F2B-4C2A-91BF-2BF10FBCD2D5}"/>
              </a:ext>
            </a:extLst>
          </p:cNvPr>
          <p:cNvSpPr/>
          <p:nvPr/>
        </p:nvSpPr>
        <p:spPr>
          <a:xfrm>
            <a:off x="4716016" y="4521014"/>
            <a:ext cx="1238259" cy="76200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2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班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603EAE9D-38DD-4B4D-844B-A151340E50DA}"/>
              </a:ext>
            </a:extLst>
          </p:cNvPr>
          <p:cNvSpPr/>
          <p:nvPr/>
        </p:nvSpPr>
        <p:spPr>
          <a:xfrm>
            <a:off x="6144776" y="4521014"/>
            <a:ext cx="1238259" cy="762005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3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班</a:t>
            </a: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E029B4E-A452-4B45-BD31-F59BC4F1003E}"/>
              </a:ext>
            </a:extLst>
          </p:cNvPr>
          <p:cNvSpPr/>
          <p:nvPr/>
        </p:nvSpPr>
        <p:spPr>
          <a:xfrm>
            <a:off x="7859288" y="4521014"/>
            <a:ext cx="1238259" cy="762005"/>
          </a:xfrm>
          <a:prstGeom prst="ellipse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1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楷体" panose="02010609060101010101" pitchFamily="49" charset="-122"/>
              </a:rPr>
              <a:t>班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68C41BA-5F82-4581-82CA-78A4D4F888F8}"/>
              </a:ext>
            </a:extLst>
          </p:cNvPr>
          <p:cNvCxnSpPr>
            <a:stCxn id="40" idx="3"/>
            <a:endCxn id="41" idx="0"/>
          </p:cNvCxnSpPr>
          <p:nvPr/>
        </p:nvCxnSpPr>
        <p:spPr>
          <a:xfrm rot="5400000">
            <a:off x="5536708" y="3636356"/>
            <a:ext cx="683097" cy="1086220"/>
          </a:xfrm>
          <a:prstGeom prst="line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5782342-2516-41BE-9963-5396CE33A5B2}"/>
              </a:ext>
            </a:extLst>
          </p:cNvPr>
          <p:cNvCxnSpPr>
            <a:stCxn id="40" idx="4"/>
            <a:endCxn id="42" idx="0"/>
          </p:cNvCxnSpPr>
          <p:nvPr/>
        </p:nvCxnSpPr>
        <p:spPr>
          <a:xfrm rot="5400000">
            <a:off x="6525779" y="4187637"/>
            <a:ext cx="571504" cy="95251"/>
          </a:xfrm>
          <a:prstGeom prst="line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328F0758-267E-47AD-BE42-3E02E4950A9D}"/>
              </a:ext>
            </a:extLst>
          </p:cNvPr>
          <p:cNvCxnSpPr>
            <a:stCxn id="40" idx="5"/>
            <a:endCxn id="43" idx="0"/>
          </p:cNvCxnSpPr>
          <p:nvPr/>
        </p:nvCxnSpPr>
        <p:spPr>
          <a:xfrm rot="16200000" flipH="1">
            <a:off x="7546133" y="3588729"/>
            <a:ext cx="683097" cy="1181471"/>
          </a:xfrm>
          <a:prstGeom prst="line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47" name="TextBox 24">
            <a:extLst>
              <a:ext uri="{FF2B5EF4-FFF2-40B4-BE49-F238E27FC236}">
                <a16:creationId xmlns:a16="http://schemas.microsoft.com/office/drawing/2014/main" id="{5C1F9477-777B-4D5A-BE08-806DFB6F3006}"/>
              </a:ext>
            </a:extLst>
          </p:cNvPr>
          <p:cNvSpPr txBox="1"/>
          <p:nvPr/>
        </p:nvSpPr>
        <p:spPr>
          <a:xfrm>
            <a:off x="6272660" y="6250998"/>
            <a:ext cx="1714512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kumimoji="1" lang="zh-CN" altLang="en-US" sz="2665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无序树</a:t>
            </a:r>
          </a:p>
        </p:txBody>
      </p:sp>
      <p:sp>
        <p:nvSpPr>
          <p:cNvPr id="48" name="等腰三角形 47">
            <a:extLst>
              <a:ext uri="{FF2B5EF4-FFF2-40B4-BE49-F238E27FC236}">
                <a16:creationId xmlns:a16="http://schemas.microsoft.com/office/drawing/2014/main" id="{E2423EC4-76B9-4C2B-B489-811650B0A549}"/>
              </a:ext>
            </a:extLst>
          </p:cNvPr>
          <p:cNvSpPr/>
          <p:nvPr/>
        </p:nvSpPr>
        <p:spPr>
          <a:xfrm>
            <a:off x="5107603" y="5299953"/>
            <a:ext cx="476253" cy="762005"/>
          </a:xfrm>
          <a:prstGeom prst="triangle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9" name="等腰三角形 48">
            <a:extLst>
              <a:ext uri="{FF2B5EF4-FFF2-40B4-BE49-F238E27FC236}">
                <a16:creationId xmlns:a16="http://schemas.microsoft.com/office/drawing/2014/main" id="{3022DEDA-C199-429E-99A1-42502AF0362D}"/>
              </a:ext>
            </a:extLst>
          </p:cNvPr>
          <p:cNvSpPr/>
          <p:nvPr/>
        </p:nvSpPr>
        <p:spPr>
          <a:xfrm>
            <a:off x="6525779" y="5299953"/>
            <a:ext cx="476253" cy="762005"/>
          </a:xfrm>
          <a:prstGeom prst="triangle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0" name="等腰三角形 49">
            <a:extLst>
              <a:ext uri="{FF2B5EF4-FFF2-40B4-BE49-F238E27FC236}">
                <a16:creationId xmlns:a16="http://schemas.microsoft.com/office/drawing/2014/main" id="{35CC18AF-A0DC-48DB-8072-16039D1DBFC4}"/>
              </a:ext>
            </a:extLst>
          </p:cNvPr>
          <p:cNvSpPr/>
          <p:nvPr/>
        </p:nvSpPr>
        <p:spPr>
          <a:xfrm>
            <a:off x="8335541" y="5299953"/>
            <a:ext cx="476253" cy="762005"/>
          </a:xfrm>
          <a:prstGeom prst="triangle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2" name="Text Box 35">
            <a:extLst>
              <a:ext uri="{FF2B5EF4-FFF2-40B4-BE49-F238E27FC236}">
                <a16:creationId xmlns:a16="http://schemas.microsoft.com/office/drawing/2014/main" id="{52084F83-9FB2-4D2D-852A-FB3475DAF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01" y="935424"/>
            <a:ext cx="8415109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7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、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有序树</a:t>
            </a:r>
            <a:r>
              <a:rPr kumimoji="1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和</a:t>
            </a:r>
            <a:r>
              <a:rPr kumimoj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无序树</a:t>
            </a:r>
          </a:p>
        </p:txBody>
      </p:sp>
    </p:spTree>
    <p:extLst>
      <p:ext uri="{BB962C8B-B14F-4D97-AF65-F5344CB8AC3E}">
        <p14:creationId xmlns:p14="http://schemas.microsoft.com/office/powerpoint/2010/main" val="2067066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18285-95B8-4A4B-A759-C9BAC270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53" name="Text Box 2">
            <a:extLst>
              <a:ext uri="{FF2B5EF4-FFF2-40B4-BE49-F238E27FC236}">
                <a16:creationId xmlns:a16="http://schemas.microsoft.com/office/drawing/2014/main" id="{0C18E35D-67AE-4EB3-A114-7F5BC4A86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97" y="1556143"/>
            <a:ext cx="8424153" cy="13088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零个或多个互不相交的树的集合称为</a:t>
            </a:r>
            <a:r>
              <a:rPr kumimoji="1"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森林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。例如，把含有多棵子树的树的根结点删去就成了森林。</a:t>
            </a: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   </a:t>
            </a: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25056CA-21C5-4435-BFA1-012028541581}"/>
              </a:ext>
            </a:extLst>
          </p:cNvPr>
          <p:cNvGrpSpPr/>
          <p:nvPr/>
        </p:nvGrpSpPr>
        <p:grpSpPr>
          <a:xfrm>
            <a:off x="82913" y="3326851"/>
            <a:ext cx="8978174" cy="3073400"/>
            <a:chOff x="58322" y="3149600"/>
            <a:chExt cx="8663804" cy="3073400"/>
          </a:xfrm>
        </p:grpSpPr>
        <p:sp>
          <p:nvSpPr>
            <p:cNvPr id="55" name="Line 44">
              <a:extLst>
                <a:ext uri="{FF2B5EF4-FFF2-40B4-BE49-F238E27FC236}">
                  <a16:creationId xmlns:a16="http://schemas.microsoft.com/office/drawing/2014/main" id="{E6F5CD90-59BB-4E8F-B327-E82A7BF06C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627" y="3439584"/>
              <a:ext cx="802621" cy="662523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F5A8DD25-CFFB-498E-99AA-AF7172568F5C}"/>
                </a:ext>
              </a:extLst>
            </p:cNvPr>
            <p:cNvSpPr/>
            <p:nvPr/>
          </p:nvSpPr>
          <p:spPr bwMode="auto">
            <a:xfrm>
              <a:off x="323523" y="4495799"/>
              <a:ext cx="233568" cy="400052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2CB63BCF-31E9-4E98-B482-AEF80EAB00CA}"/>
                </a:ext>
              </a:extLst>
            </p:cNvPr>
            <p:cNvSpPr/>
            <p:nvPr/>
          </p:nvSpPr>
          <p:spPr bwMode="auto">
            <a:xfrm>
              <a:off x="794193" y="4444999"/>
              <a:ext cx="237102" cy="4318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8" name="Oval 31">
              <a:extLst>
                <a:ext uri="{FF2B5EF4-FFF2-40B4-BE49-F238E27FC236}">
                  <a16:creationId xmlns:a16="http://schemas.microsoft.com/office/drawing/2014/main" id="{42514EF1-8380-457E-A5B6-6F0EC84F7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248" y="3149600"/>
              <a:ext cx="398680" cy="480484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59" name="Oval 32">
              <a:extLst>
                <a:ext uri="{FF2B5EF4-FFF2-40B4-BE49-F238E27FC236}">
                  <a16:creationId xmlns:a16="http://schemas.microsoft.com/office/drawing/2014/main" id="{05083C6D-FA5C-44A2-AC09-26ADB3838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02" y="4015317"/>
              <a:ext cx="398678" cy="480484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60" name="Oval 33">
              <a:extLst>
                <a:ext uri="{FF2B5EF4-FFF2-40B4-BE49-F238E27FC236}">
                  <a16:creationId xmlns:a16="http://schemas.microsoft.com/office/drawing/2014/main" id="{41A71271-9591-4CA9-8C7E-C41184019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248" y="4015317"/>
              <a:ext cx="398680" cy="480484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61" name="Oval 34">
              <a:extLst>
                <a:ext uri="{FF2B5EF4-FFF2-40B4-BE49-F238E27FC236}">
                  <a16:creationId xmlns:a16="http://schemas.microsoft.com/office/drawing/2014/main" id="{02CE5520-3611-4027-B8FE-E852F3885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7497" y="4015317"/>
              <a:ext cx="398678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62" name="Oval 35">
              <a:extLst>
                <a:ext uri="{FF2B5EF4-FFF2-40B4-BE49-F238E27FC236}">
                  <a16:creationId xmlns:a16="http://schemas.microsoft.com/office/drawing/2014/main" id="{84A97147-DF88-44F3-BF65-A15E4FEA8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22" y="48789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63" name="Oval 36">
              <a:extLst>
                <a:ext uri="{FF2B5EF4-FFF2-40B4-BE49-F238E27FC236}">
                  <a16:creationId xmlns:a16="http://schemas.microsoft.com/office/drawing/2014/main" id="{80CB8148-14E4-44F6-9BB1-C45A148FA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24" y="4878917"/>
              <a:ext cx="398678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64" name="Oval 37">
              <a:extLst>
                <a:ext uri="{FF2B5EF4-FFF2-40B4-BE49-F238E27FC236}">
                  <a16:creationId xmlns:a16="http://schemas.microsoft.com/office/drawing/2014/main" id="{DE18BD06-0BC6-43DE-9E37-D1B55788E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248" y="48789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65" name="Oval 38">
              <a:extLst>
                <a:ext uri="{FF2B5EF4-FFF2-40B4-BE49-F238E27FC236}">
                  <a16:creationId xmlns:a16="http://schemas.microsoft.com/office/drawing/2014/main" id="{7F867AA6-F467-4C8B-A162-941A3F3EB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248" y="57425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66" name="Oval 39">
              <a:extLst>
                <a:ext uri="{FF2B5EF4-FFF2-40B4-BE49-F238E27FC236}">
                  <a16:creationId xmlns:a16="http://schemas.microsoft.com/office/drawing/2014/main" id="{46ACCC6F-00A9-40D4-AF83-5E4A30A5C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817" y="48789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67" name="Oval 40">
              <a:extLst>
                <a:ext uri="{FF2B5EF4-FFF2-40B4-BE49-F238E27FC236}">
                  <a16:creationId xmlns:a16="http://schemas.microsoft.com/office/drawing/2014/main" id="{2E673172-FF35-4F93-B17F-FAF43CB25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5209" y="4878917"/>
              <a:ext cx="398678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68" name="Oval 41">
              <a:extLst>
                <a:ext uri="{FF2B5EF4-FFF2-40B4-BE49-F238E27FC236}">
                  <a16:creationId xmlns:a16="http://schemas.microsoft.com/office/drawing/2014/main" id="{BC8ED524-D3C6-4CDC-A380-FC902C94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7673" y="57425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69" name="Oval 42">
              <a:extLst>
                <a:ext uri="{FF2B5EF4-FFF2-40B4-BE49-F238E27FC236}">
                  <a16:creationId xmlns:a16="http://schemas.microsoft.com/office/drawing/2014/main" id="{75797C5E-4B89-4564-BB1C-90776F71E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477" y="57425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0" name="Oval 43">
              <a:extLst>
                <a:ext uri="{FF2B5EF4-FFF2-40B4-BE49-F238E27FC236}">
                  <a16:creationId xmlns:a16="http://schemas.microsoft.com/office/drawing/2014/main" id="{A6613015-B42C-4485-860C-ED891F9E7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777" y="5742517"/>
              <a:ext cx="398678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71" name="Line 45">
              <a:extLst>
                <a:ext uri="{FF2B5EF4-FFF2-40B4-BE49-F238E27FC236}">
                  <a16:creationId xmlns:a16="http://schemas.microsoft.com/office/drawing/2014/main" id="{0D3425C9-70E1-47D1-93EB-2FC5CD3C7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954" y="3630084"/>
              <a:ext cx="0" cy="384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2" name="Line 46">
              <a:extLst>
                <a:ext uri="{FF2B5EF4-FFF2-40B4-BE49-F238E27FC236}">
                  <a16:creationId xmlns:a16="http://schemas.microsoft.com/office/drawing/2014/main" id="{A7A6ECE1-3357-4BBB-A9E5-A415BCF2A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466" y="3477684"/>
              <a:ext cx="716568" cy="670983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3" name="Line 49">
              <a:extLst>
                <a:ext uri="{FF2B5EF4-FFF2-40B4-BE49-F238E27FC236}">
                  <a16:creationId xmlns:a16="http://schemas.microsoft.com/office/drawing/2014/main" id="{58431CE0-EB8B-416B-8DF0-49055B55E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4223" y="4527551"/>
              <a:ext cx="0" cy="336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4" name="Line 50">
              <a:extLst>
                <a:ext uri="{FF2B5EF4-FFF2-40B4-BE49-F238E27FC236}">
                  <a16:creationId xmlns:a16="http://schemas.microsoft.com/office/drawing/2014/main" id="{667B900D-3150-4362-A12B-FE2FB1BE4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4223" y="5359400"/>
              <a:ext cx="0" cy="38311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5" name="Freeform 51">
              <a:extLst>
                <a:ext uri="{FF2B5EF4-FFF2-40B4-BE49-F238E27FC236}">
                  <a16:creationId xmlns:a16="http://schemas.microsoft.com/office/drawing/2014/main" id="{541324E7-F336-4DDA-AC20-283EA43DB8FB}"/>
                </a:ext>
              </a:extLst>
            </p:cNvPr>
            <p:cNvSpPr/>
            <p:nvPr/>
          </p:nvSpPr>
          <p:spPr bwMode="auto">
            <a:xfrm>
              <a:off x="2545236" y="4476751"/>
              <a:ext cx="244126" cy="402167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AC5C172C-47D2-435C-A8A8-1B2333A28777}"/>
                </a:ext>
              </a:extLst>
            </p:cNvPr>
            <p:cNvSpPr/>
            <p:nvPr/>
          </p:nvSpPr>
          <p:spPr bwMode="auto">
            <a:xfrm>
              <a:off x="3031730" y="4438651"/>
              <a:ext cx="293301" cy="4402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7" name="Line 53">
              <a:extLst>
                <a:ext uri="{FF2B5EF4-FFF2-40B4-BE49-F238E27FC236}">
                  <a16:creationId xmlns:a16="http://schemas.microsoft.com/office/drawing/2014/main" id="{4602D7F8-B568-4E8D-B4EF-7A58D9C5D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5706" y="5264151"/>
              <a:ext cx="398680" cy="47836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8" name="Line 54">
              <a:extLst>
                <a:ext uri="{FF2B5EF4-FFF2-40B4-BE49-F238E27FC236}">
                  <a16:creationId xmlns:a16="http://schemas.microsoft.com/office/drawing/2014/main" id="{7FA7E1FE-439F-41C7-BFD3-291BA5DA4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2452" y="5359400"/>
              <a:ext cx="0" cy="38311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9" name="Freeform 55">
              <a:extLst>
                <a:ext uri="{FF2B5EF4-FFF2-40B4-BE49-F238E27FC236}">
                  <a16:creationId xmlns:a16="http://schemas.microsoft.com/office/drawing/2014/main" id="{80999706-5397-4408-BCB9-7A8D6AC0192D}"/>
                </a:ext>
              </a:extLst>
            </p:cNvPr>
            <p:cNvSpPr/>
            <p:nvPr/>
          </p:nvSpPr>
          <p:spPr bwMode="auto">
            <a:xfrm>
              <a:off x="3527006" y="5238751"/>
              <a:ext cx="495275" cy="5207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0" name="Freeform 47">
              <a:extLst>
                <a:ext uri="{FF2B5EF4-FFF2-40B4-BE49-F238E27FC236}">
                  <a16:creationId xmlns:a16="http://schemas.microsoft.com/office/drawing/2014/main" id="{B631D6E2-DD14-45C8-A945-F7C3A69DB2BD}"/>
                </a:ext>
              </a:extLst>
            </p:cNvPr>
            <p:cNvSpPr/>
            <p:nvPr/>
          </p:nvSpPr>
          <p:spPr bwMode="auto">
            <a:xfrm>
              <a:off x="4765193" y="4495799"/>
              <a:ext cx="233568" cy="400052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1" name="Freeform 48">
              <a:extLst>
                <a:ext uri="{FF2B5EF4-FFF2-40B4-BE49-F238E27FC236}">
                  <a16:creationId xmlns:a16="http://schemas.microsoft.com/office/drawing/2014/main" id="{8FBB9196-F950-4588-8937-095688653460}"/>
                </a:ext>
              </a:extLst>
            </p:cNvPr>
            <p:cNvSpPr/>
            <p:nvPr/>
          </p:nvSpPr>
          <p:spPr bwMode="auto">
            <a:xfrm>
              <a:off x="5235863" y="4444999"/>
              <a:ext cx="237102" cy="4318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2" name="Oval 32">
              <a:extLst>
                <a:ext uri="{FF2B5EF4-FFF2-40B4-BE49-F238E27FC236}">
                  <a16:creationId xmlns:a16="http://schemas.microsoft.com/office/drawing/2014/main" id="{3B2299CC-2A5A-46B8-8470-CF13BAFE9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8672" y="4015317"/>
              <a:ext cx="398678" cy="480484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83" name="Oval 33">
              <a:extLst>
                <a:ext uri="{FF2B5EF4-FFF2-40B4-BE49-F238E27FC236}">
                  <a16:creationId xmlns:a16="http://schemas.microsoft.com/office/drawing/2014/main" id="{D30AB454-58DD-477D-B2A8-7BD450E66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3919" y="4015317"/>
              <a:ext cx="398680" cy="480484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84" name="Oval 34">
              <a:extLst>
                <a:ext uri="{FF2B5EF4-FFF2-40B4-BE49-F238E27FC236}">
                  <a16:creationId xmlns:a16="http://schemas.microsoft.com/office/drawing/2014/main" id="{5059782B-B5F9-4CB0-ABC1-A02D27034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9167" y="4015317"/>
              <a:ext cx="398678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85" name="Oval 35">
              <a:extLst>
                <a:ext uri="{FF2B5EF4-FFF2-40B4-BE49-F238E27FC236}">
                  <a16:creationId xmlns:a16="http://schemas.microsoft.com/office/drawing/2014/main" id="{67501077-4088-44AC-83D6-288F1F3F5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992" y="48789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6" name="Oval 36">
              <a:extLst>
                <a:ext uri="{FF2B5EF4-FFF2-40B4-BE49-F238E27FC236}">
                  <a16:creationId xmlns:a16="http://schemas.microsoft.com/office/drawing/2014/main" id="{6718420D-8DC4-428B-A52D-CE7DDB983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5595" y="4878917"/>
              <a:ext cx="398678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87" name="Oval 37">
              <a:extLst>
                <a:ext uri="{FF2B5EF4-FFF2-40B4-BE49-F238E27FC236}">
                  <a16:creationId xmlns:a16="http://schemas.microsoft.com/office/drawing/2014/main" id="{10416C74-69E5-46FA-8371-7083970FA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3919" y="48789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88" name="Oval 38">
              <a:extLst>
                <a:ext uri="{FF2B5EF4-FFF2-40B4-BE49-F238E27FC236}">
                  <a16:creationId xmlns:a16="http://schemas.microsoft.com/office/drawing/2014/main" id="{18D37AB9-DE45-4482-B631-2E0AAB193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3919" y="57425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89" name="Oval 39">
              <a:extLst>
                <a:ext uri="{FF2B5EF4-FFF2-40B4-BE49-F238E27FC236}">
                  <a16:creationId xmlns:a16="http://schemas.microsoft.com/office/drawing/2014/main" id="{3F9F1E66-5FFF-49C6-87BF-598F1E0D1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0487" y="48789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90" name="Oval 40">
              <a:extLst>
                <a:ext uri="{FF2B5EF4-FFF2-40B4-BE49-F238E27FC236}">
                  <a16:creationId xmlns:a16="http://schemas.microsoft.com/office/drawing/2014/main" id="{70B8AEFC-82E9-4F9F-BB33-396E826F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6879" y="4878917"/>
              <a:ext cx="398678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91" name="Oval 41">
              <a:extLst>
                <a:ext uri="{FF2B5EF4-FFF2-40B4-BE49-F238E27FC236}">
                  <a16:creationId xmlns:a16="http://schemas.microsoft.com/office/drawing/2014/main" id="{9687CA2F-F8A2-4928-BEE7-461B12F65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9343" y="57425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92" name="Oval 42">
              <a:extLst>
                <a:ext uri="{FF2B5EF4-FFF2-40B4-BE49-F238E27FC236}">
                  <a16:creationId xmlns:a16="http://schemas.microsoft.com/office/drawing/2014/main" id="{5126E613-60D9-40D7-B18A-4A9B08D05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2147" y="5742517"/>
              <a:ext cx="398680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93" name="Oval 43">
              <a:extLst>
                <a:ext uri="{FF2B5EF4-FFF2-40B4-BE49-F238E27FC236}">
                  <a16:creationId xmlns:a16="http://schemas.microsoft.com/office/drawing/2014/main" id="{B7EB32B6-83B1-4C01-8C76-1C6FDFE76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448" y="5742517"/>
              <a:ext cx="398678" cy="480483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94" name="Line 49">
              <a:extLst>
                <a:ext uri="{FF2B5EF4-FFF2-40B4-BE49-F238E27FC236}">
                  <a16:creationId xmlns:a16="http://schemas.microsoft.com/office/drawing/2014/main" id="{DE57FE12-B74C-4334-AABA-14952F7C5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5893" y="4527551"/>
              <a:ext cx="0" cy="3360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95" name="Line 50">
              <a:extLst>
                <a:ext uri="{FF2B5EF4-FFF2-40B4-BE49-F238E27FC236}">
                  <a16:creationId xmlns:a16="http://schemas.microsoft.com/office/drawing/2014/main" id="{B380EAC8-F0A1-48CA-8976-63E8AAD6C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5893" y="5359400"/>
              <a:ext cx="0" cy="38311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96" name="Freeform 51">
              <a:extLst>
                <a:ext uri="{FF2B5EF4-FFF2-40B4-BE49-F238E27FC236}">
                  <a16:creationId xmlns:a16="http://schemas.microsoft.com/office/drawing/2014/main" id="{96865251-95CA-4FA8-8BB6-2B70E2DBA98C}"/>
                </a:ext>
              </a:extLst>
            </p:cNvPr>
            <p:cNvSpPr/>
            <p:nvPr/>
          </p:nvSpPr>
          <p:spPr bwMode="auto">
            <a:xfrm>
              <a:off x="6986906" y="4476751"/>
              <a:ext cx="244126" cy="402167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rect l="0" t="0" r="r" b="b"/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97" name="Freeform 52">
              <a:extLst>
                <a:ext uri="{FF2B5EF4-FFF2-40B4-BE49-F238E27FC236}">
                  <a16:creationId xmlns:a16="http://schemas.microsoft.com/office/drawing/2014/main" id="{4E4160EF-8373-49B8-93D4-13D2806867B0}"/>
                </a:ext>
              </a:extLst>
            </p:cNvPr>
            <p:cNvSpPr/>
            <p:nvPr/>
          </p:nvSpPr>
          <p:spPr bwMode="auto">
            <a:xfrm>
              <a:off x="7473401" y="4438651"/>
              <a:ext cx="293301" cy="4402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rect l="0" t="0" r="r" b="b"/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98" name="Line 53">
              <a:extLst>
                <a:ext uri="{FF2B5EF4-FFF2-40B4-BE49-F238E27FC236}">
                  <a16:creationId xmlns:a16="http://schemas.microsoft.com/office/drawing/2014/main" id="{A937958A-DABC-4313-A4FD-FECDFE285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57376" y="5264151"/>
              <a:ext cx="398680" cy="47836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99" name="Line 54">
              <a:extLst>
                <a:ext uri="{FF2B5EF4-FFF2-40B4-BE49-F238E27FC236}">
                  <a16:creationId xmlns:a16="http://schemas.microsoft.com/office/drawing/2014/main" id="{D74E400C-8A2E-4199-9E86-1A86BC031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4122" y="5359400"/>
              <a:ext cx="0" cy="38311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0" name="Freeform 55">
              <a:extLst>
                <a:ext uri="{FF2B5EF4-FFF2-40B4-BE49-F238E27FC236}">
                  <a16:creationId xmlns:a16="http://schemas.microsoft.com/office/drawing/2014/main" id="{75643341-8D3D-4563-AEF4-9BAD80E41490}"/>
                </a:ext>
              </a:extLst>
            </p:cNvPr>
            <p:cNvSpPr/>
            <p:nvPr/>
          </p:nvSpPr>
          <p:spPr bwMode="auto">
            <a:xfrm>
              <a:off x="7968676" y="5238751"/>
              <a:ext cx="495275" cy="5207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rect l="0" t="0" r="r" b="b"/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1" name="右箭头 56">
              <a:extLst>
                <a:ext uri="{FF2B5EF4-FFF2-40B4-BE49-F238E27FC236}">
                  <a16:creationId xmlns:a16="http://schemas.microsoft.com/office/drawing/2014/main" id="{69DD9ED3-2F6F-4E0E-AE7E-3A81644E7FEB}"/>
                </a:ext>
              </a:extLst>
            </p:cNvPr>
            <p:cNvSpPr/>
            <p:nvPr/>
          </p:nvSpPr>
          <p:spPr bwMode="auto">
            <a:xfrm>
              <a:off x="3909921" y="4646333"/>
              <a:ext cx="474203" cy="285752"/>
            </a:xfrm>
            <a:prstGeom prst="rightArrow">
              <a:avLst/>
            </a:prstGeom>
            <a:gradFill rotWithShape="1">
              <a:gsLst>
                <a:gs pos="0">
                  <a:srgbClr val="F79646">
                    <a:shade val="51000"/>
                    <a:satMod val="130000"/>
                  </a:srgbClr>
                </a:gs>
                <a:gs pos="80000">
                  <a:srgbClr val="F79646">
                    <a:shade val="93000"/>
                    <a:satMod val="130000"/>
                  </a:srgbClr>
                </a:gs>
                <a:gs pos="100000">
                  <a:srgbClr val="F7964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02" name="Text Box 35">
            <a:extLst>
              <a:ext uri="{FF2B5EF4-FFF2-40B4-BE49-F238E27FC236}">
                <a16:creationId xmlns:a16="http://schemas.microsoft.com/office/drawing/2014/main" id="{3E03BBE6-4AC3-44C7-AF31-A0E52B87B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97" y="981237"/>
            <a:ext cx="8292826" cy="533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8</a:t>
            </a:r>
            <a:r>
              <a:rPr kumimoji="1" lang="zh-CN" altLang="en-US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、</a:t>
            </a:r>
            <a:r>
              <a:rPr kumimoj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森林</a:t>
            </a:r>
            <a:endParaRPr kumimoji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Bold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3068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26F21-F741-4CAE-9440-D8F1A1BF6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32CDFC-E0EB-4FDF-A3F8-B607B5DB7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1124744"/>
            <a:ext cx="8642659" cy="494785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一棵度为</a:t>
            </a:r>
            <a:r>
              <a:rPr lang="en-US" altLang="zh-CN" dirty="0"/>
              <a:t>4</a:t>
            </a:r>
            <a:r>
              <a:rPr lang="zh-CN" altLang="en-US" dirty="0"/>
              <a:t>的树 </a:t>
            </a:r>
            <a:r>
              <a:rPr lang="en-US" altLang="zh-CN" dirty="0"/>
              <a:t>T </a:t>
            </a:r>
            <a:r>
              <a:rPr lang="zh-CN" altLang="en-US" dirty="0"/>
              <a:t>中，若有</a:t>
            </a:r>
            <a:r>
              <a:rPr lang="en-US" altLang="zh-CN" dirty="0"/>
              <a:t>20</a:t>
            </a:r>
            <a:r>
              <a:rPr lang="zh-CN" altLang="en-US" dirty="0"/>
              <a:t>个度为</a:t>
            </a:r>
            <a:r>
              <a:rPr lang="en-US" altLang="zh-CN" dirty="0"/>
              <a:t>4</a:t>
            </a:r>
            <a:r>
              <a:rPr lang="zh-CN" altLang="en-US" dirty="0"/>
              <a:t>的结点，</a:t>
            </a:r>
            <a:r>
              <a:rPr lang="en-US" altLang="zh-CN" dirty="0"/>
              <a:t>10</a:t>
            </a:r>
            <a:r>
              <a:rPr lang="zh-CN" altLang="en-US" dirty="0"/>
              <a:t>个度为</a:t>
            </a:r>
            <a:r>
              <a:rPr lang="en-US" altLang="zh-CN" dirty="0"/>
              <a:t>3</a:t>
            </a:r>
            <a:r>
              <a:rPr lang="zh-CN" altLang="en-US" dirty="0"/>
              <a:t>的结点，</a:t>
            </a:r>
            <a:r>
              <a:rPr lang="en-US" altLang="zh-CN" dirty="0"/>
              <a:t>1</a:t>
            </a:r>
            <a:r>
              <a:rPr lang="zh-CN" altLang="en-US" dirty="0"/>
              <a:t>个度为</a:t>
            </a:r>
            <a:r>
              <a:rPr lang="en-US" altLang="zh-CN" dirty="0"/>
              <a:t>2</a:t>
            </a:r>
            <a:r>
              <a:rPr lang="zh-CN" altLang="en-US" dirty="0"/>
              <a:t>的结点，</a:t>
            </a:r>
            <a:r>
              <a:rPr lang="en-US" altLang="zh-CN" dirty="0"/>
              <a:t>10</a:t>
            </a:r>
            <a:r>
              <a:rPr lang="zh-CN" altLang="en-US" dirty="0"/>
              <a:t>个度为</a:t>
            </a:r>
            <a:r>
              <a:rPr lang="en-US" altLang="zh-CN" dirty="0"/>
              <a:t>1</a:t>
            </a:r>
            <a:r>
              <a:rPr lang="zh-CN" altLang="en-US" dirty="0"/>
              <a:t>的结点，则树 </a:t>
            </a:r>
            <a:r>
              <a:rPr lang="en-US" altLang="zh-CN" dirty="0"/>
              <a:t>T </a:t>
            </a:r>
            <a:r>
              <a:rPr lang="zh-CN" altLang="en-US" dirty="0"/>
              <a:t>的叶子结点个数是（</a:t>
            </a:r>
            <a:r>
              <a:rPr lang="en-US" altLang="zh-CN" dirty="0"/>
              <a:t>   </a:t>
            </a:r>
            <a:r>
              <a:rPr lang="zh-CN" altLang="en-US" dirty="0"/>
              <a:t>）。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</a:t>
            </a:r>
            <a:r>
              <a:rPr lang="en-US" altLang="zh-CN" dirty="0"/>
              <a:t>A. 41	   B. 82     	C. 113	D. 122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4393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D4426-C2C2-48C0-845B-A788262D3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FA04D3-B0DF-4DDB-ADB7-CA045F8BD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1052736"/>
            <a:ext cx="8642659" cy="458781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若在一棵三次树中，度为</a:t>
            </a:r>
            <a:r>
              <a:rPr lang="en-US" altLang="zh-CN" dirty="0"/>
              <a:t>3</a:t>
            </a:r>
            <a:r>
              <a:rPr lang="zh-CN" altLang="en-US" dirty="0"/>
              <a:t>的结点为</a:t>
            </a:r>
            <a:r>
              <a:rPr lang="en-US" altLang="zh-CN" dirty="0"/>
              <a:t>2</a:t>
            </a:r>
            <a:r>
              <a:rPr lang="zh-CN" altLang="en-US" dirty="0"/>
              <a:t>个，度为</a:t>
            </a:r>
            <a:r>
              <a:rPr lang="en-US" altLang="zh-CN" dirty="0"/>
              <a:t>2</a:t>
            </a:r>
            <a:r>
              <a:rPr lang="zh-CN" altLang="en-US" dirty="0"/>
              <a:t>的结点为</a:t>
            </a:r>
            <a:r>
              <a:rPr lang="en-US" altLang="zh-CN" dirty="0"/>
              <a:t>1</a:t>
            </a:r>
            <a:r>
              <a:rPr lang="zh-CN" altLang="en-US" dirty="0"/>
              <a:t>个，度为</a:t>
            </a:r>
            <a:r>
              <a:rPr lang="en-US" altLang="zh-CN" dirty="0"/>
              <a:t>1</a:t>
            </a:r>
            <a:r>
              <a:rPr lang="zh-CN" altLang="en-US" dirty="0"/>
              <a:t>的结点为</a:t>
            </a:r>
            <a:r>
              <a:rPr lang="en-US" altLang="zh-CN" dirty="0"/>
              <a:t>2</a:t>
            </a:r>
            <a:r>
              <a:rPr lang="zh-CN" altLang="en-US" dirty="0"/>
              <a:t>个，则该三次树中总的结点个数和叶子结点个数分别是多少？</a:t>
            </a:r>
          </a:p>
        </p:txBody>
      </p:sp>
    </p:spTree>
    <p:extLst>
      <p:ext uri="{BB962C8B-B14F-4D97-AF65-F5344CB8AC3E}">
        <p14:creationId xmlns:p14="http://schemas.microsoft.com/office/powerpoint/2010/main" val="1057564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1D21D-026F-46B0-AEAC-82E37F03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5158EF-A39F-4E8E-9A40-AC12BEF8D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1124744"/>
            <a:ext cx="8642659" cy="473183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含 </a:t>
            </a:r>
            <a:r>
              <a:rPr lang="en-US" altLang="zh-CN" i="1" dirty="0"/>
              <a:t>n </a:t>
            </a:r>
            <a:r>
              <a:rPr lang="zh-CN" altLang="en-US" dirty="0"/>
              <a:t>个结点的</a:t>
            </a:r>
            <a:r>
              <a:rPr lang="en-US" altLang="zh-CN" dirty="0"/>
              <a:t>3</a:t>
            </a:r>
            <a:r>
              <a:rPr lang="zh-CN" altLang="en-US" dirty="0"/>
              <a:t>次树的最小高度是多少？最大高度是多少？</a:t>
            </a:r>
          </a:p>
        </p:txBody>
      </p:sp>
    </p:spTree>
    <p:extLst>
      <p:ext uri="{BB962C8B-B14F-4D97-AF65-F5344CB8AC3E}">
        <p14:creationId xmlns:p14="http://schemas.microsoft.com/office/powerpoint/2010/main" val="148996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定义和基本术语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基本运算和存储结构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遍历二叉树和线索二叉树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树和森林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哈夫曼树及其应用</a:t>
            </a:r>
          </a:p>
        </p:txBody>
      </p:sp>
    </p:spTree>
    <p:extLst>
      <p:ext uri="{BB962C8B-B14F-4D97-AF65-F5344CB8AC3E}">
        <p14:creationId xmlns:p14="http://schemas.microsoft.com/office/powerpoint/2010/main" val="3076075591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F787A-1288-4A37-BA66-09FE652C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994C4F-3F8E-4E34-ADCF-095B78121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 dirty="0">
                <a:latin typeface="+mn-ea"/>
                <a:ea typeface="+mn-ea"/>
              </a:rPr>
              <a:t>树的运算主要分为三大类：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查找</a:t>
            </a:r>
            <a:r>
              <a:rPr lang="zh-CN" altLang="en-US" dirty="0">
                <a:latin typeface="+mn-ea"/>
                <a:ea typeface="+mn-ea"/>
              </a:rPr>
              <a:t>满足某种特定关系的结点，如查找当前结点的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双亲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子女</a:t>
            </a:r>
            <a:r>
              <a:rPr lang="zh-CN" altLang="en-US" dirty="0">
                <a:latin typeface="+mn-ea"/>
                <a:ea typeface="+mn-ea"/>
              </a:rPr>
              <a:t>或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兄弟</a:t>
            </a:r>
            <a:r>
              <a:rPr lang="zh-CN" altLang="en-US" dirty="0">
                <a:latin typeface="+mn-ea"/>
                <a:ea typeface="+mn-ea"/>
              </a:rPr>
              <a:t>结点等。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插入</a:t>
            </a:r>
            <a:r>
              <a:rPr lang="zh-CN" altLang="en-US" dirty="0">
                <a:latin typeface="+mn-ea"/>
                <a:ea typeface="+mn-ea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删除</a:t>
            </a:r>
            <a:r>
              <a:rPr lang="zh-CN" altLang="en-US" dirty="0">
                <a:latin typeface="+mn-ea"/>
                <a:ea typeface="+mn-ea"/>
              </a:rPr>
              <a:t>某个结点，如在当前结点插入或删除其第 </a:t>
            </a:r>
            <a:r>
              <a:rPr lang="en-US" altLang="zh-CN" dirty="0" err="1">
                <a:latin typeface="+mn-ea"/>
                <a:ea typeface="+mn-ea"/>
              </a:rPr>
              <a:t>i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个孩子结点（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子树</a:t>
            </a:r>
            <a:r>
              <a:rPr lang="zh-CN" altLang="en-US" dirty="0">
                <a:latin typeface="+mn-ea"/>
                <a:ea typeface="+mn-ea"/>
              </a:rPr>
              <a:t>）等。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遍历</a:t>
            </a:r>
            <a:r>
              <a:rPr lang="zh-CN" altLang="en-US" dirty="0">
                <a:latin typeface="+mn-ea"/>
                <a:ea typeface="+mn-ea"/>
              </a:rPr>
              <a:t>树中每个结点。</a:t>
            </a:r>
          </a:p>
        </p:txBody>
      </p:sp>
    </p:spTree>
    <p:extLst>
      <p:ext uri="{BB962C8B-B14F-4D97-AF65-F5344CB8AC3E}">
        <p14:creationId xmlns:p14="http://schemas.microsoft.com/office/powerpoint/2010/main" val="2449726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7C5A7-7927-43BF-A79D-6FE6714E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树的遍历运算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55B470-169A-4EB0-81D9-27F29DFE0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zh-CN" altLang="en-US" dirty="0"/>
              <a:t>树的</a:t>
            </a:r>
            <a:r>
              <a:rPr lang="zh-CN" altLang="en-US" b="1" dirty="0"/>
              <a:t>遍历运算</a:t>
            </a:r>
            <a:r>
              <a:rPr lang="zh-CN" altLang="en-US" dirty="0"/>
              <a:t>是指按某种方式访问树中的每个结点，且每个结点只被访问一次。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深度优先遍历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先根次序遍历：</a:t>
            </a:r>
            <a:r>
              <a:rPr lang="zh-CN" altLang="en-US" sz="2400" dirty="0">
                <a:latin typeface="+mn-ea"/>
                <a:ea typeface="+mn-ea"/>
              </a:rPr>
              <a:t>若树不空，则先访问根结点，然后依次先根遍历各子树。</a:t>
            </a:r>
            <a:endParaRPr lang="en-US" altLang="zh-CN" sz="2400" dirty="0">
              <a:latin typeface="+mn-ea"/>
              <a:ea typeface="+mn-ea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后根次序遍历：</a:t>
            </a:r>
            <a:r>
              <a:rPr lang="zh-CN" altLang="en-US" sz="2400" dirty="0"/>
              <a:t>若树不空，则先依次后根遍历各子树，然后访问根结点。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广度优先遍历（</a:t>
            </a:r>
            <a:r>
              <a:rPr lang="zh-CN" altLang="en-US" dirty="0">
                <a:solidFill>
                  <a:srgbClr val="0000FF"/>
                </a:solidFill>
              </a:rPr>
              <a:t>层次次序遍历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若树不空，则</a:t>
            </a:r>
            <a:r>
              <a:rPr lang="zh-CN" altLang="en-US" sz="2400" dirty="0">
                <a:solidFill>
                  <a:srgbClr val="FF0000"/>
                </a:solidFill>
              </a:rPr>
              <a:t>自上而下、自左至右</a:t>
            </a:r>
            <a:r>
              <a:rPr lang="zh-CN" altLang="en-US" sz="2400" dirty="0"/>
              <a:t>访问树中每个结点。</a:t>
            </a:r>
            <a:endParaRPr lang="en-US" altLang="zh-CN" sz="2400" dirty="0"/>
          </a:p>
          <a:p>
            <a:pPr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550061-6D20-4F04-889C-02C2B211CAD7}"/>
              </a:ext>
            </a:extLst>
          </p:cNvPr>
          <p:cNvSpPr txBox="1"/>
          <p:nvPr/>
        </p:nvSpPr>
        <p:spPr>
          <a:xfrm>
            <a:off x="1082054" y="6237312"/>
            <a:ext cx="6978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先根次序和后根次序遍历算法都是递归的。</a:t>
            </a:r>
          </a:p>
        </p:txBody>
      </p:sp>
    </p:spTree>
    <p:extLst>
      <p:ext uri="{BB962C8B-B14F-4D97-AF65-F5344CB8AC3E}">
        <p14:creationId xmlns:p14="http://schemas.microsoft.com/office/powerpoint/2010/main" val="211066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31C1B-5045-49A1-9066-D322820F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树的遍历运算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8E15715-24DE-48A0-A60D-D5106CCAC4B9}"/>
              </a:ext>
            </a:extLst>
          </p:cNvPr>
          <p:cNvSpPr txBox="1"/>
          <p:nvPr/>
        </p:nvSpPr>
        <p:spPr>
          <a:xfrm>
            <a:off x="4572000" y="1329483"/>
            <a:ext cx="4613092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先根遍历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的顶点访问次序：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A B E F C D G H I J K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B84F8ED-F744-4AF6-8D28-9782B268656B}"/>
              </a:ext>
            </a:extLst>
          </p:cNvPr>
          <p:cNvSpPr txBox="1"/>
          <p:nvPr/>
        </p:nvSpPr>
        <p:spPr>
          <a:xfrm>
            <a:off x="4572000" y="2774558"/>
            <a:ext cx="4507471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后根遍历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的顶点访问次序：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E F B C I J K H G D A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58FBF28-4D9A-495B-85B3-3E4CF05222F6}"/>
              </a:ext>
            </a:extLst>
          </p:cNvPr>
          <p:cNvSpPr txBox="1"/>
          <p:nvPr/>
        </p:nvSpPr>
        <p:spPr>
          <a:xfrm>
            <a:off x="4572000" y="4219633"/>
            <a:ext cx="4565648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层次遍历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的顶点访问次序：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A B C D E F G H I J K</a:t>
            </a:r>
          </a:p>
        </p:txBody>
      </p:sp>
      <p:grpSp>
        <p:nvGrpSpPr>
          <p:cNvPr id="105" name="Group 2">
            <a:extLst>
              <a:ext uri="{FF2B5EF4-FFF2-40B4-BE49-F238E27FC236}">
                <a16:creationId xmlns:a16="http://schemas.microsoft.com/office/drawing/2014/main" id="{9AC5AF94-ED1D-4595-B5E8-A153793F01A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3765" y="1275453"/>
            <a:ext cx="4670747" cy="5070567"/>
            <a:chOff x="3395" y="384"/>
            <a:chExt cx="2206" cy="2395"/>
          </a:xfrm>
          <a:solidFill>
            <a:srgbClr val="0070C0"/>
          </a:solidFill>
        </p:grpSpPr>
        <p:sp>
          <p:nvSpPr>
            <p:cNvPr id="106" name="Freeform 3">
              <a:extLst>
                <a:ext uri="{FF2B5EF4-FFF2-40B4-BE49-F238E27FC236}">
                  <a16:creationId xmlns:a16="http://schemas.microsoft.com/office/drawing/2014/main" id="{90BEDC79-EC45-437D-96F0-3670BA2545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77" y="653"/>
              <a:ext cx="2" cy="284"/>
            </a:xfrm>
            <a:custGeom>
              <a:avLst/>
              <a:gdLst>
                <a:gd name="T0" fmla="*/ 0 w 2"/>
                <a:gd name="T1" fmla="*/ 0 h 284"/>
                <a:gd name="T2" fmla="*/ 2 w 2"/>
                <a:gd name="T3" fmla="*/ 284 h 284"/>
                <a:gd name="T4" fmla="*/ 0 60000 65536"/>
                <a:gd name="T5" fmla="*/ 0 60000 65536"/>
                <a:gd name="T6" fmla="*/ 0 w 2"/>
                <a:gd name="T7" fmla="*/ 0 h 284"/>
                <a:gd name="T8" fmla="*/ 2 w 2"/>
                <a:gd name="T9" fmla="*/ 284 h 2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284">
                  <a:moveTo>
                    <a:pt x="0" y="0"/>
                  </a:moveTo>
                  <a:lnTo>
                    <a:pt x="2" y="284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7" name="Oval 4">
              <a:extLst>
                <a:ext uri="{FF2B5EF4-FFF2-40B4-BE49-F238E27FC236}">
                  <a16:creationId xmlns:a16="http://schemas.microsoft.com/office/drawing/2014/main" id="{977AF667-1EF4-4ACD-AF04-011E2858FD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41" y="384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108" name="Oval 5">
              <a:extLst>
                <a:ext uri="{FF2B5EF4-FFF2-40B4-BE49-F238E27FC236}">
                  <a16:creationId xmlns:a16="http://schemas.microsoft.com/office/drawing/2014/main" id="{FA8670FC-48CE-483A-961E-2733462460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2" y="935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109" name="Oval 6">
              <a:extLst>
                <a:ext uri="{FF2B5EF4-FFF2-40B4-BE49-F238E27FC236}">
                  <a16:creationId xmlns:a16="http://schemas.microsoft.com/office/drawing/2014/main" id="{50BA99F9-603A-424F-8DAF-C016590DA1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40" y="935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110" name="Oval 7">
              <a:extLst>
                <a:ext uri="{FF2B5EF4-FFF2-40B4-BE49-F238E27FC236}">
                  <a16:creationId xmlns:a16="http://schemas.microsoft.com/office/drawing/2014/main" id="{22C25B64-A80C-4A93-B031-4933CA2F68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64" y="935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111" name="Oval 8">
              <a:extLst>
                <a:ext uri="{FF2B5EF4-FFF2-40B4-BE49-F238E27FC236}">
                  <a16:creationId xmlns:a16="http://schemas.microsoft.com/office/drawing/2014/main" id="{906951B5-B4D5-4688-A23B-6AE029A9ED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5" y="1480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12" name="Oval 9">
              <a:extLst>
                <a:ext uri="{FF2B5EF4-FFF2-40B4-BE49-F238E27FC236}">
                  <a16:creationId xmlns:a16="http://schemas.microsoft.com/office/drawing/2014/main" id="{48F5E63B-2322-464F-A47E-183255825B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3" y="1480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113" name="Oval 10">
              <a:extLst>
                <a:ext uri="{FF2B5EF4-FFF2-40B4-BE49-F238E27FC236}">
                  <a16:creationId xmlns:a16="http://schemas.microsoft.com/office/drawing/2014/main" id="{8EF10FAC-87E2-4B9C-8906-8F52409FB0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5" y="1480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114" name="Oval 11">
              <a:extLst>
                <a:ext uri="{FF2B5EF4-FFF2-40B4-BE49-F238E27FC236}">
                  <a16:creationId xmlns:a16="http://schemas.microsoft.com/office/drawing/2014/main" id="{17610F47-50AE-4A07-BCF7-1797A3851C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69" y="1988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5" name="Oval 12">
              <a:extLst>
                <a:ext uri="{FF2B5EF4-FFF2-40B4-BE49-F238E27FC236}">
                  <a16:creationId xmlns:a16="http://schemas.microsoft.com/office/drawing/2014/main" id="{FED988F1-AF43-4B51-8DD2-AC53B208CC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8" y="2507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J</a:t>
              </a:r>
            </a:p>
          </p:txBody>
        </p:sp>
        <p:sp>
          <p:nvSpPr>
            <p:cNvPr id="116" name="Oval 13">
              <a:extLst>
                <a:ext uri="{FF2B5EF4-FFF2-40B4-BE49-F238E27FC236}">
                  <a16:creationId xmlns:a16="http://schemas.microsoft.com/office/drawing/2014/main" id="{CA187DAD-BC26-449B-AC04-341037CEF1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8" y="2507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I</a:t>
              </a:r>
            </a:p>
          </p:txBody>
        </p:sp>
        <p:sp>
          <p:nvSpPr>
            <p:cNvPr id="117" name="Oval 14">
              <a:extLst>
                <a:ext uri="{FF2B5EF4-FFF2-40B4-BE49-F238E27FC236}">
                  <a16:creationId xmlns:a16="http://schemas.microsoft.com/office/drawing/2014/main" id="{F9E5A7C3-2C1B-485D-B9CD-F130AD5828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9" y="2507"/>
              <a:ext cx="272" cy="272"/>
            </a:xfrm>
            <a:prstGeom prst="ellipse">
              <a:avLst/>
            </a:prstGeom>
            <a:grpFill/>
            <a:ln w="15875" cap="flat" cmpd="sng" algn="ctr">
              <a:noFill/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b"/>
            <a:lstStyle/>
            <a:p>
              <a:pPr marL="0" marR="0" lvl="0" indent="0" algn="ctr" defTabSz="914400" eaLnBrk="1" fontAlgn="ctr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K</a:t>
              </a:r>
            </a:p>
          </p:txBody>
        </p:sp>
        <p:sp>
          <p:nvSpPr>
            <p:cNvPr id="118" name="Freeform 15">
              <a:extLst>
                <a:ext uri="{FF2B5EF4-FFF2-40B4-BE49-F238E27FC236}">
                  <a16:creationId xmlns:a16="http://schemas.microsoft.com/office/drawing/2014/main" id="{E434BFEE-5FE0-416D-86E8-3299C3D1211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65" y="569"/>
              <a:ext cx="382" cy="382"/>
            </a:xfrm>
            <a:custGeom>
              <a:avLst/>
              <a:gdLst>
                <a:gd name="T0" fmla="*/ 382 w 382"/>
                <a:gd name="T1" fmla="*/ 0 h 382"/>
                <a:gd name="T2" fmla="*/ 0 w 382"/>
                <a:gd name="T3" fmla="*/ 382 h 382"/>
                <a:gd name="T4" fmla="*/ 0 60000 65536"/>
                <a:gd name="T5" fmla="*/ 0 60000 65536"/>
                <a:gd name="T6" fmla="*/ 0 w 382"/>
                <a:gd name="T7" fmla="*/ 0 h 382"/>
                <a:gd name="T8" fmla="*/ 382 w 382"/>
                <a:gd name="T9" fmla="*/ 382 h 3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2" h="382">
                  <a:moveTo>
                    <a:pt x="382" y="0"/>
                  </a:moveTo>
                  <a:lnTo>
                    <a:pt x="0" y="382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DF9CB07E-569B-45F8-BF64-88B37E6BE49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11" y="555"/>
              <a:ext cx="402" cy="410"/>
            </a:xfrm>
            <a:custGeom>
              <a:avLst/>
              <a:gdLst>
                <a:gd name="T0" fmla="*/ 0 w 402"/>
                <a:gd name="T1" fmla="*/ 0 h 410"/>
                <a:gd name="T2" fmla="*/ 402 w 402"/>
                <a:gd name="T3" fmla="*/ 410 h 410"/>
                <a:gd name="T4" fmla="*/ 0 60000 65536"/>
                <a:gd name="T5" fmla="*/ 0 60000 65536"/>
                <a:gd name="T6" fmla="*/ 0 w 402"/>
                <a:gd name="T7" fmla="*/ 0 h 410"/>
                <a:gd name="T8" fmla="*/ 402 w 402"/>
                <a:gd name="T9" fmla="*/ 410 h 4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2" h="410">
                  <a:moveTo>
                    <a:pt x="0" y="0"/>
                  </a:moveTo>
                  <a:lnTo>
                    <a:pt x="402" y="410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0" name="Freeform 17">
              <a:extLst>
                <a:ext uri="{FF2B5EF4-FFF2-40B4-BE49-F238E27FC236}">
                  <a16:creationId xmlns:a16="http://schemas.microsoft.com/office/drawing/2014/main" id="{64662FAF-7177-449D-80E1-7C4B9276A5F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53" y="1180"/>
              <a:ext cx="146" cy="312"/>
            </a:xfrm>
            <a:custGeom>
              <a:avLst/>
              <a:gdLst>
                <a:gd name="T0" fmla="*/ 146 w 146"/>
                <a:gd name="T1" fmla="*/ 0 h 312"/>
                <a:gd name="T2" fmla="*/ 0 w 146"/>
                <a:gd name="T3" fmla="*/ 312 h 312"/>
                <a:gd name="T4" fmla="*/ 0 60000 65536"/>
                <a:gd name="T5" fmla="*/ 0 60000 65536"/>
                <a:gd name="T6" fmla="*/ 0 w 146"/>
                <a:gd name="T7" fmla="*/ 0 h 312"/>
                <a:gd name="T8" fmla="*/ 146 w 146"/>
                <a:gd name="T9" fmla="*/ 312 h 3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6" h="312">
                  <a:moveTo>
                    <a:pt x="146" y="0"/>
                  </a:moveTo>
                  <a:lnTo>
                    <a:pt x="0" y="312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1" name="Freeform 18">
              <a:extLst>
                <a:ext uri="{FF2B5EF4-FFF2-40B4-BE49-F238E27FC236}">
                  <a16:creationId xmlns:a16="http://schemas.microsoft.com/office/drawing/2014/main" id="{195DC30F-3679-49C6-9CE0-51180FEFD31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00" y="1180"/>
              <a:ext cx="139" cy="298"/>
            </a:xfrm>
            <a:custGeom>
              <a:avLst/>
              <a:gdLst>
                <a:gd name="T0" fmla="*/ 0 w 139"/>
                <a:gd name="T1" fmla="*/ 0 h 298"/>
                <a:gd name="T2" fmla="*/ 139 w 139"/>
                <a:gd name="T3" fmla="*/ 298 h 298"/>
                <a:gd name="T4" fmla="*/ 0 60000 65536"/>
                <a:gd name="T5" fmla="*/ 0 60000 65536"/>
                <a:gd name="T6" fmla="*/ 0 w 139"/>
                <a:gd name="T7" fmla="*/ 0 h 298"/>
                <a:gd name="T8" fmla="*/ 139 w 139"/>
                <a:gd name="T9" fmla="*/ 298 h 2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9" h="298">
                  <a:moveTo>
                    <a:pt x="0" y="0"/>
                  </a:moveTo>
                  <a:lnTo>
                    <a:pt x="139" y="298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2" name="Freeform 19">
              <a:extLst>
                <a:ext uri="{FF2B5EF4-FFF2-40B4-BE49-F238E27FC236}">
                  <a16:creationId xmlns:a16="http://schemas.microsoft.com/office/drawing/2014/main" id="{32D22A5B-B1ED-43FE-A493-323E5907EE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04" y="1217"/>
              <a:ext cx="8" cy="256"/>
            </a:xfrm>
            <a:custGeom>
              <a:avLst/>
              <a:gdLst>
                <a:gd name="T0" fmla="*/ 8 w 8"/>
                <a:gd name="T1" fmla="*/ 0 h 256"/>
                <a:gd name="T2" fmla="*/ 0 w 8"/>
                <a:gd name="T3" fmla="*/ 256 h 256"/>
                <a:gd name="T4" fmla="*/ 0 60000 65536"/>
                <a:gd name="T5" fmla="*/ 0 60000 65536"/>
                <a:gd name="T6" fmla="*/ 0 w 8"/>
                <a:gd name="T7" fmla="*/ 0 h 256"/>
                <a:gd name="T8" fmla="*/ 8 w 8"/>
                <a:gd name="T9" fmla="*/ 256 h 2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" h="256">
                  <a:moveTo>
                    <a:pt x="8" y="0"/>
                  </a:moveTo>
                  <a:lnTo>
                    <a:pt x="0" y="256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3" name="Freeform 20">
              <a:extLst>
                <a:ext uri="{FF2B5EF4-FFF2-40B4-BE49-F238E27FC236}">
                  <a16:creationId xmlns:a16="http://schemas.microsoft.com/office/drawing/2014/main" id="{29760111-6990-408A-B3E7-10911A6B91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11" y="1749"/>
              <a:ext cx="3" cy="239"/>
            </a:xfrm>
            <a:custGeom>
              <a:avLst/>
              <a:gdLst>
                <a:gd name="T0" fmla="*/ 0 w 3"/>
                <a:gd name="T1" fmla="*/ 0 h 239"/>
                <a:gd name="T2" fmla="*/ 3 w 3"/>
                <a:gd name="T3" fmla="*/ 239 h 239"/>
                <a:gd name="T4" fmla="*/ 0 60000 65536"/>
                <a:gd name="T5" fmla="*/ 0 60000 65536"/>
                <a:gd name="T6" fmla="*/ 0 w 3"/>
                <a:gd name="T7" fmla="*/ 0 h 239"/>
                <a:gd name="T8" fmla="*/ 3 w 3"/>
                <a:gd name="T9" fmla="*/ 239 h 23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39">
                  <a:moveTo>
                    <a:pt x="0" y="0"/>
                  </a:moveTo>
                  <a:lnTo>
                    <a:pt x="3" y="239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4" name="Freeform 21">
              <a:extLst>
                <a:ext uri="{FF2B5EF4-FFF2-40B4-BE49-F238E27FC236}">
                  <a16:creationId xmlns:a16="http://schemas.microsoft.com/office/drawing/2014/main" id="{CED223D7-B18E-461C-B753-4169B0B63D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11" y="2255"/>
              <a:ext cx="2" cy="252"/>
            </a:xfrm>
            <a:custGeom>
              <a:avLst/>
              <a:gdLst>
                <a:gd name="T0" fmla="*/ 0 w 2"/>
                <a:gd name="T1" fmla="*/ 0 h 252"/>
                <a:gd name="T2" fmla="*/ 2 w 2"/>
                <a:gd name="T3" fmla="*/ 252 h 252"/>
                <a:gd name="T4" fmla="*/ 0 60000 65536"/>
                <a:gd name="T5" fmla="*/ 0 60000 65536"/>
                <a:gd name="T6" fmla="*/ 0 w 2"/>
                <a:gd name="T7" fmla="*/ 0 h 252"/>
                <a:gd name="T8" fmla="*/ 2 w 2"/>
                <a:gd name="T9" fmla="*/ 252 h 2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252">
                  <a:moveTo>
                    <a:pt x="0" y="0"/>
                  </a:moveTo>
                  <a:lnTo>
                    <a:pt x="2" y="252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5" name="Freeform 22">
              <a:extLst>
                <a:ext uri="{FF2B5EF4-FFF2-40B4-BE49-F238E27FC236}">
                  <a16:creationId xmlns:a16="http://schemas.microsoft.com/office/drawing/2014/main" id="{B62F46BB-6EEA-42D9-BBAB-F786ECF777E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22" y="2200"/>
              <a:ext cx="284" cy="312"/>
            </a:xfrm>
            <a:custGeom>
              <a:avLst/>
              <a:gdLst>
                <a:gd name="T0" fmla="*/ 284 w 284"/>
                <a:gd name="T1" fmla="*/ 0 h 312"/>
                <a:gd name="T2" fmla="*/ 0 w 284"/>
                <a:gd name="T3" fmla="*/ 312 h 312"/>
                <a:gd name="T4" fmla="*/ 0 60000 65536"/>
                <a:gd name="T5" fmla="*/ 0 60000 65536"/>
                <a:gd name="T6" fmla="*/ 0 w 284"/>
                <a:gd name="T7" fmla="*/ 0 h 312"/>
                <a:gd name="T8" fmla="*/ 284 w 284"/>
                <a:gd name="T9" fmla="*/ 312 h 3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4" h="312">
                  <a:moveTo>
                    <a:pt x="284" y="0"/>
                  </a:moveTo>
                  <a:lnTo>
                    <a:pt x="0" y="312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6" name="Freeform 23">
              <a:extLst>
                <a:ext uri="{FF2B5EF4-FFF2-40B4-BE49-F238E27FC236}">
                  <a16:creationId xmlns:a16="http://schemas.microsoft.com/office/drawing/2014/main" id="{961C1BAA-1024-4079-87B8-5EC4DADCDB1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8" y="2193"/>
              <a:ext cx="278" cy="326"/>
            </a:xfrm>
            <a:custGeom>
              <a:avLst/>
              <a:gdLst>
                <a:gd name="T0" fmla="*/ 0 w 278"/>
                <a:gd name="T1" fmla="*/ 0 h 326"/>
                <a:gd name="T2" fmla="*/ 278 w 278"/>
                <a:gd name="T3" fmla="*/ 326 h 326"/>
                <a:gd name="T4" fmla="*/ 0 60000 65536"/>
                <a:gd name="T5" fmla="*/ 0 60000 65536"/>
                <a:gd name="T6" fmla="*/ 0 w 278"/>
                <a:gd name="T7" fmla="*/ 0 h 326"/>
                <a:gd name="T8" fmla="*/ 278 w 278"/>
                <a:gd name="T9" fmla="*/ 326 h 3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8" h="326">
                  <a:moveTo>
                    <a:pt x="0" y="0"/>
                  </a:moveTo>
                  <a:lnTo>
                    <a:pt x="278" y="326"/>
                  </a:lnTo>
                </a:path>
              </a:pathLst>
            </a:custGeom>
            <a:grpFill/>
            <a:ln w="15875" cap="flat" cmpd="sng" algn="ctr">
              <a:solidFill>
                <a:srgbClr val="5E2E8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ts val="2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52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F1BDC-4750-42C3-A37C-C5AA8426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树的存储结构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0E6B0-B967-4F1E-8E42-3782CCF7B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 dirty="0">
                <a:latin typeface="+mn-ea"/>
                <a:ea typeface="+mn-ea"/>
              </a:rPr>
              <a:t>主要的存储结构：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双亲</a:t>
            </a:r>
            <a:r>
              <a:rPr lang="zh-CN" altLang="en-US" dirty="0">
                <a:solidFill>
                  <a:srgbClr val="0000FF"/>
                </a:solidFill>
              </a:rPr>
              <a:t>表示法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孩子表示法</a:t>
            </a:r>
            <a:endParaRPr lang="en-US" altLang="zh-CN" dirty="0">
              <a:solidFill>
                <a:srgbClr val="0000FF"/>
              </a:solidFill>
              <a:latin typeface="+mn-ea"/>
              <a:ea typeface="+mn-ea"/>
            </a:endParaRPr>
          </a:p>
          <a:p>
            <a:pPr lvl="1"/>
            <a:r>
              <a:rPr lang="zh-CN" altLang="en-US" dirty="0"/>
              <a:t>孩子链表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  <a:ea typeface="+mn-ea"/>
              </a:rPr>
              <a:t>孩子指针数组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孩子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-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兄弟表示法</a:t>
            </a:r>
          </a:p>
        </p:txBody>
      </p:sp>
    </p:spTree>
    <p:extLst>
      <p:ext uri="{BB962C8B-B14F-4D97-AF65-F5344CB8AC3E}">
        <p14:creationId xmlns:p14="http://schemas.microsoft.com/office/powerpoint/2010/main" val="1668044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BD125-3078-4969-AB9A-010A17F3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双亲表示法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DC1384-F54C-46BE-93B7-0CFBE14B0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1388351"/>
          </a:xfrm>
        </p:spPr>
        <p:txBody>
          <a:bodyPr/>
          <a:lstStyle/>
          <a:p>
            <a:r>
              <a:rPr lang="zh-CN" altLang="en-US" dirty="0"/>
              <a:t>用一组连续空间存储树的所有结点。在每个结点中附设一个</a:t>
            </a:r>
            <a:r>
              <a:rPr lang="zh-CN" altLang="en-US" dirty="0">
                <a:solidFill>
                  <a:srgbClr val="0000FF"/>
                </a:solidFill>
              </a:rPr>
              <a:t>伪指针</a:t>
            </a:r>
            <a:r>
              <a:rPr lang="zh-CN" altLang="en-US" dirty="0"/>
              <a:t>指示其</a:t>
            </a:r>
            <a:r>
              <a:rPr lang="zh-CN" altLang="en-US" dirty="0">
                <a:solidFill>
                  <a:srgbClr val="FF0000"/>
                </a:solidFill>
              </a:rPr>
              <a:t>双亲结点的位置</a:t>
            </a:r>
            <a:r>
              <a:rPr lang="zh-CN" altLang="en-US" dirty="0"/>
              <a:t>。</a:t>
            </a:r>
          </a:p>
        </p:txBody>
      </p:sp>
      <p:grpSp>
        <p:nvGrpSpPr>
          <p:cNvPr id="42" name="组合 53">
            <a:extLst>
              <a:ext uri="{FF2B5EF4-FFF2-40B4-BE49-F238E27FC236}">
                <a16:creationId xmlns:a16="http://schemas.microsoft.com/office/drawing/2014/main" id="{9C9EA4F3-5EA7-4DF5-9751-A300E8B7FC51}"/>
              </a:ext>
            </a:extLst>
          </p:cNvPr>
          <p:cNvGrpSpPr/>
          <p:nvPr/>
        </p:nvGrpSpPr>
        <p:grpSpPr>
          <a:xfrm>
            <a:off x="611560" y="2548054"/>
            <a:ext cx="2976364" cy="3351280"/>
            <a:chOff x="1000100" y="2747970"/>
            <a:chExt cx="1800225" cy="2016125"/>
          </a:xfrm>
        </p:grpSpPr>
        <p:sp>
          <p:nvSpPr>
            <p:cNvPr id="43" name="Oval 6">
              <a:extLst>
                <a:ext uri="{FF2B5EF4-FFF2-40B4-BE49-F238E27FC236}">
                  <a16:creationId xmlns:a16="http://schemas.microsoft.com/office/drawing/2014/main" id="{09108668-17A6-459F-BFCE-F482FF53F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800" y="2747970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4" name="Oval 7">
              <a:extLst>
                <a:ext uri="{FF2B5EF4-FFF2-40B4-BE49-F238E27FC236}">
                  <a16:creationId xmlns:a16="http://schemas.microsoft.com/office/drawing/2014/main" id="{468168DF-5AEF-4ED8-AB86-ACA63DF77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100" y="3540132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5" name="Oval 8">
              <a:extLst>
                <a:ext uri="{FF2B5EF4-FFF2-40B4-BE49-F238E27FC236}">
                  <a16:creationId xmlns:a16="http://schemas.microsoft.com/office/drawing/2014/main" id="{07D82CEF-7370-4762-859A-B4D5D375B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800" y="3540132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6" name="Oval 9">
              <a:extLst>
                <a:ext uri="{FF2B5EF4-FFF2-40B4-BE49-F238E27FC236}">
                  <a16:creationId xmlns:a16="http://schemas.microsoft.com/office/drawing/2014/main" id="{1DFF1592-F173-488F-A742-0960416F6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525" y="3540132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47" name="Oval 10">
              <a:extLst>
                <a:ext uri="{FF2B5EF4-FFF2-40B4-BE49-F238E27FC236}">
                  <a16:creationId xmlns:a16="http://schemas.microsoft.com/office/drawing/2014/main" id="{F57243FE-6CCD-44F6-B105-AB2AAD4E3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100" y="4332295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8" name="Oval 11">
              <a:extLst>
                <a:ext uri="{FF2B5EF4-FFF2-40B4-BE49-F238E27FC236}">
                  <a16:creationId xmlns:a16="http://schemas.microsoft.com/office/drawing/2014/main" id="{42050771-910F-4A5E-A7D4-895FA9738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800" y="4332295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49" name="Oval 12">
              <a:extLst>
                <a:ext uri="{FF2B5EF4-FFF2-40B4-BE49-F238E27FC236}">
                  <a16:creationId xmlns:a16="http://schemas.microsoft.com/office/drawing/2014/main" id="{F5C71D1C-6ED7-41D1-A240-08555C88E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525" y="4332295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488EA317-8133-4388-83C4-33BD275829D4}"/>
                </a:ext>
              </a:extLst>
            </p:cNvPr>
            <p:cNvSpPr/>
            <p:nvPr/>
          </p:nvSpPr>
          <p:spPr bwMode="auto">
            <a:xfrm>
              <a:off x="1295375" y="3097220"/>
              <a:ext cx="393700" cy="469900"/>
            </a:xfrm>
            <a:custGeom>
              <a:avLst/>
              <a:gdLst/>
              <a:ahLst/>
              <a:cxnLst>
                <a:cxn ang="0">
                  <a:pos x="248" y="0"/>
                </a:cxn>
                <a:cxn ang="0">
                  <a:pos x="0" y="296"/>
                </a:cxn>
              </a:cxnLst>
              <a:rect l="0" t="0" r="r" b="b"/>
              <a:pathLst>
                <a:path w="248" h="296">
                  <a:moveTo>
                    <a:pt x="248" y="0"/>
                  </a:moveTo>
                  <a:lnTo>
                    <a:pt x="0" y="29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1" name="Line 14">
              <a:extLst>
                <a:ext uri="{FF2B5EF4-FFF2-40B4-BE49-F238E27FC236}">
                  <a16:creationId xmlns:a16="http://schemas.microsoft.com/office/drawing/2014/main" id="{55CA11AB-E95E-4C3F-B31D-AE25C99DD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700" y="3179770"/>
              <a:ext cx="0" cy="360362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9D6DB629-315C-4CC9-88BE-4D59F5010568}"/>
                </a:ext>
              </a:extLst>
            </p:cNvPr>
            <p:cNvSpPr/>
            <p:nvPr/>
          </p:nvSpPr>
          <p:spPr bwMode="auto">
            <a:xfrm>
              <a:off x="2038325" y="3097220"/>
              <a:ext cx="431800" cy="469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2" y="296"/>
                </a:cxn>
              </a:cxnLst>
              <a:rect l="0" t="0" r="r" b="b"/>
              <a:pathLst>
                <a:path w="272" h="296">
                  <a:moveTo>
                    <a:pt x="0" y="0"/>
                  </a:moveTo>
                  <a:lnTo>
                    <a:pt x="272" y="29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3" name="Line 16">
              <a:extLst>
                <a:ext uri="{FF2B5EF4-FFF2-40B4-BE49-F238E27FC236}">
                  <a16:creationId xmlns:a16="http://schemas.microsoft.com/office/drawing/2014/main" id="{E65F9743-D9FE-4278-BB9C-A7CBC91A7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700" y="3971932"/>
              <a:ext cx="0" cy="360363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1AB2C1F9-C083-47D8-9584-DEDF26ED3035}"/>
                </a:ext>
              </a:extLst>
            </p:cNvPr>
            <p:cNvSpPr/>
            <p:nvPr/>
          </p:nvSpPr>
          <p:spPr bwMode="auto">
            <a:xfrm>
              <a:off x="1276325" y="3871920"/>
              <a:ext cx="400050" cy="469900"/>
            </a:xfrm>
            <a:custGeom>
              <a:avLst/>
              <a:gdLst/>
              <a:ahLst/>
              <a:cxnLst>
                <a:cxn ang="0">
                  <a:pos x="252" y="0"/>
                </a:cxn>
                <a:cxn ang="0">
                  <a:pos x="0" y="296"/>
                </a:cxn>
              </a:cxnLst>
              <a:rect l="0" t="0" r="r" b="b"/>
              <a:pathLst>
                <a:path w="252" h="296">
                  <a:moveTo>
                    <a:pt x="252" y="0"/>
                  </a:moveTo>
                  <a:lnTo>
                    <a:pt x="0" y="29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F78BBAFB-71FB-4099-B84B-842C315FCDE1}"/>
                </a:ext>
              </a:extLst>
            </p:cNvPr>
            <p:cNvSpPr/>
            <p:nvPr/>
          </p:nvSpPr>
          <p:spPr bwMode="auto">
            <a:xfrm>
              <a:off x="2057375" y="3846520"/>
              <a:ext cx="438150" cy="501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6" y="316"/>
                </a:cxn>
              </a:cxnLst>
              <a:rect l="0" t="0" r="r" b="b"/>
              <a:pathLst>
                <a:path w="276" h="316">
                  <a:moveTo>
                    <a:pt x="0" y="0"/>
                  </a:moveTo>
                  <a:lnTo>
                    <a:pt x="276" y="31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56" name="AutoShape 19">
            <a:extLst>
              <a:ext uri="{FF2B5EF4-FFF2-40B4-BE49-F238E27FC236}">
                <a16:creationId xmlns:a16="http://schemas.microsoft.com/office/drawing/2014/main" id="{72B93977-7F79-4929-845D-645E16A44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339" y="3887196"/>
            <a:ext cx="742779" cy="598406"/>
          </a:xfrm>
          <a:prstGeom prst="rightArrow">
            <a:avLst>
              <a:gd name="adj1" fmla="val 50000"/>
              <a:gd name="adj2" fmla="val 42902"/>
            </a:avLst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tailEnd type="none" w="med" len="lg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grpSp>
        <p:nvGrpSpPr>
          <p:cNvPr id="57" name="Group 43">
            <a:extLst>
              <a:ext uri="{FF2B5EF4-FFF2-40B4-BE49-F238E27FC236}">
                <a16:creationId xmlns:a16="http://schemas.microsoft.com/office/drawing/2014/main" id="{A250431A-E637-4A7A-816B-31935E457A1A}"/>
              </a:ext>
            </a:extLst>
          </p:cNvPr>
          <p:cNvGrpSpPr/>
          <p:nvPr/>
        </p:nvGrpSpPr>
        <p:grpSpPr bwMode="auto">
          <a:xfrm>
            <a:off x="6516216" y="2458940"/>
            <a:ext cx="1070861" cy="4208891"/>
            <a:chOff x="3697" y="972"/>
            <a:chExt cx="408" cy="1595"/>
          </a:xfrm>
        </p:grpSpPr>
        <p:sp>
          <p:nvSpPr>
            <p:cNvPr id="58" name="Rectangle 21">
              <a:extLst>
                <a:ext uri="{FF2B5EF4-FFF2-40B4-BE49-F238E27FC236}">
                  <a16:creationId xmlns:a16="http://schemas.microsoft.com/office/drawing/2014/main" id="{56076EC8-A03D-4E2A-8414-1FA171F2D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972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2D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9" name="Rectangle 24">
              <a:extLst>
                <a:ext uri="{FF2B5EF4-FFF2-40B4-BE49-F238E27FC236}">
                  <a16:creationId xmlns:a16="http://schemas.microsoft.com/office/drawing/2014/main" id="{4981BA11-908A-4237-82F2-E2E8E8B48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198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2D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0" name="Rectangle 27">
              <a:extLst>
                <a:ext uri="{FF2B5EF4-FFF2-40B4-BE49-F238E27FC236}">
                  <a16:creationId xmlns:a16="http://schemas.microsoft.com/office/drawing/2014/main" id="{6092ACDD-77D4-429C-B627-CD5794F16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429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2D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1" name="Rectangle 30">
              <a:extLst>
                <a:ext uri="{FF2B5EF4-FFF2-40B4-BE49-F238E27FC236}">
                  <a16:creationId xmlns:a16="http://schemas.microsoft.com/office/drawing/2014/main" id="{5AEEA8A9-C109-4CC8-97FE-75A9B96F0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659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2D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2" name="Rectangle 33">
              <a:extLst>
                <a:ext uri="{FF2B5EF4-FFF2-40B4-BE49-F238E27FC236}">
                  <a16:creationId xmlns:a16="http://schemas.microsoft.com/office/drawing/2014/main" id="{261394F3-90A9-412A-BB3E-94B4F89B0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883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2D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63" name="Rectangle 36">
              <a:extLst>
                <a:ext uri="{FF2B5EF4-FFF2-40B4-BE49-F238E27FC236}">
                  <a16:creationId xmlns:a16="http://schemas.microsoft.com/office/drawing/2014/main" id="{A1162984-3EE1-43F8-A747-447EEFBB7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2113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2D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64" name="Rectangle 39">
              <a:extLst>
                <a:ext uri="{FF2B5EF4-FFF2-40B4-BE49-F238E27FC236}">
                  <a16:creationId xmlns:a16="http://schemas.microsoft.com/office/drawing/2014/main" id="{EACFE76E-EFAC-4BDF-945E-27560395B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2340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2D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5" name="Group 42">
            <a:extLst>
              <a:ext uri="{FF2B5EF4-FFF2-40B4-BE49-F238E27FC236}">
                <a16:creationId xmlns:a16="http://schemas.microsoft.com/office/drawing/2014/main" id="{1FDCC8E1-C5EC-41FE-98BA-543DE9CFA2E8}"/>
              </a:ext>
            </a:extLst>
          </p:cNvPr>
          <p:cNvGrpSpPr/>
          <p:nvPr/>
        </p:nvGrpSpPr>
        <p:grpSpPr bwMode="auto">
          <a:xfrm>
            <a:off x="4650540" y="2460470"/>
            <a:ext cx="1881880" cy="4280139"/>
            <a:chOff x="3025" y="972"/>
            <a:chExt cx="717" cy="1622"/>
          </a:xfrm>
        </p:grpSpPr>
        <p:sp>
          <p:nvSpPr>
            <p:cNvPr id="66" name="Rectangle 20">
              <a:extLst>
                <a:ext uri="{FF2B5EF4-FFF2-40B4-BE49-F238E27FC236}">
                  <a16:creationId xmlns:a16="http://schemas.microsoft.com/office/drawing/2014/main" id="{8975C91F-A5DB-44BF-A6DF-8BFA04011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972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67" name="Text Box 22">
              <a:extLst>
                <a:ext uri="{FF2B5EF4-FFF2-40B4-BE49-F238E27FC236}">
                  <a16:creationId xmlns:a16="http://schemas.microsoft.com/office/drawing/2014/main" id="{45A88F3E-E57B-4B32-91B7-B00D0BDA8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988"/>
              <a:ext cx="272" cy="24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8" name="Rectangle 23">
              <a:extLst>
                <a:ext uri="{FF2B5EF4-FFF2-40B4-BE49-F238E27FC236}">
                  <a16:creationId xmlns:a16="http://schemas.microsoft.com/office/drawing/2014/main" id="{B6F61BD2-CB83-4A30-A382-65E429AAE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198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69" name="Text Box 25">
              <a:extLst>
                <a:ext uri="{FF2B5EF4-FFF2-40B4-BE49-F238E27FC236}">
                  <a16:creationId xmlns:a16="http://schemas.microsoft.com/office/drawing/2014/main" id="{05DD62CA-3E57-46C2-96AD-457AF8E5C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1205"/>
              <a:ext cx="272" cy="24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  <a:sym typeface="+mn-ea"/>
                </a:rPr>
                <a:t>1</a:t>
              </a:r>
            </a:p>
          </p:txBody>
        </p:sp>
        <p:sp>
          <p:nvSpPr>
            <p:cNvPr id="70" name="Rectangle 26">
              <a:extLst>
                <a:ext uri="{FF2B5EF4-FFF2-40B4-BE49-F238E27FC236}">
                  <a16:creationId xmlns:a16="http://schemas.microsoft.com/office/drawing/2014/main" id="{37C46B56-392B-45EE-AB42-0423AA3B5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425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71" name="Text Box 28">
              <a:extLst>
                <a:ext uri="{FF2B5EF4-FFF2-40B4-BE49-F238E27FC236}">
                  <a16:creationId xmlns:a16="http://schemas.microsoft.com/office/drawing/2014/main" id="{8AA99457-9960-447F-B309-06FDF927B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1432"/>
              <a:ext cx="272" cy="24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  <a:sym typeface="+mn-ea"/>
                </a:rPr>
                <a:t>2</a:t>
              </a:r>
            </a:p>
          </p:txBody>
        </p:sp>
        <p:sp>
          <p:nvSpPr>
            <p:cNvPr id="72" name="Rectangle 29">
              <a:extLst>
                <a:ext uri="{FF2B5EF4-FFF2-40B4-BE49-F238E27FC236}">
                  <a16:creationId xmlns:a16="http://schemas.microsoft.com/office/drawing/2014/main" id="{01B34994-A88A-493F-800E-123535FA7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659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73" name="Text Box 31">
              <a:extLst>
                <a:ext uri="{FF2B5EF4-FFF2-40B4-BE49-F238E27FC236}">
                  <a16:creationId xmlns:a16="http://schemas.microsoft.com/office/drawing/2014/main" id="{293146E1-DEFA-472D-A4DE-462B28479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1666"/>
              <a:ext cx="272" cy="24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  <a:sym typeface="+mn-ea"/>
                </a:rPr>
                <a:t>3</a:t>
              </a:r>
            </a:p>
          </p:txBody>
        </p:sp>
        <p:sp>
          <p:nvSpPr>
            <p:cNvPr id="74" name="Rectangle 32">
              <a:extLst>
                <a:ext uri="{FF2B5EF4-FFF2-40B4-BE49-F238E27FC236}">
                  <a16:creationId xmlns:a16="http://schemas.microsoft.com/office/drawing/2014/main" id="{8B0B7AE7-A97A-47A1-9E7F-A1D720A67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879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75" name="Text Box 34">
              <a:extLst>
                <a:ext uri="{FF2B5EF4-FFF2-40B4-BE49-F238E27FC236}">
                  <a16:creationId xmlns:a16="http://schemas.microsoft.com/office/drawing/2014/main" id="{0AD4EA12-E65B-4950-84B7-A25B1183E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1886"/>
              <a:ext cx="272" cy="24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  <a:sym typeface="+mn-ea"/>
                </a:rPr>
                <a:t>4</a:t>
              </a:r>
            </a:p>
          </p:txBody>
        </p:sp>
        <p:sp>
          <p:nvSpPr>
            <p:cNvPr id="76" name="Rectangle 35">
              <a:extLst>
                <a:ext uri="{FF2B5EF4-FFF2-40B4-BE49-F238E27FC236}">
                  <a16:creationId xmlns:a16="http://schemas.microsoft.com/office/drawing/2014/main" id="{01B5267A-5397-49DD-9074-DB3DE49DE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2113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77" name="Text Box 37">
              <a:extLst>
                <a:ext uri="{FF2B5EF4-FFF2-40B4-BE49-F238E27FC236}">
                  <a16:creationId xmlns:a16="http://schemas.microsoft.com/office/drawing/2014/main" id="{32125FE0-FBF2-4C8E-BEF4-E3C2113D6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120"/>
              <a:ext cx="272" cy="24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  <a:sym typeface="+mn-ea"/>
                </a:rPr>
                <a:t>5</a:t>
              </a:r>
            </a:p>
          </p:txBody>
        </p:sp>
        <p:sp>
          <p:nvSpPr>
            <p:cNvPr id="78" name="Rectangle 38">
              <a:extLst>
                <a:ext uri="{FF2B5EF4-FFF2-40B4-BE49-F238E27FC236}">
                  <a16:creationId xmlns:a16="http://schemas.microsoft.com/office/drawing/2014/main" id="{6118C58C-D5D6-4BFA-903B-3D94CD4B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2340"/>
              <a:ext cx="408" cy="227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79" name="Text Box 40">
              <a:extLst>
                <a:ext uri="{FF2B5EF4-FFF2-40B4-BE49-F238E27FC236}">
                  <a16:creationId xmlns:a16="http://schemas.microsoft.com/office/drawing/2014/main" id="{6728ED65-DABD-4CB3-A17E-12483C65C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347"/>
              <a:ext cx="272" cy="24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6">
                          <a:tint val="50000"/>
                          <a:satMod val="300000"/>
                        </a:schemeClr>
                      </a:gs>
                      <a:gs pos="35000">
                        <a:schemeClr val="accent6">
                          <a:tint val="37000"/>
                          <a:satMod val="300000"/>
                        </a:schemeClr>
                      </a:gs>
                      <a:gs pos="100000">
                        <a:schemeClr val="accent6">
                          <a:tint val="15000"/>
                          <a:satMod val="350000"/>
                        </a:schemeClr>
                      </a:gs>
                    </a:gsLst>
                    <a:lin ang="16200000" scaled="1"/>
                  </a:gradFill>
                </a14:hiddenFill>
              </a:ext>
            </a:extLst>
          </p:spPr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  <a:sym typeface="+mn-ea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070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190EF-A22B-47C7-81F6-E991CA73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双亲表示法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83D61-C4E9-4453-9ED3-78891770C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4505"/>
            <a:ext cx="9144000" cy="5472112"/>
          </a:xfrm>
        </p:spPr>
        <p:txBody>
          <a:bodyPr/>
          <a:lstStyle/>
          <a:p>
            <a:r>
              <a:rPr lang="zh-CN" altLang="en-US" dirty="0"/>
              <a:t>树中结点的存放顺序一般不做特殊要求，但为了操作实现的方便，有时也会按特定的顺序存放。例如，可以按树的先根或层次遍历次序存放树中所有结点。</a:t>
            </a:r>
            <a:endParaRPr lang="en-US" altLang="zh-CN" dirty="0"/>
          </a:p>
          <a:p>
            <a:r>
              <a:rPr lang="zh-CN" altLang="en-US" dirty="0"/>
              <a:t>利用了树中</a:t>
            </a:r>
            <a:r>
              <a:rPr lang="zh-CN" altLang="en-US" dirty="0">
                <a:solidFill>
                  <a:srgbClr val="FF0000"/>
                </a:solidFill>
              </a:rPr>
              <a:t>每个非根结点只有唯一双亲</a:t>
            </a:r>
            <a:r>
              <a:rPr lang="zh-CN" altLang="en-US" dirty="0"/>
              <a:t>的性质。</a:t>
            </a:r>
            <a:endParaRPr lang="en-US" altLang="zh-CN" dirty="0"/>
          </a:p>
          <a:p>
            <a:r>
              <a:rPr lang="zh-CN" altLang="en-US" dirty="0"/>
              <a:t>每个结点只需存放双亲结点位置，可节省存储空间</a:t>
            </a:r>
          </a:p>
          <a:p>
            <a:r>
              <a:rPr lang="zh-CN" altLang="en-US" dirty="0"/>
              <a:t>方便查找每个结点的</a:t>
            </a:r>
            <a:r>
              <a:rPr lang="zh-CN" altLang="en-US" dirty="0">
                <a:solidFill>
                  <a:srgbClr val="0000FF"/>
                </a:solidFill>
              </a:rPr>
              <a:t>双亲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祖先结点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求某结点的</a:t>
            </a:r>
            <a:r>
              <a:rPr lang="zh-CN" altLang="en-US" dirty="0">
                <a:solidFill>
                  <a:srgbClr val="0000FF"/>
                </a:solidFill>
              </a:rPr>
              <a:t>孩子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兄弟结点</a:t>
            </a:r>
            <a:r>
              <a:rPr lang="zh-CN" altLang="en-US" dirty="0"/>
              <a:t>时需要遍历整个结构。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295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FAB3D-A4C5-4355-8D8F-C73A75AA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171" y="217103"/>
            <a:ext cx="6400800" cy="508548"/>
          </a:xfrm>
        </p:spPr>
        <p:txBody>
          <a:bodyPr/>
          <a:lstStyle/>
          <a:p>
            <a:r>
              <a:rPr lang="zh-CN" altLang="en-US" dirty="0"/>
              <a:t>双亲表示法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B87B6-C4F4-4427-B51F-C6FBB1CB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171" y="744505"/>
            <a:ext cx="7328229" cy="5896392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n-lt"/>
              </a:rPr>
              <a:t>#define MAX_TREE_SIZE  100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typedef struct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ElemType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 data;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    int   parent;  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双亲位置域</a:t>
            </a:r>
            <a:endParaRPr lang="en-US" altLang="zh-CN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} 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PTNode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typedef struct {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    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PTNode</a:t>
            </a:r>
            <a:r>
              <a:rPr lang="en-US" altLang="zh-CN" dirty="0">
                <a:latin typeface="+mn-lt"/>
              </a:rPr>
              <a:t>  nodes[MAX_TREE_SIZE];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    int   r, n;    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根结点的位置和结点个数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} </a:t>
            </a:r>
            <a:r>
              <a:rPr lang="en-US" altLang="zh-CN" dirty="0" err="1">
                <a:latin typeface="+mn-lt"/>
              </a:rPr>
              <a:t>PTree</a:t>
            </a:r>
            <a:r>
              <a:rPr lang="en-US" altLang="zh-CN" dirty="0">
                <a:latin typeface="+mn-lt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40747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0A60E-E2B2-4D2B-BC9D-9A20C886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7CCA8-ED53-4010-AC6B-A886A44D4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每个结点中存放其</a:t>
            </a:r>
            <a:r>
              <a:rPr lang="zh-CN" altLang="en-US" dirty="0">
                <a:solidFill>
                  <a:srgbClr val="FF0000"/>
                </a:solidFill>
              </a:rPr>
              <a:t>所有孩子结点的位置信息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存放</a:t>
            </a:r>
            <a:r>
              <a:rPr lang="zh-CN" altLang="en-US" dirty="0">
                <a:solidFill>
                  <a:srgbClr val="0000FF"/>
                </a:solidFill>
              </a:rPr>
              <a:t>孩子链表</a:t>
            </a:r>
            <a:r>
              <a:rPr lang="zh-CN" altLang="en-US" dirty="0"/>
              <a:t>的头指针</a:t>
            </a:r>
          </a:p>
          <a:p>
            <a:pPr lvl="1"/>
            <a:r>
              <a:rPr lang="zh-CN" altLang="en-US" dirty="0"/>
              <a:t>存放指向每个孩子结点的指针（</a:t>
            </a:r>
            <a:r>
              <a:rPr lang="zh-CN" altLang="en-US" dirty="0">
                <a:solidFill>
                  <a:srgbClr val="0000FF"/>
                </a:solidFill>
              </a:rPr>
              <a:t>多重链表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  <a:ea typeface="+mn-ea"/>
              </a:rPr>
              <a:t>同构：定长数组，长度为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树的度</a:t>
            </a:r>
            <a:r>
              <a:rPr lang="zh-CN" altLang="en-US" dirty="0">
                <a:latin typeface="+mn-ea"/>
                <a:ea typeface="+mn-ea"/>
              </a:rPr>
              <a:t>（设为</a:t>
            </a:r>
            <a:r>
              <a:rPr lang="en-US" altLang="zh-CN" dirty="0">
                <a:latin typeface="+mn-ea"/>
                <a:ea typeface="+mn-ea"/>
              </a:rPr>
              <a:t>m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en-US" altLang="zh-CN" dirty="0">
              <a:latin typeface="+mn-ea"/>
              <a:ea typeface="+mn-ea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  <a:ea typeface="+mn-ea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  <a:ea typeface="+mn-ea"/>
              </a:rPr>
              <a:t>不同构：变长数组（假设每个结点的度为</a:t>
            </a:r>
            <a:r>
              <a:rPr lang="en-US" altLang="zh-CN" dirty="0">
                <a:latin typeface="+mn-ea"/>
                <a:ea typeface="+mn-ea"/>
              </a:rPr>
              <a:t>d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en-US" altLang="zh-CN" dirty="0">
              <a:latin typeface="+mn-ea"/>
              <a:ea typeface="+mn-ea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  <a:ea typeface="+mn-ea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id="{F2E19329-8171-4BC4-BA00-A6816729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916" y="3284984"/>
            <a:ext cx="7048500" cy="5334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rgbClr val="0033CC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黑体" panose="02010609060101010101" pitchFamily="49" charset="-122"/>
              </a:rPr>
              <a:t> </a:t>
            </a:r>
            <a:r>
              <a:rPr kumimoji="1" lang="en-US" altLang="zh-CN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</a:rPr>
              <a:t>data </a:t>
            </a:r>
          </a:p>
        </p:txBody>
      </p:sp>
      <p:sp>
        <p:nvSpPr>
          <p:cNvPr id="11" name="Text Box 27">
            <a:extLst>
              <a:ext uri="{FF2B5EF4-FFF2-40B4-BE49-F238E27FC236}">
                <a16:creationId xmlns:a16="http://schemas.microsoft.com/office/drawing/2014/main" id="{F84129EF-8908-4C91-B0D0-EABCE76A7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941" y="3299271"/>
            <a:ext cx="1082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dirty="0">
                <a:solidFill>
                  <a:schemeClr val="accent2"/>
                </a:solidFill>
                <a:ea typeface="黑体" panose="02010609060101010101" pitchFamily="49" charset="-122"/>
              </a:rPr>
              <a:t>child</a:t>
            </a:r>
            <a:r>
              <a:rPr kumimoji="1" lang="en-US" altLang="zh-CN" baseline="-25000" dirty="0">
                <a:solidFill>
                  <a:schemeClr val="accent2"/>
                </a:solidFill>
                <a:ea typeface="黑体" panose="02010609060101010101" pitchFamily="49" charset="-122"/>
              </a:rPr>
              <a:t>1</a:t>
            </a:r>
            <a:endParaRPr kumimoji="1" lang="en-US" altLang="zh-CN" b="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6312A7FD-210F-4B14-8A4A-AE6B10589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816" y="3299271"/>
            <a:ext cx="1055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dirty="0">
                <a:solidFill>
                  <a:schemeClr val="accent2"/>
                </a:solidFill>
                <a:ea typeface="黑体" panose="02010609060101010101" pitchFamily="49" charset="-122"/>
              </a:rPr>
              <a:t>child</a:t>
            </a:r>
            <a:r>
              <a:rPr kumimoji="1" lang="en-US" altLang="zh-CN" baseline="-25000" dirty="0">
                <a:solidFill>
                  <a:schemeClr val="accent2"/>
                </a:solidFill>
                <a:ea typeface="黑体" panose="02010609060101010101" pitchFamily="49" charset="-122"/>
              </a:rPr>
              <a:t>2</a:t>
            </a:r>
            <a:endParaRPr kumimoji="1" lang="en-US" altLang="zh-CN" b="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" name="Text Box 32">
            <a:extLst>
              <a:ext uri="{FF2B5EF4-FFF2-40B4-BE49-F238E27FC236}">
                <a16:creationId xmlns:a16="http://schemas.microsoft.com/office/drawing/2014/main" id="{7E3D7694-5524-4BA8-BE85-06FFF8C8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816" y="3299271"/>
            <a:ext cx="1055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dirty="0">
                <a:solidFill>
                  <a:schemeClr val="accent2"/>
                </a:solidFill>
                <a:ea typeface="黑体" panose="02010609060101010101" pitchFamily="49" charset="-122"/>
              </a:rPr>
              <a:t>child</a:t>
            </a:r>
            <a:r>
              <a:rPr kumimoji="1" lang="en-US" altLang="zh-CN" baseline="-25000" dirty="0">
                <a:solidFill>
                  <a:schemeClr val="accent2"/>
                </a:solidFill>
                <a:ea typeface="黑体" panose="02010609060101010101" pitchFamily="49" charset="-122"/>
              </a:rPr>
              <a:t>3</a:t>
            </a:r>
            <a:endParaRPr kumimoji="1" lang="en-US" altLang="zh-CN" b="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" name="Line 33">
            <a:extLst>
              <a:ext uri="{FF2B5EF4-FFF2-40B4-BE49-F238E27FC236}">
                <a16:creationId xmlns:a16="http://schemas.microsoft.com/office/drawing/2014/main" id="{022AF85D-8816-4C8B-AB6D-CB7714E92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616" y="3589784"/>
            <a:ext cx="762000" cy="0"/>
          </a:xfrm>
          <a:prstGeom prst="line">
            <a:avLst/>
          </a:prstGeom>
          <a:noFill/>
          <a:ln w="762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Text Box 34">
            <a:extLst>
              <a:ext uri="{FF2B5EF4-FFF2-40B4-BE49-F238E27FC236}">
                <a16:creationId xmlns:a16="http://schemas.microsoft.com/office/drawing/2014/main" id="{C90303A0-A7E2-41F3-8451-1BA70F5DB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4416" y="3299271"/>
            <a:ext cx="11288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dirty="0" err="1">
                <a:solidFill>
                  <a:schemeClr val="accent2"/>
                </a:solidFill>
                <a:ea typeface="黑体" panose="02010609060101010101" pitchFamily="49" charset="-122"/>
              </a:rPr>
              <a:t>child</a:t>
            </a:r>
            <a:r>
              <a:rPr kumimoji="1" lang="en-US" altLang="zh-CN" i="1" baseline="-25000" dirty="0" err="1">
                <a:solidFill>
                  <a:schemeClr val="accent2"/>
                </a:solidFill>
                <a:ea typeface="黑体" panose="02010609060101010101" pitchFamily="49" charset="-122"/>
              </a:rPr>
              <a:t>m</a:t>
            </a:r>
            <a:endParaRPr kumimoji="1" lang="en-US" altLang="zh-CN" b="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602DA2AC-A824-4792-9F70-B787C6987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916" y="4907717"/>
            <a:ext cx="7048500" cy="5334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rgbClr val="0033CC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黑体" panose="02010609060101010101" pitchFamily="49" charset="-122"/>
              </a:rPr>
              <a:t> </a:t>
            </a:r>
            <a:r>
              <a:rPr kumimoji="1" lang="en-US" altLang="zh-CN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</a:rPr>
              <a:t>data </a:t>
            </a:r>
          </a:p>
        </p:txBody>
      </p:sp>
      <p:sp>
        <p:nvSpPr>
          <p:cNvPr id="17" name="Text Box 27">
            <a:extLst>
              <a:ext uri="{FF2B5EF4-FFF2-40B4-BE49-F238E27FC236}">
                <a16:creationId xmlns:a16="http://schemas.microsoft.com/office/drawing/2014/main" id="{62198F3F-6AF9-4D36-B6FC-DC3CEF445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942" y="4922004"/>
            <a:ext cx="1063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CN" dirty="0">
                <a:solidFill>
                  <a:srgbClr val="C00000"/>
                </a:solidFill>
                <a:ea typeface="黑体" panose="02010609060101010101" pitchFamily="49" charset="-122"/>
              </a:rPr>
              <a:t>d</a:t>
            </a:r>
            <a:endParaRPr kumimoji="1" lang="en-US" altLang="zh-CN" b="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Text Box 31">
            <a:extLst>
              <a:ext uri="{FF2B5EF4-FFF2-40B4-BE49-F238E27FC236}">
                <a16:creationId xmlns:a16="http://schemas.microsoft.com/office/drawing/2014/main" id="{A1AC147B-BD7F-45BD-8189-C653BB91A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816" y="4922004"/>
            <a:ext cx="1063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dirty="0">
                <a:solidFill>
                  <a:schemeClr val="accent2"/>
                </a:solidFill>
                <a:ea typeface="黑体" panose="02010609060101010101" pitchFamily="49" charset="-122"/>
              </a:rPr>
              <a:t>child</a:t>
            </a:r>
            <a:r>
              <a:rPr kumimoji="1" lang="en-US" altLang="zh-CN" baseline="-25000" dirty="0">
                <a:solidFill>
                  <a:schemeClr val="accent2"/>
                </a:solidFill>
                <a:ea typeface="黑体" panose="02010609060101010101" pitchFamily="49" charset="-122"/>
              </a:rPr>
              <a:t>1</a:t>
            </a:r>
            <a:endParaRPr kumimoji="1" lang="en-US" altLang="zh-CN" b="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9" name="Text Box 32">
            <a:extLst>
              <a:ext uri="{FF2B5EF4-FFF2-40B4-BE49-F238E27FC236}">
                <a16:creationId xmlns:a16="http://schemas.microsoft.com/office/drawing/2014/main" id="{19CA1B6A-A351-4089-A5C7-86C234CCF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816" y="4922004"/>
            <a:ext cx="1055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dirty="0">
                <a:solidFill>
                  <a:schemeClr val="accent2"/>
                </a:solidFill>
                <a:ea typeface="黑体" panose="02010609060101010101" pitchFamily="49" charset="-122"/>
              </a:rPr>
              <a:t>child</a:t>
            </a:r>
            <a:r>
              <a:rPr kumimoji="1" lang="en-US" altLang="zh-CN" baseline="-25000" dirty="0">
                <a:solidFill>
                  <a:schemeClr val="accent2"/>
                </a:solidFill>
                <a:ea typeface="黑体" panose="02010609060101010101" pitchFamily="49" charset="-122"/>
              </a:rPr>
              <a:t>2</a:t>
            </a:r>
            <a:endParaRPr kumimoji="1" lang="en-US" altLang="zh-CN" b="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0" name="Line 33">
            <a:extLst>
              <a:ext uri="{FF2B5EF4-FFF2-40B4-BE49-F238E27FC236}">
                <a16:creationId xmlns:a16="http://schemas.microsoft.com/office/drawing/2014/main" id="{259FFD27-6026-45F5-AAFC-A15E5EBE5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616" y="5212517"/>
            <a:ext cx="762000" cy="0"/>
          </a:xfrm>
          <a:prstGeom prst="line">
            <a:avLst/>
          </a:prstGeom>
          <a:noFill/>
          <a:ln w="762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Text Box 34">
            <a:extLst>
              <a:ext uri="{FF2B5EF4-FFF2-40B4-BE49-F238E27FC236}">
                <a16:creationId xmlns:a16="http://schemas.microsoft.com/office/drawing/2014/main" id="{63E3148E-89BE-466C-9697-70BEA8F33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4416" y="4922004"/>
            <a:ext cx="1063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dirty="0" err="1">
                <a:solidFill>
                  <a:schemeClr val="accent2"/>
                </a:solidFill>
                <a:ea typeface="黑体" panose="02010609060101010101" pitchFamily="49" charset="-122"/>
              </a:rPr>
              <a:t>child</a:t>
            </a:r>
            <a:r>
              <a:rPr kumimoji="1" lang="en-US" altLang="zh-CN" i="1" baseline="-25000" dirty="0" err="1">
                <a:solidFill>
                  <a:schemeClr val="accent2"/>
                </a:solidFill>
                <a:ea typeface="黑体" panose="02010609060101010101" pitchFamily="49" charset="-122"/>
              </a:rPr>
              <a:t>d</a:t>
            </a:r>
            <a:endParaRPr kumimoji="1" lang="en-US" altLang="zh-CN" b="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1056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F18F2-C29D-4C42-B1C1-B303668A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孩子表示法（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grpSp>
        <p:nvGrpSpPr>
          <p:cNvPr id="91" name="Group 4">
            <a:extLst>
              <a:ext uri="{FF2B5EF4-FFF2-40B4-BE49-F238E27FC236}">
                <a16:creationId xmlns:a16="http://schemas.microsoft.com/office/drawing/2014/main" id="{D8C3998E-9221-4B1F-915A-FEEEC6A48C1A}"/>
              </a:ext>
            </a:extLst>
          </p:cNvPr>
          <p:cNvGrpSpPr>
            <a:grpSpLocks/>
          </p:cNvGrpSpPr>
          <p:nvPr/>
        </p:nvGrpSpPr>
        <p:grpSpPr bwMode="auto">
          <a:xfrm>
            <a:off x="61607" y="2072215"/>
            <a:ext cx="3122310" cy="3012969"/>
            <a:chOff x="538" y="873"/>
            <a:chExt cx="1350" cy="1298"/>
          </a:xfrm>
        </p:grpSpPr>
        <p:sp>
          <p:nvSpPr>
            <p:cNvPr id="92" name="Line 5">
              <a:extLst>
                <a:ext uri="{FF2B5EF4-FFF2-40B4-BE49-F238E27FC236}">
                  <a16:creationId xmlns:a16="http://schemas.microsoft.com/office/drawing/2014/main" id="{11698657-66A5-4FCE-90A6-5FC0E45C5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1632"/>
              <a:ext cx="0" cy="336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6">
              <a:extLst>
                <a:ext uri="{FF2B5EF4-FFF2-40B4-BE49-F238E27FC236}">
                  <a16:creationId xmlns:a16="http://schemas.microsoft.com/office/drawing/2014/main" id="{43EA63AB-ABB8-4F64-B735-AF55DE1B3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" y="1104"/>
              <a:ext cx="336" cy="43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7">
              <a:extLst>
                <a:ext uri="{FF2B5EF4-FFF2-40B4-BE49-F238E27FC236}">
                  <a16:creationId xmlns:a16="http://schemas.microsoft.com/office/drawing/2014/main" id="{A8F17F90-04FD-4816-B004-52445FB72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2" y="1632"/>
              <a:ext cx="144" cy="2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Line 8">
              <a:extLst>
                <a:ext uri="{FF2B5EF4-FFF2-40B4-BE49-F238E27FC236}">
                  <a16:creationId xmlns:a16="http://schemas.microsoft.com/office/drawing/2014/main" id="{345E9F5C-C788-4DDE-AACD-D4B79F1B13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2" y="1632"/>
              <a:ext cx="144" cy="336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9">
              <a:extLst>
                <a:ext uri="{FF2B5EF4-FFF2-40B4-BE49-F238E27FC236}">
                  <a16:creationId xmlns:a16="http://schemas.microsoft.com/office/drawing/2014/main" id="{C2446038-779F-44C9-9B82-09FF8FEE2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2" y="1152"/>
              <a:ext cx="288" cy="2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10">
              <a:extLst>
                <a:ext uri="{FF2B5EF4-FFF2-40B4-BE49-F238E27FC236}">
                  <a16:creationId xmlns:a16="http://schemas.microsoft.com/office/drawing/2014/main" id="{D0492CC9-6634-4996-907B-D864B075F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" y="1152"/>
              <a:ext cx="0" cy="2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Oval 11">
              <a:extLst>
                <a:ext uri="{FF2B5EF4-FFF2-40B4-BE49-F238E27FC236}">
                  <a16:creationId xmlns:a16="http://schemas.microsoft.com/office/drawing/2014/main" id="{A5915DB0-B5E4-4873-B1D8-F2A1FAE36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2" y="912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Oval 12">
              <a:extLst>
                <a:ext uri="{FF2B5EF4-FFF2-40B4-BE49-F238E27FC236}">
                  <a16:creationId xmlns:a16="http://schemas.microsoft.com/office/drawing/2014/main" id="{BCD3543A-8FE9-4B4E-BAD8-EFCA0EC91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2" y="1392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Oval 13">
              <a:extLst>
                <a:ext uri="{FF2B5EF4-FFF2-40B4-BE49-F238E27FC236}">
                  <a16:creationId xmlns:a16="http://schemas.microsoft.com/office/drawing/2014/main" id="{6157DA92-6D09-4751-AD21-16E725DFC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" y="1872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Oval 14">
              <a:extLst>
                <a:ext uri="{FF2B5EF4-FFF2-40B4-BE49-F238E27FC236}">
                  <a16:creationId xmlns:a16="http://schemas.microsoft.com/office/drawing/2014/main" id="{2C145079-B82E-4DA6-A8B9-5471DE948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1872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Oval 15">
              <a:extLst>
                <a:ext uri="{FF2B5EF4-FFF2-40B4-BE49-F238E27FC236}">
                  <a16:creationId xmlns:a16="http://schemas.microsoft.com/office/drawing/2014/main" id="{F6A276AE-5EC8-4F58-9B39-419244C17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1392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Oval 16">
              <a:extLst>
                <a:ext uri="{FF2B5EF4-FFF2-40B4-BE49-F238E27FC236}">
                  <a16:creationId xmlns:a16="http://schemas.microsoft.com/office/drawing/2014/main" id="{10314218-0893-40B6-9C47-E44A9CAB3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4" y="1392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Oval 17">
              <a:extLst>
                <a:ext uri="{FF2B5EF4-FFF2-40B4-BE49-F238E27FC236}">
                  <a16:creationId xmlns:a16="http://schemas.microsoft.com/office/drawing/2014/main" id="{F2589223-88FE-4E3D-9BEF-CEA10A832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4" y="1872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Text Box 18">
              <a:extLst>
                <a:ext uri="{FF2B5EF4-FFF2-40B4-BE49-F238E27FC236}">
                  <a16:creationId xmlns:a16="http://schemas.microsoft.com/office/drawing/2014/main" id="{F349C4D5-F6B5-491D-B360-4AA153F0A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2" y="87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6" name="Text Box 19">
              <a:extLst>
                <a:ext uri="{FF2B5EF4-FFF2-40B4-BE49-F238E27FC236}">
                  <a16:creationId xmlns:a16="http://schemas.microsoft.com/office/drawing/2014/main" id="{9B03E6EC-A304-4D52-B928-0CFBFECD7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" y="135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7" name="Text Box 20">
              <a:extLst>
                <a:ext uri="{FF2B5EF4-FFF2-40B4-BE49-F238E27FC236}">
                  <a16:creationId xmlns:a16="http://schemas.microsoft.com/office/drawing/2014/main" id="{5D3A1DAB-ECB4-452D-B3B6-79FB601E4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8" y="1352"/>
              <a:ext cx="26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8" name="Text Box 21">
              <a:extLst>
                <a:ext uri="{FF2B5EF4-FFF2-40B4-BE49-F238E27FC236}">
                  <a16:creationId xmlns:a16="http://schemas.microsoft.com/office/drawing/2014/main" id="{45596455-E9A2-4E5A-9C0F-922917982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9" name="Text Box 22">
              <a:extLst>
                <a:ext uri="{FF2B5EF4-FFF2-40B4-BE49-F238E27FC236}">
                  <a16:creationId xmlns:a16="http://schemas.microsoft.com/office/drawing/2014/main" id="{C25A86DD-B7B0-4AAA-A02A-A33DEA8E2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" y="183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0" name="Text Box 23">
              <a:extLst>
                <a:ext uri="{FF2B5EF4-FFF2-40B4-BE49-F238E27FC236}">
                  <a16:creationId xmlns:a16="http://schemas.microsoft.com/office/drawing/2014/main" id="{63AFE501-5CD9-4F2B-ACE0-DBF0EB534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" y="1841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F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1" name="Text Box 24">
              <a:extLst>
                <a:ext uri="{FF2B5EF4-FFF2-40B4-BE49-F238E27FC236}">
                  <a16:creationId xmlns:a16="http://schemas.microsoft.com/office/drawing/2014/main" id="{4E5BE26A-63EA-48C2-8FB3-E1AE05051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2" y="1842"/>
              <a:ext cx="2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G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112" name="Group 91">
            <a:extLst>
              <a:ext uri="{FF2B5EF4-FFF2-40B4-BE49-F238E27FC236}">
                <a16:creationId xmlns:a16="http://schemas.microsoft.com/office/drawing/2014/main" id="{1EDF4F25-9FD8-43C5-AC37-ABDD4F7396BD}"/>
              </a:ext>
            </a:extLst>
          </p:cNvPr>
          <p:cNvGrpSpPr>
            <a:grpSpLocks/>
          </p:cNvGrpSpPr>
          <p:nvPr/>
        </p:nvGrpSpPr>
        <p:grpSpPr bwMode="auto">
          <a:xfrm>
            <a:off x="3719538" y="1550346"/>
            <a:ext cx="5294841" cy="4398934"/>
            <a:chOff x="2449" y="1192"/>
            <a:chExt cx="2847" cy="2238"/>
          </a:xfrm>
        </p:grpSpPr>
        <p:sp>
          <p:nvSpPr>
            <p:cNvPr id="113" name="Rectangle 65">
              <a:extLst>
                <a:ext uri="{FF2B5EF4-FFF2-40B4-BE49-F238E27FC236}">
                  <a16:creationId xmlns:a16="http://schemas.microsoft.com/office/drawing/2014/main" id="{442AD0ED-8A35-4FF1-9820-0EFDD2157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1207"/>
              <a:ext cx="521" cy="222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14" name="Group 30">
              <a:extLst>
                <a:ext uri="{FF2B5EF4-FFF2-40B4-BE49-F238E27FC236}">
                  <a16:creationId xmlns:a16="http://schemas.microsoft.com/office/drawing/2014/main" id="{3B9FB7ED-06C7-462E-9408-C17F021B5F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1194"/>
              <a:ext cx="658" cy="330"/>
              <a:chOff x="3424" y="1194"/>
              <a:chExt cx="658" cy="330"/>
            </a:xfrm>
          </p:grpSpPr>
          <p:grpSp>
            <p:nvGrpSpPr>
              <p:cNvPr id="173" name="Group 27">
                <a:extLst>
                  <a:ext uri="{FF2B5EF4-FFF2-40B4-BE49-F238E27FC236}">
                    <a16:creationId xmlns:a16="http://schemas.microsoft.com/office/drawing/2014/main" id="{DE7D720A-D025-402C-945B-E3FB4A4772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4" y="1230"/>
                <a:ext cx="477" cy="250"/>
                <a:chOff x="3424" y="1230"/>
                <a:chExt cx="477" cy="250"/>
              </a:xfrm>
            </p:grpSpPr>
            <p:sp>
              <p:nvSpPr>
                <p:cNvPr id="176" name="Rectangle 25">
                  <a:extLst>
                    <a:ext uri="{FF2B5EF4-FFF2-40B4-BE49-F238E27FC236}">
                      <a16:creationId xmlns:a16="http://schemas.microsoft.com/office/drawing/2014/main" id="{D3EE8EB4-9918-433F-A9D1-B9C603197F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4" y="1230"/>
                  <a:ext cx="477" cy="250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7" name="Line 26">
                  <a:extLst>
                    <a:ext uri="{FF2B5EF4-FFF2-40B4-BE49-F238E27FC236}">
                      <a16:creationId xmlns:a16="http://schemas.microsoft.com/office/drawing/2014/main" id="{4B819FE1-F776-4401-B1AC-37280DEC5E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74" y="1230"/>
                  <a:ext cx="0" cy="250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74" name="Line 28">
                <a:extLst>
                  <a:ext uri="{FF2B5EF4-FFF2-40B4-BE49-F238E27FC236}">
                    <a16:creationId xmlns:a16="http://schemas.microsoft.com/office/drawing/2014/main" id="{9C5C49AC-BEA3-4844-B691-991B84D09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5" y="1344"/>
                <a:ext cx="31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Text Box 29">
                <a:extLst>
                  <a:ext uri="{FF2B5EF4-FFF2-40B4-BE49-F238E27FC236}">
                    <a16:creationId xmlns:a16="http://schemas.microsoft.com/office/drawing/2014/main" id="{A3DE6C74-489B-4B22-996E-A3EF869B9E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2" y="1194"/>
                <a:ext cx="2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15" name="Group 31">
              <a:extLst>
                <a:ext uri="{FF2B5EF4-FFF2-40B4-BE49-F238E27FC236}">
                  <a16:creationId xmlns:a16="http://schemas.microsoft.com/office/drawing/2014/main" id="{B1A5D98A-7049-4D05-B71E-9CC19F984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2" y="1194"/>
              <a:ext cx="658" cy="330"/>
              <a:chOff x="3424" y="1194"/>
              <a:chExt cx="658" cy="330"/>
            </a:xfrm>
          </p:grpSpPr>
          <p:grpSp>
            <p:nvGrpSpPr>
              <p:cNvPr id="168" name="Group 32">
                <a:extLst>
                  <a:ext uri="{FF2B5EF4-FFF2-40B4-BE49-F238E27FC236}">
                    <a16:creationId xmlns:a16="http://schemas.microsoft.com/office/drawing/2014/main" id="{9D8CEFB0-666A-47D9-A36F-74217781D9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4" y="1230"/>
                <a:ext cx="477" cy="250"/>
                <a:chOff x="3424" y="1230"/>
                <a:chExt cx="477" cy="250"/>
              </a:xfrm>
            </p:grpSpPr>
            <p:sp>
              <p:nvSpPr>
                <p:cNvPr id="171" name="Rectangle 33">
                  <a:extLst>
                    <a:ext uri="{FF2B5EF4-FFF2-40B4-BE49-F238E27FC236}">
                      <a16:creationId xmlns:a16="http://schemas.microsoft.com/office/drawing/2014/main" id="{D935F1DB-1D47-49CA-BDC9-E3280A2E41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4" y="1230"/>
                  <a:ext cx="477" cy="250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2" name="Line 34">
                  <a:extLst>
                    <a:ext uri="{FF2B5EF4-FFF2-40B4-BE49-F238E27FC236}">
                      <a16:creationId xmlns:a16="http://schemas.microsoft.com/office/drawing/2014/main" id="{6681FC32-6522-41DD-AE3F-BB38A13BB0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74" y="1230"/>
                  <a:ext cx="0" cy="250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9" name="Line 35">
                <a:extLst>
                  <a:ext uri="{FF2B5EF4-FFF2-40B4-BE49-F238E27FC236}">
                    <a16:creationId xmlns:a16="http://schemas.microsoft.com/office/drawing/2014/main" id="{1924D7E2-39D1-48D2-90FE-4257348B4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5" y="1344"/>
                <a:ext cx="31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Text Box 36">
                <a:extLst>
                  <a:ext uri="{FF2B5EF4-FFF2-40B4-BE49-F238E27FC236}">
                    <a16:creationId xmlns:a16="http://schemas.microsoft.com/office/drawing/2014/main" id="{3CF560E6-B0C7-49DC-8B53-072CBF0F8F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2" y="1194"/>
                <a:ext cx="2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116" name="Line 41">
              <a:extLst>
                <a:ext uri="{FF2B5EF4-FFF2-40B4-BE49-F238E27FC236}">
                  <a16:creationId xmlns:a16="http://schemas.microsoft.com/office/drawing/2014/main" id="{01DEFDF4-0816-41C0-B82F-E161FAB67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344"/>
              <a:ext cx="31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17" name="Group 44">
              <a:extLst>
                <a:ext uri="{FF2B5EF4-FFF2-40B4-BE49-F238E27FC236}">
                  <a16:creationId xmlns:a16="http://schemas.microsoft.com/office/drawing/2014/main" id="{8B4ABEF9-6393-48FF-8A1B-F342210AA7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1192"/>
              <a:ext cx="556" cy="332"/>
              <a:chOff x="4740" y="1192"/>
              <a:chExt cx="556" cy="332"/>
            </a:xfrm>
          </p:grpSpPr>
          <p:grpSp>
            <p:nvGrpSpPr>
              <p:cNvPr id="163" name="Group 38">
                <a:extLst>
                  <a:ext uri="{FF2B5EF4-FFF2-40B4-BE49-F238E27FC236}">
                    <a16:creationId xmlns:a16="http://schemas.microsoft.com/office/drawing/2014/main" id="{E10AA3F9-BABA-494C-B3F1-F163686E9D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0" y="1230"/>
                <a:ext cx="477" cy="250"/>
                <a:chOff x="3424" y="1230"/>
                <a:chExt cx="477" cy="250"/>
              </a:xfrm>
            </p:grpSpPr>
            <p:sp>
              <p:nvSpPr>
                <p:cNvPr id="166" name="Rectangle 39">
                  <a:extLst>
                    <a:ext uri="{FF2B5EF4-FFF2-40B4-BE49-F238E27FC236}">
                      <a16:creationId xmlns:a16="http://schemas.microsoft.com/office/drawing/2014/main" id="{C5F73AF4-3EFA-4780-B284-148FB836E5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4" y="1230"/>
                  <a:ext cx="477" cy="250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7" name="Line 40">
                  <a:extLst>
                    <a:ext uri="{FF2B5EF4-FFF2-40B4-BE49-F238E27FC236}">
                      <a16:creationId xmlns:a16="http://schemas.microsoft.com/office/drawing/2014/main" id="{0ABDF758-39CD-4519-8B33-D1F7CDA522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74" y="1230"/>
                  <a:ext cx="0" cy="250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4" name="Text Box 42">
                <a:extLst>
                  <a:ext uri="{FF2B5EF4-FFF2-40B4-BE49-F238E27FC236}">
                    <a16:creationId xmlns:a16="http://schemas.microsoft.com/office/drawing/2014/main" id="{C9655C5F-10D8-4E7B-A25A-CC22A746EB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8" y="1194"/>
                <a:ext cx="2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165" name="Text Box 43">
                <a:extLst>
                  <a:ext uri="{FF2B5EF4-FFF2-40B4-BE49-F238E27FC236}">
                    <a16:creationId xmlns:a16="http://schemas.microsoft.com/office/drawing/2014/main" id="{95809FBA-F37F-4E7F-B8DD-85BFA8E2DD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3" y="1192"/>
                <a:ext cx="3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grpSp>
          <p:nvGrpSpPr>
            <p:cNvPr id="118" name="Group 45">
              <a:extLst>
                <a:ext uri="{FF2B5EF4-FFF2-40B4-BE49-F238E27FC236}">
                  <a16:creationId xmlns:a16="http://schemas.microsoft.com/office/drawing/2014/main" id="{D05A1BD6-1E35-427A-BF7A-C125B34D8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1504"/>
              <a:ext cx="658" cy="330"/>
              <a:chOff x="3424" y="1194"/>
              <a:chExt cx="658" cy="330"/>
            </a:xfrm>
          </p:grpSpPr>
          <p:grpSp>
            <p:nvGrpSpPr>
              <p:cNvPr id="158" name="Group 46">
                <a:extLst>
                  <a:ext uri="{FF2B5EF4-FFF2-40B4-BE49-F238E27FC236}">
                    <a16:creationId xmlns:a16="http://schemas.microsoft.com/office/drawing/2014/main" id="{DC8C849E-38A9-4714-A45A-8A98E427FE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4" y="1230"/>
                <a:ext cx="477" cy="250"/>
                <a:chOff x="3424" y="1230"/>
                <a:chExt cx="477" cy="250"/>
              </a:xfrm>
            </p:grpSpPr>
            <p:sp>
              <p:nvSpPr>
                <p:cNvPr id="161" name="Rectangle 47">
                  <a:extLst>
                    <a:ext uri="{FF2B5EF4-FFF2-40B4-BE49-F238E27FC236}">
                      <a16:creationId xmlns:a16="http://schemas.microsoft.com/office/drawing/2014/main" id="{E41B2CDA-B732-4340-819B-8D963D4A7E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4" y="1230"/>
                  <a:ext cx="477" cy="250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2" name="Line 48">
                  <a:extLst>
                    <a:ext uri="{FF2B5EF4-FFF2-40B4-BE49-F238E27FC236}">
                      <a16:creationId xmlns:a16="http://schemas.microsoft.com/office/drawing/2014/main" id="{A8E9A8B1-23B6-4BE3-95FD-5A53C32185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74" y="1230"/>
                  <a:ext cx="0" cy="250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59" name="Line 49">
                <a:extLst>
                  <a:ext uri="{FF2B5EF4-FFF2-40B4-BE49-F238E27FC236}">
                    <a16:creationId xmlns:a16="http://schemas.microsoft.com/office/drawing/2014/main" id="{C4C0C7B3-02A0-4593-ABEB-D718C412E0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5" y="1344"/>
                <a:ext cx="31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Text Box 50">
                <a:extLst>
                  <a:ext uri="{FF2B5EF4-FFF2-40B4-BE49-F238E27FC236}">
                    <a16:creationId xmlns:a16="http://schemas.microsoft.com/office/drawing/2014/main" id="{499C3AE3-ADF4-4C6F-B4CF-EE8E2307D0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2" y="1194"/>
                <a:ext cx="2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sp>
          <p:nvSpPr>
            <p:cNvPr id="119" name="Line 51">
              <a:extLst>
                <a:ext uri="{FF2B5EF4-FFF2-40B4-BE49-F238E27FC236}">
                  <a16:creationId xmlns:a16="http://schemas.microsoft.com/office/drawing/2014/main" id="{50E03382-E388-4B92-802F-6A9F60118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654"/>
              <a:ext cx="31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0" name="Group 52">
              <a:extLst>
                <a:ext uri="{FF2B5EF4-FFF2-40B4-BE49-F238E27FC236}">
                  <a16:creationId xmlns:a16="http://schemas.microsoft.com/office/drawing/2014/main" id="{E05949EC-3149-473E-B4AD-B98C79F2C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2" y="1502"/>
              <a:ext cx="556" cy="332"/>
              <a:chOff x="4740" y="1192"/>
              <a:chExt cx="556" cy="332"/>
            </a:xfrm>
          </p:grpSpPr>
          <p:grpSp>
            <p:nvGrpSpPr>
              <p:cNvPr id="153" name="Group 53">
                <a:extLst>
                  <a:ext uri="{FF2B5EF4-FFF2-40B4-BE49-F238E27FC236}">
                    <a16:creationId xmlns:a16="http://schemas.microsoft.com/office/drawing/2014/main" id="{9559DC9D-6BB7-4B41-B348-497F9F4130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0" y="1230"/>
                <a:ext cx="477" cy="250"/>
                <a:chOff x="3424" y="1230"/>
                <a:chExt cx="477" cy="250"/>
              </a:xfrm>
            </p:grpSpPr>
            <p:sp>
              <p:nvSpPr>
                <p:cNvPr id="156" name="Rectangle 54">
                  <a:extLst>
                    <a:ext uri="{FF2B5EF4-FFF2-40B4-BE49-F238E27FC236}">
                      <a16:creationId xmlns:a16="http://schemas.microsoft.com/office/drawing/2014/main" id="{522EC4B4-F551-43D5-A7BB-39B9334DA5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4" y="1230"/>
                  <a:ext cx="477" cy="250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7" name="Line 55">
                  <a:extLst>
                    <a:ext uri="{FF2B5EF4-FFF2-40B4-BE49-F238E27FC236}">
                      <a16:creationId xmlns:a16="http://schemas.microsoft.com/office/drawing/2014/main" id="{99863D63-EF3D-45A2-8B58-56B01CDC8B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74" y="1230"/>
                  <a:ext cx="0" cy="250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54" name="Text Box 56">
                <a:extLst>
                  <a:ext uri="{FF2B5EF4-FFF2-40B4-BE49-F238E27FC236}">
                    <a16:creationId xmlns:a16="http://schemas.microsoft.com/office/drawing/2014/main" id="{BD1C1468-B4CC-4BAB-948A-451181F68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8" y="1194"/>
                <a:ext cx="2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155" name="Text Box 57">
                <a:extLst>
                  <a:ext uri="{FF2B5EF4-FFF2-40B4-BE49-F238E27FC236}">
                    <a16:creationId xmlns:a16="http://schemas.microsoft.com/office/drawing/2014/main" id="{90BDCF94-6BBB-491E-961B-C5725CA309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3" y="1192"/>
                <a:ext cx="3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sp>
          <p:nvSpPr>
            <p:cNvPr id="121" name="Line 58">
              <a:extLst>
                <a:ext uri="{FF2B5EF4-FFF2-40B4-BE49-F238E27FC236}">
                  <a16:creationId xmlns:a16="http://schemas.microsoft.com/office/drawing/2014/main" id="{2C9461A0-D8E1-4A92-9BC8-4AA091413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289"/>
              <a:ext cx="31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2" name="Group 59">
              <a:extLst>
                <a:ext uri="{FF2B5EF4-FFF2-40B4-BE49-F238E27FC236}">
                  <a16:creationId xmlns:a16="http://schemas.microsoft.com/office/drawing/2014/main" id="{62D76B86-C415-42DA-A084-39E10EAA2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2137"/>
              <a:ext cx="556" cy="332"/>
              <a:chOff x="4740" y="1192"/>
              <a:chExt cx="556" cy="332"/>
            </a:xfrm>
          </p:grpSpPr>
          <p:grpSp>
            <p:nvGrpSpPr>
              <p:cNvPr id="148" name="Group 60">
                <a:extLst>
                  <a:ext uri="{FF2B5EF4-FFF2-40B4-BE49-F238E27FC236}">
                    <a16:creationId xmlns:a16="http://schemas.microsoft.com/office/drawing/2014/main" id="{FE178E6E-0FEA-41FC-8F74-8CDB9DCA96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0" y="1230"/>
                <a:ext cx="477" cy="250"/>
                <a:chOff x="3424" y="1230"/>
                <a:chExt cx="477" cy="250"/>
              </a:xfrm>
            </p:grpSpPr>
            <p:sp>
              <p:nvSpPr>
                <p:cNvPr id="151" name="Rectangle 61">
                  <a:extLst>
                    <a:ext uri="{FF2B5EF4-FFF2-40B4-BE49-F238E27FC236}">
                      <a16:creationId xmlns:a16="http://schemas.microsoft.com/office/drawing/2014/main" id="{5CF90C05-B3C4-46A5-9667-658A6091B2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4" y="1230"/>
                  <a:ext cx="477" cy="250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0000C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2" name="Line 62">
                  <a:extLst>
                    <a:ext uri="{FF2B5EF4-FFF2-40B4-BE49-F238E27FC236}">
                      <a16:creationId xmlns:a16="http://schemas.microsoft.com/office/drawing/2014/main" id="{23297E63-73A0-4695-86FF-AD1EBA5E20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74" y="1230"/>
                  <a:ext cx="0" cy="250"/>
                </a:xfrm>
                <a:prstGeom prst="line">
                  <a:avLst/>
                </a:prstGeom>
                <a:noFill/>
                <a:ln w="9525">
                  <a:solidFill>
                    <a:srgbClr val="0000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9" name="Text Box 63">
                <a:extLst>
                  <a:ext uri="{FF2B5EF4-FFF2-40B4-BE49-F238E27FC236}">
                    <a16:creationId xmlns:a16="http://schemas.microsoft.com/office/drawing/2014/main" id="{B04096D0-F896-4CAB-9A07-D5B8D9229E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8" y="1194"/>
                <a:ext cx="2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50" name="Text Box 64">
                <a:extLst>
                  <a:ext uri="{FF2B5EF4-FFF2-40B4-BE49-F238E27FC236}">
                    <a16:creationId xmlns:a16="http://schemas.microsoft.com/office/drawing/2014/main" id="{1F16D6D6-0B92-4716-8CAC-EFB1505E29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3" y="1192"/>
                <a:ext cx="3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∧</a:t>
                </a:r>
              </a:p>
            </p:txBody>
          </p:sp>
        </p:grpSp>
        <p:sp>
          <p:nvSpPr>
            <p:cNvPr id="123" name="Line 66">
              <a:extLst>
                <a:ext uri="{FF2B5EF4-FFF2-40B4-BE49-F238E27FC236}">
                  <a16:creationId xmlns:a16="http://schemas.microsoft.com/office/drawing/2014/main" id="{B925ACC9-5EFF-4C76-9B22-805A49B243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9" y="1502"/>
              <a:ext cx="521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" name="Line 67">
              <a:extLst>
                <a:ext uri="{FF2B5EF4-FFF2-40B4-BE49-F238E27FC236}">
                  <a16:creationId xmlns:a16="http://schemas.microsoft.com/office/drawing/2014/main" id="{B6C3677A-BE77-4C69-8779-ACBD1B2391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9" y="1820"/>
              <a:ext cx="521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5" name="Line 68">
              <a:extLst>
                <a:ext uri="{FF2B5EF4-FFF2-40B4-BE49-F238E27FC236}">
                  <a16:creationId xmlns:a16="http://schemas.microsoft.com/office/drawing/2014/main" id="{D63C4DCD-383E-4AF9-A41A-A228B1DCD1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9" y="2137"/>
              <a:ext cx="521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" name="Line 69">
              <a:extLst>
                <a:ext uri="{FF2B5EF4-FFF2-40B4-BE49-F238E27FC236}">
                  <a16:creationId xmlns:a16="http://schemas.microsoft.com/office/drawing/2014/main" id="{9D3CABD8-10AB-4CA5-97CD-8505A8F7C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9" y="2455"/>
              <a:ext cx="521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70">
              <a:extLst>
                <a:ext uri="{FF2B5EF4-FFF2-40B4-BE49-F238E27FC236}">
                  <a16:creationId xmlns:a16="http://schemas.microsoft.com/office/drawing/2014/main" id="{9731A31D-E794-4972-9016-AA2AF4326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9" y="2772"/>
              <a:ext cx="521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" name="Line 71">
              <a:extLst>
                <a:ext uri="{FF2B5EF4-FFF2-40B4-BE49-F238E27FC236}">
                  <a16:creationId xmlns:a16="http://schemas.microsoft.com/office/drawing/2014/main" id="{BF79A697-09AA-4270-A275-844434CEF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9" y="3090"/>
              <a:ext cx="521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" name="Line 72">
              <a:extLst>
                <a:ext uri="{FF2B5EF4-FFF2-40B4-BE49-F238E27FC236}">
                  <a16:creationId xmlns:a16="http://schemas.microsoft.com/office/drawing/2014/main" id="{F939B0FA-6366-4D99-821A-BDCBBB007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1207"/>
              <a:ext cx="0" cy="222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" name="Text Box 73">
              <a:extLst>
                <a:ext uri="{FF2B5EF4-FFF2-40B4-BE49-F238E27FC236}">
                  <a16:creationId xmlns:a16="http://schemas.microsoft.com/office/drawing/2014/main" id="{813C5F8A-E744-451D-A96E-D269A9ECD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2455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31" name="Text Box 74">
              <a:extLst>
                <a:ext uri="{FF2B5EF4-FFF2-40B4-BE49-F238E27FC236}">
                  <a16:creationId xmlns:a16="http://schemas.microsoft.com/office/drawing/2014/main" id="{48E055C8-A056-4642-92BB-082AE4D99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1820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32" name="Text Box 75">
              <a:extLst>
                <a:ext uri="{FF2B5EF4-FFF2-40B4-BE49-F238E27FC236}">
                  <a16:creationId xmlns:a16="http://schemas.microsoft.com/office/drawing/2014/main" id="{978BF0C8-D3FA-4152-A26C-2CEFAC59B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2757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33" name="Text Box 76">
              <a:extLst>
                <a:ext uri="{FF2B5EF4-FFF2-40B4-BE49-F238E27FC236}">
                  <a16:creationId xmlns:a16="http://schemas.microsoft.com/office/drawing/2014/main" id="{F1AF0593-A583-4FC3-AEEC-9FD9CA7DB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3074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34" name="Text Box 77">
              <a:extLst>
                <a:ext uri="{FF2B5EF4-FFF2-40B4-BE49-F238E27FC236}">
                  <a16:creationId xmlns:a16="http://schemas.microsoft.com/office/drawing/2014/main" id="{8845FE61-A645-4E67-BED1-104DC19BC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1194"/>
              <a:ext cx="2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5" name="Text Box 78">
              <a:extLst>
                <a:ext uri="{FF2B5EF4-FFF2-40B4-BE49-F238E27FC236}">
                  <a16:creationId xmlns:a16="http://schemas.microsoft.com/office/drawing/2014/main" id="{A580E7AD-8385-4CF8-9656-E681FB4EA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1489"/>
              <a:ext cx="2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6" name="Text Box 79">
              <a:extLst>
                <a:ext uri="{FF2B5EF4-FFF2-40B4-BE49-F238E27FC236}">
                  <a16:creationId xmlns:a16="http://schemas.microsoft.com/office/drawing/2014/main" id="{03A9E697-96D7-4DD8-B2C7-5FC3B5A35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1820"/>
              <a:ext cx="2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37" name="Text Box 80">
              <a:extLst>
                <a:ext uri="{FF2B5EF4-FFF2-40B4-BE49-F238E27FC236}">
                  <a16:creationId xmlns:a16="http://schemas.microsoft.com/office/drawing/2014/main" id="{D44A802A-DCC9-4BEA-8CE7-AC04FCBF0E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2137"/>
              <a:ext cx="2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38" name="Text Box 81">
              <a:extLst>
                <a:ext uri="{FF2B5EF4-FFF2-40B4-BE49-F238E27FC236}">
                  <a16:creationId xmlns:a16="http://schemas.microsoft.com/office/drawing/2014/main" id="{98847070-BF00-4DF2-81DD-5016C8D80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2455"/>
              <a:ext cx="2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39" name="Text Box 82">
              <a:extLst>
                <a:ext uri="{FF2B5EF4-FFF2-40B4-BE49-F238E27FC236}">
                  <a16:creationId xmlns:a16="http://schemas.microsoft.com/office/drawing/2014/main" id="{AFEFCAB9-A940-46FD-897C-4FDBA2B2E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2782"/>
              <a:ext cx="2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140" name="Text Box 83">
              <a:extLst>
                <a:ext uri="{FF2B5EF4-FFF2-40B4-BE49-F238E27FC236}">
                  <a16:creationId xmlns:a16="http://schemas.microsoft.com/office/drawing/2014/main" id="{87C96F8A-5DD6-44DF-9EEC-17D1359D0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077"/>
              <a:ext cx="2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141" name="Text Box 84">
              <a:extLst>
                <a:ext uri="{FF2B5EF4-FFF2-40B4-BE49-F238E27FC236}">
                  <a16:creationId xmlns:a16="http://schemas.microsoft.com/office/drawing/2014/main" id="{522D6D0D-433D-4DE9-AA61-9C1949C79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1204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2" name="Text Box 85">
              <a:extLst>
                <a:ext uri="{FF2B5EF4-FFF2-40B4-BE49-F238E27FC236}">
                  <a16:creationId xmlns:a16="http://schemas.microsoft.com/office/drawing/2014/main" id="{235075A2-DA39-40BD-9AAE-47FA075A6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1489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3" name="Text Box 86">
              <a:extLst>
                <a:ext uri="{FF2B5EF4-FFF2-40B4-BE49-F238E27FC236}">
                  <a16:creationId xmlns:a16="http://schemas.microsoft.com/office/drawing/2014/main" id="{5DDE3058-FEAA-4374-B359-154D84791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1807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4" name="Text Box 87">
              <a:extLst>
                <a:ext uri="{FF2B5EF4-FFF2-40B4-BE49-F238E27FC236}">
                  <a16:creationId xmlns:a16="http://schemas.microsoft.com/office/drawing/2014/main" id="{7A53D3FF-8D75-4794-9266-AB9E85606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2147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45" name="Text Box 88">
              <a:extLst>
                <a:ext uri="{FF2B5EF4-FFF2-40B4-BE49-F238E27FC236}">
                  <a16:creationId xmlns:a16="http://schemas.microsoft.com/office/drawing/2014/main" id="{1283AD43-717A-492B-BCAA-A260486C4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2455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46" name="Text Box 89">
              <a:extLst>
                <a:ext uri="{FF2B5EF4-FFF2-40B4-BE49-F238E27FC236}">
                  <a16:creationId xmlns:a16="http://schemas.microsoft.com/office/drawing/2014/main" id="{ECEE7543-943F-4D2E-8C28-F065F21EC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2772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7" name="Text Box 90">
              <a:extLst>
                <a:ext uri="{FF2B5EF4-FFF2-40B4-BE49-F238E27FC236}">
                  <a16:creationId xmlns:a16="http://schemas.microsoft.com/office/drawing/2014/main" id="{E58E92C5-0F79-4839-9BC3-1F0A4DFB4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3077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5892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E5F9F-2104-448D-A13D-B84551BFB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孩子表示法（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BD181E-81F2-4BDE-89C6-95E3FE5FA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744504"/>
            <a:ext cx="7272808" cy="611349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typedef struct </a:t>
            </a:r>
            <a:r>
              <a:rPr lang="en-US" altLang="zh-CN" sz="2200" dirty="0" err="1">
                <a:latin typeface="+mn-lt"/>
              </a:rPr>
              <a:t>CTNode</a:t>
            </a:r>
            <a:r>
              <a:rPr lang="en-US" altLang="zh-CN" sz="2200" dirty="0">
                <a:latin typeface="+mn-lt"/>
              </a:rPr>
              <a:t> {  </a:t>
            </a:r>
            <a:r>
              <a:rPr lang="en-US" altLang="zh-CN" sz="22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200" dirty="0">
                <a:solidFill>
                  <a:srgbClr val="00B050"/>
                </a:solidFill>
                <a:latin typeface="+mn-lt"/>
              </a:rPr>
              <a:t>孩子链结点</a:t>
            </a:r>
            <a:endParaRPr lang="en-US" altLang="zh-CN" sz="2200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    int          child;</a:t>
            </a: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    struct </a:t>
            </a:r>
            <a:r>
              <a:rPr lang="en-US" altLang="zh-CN" sz="2200" dirty="0" err="1">
                <a:latin typeface="+mn-lt"/>
              </a:rPr>
              <a:t>CTNode</a:t>
            </a:r>
            <a:r>
              <a:rPr lang="en-US" altLang="zh-CN" sz="2200" dirty="0">
                <a:latin typeface="+mn-lt"/>
              </a:rPr>
              <a:t> *next;</a:t>
            </a: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} *</a:t>
            </a:r>
            <a:r>
              <a:rPr lang="en-US" altLang="zh-CN" sz="2200" dirty="0" err="1">
                <a:solidFill>
                  <a:srgbClr val="FF0000"/>
                </a:solidFill>
                <a:latin typeface="+mn-lt"/>
              </a:rPr>
              <a:t>ChildPtr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typedef struct {  </a:t>
            </a:r>
            <a:r>
              <a:rPr lang="en-US" altLang="zh-CN" sz="2200" dirty="0">
                <a:solidFill>
                  <a:srgbClr val="00B050"/>
                </a:solidFill>
                <a:latin typeface="+mn-lt"/>
              </a:rPr>
              <a:t>//</a:t>
            </a:r>
            <a:r>
              <a:rPr lang="zh-CN" altLang="en-US" sz="2200" dirty="0">
                <a:solidFill>
                  <a:srgbClr val="00B050"/>
                </a:solidFill>
                <a:latin typeface="+mn-lt"/>
              </a:rPr>
              <a:t> 树结点</a:t>
            </a:r>
            <a:endParaRPr lang="en-US" altLang="zh-CN" sz="2200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    </a:t>
            </a:r>
            <a:r>
              <a:rPr lang="en-US" altLang="zh-CN" sz="2200" dirty="0" err="1">
                <a:latin typeface="+mn-lt"/>
              </a:rPr>
              <a:t>ElemType</a:t>
            </a:r>
            <a:r>
              <a:rPr lang="en-US" altLang="zh-CN" sz="2200" dirty="0">
                <a:latin typeface="+mn-lt"/>
              </a:rPr>
              <a:t>    data;</a:t>
            </a: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   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200" dirty="0" err="1">
                <a:solidFill>
                  <a:srgbClr val="FF0000"/>
                </a:solidFill>
                <a:latin typeface="+mn-lt"/>
              </a:rPr>
              <a:t>ChildPtr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  </a:t>
            </a:r>
            <a:r>
              <a:rPr lang="en-US" altLang="zh-CN" sz="2200" dirty="0" err="1">
                <a:latin typeface="+mn-lt"/>
              </a:rPr>
              <a:t>firstchild</a:t>
            </a:r>
            <a:r>
              <a:rPr lang="en-US" altLang="zh-CN" sz="2200" dirty="0">
                <a:latin typeface="+mn-lt"/>
              </a:rPr>
              <a:t>;   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孩子链的头指针</a:t>
            </a: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} </a:t>
            </a:r>
            <a:r>
              <a:rPr lang="en-US" altLang="zh-CN" sz="2200" dirty="0" err="1">
                <a:solidFill>
                  <a:srgbClr val="0000FF"/>
                </a:solidFill>
                <a:latin typeface="+mn-lt"/>
              </a:rPr>
              <a:t>CTBox</a:t>
            </a:r>
            <a:r>
              <a:rPr lang="en-US" altLang="zh-CN" sz="2200" dirty="0">
                <a:solidFill>
                  <a:srgbClr val="0000FF"/>
                </a:solidFill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typedef struct {  </a:t>
            </a:r>
            <a:r>
              <a:rPr lang="en-US" altLang="zh-CN" sz="2200" dirty="0">
                <a:solidFill>
                  <a:srgbClr val="00B050"/>
                </a:solidFill>
                <a:latin typeface="+mn-lt"/>
              </a:rPr>
              <a:t>//</a:t>
            </a:r>
            <a:r>
              <a:rPr lang="zh-CN" altLang="en-US" sz="2200" dirty="0">
                <a:solidFill>
                  <a:srgbClr val="00B050"/>
                </a:solidFill>
                <a:latin typeface="+mn-lt"/>
              </a:rPr>
              <a:t> 树</a:t>
            </a:r>
            <a:endParaRPr lang="en-US" altLang="zh-CN" sz="2200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    </a:t>
            </a:r>
            <a:r>
              <a:rPr lang="en-US" altLang="zh-CN" sz="2200" dirty="0" err="1">
                <a:solidFill>
                  <a:srgbClr val="0000FF"/>
                </a:solidFill>
                <a:latin typeface="+mn-lt"/>
              </a:rPr>
              <a:t>CTBox</a:t>
            </a:r>
            <a:r>
              <a:rPr lang="en-US" altLang="zh-CN" sz="2200" dirty="0">
                <a:latin typeface="+mn-lt"/>
              </a:rPr>
              <a:t>  nodes[MAX_TREE_SIZE];</a:t>
            </a: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    int    n, r;    </a:t>
            </a:r>
            <a:r>
              <a:rPr lang="en-US" altLang="zh-CN" sz="22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200" dirty="0">
                <a:solidFill>
                  <a:srgbClr val="00B050"/>
                </a:solidFill>
                <a:latin typeface="+mn-lt"/>
              </a:rPr>
              <a:t>结点数和根结点的位置</a:t>
            </a:r>
          </a:p>
          <a:p>
            <a:pPr marL="0" indent="0">
              <a:buNone/>
            </a:pPr>
            <a:r>
              <a:rPr lang="en-US" altLang="zh-CN" sz="2200" dirty="0">
                <a:latin typeface="+mn-lt"/>
              </a:rPr>
              <a:t>} </a:t>
            </a:r>
            <a:r>
              <a:rPr lang="en-US" altLang="zh-CN" sz="2200" dirty="0" err="1">
                <a:latin typeface="+mn-lt"/>
              </a:rPr>
              <a:t>CTree</a:t>
            </a:r>
            <a:r>
              <a:rPr lang="en-US" altLang="zh-CN" sz="2200" dirty="0">
                <a:latin typeface="+mn-lt"/>
              </a:rPr>
              <a:t>;</a:t>
            </a:r>
          </a:p>
          <a:p>
            <a:pPr marL="0" indent="0">
              <a:buNone/>
            </a:pPr>
            <a:endParaRPr lang="zh-CN" alt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8954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19982-EACC-46CA-BE76-ACA6059B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孩子表示法（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+ </a:t>
            </a:r>
            <a:r>
              <a:rPr lang="zh-CN" altLang="en-US" dirty="0"/>
              <a:t>双亲</a:t>
            </a:r>
          </a:p>
        </p:txBody>
      </p:sp>
      <p:grpSp>
        <p:nvGrpSpPr>
          <p:cNvPr id="83" name="组合 70">
            <a:extLst>
              <a:ext uri="{FF2B5EF4-FFF2-40B4-BE49-F238E27FC236}">
                <a16:creationId xmlns:a16="http://schemas.microsoft.com/office/drawing/2014/main" id="{C50924BA-9779-492A-ABDA-3D192CD40EAD}"/>
              </a:ext>
            </a:extLst>
          </p:cNvPr>
          <p:cNvGrpSpPr>
            <a:grpSpLocks/>
          </p:cNvGrpSpPr>
          <p:nvPr/>
        </p:nvGrpSpPr>
        <p:grpSpPr bwMode="auto">
          <a:xfrm>
            <a:off x="146767" y="1826149"/>
            <a:ext cx="2944688" cy="4256729"/>
            <a:chOff x="533400" y="1676400"/>
            <a:chExt cx="2590800" cy="4038600"/>
          </a:xfrm>
        </p:grpSpPr>
        <p:sp>
          <p:nvSpPr>
            <p:cNvPr id="84" name="Oval 1026">
              <a:extLst>
                <a:ext uri="{FF2B5EF4-FFF2-40B4-BE49-F238E27FC236}">
                  <a16:creationId xmlns:a16="http://schemas.microsoft.com/office/drawing/2014/main" id="{AE37CC4A-A353-4699-9C1C-62EEC27A9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17526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Text Box 1027">
              <a:extLst>
                <a:ext uri="{FF2B5EF4-FFF2-40B4-BE49-F238E27FC236}">
                  <a16:creationId xmlns:a16="http://schemas.microsoft.com/office/drawing/2014/main" id="{0E065468-C877-46D7-BBC0-60B9B0652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006" y="1676400"/>
              <a:ext cx="488265" cy="67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6" name="Oval 1028">
              <a:extLst>
                <a:ext uri="{FF2B5EF4-FFF2-40B4-BE49-F238E27FC236}">
                  <a16:creationId xmlns:a16="http://schemas.microsoft.com/office/drawing/2014/main" id="{9261F0EA-49DA-4FFB-B86C-894B45863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28194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Oval 1029">
              <a:extLst>
                <a:ext uri="{FF2B5EF4-FFF2-40B4-BE49-F238E27FC236}">
                  <a16:creationId xmlns:a16="http://schemas.microsoft.com/office/drawing/2014/main" id="{1AF1A705-C644-4783-B132-4A1C05F96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28194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" name="Oval 1030">
              <a:extLst>
                <a:ext uri="{FF2B5EF4-FFF2-40B4-BE49-F238E27FC236}">
                  <a16:creationId xmlns:a16="http://schemas.microsoft.com/office/drawing/2014/main" id="{1EC885A3-5D24-4CE4-9ACF-5AEAEBD55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28194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Oval 1031">
              <a:extLst>
                <a:ext uri="{FF2B5EF4-FFF2-40B4-BE49-F238E27FC236}">
                  <a16:creationId xmlns:a16="http://schemas.microsoft.com/office/drawing/2014/main" id="{3E5843CE-67CF-4247-9269-76BE798DF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624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Oval 1032">
              <a:extLst>
                <a:ext uri="{FF2B5EF4-FFF2-40B4-BE49-F238E27FC236}">
                  <a16:creationId xmlns:a16="http://schemas.microsoft.com/office/drawing/2014/main" id="{F3986C8E-B510-4DFD-9D87-25A8D8375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39624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Oval 1033">
              <a:extLst>
                <a:ext uri="{FF2B5EF4-FFF2-40B4-BE49-F238E27FC236}">
                  <a16:creationId xmlns:a16="http://schemas.microsoft.com/office/drawing/2014/main" id="{3BBDB47F-4365-4461-BF1C-628222940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105400"/>
              <a:ext cx="609600" cy="609600"/>
            </a:xfrm>
            <a:prstGeom prst="ellipse">
              <a:avLst/>
            </a:prstGeom>
            <a:solidFill>
              <a:srgbClr val="FFC000"/>
            </a:solidFill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Text Box 1034">
              <a:extLst>
                <a:ext uri="{FF2B5EF4-FFF2-40B4-BE49-F238E27FC236}">
                  <a16:creationId xmlns:a16="http://schemas.microsoft.com/office/drawing/2014/main" id="{9ABF5878-CE3F-4D5D-A241-CE11C2E82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45" y="2743200"/>
              <a:ext cx="462879" cy="67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3" name="Text Box 1035">
              <a:extLst>
                <a:ext uri="{FF2B5EF4-FFF2-40B4-BE49-F238E27FC236}">
                  <a16:creationId xmlns:a16="http://schemas.microsoft.com/office/drawing/2014/main" id="{08683086-E29A-412B-8860-1C0459CA9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3245" y="2743200"/>
              <a:ext cx="462879" cy="67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94" name="Text Box 1036">
              <a:extLst>
                <a:ext uri="{FF2B5EF4-FFF2-40B4-BE49-F238E27FC236}">
                  <a16:creationId xmlns:a16="http://schemas.microsoft.com/office/drawing/2014/main" id="{4A82016F-8B27-4FEE-BFC7-E60EAFB94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6382" y="2743200"/>
              <a:ext cx="488265" cy="67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95" name="Text Box 1037">
              <a:extLst>
                <a:ext uri="{FF2B5EF4-FFF2-40B4-BE49-F238E27FC236}">
                  <a16:creationId xmlns:a16="http://schemas.microsoft.com/office/drawing/2014/main" id="{7C401FBB-CEBC-4FAE-817C-1BE8C87AE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5109" y="3886200"/>
              <a:ext cx="437492" cy="67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96" name="Text Box 1038">
              <a:extLst>
                <a:ext uri="{FF2B5EF4-FFF2-40B4-BE49-F238E27FC236}">
                  <a16:creationId xmlns:a16="http://schemas.microsoft.com/office/drawing/2014/main" id="{E624D857-5A24-47E1-B0ED-884601FF4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6269" y="3886200"/>
              <a:ext cx="413516" cy="67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97" name="Text Box 1039">
              <a:extLst>
                <a:ext uri="{FF2B5EF4-FFF2-40B4-BE49-F238E27FC236}">
                  <a16:creationId xmlns:a16="http://schemas.microsoft.com/office/drawing/2014/main" id="{C2D5C9BC-062E-444F-8E8F-3BB30A39F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4782" y="5029200"/>
              <a:ext cx="488265" cy="67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98" name="Line 1040">
              <a:extLst>
                <a:ext uri="{FF2B5EF4-FFF2-40B4-BE49-F238E27FC236}">
                  <a16:creationId xmlns:a16="http://schemas.microsoft.com/office/drawing/2014/main" id="{42A0AFA4-ACE5-435C-9125-DE18D4E59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2209800"/>
              <a:ext cx="609600" cy="60960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99" name="Line 1041">
              <a:extLst>
                <a:ext uri="{FF2B5EF4-FFF2-40B4-BE49-F238E27FC236}">
                  <a16:creationId xmlns:a16="http://schemas.microsoft.com/office/drawing/2014/main" id="{BD86734B-29CE-4E73-B3E8-9D843892BB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8200" y="2209800"/>
              <a:ext cx="762000" cy="60960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0" name="Line 1042">
              <a:extLst>
                <a:ext uri="{FF2B5EF4-FFF2-40B4-BE49-F238E27FC236}">
                  <a16:creationId xmlns:a16="http://schemas.microsoft.com/office/drawing/2014/main" id="{81FC4338-0E69-43E5-B80A-8DDDAE7C4B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7800" y="3352800"/>
              <a:ext cx="152400" cy="60960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1" name="Line 1054">
              <a:extLst>
                <a:ext uri="{FF2B5EF4-FFF2-40B4-BE49-F238E27FC236}">
                  <a16:creationId xmlns:a16="http://schemas.microsoft.com/office/drawing/2014/main" id="{8247D0D0-3EAF-43E1-AA4B-13118B31E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2362200"/>
              <a:ext cx="0" cy="45720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2" name="Line 1055">
              <a:extLst>
                <a:ext uri="{FF2B5EF4-FFF2-40B4-BE49-F238E27FC236}">
                  <a16:creationId xmlns:a16="http://schemas.microsoft.com/office/drawing/2014/main" id="{443DD497-FBE5-423B-B70B-043347B54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3352800"/>
              <a:ext cx="304800" cy="60960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3" name="Line 1056">
              <a:extLst>
                <a:ext uri="{FF2B5EF4-FFF2-40B4-BE49-F238E27FC236}">
                  <a16:creationId xmlns:a16="http://schemas.microsoft.com/office/drawing/2014/main" id="{7A1AC3A8-F319-4858-9DD3-A06BB5B4A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4572000"/>
              <a:ext cx="0" cy="53340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FAD52B5-7E19-48B8-8740-1E8C517E0624}"/>
              </a:ext>
            </a:extLst>
          </p:cNvPr>
          <p:cNvGrpSpPr/>
          <p:nvPr/>
        </p:nvGrpSpPr>
        <p:grpSpPr>
          <a:xfrm>
            <a:off x="3722852" y="1621244"/>
            <a:ext cx="5313644" cy="4832092"/>
            <a:chOff x="3722852" y="1621244"/>
            <a:chExt cx="5313644" cy="4832092"/>
          </a:xfrm>
        </p:grpSpPr>
        <p:sp>
          <p:nvSpPr>
            <p:cNvPr id="75" name="Rectangle 1045">
              <a:extLst>
                <a:ext uri="{FF2B5EF4-FFF2-40B4-BE49-F238E27FC236}">
                  <a16:creationId xmlns:a16="http://schemas.microsoft.com/office/drawing/2014/main" id="{76C2C2F8-F47F-400B-9ADE-0336B1D9D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136" y="1697444"/>
              <a:ext cx="1981200" cy="4724400"/>
            </a:xfrm>
            <a:prstGeom prst="rect">
              <a:avLst/>
            </a:prstGeom>
            <a:solidFill>
              <a:srgbClr val="FFFF99"/>
            </a:solidFill>
            <a:ln w="12700" cap="sq">
              <a:solidFill>
                <a:srgbClr val="3333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Text Box 1043">
              <a:extLst>
                <a:ext uri="{FF2B5EF4-FFF2-40B4-BE49-F238E27FC236}">
                  <a16:creationId xmlns:a16="http://schemas.microsoft.com/office/drawing/2014/main" id="{EC72C4E7-FFD0-40A8-A12F-DDC49CC57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2852" y="1621244"/>
              <a:ext cx="2301107" cy="4832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A 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B 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CCFF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  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C 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D  </a:t>
              </a:r>
              <a:r>
                <a:rPr lang="en-US" altLang="zh-CN" sz="4400" b="0" kern="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E  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F 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G  </a:t>
              </a:r>
              <a:r>
                <a:rPr kumimoji="1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6" name="Line 1046">
              <a:extLst>
                <a:ext uri="{FF2B5EF4-FFF2-40B4-BE49-F238E27FC236}">
                  <a16:creationId xmlns:a16="http://schemas.microsoft.com/office/drawing/2014/main" id="{448AEAFB-5780-4396-8069-9D19547EB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136" y="2307043"/>
              <a:ext cx="1981200" cy="7441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7" name="Line 1047">
              <a:extLst>
                <a:ext uri="{FF2B5EF4-FFF2-40B4-BE49-F238E27FC236}">
                  <a16:creationId xmlns:a16="http://schemas.microsoft.com/office/drawing/2014/main" id="{9DEC9A19-E8FF-4682-B284-0A37CF910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136" y="2992844"/>
              <a:ext cx="1981200" cy="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8" name="Line 1048">
              <a:extLst>
                <a:ext uri="{FF2B5EF4-FFF2-40B4-BE49-F238E27FC236}">
                  <a16:creationId xmlns:a16="http://schemas.microsoft.com/office/drawing/2014/main" id="{EBECAE0E-211D-40EB-B969-18B089C8E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1136" y="3678643"/>
              <a:ext cx="1981200" cy="1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9" name="Line 1049">
              <a:extLst>
                <a:ext uri="{FF2B5EF4-FFF2-40B4-BE49-F238E27FC236}">
                  <a16:creationId xmlns:a16="http://schemas.microsoft.com/office/drawing/2014/main" id="{73E4BCE3-3678-4614-B654-B56958DFF7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1136" y="4357004"/>
              <a:ext cx="1981200" cy="744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80" name="Line 1050">
              <a:extLst>
                <a:ext uri="{FF2B5EF4-FFF2-40B4-BE49-F238E27FC236}">
                  <a16:creationId xmlns:a16="http://schemas.microsoft.com/office/drawing/2014/main" id="{693F3D8E-2007-47F2-AA98-E071C1785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136" y="5050243"/>
              <a:ext cx="1981200" cy="31409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81" name="Line 1051">
              <a:extLst>
                <a:ext uri="{FF2B5EF4-FFF2-40B4-BE49-F238E27FC236}">
                  <a16:creationId xmlns:a16="http://schemas.microsoft.com/office/drawing/2014/main" id="{F53FB0EB-797D-4923-B341-061E4C9C7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136" y="5736043"/>
              <a:ext cx="1981200" cy="24345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82" name="Line 1052">
              <a:extLst>
                <a:ext uri="{FF2B5EF4-FFF2-40B4-BE49-F238E27FC236}">
                  <a16:creationId xmlns:a16="http://schemas.microsoft.com/office/drawing/2014/main" id="{AB200BFA-02E0-49AB-8579-123593466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5136" y="1697444"/>
              <a:ext cx="0" cy="472440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4" name="Line 1057">
              <a:extLst>
                <a:ext uri="{FF2B5EF4-FFF2-40B4-BE49-F238E27FC236}">
                  <a16:creationId xmlns:a16="http://schemas.microsoft.com/office/drawing/2014/main" id="{7760770C-51A1-4A51-875A-B0A2D7CEB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5536" y="1697444"/>
              <a:ext cx="0" cy="472440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5" name="Text Box 1058">
              <a:extLst>
                <a:ext uri="{FF2B5EF4-FFF2-40B4-BE49-F238E27FC236}">
                  <a16:creationId xmlns:a16="http://schemas.microsoft.com/office/drawing/2014/main" id="{2C821860-B175-46BF-8798-BE0070447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2336" y="1697444"/>
              <a:ext cx="276416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06" name="Rectangle 1059">
              <a:extLst>
                <a:ext uri="{FF2B5EF4-FFF2-40B4-BE49-F238E27FC236}">
                  <a16:creationId xmlns:a16="http://schemas.microsoft.com/office/drawing/2014/main" id="{3F678F6A-8577-4ED4-A037-FC2F3B85C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35" y="1780093"/>
              <a:ext cx="633581" cy="478792"/>
            </a:xfrm>
            <a:prstGeom prst="rect">
              <a:avLst/>
            </a:prstGeom>
            <a:noFill/>
            <a:ln w="12700" cap="sq">
              <a:solidFill>
                <a:srgbClr val="3333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" name="Line 1060">
              <a:extLst>
                <a:ext uri="{FF2B5EF4-FFF2-40B4-BE49-F238E27FC236}">
                  <a16:creationId xmlns:a16="http://schemas.microsoft.com/office/drawing/2014/main" id="{3616CB20-C13E-4732-B16B-5E2AFF78C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936" y="1767637"/>
              <a:ext cx="0" cy="497254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8" name="Line 1061">
              <a:extLst>
                <a:ext uri="{FF2B5EF4-FFF2-40B4-BE49-F238E27FC236}">
                  <a16:creationId xmlns:a16="http://schemas.microsoft.com/office/drawing/2014/main" id="{63C6DE63-5417-414D-9A39-BD04488C1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3736" y="2078444"/>
              <a:ext cx="457200" cy="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9" name="Rectangle 1062">
              <a:extLst>
                <a:ext uri="{FF2B5EF4-FFF2-40B4-BE49-F238E27FC236}">
                  <a16:creationId xmlns:a16="http://schemas.microsoft.com/office/drawing/2014/main" id="{CFE97D02-4C69-4FB0-9401-3BE92C706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5335" y="1767637"/>
              <a:ext cx="633581" cy="497254"/>
            </a:xfrm>
            <a:prstGeom prst="rect">
              <a:avLst/>
            </a:prstGeom>
            <a:noFill/>
            <a:ln w="12700" cap="sq">
              <a:solidFill>
                <a:srgbClr val="3333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1063">
              <a:extLst>
                <a:ext uri="{FF2B5EF4-FFF2-40B4-BE49-F238E27FC236}">
                  <a16:creationId xmlns:a16="http://schemas.microsoft.com/office/drawing/2014/main" id="{BE244DC3-E0FC-499E-9BF7-97BB32A87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6336" y="1767637"/>
              <a:ext cx="0" cy="497254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1" name="Line 1064">
              <a:extLst>
                <a:ext uri="{FF2B5EF4-FFF2-40B4-BE49-F238E27FC236}">
                  <a16:creationId xmlns:a16="http://schemas.microsoft.com/office/drawing/2014/main" id="{B24A7694-A2A7-40EF-BE7D-75820AD51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8135" y="2078444"/>
              <a:ext cx="475185" cy="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2" name="Rectangle 1065">
              <a:extLst>
                <a:ext uri="{FF2B5EF4-FFF2-40B4-BE49-F238E27FC236}">
                  <a16:creationId xmlns:a16="http://schemas.microsoft.com/office/drawing/2014/main" id="{564F2745-4A91-40E3-B4AA-21BD00751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9735" y="1767637"/>
              <a:ext cx="633581" cy="497254"/>
            </a:xfrm>
            <a:prstGeom prst="rect">
              <a:avLst/>
            </a:prstGeom>
            <a:noFill/>
            <a:ln w="12700" cap="sq">
              <a:solidFill>
                <a:srgbClr val="3333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1066">
              <a:extLst>
                <a:ext uri="{FF2B5EF4-FFF2-40B4-BE49-F238E27FC236}">
                  <a16:creationId xmlns:a16="http://schemas.microsoft.com/office/drawing/2014/main" id="{9C1B87F0-F46A-4208-B43F-BAE24FB9A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0736" y="1767637"/>
              <a:ext cx="0" cy="497254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4" name="Line 1067">
              <a:extLst>
                <a:ext uri="{FF2B5EF4-FFF2-40B4-BE49-F238E27FC236}">
                  <a16:creationId xmlns:a16="http://schemas.microsoft.com/office/drawing/2014/main" id="{0E4FE21F-F366-411F-83A1-C1DAC0238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2535" y="2078444"/>
              <a:ext cx="475185" cy="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5" name="Text Box 1068">
              <a:extLst>
                <a:ext uri="{FF2B5EF4-FFF2-40B4-BE49-F238E27FC236}">
                  <a16:creationId xmlns:a16="http://schemas.microsoft.com/office/drawing/2014/main" id="{E542B0B0-30B1-4328-9EBE-F287EAF6E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936" y="2992844"/>
              <a:ext cx="165806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16" name="Text Box 1069">
              <a:extLst>
                <a:ext uri="{FF2B5EF4-FFF2-40B4-BE49-F238E27FC236}">
                  <a16:creationId xmlns:a16="http://schemas.microsoft.com/office/drawing/2014/main" id="{9C2D4036-BAB4-440C-BFC9-6C2999B35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935" y="4364444"/>
              <a:ext cx="48515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7" name="Rectangle 1070">
              <a:extLst>
                <a:ext uri="{FF2B5EF4-FFF2-40B4-BE49-F238E27FC236}">
                  <a16:creationId xmlns:a16="http://schemas.microsoft.com/office/drawing/2014/main" id="{9155582D-4301-4DF7-8242-323DF348D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35" y="3063037"/>
              <a:ext cx="633581" cy="497254"/>
            </a:xfrm>
            <a:prstGeom prst="rect">
              <a:avLst/>
            </a:prstGeom>
            <a:noFill/>
            <a:ln w="12700" cap="sq">
              <a:solidFill>
                <a:srgbClr val="3333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Line 1071">
              <a:extLst>
                <a:ext uri="{FF2B5EF4-FFF2-40B4-BE49-F238E27FC236}">
                  <a16:creationId xmlns:a16="http://schemas.microsoft.com/office/drawing/2014/main" id="{BDC7C5D8-084D-4C54-8722-DAE40C207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936" y="3063037"/>
              <a:ext cx="0" cy="497254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9" name="Line 1072">
              <a:extLst>
                <a:ext uri="{FF2B5EF4-FFF2-40B4-BE49-F238E27FC236}">
                  <a16:creationId xmlns:a16="http://schemas.microsoft.com/office/drawing/2014/main" id="{6D173B01-1AC2-4189-9E8B-75161C00B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3736" y="3373844"/>
              <a:ext cx="457200" cy="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0" name="Rectangle 1073">
              <a:extLst>
                <a:ext uri="{FF2B5EF4-FFF2-40B4-BE49-F238E27FC236}">
                  <a16:creationId xmlns:a16="http://schemas.microsoft.com/office/drawing/2014/main" id="{C35008F5-9355-4C27-B1A6-10DAF4B99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5335" y="3063037"/>
              <a:ext cx="633581" cy="497254"/>
            </a:xfrm>
            <a:prstGeom prst="rect">
              <a:avLst/>
            </a:prstGeom>
            <a:noFill/>
            <a:ln w="12700" cap="sq">
              <a:solidFill>
                <a:srgbClr val="3333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Line 1074">
              <a:extLst>
                <a:ext uri="{FF2B5EF4-FFF2-40B4-BE49-F238E27FC236}">
                  <a16:creationId xmlns:a16="http://schemas.microsoft.com/office/drawing/2014/main" id="{F7DBED43-D3B5-4395-BBF2-BBBBE813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6336" y="3063037"/>
              <a:ext cx="0" cy="497254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2" name="Line 1075">
              <a:extLst>
                <a:ext uri="{FF2B5EF4-FFF2-40B4-BE49-F238E27FC236}">
                  <a16:creationId xmlns:a16="http://schemas.microsoft.com/office/drawing/2014/main" id="{CF950D1C-64B8-4BA6-B45A-8FAE70DBD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8135" y="3373844"/>
              <a:ext cx="475185" cy="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3" name="Rectangle 1076">
              <a:extLst>
                <a:ext uri="{FF2B5EF4-FFF2-40B4-BE49-F238E27FC236}">
                  <a16:creationId xmlns:a16="http://schemas.microsoft.com/office/drawing/2014/main" id="{014111CA-4C94-4807-842C-D208C8102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0935" y="4434637"/>
              <a:ext cx="633581" cy="497254"/>
            </a:xfrm>
            <a:prstGeom prst="rect">
              <a:avLst/>
            </a:prstGeom>
            <a:noFill/>
            <a:ln w="12700" cap="sq">
              <a:solidFill>
                <a:srgbClr val="3333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Line 1077">
              <a:extLst>
                <a:ext uri="{FF2B5EF4-FFF2-40B4-BE49-F238E27FC236}">
                  <a16:creationId xmlns:a16="http://schemas.microsoft.com/office/drawing/2014/main" id="{6E53E96B-6868-4FF5-B5C2-67F71B35B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936" y="4434637"/>
              <a:ext cx="0" cy="497254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5" name="Line 1078">
              <a:extLst>
                <a:ext uri="{FF2B5EF4-FFF2-40B4-BE49-F238E27FC236}">
                  <a16:creationId xmlns:a16="http://schemas.microsoft.com/office/drawing/2014/main" id="{8BF8D693-EA9B-4BA9-ADF8-0565F694C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3736" y="4745444"/>
              <a:ext cx="457200" cy="0"/>
            </a:xfrm>
            <a:prstGeom prst="line">
              <a:avLst/>
            </a:prstGeom>
            <a:noFill/>
            <a:ln w="12700" cap="sq">
              <a:solidFill>
                <a:srgbClr val="333333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6" name="Line 1080">
              <a:extLst>
                <a:ext uri="{FF2B5EF4-FFF2-40B4-BE49-F238E27FC236}">
                  <a16:creationId xmlns:a16="http://schemas.microsoft.com/office/drawing/2014/main" id="{D8E1AC23-34AA-4BF8-9515-72A125D05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67536" y="5278844"/>
              <a:ext cx="76200" cy="22860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44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7" name="Line 1081">
              <a:extLst>
                <a:ext uri="{FF2B5EF4-FFF2-40B4-BE49-F238E27FC236}">
                  <a16:creationId xmlns:a16="http://schemas.microsoft.com/office/drawing/2014/main" id="{CFCE74E9-84F9-4A5B-A1D6-595B1D29D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3736" y="5278844"/>
              <a:ext cx="76200" cy="22860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44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8" name="Line 1082">
              <a:extLst>
                <a:ext uri="{FF2B5EF4-FFF2-40B4-BE49-F238E27FC236}">
                  <a16:creationId xmlns:a16="http://schemas.microsoft.com/office/drawing/2014/main" id="{6C7BD823-999D-41D4-83F7-260073BA92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67536" y="5964644"/>
              <a:ext cx="76200" cy="22860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44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9" name="Line 1083">
              <a:extLst>
                <a:ext uri="{FF2B5EF4-FFF2-40B4-BE49-F238E27FC236}">
                  <a16:creationId xmlns:a16="http://schemas.microsoft.com/office/drawing/2014/main" id="{C33EE83B-D759-4FF2-99FF-DB08C6684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3736" y="5964644"/>
              <a:ext cx="76200" cy="22860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44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0" name="Line 1084">
              <a:extLst>
                <a:ext uri="{FF2B5EF4-FFF2-40B4-BE49-F238E27FC236}">
                  <a16:creationId xmlns:a16="http://schemas.microsoft.com/office/drawing/2014/main" id="{818C71ED-405A-42A3-9A03-0F3FDD7D9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67536" y="3907244"/>
              <a:ext cx="76200" cy="22860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44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1" name="Line 1085">
              <a:extLst>
                <a:ext uri="{FF2B5EF4-FFF2-40B4-BE49-F238E27FC236}">
                  <a16:creationId xmlns:a16="http://schemas.microsoft.com/office/drawing/2014/main" id="{6B343942-480A-4842-A8BA-4E9B20210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3736" y="3907244"/>
              <a:ext cx="76200" cy="22860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44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2" name="Line 1086">
              <a:extLst>
                <a:ext uri="{FF2B5EF4-FFF2-40B4-BE49-F238E27FC236}">
                  <a16:creationId xmlns:a16="http://schemas.microsoft.com/office/drawing/2014/main" id="{AEB49448-9ED2-46AE-A495-DD29FE988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67536" y="2535644"/>
              <a:ext cx="76200" cy="22860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44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" name="Line 1087">
              <a:extLst>
                <a:ext uri="{FF2B5EF4-FFF2-40B4-BE49-F238E27FC236}">
                  <a16:creationId xmlns:a16="http://schemas.microsoft.com/office/drawing/2014/main" id="{3C27966D-9D33-4091-8BFB-2D659EE9A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3736" y="2535644"/>
              <a:ext cx="76200" cy="228600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44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4" name="Line 1088">
              <a:extLst>
                <a:ext uri="{FF2B5EF4-FFF2-40B4-BE49-F238E27FC236}">
                  <a16:creationId xmlns:a16="http://schemas.microsoft.com/office/drawing/2014/main" id="{9FAD45E1-D7DB-4EE1-8BCC-9D4709C22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58136" y="4543720"/>
              <a:ext cx="79198" cy="298352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36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5" name="Line 1089">
              <a:extLst>
                <a:ext uri="{FF2B5EF4-FFF2-40B4-BE49-F238E27FC236}">
                  <a16:creationId xmlns:a16="http://schemas.microsoft.com/office/drawing/2014/main" id="{0A990732-20F2-4C26-9A75-E1C0C9CB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4336" y="4543720"/>
              <a:ext cx="79198" cy="298352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36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6" name="Line 1090">
              <a:extLst>
                <a:ext uri="{FF2B5EF4-FFF2-40B4-BE49-F238E27FC236}">
                  <a16:creationId xmlns:a16="http://schemas.microsoft.com/office/drawing/2014/main" id="{965239DA-9B7B-4698-9A7C-22ED970BEE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72536" y="3172120"/>
              <a:ext cx="79198" cy="298352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36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7" name="Line 1091">
              <a:extLst>
                <a:ext uri="{FF2B5EF4-FFF2-40B4-BE49-F238E27FC236}">
                  <a16:creationId xmlns:a16="http://schemas.microsoft.com/office/drawing/2014/main" id="{C30CE491-575D-4B6F-90B2-8204D7406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8736" y="3172120"/>
              <a:ext cx="79198" cy="298352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36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8" name="Line 1092">
              <a:extLst>
                <a:ext uri="{FF2B5EF4-FFF2-40B4-BE49-F238E27FC236}">
                  <a16:creationId xmlns:a16="http://schemas.microsoft.com/office/drawing/2014/main" id="{D37C041B-F3AF-4AF7-81EF-1A71A41923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86936" y="1876720"/>
              <a:ext cx="79198" cy="298352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36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9" name="Line 1093">
              <a:extLst>
                <a:ext uri="{FF2B5EF4-FFF2-40B4-BE49-F238E27FC236}">
                  <a16:creationId xmlns:a16="http://schemas.microsoft.com/office/drawing/2014/main" id="{F51C18C3-3054-4FD0-BABC-54C3CE0F5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63136" y="1876720"/>
              <a:ext cx="79198" cy="298352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1" lang="zh-CN" altLang="en-US" sz="36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336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A57A9-E78D-44DE-A300-81D76F2B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孩子表示法（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B7D79B-8450-4249-A6A2-9A711D326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31" y="5048983"/>
            <a:ext cx="8856058" cy="1368482"/>
          </a:xfrm>
        </p:spPr>
        <p:txBody>
          <a:bodyPr/>
          <a:lstStyle/>
          <a:p>
            <a:r>
              <a:rPr lang="zh-CN" altLang="en-US" dirty="0"/>
              <a:t>使用等数量的链域会产生很多</a:t>
            </a:r>
            <a:r>
              <a:rPr lang="zh-CN" altLang="en-US" dirty="0">
                <a:solidFill>
                  <a:srgbClr val="0000FF"/>
                </a:solidFill>
              </a:rPr>
              <a:t>空链域</a:t>
            </a:r>
            <a:r>
              <a:rPr lang="zh-CN" altLang="en-US" dirty="0"/>
              <a:t>，造成空间浪费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n </a:t>
            </a:r>
            <a:r>
              <a:rPr lang="zh-CN" altLang="en-US" dirty="0">
                <a:solidFill>
                  <a:srgbClr val="FF0000"/>
                </a:solidFill>
              </a:rPr>
              <a:t>个结点的 </a:t>
            </a:r>
            <a:r>
              <a:rPr lang="en-US" altLang="zh-CN" dirty="0">
                <a:solidFill>
                  <a:srgbClr val="FF0000"/>
                </a:solidFill>
              </a:rPr>
              <a:t>m </a:t>
            </a:r>
            <a:r>
              <a:rPr lang="zh-CN" altLang="en-US" dirty="0">
                <a:solidFill>
                  <a:srgbClr val="FF0000"/>
                </a:solidFill>
              </a:rPr>
              <a:t>叉树有多少个空链域？</a:t>
            </a:r>
          </a:p>
        </p:txBody>
      </p:sp>
      <p:grpSp>
        <p:nvGrpSpPr>
          <p:cNvPr id="62" name="组合 60">
            <a:extLst>
              <a:ext uri="{FF2B5EF4-FFF2-40B4-BE49-F238E27FC236}">
                <a16:creationId xmlns:a16="http://schemas.microsoft.com/office/drawing/2014/main" id="{732F8ACF-21B8-48B0-B838-DFA7F765638D}"/>
              </a:ext>
            </a:extLst>
          </p:cNvPr>
          <p:cNvGrpSpPr/>
          <p:nvPr/>
        </p:nvGrpSpPr>
        <p:grpSpPr>
          <a:xfrm>
            <a:off x="108431" y="1147001"/>
            <a:ext cx="2783416" cy="3290112"/>
            <a:chOff x="142844" y="1500174"/>
            <a:chExt cx="2087562" cy="2660650"/>
          </a:xfrm>
        </p:grpSpPr>
        <p:sp>
          <p:nvSpPr>
            <p:cNvPr id="63" name="Oval 8">
              <a:extLst>
                <a:ext uri="{FF2B5EF4-FFF2-40B4-BE49-F238E27FC236}">
                  <a16:creationId xmlns:a16="http://schemas.microsoft.com/office/drawing/2014/main" id="{38F5B52E-028A-4C33-866F-C86BB3C24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369" y="1500174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64" name="Oval 9">
              <a:extLst>
                <a:ext uri="{FF2B5EF4-FFF2-40B4-BE49-F238E27FC236}">
                  <a16:creationId xmlns:a16="http://schemas.microsoft.com/office/drawing/2014/main" id="{05FC1E0E-74EB-424D-9302-9BBBA72B3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544" y="3729024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65" name="Oval 10">
              <a:extLst>
                <a:ext uri="{FF2B5EF4-FFF2-40B4-BE49-F238E27FC236}">
                  <a16:creationId xmlns:a16="http://schemas.microsoft.com/office/drawing/2014/main" id="{B3A8D13C-5DB1-4D5B-8F5C-F9D8B5621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544" y="2216137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66" name="Oval 11">
              <a:extLst>
                <a:ext uri="{FF2B5EF4-FFF2-40B4-BE49-F238E27FC236}">
                  <a16:creationId xmlns:a16="http://schemas.microsoft.com/office/drawing/2014/main" id="{F4032E27-2343-4454-B9AA-8CF29FF67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8606" y="2216137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67" name="Oval 12">
              <a:extLst>
                <a:ext uri="{FF2B5EF4-FFF2-40B4-BE49-F238E27FC236}">
                  <a16:creationId xmlns:a16="http://schemas.microsoft.com/office/drawing/2014/main" id="{B6077949-691A-4F09-B6E1-B622B80A3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44" y="3008299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68" name="Oval 13">
              <a:extLst>
                <a:ext uri="{FF2B5EF4-FFF2-40B4-BE49-F238E27FC236}">
                  <a16:creationId xmlns:a16="http://schemas.microsoft.com/office/drawing/2014/main" id="{853B0758-C370-4746-91DA-209E2D6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544" y="3008299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69" name="Oval 14">
              <a:extLst>
                <a:ext uri="{FF2B5EF4-FFF2-40B4-BE49-F238E27FC236}">
                  <a16:creationId xmlns:a16="http://schemas.microsoft.com/office/drawing/2014/main" id="{A046A5BB-E08C-4174-88D6-C24154499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269" y="3008299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70" name="Freeform 15">
              <a:extLst>
                <a:ext uri="{FF2B5EF4-FFF2-40B4-BE49-F238E27FC236}">
                  <a16:creationId xmlns:a16="http://schemas.microsoft.com/office/drawing/2014/main" id="{0F89989D-D0C0-41AC-A7B0-03575BD662F9}"/>
                </a:ext>
              </a:extLst>
            </p:cNvPr>
            <p:cNvSpPr/>
            <p:nvPr/>
          </p:nvSpPr>
          <p:spPr bwMode="auto">
            <a:xfrm>
              <a:off x="1014381" y="3438512"/>
              <a:ext cx="1588" cy="2857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" y="180"/>
                </a:cxn>
              </a:cxnLst>
              <a:rect l="0" t="0" r="r" b="b"/>
              <a:pathLst>
                <a:path w="25" h="180">
                  <a:moveTo>
                    <a:pt x="0" y="0"/>
                  </a:moveTo>
                  <a:lnTo>
                    <a:pt x="25" y="18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00C7880-C956-4E39-975C-F6FCD3E99B67}"/>
                </a:ext>
              </a:extLst>
            </p:cNvPr>
            <p:cNvSpPr/>
            <p:nvPr/>
          </p:nvSpPr>
          <p:spPr bwMode="auto">
            <a:xfrm>
              <a:off x="1071531" y="1857362"/>
              <a:ext cx="273050" cy="374650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0" y="236"/>
                </a:cxn>
              </a:cxnLst>
              <a:rect l="0" t="0" r="r" b="b"/>
              <a:pathLst>
                <a:path w="172" h="236">
                  <a:moveTo>
                    <a:pt x="172" y="0"/>
                  </a:moveTo>
                  <a:lnTo>
                    <a:pt x="0" y="23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2" name="Freeform 17">
              <a:extLst>
                <a:ext uri="{FF2B5EF4-FFF2-40B4-BE49-F238E27FC236}">
                  <a16:creationId xmlns:a16="http://schemas.microsoft.com/office/drawing/2014/main" id="{FE567782-E40D-4E62-A7FB-25DA8D9345FE}"/>
                </a:ext>
              </a:extLst>
            </p:cNvPr>
            <p:cNvSpPr/>
            <p:nvPr/>
          </p:nvSpPr>
          <p:spPr bwMode="auto">
            <a:xfrm>
              <a:off x="1674781" y="1851012"/>
              <a:ext cx="266700" cy="381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8" y="240"/>
                </a:cxn>
              </a:cxnLst>
              <a:rect l="0" t="0" r="r" b="b"/>
              <a:pathLst>
                <a:path w="168" h="240">
                  <a:moveTo>
                    <a:pt x="0" y="0"/>
                  </a:moveTo>
                  <a:lnTo>
                    <a:pt x="168" y="24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3" name="Line 18">
              <a:extLst>
                <a:ext uri="{FF2B5EF4-FFF2-40B4-BE49-F238E27FC236}">
                  <a16:creationId xmlns:a16="http://schemas.microsoft.com/office/drawing/2014/main" id="{553444F7-D861-4E43-B745-56F3BE857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444" y="2647937"/>
              <a:ext cx="0" cy="360362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4" name="Freeform 19">
              <a:extLst>
                <a:ext uri="{FF2B5EF4-FFF2-40B4-BE49-F238E27FC236}">
                  <a16:creationId xmlns:a16="http://schemas.microsoft.com/office/drawing/2014/main" id="{3E0A9FF6-5CB3-452E-A796-DA85B8D732DF}"/>
                </a:ext>
              </a:extLst>
            </p:cNvPr>
            <p:cNvSpPr/>
            <p:nvPr/>
          </p:nvSpPr>
          <p:spPr bwMode="auto">
            <a:xfrm>
              <a:off x="419069" y="2547924"/>
              <a:ext cx="400050" cy="469900"/>
            </a:xfrm>
            <a:custGeom>
              <a:avLst/>
              <a:gdLst/>
              <a:ahLst/>
              <a:cxnLst>
                <a:cxn ang="0">
                  <a:pos x="252" y="0"/>
                </a:cxn>
                <a:cxn ang="0">
                  <a:pos x="0" y="296"/>
                </a:cxn>
              </a:cxnLst>
              <a:rect l="0" t="0" r="r" b="b"/>
              <a:pathLst>
                <a:path w="252" h="296">
                  <a:moveTo>
                    <a:pt x="252" y="0"/>
                  </a:moveTo>
                  <a:lnTo>
                    <a:pt x="0" y="29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5" name="Freeform 20">
              <a:extLst>
                <a:ext uri="{FF2B5EF4-FFF2-40B4-BE49-F238E27FC236}">
                  <a16:creationId xmlns:a16="http://schemas.microsoft.com/office/drawing/2014/main" id="{F90B0CA3-1F3C-4A4B-8082-72C210F9E815}"/>
                </a:ext>
              </a:extLst>
            </p:cNvPr>
            <p:cNvSpPr/>
            <p:nvPr/>
          </p:nvSpPr>
          <p:spPr bwMode="auto">
            <a:xfrm>
              <a:off x="1200119" y="2522524"/>
              <a:ext cx="438150" cy="501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6" y="316"/>
                </a:cxn>
              </a:cxnLst>
              <a:rect l="0" t="0" r="r" b="b"/>
              <a:pathLst>
                <a:path w="276" h="316">
                  <a:moveTo>
                    <a:pt x="0" y="0"/>
                  </a:moveTo>
                  <a:lnTo>
                    <a:pt x="276" y="31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76" name="组合 59">
            <a:extLst>
              <a:ext uri="{FF2B5EF4-FFF2-40B4-BE49-F238E27FC236}">
                <a16:creationId xmlns:a16="http://schemas.microsoft.com/office/drawing/2014/main" id="{2FD8C4BC-86A5-427A-A720-4F55ED0762A1}"/>
              </a:ext>
            </a:extLst>
          </p:cNvPr>
          <p:cNvGrpSpPr/>
          <p:nvPr/>
        </p:nvGrpSpPr>
        <p:grpSpPr>
          <a:xfrm>
            <a:off x="3008160" y="932159"/>
            <a:ext cx="6035810" cy="3937001"/>
            <a:chOff x="2806669" y="1787512"/>
            <a:chExt cx="6119812" cy="2952751"/>
          </a:xfrm>
        </p:grpSpPr>
        <p:sp>
          <p:nvSpPr>
            <p:cNvPr id="77" name="AutoShape 21">
              <a:extLst>
                <a:ext uri="{FF2B5EF4-FFF2-40B4-BE49-F238E27FC236}">
                  <a16:creationId xmlns:a16="http://schemas.microsoft.com/office/drawing/2014/main" id="{85F35AF5-0CA1-42A3-8F47-21C323366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247" y="2824998"/>
              <a:ext cx="618740" cy="36000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FC8178E6-3E09-4436-B9CE-767A3B984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5819" y="1787512"/>
              <a:ext cx="647700" cy="360363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460CA6F9-DBFA-4E7F-98F1-4266ADD8E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5319" y="1787512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0" name="Rectangle 24">
              <a:extLst>
                <a:ext uri="{FF2B5EF4-FFF2-40B4-BE49-F238E27FC236}">
                  <a16:creationId xmlns:a16="http://schemas.microsoft.com/office/drawing/2014/main" id="{142044DD-8606-4BC0-9498-9D6E91CD3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519" y="1787512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1" name="Rectangle 25">
              <a:extLst>
                <a:ext uri="{FF2B5EF4-FFF2-40B4-BE49-F238E27FC236}">
                  <a16:creationId xmlns:a16="http://schemas.microsoft.com/office/drawing/2014/main" id="{D844C22C-2B56-4D15-834D-82625383E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7119" y="1787512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82" name="Rectangle 26">
              <a:extLst>
                <a:ext uri="{FF2B5EF4-FFF2-40B4-BE49-F238E27FC236}">
                  <a16:creationId xmlns:a16="http://schemas.microsoft.com/office/drawing/2014/main" id="{9C969120-77E9-4CF0-948F-31A4520CB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656" y="2724137"/>
              <a:ext cx="647700" cy="360363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83" name="Rectangle 27">
              <a:extLst>
                <a:ext uri="{FF2B5EF4-FFF2-40B4-BE49-F238E27FC236}">
                  <a16:creationId xmlns:a16="http://schemas.microsoft.com/office/drawing/2014/main" id="{C55EA76C-6669-44C8-8B37-7E3165C4A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3156" y="27241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4" name="Rectangle 28">
              <a:extLst>
                <a:ext uri="{FF2B5EF4-FFF2-40B4-BE49-F238E27FC236}">
                  <a16:creationId xmlns:a16="http://schemas.microsoft.com/office/drawing/2014/main" id="{D798462C-6211-4CA0-B62E-03FB70C02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1356" y="27241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5" name="Rectangle 29">
              <a:extLst>
                <a:ext uri="{FF2B5EF4-FFF2-40B4-BE49-F238E27FC236}">
                  <a16:creationId xmlns:a16="http://schemas.microsoft.com/office/drawing/2014/main" id="{75E83BDB-3484-4C96-9EBA-2A68BEB9D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4956" y="27241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60CBB30F-E78F-4B55-8ECE-63677E5EF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0144" y="2724137"/>
              <a:ext cx="647700" cy="360363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87" name="Rectangle 31">
              <a:extLst>
                <a:ext uri="{FF2B5EF4-FFF2-40B4-BE49-F238E27FC236}">
                  <a16:creationId xmlns:a16="http://schemas.microsoft.com/office/drawing/2014/main" id="{5C112648-1122-438C-B857-B4DDAF86B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9644" y="27241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88" name="Rectangle 32">
              <a:extLst>
                <a:ext uri="{FF2B5EF4-FFF2-40B4-BE49-F238E27FC236}">
                  <a16:creationId xmlns:a16="http://schemas.microsoft.com/office/drawing/2014/main" id="{681BA02E-3BD6-4282-BCE4-0C3A86AC0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7844" y="27241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89" name="Rectangle 33">
              <a:extLst>
                <a:ext uri="{FF2B5EF4-FFF2-40B4-BE49-F238E27FC236}">
                  <a16:creationId xmlns:a16="http://schemas.microsoft.com/office/drawing/2014/main" id="{38EEAD0A-BC9A-4B11-B244-C7B48FFE8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1444" y="27241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90" name="Rectangle 34">
              <a:extLst>
                <a:ext uri="{FF2B5EF4-FFF2-40B4-BE49-F238E27FC236}">
                  <a16:creationId xmlns:a16="http://schemas.microsoft.com/office/drawing/2014/main" id="{C450D061-6997-475E-B3E3-7851FE158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6669" y="3587737"/>
              <a:ext cx="647700" cy="360363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91" name="Rectangle 35">
              <a:extLst>
                <a:ext uri="{FF2B5EF4-FFF2-40B4-BE49-F238E27FC236}">
                  <a16:creationId xmlns:a16="http://schemas.microsoft.com/office/drawing/2014/main" id="{B266A2B0-211E-49B1-AEDE-ED5ECD100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169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92" name="Rectangle 36">
              <a:extLst>
                <a:ext uri="{FF2B5EF4-FFF2-40B4-BE49-F238E27FC236}">
                  <a16:creationId xmlns:a16="http://schemas.microsoft.com/office/drawing/2014/main" id="{9F2322BE-8910-44BE-BD65-B502EABE0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369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93" name="Rectangle 37">
              <a:extLst>
                <a:ext uri="{FF2B5EF4-FFF2-40B4-BE49-F238E27FC236}">
                  <a16:creationId xmlns:a16="http://schemas.microsoft.com/office/drawing/2014/main" id="{5FD212FC-1A97-44A3-9AF4-86918915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969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94" name="Rectangle 38">
              <a:extLst>
                <a:ext uri="{FF2B5EF4-FFF2-40B4-BE49-F238E27FC236}">
                  <a16:creationId xmlns:a16="http://schemas.microsoft.com/office/drawing/2014/main" id="{246F9242-B2E4-4E29-B86D-F5BDC63EB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5819" y="3587737"/>
              <a:ext cx="647700" cy="360363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95" name="Rectangle 39">
              <a:extLst>
                <a:ext uri="{FF2B5EF4-FFF2-40B4-BE49-F238E27FC236}">
                  <a16:creationId xmlns:a16="http://schemas.microsoft.com/office/drawing/2014/main" id="{509AD810-2CEB-43B2-850F-BF61DD2AB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5319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96" name="Rectangle 40">
              <a:extLst>
                <a:ext uri="{FF2B5EF4-FFF2-40B4-BE49-F238E27FC236}">
                  <a16:creationId xmlns:a16="http://schemas.microsoft.com/office/drawing/2014/main" id="{60F895F6-D74B-4FE0-B168-07A536BAB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519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C513F6E7-E28D-40B6-8C36-67979ADC3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7119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98" name="Rectangle 42">
              <a:extLst>
                <a:ext uri="{FF2B5EF4-FFF2-40B4-BE49-F238E27FC236}">
                  <a16:creationId xmlns:a16="http://schemas.microsoft.com/office/drawing/2014/main" id="{327DAF54-FA65-4AEB-B795-D59C267E1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381" y="3587737"/>
              <a:ext cx="6477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F8AB6AB3-64C6-47F3-8C0A-D1C3570CD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2881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100" name="Rectangle 44">
              <a:extLst>
                <a:ext uri="{FF2B5EF4-FFF2-40B4-BE49-F238E27FC236}">
                  <a16:creationId xmlns:a16="http://schemas.microsoft.com/office/drawing/2014/main" id="{B8AE4FA3-44B8-4B06-9E2A-A4E4BE06A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081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101" name="Rectangle 45">
              <a:extLst>
                <a:ext uri="{FF2B5EF4-FFF2-40B4-BE49-F238E27FC236}">
                  <a16:creationId xmlns:a16="http://schemas.microsoft.com/office/drawing/2014/main" id="{C04832B3-B17F-4194-B357-CF6948A3F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681" y="3587737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102" name="Line 46">
              <a:extLst>
                <a:ext uri="{FF2B5EF4-FFF2-40B4-BE49-F238E27FC236}">
                  <a16:creationId xmlns:a16="http://schemas.microsoft.com/office/drawing/2014/main" id="{535F65FE-D166-47AC-B1D2-5CC76371D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0131" y="1931975"/>
              <a:ext cx="649287" cy="792163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3" name="Line 47">
              <a:extLst>
                <a:ext uri="{FF2B5EF4-FFF2-40B4-BE49-F238E27FC236}">
                  <a16:creationId xmlns:a16="http://schemas.microsoft.com/office/drawing/2014/main" id="{777F5416-04C8-4858-B3A8-98341B3A1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1219" y="1931975"/>
              <a:ext cx="647700" cy="792163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4" name="Line 48">
              <a:extLst>
                <a:ext uri="{FF2B5EF4-FFF2-40B4-BE49-F238E27FC236}">
                  <a16:creationId xmlns:a16="http://schemas.microsoft.com/office/drawing/2014/main" id="{F650B960-1766-4A11-8964-B9702883D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6531" y="2940037"/>
              <a:ext cx="720725" cy="6477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5" name="Line 49">
              <a:extLst>
                <a:ext uri="{FF2B5EF4-FFF2-40B4-BE49-F238E27FC236}">
                  <a16:creationId xmlns:a16="http://schemas.microsoft.com/office/drawing/2014/main" id="{16480AC5-88C2-4F45-B7BA-A5B9D282C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9056" y="2868600"/>
              <a:ext cx="215900" cy="719138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6" name="Line 50">
              <a:extLst>
                <a:ext uri="{FF2B5EF4-FFF2-40B4-BE49-F238E27FC236}">
                  <a16:creationId xmlns:a16="http://schemas.microsoft.com/office/drawing/2014/main" id="{DCF18088-BCD2-42FD-ACC7-88D716BA2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0856" y="2940037"/>
              <a:ext cx="1439862" cy="6477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07" name="Rectangle 51">
              <a:extLst>
                <a:ext uri="{FF2B5EF4-FFF2-40B4-BE49-F238E27FC236}">
                  <a16:creationId xmlns:a16="http://schemas.microsoft.com/office/drawing/2014/main" id="{F43DFEC6-5982-4638-A87E-B6ECDE81B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231" y="4379900"/>
              <a:ext cx="647700" cy="360363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108" name="Rectangle 52">
              <a:extLst>
                <a:ext uri="{FF2B5EF4-FFF2-40B4-BE49-F238E27FC236}">
                  <a16:creationId xmlns:a16="http://schemas.microsoft.com/office/drawing/2014/main" id="{AC30E47F-8548-49BE-807B-B30BC246B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3731" y="4379900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109" name="Rectangle 53">
              <a:extLst>
                <a:ext uri="{FF2B5EF4-FFF2-40B4-BE49-F238E27FC236}">
                  <a16:creationId xmlns:a16="http://schemas.microsoft.com/office/drawing/2014/main" id="{FC51713E-9B9C-4433-B9AB-B4603A2FB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31" y="4379900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110" name="Rectangle 54">
              <a:extLst>
                <a:ext uri="{FF2B5EF4-FFF2-40B4-BE49-F238E27FC236}">
                  <a16:creationId xmlns:a16="http://schemas.microsoft.com/office/drawing/2014/main" id="{67905C3E-2D4D-419F-83EC-71E026741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5531" y="4379900"/>
              <a:ext cx="431800" cy="360363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111" name="Line 55">
              <a:extLst>
                <a:ext uri="{FF2B5EF4-FFF2-40B4-BE49-F238E27FC236}">
                  <a16:creationId xmlns:a16="http://schemas.microsoft.com/office/drawing/2014/main" id="{011ED1EC-7F60-4FB8-849C-7909071AD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86394" y="3803637"/>
              <a:ext cx="0" cy="576263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593E34D4-F365-4D1C-B7AC-3DA52C678862}"/>
              </a:ext>
            </a:extLst>
          </p:cNvPr>
          <p:cNvSpPr txBox="1"/>
          <p:nvPr/>
        </p:nvSpPr>
        <p:spPr>
          <a:xfrm>
            <a:off x="6822489" y="6191096"/>
            <a:ext cx="1725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m*n-(n-1)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2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47E97-BAA0-4636-A890-53AFB1E5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孩子表示法（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3E0275D-0198-40AE-AF9F-853346ACCC63}"/>
              </a:ext>
            </a:extLst>
          </p:cNvPr>
          <p:cNvGrpSpPr/>
          <p:nvPr/>
        </p:nvGrpSpPr>
        <p:grpSpPr>
          <a:xfrm>
            <a:off x="294415" y="1556792"/>
            <a:ext cx="3687877" cy="3960440"/>
            <a:chOff x="2010635" y="2660694"/>
            <a:chExt cx="1346919" cy="1709307"/>
          </a:xfrm>
          <a:solidFill>
            <a:srgbClr val="9677AE"/>
          </a:solidFill>
        </p:grpSpPr>
        <p:sp>
          <p:nvSpPr>
            <p:cNvPr id="40" name="Freeform 78">
              <a:extLst>
                <a:ext uri="{FF2B5EF4-FFF2-40B4-BE49-F238E27FC236}">
                  <a16:creationId xmlns:a16="http://schemas.microsoft.com/office/drawing/2014/main" id="{B83884D3-8ACB-4EB3-9D5B-E12BC7DBA7E5}"/>
                </a:ext>
              </a:extLst>
            </p:cNvPr>
            <p:cNvSpPr/>
            <p:nvPr/>
          </p:nvSpPr>
          <p:spPr bwMode="auto">
            <a:xfrm>
              <a:off x="2196765" y="3342032"/>
              <a:ext cx="283321" cy="290692"/>
            </a:xfrm>
            <a:custGeom>
              <a:avLst/>
              <a:gdLst/>
              <a:ahLst/>
              <a:cxnLst>
                <a:cxn ang="0">
                  <a:pos x="309" y="0"/>
                </a:cxn>
                <a:cxn ang="0">
                  <a:pos x="0" y="317"/>
                </a:cxn>
              </a:cxnLst>
              <a:rect l="0" t="0" r="r" b="b"/>
              <a:pathLst>
                <a:path w="309" h="317">
                  <a:moveTo>
                    <a:pt x="309" y="0"/>
                  </a:moveTo>
                  <a:lnTo>
                    <a:pt x="0" y="317"/>
                  </a:lnTo>
                </a:path>
              </a:pathLst>
            </a:cu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Freeform 77">
              <a:extLst>
                <a:ext uri="{FF2B5EF4-FFF2-40B4-BE49-F238E27FC236}">
                  <a16:creationId xmlns:a16="http://schemas.microsoft.com/office/drawing/2014/main" id="{BC0713AC-C0C9-4112-BD6A-5CAF9F842E13}"/>
                </a:ext>
              </a:extLst>
            </p:cNvPr>
            <p:cNvSpPr/>
            <p:nvPr/>
          </p:nvSpPr>
          <p:spPr bwMode="auto">
            <a:xfrm>
              <a:off x="2589196" y="3898657"/>
              <a:ext cx="1834" cy="17881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19"/>
                </a:cxn>
              </a:cxnLst>
              <a:rect l="0" t="0" r="r" b="b"/>
              <a:pathLst>
                <a:path w="2" h="219">
                  <a:moveTo>
                    <a:pt x="2" y="0"/>
                  </a:moveTo>
                  <a:lnTo>
                    <a:pt x="0" y="219"/>
                  </a:lnTo>
                </a:path>
              </a:pathLst>
            </a:cu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Freeform 76">
              <a:extLst>
                <a:ext uri="{FF2B5EF4-FFF2-40B4-BE49-F238E27FC236}">
                  <a16:creationId xmlns:a16="http://schemas.microsoft.com/office/drawing/2014/main" id="{0B5E910F-CDBF-43C6-9EB8-3E7BD98041B4}"/>
                </a:ext>
              </a:extLst>
            </p:cNvPr>
            <p:cNvSpPr/>
            <p:nvPr/>
          </p:nvSpPr>
          <p:spPr bwMode="auto">
            <a:xfrm>
              <a:off x="2620371" y="2879859"/>
              <a:ext cx="208135" cy="274186"/>
            </a:xfrm>
            <a:custGeom>
              <a:avLst/>
              <a:gdLst/>
              <a:ahLst/>
              <a:cxnLst>
                <a:cxn ang="0">
                  <a:pos x="252" y="0"/>
                </a:cxn>
                <a:cxn ang="0">
                  <a:pos x="0" y="333"/>
                </a:cxn>
              </a:cxnLst>
              <a:rect l="0" t="0" r="r" b="b"/>
              <a:pathLst>
                <a:path w="252" h="333">
                  <a:moveTo>
                    <a:pt x="252" y="0"/>
                  </a:moveTo>
                  <a:lnTo>
                    <a:pt x="0" y="333"/>
                  </a:lnTo>
                </a:path>
              </a:pathLst>
            </a:cu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Freeform 75">
              <a:extLst>
                <a:ext uri="{FF2B5EF4-FFF2-40B4-BE49-F238E27FC236}">
                  <a16:creationId xmlns:a16="http://schemas.microsoft.com/office/drawing/2014/main" id="{1D49C758-1B17-432D-B702-EDE7121DA7EE}"/>
                </a:ext>
              </a:extLst>
            </p:cNvPr>
            <p:cNvSpPr/>
            <p:nvPr/>
          </p:nvSpPr>
          <p:spPr bwMode="auto">
            <a:xfrm>
              <a:off x="3023805" y="2913789"/>
              <a:ext cx="176044" cy="2567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280"/>
                </a:cxn>
              </a:cxnLst>
              <a:rect l="0" t="0" r="r" b="b"/>
              <a:pathLst>
                <a:path w="192" h="280">
                  <a:moveTo>
                    <a:pt x="0" y="0"/>
                  </a:moveTo>
                  <a:lnTo>
                    <a:pt x="192" y="280"/>
                  </a:lnTo>
                </a:path>
              </a:pathLst>
            </a:cu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Freeform 74">
              <a:extLst>
                <a:ext uri="{FF2B5EF4-FFF2-40B4-BE49-F238E27FC236}">
                  <a16:creationId xmlns:a16="http://schemas.microsoft.com/office/drawing/2014/main" id="{8D5984AC-027B-40FB-A5CA-C11DC18C9B35}"/>
                </a:ext>
              </a:extLst>
            </p:cNvPr>
            <p:cNvSpPr/>
            <p:nvPr/>
          </p:nvSpPr>
          <p:spPr bwMode="auto">
            <a:xfrm>
              <a:off x="2582778" y="3428231"/>
              <a:ext cx="917" cy="1824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" y="199"/>
                </a:cxn>
              </a:cxnLst>
              <a:rect l="0" t="0" r="r" b="b"/>
              <a:pathLst>
                <a:path w="16" h="199">
                  <a:moveTo>
                    <a:pt x="0" y="0"/>
                  </a:moveTo>
                  <a:lnTo>
                    <a:pt x="16" y="199"/>
                  </a:lnTo>
                </a:path>
              </a:pathLst>
            </a:cu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Line 73">
              <a:extLst>
                <a:ext uri="{FF2B5EF4-FFF2-40B4-BE49-F238E27FC236}">
                  <a16:creationId xmlns:a16="http://schemas.microsoft.com/office/drawing/2014/main" id="{6A94514F-7FD0-450F-85C5-07985134B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1143" y="3341115"/>
              <a:ext cx="259481" cy="284273"/>
            </a:xfrm>
            <a:prstGeom prst="line">
              <a:avLst/>
            </a:pr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Oval 72">
              <a:extLst>
                <a:ext uri="{FF2B5EF4-FFF2-40B4-BE49-F238E27FC236}">
                  <a16:creationId xmlns:a16="http://schemas.microsoft.com/office/drawing/2014/main" id="{DE9407B8-75BC-4CCD-8530-9091F4418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002" y="2660694"/>
              <a:ext cx="259481" cy="286107"/>
            </a:xfrm>
            <a:prstGeom prst="ellipse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47" name="Oval 71">
              <a:extLst>
                <a:ext uri="{FF2B5EF4-FFF2-40B4-BE49-F238E27FC236}">
                  <a16:creationId xmlns:a16="http://schemas.microsoft.com/office/drawing/2014/main" id="{7E885723-5150-4AE2-9BF7-A9B7FF6BA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5330" y="3145792"/>
              <a:ext cx="259481" cy="286107"/>
            </a:xfrm>
            <a:prstGeom prst="ellipse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8" name="Oval 70">
              <a:extLst>
                <a:ext uri="{FF2B5EF4-FFF2-40B4-BE49-F238E27FC236}">
                  <a16:creationId xmlns:a16="http://schemas.microsoft.com/office/drawing/2014/main" id="{1C8AB6AA-BF5C-4532-985A-5FE170C0F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073" y="3176053"/>
              <a:ext cx="259481" cy="286107"/>
            </a:xfrm>
            <a:prstGeom prst="ellipse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9" name="Oval 69">
              <a:extLst>
                <a:ext uri="{FF2B5EF4-FFF2-40B4-BE49-F238E27FC236}">
                  <a16:creationId xmlns:a16="http://schemas.microsoft.com/office/drawing/2014/main" id="{5BF77533-A60F-42AF-B1F3-197764884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860" y="3618052"/>
              <a:ext cx="259481" cy="286107"/>
            </a:xfrm>
            <a:prstGeom prst="ellipse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50" name="Oval 68">
              <a:extLst>
                <a:ext uri="{FF2B5EF4-FFF2-40B4-BE49-F238E27FC236}">
                  <a16:creationId xmlns:a16="http://schemas.microsoft.com/office/drawing/2014/main" id="{C64C343C-D520-4527-BE0B-21FD40194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635" y="3625388"/>
              <a:ext cx="259481" cy="286107"/>
            </a:xfrm>
            <a:prstGeom prst="ellipse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51" name="Oval 67">
              <a:extLst>
                <a:ext uri="{FF2B5EF4-FFF2-40B4-BE49-F238E27FC236}">
                  <a16:creationId xmlns:a16="http://schemas.microsoft.com/office/drawing/2014/main" id="{C51E5A74-2F26-4EEC-BFE6-E5482D186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5330" y="3610716"/>
              <a:ext cx="259481" cy="286107"/>
            </a:xfrm>
            <a:prstGeom prst="ellipse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52" name="Oval 65">
              <a:extLst>
                <a:ext uri="{FF2B5EF4-FFF2-40B4-BE49-F238E27FC236}">
                  <a16:creationId xmlns:a16="http://schemas.microsoft.com/office/drawing/2014/main" id="{FFE12E7E-EC59-4450-B931-7C72CE74F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5330" y="4083894"/>
              <a:ext cx="259481" cy="286107"/>
            </a:xfrm>
            <a:prstGeom prst="ellipse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B1AC8F8-1CFF-44B0-A88F-055D230700C3}"/>
              </a:ext>
            </a:extLst>
          </p:cNvPr>
          <p:cNvGrpSpPr/>
          <p:nvPr/>
        </p:nvGrpSpPr>
        <p:grpSpPr>
          <a:xfrm>
            <a:off x="4662031" y="1833555"/>
            <a:ext cx="4132301" cy="3672408"/>
            <a:chOff x="5150195" y="2579080"/>
            <a:chExt cx="2363478" cy="1789085"/>
          </a:xfrm>
          <a:solidFill>
            <a:srgbClr val="9677AE"/>
          </a:solidFill>
        </p:grpSpPr>
        <p:sp>
          <p:nvSpPr>
            <p:cNvPr id="54" name="Text Box 62">
              <a:extLst>
                <a:ext uri="{FF2B5EF4-FFF2-40B4-BE49-F238E27FC236}">
                  <a16:creationId xmlns:a16="http://schemas.microsoft.com/office/drawing/2014/main" id="{22D3D09E-C1D9-446A-B67E-274202F83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929" y="2579080"/>
              <a:ext cx="259481" cy="233837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55" name="Text Box 61">
              <a:extLst>
                <a:ext uri="{FF2B5EF4-FFF2-40B4-BE49-F238E27FC236}">
                  <a16:creationId xmlns:a16="http://schemas.microsoft.com/office/drawing/2014/main" id="{5A2EB002-7C51-4917-851A-6D5ACC4A7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9410" y="2579080"/>
              <a:ext cx="259481" cy="233837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6" name="Text Box 60">
              <a:extLst>
                <a:ext uri="{FF2B5EF4-FFF2-40B4-BE49-F238E27FC236}">
                  <a16:creationId xmlns:a16="http://schemas.microsoft.com/office/drawing/2014/main" id="{48712FC6-36E4-4E43-8AFA-0B0C38CD6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3304" y="2579080"/>
              <a:ext cx="259481" cy="233837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DB41A99E-63F3-4829-B9BE-F58CC1DCE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2401" y="3107278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58" name="Text Box 54">
              <a:extLst>
                <a:ext uri="{FF2B5EF4-FFF2-40B4-BE49-F238E27FC236}">
                  <a16:creationId xmlns:a16="http://schemas.microsoft.com/office/drawing/2014/main" id="{2F7775B8-08B2-474B-9B03-2816FD64B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83" y="3107278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9" name="Text Box 53">
              <a:extLst>
                <a:ext uri="{FF2B5EF4-FFF2-40B4-BE49-F238E27FC236}">
                  <a16:creationId xmlns:a16="http://schemas.microsoft.com/office/drawing/2014/main" id="{4CAE3C53-41E3-4081-89BF-5AD00CD60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4860" y="3107278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0" name="Text Box 52">
              <a:extLst>
                <a:ext uri="{FF2B5EF4-FFF2-40B4-BE49-F238E27FC236}">
                  <a16:creationId xmlns:a16="http://schemas.microsoft.com/office/drawing/2014/main" id="{8217190B-E12E-41B4-A04A-AA2CC67E4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4342" y="3107278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1" name="Text Box 51">
              <a:extLst>
                <a:ext uri="{FF2B5EF4-FFF2-40B4-BE49-F238E27FC236}">
                  <a16:creationId xmlns:a16="http://schemas.microsoft.com/office/drawing/2014/main" id="{42DA9545-FA0B-4953-886B-E6C1619D0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4192" y="3107278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62" name="Text Box 47">
              <a:extLst>
                <a:ext uri="{FF2B5EF4-FFF2-40B4-BE49-F238E27FC236}">
                  <a16:creationId xmlns:a16="http://schemas.microsoft.com/office/drawing/2014/main" id="{A101A254-73BE-4E86-A602-A931F2432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0195" y="3621720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63" name="Text Box 43">
              <a:extLst>
                <a:ext uri="{FF2B5EF4-FFF2-40B4-BE49-F238E27FC236}">
                  <a16:creationId xmlns:a16="http://schemas.microsoft.com/office/drawing/2014/main" id="{98DB2C01-1B34-4F8C-97A8-0FF347DB0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6048" y="3621720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64" name="Text Box 42">
              <a:extLst>
                <a:ext uri="{FF2B5EF4-FFF2-40B4-BE49-F238E27FC236}">
                  <a16:creationId xmlns:a16="http://schemas.microsoft.com/office/drawing/2014/main" id="{477B1689-C2F6-4384-9694-59C39A9C6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5530" y="3621720"/>
              <a:ext cx="260398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5" name="Text Box 39">
              <a:extLst>
                <a:ext uri="{FF2B5EF4-FFF2-40B4-BE49-F238E27FC236}">
                  <a16:creationId xmlns:a16="http://schemas.microsoft.com/office/drawing/2014/main" id="{DBEC94C8-0D16-4E7F-AB5B-FC44F4318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9692" y="4135245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66" name="Text Box 35">
              <a:extLst>
                <a:ext uri="{FF2B5EF4-FFF2-40B4-BE49-F238E27FC236}">
                  <a16:creationId xmlns:a16="http://schemas.microsoft.com/office/drawing/2014/main" id="{EB1C8B94-D798-4652-958C-5E8D6CF98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3944" y="3621720"/>
              <a:ext cx="259481" cy="23292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452260"/>
              </a:solidFill>
              <a:prstDash val="solid"/>
              <a:miter lim="800000"/>
            </a:ln>
            <a:effectLst/>
          </p:spPr>
          <p:txBody>
            <a:bodyPr vert="horz" wrap="square" lIns="0" tIns="0" rIns="0" bIns="0" numCol="1" anchor="b" anchorCtr="0" compatLnSpc="1"/>
            <a:lstStyle/>
            <a:p>
              <a:pPr marL="0" marR="0" lvl="0" indent="0" algn="ctr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67" name="Line 31">
              <a:extLst>
                <a:ext uri="{FF2B5EF4-FFF2-40B4-BE49-F238E27FC236}">
                  <a16:creationId xmlns:a16="http://schemas.microsoft.com/office/drawing/2014/main" id="{DAF6BF35-F9DA-49FF-BEA8-32898C8327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1907" y="2724885"/>
              <a:ext cx="432775" cy="386061"/>
            </a:xfrm>
            <a:prstGeom prst="line">
              <a:avLst/>
            </a:pr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9BC6CE2E-F27A-4A50-A0F3-F7F4BA246F87}"/>
                </a:ext>
              </a:extLst>
            </p:cNvPr>
            <p:cNvSpPr/>
            <p:nvPr/>
          </p:nvSpPr>
          <p:spPr bwMode="auto">
            <a:xfrm>
              <a:off x="6932105" y="2729470"/>
              <a:ext cx="431858" cy="3778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5" y="458"/>
                </a:cxn>
              </a:cxnLst>
              <a:rect l="0" t="0" r="r" b="b"/>
              <a:pathLst>
                <a:path w="525" h="458">
                  <a:moveTo>
                    <a:pt x="0" y="0"/>
                  </a:moveTo>
                  <a:lnTo>
                    <a:pt x="525" y="458"/>
                  </a:lnTo>
                </a:path>
              </a:pathLst>
            </a:cu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743E36BB-CB43-4545-8320-B8340FA34EE4}"/>
                </a:ext>
              </a:extLst>
            </p:cNvPr>
            <p:cNvSpPr/>
            <p:nvPr/>
          </p:nvSpPr>
          <p:spPr bwMode="auto">
            <a:xfrm>
              <a:off x="5275209" y="3242995"/>
              <a:ext cx="710594" cy="364970"/>
            </a:xfrm>
            <a:custGeom>
              <a:avLst/>
              <a:gdLst/>
              <a:ahLst/>
              <a:cxnLst>
                <a:cxn ang="0">
                  <a:pos x="862" y="0"/>
                </a:cxn>
                <a:cxn ang="0">
                  <a:pos x="0" y="442"/>
                </a:cxn>
              </a:cxnLst>
              <a:rect l="0" t="0" r="r" b="b"/>
              <a:pathLst>
                <a:path w="862" h="442">
                  <a:moveTo>
                    <a:pt x="862" y="0"/>
                  </a:moveTo>
                  <a:lnTo>
                    <a:pt x="0" y="442"/>
                  </a:lnTo>
                </a:path>
              </a:pathLst>
            </a:cu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0" name="Line 28">
              <a:extLst>
                <a:ext uri="{FF2B5EF4-FFF2-40B4-BE49-F238E27FC236}">
                  <a16:creationId xmlns:a16="http://schemas.microsoft.com/office/drawing/2014/main" id="{9352E8B3-7342-432A-9F40-1BD49282E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9311" y="3750101"/>
              <a:ext cx="0" cy="386061"/>
            </a:xfrm>
            <a:prstGeom prst="line">
              <a:avLst/>
            </a:pr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0C96510D-3F31-4EC8-B2A7-16EFF7788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6636" y="3238410"/>
              <a:ext cx="0" cy="385144"/>
            </a:xfrm>
            <a:prstGeom prst="line">
              <a:avLst/>
            </a:pr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2" name="Line 26">
              <a:extLst>
                <a:ext uri="{FF2B5EF4-FFF2-40B4-BE49-F238E27FC236}">
                  <a16:creationId xmlns:a16="http://schemas.microsoft.com/office/drawing/2014/main" id="{639E0593-E6E4-486A-8EC2-523CD8AA6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9818" y="3238410"/>
              <a:ext cx="519880" cy="385144"/>
            </a:xfrm>
            <a:prstGeom prst="line">
              <a:avLst/>
            </a:prstGeom>
            <a:grpFill/>
            <a:ln w="15875" cap="flat" cmpd="sng" algn="ctr">
              <a:solidFill>
                <a:srgbClr val="45226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73" name="上箭头 7">
            <a:extLst>
              <a:ext uri="{FF2B5EF4-FFF2-40B4-BE49-F238E27FC236}">
                <a16:creationId xmlns:a16="http://schemas.microsoft.com/office/drawing/2014/main" id="{31595D48-AE7A-4C03-8143-685F0C7F70FF}"/>
              </a:ext>
            </a:extLst>
          </p:cNvPr>
          <p:cNvSpPr/>
          <p:nvPr/>
        </p:nvSpPr>
        <p:spPr>
          <a:xfrm rot="5400000">
            <a:off x="4246081" y="3350468"/>
            <a:ext cx="430833" cy="480692"/>
          </a:xfrm>
          <a:prstGeom prst="upArrow">
            <a:avLst/>
          </a:prstGeom>
          <a:solidFill>
            <a:srgbClr val="92D05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78EBBF8-438C-4AC2-8B4A-5B9EBDDA8C56}"/>
              </a:ext>
            </a:extLst>
          </p:cNvPr>
          <p:cNvSpPr txBox="1"/>
          <p:nvPr/>
        </p:nvSpPr>
        <p:spPr>
          <a:xfrm>
            <a:off x="5724128" y="963305"/>
            <a:ext cx="332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solidFill>
                  <a:srgbClr val="0000FF"/>
                </a:solidFill>
              </a:rPr>
              <a:t>变长数组，如 </a:t>
            </a:r>
            <a:r>
              <a:rPr lang="en-US" altLang="zh-CN" b="0" dirty="0">
                <a:solidFill>
                  <a:srgbClr val="0000FF"/>
                </a:solidFill>
              </a:rPr>
              <a:t>vector</a:t>
            </a:r>
            <a:endParaRPr lang="zh-CN" altLang="en-US" b="0" dirty="0">
              <a:solidFill>
                <a:srgbClr val="0000FF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C050F8C-49A4-41BE-BC42-64B5FE9CD063}"/>
              </a:ext>
            </a:extLst>
          </p:cNvPr>
          <p:cNvSpPr txBox="1"/>
          <p:nvPr/>
        </p:nvSpPr>
        <p:spPr>
          <a:xfrm>
            <a:off x="331072" y="5661248"/>
            <a:ext cx="8463260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+mn-ea"/>
                <a:ea typeface="+mn-ea"/>
              </a:rPr>
              <a:t>孩子表示法，查找某结点的</a:t>
            </a:r>
            <a:r>
              <a:rPr lang="zh-CN" altLang="en-US" sz="2400" b="0" dirty="0">
                <a:solidFill>
                  <a:srgbClr val="0000FF"/>
                </a:solidFill>
                <a:latin typeface="+mn-ea"/>
                <a:ea typeface="+mn-ea"/>
              </a:rPr>
              <a:t>孩子</a:t>
            </a:r>
            <a:r>
              <a:rPr lang="zh-CN" altLang="en-US" sz="2400" b="0" dirty="0">
                <a:latin typeface="+mn-ea"/>
                <a:ea typeface="+mn-ea"/>
              </a:rPr>
              <a:t>结点比较方便，但查找</a:t>
            </a:r>
            <a:r>
              <a:rPr lang="zh-CN" altLang="en-US" sz="2400" b="0" dirty="0">
                <a:solidFill>
                  <a:srgbClr val="0000FF"/>
                </a:solidFill>
                <a:latin typeface="+mn-ea"/>
                <a:ea typeface="+mn-ea"/>
              </a:rPr>
              <a:t>兄弟</a:t>
            </a:r>
            <a:r>
              <a:rPr lang="zh-CN" altLang="en-US" sz="2400" b="0" dirty="0">
                <a:latin typeface="+mn-ea"/>
                <a:ea typeface="+mn-ea"/>
              </a:rPr>
              <a:t>和</a:t>
            </a:r>
            <a:r>
              <a:rPr lang="zh-CN" altLang="en-US" sz="2400" b="0" dirty="0">
                <a:solidFill>
                  <a:srgbClr val="0000FF"/>
                </a:solidFill>
                <a:latin typeface="+mn-ea"/>
                <a:ea typeface="+mn-ea"/>
              </a:rPr>
              <a:t>双亲</a:t>
            </a:r>
            <a:r>
              <a:rPr lang="zh-CN" altLang="en-US" sz="2400" b="0" dirty="0">
                <a:latin typeface="+mn-ea"/>
                <a:ea typeface="+mn-ea"/>
              </a:rPr>
              <a:t>结点比较费时。</a:t>
            </a:r>
          </a:p>
        </p:txBody>
      </p:sp>
    </p:spTree>
    <p:extLst>
      <p:ext uri="{BB962C8B-B14F-4D97-AF65-F5344CB8AC3E}">
        <p14:creationId xmlns:p14="http://schemas.microsoft.com/office/powerpoint/2010/main" val="19000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6" grpId="0"/>
      <p:bldP spid="7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8352A-F3AA-49F4-A6AC-9DD9FB4E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</a:t>
            </a:r>
            <a:r>
              <a:rPr lang="en-US" altLang="zh-CN" dirty="0"/>
              <a:t>-</a:t>
            </a:r>
            <a:r>
              <a:rPr lang="zh-CN" altLang="en-US" dirty="0"/>
              <a:t>兄弟表示法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4C2F77-8170-4339-A40B-9924F49B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4556703"/>
          </a:xfrm>
        </p:spPr>
        <p:txBody>
          <a:bodyPr/>
          <a:lstStyle/>
          <a:p>
            <a:r>
              <a:rPr lang="zh-CN" altLang="en-US" dirty="0"/>
              <a:t>树应用最广泛的存储结构。</a:t>
            </a:r>
            <a:endParaRPr lang="en-US" altLang="zh-CN" dirty="0"/>
          </a:p>
          <a:p>
            <a:r>
              <a:rPr lang="zh-CN" altLang="en-US" dirty="0"/>
              <a:t>每个结点存放其</a:t>
            </a:r>
            <a:r>
              <a:rPr lang="zh-CN" altLang="en-US" dirty="0">
                <a:solidFill>
                  <a:srgbClr val="FF0000"/>
                </a:solidFill>
              </a:rPr>
              <a:t>第一个孩子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下一个兄弟结点</a:t>
            </a:r>
            <a:r>
              <a:rPr lang="zh-CN" altLang="en-US" dirty="0"/>
              <a:t>的位置信息，可以直接使用二叉链表实现，因此又称作</a:t>
            </a:r>
            <a:r>
              <a:rPr lang="zh-CN" altLang="en-US" b="1" dirty="0">
                <a:solidFill>
                  <a:srgbClr val="0000FF"/>
                </a:solidFill>
              </a:rPr>
              <a:t>二叉链表表示法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二叉链表中的左指针域改称 </a:t>
            </a:r>
            <a:r>
              <a:rPr lang="en-US" altLang="zh-CN" dirty="0" err="1">
                <a:solidFill>
                  <a:srgbClr val="0000FF"/>
                </a:solidFill>
              </a:rPr>
              <a:t>firstChild</a:t>
            </a:r>
            <a:r>
              <a:rPr lang="zh-CN" altLang="en-US" dirty="0"/>
              <a:t>，指向结点的第一个孩子结点；右指针域改称 </a:t>
            </a:r>
            <a:r>
              <a:rPr lang="en-US" altLang="zh-CN" dirty="0" err="1">
                <a:solidFill>
                  <a:srgbClr val="0000FF"/>
                </a:solidFill>
              </a:rPr>
              <a:t>nextSibling</a:t>
            </a:r>
            <a:r>
              <a:rPr lang="zh-CN" altLang="en-US" dirty="0"/>
              <a:t>，指向下一个兄弟结点。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1A313D04-795A-40E9-8813-AA3DA1A89DE6}"/>
              </a:ext>
            </a:extLst>
          </p:cNvPr>
          <p:cNvGrpSpPr>
            <a:grpSpLocks/>
          </p:cNvGrpSpPr>
          <p:nvPr/>
        </p:nvGrpSpPr>
        <p:grpSpPr bwMode="auto">
          <a:xfrm>
            <a:off x="1691279" y="5466494"/>
            <a:ext cx="5759741" cy="748719"/>
            <a:chOff x="1200" y="758"/>
            <a:chExt cx="3358" cy="352"/>
          </a:xfrm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02F0F3DD-53EF-47B9-A06F-B99C67B74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758"/>
              <a:ext cx="3358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黑体" panose="02010609060101010101" pitchFamily="49" charset="-122"/>
                </a:rPr>
                <a:t>data</a:t>
              </a:r>
              <a:endParaRPr kumimoji="1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AE8927F6-3C86-4EEB-AE28-BFAEFE288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2" y="774"/>
              <a:ext cx="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B3C0D0D2-9340-4C87-988D-B74F6673A5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4" y="768"/>
              <a:ext cx="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A3AEFA3D-3905-4D12-A490-68C8D8B57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6" y="796"/>
              <a:ext cx="1105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i="0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黑体" panose="02010609060101010101" pitchFamily="49" charset="-122"/>
                </a:rPr>
                <a:t>firstChild</a:t>
              </a:r>
              <a:endParaRPr kumimoji="1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9FE4AA33-238B-4C05-BCC1-F3C115782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5" y="770"/>
              <a:ext cx="12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i="0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黑体" panose="02010609060101010101" pitchFamily="49" charset="-122"/>
                </a:rPr>
                <a:t>nextSibling</a:t>
              </a:r>
              <a:endParaRPr kumimoji="1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3724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557BC-99A0-40E4-9CA7-30653A7EC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</a:t>
            </a:r>
            <a:r>
              <a:rPr lang="en-US" altLang="zh-CN" dirty="0"/>
              <a:t>-</a:t>
            </a:r>
            <a:r>
              <a:rPr lang="zh-CN" altLang="en-US" dirty="0"/>
              <a:t>兄弟表示法</a:t>
            </a:r>
          </a:p>
        </p:txBody>
      </p:sp>
      <p:grpSp>
        <p:nvGrpSpPr>
          <p:cNvPr id="59" name="Group 66">
            <a:extLst>
              <a:ext uri="{FF2B5EF4-FFF2-40B4-BE49-F238E27FC236}">
                <a16:creationId xmlns:a16="http://schemas.microsoft.com/office/drawing/2014/main" id="{C51DEF28-586C-45B1-AAE6-6E859EAEC5A6}"/>
              </a:ext>
            </a:extLst>
          </p:cNvPr>
          <p:cNvGrpSpPr>
            <a:grpSpLocks/>
          </p:cNvGrpSpPr>
          <p:nvPr/>
        </p:nvGrpSpPr>
        <p:grpSpPr bwMode="auto">
          <a:xfrm>
            <a:off x="178680" y="1844824"/>
            <a:ext cx="8641791" cy="4392488"/>
            <a:chOff x="219" y="1440"/>
            <a:chExt cx="5061" cy="2352"/>
          </a:xfrm>
        </p:grpSpPr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BA80A8B6-1A94-4D35-BBB3-A966FE53A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6" y="2424"/>
              <a:ext cx="0" cy="336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10">
              <a:extLst>
                <a:ext uri="{FF2B5EF4-FFF2-40B4-BE49-F238E27FC236}">
                  <a16:creationId xmlns:a16="http://schemas.microsoft.com/office/drawing/2014/main" id="{2B7FCD58-48DD-4E7A-8F50-98F9673B5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0" y="1896"/>
              <a:ext cx="336" cy="43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DD27F0A4-0CC0-4B8F-B384-77FBF9550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" y="2424"/>
              <a:ext cx="144" cy="2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Line 12">
              <a:extLst>
                <a:ext uri="{FF2B5EF4-FFF2-40B4-BE49-F238E27FC236}">
                  <a16:creationId xmlns:a16="http://schemas.microsoft.com/office/drawing/2014/main" id="{917E686A-DC79-4FED-9ABC-553AB1917A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" y="2424"/>
              <a:ext cx="123" cy="2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Line 13">
              <a:extLst>
                <a:ext uri="{FF2B5EF4-FFF2-40B4-BE49-F238E27FC236}">
                  <a16:creationId xmlns:a16="http://schemas.microsoft.com/office/drawing/2014/main" id="{3BB30DFF-5726-4BF2-A010-4C4647DE0D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0" y="1944"/>
              <a:ext cx="288" cy="2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14">
              <a:extLst>
                <a:ext uri="{FF2B5EF4-FFF2-40B4-BE49-F238E27FC236}">
                  <a16:creationId xmlns:a16="http://schemas.microsoft.com/office/drawing/2014/main" id="{F1D7FA6A-FDAA-4B44-B948-2BDB39BC4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4" y="1944"/>
              <a:ext cx="0" cy="2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" name="Oval 15">
              <a:extLst>
                <a:ext uri="{FF2B5EF4-FFF2-40B4-BE49-F238E27FC236}">
                  <a16:creationId xmlns:a16="http://schemas.microsoft.com/office/drawing/2014/main" id="{94141521-15E3-40B4-B12C-6806D1020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171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Oval 16">
              <a:extLst>
                <a:ext uri="{FF2B5EF4-FFF2-40B4-BE49-F238E27FC236}">
                  <a16:creationId xmlns:a16="http://schemas.microsoft.com/office/drawing/2014/main" id="{6582CC3C-6F47-474F-A869-7194F0351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219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Oval 17">
              <a:extLst>
                <a:ext uri="{FF2B5EF4-FFF2-40B4-BE49-F238E27FC236}">
                  <a16:creationId xmlns:a16="http://schemas.microsoft.com/office/drawing/2014/main" id="{BC2D24BA-5235-49F4-888F-7C144A677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267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Oval 18">
              <a:extLst>
                <a:ext uri="{FF2B5EF4-FFF2-40B4-BE49-F238E27FC236}">
                  <a16:creationId xmlns:a16="http://schemas.microsoft.com/office/drawing/2014/main" id="{1A63C731-2963-42C4-910A-2A14A5916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" y="267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Oval 19">
              <a:extLst>
                <a:ext uri="{FF2B5EF4-FFF2-40B4-BE49-F238E27FC236}">
                  <a16:creationId xmlns:a16="http://schemas.microsoft.com/office/drawing/2014/main" id="{29396048-2714-42BE-BD46-A024EA101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" y="219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Oval 20">
              <a:extLst>
                <a:ext uri="{FF2B5EF4-FFF2-40B4-BE49-F238E27FC236}">
                  <a16:creationId xmlns:a16="http://schemas.microsoft.com/office/drawing/2014/main" id="{D903E208-72E7-4031-8F0D-4CD7DA7B7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5" y="219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Oval 21">
              <a:extLst>
                <a:ext uri="{FF2B5EF4-FFF2-40B4-BE49-F238E27FC236}">
                  <a16:creationId xmlns:a16="http://schemas.microsoft.com/office/drawing/2014/main" id="{9EFC799C-9B15-4C1A-BE00-DE6169F83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5" y="267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Text Box 22">
              <a:extLst>
                <a:ext uri="{FF2B5EF4-FFF2-40B4-BE49-F238E27FC236}">
                  <a16:creationId xmlns:a16="http://schemas.microsoft.com/office/drawing/2014/main" id="{4A839865-E019-4A6D-BD57-791D2D185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9" y="1688"/>
              <a:ext cx="260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endPara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4" name="Text Box 23">
              <a:extLst>
                <a:ext uri="{FF2B5EF4-FFF2-40B4-BE49-F238E27FC236}">
                  <a16:creationId xmlns:a16="http://schemas.microsoft.com/office/drawing/2014/main" id="{B7C9A82D-048B-404C-A847-E746A5DF8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" y="2168"/>
              <a:ext cx="248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5" name="Text Box 24">
              <a:extLst>
                <a:ext uri="{FF2B5EF4-FFF2-40B4-BE49-F238E27FC236}">
                  <a16:creationId xmlns:a16="http://schemas.microsoft.com/office/drawing/2014/main" id="{198AB16B-06EE-4386-B3DA-159444BA2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2168"/>
              <a:ext cx="248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endPara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6" name="Text Box 25">
              <a:extLst>
                <a:ext uri="{FF2B5EF4-FFF2-40B4-BE49-F238E27FC236}">
                  <a16:creationId xmlns:a16="http://schemas.microsoft.com/office/drawing/2014/main" id="{574CD1B7-1463-4AC2-9190-73B0A8D33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2" y="2168"/>
              <a:ext cx="260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</a:t>
              </a:r>
              <a:endPara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7" name="Text Box 26">
              <a:extLst>
                <a:ext uri="{FF2B5EF4-FFF2-40B4-BE49-F238E27FC236}">
                  <a16:creationId xmlns:a16="http://schemas.microsoft.com/office/drawing/2014/main" id="{EDECED97-55B3-438E-A5C8-3DA4B78A4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" y="2660"/>
              <a:ext cx="237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8" name="Text Box 27">
              <a:extLst>
                <a:ext uri="{FF2B5EF4-FFF2-40B4-BE49-F238E27FC236}">
                  <a16:creationId xmlns:a16="http://schemas.microsoft.com/office/drawing/2014/main" id="{2CE05DE0-FD37-418B-A89D-91DCD666E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660"/>
              <a:ext cx="225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F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9" name="Text Box 28">
              <a:extLst>
                <a:ext uri="{FF2B5EF4-FFF2-40B4-BE49-F238E27FC236}">
                  <a16:creationId xmlns:a16="http://schemas.microsoft.com/office/drawing/2014/main" id="{14346179-C152-4E1E-B5AB-6ADC3249F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" y="2660"/>
              <a:ext cx="260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G</a:t>
              </a:r>
              <a:endParaRPr kumimoji="1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80" name="Rectangle 29">
              <a:extLst>
                <a:ext uri="{FF2B5EF4-FFF2-40B4-BE49-F238E27FC236}">
                  <a16:creationId xmlns:a16="http://schemas.microsoft.com/office/drawing/2014/main" id="{CEA64FDC-EE71-4ECC-821B-B6A300138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488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Line 30">
              <a:extLst>
                <a:ext uri="{FF2B5EF4-FFF2-40B4-BE49-F238E27FC236}">
                  <a16:creationId xmlns:a16="http://schemas.microsoft.com/office/drawing/2014/main" id="{EDD77F24-906F-4A50-AC28-078196D99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488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31">
              <a:extLst>
                <a:ext uri="{FF2B5EF4-FFF2-40B4-BE49-F238E27FC236}">
                  <a16:creationId xmlns:a16="http://schemas.microsoft.com/office/drawing/2014/main" id="{9B835136-8133-4216-989A-B4F806D9B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488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Rectangle 32">
              <a:extLst>
                <a:ext uri="{FF2B5EF4-FFF2-40B4-BE49-F238E27FC236}">
                  <a16:creationId xmlns:a16="http://schemas.microsoft.com/office/drawing/2014/main" id="{ABF07113-AA41-4565-B64D-63519682E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968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33">
              <a:extLst>
                <a:ext uri="{FF2B5EF4-FFF2-40B4-BE49-F238E27FC236}">
                  <a16:creationId xmlns:a16="http://schemas.microsoft.com/office/drawing/2014/main" id="{1FF2A64B-55A5-473E-B4F4-83F260FCC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68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34">
              <a:extLst>
                <a:ext uri="{FF2B5EF4-FFF2-40B4-BE49-F238E27FC236}">
                  <a16:creationId xmlns:a16="http://schemas.microsoft.com/office/drawing/2014/main" id="{707FA0A6-A3FD-4E23-89AA-DFCA8E9C8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968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Rectangle 35">
              <a:extLst>
                <a:ext uri="{FF2B5EF4-FFF2-40B4-BE49-F238E27FC236}">
                  <a16:creationId xmlns:a16="http://schemas.microsoft.com/office/drawing/2014/main" id="{9718626F-E5A8-45B0-938C-0F5F79DD0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496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36">
              <a:extLst>
                <a:ext uri="{FF2B5EF4-FFF2-40B4-BE49-F238E27FC236}">
                  <a16:creationId xmlns:a16="http://schemas.microsoft.com/office/drawing/2014/main" id="{8DFB7C18-F1BE-46AA-80BF-A316FD8D8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496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37">
              <a:extLst>
                <a:ext uri="{FF2B5EF4-FFF2-40B4-BE49-F238E27FC236}">
                  <a16:creationId xmlns:a16="http://schemas.microsoft.com/office/drawing/2014/main" id="{A9FFA536-B562-427C-A0D1-3AAAA4840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496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38">
              <a:extLst>
                <a:ext uri="{FF2B5EF4-FFF2-40B4-BE49-F238E27FC236}">
                  <a16:creationId xmlns:a16="http://schemas.microsoft.com/office/drawing/2014/main" id="{ECE9795C-EA79-4B7E-B888-03374D959F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632"/>
              <a:ext cx="432" cy="33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39">
              <a:extLst>
                <a:ext uri="{FF2B5EF4-FFF2-40B4-BE49-F238E27FC236}">
                  <a16:creationId xmlns:a16="http://schemas.microsoft.com/office/drawing/2014/main" id="{825037A0-B324-4808-B7F6-9BCF9B518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112"/>
              <a:ext cx="432" cy="384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" name="Rectangle 40">
              <a:extLst>
                <a:ext uri="{FF2B5EF4-FFF2-40B4-BE49-F238E27FC236}">
                  <a16:creationId xmlns:a16="http://schemas.microsoft.com/office/drawing/2014/main" id="{E6DEC7C7-AFC2-46B2-A43F-0A392D8AE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96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41">
              <a:extLst>
                <a:ext uri="{FF2B5EF4-FFF2-40B4-BE49-F238E27FC236}">
                  <a16:creationId xmlns:a16="http://schemas.microsoft.com/office/drawing/2014/main" id="{4BD3AAED-F855-4D8E-A673-A286379D8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96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42">
              <a:extLst>
                <a:ext uri="{FF2B5EF4-FFF2-40B4-BE49-F238E27FC236}">
                  <a16:creationId xmlns:a16="http://schemas.microsoft.com/office/drawing/2014/main" id="{4D920026-C62F-4D30-B486-6D4E531A7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496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Rectangle 43">
              <a:extLst>
                <a:ext uri="{FF2B5EF4-FFF2-40B4-BE49-F238E27FC236}">
                  <a16:creationId xmlns:a16="http://schemas.microsoft.com/office/drawing/2014/main" id="{50C0AF3B-1D72-49B0-B1AD-E4AB8E372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976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Line 44">
              <a:extLst>
                <a:ext uri="{FF2B5EF4-FFF2-40B4-BE49-F238E27FC236}">
                  <a16:creationId xmlns:a16="http://schemas.microsoft.com/office/drawing/2014/main" id="{9EDA0619-44A5-4FF2-B806-3CFCDB103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976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45">
              <a:extLst>
                <a:ext uri="{FF2B5EF4-FFF2-40B4-BE49-F238E27FC236}">
                  <a16:creationId xmlns:a16="http://schemas.microsoft.com/office/drawing/2014/main" id="{C57A8907-3C13-4783-A168-6D0AA1591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976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46">
              <a:extLst>
                <a:ext uri="{FF2B5EF4-FFF2-40B4-BE49-F238E27FC236}">
                  <a16:creationId xmlns:a16="http://schemas.microsoft.com/office/drawing/2014/main" id="{0D122315-D81B-47CE-88AA-158689646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456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Line 47">
              <a:extLst>
                <a:ext uri="{FF2B5EF4-FFF2-40B4-BE49-F238E27FC236}">
                  <a16:creationId xmlns:a16="http://schemas.microsoft.com/office/drawing/2014/main" id="{F20B99A2-284B-44F7-8045-27C1D407B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456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Line 48">
              <a:extLst>
                <a:ext uri="{FF2B5EF4-FFF2-40B4-BE49-F238E27FC236}">
                  <a16:creationId xmlns:a16="http://schemas.microsoft.com/office/drawing/2014/main" id="{2D369918-DCD2-4E54-8B18-2687D3075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456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Rectangle 49">
              <a:extLst>
                <a:ext uri="{FF2B5EF4-FFF2-40B4-BE49-F238E27FC236}">
                  <a16:creationId xmlns:a16="http://schemas.microsoft.com/office/drawing/2014/main" id="{ED0B0A15-110D-4CC8-9525-90B73042E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024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50">
              <a:extLst>
                <a:ext uri="{FF2B5EF4-FFF2-40B4-BE49-F238E27FC236}">
                  <a16:creationId xmlns:a16="http://schemas.microsoft.com/office/drawing/2014/main" id="{A7EAEFBC-365B-4EF6-82DE-BC57B272E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024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51">
              <a:extLst>
                <a:ext uri="{FF2B5EF4-FFF2-40B4-BE49-F238E27FC236}">
                  <a16:creationId xmlns:a16="http://schemas.microsoft.com/office/drawing/2014/main" id="{0AA27A8E-CB84-40A6-A173-36E3D887F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024"/>
              <a:ext cx="0" cy="288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Line 52">
              <a:extLst>
                <a:ext uri="{FF2B5EF4-FFF2-40B4-BE49-F238E27FC236}">
                  <a16:creationId xmlns:a16="http://schemas.microsoft.com/office/drawing/2014/main" id="{B8470E35-0BB5-4677-ABA3-C5E1D91E1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120"/>
              <a:ext cx="480" cy="33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Line 53">
              <a:extLst>
                <a:ext uri="{FF2B5EF4-FFF2-40B4-BE49-F238E27FC236}">
                  <a16:creationId xmlns:a16="http://schemas.microsoft.com/office/drawing/2014/main" id="{4EA17327-645F-4619-AAE9-0B7A4318A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640"/>
              <a:ext cx="336" cy="384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Line 54">
              <a:extLst>
                <a:ext uri="{FF2B5EF4-FFF2-40B4-BE49-F238E27FC236}">
                  <a16:creationId xmlns:a16="http://schemas.microsoft.com/office/drawing/2014/main" id="{1C8BAF49-2792-492E-BDC2-7A84B96CA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112"/>
              <a:ext cx="576" cy="384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Line 55">
              <a:extLst>
                <a:ext uri="{FF2B5EF4-FFF2-40B4-BE49-F238E27FC236}">
                  <a16:creationId xmlns:a16="http://schemas.microsoft.com/office/drawing/2014/main" id="{316A37DE-AC8E-4954-BE83-FB05E99FE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640"/>
              <a:ext cx="624" cy="336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Text Box 56">
              <a:extLst>
                <a:ext uri="{FF2B5EF4-FFF2-40B4-BE49-F238E27FC236}">
                  <a16:creationId xmlns:a16="http://schemas.microsoft.com/office/drawing/2014/main" id="{F260AEEB-38F1-4946-AC3F-4AB761FE2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9" y="144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8" name="Text Box 57">
              <a:extLst>
                <a:ext uri="{FF2B5EF4-FFF2-40B4-BE49-F238E27FC236}">
                  <a16:creationId xmlns:a16="http://schemas.microsoft.com/office/drawing/2014/main" id="{D048AD3A-1DBF-4E20-AD59-3BA54CD1A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920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9" name="Text Box 58">
              <a:extLst>
                <a:ext uri="{FF2B5EF4-FFF2-40B4-BE49-F238E27FC236}">
                  <a16:creationId xmlns:a16="http://schemas.microsoft.com/office/drawing/2014/main" id="{6B146E72-4FED-4983-A089-9C995DBBB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" y="2467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C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0" name="Text Box 59">
              <a:extLst>
                <a:ext uri="{FF2B5EF4-FFF2-40B4-BE49-F238E27FC236}">
                  <a16:creationId xmlns:a16="http://schemas.microsoft.com/office/drawing/2014/main" id="{59DC0B37-16B2-4F72-994F-E3C9992BE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947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D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1" name="Text Box 60">
              <a:extLst>
                <a:ext uri="{FF2B5EF4-FFF2-40B4-BE49-F238E27FC236}">
                  <a16:creationId xmlns:a16="http://schemas.microsoft.com/office/drawing/2014/main" id="{BD039BED-3EA9-40DC-A613-372285C60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427"/>
              <a:ext cx="3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G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2" name="Text Box 61">
              <a:extLst>
                <a:ext uri="{FF2B5EF4-FFF2-40B4-BE49-F238E27FC236}">
                  <a16:creationId xmlns:a16="http://schemas.microsoft.com/office/drawing/2014/main" id="{B045512B-965A-41FF-A831-8F6C62A0E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6" y="2976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F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3" name="Text Box 62">
              <a:extLst>
                <a:ext uri="{FF2B5EF4-FFF2-40B4-BE49-F238E27FC236}">
                  <a16:creationId xmlns:a16="http://schemas.microsoft.com/office/drawing/2014/main" id="{524C3200-C6F7-4B30-AFD7-3BE73253A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67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E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121" name="Group 4">
            <a:extLst>
              <a:ext uri="{FF2B5EF4-FFF2-40B4-BE49-F238E27FC236}">
                <a16:creationId xmlns:a16="http://schemas.microsoft.com/office/drawing/2014/main" id="{BA6C0201-80EE-4386-82CD-5BF0FC5C526E}"/>
              </a:ext>
            </a:extLst>
          </p:cNvPr>
          <p:cNvGrpSpPr>
            <a:grpSpLocks/>
          </p:cNvGrpSpPr>
          <p:nvPr/>
        </p:nvGrpSpPr>
        <p:grpSpPr bwMode="auto">
          <a:xfrm>
            <a:off x="4394563" y="862738"/>
            <a:ext cx="4577530" cy="523373"/>
            <a:chOff x="1200" y="751"/>
            <a:chExt cx="3358" cy="359"/>
          </a:xfrm>
        </p:grpSpPr>
        <p:sp>
          <p:nvSpPr>
            <p:cNvPr id="122" name="Rectangle 5">
              <a:extLst>
                <a:ext uri="{FF2B5EF4-FFF2-40B4-BE49-F238E27FC236}">
                  <a16:creationId xmlns:a16="http://schemas.microsoft.com/office/drawing/2014/main" id="{1344BBA0-18D8-4EFE-AA3D-6ECC61EC5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758"/>
              <a:ext cx="3358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黑体" panose="02010609060101010101" pitchFamily="49" charset="-122"/>
                </a:rPr>
                <a:t>data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23" name="Line 6">
              <a:extLst>
                <a:ext uri="{FF2B5EF4-FFF2-40B4-BE49-F238E27FC236}">
                  <a16:creationId xmlns:a16="http://schemas.microsoft.com/office/drawing/2014/main" id="{34450FD9-B047-4CC7-B8D5-3A232437D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4" y="774"/>
              <a:ext cx="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" name="Line 7">
              <a:extLst>
                <a:ext uri="{FF2B5EF4-FFF2-40B4-BE49-F238E27FC236}">
                  <a16:creationId xmlns:a16="http://schemas.microsoft.com/office/drawing/2014/main" id="{D5F859D5-1634-4443-B8A6-BA0818A96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4" y="768"/>
              <a:ext cx="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5" name="Text Box 8">
              <a:extLst>
                <a:ext uri="{FF2B5EF4-FFF2-40B4-BE49-F238E27FC236}">
                  <a16:creationId xmlns:a16="http://schemas.microsoft.com/office/drawing/2014/main" id="{FB827FAB-4B6E-4474-B329-0350A9A1B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5" y="751"/>
              <a:ext cx="1248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黑体" panose="02010609060101010101" pitchFamily="49" charset="-122"/>
                </a:rPr>
                <a:t>firstChild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26" name="Text Box 9">
              <a:extLst>
                <a:ext uri="{FF2B5EF4-FFF2-40B4-BE49-F238E27FC236}">
                  <a16:creationId xmlns:a16="http://schemas.microsoft.com/office/drawing/2014/main" id="{5ACEED48-4FDE-4FE2-A6AF-61EC7D1F3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" y="751"/>
              <a:ext cx="1127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ea typeface="黑体" panose="02010609060101010101" pitchFamily="49" charset="-122"/>
                </a:rPr>
                <a:t>nextSibling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7302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BE972-0E28-45A9-B2C7-329D011C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</a:t>
            </a:r>
            <a:r>
              <a:rPr lang="en-US" altLang="zh-CN" dirty="0"/>
              <a:t>-</a:t>
            </a:r>
            <a:r>
              <a:rPr lang="zh-CN" altLang="en-US" dirty="0"/>
              <a:t>兄弟表示法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9BF8062-B529-4255-AC03-2DC6FD6FBC68}"/>
              </a:ext>
            </a:extLst>
          </p:cNvPr>
          <p:cNvGrpSpPr/>
          <p:nvPr/>
        </p:nvGrpSpPr>
        <p:grpSpPr>
          <a:xfrm>
            <a:off x="107423" y="1386949"/>
            <a:ext cx="2783416" cy="3547533"/>
            <a:chOff x="395288" y="1628775"/>
            <a:chExt cx="2087562" cy="2660650"/>
          </a:xfrm>
        </p:grpSpPr>
        <p:sp>
          <p:nvSpPr>
            <p:cNvPr id="50" name="Oval 54">
              <a:extLst>
                <a:ext uri="{FF2B5EF4-FFF2-40B4-BE49-F238E27FC236}">
                  <a16:creationId xmlns:a16="http://schemas.microsoft.com/office/drawing/2014/main" id="{195CE0AE-0AAB-4182-A4E9-5120AC35C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813" y="1628775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51" name="Oval 55">
              <a:extLst>
                <a:ext uri="{FF2B5EF4-FFF2-40B4-BE49-F238E27FC236}">
                  <a16:creationId xmlns:a16="http://schemas.microsoft.com/office/drawing/2014/main" id="{2A687F4F-E8EF-47CD-93B4-1411C5E78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3857625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52" name="Oval 56">
              <a:extLst>
                <a:ext uri="{FF2B5EF4-FFF2-40B4-BE49-F238E27FC236}">
                  <a16:creationId xmlns:a16="http://schemas.microsoft.com/office/drawing/2014/main" id="{133B68BE-7778-4602-B89F-3956CDD8A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2344738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53" name="Oval 57">
              <a:extLst>
                <a:ext uri="{FF2B5EF4-FFF2-40B4-BE49-F238E27FC236}">
                  <a16:creationId xmlns:a16="http://schemas.microsoft.com/office/drawing/2014/main" id="{F1088007-7A44-4036-8990-78DE7A714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050" y="2344738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54" name="Oval 58">
              <a:extLst>
                <a:ext uri="{FF2B5EF4-FFF2-40B4-BE49-F238E27FC236}">
                  <a16:creationId xmlns:a16="http://schemas.microsoft.com/office/drawing/2014/main" id="{A760D1C3-C498-4D41-B6E9-67CE6DB7F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8" y="3136900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55" name="Oval 59">
              <a:extLst>
                <a:ext uri="{FF2B5EF4-FFF2-40B4-BE49-F238E27FC236}">
                  <a16:creationId xmlns:a16="http://schemas.microsoft.com/office/drawing/2014/main" id="{1E0519B5-337D-4081-9AE8-32DC6B260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3136900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56" name="Oval 60">
              <a:extLst>
                <a:ext uri="{FF2B5EF4-FFF2-40B4-BE49-F238E27FC236}">
                  <a16:creationId xmlns:a16="http://schemas.microsoft.com/office/drawing/2014/main" id="{CA332D87-DB11-45E5-9CEF-33451FA95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3" y="3136900"/>
              <a:ext cx="431800" cy="431800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57" name="Freeform 61">
              <a:extLst>
                <a:ext uri="{FF2B5EF4-FFF2-40B4-BE49-F238E27FC236}">
                  <a16:creationId xmlns:a16="http://schemas.microsoft.com/office/drawing/2014/main" id="{31114AC0-278F-4DD6-833D-C88C74B89736}"/>
                </a:ext>
              </a:extLst>
            </p:cNvPr>
            <p:cNvSpPr/>
            <p:nvPr/>
          </p:nvSpPr>
          <p:spPr bwMode="auto">
            <a:xfrm>
              <a:off x="1266825" y="3567113"/>
              <a:ext cx="1588" cy="2857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" y="180"/>
                </a:cxn>
              </a:cxnLst>
              <a:rect l="0" t="0" r="r" b="b"/>
              <a:pathLst>
                <a:path w="25" h="180">
                  <a:moveTo>
                    <a:pt x="0" y="0"/>
                  </a:moveTo>
                  <a:lnTo>
                    <a:pt x="25" y="18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8" name="Freeform 62">
              <a:extLst>
                <a:ext uri="{FF2B5EF4-FFF2-40B4-BE49-F238E27FC236}">
                  <a16:creationId xmlns:a16="http://schemas.microsoft.com/office/drawing/2014/main" id="{B2E78F2F-43AF-4B3F-8630-D901325C1C32}"/>
                </a:ext>
              </a:extLst>
            </p:cNvPr>
            <p:cNvSpPr/>
            <p:nvPr/>
          </p:nvSpPr>
          <p:spPr bwMode="auto">
            <a:xfrm>
              <a:off x="1323975" y="1985963"/>
              <a:ext cx="273050" cy="374650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0" y="236"/>
                </a:cxn>
              </a:cxnLst>
              <a:rect l="0" t="0" r="r" b="b"/>
              <a:pathLst>
                <a:path w="172" h="236">
                  <a:moveTo>
                    <a:pt x="172" y="0"/>
                  </a:moveTo>
                  <a:lnTo>
                    <a:pt x="0" y="236"/>
                  </a:lnTo>
                </a:path>
              </a:pathLst>
            </a:custGeom>
            <a:noFill/>
            <a:ln w="38100" cap="flat" cmpd="sng" algn="ctr">
              <a:solidFill>
                <a:srgbClr val="C0504D"/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59" name="Freeform 63">
              <a:extLst>
                <a:ext uri="{FF2B5EF4-FFF2-40B4-BE49-F238E27FC236}">
                  <a16:creationId xmlns:a16="http://schemas.microsoft.com/office/drawing/2014/main" id="{7A8B6307-4FBD-4B77-AB40-A12625B6D6B0}"/>
                </a:ext>
              </a:extLst>
            </p:cNvPr>
            <p:cNvSpPr/>
            <p:nvPr/>
          </p:nvSpPr>
          <p:spPr bwMode="auto">
            <a:xfrm>
              <a:off x="1927225" y="1979613"/>
              <a:ext cx="266700" cy="381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8" y="240"/>
                </a:cxn>
              </a:cxnLst>
              <a:rect l="0" t="0" r="r" b="b"/>
              <a:pathLst>
                <a:path w="168" h="240">
                  <a:moveTo>
                    <a:pt x="0" y="0"/>
                  </a:moveTo>
                  <a:lnTo>
                    <a:pt x="168" y="240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0" name="Line 64">
              <a:extLst>
                <a:ext uri="{FF2B5EF4-FFF2-40B4-BE49-F238E27FC236}">
                  <a16:creationId xmlns:a16="http://schemas.microsoft.com/office/drawing/2014/main" id="{EEEF9488-A265-4B2C-B0F4-B785A96C1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8888" y="2776538"/>
              <a:ext cx="0" cy="360362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1" name="Freeform 65">
              <a:extLst>
                <a:ext uri="{FF2B5EF4-FFF2-40B4-BE49-F238E27FC236}">
                  <a16:creationId xmlns:a16="http://schemas.microsoft.com/office/drawing/2014/main" id="{496C8110-6C87-4143-ABD7-B49A7574B0C9}"/>
                </a:ext>
              </a:extLst>
            </p:cNvPr>
            <p:cNvSpPr/>
            <p:nvPr/>
          </p:nvSpPr>
          <p:spPr bwMode="auto">
            <a:xfrm>
              <a:off x="671513" y="2676525"/>
              <a:ext cx="400050" cy="469900"/>
            </a:xfrm>
            <a:custGeom>
              <a:avLst/>
              <a:gdLst/>
              <a:ahLst/>
              <a:cxnLst>
                <a:cxn ang="0">
                  <a:pos x="252" y="0"/>
                </a:cxn>
                <a:cxn ang="0">
                  <a:pos x="0" y="296"/>
                </a:cxn>
              </a:cxnLst>
              <a:rect l="0" t="0" r="r" b="b"/>
              <a:pathLst>
                <a:path w="252" h="296">
                  <a:moveTo>
                    <a:pt x="252" y="0"/>
                  </a:moveTo>
                  <a:lnTo>
                    <a:pt x="0" y="296"/>
                  </a:lnTo>
                </a:path>
              </a:pathLst>
            </a:custGeom>
            <a:noFill/>
            <a:ln w="38100" cap="flat" cmpd="sng" algn="ctr">
              <a:solidFill>
                <a:srgbClr val="C0504D"/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2" name="Freeform 66">
              <a:extLst>
                <a:ext uri="{FF2B5EF4-FFF2-40B4-BE49-F238E27FC236}">
                  <a16:creationId xmlns:a16="http://schemas.microsoft.com/office/drawing/2014/main" id="{D40109AF-0079-4411-B441-7A54CFF63FB3}"/>
                </a:ext>
              </a:extLst>
            </p:cNvPr>
            <p:cNvSpPr/>
            <p:nvPr/>
          </p:nvSpPr>
          <p:spPr bwMode="auto">
            <a:xfrm>
              <a:off x="1452563" y="2651125"/>
              <a:ext cx="438150" cy="501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6" y="316"/>
                </a:cxn>
              </a:cxnLst>
              <a:rect l="0" t="0" r="r" b="b"/>
              <a:pathLst>
                <a:path w="276" h="316">
                  <a:moveTo>
                    <a:pt x="0" y="0"/>
                  </a:moveTo>
                  <a:lnTo>
                    <a:pt x="276" y="316"/>
                  </a:lnTo>
                </a:path>
              </a:pathLst>
            </a:cu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63" name="组合 48">
            <a:extLst>
              <a:ext uri="{FF2B5EF4-FFF2-40B4-BE49-F238E27FC236}">
                <a16:creationId xmlns:a16="http://schemas.microsoft.com/office/drawing/2014/main" id="{2C0A27AD-2204-4D39-8191-3B7AC1516CB5}"/>
              </a:ext>
            </a:extLst>
          </p:cNvPr>
          <p:cNvGrpSpPr/>
          <p:nvPr/>
        </p:nvGrpSpPr>
        <p:grpSpPr>
          <a:xfrm>
            <a:off x="2843808" y="1616009"/>
            <a:ext cx="6190651" cy="3541183"/>
            <a:chOff x="3371811" y="1697038"/>
            <a:chExt cx="5087977" cy="2655887"/>
          </a:xfrm>
        </p:grpSpPr>
        <p:sp>
          <p:nvSpPr>
            <p:cNvPr id="64" name="AutoShape 67">
              <a:extLst>
                <a:ext uri="{FF2B5EF4-FFF2-40B4-BE49-F238E27FC236}">
                  <a16:creationId xmlns:a16="http://schemas.microsoft.com/office/drawing/2014/main" id="{27D8E3C3-9F41-4B5E-B2D4-0E0A35FE2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811" y="2849563"/>
              <a:ext cx="333413" cy="36000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tailEnd type="none" w="med" len="lg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5" name="Rectangle 69">
              <a:extLst>
                <a:ext uri="{FF2B5EF4-FFF2-40B4-BE49-F238E27FC236}">
                  <a16:creationId xmlns:a16="http://schemas.microsoft.com/office/drawing/2014/main" id="{5FBE6B31-CC7F-4C34-B295-5F2C4890E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697038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6" name="Rectangle 70">
              <a:extLst>
                <a:ext uri="{FF2B5EF4-FFF2-40B4-BE49-F238E27FC236}">
                  <a16:creationId xmlns:a16="http://schemas.microsoft.com/office/drawing/2014/main" id="{9DC022D5-362C-4F62-BACD-0E14B6E92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1697038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67" name="Rectangle 71">
              <a:extLst>
                <a:ext uri="{FF2B5EF4-FFF2-40B4-BE49-F238E27FC236}">
                  <a16:creationId xmlns:a16="http://schemas.microsoft.com/office/drawing/2014/main" id="{3D74DF57-E94A-4EC8-B1D5-64FF4E626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663" y="1697038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68" name="Rectangle 72">
              <a:extLst>
                <a:ext uri="{FF2B5EF4-FFF2-40B4-BE49-F238E27FC236}">
                  <a16:creationId xmlns:a16="http://schemas.microsoft.com/office/drawing/2014/main" id="{03363DCC-108F-4166-983D-5C9E80619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2489200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69" name="Rectangle 73">
              <a:extLst>
                <a:ext uri="{FF2B5EF4-FFF2-40B4-BE49-F238E27FC236}">
                  <a16:creationId xmlns:a16="http://schemas.microsoft.com/office/drawing/2014/main" id="{5EC62888-1F46-411D-A698-455398A3A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875" y="2489200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0" name="Rectangle 74">
              <a:extLst>
                <a:ext uri="{FF2B5EF4-FFF2-40B4-BE49-F238E27FC236}">
                  <a16:creationId xmlns:a16="http://schemas.microsoft.com/office/drawing/2014/main" id="{0FFF999C-E773-4902-AF79-F77B6191C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3075" y="2489200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71" name="Rectangle 75">
              <a:extLst>
                <a:ext uri="{FF2B5EF4-FFF2-40B4-BE49-F238E27FC236}">
                  <a16:creationId xmlns:a16="http://schemas.microsoft.com/office/drawing/2014/main" id="{65387969-1E77-4391-B51B-67AC94020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2489200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72" name="Rectangle 76">
              <a:extLst>
                <a:ext uri="{FF2B5EF4-FFF2-40B4-BE49-F238E27FC236}">
                  <a16:creationId xmlns:a16="http://schemas.microsoft.com/office/drawing/2014/main" id="{FDCC383F-6F9C-478F-9620-E7A045E1C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2225" y="2489200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73" name="Rectangle 77">
              <a:extLst>
                <a:ext uri="{FF2B5EF4-FFF2-40B4-BE49-F238E27FC236}">
                  <a16:creationId xmlns:a16="http://schemas.microsoft.com/office/drawing/2014/main" id="{C9A3FFDB-6D02-4C44-89F9-3E1075638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425" y="2489200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74" name="Rectangle 78">
              <a:extLst>
                <a:ext uri="{FF2B5EF4-FFF2-40B4-BE49-F238E27FC236}">
                  <a16:creationId xmlns:a16="http://schemas.microsoft.com/office/drawing/2014/main" id="{A49A40FC-7160-4235-8CED-2E37D4CE3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75" name="Rectangle 79">
              <a:extLst>
                <a:ext uri="{FF2B5EF4-FFF2-40B4-BE49-F238E27FC236}">
                  <a16:creationId xmlns:a16="http://schemas.microsoft.com/office/drawing/2014/main" id="{1640ACB8-F210-4426-BDAC-83FA0C57F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875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6" name="Rectangle 80">
              <a:extLst>
                <a:ext uri="{FF2B5EF4-FFF2-40B4-BE49-F238E27FC236}">
                  <a16:creationId xmlns:a16="http://schemas.microsoft.com/office/drawing/2014/main" id="{C88CAA08-B5DD-4801-85E5-55495B6FC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3075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D</a:t>
              </a:r>
            </a:p>
          </p:txBody>
        </p:sp>
        <p:sp>
          <p:nvSpPr>
            <p:cNvPr id="77" name="Rectangle 81">
              <a:extLst>
                <a:ext uri="{FF2B5EF4-FFF2-40B4-BE49-F238E27FC236}">
                  <a16:creationId xmlns:a16="http://schemas.microsoft.com/office/drawing/2014/main" id="{3C4943B3-6BFF-4A4F-AACF-D97B8B1B5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8" name="Rectangle 82">
              <a:extLst>
                <a:ext uri="{FF2B5EF4-FFF2-40B4-BE49-F238E27FC236}">
                  <a16:creationId xmlns:a16="http://schemas.microsoft.com/office/drawing/2014/main" id="{540F7582-E5DC-418C-AB56-E4764DC1B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2225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79" name="Rectangle 83">
              <a:extLst>
                <a:ext uri="{FF2B5EF4-FFF2-40B4-BE49-F238E27FC236}">
                  <a16:creationId xmlns:a16="http://schemas.microsoft.com/office/drawing/2014/main" id="{EF63FAD8-6A55-4021-A94B-1C2CFF3BD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425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0" name="Rectangle 84">
              <a:extLst>
                <a:ext uri="{FF2B5EF4-FFF2-40B4-BE49-F238E27FC236}">
                  <a16:creationId xmlns:a16="http://schemas.microsoft.com/office/drawing/2014/main" id="{D61E4CE6-315A-4B67-8DBA-DE829DA41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81" name="Rectangle 85">
              <a:extLst>
                <a:ext uri="{FF2B5EF4-FFF2-40B4-BE49-F238E27FC236}">
                  <a16:creationId xmlns:a16="http://schemas.microsoft.com/office/drawing/2014/main" id="{93A6AE66-8379-4051-A675-2C6D51A6B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7988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82" name="Rectangle 86">
              <a:extLst>
                <a:ext uri="{FF2B5EF4-FFF2-40B4-BE49-F238E27FC236}">
                  <a16:creationId xmlns:a16="http://schemas.microsoft.com/office/drawing/2014/main" id="{C1735119-414A-45D1-B869-01279692E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6188" y="32813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83" name="Rectangle 87">
              <a:extLst>
                <a:ext uri="{FF2B5EF4-FFF2-40B4-BE49-F238E27FC236}">
                  <a16:creationId xmlns:a16="http://schemas.microsoft.com/office/drawing/2014/main" id="{56CDE182-687A-4752-BF4D-FC1C6F66A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39925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84" name="Rectangle 88">
              <a:extLst>
                <a:ext uri="{FF2B5EF4-FFF2-40B4-BE49-F238E27FC236}">
                  <a16:creationId xmlns:a16="http://schemas.microsoft.com/office/drawing/2014/main" id="{FA1C9E0B-5678-44D1-8294-896A77997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2225" y="39925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∧</a:t>
              </a:r>
            </a:p>
          </p:txBody>
        </p:sp>
        <p:sp>
          <p:nvSpPr>
            <p:cNvPr id="85" name="Rectangle 89">
              <a:extLst>
                <a:ext uri="{FF2B5EF4-FFF2-40B4-BE49-F238E27FC236}">
                  <a16:creationId xmlns:a16="http://schemas.microsoft.com/office/drawing/2014/main" id="{3C349D7F-288A-4A4D-A255-3E82AEF23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425" y="3992563"/>
              <a:ext cx="431800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non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86" name="Line 90">
              <a:extLst>
                <a:ext uri="{FF2B5EF4-FFF2-40B4-BE49-F238E27FC236}">
                  <a16:creationId xmlns:a16="http://schemas.microsoft.com/office/drawing/2014/main" id="{60D7A22A-2B66-414F-AE8E-1FD56035A1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175" y="1841500"/>
              <a:ext cx="0" cy="6477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7" name="Line 91">
              <a:extLst>
                <a:ext uri="{FF2B5EF4-FFF2-40B4-BE49-F238E27FC236}">
                  <a16:creationId xmlns:a16="http://schemas.microsoft.com/office/drawing/2014/main" id="{C25604B1-AD77-4B32-A2A7-A73D33975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175" y="2633663"/>
              <a:ext cx="0" cy="64770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8" name="Line 92">
              <a:extLst>
                <a:ext uri="{FF2B5EF4-FFF2-40B4-BE49-F238E27FC236}">
                  <a16:creationId xmlns:a16="http://schemas.microsoft.com/office/drawing/2014/main" id="{245F7C4F-D95A-4649-B0B1-F3AF5046B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4525" y="3489325"/>
              <a:ext cx="0" cy="503237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9" name="Line 93">
              <a:extLst>
                <a:ext uri="{FF2B5EF4-FFF2-40B4-BE49-F238E27FC236}">
                  <a16:creationId xmlns:a16="http://schemas.microsoft.com/office/drawing/2014/main" id="{E5DE192E-BB14-433C-8391-D3D509A11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363" y="2705100"/>
              <a:ext cx="576263" cy="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90" name="Line 94">
              <a:extLst>
                <a:ext uri="{FF2B5EF4-FFF2-40B4-BE49-F238E27FC236}">
                  <a16:creationId xmlns:a16="http://schemas.microsoft.com/office/drawing/2014/main" id="{C96F8C87-6514-43BD-ADF7-7EFCC397A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363" y="3497263"/>
              <a:ext cx="576263" cy="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91" name="Line 95">
              <a:extLst>
                <a:ext uri="{FF2B5EF4-FFF2-40B4-BE49-F238E27FC236}">
                  <a16:creationId xmlns:a16="http://schemas.microsoft.com/office/drawing/2014/main" id="{724388A3-A362-4ADC-B02C-02157FA0C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4163" y="3463925"/>
              <a:ext cx="503238" cy="0"/>
            </a:xfrm>
            <a:prstGeom prst="lin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tailEnd type="triangle" w="med" len="lg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92" name="组合 51">
            <a:extLst>
              <a:ext uri="{FF2B5EF4-FFF2-40B4-BE49-F238E27FC236}">
                <a16:creationId xmlns:a16="http://schemas.microsoft.com/office/drawing/2014/main" id="{B182337E-AFF7-41BA-AED8-6941AE9A2E89}"/>
              </a:ext>
            </a:extLst>
          </p:cNvPr>
          <p:cNvGrpSpPr/>
          <p:nvPr/>
        </p:nvGrpSpPr>
        <p:grpSpPr>
          <a:xfrm>
            <a:off x="4211961" y="1847125"/>
            <a:ext cx="4346157" cy="740695"/>
            <a:chOff x="4805906" y="1870374"/>
            <a:chExt cx="3259618" cy="555521"/>
          </a:xfrm>
        </p:grpSpPr>
        <p:sp>
          <p:nvSpPr>
            <p:cNvPr id="93" name="左大括号 92">
              <a:extLst>
                <a:ext uri="{FF2B5EF4-FFF2-40B4-BE49-F238E27FC236}">
                  <a16:creationId xmlns:a16="http://schemas.microsoft.com/office/drawing/2014/main" id="{D9B754F7-B71B-4032-BC4A-1DD3CC0DC5F3}"/>
                </a:ext>
              </a:extLst>
            </p:cNvPr>
            <p:cNvSpPr/>
            <p:nvPr/>
          </p:nvSpPr>
          <p:spPr>
            <a:xfrm rot="5400000">
              <a:off x="5456319" y="1564141"/>
              <a:ext cx="211341" cy="1512167"/>
            </a:xfrm>
            <a:prstGeom prst="leftBrace">
              <a:avLst/>
            </a:prstGeom>
            <a:noFill/>
            <a:ln w="25400" cap="flat" cmpd="sng" algn="ctr">
              <a:solidFill>
                <a:srgbClr val="F79646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94" name="TextBox 50">
              <a:extLst>
                <a:ext uri="{FF2B5EF4-FFF2-40B4-BE49-F238E27FC236}">
                  <a16:creationId xmlns:a16="http://schemas.microsoft.com/office/drawing/2014/main" id="{4BC17C69-9DD9-4C99-80A1-C206757234CA}"/>
                </a:ext>
              </a:extLst>
            </p:cNvPr>
            <p:cNvSpPr txBox="1"/>
            <p:nvPr/>
          </p:nvSpPr>
          <p:spPr>
            <a:xfrm>
              <a:off x="5466792" y="1870374"/>
              <a:ext cx="2598732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楷体" panose="02010609060101010101" pitchFamily="49" charset="-122"/>
                </a:rPr>
                <a:t>A</a:t>
              </a:r>
              <a:r>
                <a: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楷体" panose="02010609060101010101" pitchFamily="49" charset="-122"/>
                </a:rPr>
                <a:t>的所有孩子链起来</a:t>
              </a:r>
            </a:p>
          </p:txBody>
        </p: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05B02E79-3287-4810-A87F-9BB6C148C2CA}"/>
              </a:ext>
            </a:extLst>
          </p:cNvPr>
          <p:cNvSpPr txBox="1"/>
          <p:nvPr/>
        </p:nvSpPr>
        <p:spPr>
          <a:xfrm>
            <a:off x="573861" y="5592498"/>
            <a:ext cx="6445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latin typeface="+mn-ea"/>
                <a:ea typeface="+mn-ea"/>
              </a:rPr>
              <a:t>n </a:t>
            </a:r>
            <a:r>
              <a:rPr lang="zh-CN" altLang="en-US" b="0" dirty="0">
                <a:solidFill>
                  <a:srgbClr val="FF0000"/>
                </a:solidFill>
                <a:latin typeface="+mn-ea"/>
                <a:ea typeface="+mn-ea"/>
              </a:rPr>
              <a:t>个结点的 </a:t>
            </a:r>
            <a:r>
              <a:rPr lang="en-US" altLang="zh-CN" b="0" dirty="0">
                <a:solidFill>
                  <a:srgbClr val="FF0000"/>
                </a:solidFill>
                <a:latin typeface="+mn-ea"/>
                <a:ea typeface="+mn-ea"/>
              </a:rPr>
              <a:t>m </a:t>
            </a:r>
            <a:r>
              <a:rPr lang="zh-CN" altLang="en-US" b="0" dirty="0">
                <a:solidFill>
                  <a:srgbClr val="FF0000"/>
                </a:solidFill>
                <a:latin typeface="+mn-ea"/>
                <a:ea typeface="+mn-ea"/>
              </a:rPr>
              <a:t>次树有多少个空指针域？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2A09254-02C3-40FC-B08D-541099D8FA15}"/>
              </a:ext>
            </a:extLst>
          </p:cNvPr>
          <p:cNvSpPr txBox="1"/>
          <p:nvPr/>
        </p:nvSpPr>
        <p:spPr>
          <a:xfrm>
            <a:off x="7425482" y="6330755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2n-(n-1)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63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FF5A2-B9A9-48DB-98A6-12823B70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孩子</a:t>
            </a:r>
            <a:r>
              <a:rPr lang="en-US" altLang="zh-CN" dirty="0"/>
              <a:t>-</a:t>
            </a:r>
            <a:r>
              <a:rPr lang="zh-CN" altLang="en-US" dirty="0"/>
              <a:t>兄弟表示法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A2CBAB-94F4-4274-8BC7-98BBFA0DD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21" y="744505"/>
            <a:ext cx="8642659" cy="3260559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n-lt"/>
              </a:rPr>
              <a:t>typedef struct node {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    </a:t>
            </a:r>
            <a:r>
              <a:rPr lang="en-US" altLang="zh-CN" dirty="0" err="1">
                <a:latin typeface="+mn-lt"/>
              </a:rPr>
              <a:t>TElemType</a:t>
            </a:r>
            <a:r>
              <a:rPr lang="en-US" altLang="zh-CN" dirty="0">
                <a:latin typeface="+mn-lt"/>
              </a:rPr>
              <a:t> data;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    struct node *</a:t>
            </a:r>
            <a:r>
              <a:rPr lang="en-US" altLang="zh-CN" dirty="0" err="1">
                <a:latin typeface="+mn-lt"/>
              </a:rPr>
              <a:t>fchild</a:t>
            </a:r>
            <a:r>
              <a:rPr lang="en-US" altLang="zh-CN" dirty="0">
                <a:latin typeface="+mn-lt"/>
              </a:rPr>
              <a:t>;      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指向第一个孩子结点的指针</a:t>
            </a:r>
            <a:endParaRPr lang="en-US" altLang="zh-CN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    struct node *</a:t>
            </a:r>
            <a:r>
              <a:rPr lang="en-US" altLang="zh-CN" dirty="0" err="1">
                <a:latin typeface="+mn-lt"/>
              </a:rPr>
              <a:t>nsibling</a:t>
            </a:r>
            <a:r>
              <a:rPr lang="en-US" altLang="zh-CN" dirty="0">
                <a:latin typeface="+mn-lt"/>
              </a:rPr>
              <a:t>;   </a:t>
            </a:r>
            <a:r>
              <a:rPr lang="en-US" altLang="zh-CN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</a:rPr>
              <a:t>指向下一个兄弟结点的指针</a:t>
            </a:r>
            <a:endParaRPr lang="en-US" altLang="zh-CN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dirty="0">
                <a:latin typeface="+mn-lt"/>
              </a:rPr>
              <a:t>} </a:t>
            </a:r>
            <a:r>
              <a:rPr lang="en-US" altLang="zh-CN" dirty="0" err="1">
                <a:latin typeface="+mn-lt"/>
              </a:rPr>
              <a:t>CSNode</a:t>
            </a:r>
            <a:r>
              <a:rPr lang="en-US" altLang="zh-CN" dirty="0">
                <a:latin typeface="+mn-lt"/>
              </a:rPr>
              <a:t>, *</a:t>
            </a:r>
            <a:r>
              <a:rPr lang="en-US" altLang="zh-CN" dirty="0" err="1">
                <a:latin typeface="+mn-lt"/>
              </a:rPr>
              <a:t>CSTree</a:t>
            </a:r>
            <a:r>
              <a:rPr lang="en-US" altLang="zh-CN" dirty="0">
                <a:latin typeface="+mn-lt"/>
              </a:rPr>
              <a:t>;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B6D7E9-B5EF-4197-BA73-B3E51396A7E4}"/>
              </a:ext>
            </a:extLst>
          </p:cNvPr>
          <p:cNvSpPr txBox="1"/>
          <p:nvPr/>
        </p:nvSpPr>
        <p:spPr>
          <a:xfrm>
            <a:off x="249821" y="4437112"/>
            <a:ext cx="8570652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+mn-ea"/>
                <a:ea typeface="+mn-ea"/>
              </a:rPr>
              <a:t>孩子</a:t>
            </a:r>
            <a:r>
              <a:rPr lang="en-US" altLang="zh-CN" b="0" dirty="0">
                <a:latin typeface="+mn-ea"/>
                <a:ea typeface="+mn-ea"/>
              </a:rPr>
              <a:t>-</a:t>
            </a:r>
            <a:r>
              <a:rPr lang="zh-CN" altLang="en-US" b="0" dirty="0">
                <a:latin typeface="+mn-ea"/>
                <a:ea typeface="+mn-ea"/>
              </a:rPr>
              <a:t>兄弟表示法，查找某节点的</a:t>
            </a: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孩子</a:t>
            </a:r>
            <a:r>
              <a:rPr lang="zh-CN" altLang="en-US" b="0" dirty="0">
                <a:latin typeface="+mn-ea"/>
                <a:ea typeface="+mn-ea"/>
              </a:rPr>
              <a:t>和</a:t>
            </a: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兄弟</a:t>
            </a:r>
            <a:r>
              <a:rPr lang="zh-CN" altLang="en-US" b="0" dirty="0">
                <a:latin typeface="+mn-ea"/>
                <a:ea typeface="+mn-ea"/>
              </a:rPr>
              <a:t>结点比较方便，查找</a:t>
            </a: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双亲</a:t>
            </a:r>
            <a:r>
              <a:rPr lang="zh-CN" altLang="en-US" b="0" dirty="0">
                <a:latin typeface="+mn-ea"/>
                <a:ea typeface="+mn-ea"/>
              </a:rPr>
              <a:t>结点比较费时。</a:t>
            </a:r>
            <a:endParaRPr lang="en-US" altLang="zh-CN" b="0" dirty="0"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+mn-ea"/>
                <a:ea typeface="+mn-ea"/>
              </a:rPr>
              <a:t>树结构是递归的，可用递归函数实现相应操作。</a:t>
            </a:r>
          </a:p>
        </p:txBody>
      </p:sp>
    </p:spTree>
    <p:extLst>
      <p:ext uri="{BB962C8B-B14F-4D97-AF65-F5344CB8AC3E}">
        <p14:creationId xmlns:p14="http://schemas.microsoft.com/office/powerpoint/2010/main" val="2647778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16318-6E7E-4887-986C-419008B7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查找给定结点的双亲结点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D513F5-D057-484A-804E-8D0E71770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36423"/>
            <a:ext cx="8640960" cy="6121577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0" dirty="0" err="1">
                <a:latin typeface="+mn-lt"/>
                <a:ea typeface="隶书" panose="02010509060101010101" pitchFamily="49" charset="-122"/>
              </a:rPr>
              <a:t>TreeNode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 *</a:t>
            </a:r>
            <a:r>
              <a:rPr kumimoji="1" lang="en-US" altLang="zh-CN" sz="2400" b="0" dirty="0" err="1">
                <a:solidFill>
                  <a:srgbClr val="FF0000"/>
                </a:solidFill>
                <a:latin typeface="+mn-lt"/>
                <a:ea typeface="隶书" panose="02010509060101010101" pitchFamily="49" charset="-122"/>
              </a:rPr>
              <a:t>FindParent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(</a:t>
            </a:r>
            <a:r>
              <a:rPr kumimoji="1" lang="en-US" altLang="zh-CN" sz="2400" b="0" dirty="0" err="1">
                <a:latin typeface="+mn-lt"/>
                <a:ea typeface="隶书" panose="02010509060101010101" pitchFamily="49" charset="-122"/>
              </a:rPr>
              <a:t>CSNode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*T, </a:t>
            </a:r>
            <a:r>
              <a:rPr kumimoji="1" lang="en-US" altLang="zh-CN" sz="2400" b="0" dirty="0" err="1">
                <a:latin typeface="+mn-lt"/>
                <a:ea typeface="隶书" panose="02010509060101010101" pitchFamily="49" charset="-122"/>
              </a:rPr>
              <a:t>CSNode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*p)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{</a:t>
            </a:r>
            <a:endParaRPr kumimoji="1" lang="en-US" altLang="zh-CN" sz="2400" b="0" dirty="0">
              <a:latin typeface="+mn-lt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+mn-lt"/>
              </a:rPr>
              <a:t>   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</a:rPr>
              <a:t>在以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</a:rPr>
              <a:t>T 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</a:rPr>
              <a:t>为根的树中找结点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</a:rPr>
              <a:t>p 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</a:rPr>
              <a:t>的双亲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+mn-lt"/>
                <a:ea typeface="隶书" panose="02010509060101010101" pitchFamily="49" charset="-122"/>
              </a:rPr>
              <a:t>   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if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(T </a:t>
            </a:r>
            <a:r>
              <a:rPr kumimoji="1" lang="en-US" altLang="zh-CN" sz="2400" b="0" i="1" dirty="0">
                <a:latin typeface="+mn-lt"/>
                <a:ea typeface="隶书" panose="02010509060101010101" pitchFamily="49" charset="-122"/>
              </a:rPr>
              <a:t>==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NULL || p </a:t>
            </a:r>
            <a:r>
              <a:rPr kumimoji="1" lang="en-US" altLang="zh-CN" sz="2400" b="0" i="1" dirty="0">
                <a:latin typeface="+mn-lt"/>
                <a:ea typeface="隶书" panose="02010509060101010101" pitchFamily="49" charset="-122"/>
              </a:rPr>
              <a:t>==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NULL) 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return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NULL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   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+mn-lt"/>
                <a:ea typeface="隶书" panose="02010509060101010101" pitchFamily="49" charset="-122"/>
              </a:rPr>
              <a:t>CSNode</a:t>
            </a:r>
            <a:r>
              <a:rPr kumimoji="1" lang="en-US" altLang="zh-CN" sz="2400" b="0" dirty="0">
                <a:solidFill>
                  <a:srgbClr val="0000FF"/>
                </a:solidFill>
                <a:latin typeface="+mn-lt"/>
                <a:ea typeface="隶书" panose="02010509060101010101" pitchFamily="49" charset="-122"/>
              </a:rPr>
              <a:t> *q = T-&gt;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+mn-lt"/>
                <a:ea typeface="隶书" panose="02010509060101010101" pitchFamily="49" charset="-122"/>
              </a:rPr>
              <a:t>fchild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,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*s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  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while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(q != NULL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&amp;&amp;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q != p)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{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</a:rPr>
              <a:t>在所有子树中递归搜索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+mn-lt"/>
                <a:ea typeface="隶书" panose="02010509060101010101" pitchFamily="49" charset="-122"/>
              </a:rPr>
              <a:t>       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if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((s = </a:t>
            </a:r>
            <a:r>
              <a:rPr kumimoji="1" lang="en-US" altLang="zh-CN" sz="2400" b="0" dirty="0" err="1">
                <a:solidFill>
                  <a:srgbClr val="FF0000"/>
                </a:solidFill>
                <a:latin typeface="+mn-lt"/>
                <a:ea typeface="隶书" panose="02010509060101010101" pitchFamily="49" charset="-122"/>
              </a:rPr>
              <a:t>FindParent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(q, p)) != NULL)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return</a:t>
            </a: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s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       </a:t>
            </a:r>
            <a:r>
              <a:rPr kumimoji="1" lang="en-US" altLang="zh-CN" sz="2400" b="0" dirty="0">
                <a:solidFill>
                  <a:srgbClr val="0000FF"/>
                </a:solidFill>
                <a:latin typeface="+mn-lt"/>
                <a:ea typeface="隶书" panose="02010509060101010101" pitchFamily="49" charset="-122"/>
              </a:rPr>
              <a:t>q = q-&gt;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+mn-lt"/>
                <a:ea typeface="隶书" panose="02010509060101010101" pitchFamily="49" charset="-122"/>
              </a:rPr>
              <a:t>nsibling</a:t>
            </a:r>
            <a:r>
              <a:rPr kumimoji="1" lang="en-US" altLang="zh-CN" sz="2400" dirty="0">
                <a:solidFill>
                  <a:srgbClr val="0000FF"/>
                </a:solidFill>
                <a:latin typeface="+mn-lt"/>
                <a:ea typeface="隶书" panose="02010509060101010101" pitchFamily="49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+mn-lt"/>
                <a:ea typeface="隶书" panose="02010509060101010101" pitchFamily="49" charset="-122"/>
              </a:rPr>
              <a:t>    </a:t>
            </a:r>
            <a:r>
              <a:rPr kumimoji="1" lang="en-US" altLang="zh-CN" sz="2400" dirty="0">
                <a:latin typeface="+mn-lt"/>
                <a:ea typeface="隶书" panose="02010509060101010101" pitchFamily="49" charset="-122"/>
              </a:rPr>
              <a:t>}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//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while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    if (q != NULL &amp;&amp; q == p) return T;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    else return NULL;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}</a:t>
            </a:r>
            <a:endParaRPr lang="zh-CN" altLang="en-US" sz="2400" dirty="0">
              <a:latin typeface="+mn-lt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4633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339CB-A1B5-4CBF-9AFA-4A6BB521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树的先根次序遍历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0F35E-7A1B-4AE1-B04E-2D3830D94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07845"/>
            <a:ext cx="8496944" cy="5589507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void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</a:rPr>
              <a:t>PreOrder</a:t>
            </a:r>
            <a:r>
              <a:rPr lang="en-US" altLang="zh-CN" sz="2400" dirty="0">
                <a:latin typeface="+mn-lt"/>
              </a:rPr>
              <a:t> (</a:t>
            </a:r>
            <a:r>
              <a:rPr lang="en-US" altLang="zh-CN" sz="2400" dirty="0" err="1">
                <a:latin typeface="+mn-lt"/>
              </a:rPr>
              <a:t>CSNode</a:t>
            </a:r>
            <a:r>
              <a:rPr lang="en-US" altLang="zh-CN" sz="2400" dirty="0">
                <a:latin typeface="+mn-lt"/>
              </a:rPr>
              <a:t> *T) {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对树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T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进行先根次序遍历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</a:t>
            </a:r>
            <a:r>
              <a:rPr lang="en-US" altLang="zh-CN" sz="2400" dirty="0">
                <a:latin typeface="+mn-lt"/>
              </a:rPr>
              <a:t>if ( T != NULL ) {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</a:t>
            </a:r>
            <a:r>
              <a:rPr lang="en-US" altLang="zh-CN" sz="2400" b="1" dirty="0">
                <a:latin typeface="+mn-lt"/>
              </a:rPr>
              <a:t>visit (T-&gt;data);</a:t>
            </a:r>
            <a:r>
              <a:rPr lang="en-US" altLang="zh-CN" sz="2400" dirty="0">
                <a:latin typeface="+mn-lt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先访问根结点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    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CSNode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 *p = T-&gt;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fchild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;</a:t>
            </a:r>
            <a:r>
              <a:rPr lang="en-US" altLang="zh-CN" sz="2400" dirty="0">
                <a:latin typeface="+mn-lt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第一棵子树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    </a:t>
            </a:r>
            <a:r>
              <a:rPr lang="en-US" altLang="zh-CN" sz="2400" dirty="0">
                <a:latin typeface="+mn-lt"/>
              </a:rPr>
              <a:t>while (p != NULL) { 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   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</a:rPr>
              <a:t>PreOrder</a:t>
            </a:r>
            <a:r>
              <a:rPr lang="en-US" altLang="zh-CN" sz="2400" dirty="0">
                <a:latin typeface="+mn-lt"/>
              </a:rPr>
              <a:t>(p);       	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递归先根遍历每棵子树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      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p = p-&gt;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nsibling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}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while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}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if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 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}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  <a:latin typeface="+mn-lt"/>
              </a:rPr>
              <a:t>PreOrder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8408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339CB-A1B5-4CBF-9AFA-4A6BB521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树的后根次序遍历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0F35E-7A1B-4AE1-B04E-2D3830D94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1" y="1079853"/>
            <a:ext cx="8640960" cy="5517499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void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</a:rPr>
              <a:t>PostOrder</a:t>
            </a:r>
            <a:r>
              <a:rPr lang="en-US" altLang="zh-CN" sz="2400" dirty="0">
                <a:latin typeface="+mn-lt"/>
              </a:rPr>
              <a:t> (</a:t>
            </a:r>
            <a:r>
              <a:rPr lang="en-US" altLang="zh-CN" sz="2400" dirty="0" err="1">
                <a:latin typeface="+mn-lt"/>
              </a:rPr>
              <a:t>CSNode</a:t>
            </a:r>
            <a:r>
              <a:rPr lang="en-US" altLang="zh-CN" sz="2400" dirty="0">
                <a:latin typeface="+mn-lt"/>
              </a:rPr>
              <a:t> *T) {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对树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T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进行后根次序遍历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</a:t>
            </a:r>
            <a:r>
              <a:rPr lang="en-US" altLang="zh-CN" sz="2400" dirty="0">
                <a:latin typeface="+mn-lt"/>
              </a:rPr>
              <a:t>if ( T != NULL ) 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        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CSNode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 *p = T-&gt;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fchild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;</a:t>
            </a:r>
            <a:r>
              <a:rPr lang="en-US" altLang="zh-CN" sz="2400" dirty="0">
                <a:latin typeface="+mn-lt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第一棵子树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    </a:t>
            </a:r>
            <a:r>
              <a:rPr lang="en-US" altLang="zh-CN" sz="2400" dirty="0">
                <a:latin typeface="+mn-lt"/>
              </a:rPr>
              <a:t>while (p != NULL) { 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   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</a:rPr>
              <a:t>PostOrder</a:t>
            </a:r>
            <a:r>
              <a:rPr lang="en-US" altLang="zh-CN" sz="2400" dirty="0">
                <a:latin typeface="+mn-lt"/>
              </a:rPr>
              <a:t>(p);       	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递归后根遍历每棵子树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      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p = p-&gt;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nsibling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}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while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</a:t>
            </a:r>
            <a:r>
              <a:rPr lang="en-US" altLang="zh-CN" sz="2400" b="1" dirty="0">
                <a:latin typeface="+mn-lt"/>
              </a:rPr>
              <a:t>visit (T-&gt;data);</a:t>
            </a:r>
            <a:r>
              <a:rPr lang="en-US" altLang="zh-CN" sz="2400" dirty="0">
                <a:latin typeface="+mn-lt"/>
              </a:rPr>
              <a:t>	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最后访问根结点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}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if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}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  <a:latin typeface="+mn-lt"/>
              </a:rPr>
              <a:t>PostOrder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8822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16318-6E7E-4887-986C-419008B7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树的层次次序遍历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D513F5-D057-484A-804E-8D0E71770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4504"/>
            <a:ext cx="9144000" cy="611349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+mn-lt"/>
              </a:rPr>
              <a:t>void </a:t>
            </a:r>
            <a:r>
              <a:rPr kumimoji="1" lang="en-US" altLang="zh-CN" sz="2400" b="0" dirty="0" err="1">
                <a:solidFill>
                  <a:srgbClr val="FF0000"/>
                </a:solidFill>
                <a:latin typeface="+mn-lt"/>
              </a:rPr>
              <a:t>LevelOrder</a:t>
            </a:r>
            <a:r>
              <a:rPr kumimoji="1" lang="en-US" altLang="zh-CN" sz="2400" b="0" dirty="0">
                <a:latin typeface="+mn-lt"/>
              </a:rPr>
              <a:t> (</a:t>
            </a:r>
            <a:r>
              <a:rPr kumimoji="1" lang="en-US" altLang="zh-CN" sz="2400" b="0" dirty="0" err="1">
                <a:latin typeface="+mn-lt"/>
              </a:rPr>
              <a:t>CSTree</a:t>
            </a:r>
            <a:r>
              <a:rPr kumimoji="1" lang="en-US" altLang="zh-CN" sz="2400" b="0" dirty="0">
                <a:latin typeface="+mn-lt"/>
              </a:rPr>
              <a:t> T) {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</a:rPr>
              <a:t>//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</a:rPr>
              <a:t> 对树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</a:rPr>
              <a:t>T 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</a:rPr>
              <a:t>进行层次次序遍历</a:t>
            </a:r>
            <a:endParaRPr kumimoji="1" lang="zh-CN" altLang="en-US" sz="2400" b="0" dirty="0">
              <a:solidFill>
                <a:srgbClr val="00B050"/>
              </a:solidFill>
              <a:latin typeface="+mn-lt"/>
            </a:endParaRPr>
          </a:p>
          <a:p>
            <a:pPr>
              <a:spcBef>
                <a:spcPct val="10000"/>
              </a:spcBef>
              <a:buNone/>
            </a:pPr>
            <a:r>
              <a:rPr kumimoji="1" lang="zh-CN" altLang="en-US" sz="2400" dirty="0">
                <a:latin typeface="+mn-lt"/>
              </a:rPr>
              <a:t>    </a:t>
            </a:r>
            <a:r>
              <a:rPr kumimoji="1" lang="en-US" altLang="zh-CN" sz="2400" b="0" dirty="0" err="1">
                <a:latin typeface="+mn-lt"/>
              </a:rPr>
              <a:t>CSNode</a:t>
            </a:r>
            <a:r>
              <a:rPr kumimoji="1" lang="en-US" altLang="zh-CN" sz="2400" b="0" dirty="0">
                <a:latin typeface="+mn-lt"/>
              </a:rPr>
              <a:t> *p;   Queue Q;   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+mn-lt"/>
              </a:rPr>
              <a:t>InitQueue</a:t>
            </a:r>
            <a:r>
              <a:rPr kumimoji="1" lang="en-US" altLang="zh-CN" sz="2400" b="0" dirty="0">
                <a:solidFill>
                  <a:srgbClr val="0000FF"/>
                </a:solidFill>
                <a:latin typeface="+mn-lt"/>
              </a:rPr>
              <a:t>(Q);   </a:t>
            </a:r>
            <a:r>
              <a:rPr kumimoji="1" lang="en-US" altLang="zh-CN" sz="2400" b="0" dirty="0">
                <a:solidFill>
                  <a:srgbClr val="00B050"/>
                </a:solidFill>
                <a:latin typeface="+mn-lt"/>
              </a:rPr>
              <a:t>// </a:t>
            </a:r>
            <a:r>
              <a:rPr kumimoji="1" lang="zh-CN" altLang="en-US" sz="2400" b="0" dirty="0">
                <a:solidFill>
                  <a:srgbClr val="00B050"/>
                </a:solidFill>
                <a:latin typeface="+mn-lt"/>
              </a:rPr>
              <a:t>用到一个队列</a:t>
            </a:r>
            <a:endParaRPr kumimoji="1" lang="en-US" altLang="zh-CN" sz="2400" b="0" dirty="0">
              <a:solidFill>
                <a:srgbClr val="00B050"/>
              </a:solidFill>
              <a:latin typeface="+mn-lt"/>
            </a:endParaRP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+mn-lt"/>
              </a:rPr>
              <a:t>    if (T != NULL) {</a:t>
            </a:r>
            <a:endParaRPr kumimoji="1" lang="zh-CN" altLang="en-US" sz="2400" b="0" dirty="0">
              <a:latin typeface="+mn-lt"/>
            </a:endParaRP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+mn-lt"/>
              </a:rPr>
              <a:t>        </a:t>
            </a:r>
            <a:r>
              <a:rPr kumimoji="1" lang="en-US" altLang="zh-CN" sz="2400" b="0" dirty="0" err="1">
                <a:solidFill>
                  <a:srgbClr val="0000FF"/>
                </a:solidFill>
                <a:latin typeface="+mn-lt"/>
              </a:rPr>
              <a:t>EnQueue</a:t>
            </a:r>
            <a:r>
              <a:rPr kumimoji="1" lang="en-US" altLang="zh-CN" sz="2400" b="0" dirty="0">
                <a:solidFill>
                  <a:srgbClr val="0000FF"/>
                </a:solidFill>
                <a:latin typeface="+mn-lt"/>
              </a:rPr>
              <a:t>(Q, T);     </a:t>
            </a:r>
            <a:r>
              <a:rPr kumimoji="1" lang="en-US" altLang="zh-CN" sz="2400" b="0" dirty="0">
                <a:solidFill>
                  <a:srgbClr val="00B050"/>
                </a:solidFill>
                <a:latin typeface="+mn-lt"/>
              </a:rPr>
              <a:t>// </a:t>
            </a:r>
            <a:r>
              <a:rPr kumimoji="1" lang="zh-CN" altLang="en-US" sz="2400" b="0" dirty="0">
                <a:solidFill>
                  <a:srgbClr val="00B050"/>
                </a:solidFill>
                <a:latin typeface="+mn-lt"/>
              </a:rPr>
              <a:t>根结点进队列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while (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!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QueueEmpty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(Q)</a:t>
            </a:r>
            <a:r>
              <a:rPr lang="en-US" altLang="zh-CN" sz="2400" dirty="0">
                <a:latin typeface="+mn-lt"/>
              </a:rPr>
              <a:t>) { 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    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DeQueue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(Q, p);   </a:t>
            </a:r>
            <a:r>
              <a:rPr lang="en-US" altLang="zh-CN" sz="2400" b="1" dirty="0">
                <a:latin typeface="+mn-lt"/>
              </a:rPr>
              <a:t>visit(p-&gt;data);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>
                <a:solidFill>
                  <a:srgbClr val="00B050"/>
                </a:solidFill>
                <a:latin typeface="+mn-lt"/>
              </a:rPr>
              <a:t>从队列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中取一个并访问之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        </a:t>
            </a:r>
            <a:r>
              <a:rPr lang="en-US" altLang="zh-CN" sz="2400" dirty="0">
                <a:latin typeface="+mn-lt"/>
              </a:rPr>
              <a:t>p = p-&gt;</a:t>
            </a:r>
            <a:r>
              <a:rPr lang="en-US" altLang="zh-CN" sz="2400" dirty="0" err="1">
                <a:latin typeface="+mn-lt"/>
              </a:rPr>
              <a:t>fchild</a:t>
            </a:r>
            <a:r>
              <a:rPr lang="en-US" altLang="zh-CN" sz="2400" dirty="0">
                <a:latin typeface="+mn-lt"/>
              </a:rPr>
              <a:t>;   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被访问结点的所有孩子结点进队列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marL="0" indent="0">
              <a:buNone/>
            </a:pPr>
            <a:r>
              <a:rPr lang="zh-CN" altLang="en-US" sz="2400" dirty="0">
                <a:latin typeface="+mn-lt"/>
              </a:rPr>
              <a:t>            </a:t>
            </a:r>
            <a:r>
              <a:rPr lang="en-US" altLang="zh-CN" sz="2400" dirty="0">
                <a:latin typeface="+mn-lt"/>
              </a:rPr>
              <a:t>while (p != NULL) { 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</a:rPr>
              <a:t>EnQueue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(Q, p);  </a:t>
            </a:r>
            <a:r>
              <a:rPr lang="en-US" altLang="zh-CN" sz="2400" dirty="0">
                <a:latin typeface="+mn-lt"/>
              </a:rPr>
              <a:t>p = p-&gt;</a:t>
            </a:r>
            <a:r>
              <a:rPr lang="en-US" altLang="zh-CN" sz="2400" dirty="0" err="1">
                <a:latin typeface="+mn-lt"/>
              </a:rPr>
              <a:t>nsibling</a:t>
            </a:r>
            <a:r>
              <a:rPr lang="en-US" altLang="zh-CN" sz="2400" dirty="0">
                <a:latin typeface="+mn-lt"/>
              </a:rPr>
              <a:t>;  }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    }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while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    }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if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</a:rPr>
              <a:t>}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  <a:latin typeface="+mn-lt"/>
              </a:rPr>
              <a:t>LevelOrder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31193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YyYjA1ZGJjMGQ3Zjc4ZjRiYTA5MzdjMzk4NGFhZGIifQ=="/>
</p:tagLst>
</file>

<file path=ppt/theme/theme1.xml><?xml version="1.0" encoding="utf-8"?>
<a:theme xmlns:a="http://schemas.openxmlformats.org/drawingml/2006/main" name="1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zrfpac5l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">
      <a:dk1>
        <a:srgbClr val="000099"/>
      </a:dk1>
      <a:lt1>
        <a:srgbClr val="FFFFFF"/>
      </a:lt1>
      <a:dk2>
        <a:srgbClr val="CC0000"/>
      </a:dk2>
      <a:lt2>
        <a:srgbClr val="0000CC"/>
      </a:lt2>
      <a:accent1>
        <a:srgbClr val="CCFFCC"/>
      </a:accent1>
      <a:accent2>
        <a:srgbClr val="3366FF"/>
      </a:accent2>
      <a:accent3>
        <a:srgbClr val="FFFFFF"/>
      </a:accent3>
      <a:accent4>
        <a:srgbClr val="000082"/>
      </a:accent4>
      <a:accent5>
        <a:srgbClr val="E2FFE2"/>
      </a:accent5>
      <a:accent6>
        <a:srgbClr val="2D5CE7"/>
      </a:accent6>
      <a:hlink>
        <a:srgbClr val="800000"/>
      </a:hlink>
      <a:folHlink>
        <a:srgbClr val="E1E1E1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0000CC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5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6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99FFCC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CAFFE2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6762</TotalTime>
  <Words>3005</Words>
  <Application>Microsoft Office PowerPoint</Application>
  <PresentationFormat>全屏显示(4:3)</PresentationFormat>
  <Paragraphs>648</Paragraphs>
  <Slides>43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9" baseType="lpstr">
      <vt:lpstr>等线</vt:lpstr>
      <vt:lpstr>黑体</vt:lpstr>
      <vt:lpstr>华文新魏</vt:lpstr>
      <vt:lpstr>楷体</vt:lpstr>
      <vt:lpstr>楷体_GB2312</vt:lpstr>
      <vt:lpstr>宋体</vt:lpstr>
      <vt:lpstr>Microsoft YaHei</vt:lpstr>
      <vt:lpstr>Microsoft YaHei</vt:lpstr>
      <vt:lpstr>Arial</vt:lpstr>
      <vt:lpstr>Arial Black</vt:lpstr>
      <vt:lpstr>Consolas</vt:lpstr>
      <vt:lpstr>Times New Roman</vt:lpstr>
      <vt:lpstr>Wingdings</vt:lpstr>
      <vt:lpstr>1_默认设计模板</vt:lpstr>
      <vt:lpstr>Pixel</vt:lpstr>
      <vt:lpstr>公式</vt:lpstr>
      <vt:lpstr>第六章 树和二叉树</vt:lpstr>
      <vt:lpstr>目录（Contents）</vt:lpstr>
      <vt:lpstr>PowerPoint 演示文稿</vt:lpstr>
      <vt:lpstr>树的定义---形式化定义（二元组）</vt:lpstr>
      <vt:lpstr>树的定义---递归定义</vt:lpstr>
      <vt:lpstr>树的逻辑结构表示方法</vt:lpstr>
      <vt:lpstr>树的逻辑结构表示方法</vt:lpstr>
      <vt:lpstr>树的逻辑结构表示方法</vt:lpstr>
      <vt:lpstr>树的逻辑结构表示方法</vt:lpstr>
      <vt:lpstr>树的基本术语</vt:lpstr>
      <vt:lpstr>树的基本术语</vt:lpstr>
      <vt:lpstr>树的基本术语</vt:lpstr>
      <vt:lpstr>树的基本术语</vt:lpstr>
      <vt:lpstr>树的基本术语</vt:lpstr>
      <vt:lpstr>树的基本术语</vt:lpstr>
      <vt:lpstr>树的基本术语</vt:lpstr>
      <vt:lpstr>树的基本术语</vt:lpstr>
      <vt:lpstr>树的基本术语</vt:lpstr>
      <vt:lpstr>课堂讨论 1</vt:lpstr>
      <vt:lpstr>课堂讨论 2</vt:lpstr>
      <vt:lpstr>课堂讨论 3</vt:lpstr>
      <vt:lpstr>目录（Contents）</vt:lpstr>
      <vt:lpstr>树的基本运算</vt:lpstr>
      <vt:lpstr>树的遍历运算</vt:lpstr>
      <vt:lpstr>树的遍历运算</vt:lpstr>
      <vt:lpstr>树的存储结构</vt:lpstr>
      <vt:lpstr>双亲表示法</vt:lpstr>
      <vt:lpstr>双亲表示法</vt:lpstr>
      <vt:lpstr>双亲表示法</vt:lpstr>
      <vt:lpstr>孩子表示法</vt:lpstr>
      <vt:lpstr>孩子表示法（1）</vt:lpstr>
      <vt:lpstr>孩子表示法（1）</vt:lpstr>
      <vt:lpstr>孩子表示法（1）+ 双亲</vt:lpstr>
      <vt:lpstr>孩子表示法（2）</vt:lpstr>
      <vt:lpstr>孩子表示法（3）</vt:lpstr>
      <vt:lpstr>孩子-兄弟表示法</vt:lpstr>
      <vt:lpstr>孩子-兄弟表示法</vt:lpstr>
      <vt:lpstr>孩子-兄弟表示法</vt:lpstr>
      <vt:lpstr>孩子-兄弟表示法</vt:lpstr>
      <vt:lpstr>查找给定结点的双亲结点</vt:lpstr>
      <vt:lpstr>树的先根次序遍历</vt:lpstr>
      <vt:lpstr>树的后根次序遍历</vt:lpstr>
      <vt:lpstr>树的层次次序遍历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lx</dc:creator>
  <cp:lastModifiedBy>Wang Qiuyue</cp:lastModifiedBy>
  <cp:revision>137</cp:revision>
  <dcterms:created xsi:type="dcterms:W3CDTF">2018-11-02T06:03:00Z</dcterms:created>
  <dcterms:modified xsi:type="dcterms:W3CDTF">2025-11-03T04:12:47Z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BB9AFE0996D2412F8938B6B22E38AD83</vt:lpwstr>
  </property>
  <property fmtid="{D5CDD505-2E9C-101B-9397-08002B2CF9AE}" pid="3" name="KSOProductBuildVer">
    <vt:lpwstr>2052-11.1.0.12358</vt:lpwstr>
  </property>
</Properties>
</file>