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</p:sldMasterIdLst>
  <p:notesMasterIdLst>
    <p:notesMasterId r:id="rId115"/>
  </p:notesMasterIdLst>
  <p:handoutMasterIdLst>
    <p:handoutMasterId r:id="rId116"/>
  </p:handoutMasterIdLst>
  <p:sldIdLst>
    <p:sldId id="1333" r:id="rId3"/>
    <p:sldId id="1068" r:id="rId4"/>
    <p:sldId id="1338" r:id="rId5"/>
    <p:sldId id="870" r:id="rId6"/>
    <p:sldId id="1013" r:id="rId7"/>
    <p:sldId id="1339" r:id="rId8"/>
    <p:sldId id="1340" r:id="rId9"/>
    <p:sldId id="1341" r:id="rId10"/>
    <p:sldId id="1342" r:id="rId11"/>
    <p:sldId id="1343" r:id="rId12"/>
    <p:sldId id="1344" r:id="rId13"/>
    <p:sldId id="1345" r:id="rId14"/>
    <p:sldId id="1346" r:id="rId15"/>
    <p:sldId id="1347" r:id="rId16"/>
    <p:sldId id="1348" r:id="rId17"/>
    <p:sldId id="1349" r:id="rId18"/>
    <p:sldId id="1355" r:id="rId19"/>
    <p:sldId id="1350" r:id="rId20"/>
    <p:sldId id="1351" r:id="rId21"/>
    <p:sldId id="1352" r:id="rId22"/>
    <p:sldId id="1353" r:id="rId23"/>
    <p:sldId id="1354" r:id="rId24"/>
    <p:sldId id="1334" r:id="rId25"/>
    <p:sldId id="1356" r:id="rId26"/>
    <p:sldId id="1357" r:id="rId27"/>
    <p:sldId id="1358" r:id="rId28"/>
    <p:sldId id="1359" r:id="rId29"/>
    <p:sldId id="1360" r:id="rId30"/>
    <p:sldId id="1018" r:id="rId31"/>
    <p:sldId id="1363" r:id="rId32"/>
    <p:sldId id="1361" r:id="rId33"/>
    <p:sldId id="876" r:id="rId34"/>
    <p:sldId id="1364" r:id="rId35"/>
    <p:sldId id="1362" r:id="rId36"/>
    <p:sldId id="1335" r:id="rId37"/>
    <p:sldId id="1365" r:id="rId38"/>
    <p:sldId id="1366" r:id="rId39"/>
    <p:sldId id="1375" r:id="rId40"/>
    <p:sldId id="1367" r:id="rId41"/>
    <p:sldId id="1369" r:id="rId42"/>
    <p:sldId id="1368" r:id="rId43"/>
    <p:sldId id="1370" r:id="rId44"/>
    <p:sldId id="886" r:id="rId45"/>
    <p:sldId id="887" r:id="rId46"/>
    <p:sldId id="1376" r:id="rId47"/>
    <p:sldId id="1371" r:id="rId48"/>
    <p:sldId id="1373" r:id="rId49"/>
    <p:sldId id="1372" r:id="rId50"/>
    <p:sldId id="1377" r:id="rId51"/>
    <p:sldId id="1378" r:id="rId52"/>
    <p:sldId id="1379" r:id="rId53"/>
    <p:sldId id="1380" r:id="rId54"/>
    <p:sldId id="1381" r:id="rId55"/>
    <p:sldId id="1382" r:id="rId56"/>
    <p:sldId id="1383" r:id="rId57"/>
    <p:sldId id="1384" r:id="rId58"/>
    <p:sldId id="1374" r:id="rId59"/>
    <p:sldId id="1385" r:id="rId60"/>
    <p:sldId id="1387" r:id="rId61"/>
    <p:sldId id="1389" r:id="rId62"/>
    <p:sldId id="1390" r:id="rId63"/>
    <p:sldId id="1391" r:id="rId64"/>
    <p:sldId id="1392" r:id="rId65"/>
    <p:sldId id="1394" r:id="rId66"/>
    <p:sldId id="1395" r:id="rId67"/>
    <p:sldId id="1393" r:id="rId68"/>
    <p:sldId id="1396" r:id="rId69"/>
    <p:sldId id="1401" r:id="rId70"/>
    <p:sldId id="1398" r:id="rId71"/>
    <p:sldId id="1399" r:id="rId72"/>
    <p:sldId id="1403" r:id="rId73"/>
    <p:sldId id="1404" r:id="rId74"/>
    <p:sldId id="1402" r:id="rId75"/>
    <p:sldId id="1408" r:id="rId76"/>
    <p:sldId id="1405" r:id="rId77"/>
    <p:sldId id="1406" r:id="rId78"/>
    <p:sldId id="1409" r:id="rId79"/>
    <p:sldId id="1410" r:id="rId80"/>
    <p:sldId id="1407" r:id="rId81"/>
    <p:sldId id="1411" r:id="rId82"/>
    <p:sldId id="1412" r:id="rId83"/>
    <p:sldId id="1413" r:id="rId84"/>
    <p:sldId id="1026" r:id="rId85"/>
    <p:sldId id="975" r:id="rId86"/>
    <p:sldId id="1415" r:id="rId87"/>
    <p:sldId id="1414" r:id="rId88"/>
    <p:sldId id="1416" r:id="rId89"/>
    <p:sldId id="1417" r:id="rId90"/>
    <p:sldId id="1418" r:id="rId91"/>
    <p:sldId id="1419" r:id="rId92"/>
    <p:sldId id="1434" r:id="rId93"/>
    <p:sldId id="1420" r:id="rId94"/>
    <p:sldId id="1421" r:id="rId95"/>
    <p:sldId id="1422" r:id="rId96"/>
    <p:sldId id="1423" r:id="rId97"/>
    <p:sldId id="1424" r:id="rId98"/>
    <p:sldId id="1425" r:id="rId99"/>
    <p:sldId id="1426" r:id="rId100"/>
    <p:sldId id="308" r:id="rId101"/>
    <p:sldId id="309" r:id="rId102"/>
    <p:sldId id="310" r:id="rId103"/>
    <p:sldId id="311" r:id="rId104"/>
    <p:sldId id="312" r:id="rId105"/>
    <p:sldId id="313" r:id="rId106"/>
    <p:sldId id="314" r:id="rId107"/>
    <p:sldId id="1427" r:id="rId108"/>
    <p:sldId id="1428" r:id="rId109"/>
    <p:sldId id="1429" r:id="rId110"/>
    <p:sldId id="1430" r:id="rId111"/>
    <p:sldId id="1431" r:id="rId112"/>
    <p:sldId id="1432" r:id="rId113"/>
    <p:sldId id="1433" r:id="rId114"/>
  </p:sldIdLst>
  <p:sldSz cx="9144000" cy="6858000" type="screen4x3"/>
  <p:notesSz cx="6858000" cy="9144000"/>
  <p:custDataLst>
    <p:tags r:id="rId117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5">
          <p15:clr>
            <a:srgbClr val="A4A3A4"/>
          </p15:clr>
        </p15:guide>
        <p15:guide id="2" pos="282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FF99"/>
    <a:srgbClr val="6C4C8F"/>
    <a:srgbClr val="A5A5E9"/>
    <a:srgbClr val="E2D9EB"/>
    <a:srgbClr val="EBEBEB"/>
    <a:srgbClr val="A78DC2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332" autoAdjust="0"/>
  </p:normalViewPr>
  <p:slideViewPr>
    <p:cSldViewPr snapToObjects="1" showGuides="1">
      <p:cViewPr varScale="1">
        <p:scale>
          <a:sx n="85" d="100"/>
          <a:sy n="85" d="100"/>
        </p:scale>
        <p:origin x="1272" y="72"/>
      </p:cViewPr>
      <p:guideLst>
        <p:guide orient="horz" pos="2215"/>
        <p:guide pos="282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73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tags" Target="tags/tag1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presProps" Target="presProp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viewProps" Target="viewProps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tableStyles" Target="tableStyles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Font typeface="Arial" panose="020B0604020202020204" pitchFamily="34" charset="0"/>
              <a:buNone/>
              <a:defRPr sz="1200" b="0" noProof="1">
                <a:ea typeface="仿宋_GB2312" pitchFamily="49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67AFD3B-C4E1-4416-BD3D-68F2CFCE9377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8196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单击以编辑母版文本样式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Font typeface="Arial" panose="020B0604020202020204" pitchFamily="34" charset="0"/>
              <a:buNone/>
              <a:defRPr sz="1200" b="0" noProof="1">
                <a:ea typeface="仿宋_GB2312" pitchFamily="49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B6E9BB8-4EBB-4AE6-9C42-E84A705BD6EB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7078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171" y="235957"/>
            <a:ext cx="6400800" cy="456739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/>
            </a:lvl1pPr>
            <a:lvl2pPr>
              <a:lnSpc>
                <a:spcPct val="150000"/>
              </a:lnSpc>
              <a:spcBef>
                <a:spcPts val="0"/>
              </a:spcBef>
              <a:defRPr sz="2400"/>
            </a:lvl2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115637" y="385924"/>
            <a:ext cx="617410" cy="174607"/>
            <a:chOff x="384175" y="480608"/>
            <a:chExt cx="348872" cy="98663"/>
          </a:xfrm>
          <a:solidFill>
            <a:schemeClr val="bg1">
              <a:lumMod val="90000"/>
            </a:schemeClr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101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grpSp>
        <p:nvGrpSpPr>
          <p:cNvPr id="17" name="组合 16"/>
          <p:cNvGrpSpPr/>
          <p:nvPr/>
        </p:nvGrpSpPr>
        <p:grpSpPr>
          <a:xfrm>
            <a:off x="115636" y="378030"/>
            <a:ext cx="617410" cy="174607"/>
            <a:chOff x="384175" y="480608"/>
            <a:chExt cx="348872" cy="98663"/>
          </a:xfrm>
          <a:solidFill>
            <a:schemeClr val="bg1">
              <a:lumMod val="90000"/>
            </a:schemeClr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844550" y="190500"/>
            <a:ext cx="6400800" cy="52705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115637" y="378030"/>
            <a:ext cx="617410" cy="174607"/>
            <a:chOff x="384175" y="480608"/>
            <a:chExt cx="348872" cy="98663"/>
          </a:xfrm>
          <a:solidFill>
            <a:schemeClr val="bg1">
              <a:lumMod val="90000"/>
            </a:schemeClr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>
            <a:extLst>
              <a:ext uri="{FF2B5EF4-FFF2-40B4-BE49-F238E27FC236}">
                <a16:creationId xmlns:a16="http://schemas.microsoft.com/office/drawing/2014/main" id="{8CAF50F0-3A55-4ADA-AA1D-9792FAE14E5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9699" name="Rectangle 3">
              <a:extLst>
                <a:ext uri="{FF2B5EF4-FFF2-40B4-BE49-F238E27FC236}">
                  <a16:creationId xmlns:a16="http://schemas.microsoft.com/office/drawing/2014/main" id="{3CA8E321-DF00-4874-877B-385BA03E129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9700" name="Rectangle 4">
              <a:extLst>
                <a:ext uri="{FF2B5EF4-FFF2-40B4-BE49-F238E27FC236}">
                  <a16:creationId xmlns:a16="http://schemas.microsoft.com/office/drawing/2014/main" id="{FD4184E0-E0DD-4579-BB7D-FE1E1AAC71A1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29701" name="Group 5">
              <a:extLst>
                <a:ext uri="{FF2B5EF4-FFF2-40B4-BE49-F238E27FC236}">
                  <a16:creationId xmlns:a16="http://schemas.microsoft.com/office/drawing/2014/main" id="{AC01B30C-1D2A-4938-A483-9F823E6096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9702" name="Rectangle 6">
                <a:extLst>
                  <a:ext uri="{FF2B5EF4-FFF2-40B4-BE49-F238E27FC236}">
                    <a16:creationId xmlns:a16="http://schemas.microsoft.com/office/drawing/2014/main" id="{2054F69F-1878-4EDF-A48B-E59D89D64FE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3" name="Rectangle 7">
                <a:extLst>
                  <a:ext uri="{FF2B5EF4-FFF2-40B4-BE49-F238E27FC236}">
                    <a16:creationId xmlns:a16="http://schemas.microsoft.com/office/drawing/2014/main" id="{585B3566-4EB7-49E0-A9C1-98563F1ABE6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4" name="Rectangle 8">
                <a:extLst>
                  <a:ext uri="{FF2B5EF4-FFF2-40B4-BE49-F238E27FC236}">
                    <a16:creationId xmlns:a16="http://schemas.microsoft.com/office/drawing/2014/main" id="{6BA47FA8-F952-43B3-9165-49552E7547B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5" name="Rectangle 9">
                <a:extLst>
                  <a:ext uri="{FF2B5EF4-FFF2-40B4-BE49-F238E27FC236}">
                    <a16:creationId xmlns:a16="http://schemas.microsoft.com/office/drawing/2014/main" id="{9D408330-8C6C-4B99-960C-3173B443C8B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6" name="Rectangle 10">
                <a:extLst>
                  <a:ext uri="{FF2B5EF4-FFF2-40B4-BE49-F238E27FC236}">
                    <a16:creationId xmlns:a16="http://schemas.microsoft.com/office/drawing/2014/main" id="{6DADB660-670B-43E3-B0B3-E6797782571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7" name="Rectangle 11">
                <a:extLst>
                  <a:ext uri="{FF2B5EF4-FFF2-40B4-BE49-F238E27FC236}">
                    <a16:creationId xmlns:a16="http://schemas.microsoft.com/office/drawing/2014/main" id="{21F32A29-CBB3-405F-B62F-AFCA2142A92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8" name="Rectangle 12">
                <a:extLst>
                  <a:ext uri="{FF2B5EF4-FFF2-40B4-BE49-F238E27FC236}">
                    <a16:creationId xmlns:a16="http://schemas.microsoft.com/office/drawing/2014/main" id="{BED7B892-C9DA-47F7-8DB7-0162F5E5969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9" name="Rectangle 13">
                <a:extLst>
                  <a:ext uri="{FF2B5EF4-FFF2-40B4-BE49-F238E27FC236}">
                    <a16:creationId xmlns:a16="http://schemas.microsoft.com/office/drawing/2014/main" id="{1CF2F4CA-5A16-4B2E-9649-8934827E6FE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0" name="Rectangle 14">
                <a:extLst>
                  <a:ext uri="{FF2B5EF4-FFF2-40B4-BE49-F238E27FC236}">
                    <a16:creationId xmlns:a16="http://schemas.microsoft.com/office/drawing/2014/main" id="{E44FE56F-87D5-470E-87AD-C89C43394C7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1" name="Rectangle 15">
                <a:extLst>
                  <a:ext uri="{FF2B5EF4-FFF2-40B4-BE49-F238E27FC236}">
                    <a16:creationId xmlns:a16="http://schemas.microsoft.com/office/drawing/2014/main" id="{2F046A15-3B8F-43A9-B095-F7C1CF803B9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9712" name="Rectangle 16">
            <a:extLst>
              <a:ext uri="{FF2B5EF4-FFF2-40B4-BE49-F238E27FC236}">
                <a16:creationId xmlns:a16="http://schemas.microsoft.com/office/drawing/2014/main" id="{67D1B36C-3839-47A5-A900-133A52291D6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9713" name="Rectangle 17">
            <a:extLst>
              <a:ext uri="{FF2B5EF4-FFF2-40B4-BE49-F238E27FC236}">
                <a16:creationId xmlns:a16="http://schemas.microsoft.com/office/drawing/2014/main" id="{0509F7D1-0841-4DCC-9FE2-AE04AD9F387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9714" name="Rectangle 18">
            <a:extLst>
              <a:ext uri="{FF2B5EF4-FFF2-40B4-BE49-F238E27FC236}">
                <a16:creationId xmlns:a16="http://schemas.microsoft.com/office/drawing/2014/main" id="{80A1332F-FCA7-48B5-9F83-5973E300D7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1200" b="0">
                <a:latin typeface="Arial Black" panose="020B0A04020102020204" pitchFamily="34" charset="0"/>
                <a:ea typeface="+mn-ea"/>
              </a:defRPr>
            </a:lvl1pPr>
          </a:lstStyle>
          <a:p>
            <a:fld id="{E5309CBB-3AEB-4BD3-8A17-C01AB13CAED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9715" name="Rectangle 19">
            <a:extLst>
              <a:ext uri="{FF2B5EF4-FFF2-40B4-BE49-F238E27FC236}">
                <a16:creationId xmlns:a16="http://schemas.microsoft.com/office/drawing/2014/main" id="{8E8CB819-80A5-4466-9E73-B0A49F10772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9716" name="Rectangle 20">
            <a:extLst>
              <a:ext uri="{FF2B5EF4-FFF2-40B4-BE49-F238E27FC236}">
                <a16:creationId xmlns:a16="http://schemas.microsoft.com/office/drawing/2014/main" id="{92C074B9-A395-4156-9D56-1EC3461D11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393720075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9048E9-7969-4300-BA6A-AB7F609A3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1078F0-05CD-4ADF-9A07-7E85E80AF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1CF52D6-C64F-4484-B872-4491C534C9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D00F02-548B-4135-9E7E-FAB4FED24F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7DFCF5C-C2A2-4C66-B481-19AC6826909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F846A2C3-D87A-417F-97B7-6D0A37C6295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4442774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E5B9B-EAD2-474C-80D9-55EDBD5B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DEB9AB-0B78-4779-B2DD-2156F4E52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F454CB-5FA3-4EE5-A663-E5F42B206E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BDDD17-3EEF-410F-AD08-0F2841DB8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61422F-630F-49A1-B5EE-888F39F5095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30C34C09-E65E-40A6-A4C3-564AF541421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6470319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BF6908-2681-4A69-81B6-7F484EF54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03E58-A1D6-4DFF-B8A7-9F42B3BFB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6F388D-E693-4968-8F3F-2567DCC16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FC00AB-6640-4CB8-8B95-ACA87343E4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4F2435-F14C-427A-B97F-EC0D7144A2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A31931F-EF41-40CE-B503-7D416B9597B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DAA1C9-D806-430A-BD3F-C90F1F93161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5039736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C85370-78EB-4017-B873-01488CBE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BFAADA-45BF-4757-B837-AB17A262A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242B3C-64ED-4CAB-AAEC-5DCA64A31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1AD68A9-2257-42C5-BE0E-6B350D9FE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D4182D-0893-4FF4-8917-C7E4B519F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8E19D611-22C1-4CD5-98B3-34A6582512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50070C82-9147-4D12-AE04-F72416F8B8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ED5FE2A-6A0D-46F0-9A25-D63A1B86CAA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FC29BF08-1F99-4F41-9FE0-897CAFB2533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1337104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D100A-5B57-4855-8146-C6CF87D3E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E59A4E8-8ACF-4115-8384-5197E01C8D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4A9A5F-FC52-48D2-AF1A-4C84D2DFE5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4F561C9-FB71-4454-A9F9-B9626922A02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90ABE2-FCE1-4421-818A-7C71304F76E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7098532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DAAE7580-9D24-411F-8067-CE1FA87A8B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A20B5A-2B24-441F-827C-9288EFD0D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1FF4EF-7BBD-4FA0-9747-34A363CFCF8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84933C-F8BA-4D78-8B20-AC7E97CDEB7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4924998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EDAD98-0F2F-43ED-B9B8-D9BB4FA0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088B04-690B-4362-8C14-48C7BF313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6A5527-53B5-431B-94A1-540395E6C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12205B-3744-49D9-8FE7-56DF158DA2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7C1708-194E-464B-A327-7D2563DDCB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77B8F39-10B7-4545-A6C0-3F0F860BA4FE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918829-C0AE-484B-B38E-2B323896918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9815105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30182-45BC-4F98-8B9A-8E68F5430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F2BEAD-96DE-46FB-9A5C-AE3D7EEA5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6901F3-5B60-466C-895C-D40C8DA05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B48F8F-5375-459A-8CD5-32FB7BFCB9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B7A2D5-5350-4E5D-8EE4-5E291E74D0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B5074B4-9195-4B33-9557-6D03CD715FC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C5420C-4B03-4E48-8D15-78B4EC17B1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5153820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2601D-8D66-4148-91AA-04A14BE1B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38F4D0-70DC-4DFD-A3A5-D0403CBDA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320218F-08AA-4223-829D-1B50B3FCAA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E890FB-3E52-45DE-9DED-992E246EC6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31AE139-FCD8-49E9-AEFA-5B65DCDF169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7D1184F0-437D-45B8-BF2D-28153DE19E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6246904"/>
      </p:ext>
    </p:extLst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092409-CC5C-48C3-997B-292643DBCE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0ABE33-88BC-4EE2-8363-6804A8DD6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00B62E-76DB-4459-8ED0-41FE776239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00F402-EFE4-4030-B673-02DA40FDB9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3D69601-9D7C-43AD-8E1E-015C13AF9FF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E1AE1A58-1346-4E35-A034-D1C2F1FD2B8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1100745"/>
      </p:ext>
    </p:extLst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DDBD91-EC1A-40D2-9866-C876A1679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8F8FAA65-1A10-4BF7-BD70-92C1323D8424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7B263A-6192-4A79-BDC8-8FCDE3A274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D9E543-2961-4C47-A642-8970409216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00775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EE2D7AF-3E92-46C1-9199-DB3F303CD0D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80BE2EAB-A84B-4F08-9F09-4EB913DF9E1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6161047"/>
      </p:ext>
    </p:extLst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5570E-AAE7-4CA9-9BBE-D75B9AE97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>
            <a:extLst>
              <a:ext uri="{FF2B5EF4-FFF2-40B4-BE49-F238E27FC236}">
                <a16:creationId xmlns:a16="http://schemas.microsoft.com/office/drawing/2014/main" id="{69F0F830-8A64-4C74-B83A-8811742AEB6E}"/>
              </a:ext>
            </a:extLst>
          </p:cNvPr>
          <p:cNvSpPr>
            <a:spLocks noGrp="1"/>
          </p:cNvSpPr>
          <p:nvPr>
            <p:ph type="dgm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6245BF-E54E-4380-8C53-2103FE3972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40811D-1E6E-4F6C-AB3B-E81853771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00775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D438AE6-C331-480D-9D64-09098024A32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F6DDA6E-80B0-47AF-9E5B-F22706BE61AE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1751791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/>
          </p:cNvSpPr>
          <p:nvPr>
            <p:ph type="body"/>
          </p:nvPr>
        </p:nvSpPr>
        <p:spPr>
          <a:xfrm>
            <a:off x="249821" y="744505"/>
            <a:ext cx="8642659" cy="54721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单击以编辑母版文本样式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cxnSp>
        <p:nvCxnSpPr>
          <p:cNvPr id="1027" name="直接连接符 9"/>
          <p:cNvCxnSpPr/>
          <p:nvPr userDrawn="1"/>
        </p:nvCxn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cxnSp>
      <p:sp>
        <p:nvSpPr>
          <p:cNvPr id="10" name="矩形 9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5637" y="377046"/>
            <a:ext cx="617410" cy="174607"/>
            <a:chOff x="384175" y="480608"/>
            <a:chExt cx="348872" cy="98663"/>
          </a:xfrm>
          <a:solidFill>
            <a:schemeClr val="bg1">
              <a:lumMod val="90000"/>
            </a:schemeClr>
          </a:solidFill>
        </p:grpSpPr>
        <p:sp>
          <p:nvSpPr>
            <p:cNvPr id="12" name="等腰三角形 11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等腰三角形 12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等腰三角形 13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31" name="Rectangle 2"/>
          <p:cNvSpPr>
            <a:spLocks noGrp="1"/>
          </p:cNvSpPr>
          <p:nvPr>
            <p:ph type="title"/>
          </p:nvPr>
        </p:nvSpPr>
        <p:spPr>
          <a:xfrm>
            <a:off x="844550" y="190500"/>
            <a:ext cx="6400800" cy="5270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单击以编辑</a:t>
            </a:r>
            <a:r>
              <a:rPr lang="en-US" altLang="en-US" dirty="0"/>
              <a:t>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9pPr>
    </p:titleStyle>
    <p:bodyStyle>
      <a:lvl1pPr marL="457200" indent="-457200" algn="l" rtl="0" eaLnBrk="0" fontAlgn="base" hangingPunct="0">
        <a:lnSpc>
          <a:spcPct val="150000"/>
        </a:lnSpc>
        <a:spcBef>
          <a:spcPct val="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ea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微软雅黑" panose="020B0503020204020204" pitchFamily="3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A46C38E-1E1E-4D64-934F-7CE1F6CA869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 altLang="zh-CN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95FE34E4-5EAA-43C2-A785-ACA20CF6D62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00775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b="1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fld id="{1F4AA395-A1D4-4B09-9C75-AA052D7FA1A0}" type="slidenum">
              <a:rPr lang="en-US" altLang="zh-CN"/>
              <a:pPr/>
              <a:t>‹#›</a:t>
            </a:fld>
            <a:endParaRPr lang="en-US" altLang="zh-CN"/>
          </a:p>
        </p:txBody>
      </p:sp>
      <p:grpSp>
        <p:nvGrpSpPr>
          <p:cNvPr id="28676" name="Group 4">
            <a:extLst>
              <a:ext uri="{FF2B5EF4-FFF2-40B4-BE49-F238E27FC236}">
                <a16:creationId xmlns:a16="http://schemas.microsoft.com/office/drawing/2014/main" id="{0C925DCF-12C5-4B95-9392-08B66831CCB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8677" name="Rectangle 5">
              <a:extLst>
                <a:ext uri="{FF2B5EF4-FFF2-40B4-BE49-F238E27FC236}">
                  <a16:creationId xmlns:a16="http://schemas.microsoft.com/office/drawing/2014/main" id="{7A338ACE-7AF2-4137-83FE-E24491DBD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678" name="Rectangle 6">
              <a:extLst>
                <a:ext uri="{FF2B5EF4-FFF2-40B4-BE49-F238E27FC236}">
                  <a16:creationId xmlns:a16="http://schemas.microsoft.com/office/drawing/2014/main" id="{93653F84-1782-4A00-B81C-167BEBA3C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679" name="Rectangle 7">
              <a:extLst>
                <a:ext uri="{FF2B5EF4-FFF2-40B4-BE49-F238E27FC236}">
                  <a16:creationId xmlns:a16="http://schemas.microsoft.com/office/drawing/2014/main" id="{F1A954A5-F7A0-4640-BEF0-93F5458C0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8680" name="Rectangle 8">
              <a:extLst>
                <a:ext uri="{FF2B5EF4-FFF2-40B4-BE49-F238E27FC236}">
                  <a16:creationId xmlns:a16="http://schemas.microsoft.com/office/drawing/2014/main" id="{2D195F7B-269B-458F-A0EE-2C766E6C8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8681" name="Rectangle 9">
              <a:extLst>
                <a:ext uri="{FF2B5EF4-FFF2-40B4-BE49-F238E27FC236}">
                  <a16:creationId xmlns:a16="http://schemas.microsoft.com/office/drawing/2014/main" id="{DFB9C109-16C6-4E42-816C-B69A23CCE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28682" name="Rectangle 10">
              <a:extLst>
                <a:ext uri="{FF2B5EF4-FFF2-40B4-BE49-F238E27FC236}">
                  <a16:creationId xmlns:a16="http://schemas.microsoft.com/office/drawing/2014/main" id="{98CC751E-7F3A-4B73-8A1C-62AE9BAD4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8683" name="Rectangle 11">
              <a:extLst>
                <a:ext uri="{FF2B5EF4-FFF2-40B4-BE49-F238E27FC236}">
                  <a16:creationId xmlns:a16="http://schemas.microsoft.com/office/drawing/2014/main" id="{104DD1E0-86CE-44BA-A4C3-8DF5C9D3A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684" name="Rectangle 12">
              <a:extLst>
                <a:ext uri="{FF2B5EF4-FFF2-40B4-BE49-F238E27FC236}">
                  <a16:creationId xmlns:a16="http://schemas.microsoft.com/office/drawing/2014/main" id="{0A789231-86A8-496A-A5CB-7895349BA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28685" name="Rectangle 13">
              <a:extLst>
                <a:ext uri="{FF2B5EF4-FFF2-40B4-BE49-F238E27FC236}">
                  <a16:creationId xmlns:a16="http://schemas.microsoft.com/office/drawing/2014/main" id="{D24B3D9C-AB33-4D7F-82CC-7B005423D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28686" name="Rectangle 14">
            <a:extLst>
              <a:ext uri="{FF2B5EF4-FFF2-40B4-BE49-F238E27FC236}">
                <a16:creationId xmlns:a16="http://schemas.microsoft.com/office/drawing/2014/main" id="{49D69E84-F191-4AF1-93FC-AF67C344A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8687" name="Rectangle 15">
            <a:extLst>
              <a:ext uri="{FF2B5EF4-FFF2-40B4-BE49-F238E27FC236}">
                <a16:creationId xmlns:a16="http://schemas.microsoft.com/office/drawing/2014/main" id="{B118BF2E-8CDD-4976-A602-1FAE0C53A9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688" name="Rectangle 16">
            <a:extLst>
              <a:ext uri="{FF2B5EF4-FFF2-40B4-BE49-F238E27FC236}">
                <a16:creationId xmlns:a16="http://schemas.microsoft.com/office/drawing/2014/main" id="{1670E9EC-8BD9-4ED0-AB5C-50279F4B690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6734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transition>
    <p:wipe dir="r"/>
  </p:transition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Binary_tre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3" Type="http://schemas.openxmlformats.org/officeDocument/2006/relationships/tags" Target="../tags/tag40.xml"/><Relationship Id="rId18" Type="http://schemas.openxmlformats.org/officeDocument/2006/relationships/tags" Target="../tags/tag45.xml"/><Relationship Id="rId26" Type="http://schemas.openxmlformats.org/officeDocument/2006/relationships/tags" Target="../tags/tag53.xml"/><Relationship Id="rId39" Type="http://schemas.openxmlformats.org/officeDocument/2006/relationships/tags" Target="../tags/tag66.xml"/><Relationship Id="rId21" Type="http://schemas.openxmlformats.org/officeDocument/2006/relationships/tags" Target="../tags/tag48.xml"/><Relationship Id="rId34" Type="http://schemas.openxmlformats.org/officeDocument/2006/relationships/tags" Target="../tags/tag61.xml"/><Relationship Id="rId42" Type="http://schemas.openxmlformats.org/officeDocument/2006/relationships/tags" Target="../tags/tag69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6" Type="http://schemas.openxmlformats.org/officeDocument/2006/relationships/tags" Target="../tags/tag43.xml"/><Relationship Id="rId29" Type="http://schemas.openxmlformats.org/officeDocument/2006/relationships/tags" Target="../tags/tag56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24" Type="http://schemas.openxmlformats.org/officeDocument/2006/relationships/tags" Target="../tags/tag51.xml"/><Relationship Id="rId32" Type="http://schemas.openxmlformats.org/officeDocument/2006/relationships/tags" Target="../tags/tag59.xml"/><Relationship Id="rId37" Type="http://schemas.openxmlformats.org/officeDocument/2006/relationships/tags" Target="../tags/tag64.xml"/><Relationship Id="rId40" Type="http://schemas.openxmlformats.org/officeDocument/2006/relationships/tags" Target="../tags/tag67.xml"/><Relationship Id="rId45" Type="http://schemas.openxmlformats.org/officeDocument/2006/relationships/slideLayout" Target="../slideLayouts/slideLayout3.xml"/><Relationship Id="rId5" Type="http://schemas.openxmlformats.org/officeDocument/2006/relationships/tags" Target="../tags/tag32.xml"/><Relationship Id="rId15" Type="http://schemas.openxmlformats.org/officeDocument/2006/relationships/tags" Target="../tags/tag42.xml"/><Relationship Id="rId23" Type="http://schemas.openxmlformats.org/officeDocument/2006/relationships/tags" Target="../tags/tag50.xml"/><Relationship Id="rId28" Type="http://schemas.openxmlformats.org/officeDocument/2006/relationships/tags" Target="../tags/tag55.xml"/><Relationship Id="rId36" Type="http://schemas.openxmlformats.org/officeDocument/2006/relationships/tags" Target="../tags/tag63.xml"/><Relationship Id="rId10" Type="http://schemas.openxmlformats.org/officeDocument/2006/relationships/tags" Target="../tags/tag37.xml"/><Relationship Id="rId19" Type="http://schemas.openxmlformats.org/officeDocument/2006/relationships/tags" Target="../tags/tag46.xml"/><Relationship Id="rId31" Type="http://schemas.openxmlformats.org/officeDocument/2006/relationships/tags" Target="../tags/tag58.xml"/><Relationship Id="rId44" Type="http://schemas.openxmlformats.org/officeDocument/2006/relationships/tags" Target="../tags/tag71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tags" Target="../tags/tag41.xml"/><Relationship Id="rId22" Type="http://schemas.openxmlformats.org/officeDocument/2006/relationships/tags" Target="../tags/tag49.xml"/><Relationship Id="rId27" Type="http://schemas.openxmlformats.org/officeDocument/2006/relationships/tags" Target="../tags/tag54.xml"/><Relationship Id="rId30" Type="http://schemas.openxmlformats.org/officeDocument/2006/relationships/tags" Target="../tags/tag57.xml"/><Relationship Id="rId35" Type="http://schemas.openxmlformats.org/officeDocument/2006/relationships/tags" Target="../tags/tag62.xml"/><Relationship Id="rId43" Type="http://schemas.openxmlformats.org/officeDocument/2006/relationships/tags" Target="../tags/tag70.xml"/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12" Type="http://schemas.openxmlformats.org/officeDocument/2006/relationships/tags" Target="../tags/tag39.xml"/><Relationship Id="rId17" Type="http://schemas.openxmlformats.org/officeDocument/2006/relationships/tags" Target="../tags/tag44.xml"/><Relationship Id="rId25" Type="http://schemas.openxmlformats.org/officeDocument/2006/relationships/tags" Target="../tags/tag52.xml"/><Relationship Id="rId33" Type="http://schemas.openxmlformats.org/officeDocument/2006/relationships/tags" Target="../tags/tag60.xml"/><Relationship Id="rId38" Type="http://schemas.openxmlformats.org/officeDocument/2006/relationships/tags" Target="../tags/tag65.xml"/><Relationship Id="rId20" Type="http://schemas.openxmlformats.org/officeDocument/2006/relationships/tags" Target="../tags/tag47.xml"/><Relationship Id="rId41" Type="http://schemas.openxmlformats.org/officeDocument/2006/relationships/tags" Target="../tags/tag6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13" Type="http://schemas.openxmlformats.org/officeDocument/2006/relationships/tags" Target="../tags/tag84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12" Type="http://schemas.openxmlformats.org/officeDocument/2006/relationships/tags" Target="../tags/tag83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tags" Target="../tags/tag82.xml"/><Relationship Id="rId5" Type="http://schemas.openxmlformats.org/officeDocument/2006/relationships/tags" Target="../tags/tag76.xml"/><Relationship Id="rId10" Type="http://schemas.openxmlformats.org/officeDocument/2006/relationships/tags" Target="../tags/tag81.xml"/><Relationship Id="rId4" Type="http://schemas.openxmlformats.org/officeDocument/2006/relationships/tags" Target="../tags/tag75.xml"/><Relationship Id="rId9" Type="http://schemas.openxmlformats.org/officeDocument/2006/relationships/tags" Target="../tags/tag80.xml"/><Relationship Id="rId14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树的定义和基本概念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二叉树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二叉树的定义和性质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二叉树的存储结构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遍历二叉树和线索二叉树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树和森林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哈夫曼树及其应用</a:t>
            </a:r>
          </a:p>
        </p:txBody>
      </p:sp>
    </p:spTree>
    <p:extLst>
      <p:ext uri="{BB962C8B-B14F-4D97-AF65-F5344CB8AC3E}">
        <p14:creationId xmlns:p14="http://schemas.microsoft.com/office/powerpoint/2010/main" val="396579488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323528" y="730404"/>
            <a:ext cx="8496944" cy="5185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二叉树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Binary Tree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）是由 </a:t>
            </a:r>
            <a:r>
              <a:rPr kumimoji="0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≥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）个结点构成的有限集合</a:t>
            </a:r>
            <a:r>
              <a:rPr lang="zh-CN" altLang="en-US" b="0" dirty="0">
                <a:latin typeface="+mn-lt"/>
                <a:ea typeface="+mn-ea"/>
                <a:cs typeface="+mn-ea"/>
                <a:sym typeface="+mn-lt"/>
              </a:rPr>
              <a:t>。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它或为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空树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 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 0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）；或为由一个根结点和两棵互不相交的称为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左子树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右子树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的二叉树组成的非空树。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二叉树中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每个结点的度小于等于</a:t>
            </a:r>
            <a:r>
              <a:rPr lang="en-US" altLang="zh-CN" b="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lang="zh-CN" altLang="en-US" b="0" dirty="0">
                <a:latin typeface="+mn-lt"/>
                <a:ea typeface="+mn-ea"/>
                <a:cs typeface="+mn-ea"/>
                <a:sym typeface="+mn-lt"/>
              </a:rPr>
              <a:t>。</a:t>
            </a:r>
            <a:endParaRPr lang="en-US" altLang="zh-CN" b="0" dirty="0">
              <a:latin typeface="+mn-lt"/>
              <a:ea typeface="+mn-ea"/>
              <a:cs typeface="+mn-ea"/>
              <a:sym typeface="+mn-lt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二叉树中每个结点的子树区分左、右子树，即使只有一棵子树时，即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有序树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b="0" dirty="0">
                <a:latin typeface="+mn-lt"/>
                <a:ea typeface="+mn-ea"/>
                <a:cs typeface="+mn-ea"/>
                <a:sym typeface="+mn-lt"/>
              </a:rPr>
              <a:t>二叉树的定义是</a:t>
            </a:r>
            <a:r>
              <a:rPr lang="zh-CN" altLang="en-US" b="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递归</a:t>
            </a:r>
            <a:r>
              <a:rPr lang="zh-CN" altLang="en-US" b="0" dirty="0">
                <a:latin typeface="+mn-lt"/>
                <a:ea typeface="+mn-ea"/>
                <a:cs typeface="+mn-ea"/>
                <a:sym typeface="+mn-lt"/>
              </a:rPr>
              <a:t>的。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603" name="Rectangle 16"/>
          <p:cNvSpPr>
            <a:spLocks noChangeArrowheads="1"/>
          </p:cNvSpPr>
          <p:nvPr/>
        </p:nvSpPr>
        <p:spPr bwMode="auto">
          <a:xfrm>
            <a:off x="827088" y="223838"/>
            <a:ext cx="317500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二叉树的定义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FD516B-B876-4DDC-B487-C4398498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</a:t>
            </a:r>
            <a:r>
              <a:rPr lang="en-US" altLang="zh-CN" dirty="0"/>
              <a:t>5</a:t>
            </a:r>
            <a:r>
              <a:rPr lang="zh-CN" altLang="en-US" dirty="0"/>
              <a:t>种基本形态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1A6C2B8-DC32-4F2A-B48D-8B7CE4F56FCB}"/>
              </a:ext>
            </a:extLst>
          </p:cNvPr>
          <p:cNvGrpSpPr/>
          <p:nvPr/>
        </p:nvGrpSpPr>
        <p:grpSpPr>
          <a:xfrm>
            <a:off x="6485804" y="1634190"/>
            <a:ext cx="2646488" cy="2226856"/>
            <a:chOff x="8057925" y="2317603"/>
            <a:chExt cx="1655438" cy="1392949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4B819F58-30E9-47B7-AEB6-FED46B460849}"/>
                </a:ext>
              </a:extLst>
            </p:cNvPr>
            <p:cNvSpPr/>
            <p:nvPr/>
          </p:nvSpPr>
          <p:spPr>
            <a:xfrm>
              <a:off x="8743461" y="2317603"/>
              <a:ext cx="315951" cy="329684"/>
            </a:xfrm>
            <a:prstGeom prst="ellipse">
              <a:avLst/>
            </a:prstGeom>
            <a:gradFill flip="none" rotWithShape="1">
              <a:gsLst>
                <a:gs pos="0">
                  <a:schemeClr val="tx1"/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3500000" scaled="1"/>
              <a:tileRect/>
            </a:gra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 sz="2400" b="0" dirty="0">
                <a:latin typeface="+mn-ea"/>
              </a:endParaRPr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AC03054F-E096-4710-9601-A5A5914948EE}"/>
                </a:ext>
              </a:extLst>
            </p:cNvPr>
            <p:cNvSpPr/>
            <p:nvPr/>
          </p:nvSpPr>
          <p:spPr>
            <a:xfrm>
              <a:off x="8057925" y="2990552"/>
              <a:ext cx="756000" cy="720000"/>
            </a:xfrm>
            <a:prstGeom prst="triangle">
              <a:avLst/>
            </a:prstGeom>
            <a:solidFill>
              <a:srgbClr val="FFC000"/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 sz="2400" b="0">
                <a:latin typeface="+mn-ea"/>
              </a:endParaRPr>
            </a:p>
          </p:txBody>
        </p:sp>
        <p:sp>
          <p:nvSpPr>
            <p:cNvPr id="6" name="等腰三角形 5">
              <a:extLst>
                <a:ext uri="{FF2B5EF4-FFF2-40B4-BE49-F238E27FC236}">
                  <a16:creationId xmlns:a16="http://schemas.microsoft.com/office/drawing/2014/main" id="{2CA8080A-06F9-456D-AF00-8F0BEA231C96}"/>
                </a:ext>
              </a:extLst>
            </p:cNvPr>
            <p:cNvSpPr/>
            <p:nvPr/>
          </p:nvSpPr>
          <p:spPr>
            <a:xfrm>
              <a:off x="8921363" y="2990552"/>
              <a:ext cx="792000" cy="720000"/>
            </a:xfrm>
            <a:prstGeom prst="triangle">
              <a:avLst/>
            </a:prstGeom>
            <a:solidFill>
              <a:srgbClr val="FFC000"/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 sz="2400" b="0">
                <a:latin typeface="+mn-ea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8D1765B0-F5A5-4558-BC99-870DB9012909}"/>
                </a:ext>
              </a:extLst>
            </p:cNvPr>
            <p:cNvCxnSpPr>
              <a:cxnSpLocks/>
              <a:stCxn id="4" idx="3"/>
              <a:endCxn id="5" idx="0"/>
            </p:cNvCxnSpPr>
            <p:nvPr/>
          </p:nvCxnSpPr>
          <p:spPr>
            <a:xfrm flipH="1">
              <a:off x="8435925" y="2599006"/>
              <a:ext cx="353806" cy="391546"/>
            </a:xfrm>
            <a:prstGeom prst="line">
              <a:avLst/>
            </a:prstGeom>
            <a:gradFill flip="none" rotWithShape="1">
              <a:gsLst>
                <a:gs pos="0">
                  <a:srgbClr val="0000FF"/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3500000" scaled="1"/>
              <a:tileRect/>
            </a:gradFill>
            <a:ln w="28575">
              <a:solidFill>
                <a:schemeClr val="tx2"/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BE4C79F3-6EE5-4FEC-A1FF-7660A43E8853}"/>
                </a:ext>
              </a:extLst>
            </p:cNvPr>
            <p:cNvCxnSpPr>
              <a:cxnSpLocks/>
              <a:stCxn id="4" idx="5"/>
              <a:endCxn id="6" idx="0"/>
            </p:cNvCxnSpPr>
            <p:nvPr/>
          </p:nvCxnSpPr>
          <p:spPr>
            <a:xfrm>
              <a:off x="9013142" y="2599006"/>
              <a:ext cx="304222" cy="391546"/>
            </a:xfrm>
            <a:prstGeom prst="line">
              <a:avLst/>
            </a:prstGeom>
            <a:gradFill flip="none" rotWithShape="1">
              <a:gsLst>
                <a:gs pos="0">
                  <a:srgbClr val="0000FF"/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3500000" scaled="1"/>
              <a:tileRect/>
            </a:gradFill>
            <a:ln w="28575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</p:cxnSp>
      </p:grpSp>
      <p:sp>
        <p:nvSpPr>
          <p:cNvPr id="9" name="TextBox 12">
            <a:extLst>
              <a:ext uri="{FF2B5EF4-FFF2-40B4-BE49-F238E27FC236}">
                <a16:creationId xmlns:a16="http://schemas.microsoft.com/office/drawing/2014/main" id="{99AB5182-05B6-4054-9116-0D92CA7369F2}"/>
              </a:ext>
            </a:extLst>
          </p:cNvPr>
          <p:cNvSpPr txBox="1"/>
          <p:nvPr/>
        </p:nvSpPr>
        <p:spPr>
          <a:xfrm>
            <a:off x="220374" y="2647147"/>
            <a:ext cx="571504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dirty="0">
                <a:latin typeface="+mn-ea"/>
                <a:ea typeface="+mn-ea"/>
                <a:cs typeface="Consolas" panose="020B0609020204030204" pitchFamily="49" charset="0"/>
              </a:rPr>
              <a:t>Ø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21886C10-A515-4710-838F-C0DB68D36785}"/>
              </a:ext>
            </a:extLst>
          </p:cNvPr>
          <p:cNvSpPr txBox="1"/>
          <p:nvPr/>
        </p:nvSpPr>
        <p:spPr>
          <a:xfrm>
            <a:off x="95014" y="4431453"/>
            <a:ext cx="876586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0" dirty="0">
                <a:solidFill>
                  <a:srgbClr val="0000FF"/>
                </a:solidFill>
                <a:latin typeface="+mn-ea"/>
                <a:ea typeface="+mn-ea"/>
                <a:cs typeface="Consolas" panose="020B0609020204030204" pitchFamily="49" charset="0"/>
              </a:rPr>
              <a:t>空树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E854331-5F80-4938-ACEE-C2713F75A2E9}"/>
              </a:ext>
            </a:extLst>
          </p:cNvPr>
          <p:cNvSpPr/>
          <p:nvPr/>
        </p:nvSpPr>
        <p:spPr>
          <a:xfrm>
            <a:off x="1619672" y="2762510"/>
            <a:ext cx="432048" cy="422076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80000">
                <a:schemeClr val="accent3">
                  <a:shade val="93000"/>
                  <a:satMod val="130000"/>
                </a:schemeClr>
              </a:gs>
              <a:gs pos="100000">
                <a:schemeClr val="accent3">
                  <a:shade val="94000"/>
                  <a:satMod val="135000"/>
                </a:schemeClr>
              </a:gs>
            </a:gsLst>
            <a:lin ang="13500000" scaled="1"/>
            <a:tileRect/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2400" b="0">
              <a:latin typeface="+mn-ea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4DD8423-E5F5-44FE-A65A-AA0EF441EE14}"/>
              </a:ext>
            </a:extLst>
          </p:cNvPr>
          <p:cNvGrpSpPr/>
          <p:nvPr/>
        </p:nvGrpSpPr>
        <p:grpSpPr>
          <a:xfrm>
            <a:off x="2900356" y="1634192"/>
            <a:ext cx="1521771" cy="2226856"/>
            <a:chOff x="4712703" y="2376258"/>
            <a:chExt cx="951902" cy="1392948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50BBB14A-D5F6-4290-99E7-B48C6C9AEF34}"/>
                </a:ext>
              </a:extLst>
            </p:cNvPr>
            <p:cNvSpPr/>
            <p:nvPr/>
          </p:nvSpPr>
          <p:spPr>
            <a:xfrm>
              <a:off x="5353888" y="2376258"/>
              <a:ext cx="310717" cy="329682"/>
            </a:xfrm>
            <a:prstGeom prst="ellipse">
              <a:avLst/>
            </a:prstGeom>
            <a:gradFill flip="none" rotWithShape="1">
              <a:gsLst>
                <a:gs pos="0">
                  <a:schemeClr val="tx1"/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3500000" scaled="1"/>
              <a:tileRect/>
            </a:gra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 sz="2400" b="0">
                <a:latin typeface="+mn-ea"/>
              </a:endParaRPr>
            </a:p>
          </p:txBody>
        </p:sp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B5EE4A2A-8E28-4CDC-B494-D15B7644A631}"/>
                </a:ext>
              </a:extLst>
            </p:cNvPr>
            <p:cNvSpPr/>
            <p:nvPr/>
          </p:nvSpPr>
          <p:spPr>
            <a:xfrm>
              <a:off x="4712703" y="3049206"/>
              <a:ext cx="756000" cy="720000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 sz="2400" b="0">
                <a:latin typeface="+mn-ea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1FA1F3C2-8FF8-41B4-99F5-C336C4BE1A01}"/>
                </a:ext>
              </a:extLst>
            </p:cNvPr>
            <p:cNvCxnSpPr>
              <a:cxnSpLocks/>
              <a:stCxn id="13" idx="3"/>
              <a:endCxn id="14" idx="0"/>
            </p:cNvCxnSpPr>
            <p:nvPr/>
          </p:nvCxnSpPr>
          <p:spPr>
            <a:xfrm flipH="1">
              <a:off x="5090703" y="2657659"/>
              <a:ext cx="308688" cy="3915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957F42C-5909-4BF3-9A3D-C274ABA25D8A}"/>
              </a:ext>
            </a:extLst>
          </p:cNvPr>
          <p:cNvGrpSpPr/>
          <p:nvPr/>
        </p:nvGrpSpPr>
        <p:grpSpPr>
          <a:xfrm>
            <a:off x="4733841" y="1634192"/>
            <a:ext cx="1550548" cy="2226855"/>
            <a:chOff x="6543002" y="2376257"/>
            <a:chExt cx="969903" cy="1392949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F93F779-003B-45B9-AD54-450B291802A3}"/>
                </a:ext>
              </a:extLst>
            </p:cNvPr>
            <p:cNvSpPr/>
            <p:nvPr/>
          </p:nvSpPr>
          <p:spPr>
            <a:xfrm>
              <a:off x="6543002" y="2376257"/>
              <a:ext cx="315951" cy="329684"/>
            </a:xfrm>
            <a:prstGeom prst="ellipse">
              <a:avLst/>
            </a:prstGeom>
            <a:gradFill flip="none" rotWithShape="1">
              <a:gsLst>
                <a:gs pos="0">
                  <a:schemeClr val="tx1"/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3500000" scaled="1"/>
              <a:tileRect/>
            </a:gra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 sz="2400" b="0">
                <a:latin typeface="+mn-ea"/>
              </a:endParaRPr>
            </a:p>
          </p:txBody>
        </p:sp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CC56FFC5-ACBE-41EB-8BFB-94A6249D540C}"/>
                </a:ext>
              </a:extLst>
            </p:cNvPr>
            <p:cNvSpPr/>
            <p:nvPr/>
          </p:nvSpPr>
          <p:spPr>
            <a:xfrm>
              <a:off x="6720905" y="3049206"/>
              <a:ext cx="792000" cy="720000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 sz="2400" b="0">
                <a:latin typeface="+mn-ea"/>
              </a:endParaRP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003D0C12-6277-4E81-B578-D128CA966EA2}"/>
                </a:ext>
              </a:extLst>
            </p:cNvPr>
            <p:cNvCxnSpPr>
              <a:cxnSpLocks/>
              <a:stCxn id="17" idx="5"/>
              <a:endCxn id="18" idx="0"/>
            </p:cNvCxnSpPr>
            <p:nvPr/>
          </p:nvCxnSpPr>
          <p:spPr>
            <a:xfrm>
              <a:off x="6812683" y="2657660"/>
              <a:ext cx="304222" cy="3915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0" name="TextBox 21">
            <a:extLst>
              <a:ext uri="{FF2B5EF4-FFF2-40B4-BE49-F238E27FC236}">
                <a16:creationId xmlns:a16="http://schemas.microsoft.com/office/drawing/2014/main" id="{BEBAB374-F1EE-4799-8695-7496F4BE811F}"/>
              </a:ext>
            </a:extLst>
          </p:cNvPr>
          <p:cNvSpPr txBox="1"/>
          <p:nvPr/>
        </p:nvSpPr>
        <p:spPr>
          <a:xfrm>
            <a:off x="1128034" y="4431453"/>
            <a:ext cx="1428759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b="1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400" b="0" dirty="0">
                <a:solidFill>
                  <a:srgbClr val="0000FF"/>
                </a:solidFill>
                <a:latin typeface="+mn-ea"/>
                <a:ea typeface="+mn-ea"/>
              </a:rPr>
              <a:t>单根树，左右子树均为空树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8B386834-E2B8-4BD6-B9C5-27E39561DE59}"/>
              </a:ext>
            </a:extLst>
          </p:cNvPr>
          <p:cNvSpPr txBox="1"/>
          <p:nvPr/>
        </p:nvSpPr>
        <p:spPr>
          <a:xfrm>
            <a:off x="2713227" y="4431453"/>
            <a:ext cx="1736866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b="1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400" b="0" dirty="0">
                <a:solidFill>
                  <a:srgbClr val="0000FF"/>
                </a:solidFill>
                <a:latin typeface="+mn-ea"/>
                <a:ea typeface="+mn-ea"/>
              </a:rPr>
              <a:t>右子树为空的二叉树</a:t>
            </a:r>
          </a:p>
        </p:txBody>
      </p:sp>
      <p:sp>
        <p:nvSpPr>
          <p:cNvPr id="22" name="TextBox 23">
            <a:extLst>
              <a:ext uri="{FF2B5EF4-FFF2-40B4-BE49-F238E27FC236}">
                <a16:creationId xmlns:a16="http://schemas.microsoft.com/office/drawing/2014/main" id="{549E70C1-6C88-428E-8518-425E0F746226}"/>
              </a:ext>
            </a:extLst>
          </p:cNvPr>
          <p:cNvSpPr txBox="1"/>
          <p:nvPr/>
        </p:nvSpPr>
        <p:spPr>
          <a:xfrm>
            <a:off x="4787112" y="4431453"/>
            <a:ext cx="1736867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b="1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400" b="0" dirty="0">
                <a:solidFill>
                  <a:srgbClr val="0000FF"/>
                </a:solidFill>
                <a:latin typeface="+mn-ea"/>
                <a:ea typeface="+mn-ea"/>
              </a:rPr>
              <a:t>左子树为空的二叉树</a:t>
            </a: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6548ABDC-C75A-4D6A-AA42-1BC50EB85FAA}"/>
              </a:ext>
            </a:extLst>
          </p:cNvPr>
          <p:cNvSpPr txBox="1"/>
          <p:nvPr/>
        </p:nvSpPr>
        <p:spPr>
          <a:xfrm>
            <a:off x="6997717" y="4431453"/>
            <a:ext cx="1736867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b="1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400" b="0" dirty="0">
                <a:solidFill>
                  <a:srgbClr val="0000FF"/>
                </a:solidFill>
                <a:latin typeface="+mn-ea"/>
                <a:ea typeface="+mn-ea"/>
              </a:rPr>
              <a:t>左右子树非空的二叉树</a:t>
            </a:r>
          </a:p>
        </p:txBody>
      </p:sp>
    </p:spTree>
    <p:extLst>
      <p:ext uri="{BB962C8B-B14F-4D97-AF65-F5344CB8AC3E}">
        <p14:creationId xmlns:p14="http://schemas.microsoft.com/office/powerpoint/2010/main" val="232168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20" grpId="0"/>
      <p:bldP spid="21" grpId="0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1" name="Rectangle 11"/>
          <p:cNvSpPr>
            <a:spLocks noChangeArrowheads="1"/>
          </p:cNvSpPr>
          <p:nvPr/>
        </p:nvSpPr>
        <p:spPr bwMode="auto">
          <a:xfrm>
            <a:off x="119063" y="1111250"/>
            <a:ext cx="9024937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具有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个结点的二叉树可能有几种不同形态？普通树呢？</a:t>
            </a:r>
          </a:p>
        </p:txBody>
      </p:sp>
      <p:grpSp>
        <p:nvGrpSpPr>
          <p:cNvPr id="2" name="Group 44"/>
          <p:cNvGrpSpPr/>
          <p:nvPr/>
        </p:nvGrpSpPr>
        <p:grpSpPr>
          <a:xfrm>
            <a:off x="72009" y="2835656"/>
            <a:ext cx="9036495" cy="1897623"/>
            <a:chOff x="432" y="1436"/>
            <a:chExt cx="4224" cy="816"/>
          </a:xfrm>
          <a:solidFill>
            <a:srgbClr val="0000FF"/>
          </a:solidFill>
        </p:grpSpPr>
        <p:grpSp>
          <p:nvGrpSpPr>
            <p:cNvPr id="25607" name="Group 12"/>
            <p:cNvGrpSpPr/>
            <p:nvPr/>
          </p:nvGrpSpPr>
          <p:grpSpPr>
            <a:xfrm>
              <a:off x="432" y="1436"/>
              <a:ext cx="864" cy="528"/>
              <a:chOff x="2736" y="2526"/>
              <a:chExt cx="960" cy="536"/>
            </a:xfrm>
            <a:grpFill/>
          </p:grpSpPr>
          <p:sp>
            <p:nvSpPr>
              <p:cNvPr id="28677" name="Oval 13"/>
              <p:cNvSpPr>
                <a:spLocks noChangeArrowheads="1"/>
              </p:cNvSpPr>
              <p:nvPr/>
            </p:nvSpPr>
            <p:spPr bwMode="auto">
              <a:xfrm>
                <a:off x="3096" y="2526"/>
                <a:ext cx="190" cy="182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678" name="Line 14"/>
              <p:cNvSpPr>
                <a:spLocks noChangeShapeType="1"/>
              </p:cNvSpPr>
              <p:nvPr/>
            </p:nvSpPr>
            <p:spPr bwMode="auto">
              <a:xfrm flipH="1">
                <a:off x="2837" y="2682"/>
                <a:ext cx="292" cy="219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" name="Line 15"/>
              <p:cNvSpPr>
                <a:spLocks noChangeShapeType="1"/>
              </p:cNvSpPr>
              <p:nvPr/>
            </p:nvSpPr>
            <p:spPr bwMode="auto">
              <a:xfrm>
                <a:off x="3267" y="2682"/>
                <a:ext cx="309" cy="20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" name="Oval 17"/>
              <p:cNvSpPr>
                <a:spLocks noChangeArrowheads="1"/>
              </p:cNvSpPr>
              <p:nvPr/>
            </p:nvSpPr>
            <p:spPr bwMode="auto">
              <a:xfrm>
                <a:off x="3506" y="2880"/>
                <a:ext cx="190" cy="182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" name="Oval 18"/>
              <p:cNvSpPr>
                <a:spLocks noChangeArrowheads="1"/>
              </p:cNvSpPr>
              <p:nvPr/>
            </p:nvSpPr>
            <p:spPr bwMode="auto">
              <a:xfrm>
                <a:off x="2736" y="2880"/>
                <a:ext cx="190" cy="182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25608" name="Group 19"/>
            <p:cNvGrpSpPr/>
            <p:nvPr/>
          </p:nvGrpSpPr>
          <p:grpSpPr>
            <a:xfrm>
              <a:off x="1537" y="1436"/>
              <a:ext cx="623" cy="720"/>
              <a:chOff x="1296" y="3360"/>
              <a:chExt cx="623" cy="720"/>
            </a:xfrm>
            <a:grpFill/>
          </p:grpSpPr>
          <p:sp>
            <p:nvSpPr>
              <p:cNvPr id="28684" name="Oval 20"/>
              <p:cNvSpPr>
                <a:spLocks noChangeArrowheads="1"/>
              </p:cNvSpPr>
              <p:nvPr/>
            </p:nvSpPr>
            <p:spPr bwMode="auto">
              <a:xfrm>
                <a:off x="1776" y="3360"/>
                <a:ext cx="143" cy="150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685" name="Line 21"/>
              <p:cNvSpPr>
                <a:spLocks noChangeShapeType="1"/>
              </p:cNvSpPr>
              <p:nvPr/>
            </p:nvSpPr>
            <p:spPr bwMode="auto">
              <a:xfrm flipH="1">
                <a:off x="1632" y="3456"/>
                <a:ext cx="144" cy="192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686" name="Oval 22"/>
              <p:cNvSpPr>
                <a:spLocks noChangeArrowheads="1"/>
              </p:cNvSpPr>
              <p:nvPr/>
            </p:nvSpPr>
            <p:spPr bwMode="auto">
              <a:xfrm>
                <a:off x="1536" y="3648"/>
                <a:ext cx="144" cy="14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687" name="Oval 23"/>
              <p:cNvSpPr>
                <a:spLocks noChangeArrowheads="1"/>
              </p:cNvSpPr>
              <p:nvPr/>
            </p:nvSpPr>
            <p:spPr bwMode="auto">
              <a:xfrm>
                <a:off x="1296" y="3936"/>
                <a:ext cx="142" cy="144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688" name="Line 24"/>
              <p:cNvSpPr>
                <a:spLocks noChangeShapeType="1"/>
              </p:cNvSpPr>
              <p:nvPr/>
            </p:nvSpPr>
            <p:spPr bwMode="auto">
              <a:xfrm flipH="1">
                <a:off x="1392" y="3744"/>
                <a:ext cx="144" cy="192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25609" name="Group 25"/>
            <p:cNvGrpSpPr/>
            <p:nvPr/>
          </p:nvGrpSpPr>
          <p:grpSpPr>
            <a:xfrm>
              <a:off x="3266" y="1436"/>
              <a:ext cx="622" cy="816"/>
              <a:chOff x="2352" y="3360"/>
              <a:chExt cx="622" cy="816"/>
            </a:xfrm>
            <a:grpFill/>
          </p:grpSpPr>
          <p:sp>
            <p:nvSpPr>
              <p:cNvPr id="28690" name="Oval 26"/>
              <p:cNvSpPr>
                <a:spLocks noChangeArrowheads="1"/>
              </p:cNvSpPr>
              <p:nvPr/>
            </p:nvSpPr>
            <p:spPr bwMode="auto">
              <a:xfrm>
                <a:off x="2832" y="4032"/>
                <a:ext cx="142" cy="144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691" name="Oval 27"/>
              <p:cNvSpPr>
                <a:spLocks noChangeArrowheads="1"/>
              </p:cNvSpPr>
              <p:nvPr/>
            </p:nvSpPr>
            <p:spPr bwMode="auto">
              <a:xfrm>
                <a:off x="2592" y="3696"/>
                <a:ext cx="145" cy="143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692" name="Oval 28"/>
              <p:cNvSpPr>
                <a:spLocks noChangeArrowheads="1"/>
              </p:cNvSpPr>
              <p:nvPr/>
            </p:nvSpPr>
            <p:spPr bwMode="auto">
              <a:xfrm>
                <a:off x="2352" y="3360"/>
                <a:ext cx="142" cy="144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693" name="Line 29"/>
              <p:cNvSpPr>
                <a:spLocks noChangeShapeType="1"/>
              </p:cNvSpPr>
              <p:nvPr/>
            </p:nvSpPr>
            <p:spPr bwMode="auto">
              <a:xfrm>
                <a:off x="2495" y="3504"/>
                <a:ext cx="145" cy="192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694" name="Line 30"/>
              <p:cNvSpPr>
                <a:spLocks noChangeShapeType="1"/>
              </p:cNvSpPr>
              <p:nvPr/>
            </p:nvSpPr>
            <p:spPr bwMode="auto">
              <a:xfrm>
                <a:off x="2736" y="3840"/>
                <a:ext cx="144" cy="192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25610" name="Group 31"/>
            <p:cNvGrpSpPr/>
            <p:nvPr/>
          </p:nvGrpSpPr>
          <p:grpSpPr>
            <a:xfrm>
              <a:off x="4272" y="1436"/>
              <a:ext cx="384" cy="768"/>
              <a:chOff x="3744" y="3264"/>
              <a:chExt cx="384" cy="768"/>
            </a:xfrm>
            <a:grpFill/>
          </p:grpSpPr>
          <p:sp>
            <p:nvSpPr>
              <p:cNvPr id="28696" name="Line 32"/>
              <p:cNvSpPr>
                <a:spLocks noChangeShapeType="1"/>
              </p:cNvSpPr>
              <p:nvPr/>
            </p:nvSpPr>
            <p:spPr bwMode="auto">
              <a:xfrm flipH="1">
                <a:off x="3840" y="3744"/>
                <a:ext cx="145" cy="192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697" name="Oval 33"/>
              <p:cNvSpPr>
                <a:spLocks noChangeArrowheads="1"/>
              </p:cNvSpPr>
              <p:nvPr/>
            </p:nvSpPr>
            <p:spPr bwMode="auto">
              <a:xfrm>
                <a:off x="3744" y="3888"/>
                <a:ext cx="142" cy="144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698" name="Oval 34"/>
              <p:cNvSpPr>
                <a:spLocks noChangeArrowheads="1"/>
              </p:cNvSpPr>
              <p:nvPr/>
            </p:nvSpPr>
            <p:spPr bwMode="auto">
              <a:xfrm>
                <a:off x="3986" y="3600"/>
                <a:ext cx="142" cy="143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699" name="Oval 35"/>
              <p:cNvSpPr>
                <a:spLocks noChangeArrowheads="1"/>
              </p:cNvSpPr>
              <p:nvPr/>
            </p:nvSpPr>
            <p:spPr bwMode="auto">
              <a:xfrm>
                <a:off x="3745" y="3264"/>
                <a:ext cx="145" cy="144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00" name="Line 36"/>
              <p:cNvSpPr>
                <a:spLocks noChangeShapeType="1"/>
              </p:cNvSpPr>
              <p:nvPr/>
            </p:nvSpPr>
            <p:spPr bwMode="auto">
              <a:xfrm>
                <a:off x="3890" y="3408"/>
                <a:ext cx="144" cy="192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25611" name="Group 37"/>
            <p:cNvGrpSpPr/>
            <p:nvPr/>
          </p:nvGrpSpPr>
          <p:grpSpPr>
            <a:xfrm>
              <a:off x="2545" y="1484"/>
              <a:ext cx="383" cy="720"/>
              <a:chOff x="2353" y="3264"/>
              <a:chExt cx="383" cy="720"/>
            </a:xfrm>
            <a:grpFill/>
          </p:grpSpPr>
          <p:sp>
            <p:nvSpPr>
              <p:cNvPr id="28702" name="Line 38"/>
              <p:cNvSpPr>
                <a:spLocks noChangeShapeType="1"/>
              </p:cNvSpPr>
              <p:nvPr/>
            </p:nvSpPr>
            <p:spPr bwMode="auto">
              <a:xfrm>
                <a:off x="2496" y="3696"/>
                <a:ext cx="145" cy="192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03" name="Oval 39"/>
              <p:cNvSpPr>
                <a:spLocks noChangeArrowheads="1"/>
              </p:cNvSpPr>
              <p:nvPr/>
            </p:nvSpPr>
            <p:spPr bwMode="auto">
              <a:xfrm>
                <a:off x="2593" y="3264"/>
                <a:ext cx="143" cy="150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04" name="Line 40"/>
              <p:cNvSpPr>
                <a:spLocks noChangeShapeType="1"/>
              </p:cNvSpPr>
              <p:nvPr/>
            </p:nvSpPr>
            <p:spPr bwMode="auto">
              <a:xfrm flipH="1">
                <a:off x="2449" y="3360"/>
                <a:ext cx="145" cy="192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05" name="Oval 41"/>
              <p:cNvSpPr>
                <a:spLocks noChangeArrowheads="1"/>
              </p:cNvSpPr>
              <p:nvPr/>
            </p:nvSpPr>
            <p:spPr bwMode="auto">
              <a:xfrm>
                <a:off x="2353" y="3552"/>
                <a:ext cx="145" cy="14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06" name="Oval 42"/>
              <p:cNvSpPr>
                <a:spLocks noChangeArrowheads="1"/>
              </p:cNvSpPr>
              <p:nvPr/>
            </p:nvSpPr>
            <p:spPr bwMode="auto">
              <a:xfrm>
                <a:off x="2592" y="3840"/>
                <a:ext cx="145" cy="144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sp>
        <p:nvSpPr>
          <p:cNvPr id="28707" name="Rectangle 43"/>
          <p:cNvSpPr>
            <a:spLocks noChangeArrowheads="1"/>
          </p:cNvSpPr>
          <p:nvPr/>
        </p:nvSpPr>
        <p:spPr bwMode="auto">
          <a:xfrm>
            <a:off x="785813" y="139700"/>
            <a:ext cx="23399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课堂讨论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6"/>
          <p:cNvSpPr>
            <a:spLocks noChangeArrowheads="1"/>
          </p:cNvSpPr>
          <p:nvPr/>
        </p:nvSpPr>
        <p:spPr bwMode="auto">
          <a:xfrm>
            <a:off x="827088" y="223838"/>
            <a:ext cx="5041056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为什么要重点研究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二叉树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FF33BE-7E12-47AA-9C98-CE9AA1936AF3}"/>
              </a:ext>
            </a:extLst>
          </p:cNvPr>
          <p:cNvSpPr txBox="1"/>
          <p:nvPr/>
        </p:nvSpPr>
        <p:spPr>
          <a:xfrm>
            <a:off x="323527" y="779500"/>
            <a:ext cx="8496945" cy="3894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latin typeface="+mn-ea"/>
                <a:ea typeface="+mn-ea"/>
              </a:rPr>
              <a:t>二叉树是应用最广泛的树形结构</a:t>
            </a:r>
            <a:endParaRPr lang="en-US" altLang="zh-CN" b="0" dirty="0">
              <a:latin typeface="+mn-ea"/>
              <a:ea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二叉树的结构最简单，规律性最强，</a:t>
            </a:r>
            <a:r>
              <a:rPr lang="zh-CN" altLang="en-US" b="0" dirty="0">
                <a:latin typeface="+mn-ea"/>
                <a:ea typeface="+mn-ea"/>
              </a:rPr>
              <a:t>对二叉树的许多操作算法简单</a:t>
            </a:r>
            <a:endParaRPr lang="en-US" altLang="zh-CN" b="0" dirty="0">
              <a:latin typeface="+mn-ea"/>
              <a:ea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可以证明，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所有树都能转换为唯一对应的二叉树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latin typeface="+mn-ea"/>
                <a:ea typeface="+mn-ea"/>
              </a:rPr>
              <a:t>普通树（多叉树）若不转化为二叉树，则运算很难实现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D335AC-3D3D-4A6A-8F83-B4F33E6A6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特殊形态的二叉树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514958-5CCC-4276-979E-34FA0A2CD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3200" dirty="0"/>
              <a:t>形态结构特殊，应用广泛的二叉树：</a:t>
            </a:r>
            <a:endParaRPr lang="en-US" altLang="zh-CN" sz="3200" dirty="0"/>
          </a:p>
          <a:p>
            <a:r>
              <a:rPr lang="zh-CN" altLang="en-US" sz="3200" dirty="0">
                <a:solidFill>
                  <a:srgbClr val="0000FF"/>
                </a:solidFill>
              </a:rPr>
              <a:t>满二叉树</a:t>
            </a:r>
            <a:r>
              <a:rPr lang="zh-CN" altLang="en-US" sz="3200" dirty="0"/>
              <a:t>（</a:t>
            </a:r>
            <a:r>
              <a:rPr lang="en-US" altLang="zh-CN" sz="3200" dirty="0"/>
              <a:t>full binary tree</a:t>
            </a:r>
            <a:r>
              <a:rPr lang="zh-CN" altLang="en-US" sz="3200" dirty="0"/>
              <a:t>）</a:t>
            </a:r>
            <a:endParaRPr lang="en-US" altLang="zh-CN" sz="3200" dirty="0"/>
          </a:p>
          <a:p>
            <a:pPr lvl="1"/>
            <a:r>
              <a:rPr lang="zh-CN" altLang="en-US" sz="2800" dirty="0"/>
              <a:t>例如：哈夫曼树，表达式树</a:t>
            </a:r>
            <a:endParaRPr lang="en-US" altLang="zh-CN" sz="2800" dirty="0"/>
          </a:p>
          <a:p>
            <a:r>
              <a:rPr lang="zh-CN" altLang="en-US" sz="3200" dirty="0">
                <a:solidFill>
                  <a:srgbClr val="0000FF"/>
                </a:solidFill>
              </a:rPr>
              <a:t>完美二叉树</a:t>
            </a:r>
            <a:r>
              <a:rPr lang="zh-CN" altLang="en-US" sz="3200" dirty="0"/>
              <a:t>（</a:t>
            </a:r>
            <a:r>
              <a:rPr lang="en-US" altLang="zh-CN" sz="3200" dirty="0"/>
              <a:t>perfect binary tree</a:t>
            </a:r>
            <a:r>
              <a:rPr lang="zh-CN" altLang="en-US" sz="3200" dirty="0"/>
              <a:t>）</a:t>
            </a:r>
            <a:endParaRPr lang="en-US" altLang="zh-CN" sz="3200" dirty="0"/>
          </a:p>
          <a:p>
            <a:r>
              <a:rPr lang="zh-CN" altLang="en-US" sz="3200" dirty="0">
                <a:solidFill>
                  <a:srgbClr val="0000FF"/>
                </a:solidFill>
              </a:rPr>
              <a:t>完全二叉树</a:t>
            </a:r>
            <a:r>
              <a:rPr lang="zh-CN" altLang="en-US" sz="3200" dirty="0"/>
              <a:t>（</a:t>
            </a:r>
            <a:r>
              <a:rPr lang="en-US" altLang="zh-CN" sz="3200" dirty="0"/>
              <a:t>complete binary tree</a:t>
            </a:r>
            <a:r>
              <a:rPr lang="zh-CN" altLang="en-US" sz="3200" dirty="0"/>
              <a:t>）</a:t>
            </a:r>
            <a:endParaRPr lang="en-US" altLang="zh-CN" sz="3200" dirty="0"/>
          </a:p>
          <a:p>
            <a:pPr lvl="1"/>
            <a:r>
              <a:rPr lang="zh-CN" altLang="en-US" sz="2800" dirty="0"/>
              <a:t>例如：堆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EE4920-EE17-437F-A66F-4821AD9D1B02}"/>
              </a:ext>
            </a:extLst>
          </p:cNvPr>
          <p:cNvSpPr txBox="1"/>
          <p:nvPr/>
        </p:nvSpPr>
        <p:spPr>
          <a:xfrm>
            <a:off x="2843808" y="5961701"/>
            <a:ext cx="6203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0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https://en.wikipedia.org/wiki/Binary_tree</a:t>
            </a:r>
            <a:r>
              <a:rPr lang="en-US" altLang="zh-CN" b="0" dirty="0">
                <a:solidFill>
                  <a:schemeClr val="accent2"/>
                </a:solidFill>
              </a:rPr>
              <a:t> </a:t>
            </a:r>
            <a:endParaRPr lang="zh-CN" altLang="en-US" b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40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999B62-24B2-4F0E-89F4-7647567AD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满二叉树（</a:t>
            </a:r>
            <a:r>
              <a:rPr lang="en-US" altLang="zh-CN" dirty="0"/>
              <a:t>full binary tree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82006A-67AC-4AB3-AE21-5C41061F9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5"/>
            <a:ext cx="8642659" cy="131634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b="1" dirty="0"/>
              <a:t>满二叉树：</a:t>
            </a:r>
            <a:r>
              <a:rPr lang="zh-CN" altLang="en-US" sz="2800" dirty="0"/>
              <a:t>由</a:t>
            </a:r>
            <a:r>
              <a:rPr lang="zh-CN" altLang="en-US" sz="2800" dirty="0">
                <a:solidFill>
                  <a:srgbClr val="0000FF"/>
                </a:solidFill>
              </a:rPr>
              <a:t>度为</a:t>
            </a:r>
            <a:r>
              <a:rPr lang="en-US" altLang="zh-CN" sz="2800" dirty="0">
                <a:solidFill>
                  <a:srgbClr val="0000FF"/>
                </a:solidFill>
              </a:rPr>
              <a:t>0</a:t>
            </a:r>
            <a:r>
              <a:rPr lang="zh-CN" altLang="en-US" sz="2800" dirty="0"/>
              <a:t>的叶结点和</a:t>
            </a:r>
            <a:r>
              <a:rPr lang="zh-CN" altLang="en-US" sz="2800" dirty="0">
                <a:solidFill>
                  <a:srgbClr val="0000FF"/>
                </a:solidFill>
              </a:rPr>
              <a:t>度为</a:t>
            </a:r>
            <a:r>
              <a:rPr lang="en-US" altLang="zh-CN" sz="2800" dirty="0">
                <a:solidFill>
                  <a:srgbClr val="0000FF"/>
                </a:solidFill>
              </a:rPr>
              <a:t>2</a:t>
            </a:r>
            <a:r>
              <a:rPr lang="zh-CN" altLang="en-US" sz="2800" dirty="0"/>
              <a:t>的中间结点构成的二叉树，树中</a:t>
            </a:r>
            <a:r>
              <a:rPr lang="zh-CN" altLang="en-US" sz="2800" dirty="0">
                <a:solidFill>
                  <a:srgbClr val="0000FF"/>
                </a:solidFill>
              </a:rPr>
              <a:t>没有度为</a:t>
            </a:r>
            <a:r>
              <a:rPr lang="en-US" altLang="zh-CN" sz="2800" dirty="0">
                <a:solidFill>
                  <a:srgbClr val="0000FF"/>
                </a:solidFill>
              </a:rPr>
              <a:t>1</a:t>
            </a:r>
            <a:r>
              <a:rPr lang="zh-CN" altLang="en-US" sz="2800" dirty="0">
                <a:solidFill>
                  <a:srgbClr val="0000FF"/>
                </a:solidFill>
              </a:rPr>
              <a:t>的结点</a:t>
            </a:r>
            <a:r>
              <a:rPr lang="zh-CN" altLang="en-US" dirty="0"/>
              <a:t>。</a:t>
            </a:r>
            <a:endParaRPr lang="en-US" altLang="zh-CN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6CE5830-70DA-4811-878F-200C131B4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8" y="2391576"/>
            <a:ext cx="8954643" cy="2909632"/>
          </a:xfrm>
          <a:prstGeom prst="rect">
            <a:avLst/>
          </a:prstGeom>
        </p:spPr>
      </p:pic>
      <p:sp>
        <p:nvSpPr>
          <p:cNvPr id="5" name="任意多边形: 形状 19">
            <a:extLst>
              <a:ext uri="{FF2B5EF4-FFF2-40B4-BE49-F238E27FC236}">
                <a16:creationId xmlns:a16="http://schemas.microsoft.com/office/drawing/2014/main" id="{FCA91279-3191-4562-BAA7-9073F89324F7}"/>
              </a:ext>
            </a:extLst>
          </p:cNvPr>
          <p:cNvSpPr/>
          <p:nvPr/>
        </p:nvSpPr>
        <p:spPr>
          <a:xfrm>
            <a:off x="1187624" y="5503151"/>
            <a:ext cx="1552848" cy="610344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满二叉树</a:t>
            </a:r>
          </a:p>
        </p:txBody>
      </p:sp>
      <p:sp>
        <p:nvSpPr>
          <p:cNvPr id="6" name="任意多边形: 形状 19">
            <a:extLst>
              <a:ext uri="{FF2B5EF4-FFF2-40B4-BE49-F238E27FC236}">
                <a16:creationId xmlns:a16="http://schemas.microsoft.com/office/drawing/2014/main" id="{165E26A8-CB8D-4457-9C07-78561C19A069}"/>
              </a:ext>
            </a:extLst>
          </p:cNvPr>
          <p:cNvSpPr/>
          <p:nvPr/>
        </p:nvSpPr>
        <p:spPr>
          <a:xfrm>
            <a:off x="6043490" y="5503151"/>
            <a:ext cx="1976489" cy="610344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非满二叉树</a:t>
            </a:r>
          </a:p>
        </p:txBody>
      </p:sp>
    </p:spTree>
    <p:extLst>
      <p:ext uri="{BB962C8B-B14F-4D97-AF65-F5344CB8AC3E}">
        <p14:creationId xmlns:p14="http://schemas.microsoft.com/office/powerpoint/2010/main" val="1806205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2FFDD5-C50A-4529-87D5-A1A4036FD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完美二叉树（</a:t>
            </a:r>
            <a:r>
              <a:rPr lang="en-US" altLang="zh-CN" dirty="0"/>
              <a:t>perfect binary tree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207AA-0219-4C6D-BB0B-6C8DD98AE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5"/>
            <a:ext cx="8642659" cy="138835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b="1" dirty="0"/>
              <a:t>完美二叉树：</a:t>
            </a:r>
            <a:r>
              <a:rPr lang="zh-CN" altLang="en-US" sz="2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所有中间结点的度为</a:t>
            </a:r>
            <a:r>
              <a:rPr lang="en-US" altLang="zh-CN" sz="2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，且所有叶节点的层次（深度）相同。</a:t>
            </a:r>
            <a:r>
              <a:rPr lang="zh-CN" altLang="zh-CN" sz="3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en-US" altLang="zh-CN" sz="2800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2D26F6-C405-4ABA-AB8A-9EA287BEA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19" y="2132856"/>
            <a:ext cx="6313162" cy="3384376"/>
          </a:xfrm>
          <a:prstGeom prst="rect">
            <a:avLst/>
          </a:prstGeom>
        </p:spPr>
      </p:pic>
      <p:sp>
        <p:nvSpPr>
          <p:cNvPr id="5" name="任意多边形: 形状 19">
            <a:extLst>
              <a:ext uri="{FF2B5EF4-FFF2-40B4-BE49-F238E27FC236}">
                <a16:creationId xmlns:a16="http://schemas.microsoft.com/office/drawing/2014/main" id="{2175E9B0-6235-40AD-8BB5-F13E06ADD3E5}"/>
              </a:ext>
            </a:extLst>
          </p:cNvPr>
          <p:cNvSpPr/>
          <p:nvPr/>
        </p:nvSpPr>
        <p:spPr>
          <a:xfrm>
            <a:off x="1625874" y="5661248"/>
            <a:ext cx="5890553" cy="610344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完美二叉树中的所有子树都是完美二叉树</a:t>
            </a:r>
          </a:p>
        </p:txBody>
      </p:sp>
    </p:spTree>
    <p:extLst>
      <p:ext uri="{BB962C8B-B14F-4D97-AF65-F5344CB8AC3E}">
        <p14:creationId xmlns:p14="http://schemas.microsoft.com/office/powerpoint/2010/main" val="3064908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2B283-F264-4F9A-B47A-CAF2E34B6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完全二叉树（</a:t>
            </a:r>
            <a:r>
              <a:rPr lang="en-US" altLang="zh-CN" dirty="0"/>
              <a:t>complete binary tree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536599-B830-43FF-9534-8BCB8B4E0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5"/>
            <a:ext cx="8642659" cy="2036423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/>
              <a:t>完全二叉树</a:t>
            </a:r>
            <a:r>
              <a:rPr lang="zh-CN" altLang="en-US" dirty="0"/>
              <a:t>：除了最深一层，其他每层的结点数都达到了最大个数，并且最深一层的所有结点都尽可能靠左排列。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8CF84B2-F757-4AE3-B0CD-19CB53FC8172}"/>
              </a:ext>
            </a:extLst>
          </p:cNvPr>
          <p:cNvGrpSpPr/>
          <p:nvPr/>
        </p:nvGrpSpPr>
        <p:grpSpPr>
          <a:xfrm>
            <a:off x="1434665" y="2571376"/>
            <a:ext cx="5346632" cy="3223604"/>
            <a:chOff x="4876800" y="3962400"/>
            <a:chExt cx="3352800" cy="2133600"/>
          </a:xfrm>
        </p:grpSpPr>
        <p:sp>
          <p:nvSpPr>
            <p:cNvPr id="23" name="Line 2">
              <a:extLst>
                <a:ext uri="{FF2B5EF4-FFF2-40B4-BE49-F238E27FC236}">
                  <a16:creationId xmlns:a16="http://schemas.microsoft.com/office/drawing/2014/main" id="{2A1EE09D-76E3-4E36-8658-959CBA2875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96200" y="4800600"/>
              <a:ext cx="304800" cy="38100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Line 3">
              <a:extLst>
                <a:ext uri="{FF2B5EF4-FFF2-40B4-BE49-F238E27FC236}">
                  <a16:creationId xmlns:a16="http://schemas.microsoft.com/office/drawing/2014/main" id="{6BCF744B-FCE2-421D-9252-31054F1E34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39000" y="4724400"/>
              <a:ext cx="381000" cy="45720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Line 4">
              <a:extLst>
                <a:ext uri="{FF2B5EF4-FFF2-40B4-BE49-F238E27FC236}">
                  <a16:creationId xmlns:a16="http://schemas.microsoft.com/office/drawing/2014/main" id="{623E86BE-715A-4700-8224-18A8AC0C9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7400" y="4724400"/>
              <a:ext cx="304800" cy="45720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Line 5">
              <a:extLst>
                <a:ext uri="{FF2B5EF4-FFF2-40B4-BE49-F238E27FC236}">
                  <a16:creationId xmlns:a16="http://schemas.microsoft.com/office/drawing/2014/main" id="{4D773215-8A77-4ADB-AA9C-EBDD19F937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34000" y="4800600"/>
              <a:ext cx="381000" cy="45720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Line 6">
              <a:extLst>
                <a:ext uri="{FF2B5EF4-FFF2-40B4-BE49-F238E27FC236}">
                  <a16:creationId xmlns:a16="http://schemas.microsoft.com/office/drawing/2014/main" id="{0B0F48C6-9C47-492F-B844-ED7A51B57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4191000"/>
              <a:ext cx="762000" cy="45720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7">
              <a:extLst>
                <a:ext uri="{FF2B5EF4-FFF2-40B4-BE49-F238E27FC236}">
                  <a16:creationId xmlns:a16="http://schemas.microsoft.com/office/drawing/2014/main" id="{718355C2-E75C-49E7-A2A7-152DF4D51C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67400" y="4191000"/>
              <a:ext cx="762000" cy="45720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Oval 8">
              <a:extLst>
                <a:ext uri="{FF2B5EF4-FFF2-40B4-BE49-F238E27FC236}">
                  <a16:creationId xmlns:a16="http://schemas.microsoft.com/office/drawing/2014/main" id="{54AB55EC-7704-4609-A899-28D0A9F99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962400"/>
              <a:ext cx="381000" cy="38100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FF66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Line 15">
              <a:extLst>
                <a:ext uri="{FF2B5EF4-FFF2-40B4-BE49-F238E27FC236}">
                  <a16:creationId xmlns:a16="http://schemas.microsoft.com/office/drawing/2014/main" id="{15EE3465-4A6F-4184-A61F-D70B5AAD14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43600" y="5334000"/>
              <a:ext cx="228600" cy="53340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Line 16">
              <a:extLst>
                <a:ext uri="{FF2B5EF4-FFF2-40B4-BE49-F238E27FC236}">
                  <a16:creationId xmlns:a16="http://schemas.microsoft.com/office/drawing/2014/main" id="{4FF23CF0-2DE2-4289-9E74-FEC936EEC6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5410200"/>
              <a:ext cx="152400" cy="45720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Line 17">
              <a:extLst>
                <a:ext uri="{FF2B5EF4-FFF2-40B4-BE49-F238E27FC236}">
                  <a16:creationId xmlns:a16="http://schemas.microsoft.com/office/drawing/2014/main" id="{5AA25AE0-7151-4D5C-AADE-34AB9039EA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29200" y="5334000"/>
              <a:ext cx="304800" cy="53340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Oval 35">
              <a:extLst>
                <a:ext uri="{FF2B5EF4-FFF2-40B4-BE49-F238E27FC236}">
                  <a16:creationId xmlns:a16="http://schemas.microsoft.com/office/drawing/2014/main" id="{C04DD230-D5F7-41BA-B3D0-3FD579BAE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715000"/>
              <a:ext cx="381000" cy="38100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FF66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Oval 36">
              <a:extLst>
                <a:ext uri="{FF2B5EF4-FFF2-40B4-BE49-F238E27FC236}">
                  <a16:creationId xmlns:a16="http://schemas.microsoft.com/office/drawing/2014/main" id="{8C1AC92E-858A-4584-9377-DA6B8C479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5715000"/>
              <a:ext cx="381000" cy="38100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FF66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Oval 37">
              <a:extLst>
                <a:ext uri="{FF2B5EF4-FFF2-40B4-BE49-F238E27FC236}">
                  <a16:creationId xmlns:a16="http://schemas.microsoft.com/office/drawing/2014/main" id="{8881CE28-58D3-46DA-85F1-C44D8B6B3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1200" y="5715000"/>
              <a:ext cx="381000" cy="38100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FF66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" name="Oval 42">
              <a:extLst>
                <a:ext uri="{FF2B5EF4-FFF2-40B4-BE49-F238E27FC236}">
                  <a16:creationId xmlns:a16="http://schemas.microsoft.com/office/drawing/2014/main" id="{BAC0D84B-71DF-4F30-893A-14F456E1F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5105400"/>
              <a:ext cx="381000" cy="38100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FF66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" name="Oval 43">
              <a:extLst>
                <a:ext uri="{FF2B5EF4-FFF2-40B4-BE49-F238E27FC236}">
                  <a16:creationId xmlns:a16="http://schemas.microsoft.com/office/drawing/2014/main" id="{CDBB1D8A-2576-4311-990C-8272B7560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5105400"/>
              <a:ext cx="381000" cy="38100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FF66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Oval 44">
              <a:extLst>
                <a:ext uri="{FF2B5EF4-FFF2-40B4-BE49-F238E27FC236}">
                  <a16:creationId xmlns:a16="http://schemas.microsoft.com/office/drawing/2014/main" id="{C2CD45D5-215F-40A2-9032-BC58B6957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5105400"/>
              <a:ext cx="381000" cy="38100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FF66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Oval 45">
              <a:extLst>
                <a:ext uri="{FF2B5EF4-FFF2-40B4-BE49-F238E27FC236}">
                  <a16:creationId xmlns:a16="http://schemas.microsoft.com/office/drawing/2014/main" id="{CE39A7DB-818A-461D-B2B2-AE5C3EFCB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5105400"/>
              <a:ext cx="381000" cy="38100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FF66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Oval 48">
              <a:extLst>
                <a:ext uri="{FF2B5EF4-FFF2-40B4-BE49-F238E27FC236}">
                  <a16:creationId xmlns:a16="http://schemas.microsoft.com/office/drawing/2014/main" id="{94256929-C276-44F0-835C-85463C293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800" y="4495800"/>
              <a:ext cx="381000" cy="38100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FF66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Oval 49">
              <a:extLst>
                <a:ext uri="{FF2B5EF4-FFF2-40B4-BE49-F238E27FC236}">
                  <a16:creationId xmlns:a16="http://schemas.microsoft.com/office/drawing/2014/main" id="{40D7CE28-94A6-4A3E-BECE-1EA535EB1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4495800"/>
              <a:ext cx="381000" cy="38100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FF66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3" name="任意多边形: 形状 19">
            <a:extLst>
              <a:ext uri="{FF2B5EF4-FFF2-40B4-BE49-F238E27FC236}">
                <a16:creationId xmlns:a16="http://schemas.microsoft.com/office/drawing/2014/main" id="{CF63336B-4B9D-4500-A46A-1584B00BD1FD}"/>
              </a:ext>
            </a:extLst>
          </p:cNvPr>
          <p:cNvSpPr/>
          <p:nvPr/>
        </p:nvSpPr>
        <p:spPr>
          <a:xfrm>
            <a:off x="4107981" y="5661248"/>
            <a:ext cx="4909530" cy="1196752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lvl="0" defTabSz="115570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去掉完全二叉树最下层的叶结点，由此生成的树是完美二叉树</a:t>
            </a:r>
          </a:p>
        </p:txBody>
      </p:sp>
    </p:spTree>
    <p:extLst>
      <p:ext uri="{BB962C8B-B14F-4D97-AF65-F5344CB8AC3E}">
        <p14:creationId xmlns:p14="http://schemas.microsoft.com/office/powerpoint/2010/main" val="1981469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2B283-F264-4F9A-B47A-CAF2E34B6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完全二叉树（</a:t>
            </a:r>
            <a:r>
              <a:rPr lang="en-US" altLang="zh-CN" dirty="0"/>
              <a:t>complete binary tree</a:t>
            </a:r>
            <a:r>
              <a:rPr lang="zh-CN" altLang="en-US" dirty="0"/>
              <a:t>）</a:t>
            </a: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5DC24459-0C83-4A00-A219-351BE257F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00" y="980728"/>
            <a:ext cx="8754399" cy="1986486"/>
          </a:xfrm>
          <a:prstGeom prst="rect">
            <a:avLst/>
          </a:prstGeom>
        </p:spPr>
      </p:pic>
      <p:sp>
        <p:nvSpPr>
          <p:cNvPr id="44" name="任意多边形: 形状 28">
            <a:extLst>
              <a:ext uri="{FF2B5EF4-FFF2-40B4-BE49-F238E27FC236}">
                <a16:creationId xmlns:a16="http://schemas.microsoft.com/office/drawing/2014/main" id="{98C4C0A6-F24B-4007-8CC8-29083DE00459}"/>
              </a:ext>
            </a:extLst>
          </p:cNvPr>
          <p:cNvSpPr/>
          <p:nvPr/>
        </p:nvSpPr>
        <p:spPr>
          <a:xfrm>
            <a:off x="194800" y="3399392"/>
            <a:ext cx="8754399" cy="2603341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defTabSz="11557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第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层到第 𝑑−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层的所有结点的度均为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zh-CN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1557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第 𝑑 层的结点的度均为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zh-CN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1557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在第 𝑑−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层，各结点的度从左至右单调非递增，同时度为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的结点最多只有一个且该结点的左子树非空</a:t>
            </a:r>
            <a:endParaRPr lang="zh-CN" altLang="zh-CN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8688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4F4E4A-BA22-4B18-9C63-F8A792D6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非完全二叉树示例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8322E8D-8D23-4D24-A8FB-88154A4F7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73" y="1988840"/>
            <a:ext cx="8893598" cy="302433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3193157-FF04-4993-B4E5-813F750728F1}"/>
              </a:ext>
            </a:extLst>
          </p:cNvPr>
          <p:cNvSpPr txBox="1"/>
          <p:nvPr/>
        </p:nvSpPr>
        <p:spPr>
          <a:xfrm>
            <a:off x="611560" y="5445224"/>
            <a:ext cx="3352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0" dirty="0">
                <a:solidFill>
                  <a:srgbClr val="0000FF"/>
                </a:solidFill>
              </a:rPr>
              <a:t>full, but not complete</a:t>
            </a:r>
            <a:endParaRPr lang="zh-CN" altLang="en-US" b="0" dirty="0">
              <a:solidFill>
                <a:srgbClr val="0000FF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453EB1-71E1-4E13-B080-BA73EF659A59}"/>
              </a:ext>
            </a:extLst>
          </p:cNvPr>
          <p:cNvSpPr txBox="1"/>
          <p:nvPr/>
        </p:nvSpPr>
        <p:spPr>
          <a:xfrm>
            <a:off x="5180242" y="5445224"/>
            <a:ext cx="3371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0" dirty="0">
                <a:solidFill>
                  <a:srgbClr val="0000FF"/>
                </a:solidFill>
              </a:rPr>
              <a:t>not full, not complete</a:t>
            </a:r>
            <a:endParaRPr lang="zh-CN" altLang="en-US" b="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812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B8EF9-EF0F-4987-B245-DAD99A419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二叉树的基本性质</a:t>
            </a:r>
          </a:p>
        </p:txBody>
      </p:sp>
      <p:sp>
        <p:nvSpPr>
          <p:cNvPr id="8" name="内容占位符 4">
            <a:extLst>
              <a:ext uri="{FF2B5EF4-FFF2-40B4-BE49-F238E27FC236}">
                <a16:creationId xmlns:a16="http://schemas.microsoft.com/office/drawing/2014/main" id="{7020115C-B2E7-4AA5-AE45-AB4895F6CF41}"/>
              </a:ext>
            </a:extLst>
          </p:cNvPr>
          <p:cNvSpPr txBox="1">
            <a:spLocks/>
          </p:cNvSpPr>
          <p:nvPr/>
        </p:nvSpPr>
        <p:spPr>
          <a:xfrm>
            <a:off x="584225" y="1276350"/>
            <a:ext cx="11055325" cy="5057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内容占位符 4">
            <a:extLst>
              <a:ext uri="{FF2B5EF4-FFF2-40B4-BE49-F238E27FC236}">
                <a16:creationId xmlns:a16="http://schemas.microsoft.com/office/drawing/2014/main" id="{26DE4AF5-C3DB-4F66-BD3E-B2A126143841}"/>
              </a:ext>
            </a:extLst>
          </p:cNvPr>
          <p:cNvSpPr txBox="1">
            <a:spLocks/>
          </p:cNvSpPr>
          <p:nvPr/>
        </p:nvSpPr>
        <p:spPr>
          <a:xfrm>
            <a:off x="125760" y="985961"/>
            <a:ext cx="8892480" cy="527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性质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设非空二叉树中度为𝒊∈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[𝟎,𝟐]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的结点数为 𝐧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zh-CN" altLang="e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则𝐧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=𝐧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+𝟏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任意多边形: 形状 19">
                <a:extLst>
                  <a:ext uri="{FF2B5EF4-FFF2-40B4-BE49-F238E27FC236}">
                    <a16:creationId xmlns:a16="http://schemas.microsoft.com/office/drawing/2014/main" id="{7342A6C1-4668-443A-BE84-E0D0F7050E7A}"/>
                  </a:ext>
                </a:extLst>
              </p:cNvPr>
              <p:cNvSpPr/>
              <p:nvPr/>
            </p:nvSpPr>
            <p:spPr>
              <a:xfrm>
                <a:off x="308542" y="1635250"/>
                <a:ext cx="8526916" cy="2771386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solidFill>
                <a:srgbClr val="009999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154393" tIns="154393" rIns="154393" bIns="154393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证明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：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  <a:p>
                <a:pPr marL="457200" marR="0" lvl="0" indent="-457200" defTabSz="11557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arenBoth"/>
                  <a:tabLst/>
                  <a:defRPr/>
                </a:pP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总结点数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e>
                      <m:sub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e>
                      <m:sub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e>
                      <m:sub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，总分支数等于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  <m:r>
                      <a:rPr kumimoji="0" lang="en-US" altLang="zh-CN" sz="24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</m:t>
                    </m:r>
                  </m:oMath>
                </a14:m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  <a:p>
                <a:pPr marL="457200" lvl="0" indent="-457200" defTabSz="1155700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AutoNum type="arabicParenBoth"/>
                </a:pP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总的度数为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e>
                      <m:sub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lang="en-US" altLang="zh-CN" sz="2400" b="0" i="1" ker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ker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ker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  <a:p>
                <a:pPr marL="457200" marR="0" lvl="0" indent="-457200" defTabSz="11557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arenBoth"/>
                  <a:tabLst/>
                  <a:defRPr/>
                </a:pP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总的度数 </a:t>
                </a: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= 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总分支数，即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b>
                      <m:sSub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e>
                      <m:sub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e>
                      <m:sub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e>
                      <m:sub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−1=2</m:t>
                    </m:r>
                    <m:sSub>
                      <m:sSub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e>
                      <m:sub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e>
                      <m:sub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  <a:p>
                <a:pPr marL="0" marR="0" lvl="0" indent="0" defTabSz="11557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综上可得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e>
                      <m:sub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e>
                      <m:sub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+1</m:t>
                    </m:r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，命题得证。</a:t>
                </a:r>
              </a:p>
            </p:txBody>
          </p:sp>
        </mc:Choice>
        <mc:Fallback xmlns="">
          <p:sp>
            <p:nvSpPr>
              <p:cNvPr id="10" name="任意多边形: 形状 19">
                <a:extLst>
                  <a:ext uri="{FF2B5EF4-FFF2-40B4-BE49-F238E27FC236}">
                    <a16:creationId xmlns:a16="http://schemas.microsoft.com/office/drawing/2014/main" id="{7342A6C1-4668-443A-BE84-E0D0F7050E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542" y="1635250"/>
                <a:ext cx="8526916" cy="2771386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71" b="-4814"/>
                </a:stretch>
              </a:blip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内容占位符 4">
            <a:extLst>
              <a:ext uri="{FF2B5EF4-FFF2-40B4-BE49-F238E27FC236}">
                <a16:creationId xmlns:a16="http://schemas.microsoft.com/office/drawing/2014/main" id="{283C0440-1526-490E-9A11-5EED7F0F520E}"/>
              </a:ext>
            </a:extLst>
          </p:cNvPr>
          <p:cNvSpPr txBox="1">
            <a:spLocks/>
          </p:cNvSpPr>
          <p:nvPr/>
        </p:nvSpPr>
        <p:spPr>
          <a:xfrm>
            <a:off x="308543" y="4740011"/>
            <a:ext cx="8526916" cy="11320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定理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1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（满二叉树定理）非空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满二叉树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中叶结点数等于中间结点数加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2" name="任意多边形: 形状 19">
            <a:extLst>
              <a:ext uri="{FF2B5EF4-FFF2-40B4-BE49-F238E27FC236}">
                <a16:creationId xmlns:a16="http://schemas.microsoft.com/office/drawing/2014/main" id="{84484EEF-5784-44FB-9AF9-316D059CF24E}"/>
              </a:ext>
            </a:extLst>
          </p:cNvPr>
          <p:cNvSpPr/>
          <p:nvPr/>
        </p:nvSpPr>
        <p:spPr>
          <a:xfrm>
            <a:off x="308542" y="5898477"/>
            <a:ext cx="8526916" cy="769023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</p:spPr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marL="0" marR="0" lvl="0" indent="0" defTabSz="11557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证明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：满二叉树没有度为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的中间结点，由性质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直接得证。</a:t>
            </a:r>
          </a:p>
        </p:txBody>
      </p:sp>
    </p:spTree>
    <p:extLst>
      <p:ext uri="{BB962C8B-B14F-4D97-AF65-F5344CB8AC3E}">
        <p14:creationId xmlns:p14="http://schemas.microsoft.com/office/powerpoint/2010/main" val="2819885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F6F979-B2D1-4076-B50C-B14C053E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二叉树的基本性质</a:t>
            </a:r>
          </a:p>
        </p:txBody>
      </p:sp>
      <p:sp>
        <p:nvSpPr>
          <p:cNvPr id="8" name="内容占位符 4">
            <a:extLst>
              <a:ext uri="{FF2B5EF4-FFF2-40B4-BE49-F238E27FC236}">
                <a16:creationId xmlns:a16="http://schemas.microsoft.com/office/drawing/2014/main" id="{A27726AC-06B2-4483-91E8-4C5E98C5E3A6}"/>
              </a:ext>
            </a:extLst>
          </p:cNvPr>
          <p:cNvSpPr txBox="1">
            <a:spLocks/>
          </p:cNvSpPr>
          <p:nvPr/>
        </p:nvSpPr>
        <p:spPr>
          <a:xfrm>
            <a:off x="584225" y="1276350"/>
            <a:ext cx="11055325" cy="5057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4">
                <a:extLst>
                  <a:ext uri="{FF2B5EF4-FFF2-40B4-BE49-F238E27FC236}">
                    <a16:creationId xmlns:a16="http://schemas.microsoft.com/office/drawing/2014/main" id="{980F041D-2E47-4261-8247-B384D121DF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1520" y="930558"/>
                <a:ext cx="8640960" cy="5743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Tx/>
                  <a:buNone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None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性质</a:t>
                </a:r>
                <a:r>
                  <a:rPr kumimoji="0" lang="en-US" altLang="zh-CN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2</a:t>
                </a: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：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二叉树的第 𝑖 层最多有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个结点 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𝑖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≥1)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9" name="内容占位符 4">
                <a:extLst>
                  <a:ext uri="{FF2B5EF4-FFF2-40B4-BE49-F238E27FC236}">
                    <a16:creationId xmlns:a16="http://schemas.microsoft.com/office/drawing/2014/main" id="{980F041D-2E47-4261-8247-B384D121D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930558"/>
                <a:ext cx="8640960" cy="574381"/>
              </a:xfrm>
              <a:prstGeom prst="rect">
                <a:avLst/>
              </a:prstGeom>
              <a:blipFill>
                <a:blip r:embed="rId2"/>
                <a:stretch>
                  <a:fillRect l="-1058" t="-6383" b="-74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任意多边形: 形状 19">
                <a:extLst>
                  <a:ext uri="{FF2B5EF4-FFF2-40B4-BE49-F238E27FC236}">
                    <a16:creationId xmlns:a16="http://schemas.microsoft.com/office/drawing/2014/main" id="{268AA584-11F9-4E6D-9EED-CD9021A903D3}"/>
                  </a:ext>
                </a:extLst>
              </p:cNvPr>
              <p:cNvSpPr/>
              <p:nvPr/>
            </p:nvSpPr>
            <p:spPr>
              <a:xfrm>
                <a:off x="179512" y="1483108"/>
                <a:ext cx="8712968" cy="2299607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solidFill>
                <a:srgbClr val="009999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154393" tIns="154393" rIns="154393" bIns="154393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证明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：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  <a:p>
                <a:pPr marL="0" marR="0" lvl="0" indent="0" defTabSz="11557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第</a:t>
                </a: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1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层只有根结点，即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个结点。假设第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</m:t>
                    </m:r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层最多有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−2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 个结点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&gt;1</m:t>
                        </m:r>
                      </m:e>
                    </m:d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。由于每个结点最多只有两个子结点，则第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层的结点数不会超过第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</m:t>
                    </m:r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层结点数的</a:t>
                </a: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2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倍，即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 个结点。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任意多边形: 形状 19">
                <a:extLst>
                  <a:ext uri="{FF2B5EF4-FFF2-40B4-BE49-F238E27FC236}">
                    <a16:creationId xmlns:a16="http://schemas.microsoft.com/office/drawing/2014/main" id="{268AA584-11F9-4E6D-9EED-CD9021A903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483108"/>
                <a:ext cx="8712968" cy="2299607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79" b="-4737"/>
                </a:stretch>
              </a:blip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内容占位符 4">
                <a:extLst>
                  <a:ext uri="{FF2B5EF4-FFF2-40B4-BE49-F238E27FC236}">
                    <a16:creationId xmlns:a16="http://schemas.microsoft.com/office/drawing/2014/main" id="{96761D22-3EB0-49B5-BE83-2B25291ACE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8282" y="4021912"/>
                <a:ext cx="8945717" cy="5743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Tx/>
                  <a:buNone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None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dirty="0">
                    <a:solidFill>
                      <a:srgbClr val="FF0000"/>
                    </a:solidFill>
                  </a:rPr>
                  <a:t>性质</a:t>
                </a:r>
                <a:r>
                  <a:rPr kumimoji="0" lang="en-US" altLang="zh-CN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3</a:t>
                </a: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sym typeface="Wingdings" pitchFamily="2" charset="2"/>
                  </a:rPr>
                  <a:t>：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Wingdings" pitchFamily="2" charset="2"/>
                  </a:rPr>
                  <a:t>深度（高度）为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Wingdings" pitchFamily="2" charset="2"/>
                      </a:rPr>
                      <m:t>𝑑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Wingdings" pitchFamily="2" charset="2"/>
                      </a:rPr>
                      <m:t>(≥1)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Wingdings" pitchFamily="2" charset="2"/>
                  </a:rPr>
                  <a:t>的二叉树最多有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Wingdings" pitchFamily="2" charset="2"/>
                          </a:rPr>
                          <m:t>𝑑</m:t>
                        </m:r>
                      </m:sup>
                    </m:sSup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  <a:sym typeface="Wingdings" pitchFamily="2" charset="2"/>
                      </a:rPr>
                      <m:t>−1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Wingdings" pitchFamily="2" charset="2"/>
                  </a:rPr>
                  <a:t> 个结点。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11" name="内容占位符 4">
                <a:extLst>
                  <a:ext uri="{FF2B5EF4-FFF2-40B4-BE49-F238E27FC236}">
                    <a16:creationId xmlns:a16="http://schemas.microsoft.com/office/drawing/2014/main" id="{96761D22-3EB0-49B5-BE83-2B25291AC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82" y="4021912"/>
                <a:ext cx="8945717" cy="574381"/>
              </a:xfrm>
              <a:prstGeom prst="rect">
                <a:avLst/>
              </a:prstGeom>
              <a:blipFill>
                <a:blip r:embed="rId4"/>
                <a:stretch>
                  <a:fillRect l="-1091" t="-6383" b="-6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任意多边形: 形状 19">
                <a:extLst>
                  <a:ext uri="{FF2B5EF4-FFF2-40B4-BE49-F238E27FC236}">
                    <a16:creationId xmlns:a16="http://schemas.microsoft.com/office/drawing/2014/main" id="{C0AD3605-9BAB-4EFE-A790-1EDE32E9AE34}"/>
                  </a:ext>
                </a:extLst>
              </p:cNvPr>
              <p:cNvSpPr/>
              <p:nvPr/>
            </p:nvSpPr>
            <p:spPr>
              <a:xfrm>
                <a:off x="180930" y="4615177"/>
                <a:ext cx="8711550" cy="1925706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solidFill>
                <a:srgbClr val="009999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154393" tIns="154393" rIns="154393" bIns="154393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证明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：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  <a:p>
                <a:pPr marL="0" marR="0" lvl="0" indent="0" defTabSz="11557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根据性质</a:t>
                </a: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2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，二叉树第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∈[1, 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𝑑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]</m:t>
                    </m:r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层最多有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 个结点，因此结点数的最大值等于：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zh-CN" alt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sup>
                      <m:e>
                        <m:sSup>
                          <m:sSupPr>
                            <m:ctrlPr>
                              <a:rPr kumimoji="0" lang="en-US" altLang="zh-CN" sz="2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2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US" altLang="zh-CN" sz="2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  <m:r>
                              <a:rPr kumimoji="0" lang="en-US" altLang="zh-CN" sz="2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−1</m:t>
                            </m:r>
                          </m:sup>
                        </m:sSup>
                      </m:e>
                    </m:nary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sup>
                    </m:sSup>
                    <m:r>
                      <a:rPr kumimoji="0" lang="zh-CN" alt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</m:t>
                    </m:r>
                  </m:oMath>
                </a14:m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任意多边形: 形状 19">
                <a:extLst>
                  <a:ext uri="{FF2B5EF4-FFF2-40B4-BE49-F238E27FC236}">
                    <a16:creationId xmlns:a16="http://schemas.microsoft.com/office/drawing/2014/main" id="{C0AD3605-9BAB-4EFE-A790-1EDE32E9AE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30" y="4615177"/>
                <a:ext cx="8711550" cy="1925706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280" b="-1572"/>
                </a:stretch>
              </a:blip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9267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D36817-EC59-4A4E-B841-2893BA6D0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二叉树的基本性质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4">
                <a:extLst>
                  <a:ext uri="{FF2B5EF4-FFF2-40B4-BE49-F238E27FC236}">
                    <a16:creationId xmlns:a16="http://schemas.microsoft.com/office/drawing/2014/main" id="{65F15E87-E8E2-4218-9F1E-47DB0AAC7C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1519" y="836712"/>
                <a:ext cx="8640961" cy="12241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Tx/>
                  <a:buNone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None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定理</a:t>
                </a:r>
                <a:r>
                  <a:rPr kumimoji="0" lang="en-US" altLang="zh-CN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2</a:t>
                </a: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  <a:sym typeface="Wingdings" pitchFamily="2" charset="2"/>
                  </a:rPr>
                  <a:t>：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  <a:sym typeface="Wingdings" pitchFamily="2" charset="2"/>
                  </a:rPr>
                  <a:t>深度（高度）为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Wingdings" pitchFamily="2" charset="2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Wingdings" pitchFamily="2" charset="2"/>
                      </a:rPr>
                      <m:t>𝑑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Wingdings" pitchFamily="2" charset="2"/>
                      </a:rPr>
                      <m:t>(≥1)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  <a:sym typeface="Wingdings" pitchFamily="2" charset="2"/>
                  </a:rPr>
                  <a:t>的二叉树是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  <a:sym typeface="Wingdings" pitchFamily="2" charset="2"/>
                  </a:rPr>
                  <a:t>完美二叉树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  <a:sym typeface="Wingdings" pitchFamily="2" charset="2"/>
                  </a:rPr>
                  <a:t>的充要条件是树中有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Wingdings" pitchFamily="2" charset="2"/>
                          </a:rPr>
                          <m:t>𝑑</m:t>
                        </m:r>
                      </m:sup>
                    </m:sSup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Wingdings" pitchFamily="2" charset="2"/>
                      </a:rPr>
                      <m:t>−1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  <a:sym typeface="Wingdings" pitchFamily="2" charset="2"/>
                  </a:rPr>
                  <a:t> 个结点。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内容占位符 4">
                <a:extLst>
                  <a:ext uri="{FF2B5EF4-FFF2-40B4-BE49-F238E27FC236}">
                    <a16:creationId xmlns:a16="http://schemas.microsoft.com/office/drawing/2014/main" id="{65F15E87-E8E2-4218-9F1E-47DB0AAC7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19" y="836712"/>
                <a:ext cx="8640961" cy="1224136"/>
              </a:xfrm>
              <a:prstGeom prst="rect">
                <a:avLst/>
              </a:prstGeom>
              <a:blipFill>
                <a:blip r:embed="rId2"/>
                <a:stretch>
                  <a:fillRect l="-1058" b="-3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任意多边形: 形状 19">
                <a:extLst>
                  <a:ext uri="{FF2B5EF4-FFF2-40B4-BE49-F238E27FC236}">
                    <a16:creationId xmlns:a16="http://schemas.microsoft.com/office/drawing/2014/main" id="{08E64871-36C4-403E-9D2C-F3D6F5E79110}"/>
                  </a:ext>
                </a:extLst>
              </p:cNvPr>
              <p:cNvSpPr/>
              <p:nvPr/>
            </p:nvSpPr>
            <p:spPr>
              <a:xfrm>
                <a:off x="107504" y="2183262"/>
                <a:ext cx="4320480" cy="4674737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solidFill>
                <a:srgbClr val="009999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154393" tIns="154393" rIns="154393" bIns="154393" numCol="1" spcCol="1270" anchor="ctr" anchorCtr="0">
                <a:noAutofit/>
              </a:bodyPr>
              <a:lstStyle/>
              <a:p>
                <a:pPr marR="0" lvl="0" algn="ctr" defTabSz="11557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充分条件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  <a:p>
                <a:pPr lvl="0" defTabSz="1155700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根据性质</a:t>
                </a: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3</a:t>
                </a:r>
                <a:r>
                  <a:rPr lang="zh-CN" altLang="en-US" sz="2400" b="0" kern="0" dirty="0">
                    <a:solidFill>
                      <a:prstClr val="white"/>
                    </a:solidFill>
                    <a:latin typeface="+mn-ea"/>
                    <a:ea typeface="+mn-ea"/>
                  </a:rPr>
                  <a:t>，如果 𝑑 层二叉树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的结点总数等于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Wingdings" pitchFamily="2" charset="2"/>
                          </a:rPr>
                          <m:t>𝑑</m:t>
                        </m:r>
                      </m:sup>
                    </m:sSup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Wingdings" pitchFamily="2" charset="2"/>
                      </a:rPr>
                      <m:t>−1</m:t>
                    </m:r>
                    <m:r>
                      <a:rPr lang="zh-CN" altLang="en-US" sz="2400" b="0" i="1" kern="0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+mn-ea"/>
                        <a:sym typeface="Wingdings" pitchFamily="2" charset="2"/>
                      </a:rPr>
                      <m:t>，</m:t>
                    </m:r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  <a:sym typeface="Wingdings" pitchFamily="2" charset="2"/>
                  </a:rPr>
                  <a:t>说明每层的结点数都达到最大值，那么二叉树从第</a:t>
                </a: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  <a:sym typeface="Wingdings" pitchFamily="2" charset="2"/>
                  </a:rPr>
                  <a:t>1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  <a:sym typeface="Wingdings" pitchFamily="2" charset="2"/>
                  </a:rPr>
                  <a:t>层到第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Wingdings" pitchFamily="2" charset="2"/>
                      </a:rPr>
                      <m:t>𝑑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Wingdings" pitchFamily="2" charset="2"/>
                      </a:rPr>
                      <m:t>−1</m:t>
                    </m:r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  <a:sym typeface="Wingdings" pitchFamily="2" charset="2"/>
                  </a:rPr>
                  <a:t>层都是度为</a:t>
                </a: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  <a:sym typeface="Wingdings" pitchFamily="2" charset="2"/>
                  </a:rPr>
                  <a:t>2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  <a:sym typeface="Wingdings" pitchFamily="2" charset="2"/>
                  </a:rPr>
                  <a:t>的中间结点。因此，结点数达到最大值的二叉树是完美二叉树。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7" name="任意多边形: 形状 19">
                <a:extLst>
                  <a:ext uri="{FF2B5EF4-FFF2-40B4-BE49-F238E27FC236}">
                    <a16:creationId xmlns:a16="http://schemas.microsoft.com/office/drawing/2014/main" id="{08E64871-36C4-403E-9D2C-F3D6F5E791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2183262"/>
                <a:ext cx="4320480" cy="4674737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704" b="-390"/>
                </a:stretch>
              </a:blip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任意多边形: 形状 19">
                <a:extLst>
                  <a:ext uri="{FF2B5EF4-FFF2-40B4-BE49-F238E27FC236}">
                    <a16:creationId xmlns:a16="http://schemas.microsoft.com/office/drawing/2014/main" id="{B5E67B9B-3C4F-4D09-8578-5149F14696FD}"/>
                  </a:ext>
                </a:extLst>
              </p:cNvPr>
              <p:cNvSpPr/>
              <p:nvPr/>
            </p:nvSpPr>
            <p:spPr>
              <a:xfrm>
                <a:off x="4572000" y="2183262"/>
                <a:ext cx="4464496" cy="4674736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solidFill>
                <a:srgbClr val="009999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154393" tIns="154393" rIns="154393" bIns="154393" numCol="1" spcCol="1270" anchor="ctr" anchorCtr="0">
                <a:noAutofit/>
              </a:bodyPr>
              <a:lstStyle/>
              <a:p>
                <a:pPr marR="0" lvl="0" algn="ctr" defTabSz="11557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必要条件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  <a:p>
                <a:pPr lvl="0" defTabSz="1155700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完美二叉树第</a:t>
                </a: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1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层的结点数为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。假设</a:t>
                </a:r>
                <a:r>
                  <a:rPr lang="zh-CN" altLang="en-US" sz="2400" b="0" kern="0" dirty="0">
                    <a:solidFill>
                      <a:prstClr val="white"/>
                    </a:solidFill>
                    <a:latin typeface="+mn-ea"/>
                    <a:sym typeface="Wingdings" pitchFamily="2" charset="2"/>
                  </a:rPr>
                  <a:t>第 </a:t>
                </a:r>
                <a14:m>
                  <m:oMath xmlns:m="http://schemas.openxmlformats.org/officeDocument/2006/math">
                    <m:r>
                      <a:rPr lang="en-US" altLang="zh-CN" sz="2400" b="0" i="1" ker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ker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b="0" kern="0" dirty="0">
                    <a:solidFill>
                      <a:prstClr val="white"/>
                    </a:solidFill>
                    <a:latin typeface="+mn-ea"/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b="0" i="1" ker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altLang="zh-CN" sz="2400" b="0" i="1" ker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ker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ker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sz="2400" b="0" kern="0" dirty="0">
                    <a:solidFill>
                      <a:prstClr val="white"/>
                    </a:solidFill>
                    <a:latin typeface="+mn-ea"/>
                    <a:sym typeface="Wingdings" pitchFamily="2" charset="2"/>
                  </a:rPr>
                  <a:t>) </a:t>
                </a:r>
                <a:r>
                  <a:rPr lang="zh-CN" altLang="en-US" sz="2400" b="0" kern="0" dirty="0">
                    <a:solidFill>
                      <a:prstClr val="white"/>
                    </a:solidFill>
                    <a:latin typeface="+mn-ea"/>
                    <a:sym typeface="Wingdings" pitchFamily="2" charset="2"/>
                  </a:rPr>
                  <a:t>层的结点数为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ker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ker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kern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sz="2400" b="0" i="1" ker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  <a:sym typeface="Wingdings" pitchFamily="2" charset="2"/>
                  </a:rPr>
                  <a:t>因为每层所有结点的度都是</a:t>
                </a: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  <a:sym typeface="Wingdings" pitchFamily="2" charset="2"/>
                  </a:rPr>
                  <a:t>2</a:t>
                </a:r>
                <a:r>
                  <a:rPr lang="zh-CN" altLang="en-US" sz="2400" b="0" kern="0" dirty="0">
                    <a:solidFill>
                      <a:prstClr val="white"/>
                    </a:solidFill>
                    <a:latin typeface="+mn-ea"/>
                    <a:ea typeface="+mn-ea"/>
                    <a:sym typeface="Wingdings" pitchFamily="2" charset="2"/>
                  </a:rPr>
                  <a:t>，所以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第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+1</m:t>
                    </m:r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层的结点数是第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  <m:r>
                      <a:rPr kumimoji="0" lang="zh-CN" alt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层结点数的</a:t>
                </a: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2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倍，即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。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  <a:sym typeface="Wingdings" pitchFamily="2" charset="2"/>
                  </a:rPr>
                  <a:t>因此，完美二叉树的结点总数</a:t>
                </a:r>
                <a:r>
                  <a:rPr lang="zh-CN" altLang="en-US" sz="2400" b="0" kern="0" dirty="0">
                    <a:solidFill>
                      <a:prstClr val="white"/>
                    </a:solidFill>
                    <a:latin typeface="+mn-ea"/>
                    <a:ea typeface="+mn-ea"/>
                    <a:sym typeface="Wingdings" pitchFamily="2" charset="2"/>
                  </a:rPr>
                  <a:t>为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zh-CN" alt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sup>
                      <m:e>
                        <m:sSup>
                          <m:sSupPr>
                            <m:ctrlPr>
                              <a:rPr kumimoji="0" lang="en-US" altLang="zh-CN" sz="2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2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US" altLang="zh-CN" sz="2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  <m:r>
                              <a:rPr kumimoji="0" lang="en-US" altLang="zh-CN" sz="2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−1</m:t>
                            </m:r>
                          </m:sup>
                        </m:sSup>
                      </m:e>
                    </m:nary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sup>
                    </m:sSup>
                    <m:r>
                      <a:rPr kumimoji="0" lang="zh-CN" alt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</m:t>
                    </m:r>
                  </m:oMath>
                </a14:m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8" name="任意多边形: 形状 19">
                <a:extLst>
                  <a:ext uri="{FF2B5EF4-FFF2-40B4-BE49-F238E27FC236}">
                    <a16:creationId xmlns:a16="http://schemas.microsoft.com/office/drawing/2014/main" id="{B5E67B9B-3C4F-4D09-8578-5149F14696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183262"/>
                <a:ext cx="4464496" cy="4674736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545" r="-7493" b="-910"/>
                </a:stretch>
              </a:blip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1996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476D8-1608-4824-8512-0B9C1784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二叉树的基本性质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3EA6B5C-9D16-4D1F-8400-D0B884EAF092}"/>
                  </a:ext>
                </a:extLst>
              </p:cNvPr>
              <p:cNvSpPr txBox="1"/>
              <p:nvPr/>
            </p:nvSpPr>
            <p:spPr>
              <a:xfrm>
                <a:off x="35496" y="933153"/>
                <a:ext cx="9108504" cy="581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FF0000"/>
                    </a:solidFill>
                    <a:latin typeface="+mn-ea"/>
                    <a:ea typeface="+mn-ea"/>
                  </a:rPr>
                  <a:t>性质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+mn-ea"/>
                    <a:ea typeface="+mn-ea"/>
                  </a:rPr>
                  <a:t>4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+mn-ea"/>
                    <a:ea typeface="+mn-ea"/>
                  </a:rPr>
                  <a:t>：</a:t>
                </a:r>
                <a:r>
                  <a:rPr lang="zh-CN" altLang="zh-CN" sz="2400" b="0" dirty="0">
                    <a:latin typeface="+mn-ea"/>
                    <a:ea typeface="+mn-ea"/>
                  </a:rPr>
                  <a:t>有</a:t>
                </a:r>
                <a:r>
                  <a:rPr lang="en-US" altLang="zh-CN" sz="2400" b="0" dirty="0">
                    <a:latin typeface="+mn-ea"/>
                    <a:ea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>
                        <a:latin typeface="Cambria Math" panose="02040503050406030204" pitchFamily="18" charset="0"/>
                        <a:ea typeface="+mn-ea"/>
                      </a:rPr>
                      <m:t>𝑛</m:t>
                    </m:r>
                  </m:oMath>
                </a14:m>
                <a:r>
                  <a:rPr lang="zh-CN" altLang="zh-CN" sz="2400" b="0" dirty="0">
                    <a:latin typeface="+mn-ea"/>
                    <a:ea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>
                        <a:latin typeface="Cambria Math" panose="02040503050406030204" pitchFamily="18" charset="0"/>
                        <a:ea typeface="+mn-ea"/>
                      </a:rPr>
                      <m:t>(≥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  <a:ea typeface="+mn-ea"/>
                      </a:rPr>
                      <m:t>1</m:t>
                    </m:r>
                    <m:r>
                      <a:rPr lang="en-US" altLang="zh-CN" sz="2400" b="0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zh-CN" altLang="zh-CN" sz="2400" b="0" dirty="0">
                    <a:latin typeface="+mn-ea"/>
                    <a:ea typeface="+mn-ea"/>
                  </a:rPr>
                  <a:t>个结点</a:t>
                </a:r>
                <a:r>
                  <a:rPr lang="zh-CN" altLang="en-US" sz="2400" b="0" dirty="0">
                    <a:latin typeface="+mn-ea"/>
                    <a:ea typeface="+mn-ea"/>
                  </a:rPr>
                  <a:t>的</a:t>
                </a:r>
                <a:r>
                  <a:rPr lang="zh-CN" altLang="zh-CN" sz="2400" b="0" dirty="0">
                    <a:solidFill>
                      <a:srgbClr val="0000FF"/>
                    </a:solidFill>
                    <a:latin typeface="+mn-ea"/>
                    <a:ea typeface="+mn-ea"/>
                  </a:rPr>
                  <a:t>完全二叉树</a:t>
                </a:r>
                <a:r>
                  <a:rPr lang="zh-CN" altLang="en-US" sz="2400" b="0" dirty="0">
                    <a:latin typeface="+mn-ea"/>
                    <a:ea typeface="+mn-ea"/>
                  </a:rPr>
                  <a:t>的深度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n-ea"/>
                      </a:rPr>
                      <m:t>𝑑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sz="24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(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+1)</m:t>
                            </m:r>
                          </m:e>
                        </m:func>
                      </m:e>
                    </m:d>
                  </m:oMath>
                </a14:m>
                <a:r>
                  <a:rPr lang="zh-CN" altLang="en-US" sz="2400" b="0" dirty="0">
                    <a:latin typeface="+mn-ea"/>
                    <a:ea typeface="+mn-ea"/>
                  </a:rPr>
                  <a:t>。</a:t>
                </a:r>
                <a:endParaRPr lang="en-US" altLang="zh-CN" sz="24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3EA6B5C-9D16-4D1F-8400-D0B884EAF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933153"/>
                <a:ext cx="9108504" cy="581057"/>
              </a:xfrm>
              <a:prstGeom prst="rect">
                <a:avLst/>
              </a:prstGeom>
              <a:blipFill>
                <a:blip r:embed="rId2"/>
                <a:stretch>
                  <a:fillRect l="-1071" r="-402" b="-24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任意多边形: 形状 19">
                <a:extLst>
                  <a:ext uri="{FF2B5EF4-FFF2-40B4-BE49-F238E27FC236}">
                    <a16:creationId xmlns:a16="http://schemas.microsoft.com/office/drawing/2014/main" id="{C49E76BD-6C03-4F92-94CA-10FF425B7CC7}"/>
                  </a:ext>
                </a:extLst>
              </p:cNvPr>
              <p:cNvSpPr/>
              <p:nvPr/>
            </p:nvSpPr>
            <p:spPr>
              <a:xfrm>
                <a:off x="287524" y="1665646"/>
                <a:ext cx="8568952" cy="769023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solidFill>
                <a:srgbClr val="009999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4393" tIns="154393" rIns="154393" bIns="154393" numCol="1" spcCol="1270" anchor="ctr" anchorCtr="0">
                <a:noAutofit/>
              </a:bodyPr>
              <a:lstStyle/>
              <a:p>
                <a:pPr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2400" dirty="0">
                    <a:latin typeface="+mn-ea"/>
                  </a:rPr>
                  <a:t>证明</a:t>
                </a:r>
                <a:r>
                  <a:rPr lang="zh-CN" altLang="en-US" sz="2400" b="0" dirty="0">
                    <a:latin typeface="+mn-ea"/>
                  </a:rPr>
                  <a:t>：</a:t>
                </a:r>
                <a:r>
                  <a:rPr lang="zh-CN" altLang="zh-CN" sz="2400" b="0" kern="100" dirty="0">
                    <a:effectLst/>
                    <a:latin typeface="+mn-ea"/>
                    <a:cs typeface="Times New Roman" panose="02020603050405020304" pitchFamily="18" charset="0"/>
                  </a:rPr>
                  <a:t>根据定理</a:t>
                </a:r>
                <a:r>
                  <a:rPr lang="en-US" altLang="zh-CN" sz="2400" b="0" kern="100" dirty="0">
                    <a:effectLst/>
                    <a:latin typeface="+mn-ea"/>
                  </a:rPr>
                  <a:t>2</a:t>
                </a:r>
                <a:r>
                  <a:rPr lang="zh-CN" altLang="zh-CN" sz="2400" b="0" kern="100" dirty="0">
                    <a:effectLst/>
                    <a:latin typeface="+mn-ea"/>
                    <a:cs typeface="Times New Roman" panose="02020603050405020304" pitchFamily="18" charset="0"/>
                  </a:rPr>
                  <a:t>和</a:t>
                </a:r>
                <a:r>
                  <a:rPr lang="zh-CN" altLang="en-US" sz="2400" b="0" kern="100" dirty="0">
                    <a:effectLst/>
                    <a:latin typeface="+mn-ea"/>
                    <a:cs typeface="Times New Roman" panose="02020603050405020304" pitchFamily="18" charset="0"/>
                  </a:rPr>
                  <a:t>性质</a:t>
                </a:r>
                <a:r>
                  <a:rPr lang="en-US" altLang="zh-CN" sz="2400" b="0" kern="100" dirty="0">
                    <a:effectLst/>
                    <a:latin typeface="+mn-ea"/>
                  </a:rPr>
                  <a:t>3</a:t>
                </a:r>
                <a:r>
                  <a:rPr lang="zh-CN" altLang="en-US" sz="2400" b="0" kern="100" dirty="0">
                    <a:latin typeface="+mn-ea"/>
                  </a:rPr>
                  <a:t>，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kern="100" smtClean="0">
                        <a:latin typeface="Cambria Math" panose="02040503050406030204" pitchFamily="18" charset="0"/>
                      </a:rPr>
                      <m:t>−1&lt;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zh-CN" sz="2400" b="0" i="1" kern="10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zh-CN" sz="2400" b="0" dirty="0">
                    <a:effectLst/>
                    <a:latin typeface="+mn-ea"/>
                  </a:rPr>
                  <a:t> </a:t>
                </a:r>
                <a:endParaRPr lang="zh-CN" altLang="en-US" sz="2400" b="0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任意多边形: 形状 19">
                <a:extLst>
                  <a:ext uri="{FF2B5EF4-FFF2-40B4-BE49-F238E27FC236}">
                    <a16:creationId xmlns:a16="http://schemas.microsoft.com/office/drawing/2014/main" id="{C49E76BD-6C03-4F92-94CA-10FF425B7C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4" y="1665646"/>
                <a:ext cx="8568952" cy="769023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内容占位符 4">
                <a:extLst>
                  <a:ext uri="{FF2B5EF4-FFF2-40B4-BE49-F238E27FC236}">
                    <a16:creationId xmlns:a16="http://schemas.microsoft.com/office/drawing/2014/main" id="{42957044-5D1F-470A-ADAA-BBF28754EC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496" y="2613929"/>
                <a:ext cx="9000999" cy="35513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Tx/>
                  <a:buNone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None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性质</a:t>
                </a:r>
                <a:r>
                  <a:rPr kumimoji="0" lang="en-US" altLang="zh-CN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5</a:t>
                </a: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：</a:t>
                </a:r>
                <a:r>
                  <a:rPr kumimoji="0" lang="zh-CN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完全二叉树</a:t>
                </a:r>
                <a:r>
                  <a:rPr kumimoji="0" lang="zh-CN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有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kumimoji="0" lang="zh-CN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(≥1)</m:t>
                    </m:r>
                  </m:oMath>
                </a14:m>
                <a:r>
                  <a:rPr lang="zh-CN" altLang="zh-CN" sz="2400" b="0" dirty="0">
                    <a:latin typeface="+mn-ea"/>
                  </a:rPr>
                  <a:t>个结点</a:t>
                </a:r>
                <a:r>
                  <a:rPr kumimoji="0" lang="zh-CN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，按层次从左向右连续编号。树中任一结点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(1≤</m:t>
                    </m:r>
                    <m:r>
                      <a:rPr kumimoji="0" lang="en-US" altLang="zh-CN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≤</m:t>
                    </m:r>
                    <m:r>
                      <a:rPr kumimoji="0" lang="en-US" altLang="zh-CN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满足以下性质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：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  <a:p>
                <a:pPr marR="0" lvl="0" defTabSz="11557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arenBoth"/>
                  <a:tabLst/>
                  <a:defRPr/>
                </a:pP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 如果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≤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kumimoji="0" lang="zh-CN" altLang="e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，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则结点</a:t>
                </a:r>
                <a14:m>
                  <m:oMath xmlns:m="http://schemas.openxmlformats.org/officeDocument/2006/math">
                    <m:r>
                      <a:rPr kumimoji="0" lang="zh-CN" altLang="en-US" sz="2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 的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左子结点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是 </a:t>
                </a:r>
                <a14:m>
                  <m:oMath xmlns:m="http://schemas.openxmlformats.org/officeDocument/2006/math">
                    <m:r>
                      <a:rPr kumimoji="0" lang="en-US" altLang="zh-CN" sz="24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𝟐</m:t>
                    </m:r>
                    <m:r>
                      <a:rPr kumimoji="0" lang="en-US" altLang="zh-CN" sz="24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𝒌</m:t>
                    </m:r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，否则没有左子结点；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  <a:p>
                <a:pPr marR="0" lvl="0" defTabSz="11557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arenBoth"/>
                  <a:tabLst/>
                  <a:defRPr/>
                </a:pP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 如果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+1≤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zh-CN" altLang="e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，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则结点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  <m:r>
                      <a:rPr kumimoji="0" lang="zh-CN" alt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的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右子结点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是 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𝟐</m:t>
                    </m:r>
                    <m:r>
                      <a:rPr kumimoji="0" lang="en-US" altLang="zh-CN" sz="24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𝒌</m:t>
                    </m:r>
                    <m:r>
                      <a:rPr kumimoji="0" lang="en-US" altLang="zh-CN" sz="24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altLang="zh-CN" sz="24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𝟏</m:t>
                    </m:r>
                    <m:r>
                      <a:rPr kumimoji="0" lang="en-US" altLang="zh-CN" sz="24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zh-CN" altLang="e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，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否则没有右子结点；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  <a:p>
                <a:pPr marR="0" lvl="0" defTabSz="11557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arenBoth"/>
                  <a:tabLst/>
                  <a:defRPr/>
                </a:pP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 如果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&gt;1</m:t>
                    </m:r>
                  </m:oMath>
                </a14:m>
                <a:r>
                  <a:rPr kumimoji="0" lang="zh-CN" altLang="e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，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则结点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  <m:r>
                      <a:rPr kumimoji="0" lang="zh-CN" alt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的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父结点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是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kumimoji="0" lang="zh-CN" altLang="en-US" sz="240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4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𝒌</m:t>
                        </m:r>
                        <m:r>
                          <a:rPr kumimoji="0" lang="en-US" altLang="zh-CN" sz="24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/</m:t>
                        </m:r>
                        <m:r>
                          <a:rPr kumimoji="0" lang="en-US" altLang="zh-CN" sz="24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</m:e>
                    </m:d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内容占位符 4">
                <a:extLst>
                  <a:ext uri="{FF2B5EF4-FFF2-40B4-BE49-F238E27FC236}">
                    <a16:creationId xmlns:a16="http://schemas.microsoft.com/office/drawing/2014/main" id="{42957044-5D1F-470A-ADAA-BBF28754E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2613929"/>
                <a:ext cx="9000999" cy="3551376"/>
              </a:xfrm>
              <a:prstGeom prst="rect">
                <a:avLst/>
              </a:prstGeom>
              <a:blipFill>
                <a:blip r:embed="rId4"/>
                <a:stretch>
                  <a:fillRect l="-1287" r="-44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30DC052E-7956-441F-9030-9E694F1A35A5}"/>
              </a:ext>
            </a:extLst>
          </p:cNvPr>
          <p:cNvSpPr txBox="1"/>
          <p:nvPr/>
        </p:nvSpPr>
        <p:spPr>
          <a:xfrm>
            <a:off x="0" y="614428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b="0" kern="1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性质</a:t>
            </a:r>
            <a:r>
              <a:rPr lang="en-US" altLang="zh-CN" b="0" kern="1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b="0" kern="1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是完全二叉树实现顺序存储以及二叉堆的重要性质！</a:t>
            </a:r>
            <a:r>
              <a:rPr lang="zh-CN" altLang="zh-CN" b="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zh-CN" altLang="en-US" b="0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4021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42B45-7943-4840-B6D2-F14D2D093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完全二叉树的分层编号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1EAF08-2AB6-4D88-B81A-35FE2B1661CF}"/>
              </a:ext>
            </a:extLst>
          </p:cNvPr>
          <p:cNvSpPr txBox="1"/>
          <p:nvPr/>
        </p:nvSpPr>
        <p:spPr>
          <a:xfrm>
            <a:off x="395536" y="755446"/>
            <a:ext cx="8352928" cy="224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0" dirty="0">
                <a:latin typeface="+mn-ea"/>
                <a:ea typeface="+mn-ea"/>
              </a:rPr>
              <a:t>实现对所有结点从上至下、从左向右连续编号：</a:t>
            </a:r>
            <a:endParaRPr lang="en-US" altLang="zh-CN" sz="2400" b="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latin typeface="+mn-ea"/>
                <a:ea typeface="+mn-ea"/>
              </a:rPr>
              <a:t>（</a:t>
            </a:r>
            <a:r>
              <a:rPr lang="en-US" altLang="zh-CN" sz="2400" b="0" dirty="0">
                <a:latin typeface="+mn-ea"/>
                <a:ea typeface="+mn-ea"/>
              </a:rPr>
              <a:t>1</a:t>
            </a:r>
            <a:r>
              <a:rPr lang="zh-CN" altLang="en-US" sz="2400" b="0" dirty="0">
                <a:latin typeface="+mn-ea"/>
                <a:ea typeface="+mn-ea"/>
              </a:rPr>
              <a:t>）根结点编号为</a:t>
            </a:r>
            <a:r>
              <a:rPr lang="en-US" altLang="zh-CN" sz="2400" b="0" dirty="0">
                <a:latin typeface="+mn-ea"/>
                <a:ea typeface="+mn-ea"/>
              </a:rPr>
              <a:t>1</a:t>
            </a:r>
            <a:r>
              <a:rPr lang="zh-CN" altLang="en-US" sz="2400" b="0" dirty="0">
                <a:latin typeface="+mn-ea"/>
                <a:ea typeface="+mn-ea"/>
              </a:rPr>
              <a:t>；</a:t>
            </a:r>
            <a:endParaRPr lang="en-US" altLang="zh-CN" sz="2400" b="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latin typeface="+mn-ea"/>
                <a:ea typeface="+mn-ea"/>
              </a:rPr>
              <a:t>（</a:t>
            </a:r>
            <a:r>
              <a:rPr lang="en-US" altLang="zh-CN" sz="2400" b="0" dirty="0">
                <a:latin typeface="+mn-ea"/>
                <a:ea typeface="+mn-ea"/>
              </a:rPr>
              <a:t>2</a:t>
            </a:r>
            <a:r>
              <a:rPr lang="zh-CN" altLang="en-US" sz="2400" b="0" dirty="0">
                <a:latin typeface="+mn-ea"/>
                <a:ea typeface="+mn-ea"/>
              </a:rPr>
              <a:t>）第 𝑖∈</a:t>
            </a:r>
            <a:r>
              <a:rPr lang="en-US" altLang="zh-CN" sz="2400" b="0" dirty="0">
                <a:latin typeface="+mn-ea"/>
                <a:ea typeface="+mn-ea"/>
              </a:rPr>
              <a:t>[2, </a:t>
            </a:r>
            <a:r>
              <a:rPr lang="zh-CN" altLang="en-US" sz="2400" b="0" dirty="0">
                <a:latin typeface="+mn-ea"/>
                <a:ea typeface="+mn-ea"/>
              </a:rPr>
              <a:t>𝑑</a:t>
            </a:r>
            <a:r>
              <a:rPr lang="en-US" altLang="zh-CN" sz="2400" b="0" dirty="0">
                <a:latin typeface="+mn-ea"/>
                <a:ea typeface="+mn-ea"/>
              </a:rPr>
              <a:t>]</a:t>
            </a:r>
            <a:r>
              <a:rPr lang="zh-CN" altLang="en-US" sz="2400" b="0" dirty="0">
                <a:latin typeface="+mn-ea"/>
                <a:ea typeface="+mn-ea"/>
              </a:rPr>
              <a:t>层，左端结点设置为</a:t>
            </a:r>
            <a:r>
              <a:rPr lang="en-US" altLang="zh-CN" sz="2400" b="0" dirty="0">
                <a:latin typeface="+mn-ea"/>
                <a:ea typeface="+mn-ea"/>
              </a:rPr>
              <a:t>2</a:t>
            </a:r>
            <a:r>
              <a:rPr lang="en-US" altLang="zh-CN" sz="2400" b="0" baseline="30000" dirty="0">
                <a:latin typeface="+mn-ea"/>
                <a:ea typeface="+mn-ea"/>
              </a:rPr>
              <a:t>(</a:t>
            </a:r>
            <a:r>
              <a:rPr lang="zh-CN" altLang="en-US" sz="2400" b="0" baseline="30000" dirty="0">
                <a:latin typeface="+mn-ea"/>
                <a:ea typeface="+mn-ea"/>
              </a:rPr>
              <a:t>𝑖−</a:t>
            </a:r>
            <a:r>
              <a:rPr lang="en-US" altLang="zh-CN" sz="2400" b="0" baseline="30000" dirty="0">
                <a:latin typeface="+mn-ea"/>
                <a:ea typeface="+mn-ea"/>
              </a:rPr>
              <a:t>1)</a:t>
            </a:r>
            <a:r>
              <a:rPr lang="zh-CN" altLang="en-US" sz="2400" b="0" dirty="0">
                <a:latin typeface="+mn-ea"/>
                <a:ea typeface="+mn-ea"/>
              </a:rPr>
              <a:t>；</a:t>
            </a:r>
            <a:endParaRPr lang="en-US" altLang="zh-CN" sz="2400" b="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latin typeface="+mn-ea"/>
                <a:ea typeface="+mn-ea"/>
              </a:rPr>
              <a:t>（</a:t>
            </a:r>
            <a:r>
              <a:rPr lang="en-US" altLang="zh-CN" sz="2400" b="0" dirty="0">
                <a:latin typeface="+mn-ea"/>
                <a:ea typeface="+mn-ea"/>
              </a:rPr>
              <a:t>3</a:t>
            </a:r>
            <a:r>
              <a:rPr lang="zh-CN" altLang="en-US" sz="2400" b="0" dirty="0">
                <a:latin typeface="+mn-ea"/>
                <a:ea typeface="+mn-ea"/>
              </a:rPr>
              <a:t>）同一层结点，从左向右连续编号。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B2B9FF-6676-4080-A61D-CEA997BF3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335" y="3222808"/>
            <a:ext cx="5637330" cy="340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84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766C3F-E846-4226-84D8-B6DBB8614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完全二叉树的分层编号</a:t>
            </a:r>
          </a:p>
        </p:txBody>
      </p:sp>
      <p:sp>
        <p:nvSpPr>
          <p:cNvPr id="4" name="任意多边形: 形状 19">
            <a:extLst>
              <a:ext uri="{FF2B5EF4-FFF2-40B4-BE49-F238E27FC236}">
                <a16:creationId xmlns:a16="http://schemas.microsoft.com/office/drawing/2014/main" id="{0E85583C-9B72-4A96-9F0D-2DB687228022}"/>
              </a:ext>
            </a:extLst>
          </p:cNvPr>
          <p:cNvSpPr/>
          <p:nvPr/>
        </p:nvSpPr>
        <p:spPr>
          <a:xfrm>
            <a:off x="0" y="980728"/>
            <a:ext cx="9108504" cy="5544616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t" anchorCtr="0">
            <a:noAutofit/>
          </a:bodyPr>
          <a:lstStyle/>
          <a:p>
            <a:pPr defTabSz="11557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>
                <a:latin typeface="+mn-ea"/>
              </a:rPr>
              <a:t>证明</a:t>
            </a:r>
            <a:r>
              <a:rPr lang="zh-CN" altLang="en-US" sz="2000" b="0" dirty="0">
                <a:latin typeface="+mn-ea"/>
              </a:rPr>
              <a:t>：</a:t>
            </a:r>
            <a:r>
              <a:rPr lang="en-US" altLang="zh-CN" sz="2000" b="0" dirty="0">
                <a:latin typeface="+mn-ea"/>
              </a:rPr>
              <a:t>【</a:t>
            </a:r>
            <a:r>
              <a:rPr lang="zh-CN" altLang="en-US" sz="2000" b="0" dirty="0">
                <a:latin typeface="+mn-ea"/>
              </a:rPr>
              <a:t>先用归纳法证明</a:t>
            </a:r>
            <a:r>
              <a:rPr lang="en-US" altLang="zh-CN" sz="2000" b="0" dirty="0">
                <a:latin typeface="+mn-ea"/>
              </a:rPr>
              <a:t>(1)</a:t>
            </a:r>
            <a:r>
              <a:rPr lang="zh-CN" altLang="en-US" sz="2000" b="0" dirty="0">
                <a:latin typeface="+mn-ea"/>
              </a:rPr>
              <a:t>和</a:t>
            </a:r>
            <a:r>
              <a:rPr lang="en-US" altLang="zh-CN" sz="2000" b="0" dirty="0">
                <a:latin typeface="+mn-ea"/>
              </a:rPr>
              <a:t>(2)</a:t>
            </a:r>
            <a:r>
              <a:rPr lang="zh-CN" altLang="en-US" sz="2000" b="0" dirty="0">
                <a:latin typeface="+mn-ea"/>
              </a:rPr>
              <a:t>，再利用</a:t>
            </a:r>
            <a:r>
              <a:rPr lang="en-US" altLang="zh-CN" sz="2000" b="0" dirty="0">
                <a:latin typeface="+mn-ea"/>
              </a:rPr>
              <a:t>(1)</a:t>
            </a:r>
            <a:r>
              <a:rPr lang="zh-CN" altLang="en-US" sz="2000" b="0" dirty="0">
                <a:latin typeface="+mn-ea"/>
              </a:rPr>
              <a:t>和</a:t>
            </a:r>
            <a:r>
              <a:rPr lang="en-US" altLang="zh-CN" sz="2000" b="0" dirty="0">
                <a:latin typeface="+mn-ea"/>
              </a:rPr>
              <a:t>(2)</a:t>
            </a:r>
            <a:r>
              <a:rPr lang="zh-CN" altLang="en-US" sz="2000" b="0" dirty="0">
                <a:latin typeface="+mn-ea"/>
              </a:rPr>
              <a:t>证明</a:t>
            </a:r>
            <a:r>
              <a:rPr lang="en-US" altLang="zh-CN" sz="2000" b="0" dirty="0">
                <a:latin typeface="+mn-ea"/>
              </a:rPr>
              <a:t>(3)】</a:t>
            </a:r>
            <a:endParaRPr lang="en-US" altLang="zh-CN" sz="2000" b="0" kern="100" dirty="0">
              <a:latin typeface="+mn-ea"/>
              <a:cs typeface="Times New Roman" panose="02020603050405020304" pitchFamily="18" charset="0"/>
            </a:endParaRPr>
          </a:p>
          <a:p>
            <a:pPr marL="457200" indent="-457200" defTabSz="11557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AutoNum type="alphaLcParenBoth"/>
            </a:pPr>
            <a:r>
              <a:rPr lang="zh-CN" altLang="en-US" sz="2000" b="0" kern="0" dirty="0">
                <a:latin typeface="+mn-ea"/>
              </a:rPr>
              <a:t>结点 </a:t>
            </a:r>
            <a:r>
              <a:rPr lang="en-US" altLang="zh-CN" sz="2000" b="0" kern="0" dirty="0" err="1">
                <a:latin typeface="+mn-ea"/>
              </a:rPr>
              <a:t>i</a:t>
            </a:r>
            <a:r>
              <a:rPr lang="en-US" altLang="zh-CN" sz="2000" b="0" kern="0" dirty="0">
                <a:latin typeface="+mn-ea"/>
              </a:rPr>
              <a:t> </a:t>
            </a:r>
            <a:r>
              <a:rPr lang="zh-CN" altLang="en-US" sz="2000" b="0" kern="0" dirty="0">
                <a:latin typeface="+mn-ea"/>
              </a:rPr>
              <a:t>为第 </a:t>
            </a:r>
            <a:r>
              <a:rPr lang="en-US" altLang="zh-CN" sz="2000" b="0" kern="0" dirty="0">
                <a:latin typeface="+mn-ea"/>
              </a:rPr>
              <a:t>j</a:t>
            </a:r>
            <a:r>
              <a:rPr lang="zh-CN" altLang="en-US" sz="2000" b="0" kern="0" dirty="0">
                <a:latin typeface="+mn-ea"/>
              </a:rPr>
              <a:t>（</a:t>
            </a:r>
            <a:r>
              <a:rPr lang="en-US" altLang="zh-CN" sz="2000" b="0" kern="0" dirty="0">
                <a:latin typeface="+mn-ea"/>
              </a:rPr>
              <a:t>1≤j≤</a:t>
            </a:r>
            <a:r>
              <a:rPr lang="en-US" altLang="zh-CN" sz="2000" b="0" kern="0" dirty="0">
                <a:latin typeface="+mn-ea"/>
                <a:sym typeface="Symbol" panose="05050102010706020507" pitchFamily="18" charset="2"/>
              </a:rPr>
              <a:t></a:t>
            </a:r>
            <a:r>
              <a:rPr lang="en-US" altLang="zh-CN" sz="2000" b="0" kern="0" dirty="0">
                <a:latin typeface="+mn-ea"/>
              </a:rPr>
              <a:t>log</a:t>
            </a:r>
            <a:r>
              <a:rPr lang="en-US" altLang="zh-CN" sz="2000" b="0" kern="0" baseline="-25000" dirty="0">
                <a:latin typeface="+mn-ea"/>
              </a:rPr>
              <a:t>2</a:t>
            </a:r>
            <a:r>
              <a:rPr lang="en-US" altLang="zh-CN" sz="2000" b="0" kern="0" dirty="0">
                <a:latin typeface="+mn-ea"/>
              </a:rPr>
              <a:t>n</a:t>
            </a:r>
            <a:r>
              <a:rPr lang="en-US" altLang="zh-CN" sz="2000" b="0" kern="0" dirty="0">
                <a:latin typeface="+mn-ea"/>
                <a:sym typeface="Symbol" panose="05050102010706020507" pitchFamily="18" charset="2"/>
              </a:rPr>
              <a:t></a:t>
            </a:r>
            <a:r>
              <a:rPr lang="zh-CN" altLang="en-US" sz="2000" b="0" kern="0" dirty="0">
                <a:latin typeface="+mn-ea"/>
                <a:sym typeface="Symbol" panose="05050102010706020507" pitchFamily="18" charset="2"/>
              </a:rPr>
              <a:t>）</a:t>
            </a:r>
            <a:r>
              <a:rPr lang="zh-CN" altLang="en-US" sz="2000" b="0" kern="0" dirty="0">
                <a:latin typeface="+mn-ea"/>
              </a:rPr>
              <a:t>层的第一个结点，由性质</a:t>
            </a:r>
            <a:r>
              <a:rPr lang="en-US" altLang="zh-CN" sz="2000" b="0" kern="0" dirty="0">
                <a:latin typeface="+mn-ea"/>
              </a:rPr>
              <a:t>3</a:t>
            </a:r>
            <a:r>
              <a:rPr lang="zh-CN" altLang="en-US" sz="2000" b="0" kern="0" dirty="0">
                <a:latin typeface="+mn-ea"/>
              </a:rPr>
              <a:t>和完全二叉树的定义可知 </a:t>
            </a:r>
            <a:r>
              <a:rPr lang="en-US" altLang="zh-CN" sz="2000" b="0" kern="0" dirty="0" err="1">
                <a:latin typeface="+mn-ea"/>
              </a:rPr>
              <a:t>i</a:t>
            </a:r>
            <a:r>
              <a:rPr lang="zh-CN" altLang="en-US" sz="2000" b="0" kern="0" dirty="0">
                <a:latin typeface="+mn-ea"/>
              </a:rPr>
              <a:t>＝</a:t>
            </a:r>
            <a:r>
              <a:rPr lang="en-US" altLang="zh-CN" sz="2000" b="0" kern="0" dirty="0">
                <a:latin typeface="+mn-ea"/>
              </a:rPr>
              <a:t>2</a:t>
            </a:r>
            <a:r>
              <a:rPr lang="en-US" altLang="zh-CN" sz="2000" b="0" kern="0" baseline="30000" dirty="0">
                <a:latin typeface="+mn-ea"/>
              </a:rPr>
              <a:t>j-1</a:t>
            </a:r>
            <a:r>
              <a:rPr lang="zh-CN" altLang="en-US" sz="2000" b="0" kern="0" dirty="0">
                <a:latin typeface="+mn-ea"/>
              </a:rPr>
              <a:t>，结点 </a:t>
            </a:r>
            <a:r>
              <a:rPr lang="en-US" altLang="zh-CN" sz="2000" b="0" kern="0" dirty="0" err="1">
                <a:latin typeface="+mn-ea"/>
              </a:rPr>
              <a:t>i</a:t>
            </a:r>
            <a:r>
              <a:rPr lang="en-US" altLang="zh-CN" sz="2000" b="0" kern="0" dirty="0">
                <a:latin typeface="+mn-ea"/>
              </a:rPr>
              <a:t> </a:t>
            </a:r>
            <a:r>
              <a:rPr lang="zh-CN" altLang="en-US" sz="2000" b="0" kern="0" dirty="0">
                <a:latin typeface="+mn-ea"/>
              </a:rPr>
              <a:t>的左孩子必定为第 </a:t>
            </a:r>
            <a:r>
              <a:rPr lang="en-US" altLang="zh-CN" sz="2000" b="0" kern="0" dirty="0">
                <a:latin typeface="+mn-ea"/>
              </a:rPr>
              <a:t>j</a:t>
            </a:r>
            <a:r>
              <a:rPr lang="zh-CN" altLang="en-US" sz="2000" b="0" kern="0" dirty="0">
                <a:latin typeface="+mn-ea"/>
              </a:rPr>
              <a:t>＋</a:t>
            </a:r>
            <a:r>
              <a:rPr lang="en-US" altLang="zh-CN" sz="2000" b="0" kern="0" dirty="0">
                <a:latin typeface="+mn-ea"/>
              </a:rPr>
              <a:t>1</a:t>
            </a:r>
            <a:r>
              <a:rPr lang="zh-CN" altLang="en-US" sz="2000" b="0" kern="0" dirty="0">
                <a:latin typeface="+mn-ea"/>
              </a:rPr>
              <a:t>层的第一个结点，其编号为 </a:t>
            </a:r>
            <a:r>
              <a:rPr lang="en-US" altLang="zh-CN" sz="2000" b="0" kern="0" dirty="0">
                <a:latin typeface="+mn-ea"/>
              </a:rPr>
              <a:t>2</a:t>
            </a:r>
            <a:r>
              <a:rPr lang="en-US" altLang="zh-CN" sz="2000" b="0" kern="0" baseline="30000" dirty="0">
                <a:latin typeface="+mn-ea"/>
              </a:rPr>
              <a:t>j</a:t>
            </a:r>
            <a:r>
              <a:rPr lang="zh-CN" altLang="en-US" sz="2000" b="0" kern="0" dirty="0">
                <a:latin typeface="+mn-ea"/>
              </a:rPr>
              <a:t>＝</a:t>
            </a:r>
            <a:r>
              <a:rPr lang="en-US" altLang="zh-CN" sz="2000" b="0" kern="0" dirty="0">
                <a:latin typeface="+mn-ea"/>
              </a:rPr>
              <a:t>2×2</a:t>
            </a:r>
            <a:r>
              <a:rPr lang="en-US" altLang="zh-CN" sz="2000" b="0" kern="0" baseline="30000" dirty="0">
                <a:latin typeface="+mn-ea"/>
              </a:rPr>
              <a:t>j-1</a:t>
            </a:r>
            <a:r>
              <a:rPr lang="zh-CN" altLang="en-US" sz="2000" b="0" kern="0" dirty="0">
                <a:latin typeface="+mn-ea"/>
              </a:rPr>
              <a:t>＝</a:t>
            </a:r>
            <a:r>
              <a:rPr lang="en-US" altLang="zh-CN" sz="2000" b="0" kern="0" dirty="0">
                <a:latin typeface="+mn-ea"/>
              </a:rPr>
              <a:t>2i</a:t>
            </a:r>
            <a:r>
              <a:rPr lang="zh-CN" altLang="en-US" sz="2000" b="0" kern="0" dirty="0">
                <a:latin typeface="+mn-ea"/>
              </a:rPr>
              <a:t>。若</a:t>
            </a:r>
            <a:r>
              <a:rPr lang="en-US" altLang="zh-CN" sz="2000" b="0" kern="0" dirty="0">
                <a:latin typeface="+mn-ea"/>
              </a:rPr>
              <a:t>2i&gt;n</a:t>
            </a:r>
            <a:r>
              <a:rPr lang="zh-CN" altLang="en-US" sz="2000" b="0" kern="0" dirty="0">
                <a:latin typeface="+mn-ea"/>
              </a:rPr>
              <a:t>，则无左孩子。其右孩子必定为第 </a:t>
            </a:r>
            <a:r>
              <a:rPr lang="en-US" altLang="zh-CN" sz="2000" b="0" kern="0" dirty="0">
                <a:latin typeface="+mn-ea"/>
              </a:rPr>
              <a:t>j</a:t>
            </a:r>
            <a:r>
              <a:rPr lang="zh-CN" altLang="en-US" sz="2000" b="0" kern="0" dirty="0">
                <a:latin typeface="+mn-ea"/>
              </a:rPr>
              <a:t>＋</a:t>
            </a:r>
            <a:r>
              <a:rPr lang="en-US" altLang="zh-CN" sz="2000" b="0" kern="0" dirty="0">
                <a:latin typeface="+mn-ea"/>
              </a:rPr>
              <a:t>1</a:t>
            </a:r>
            <a:r>
              <a:rPr lang="zh-CN" altLang="en-US" sz="2000" b="0" kern="0" dirty="0">
                <a:latin typeface="+mn-ea"/>
              </a:rPr>
              <a:t>层的第二个结点，编号为</a:t>
            </a:r>
            <a:r>
              <a:rPr lang="en-US" altLang="zh-CN" sz="2000" b="0" kern="0" dirty="0">
                <a:latin typeface="+mn-ea"/>
              </a:rPr>
              <a:t>2i</a:t>
            </a:r>
            <a:r>
              <a:rPr lang="zh-CN" altLang="en-US" sz="2000" b="0" kern="0" dirty="0">
                <a:latin typeface="+mn-ea"/>
              </a:rPr>
              <a:t>＋</a:t>
            </a:r>
            <a:r>
              <a:rPr lang="en-US" altLang="zh-CN" sz="2000" b="0" kern="0" dirty="0">
                <a:latin typeface="+mn-ea"/>
              </a:rPr>
              <a:t>1</a:t>
            </a:r>
            <a:r>
              <a:rPr lang="zh-CN" altLang="en-US" sz="2000" b="0" kern="0" dirty="0">
                <a:latin typeface="+mn-ea"/>
              </a:rPr>
              <a:t>。若</a:t>
            </a:r>
            <a:r>
              <a:rPr lang="en-US" altLang="zh-CN" sz="2000" b="0" kern="0" dirty="0">
                <a:latin typeface="+mn-ea"/>
              </a:rPr>
              <a:t>2i+1&gt;n</a:t>
            </a:r>
            <a:r>
              <a:rPr lang="zh-CN" altLang="en-US" sz="2000" b="0" kern="0" dirty="0">
                <a:latin typeface="+mn-ea"/>
              </a:rPr>
              <a:t>，则无右孩子。</a:t>
            </a:r>
            <a:endParaRPr lang="en-US" altLang="zh-CN" sz="2000" b="0" kern="0" dirty="0">
              <a:latin typeface="+mn-ea"/>
            </a:endParaRPr>
          </a:p>
          <a:p>
            <a:pPr marL="457200" indent="-457200" defTabSz="11557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AutoNum type="alphaLcParenBoth"/>
            </a:pPr>
            <a:r>
              <a:rPr lang="zh-CN" altLang="en-US" sz="2000" b="0" kern="0" dirty="0">
                <a:latin typeface="+mn-ea"/>
              </a:rPr>
              <a:t>结点 </a:t>
            </a:r>
            <a:r>
              <a:rPr lang="en-US" altLang="zh-CN" sz="2000" b="0" kern="0" dirty="0" err="1">
                <a:latin typeface="+mn-ea"/>
              </a:rPr>
              <a:t>i</a:t>
            </a:r>
            <a:r>
              <a:rPr lang="en-US" altLang="zh-CN" sz="2000" b="0" kern="0" dirty="0">
                <a:latin typeface="+mn-ea"/>
              </a:rPr>
              <a:t> </a:t>
            </a:r>
            <a:r>
              <a:rPr lang="zh-CN" altLang="en-US" sz="2000" b="0" kern="0" dirty="0">
                <a:latin typeface="+mn-ea"/>
              </a:rPr>
              <a:t>为第 </a:t>
            </a:r>
            <a:r>
              <a:rPr lang="en-US" altLang="zh-CN" sz="2000" b="0" kern="0" dirty="0">
                <a:latin typeface="+mn-ea"/>
              </a:rPr>
              <a:t>j</a:t>
            </a:r>
            <a:r>
              <a:rPr lang="zh-CN" altLang="en-US" sz="2000" b="0" kern="0" dirty="0">
                <a:latin typeface="+mn-ea"/>
              </a:rPr>
              <a:t>（</a:t>
            </a:r>
            <a:r>
              <a:rPr lang="en-US" altLang="zh-CN" sz="2000" b="0" kern="0" dirty="0">
                <a:latin typeface="+mn-ea"/>
              </a:rPr>
              <a:t>1≤j≤</a:t>
            </a:r>
            <a:r>
              <a:rPr lang="en-US" altLang="zh-CN" sz="2000" b="0" kern="0" dirty="0">
                <a:latin typeface="+mn-ea"/>
                <a:sym typeface="Symbol" panose="05050102010706020507" pitchFamily="18" charset="2"/>
              </a:rPr>
              <a:t></a:t>
            </a:r>
            <a:r>
              <a:rPr lang="en-US" altLang="zh-CN" sz="2000" b="0" kern="0" dirty="0">
                <a:latin typeface="+mn-ea"/>
              </a:rPr>
              <a:t>log</a:t>
            </a:r>
            <a:r>
              <a:rPr lang="en-US" altLang="zh-CN" sz="2000" b="0" kern="0" baseline="-25000" dirty="0">
                <a:latin typeface="+mn-ea"/>
              </a:rPr>
              <a:t>2</a:t>
            </a:r>
            <a:r>
              <a:rPr lang="en-US" altLang="zh-CN" sz="2000" b="0" kern="0" dirty="0">
                <a:latin typeface="+mn-ea"/>
              </a:rPr>
              <a:t>n</a:t>
            </a:r>
            <a:r>
              <a:rPr lang="en-US" altLang="zh-CN" sz="2000" b="0" kern="0" dirty="0">
                <a:latin typeface="+mn-ea"/>
                <a:sym typeface="Symbol" panose="05050102010706020507" pitchFamily="18" charset="2"/>
              </a:rPr>
              <a:t></a:t>
            </a:r>
            <a:r>
              <a:rPr lang="zh-CN" altLang="en-US" sz="2000" b="0" kern="0" dirty="0">
                <a:latin typeface="+mn-ea"/>
                <a:sym typeface="Symbol" panose="05050102010706020507" pitchFamily="18" charset="2"/>
              </a:rPr>
              <a:t>）</a:t>
            </a:r>
            <a:r>
              <a:rPr lang="zh-CN" altLang="en-US" sz="2000" b="0" kern="0" dirty="0">
                <a:latin typeface="+mn-ea"/>
              </a:rPr>
              <a:t>层上的某结点（</a:t>
            </a:r>
            <a:r>
              <a:rPr lang="en-US" altLang="zh-CN" sz="2000" b="0" kern="0" dirty="0">
                <a:latin typeface="+mn-ea"/>
              </a:rPr>
              <a:t>2</a:t>
            </a:r>
            <a:r>
              <a:rPr lang="en-US" altLang="zh-CN" sz="2000" b="0" kern="0" baseline="30000" dirty="0">
                <a:latin typeface="+mn-ea"/>
              </a:rPr>
              <a:t>j-1</a:t>
            </a:r>
            <a:r>
              <a:rPr lang="en-US" altLang="zh-CN" sz="2000" b="0" kern="0" dirty="0">
                <a:latin typeface="+mn-ea"/>
              </a:rPr>
              <a:t>≤i&lt;2</a:t>
            </a:r>
            <a:r>
              <a:rPr lang="en-US" altLang="zh-CN" sz="2000" b="0" kern="0" baseline="30000" dirty="0">
                <a:latin typeface="+mn-ea"/>
              </a:rPr>
              <a:t>j</a:t>
            </a:r>
            <a:r>
              <a:rPr lang="en-US" altLang="zh-CN" sz="2000" b="0" kern="0" dirty="0">
                <a:latin typeface="+mn-ea"/>
              </a:rPr>
              <a:t>-1</a:t>
            </a:r>
            <a:r>
              <a:rPr lang="zh-CN" altLang="en-US" sz="2000" b="0" kern="0" dirty="0">
                <a:latin typeface="+mn-ea"/>
              </a:rPr>
              <a:t>），假设其左孩子为 </a:t>
            </a:r>
            <a:r>
              <a:rPr lang="en-US" altLang="zh-CN" sz="2000" b="0" kern="0" dirty="0">
                <a:latin typeface="+mn-ea"/>
              </a:rPr>
              <a:t>2i</a:t>
            </a:r>
            <a:r>
              <a:rPr lang="zh-CN" altLang="en-US" sz="2000" b="0" kern="0" dirty="0">
                <a:latin typeface="+mn-ea"/>
              </a:rPr>
              <a:t>，右孩子为 </a:t>
            </a:r>
            <a:r>
              <a:rPr lang="en-US" altLang="zh-CN" sz="2000" b="0" kern="0" dirty="0">
                <a:latin typeface="+mn-ea"/>
              </a:rPr>
              <a:t>2i</a:t>
            </a:r>
            <a:r>
              <a:rPr lang="zh-CN" altLang="en-US" sz="2000" b="0" kern="0" dirty="0">
                <a:latin typeface="+mn-ea"/>
              </a:rPr>
              <a:t>＋</a:t>
            </a:r>
            <a:r>
              <a:rPr lang="en-US" altLang="zh-CN" sz="2000" b="0" kern="0" dirty="0">
                <a:latin typeface="+mn-ea"/>
              </a:rPr>
              <a:t>1</a:t>
            </a:r>
            <a:r>
              <a:rPr lang="zh-CN" altLang="en-US" sz="2000" b="0" kern="0" dirty="0">
                <a:latin typeface="+mn-ea"/>
              </a:rPr>
              <a:t>。而结点 </a:t>
            </a:r>
            <a:r>
              <a:rPr lang="en-US" altLang="zh-CN" sz="2000" b="0" kern="0" dirty="0" err="1">
                <a:latin typeface="+mn-ea"/>
              </a:rPr>
              <a:t>i</a:t>
            </a:r>
            <a:r>
              <a:rPr lang="zh-CN" altLang="en-US" sz="2000" b="0" kern="0" dirty="0">
                <a:latin typeface="+mn-ea"/>
              </a:rPr>
              <a:t>＋</a:t>
            </a:r>
            <a:r>
              <a:rPr lang="en-US" altLang="zh-CN" sz="2000" b="0" kern="0" dirty="0">
                <a:latin typeface="+mn-ea"/>
              </a:rPr>
              <a:t>1</a:t>
            </a:r>
            <a:r>
              <a:rPr lang="zh-CN" altLang="en-US" sz="2000" b="0" kern="0" dirty="0">
                <a:latin typeface="+mn-ea"/>
              </a:rPr>
              <a:t>是结点 </a:t>
            </a:r>
            <a:r>
              <a:rPr lang="en-US" altLang="zh-CN" sz="2000" b="0" kern="0" dirty="0" err="1">
                <a:latin typeface="+mn-ea"/>
              </a:rPr>
              <a:t>i</a:t>
            </a:r>
            <a:r>
              <a:rPr lang="en-US" altLang="zh-CN" sz="2000" b="0" kern="0" dirty="0">
                <a:latin typeface="+mn-ea"/>
              </a:rPr>
              <a:t> </a:t>
            </a:r>
            <a:r>
              <a:rPr lang="zh-CN" altLang="en-US" sz="2000" b="0" kern="0" dirty="0">
                <a:latin typeface="+mn-ea"/>
              </a:rPr>
              <a:t>的右兄弟或堂兄弟。若它有左孩子，其编号必定为 </a:t>
            </a:r>
            <a:r>
              <a:rPr lang="en-US" altLang="zh-CN" sz="2000" b="0" kern="0" dirty="0">
                <a:latin typeface="+mn-ea"/>
              </a:rPr>
              <a:t>2i</a:t>
            </a:r>
            <a:r>
              <a:rPr lang="zh-CN" altLang="en-US" sz="2000" b="0" kern="0" dirty="0">
                <a:latin typeface="+mn-ea"/>
              </a:rPr>
              <a:t>＋</a:t>
            </a:r>
            <a:r>
              <a:rPr lang="en-US" altLang="zh-CN" sz="2000" b="0" kern="0" dirty="0">
                <a:latin typeface="+mn-ea"/>
              </a:rPr>
              <a:t>2</a:t>
            </a:r>
            <a:r>
              <a:rPr lang="zh-CN" altLang="en-US" sz="2000" b="0" kern="0" dirty="0">
                <a:latin typeface="+mn-ea"/>
              </a:rPr>
              <a:t>＝</a:t>
            </a:r>
            <a:r>
              <a:rPr lang="en-US" altLang="zh-CN" sz="2000" b="0" kern="0" dirty="0">
                <a:latin typeface="+mn-ea"/>
              </a:rPr>
              <a:t>2×(</a:t>
            </a:r>
            <a:r>
              <a:rPr lang="en-US" altLang="zh-CN" sz="2000" b="0" kern="0" dirty="0" err="1">
                <a:latin typeface="+mn-ea"/>
              </a:rPr>
              <a:t>i</a:t>
            </a:r>
            <a:r>
              <a:rPr lang="zh-CN" altLang="en-US" sz="2000" b="0" kern="0" dirty="0">
                <a:latin typeface="+mn-ea"/>
              </a:rPr>
              <a:t>＋</a:t>
            </a:r>
            <a:r>
              <a:rPr lang="en-US" altLang="zh-CN" sz="2000" b="0" kern="0" dirty="0">
                <a:latin typeface="+mn-ea"/>
              </a:rPr>
              <a:t>1)</a:t>
            </a:r>
            <a:r>
              <a:rPr lang="zh-CN" altLang="en-US" sz="2000" b="0" kern="0" dirty="0">
                <a:latin typeface="+mn-ea"/>
              </a:rPr>
              <a:t>；若它有右孩子，其编号必定为 </a:t>
            </a:r>
            <a:r>
              <a:rPr lang="en-US" altLang="zh-CN" sz="2000" b="0" kern="0" dirty="0">
                <a:latin typeface="+mn-ea"/>
              </a:rPr>
              <a:t>2i</a:t>
            </a:r>
            <a:r>
              <a:rPr lang="zh-CN" altLang="en-US" sz="2000" b="0" kern="0" dirty="0">
                <a:latin typeface="+mn-ea"/>
              </a:rPr>
              <a:t>＋</a:t>
            </a:r>
            <a:r>
              <a:rPr lang="en-US" altLang="zh-CN" sz="2000" b="0" kern="0" dirty="0">
                <a:latin typeface="+mn-ea"/>
              </a:rPr>
              <a:t>3</a:t>
            </a:r>
            <a:r>
              <a:rPr lang="zh-CN" altLang="en-US" sz="2000" b="0" kern="0" dirty="0">
                <a:latin typeface="+mn-ea"/>
              </a:rPr>
              <a:t>＝</a:t>
            </a:r>
            <a:r>
              <a:rPr lang="en-US" altLang="zh-CN" sz="2000" b="0" kern="0" dirty="0">
                <a:latin typeface="+mn-ea"/>
              </a:rPr>
              <a:t>2×(</a:t>
            </a:r>
            <a:r>
              <a:rPr lang="en-US" altLang="zh-CN" sz="2000" b="0" kern="0" dirty="0" err="1">
                <a:latin typeface="+mn-ea"/>
              </a:rPr>
              <a:t>i</a:t>
            </a:r>
            <a:r>
              <a:rPr lang="zh-CN" altLang="en-US" sz="2000" b="0" kern="0" dirty="0">
                <a:latin typeface="+mn-ea"/>
              </a:rPr>
              <a:t>＋</a:t>
            </a:r>
            <a:r>
              <a:rPr lang="en-US" altLang="zh-CN" sz="2000" b="0" kern="0" dirty="0">
                <a:latin typeface="+mn-ea"/>
              </a:rPr>
              <a:t>1)</a:t>
            </a:r>
            <a:r>
              <a:rPr lang="zh-CN" altLang="en-US" sz="2000" b="0" kern="0" dirty="0">
                <a:latin typeface="+mn-ea"/>
              </a:rPr>
              <a:t>＋</a:t>
            </a:r>
            <a:r>
              <a:rPr lang="en-US" altLang="zh-CN" sz="2000" b="0" kern="0" dirty="0">
                <a:latin typeface="+mn-ea"/>
              </a:rPr>
              <a:t>1</a:t>
            </a:r>
            <a:r>
              <a:rPr lang="zh-CN" altLang="en-US" sz="2000" b="0" kern="0" dirty="0">
                <a:latin typeface="+mn-ea"/>
              </a:rPr>
              <a:t>。</a:t>
            </a:r>
          </a:p>
          <a:p>
            <a:pPr defTabSz="11557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000" b="0" dirty="0">
                <a:effectLst/>
                <a:latin typeface="+mn-ea"/>
              </a:rPr>
              <a:t>(3) </a:t>
            </a:r>
            <a:r>
              <a:rPr lang="en-US" altLang="zh-CN" sz="2000" b="0" dirty="0" err="1">
                <a:effectLst/>
                <a:latin typeface="+mn-ea"/>
              </a:rPr>
              <a:t>i</a:t>
            </a:r>
            <a:r>
              <a:rPr lang="zh-CN" altLang="en-US" sz="2000" b="0" dirty="0">
                <a:effectLst/>
                <a:latin typeface="+mn-ea"/>
              </a:rPr>
              <a:t>＝</a:t>
            </a:r>
            <a:r>
              <a:rPr lang="en-US" altLang="zh-CN" sz="2000" b="0" dirty="0">
                <a:effectLst/>
                <a:latin typeface="+mn-ea"/>
              </a:rPr>
              <a:t>1</a:t>
            </a:r>
            <a:r>
              <a:rPr lang="zh-CN" altLang="en-US" sz="2000" b="0" dirty="0">
                <a:effectLst/>
                <a:latin typeface="+mn-ea"/>
              </a:rPr>
              <a:t>时，根结点，无双亲</a:t>
            </a:r>
            <a:r>
              <a:rPr lang="zh-CN" altLang="en-US" sz="2000" b="0" dirty="0">
                <a:latin typeface="+mn-ea"/>
              </a:rPr>
              <a:t>；</a:t>
            </a:r>
            <a:r>
              <a:rPr lang="en-US" altLang="zh-CN" sz="2000" b="0" dirty="0" err="1">
                <a:effectLst/>
                <a:latin typeface="+mn-ea"/>
              </a:rPr>
              <a:t>i</a:t>
            </a:r>
            <a:r>
              <a:rPr lang="en-US" altLang="zh-CN" sz="2000" b="0" dirty="0">
                <a:effectLst/>
                <a:latin typeface="+mn-ea"/>
              </a:rPr>
              <a:t>&gt;1</a:t>
            </a:r>
            <a:r>
              <a:rPr lang="zh-CN" altLang="en-US" sz="2000" b="0" dirty="0">
                <a:effectLst/>
                <a:latin typeface="+mn-ea"/>
              </a:rPr>
              <a:t>时，如果 </a:t>
            </a:r>
            <a:r>
              <a:rPr lang="en-US" altLang="zh-CN" sz="2000" b="0" dirty="0" err="1">
                <a:effectLst/>
                <a:latin typeface="+mn-ea"/>
              </a:rPr>
              <a:t>i</a:t>
            </a:r>
            <a:r>
              <a:rPr lang="en-US" altLang="zh-CN" sz="2000" b="0" dirty="0">
                <a:effectLst/>
                <a:latin typeface="+mn-ea"/>
              </a:rPr>
              <a:t> </a:t>
            </a:r>
            <a:r>
              <a:rPr lang="zh-CN" altLang="en-US" sz="2000" b="0" dirty="0">
                <a:effectLst/>
                <a:latin typeface="+mn-ea"/>
              </a:rPr>
              <a:t>为左孩子，有</a:t>
            </a:r>
            <a:r>
              <a:rPr lang="en-US" altLang="zh-CN" sz="2000" b="0" dirty="0">
                <a:effectLst/>
                <a:latin typeface="+mn-ea"/>
              </a:rPr>
              <a:t>2×</a:t>
            </a:r>
            <a:r>
              <a:rPr lang="en-US" altLang="zh-CN" sz="2000" b="0" dirty="0">
                <a:latin typeface="+mn-ea"/>
              </a:rPr>
              <a:t>(</a:t>
            </a:r>
            <a:r>
              <a:rPr lang="en-US" altLang="zh-CN" sz="2000" b="0" dirty="0" err="1">
                <a:effectLst/>
                <a:latin typeface="+mn-ea"/>
              </a:rPr>
              <a:t>i</a:t>
            </a:r>
            <a:r>
              <a:rPr lang="en-US" altLang="zh-CN" sz="2000" b="0" dirty="0">
                <a:effectLst/>
                <a:latin typeface="+mn-ea"/>
              </a:rPr>
              <a:t>/2)=</a:t>
            </a:r>
            <a:r>
              <a:rPr lang="en-US" altLang="zh-CN" sz="2000" b="0" dirty="0" err="1">
                <a:effectLst/>
                <a:latin typeface="+mn-ea"/>
              </a:rPr>
              <a:t>i</a:t>
            </a:r>
            <a:r>
              <a:rPr lang="zh-CN" altLang="en-US" sz="2000" b="0" dirty="0">
                <a:latin typeface="+mn-ea"/>
              </a:rPr>
              <a:t>，</a:t>
            </a:r>
            <a:r>
              <a:rPr lang="en-US" altLang="zh-CN" sz="2000" b="0" dirty="0" err="1">
                <a:effectLst/>
                <a:latin typeface="+mn-ea"/>
              </a:rPr>
              <a:t>i</a:t>
            </a:r>
            <a:r>
              <a:rPr lang="en-US" altLang="zh-CN" sz="2000" b="0" dirty="0">
                <a:effectLst/>
                <a:latin typeface="+mn-ea"/>
              </a:rPr>
              <a:t>/2</a:t>
            </a:r>
            <a:r>
              <a:rPr lang="zh-CN" altLang="en-US" sz="2000" b="0" dirty="0">
                <a:effectLst/>
                <a:latin typeface="+mn-ea"/>
              </a:rPr>
              <a:t>是 </a:t>
            </a:r>
            <a:r>
              <a:rPr lang="en-US" altLang="zh-CN" sz="2000" b="0" dirty="0" err="1">
                <a:effectLst/>
                <a:latin typeface="+mn-ea"/>
              </a:rPr>
              <a:t>i</a:t>
            </a:r>
            <a:r>
              <a:rPr lang="en-US" altLang="zh-CN" sz="2000" b="0" dirty="0">
                <a:effectLst/>
                <a:latin typeface="+mn-ea"/>
              </a:rPr>
              <a:t> </a:t>
            </a:r>
            <a:r>
              <a:rPr lang="zh-CN" altLang="en-US" sz="2000" b="0" dirty="0">
                <a:effectLst/>
                <a:latin typeface="+mn-ea"/>
              </a:rPr>
              <a:t>的双亲；如果 </a:t>
            </a:r>
            <a:r>
              <a:rPr lang="en-US" altLang="zh-CN" sz="2000" b="0" dirty="0" err="1">
                <a:effectLst/>
                <a:latin typeface="+mn-ea"/>
              </a:rPr>
              <a:t>i</a:t>
            </a:r>
            <a:r>
              <a:rPr lang="en-US" altLang="zh-CN" sz="2000" b="0" dirty="0">
                <a:effectLst/>
                <a:latin typeface="+mn-ea"/>
              </a:rPr>
              <a:t> </a:t>
            </a:r>
            <a:r>
              <a:rPr lang="zh-CN" altLang="en-US" sz="2000" b="0" dirty="0">
                <a:effectLst/>
                <a:latin typeface="+mn-ea"/>
              </a:rPr>
              <a:t>为右孩子，设 </a:t>
            </a:r>
            <a:r>
              <a:rPr lang="en-US" altLang="zh-CN" sz="2000" b="0" dirty="0" err="1">
                <a:effectLst/>
                <a:latin typeface="+mn-ea"/>
              </a:rPr>
              <a:t>i</a:t>
            </a:r>
            <a:r>
              <a:rPr lang="zh-CN" altLang="en-US" sz="2000" b="0" dirty="0">
                <a:effectLst/>
                <a:latin typeface="+mn-ea"/>
              </a:rPr>
              <a:t>＝</a:t>
            </a:r>
            <a:r>
              <a:rPr lang="en-US" altLang="zh-CN" sz="2000" b="0" dirty="0">
                <a:effectLst/>
                <a:latin typeface="+mn-ea"/>
              </a:rPr>
              <a:t>2p+1</a:t>
            </a:r>
            <a:r>
              <a:rPr lang="zh-CN" altLang="en-US" sz="2000" b="0" dirty="0">
                <a:effectLst/>
                <a:latin typeface="+mn-ea"/>
              </a:rPr>
              <a:t>，</a:t>
            </a:r>
            <a:r>
              <a:rPr lang="en-US" altLang="zh-CN" sz="2000" b="0" dirty="0" err="1">
                <a:effectLst/>
                <a:latin typeface="+mn-ea"/>
              </a:rPr>
              <a:t>i</a:t>
            </a:r>
            <a:r>
              <a:rPr lang="en-US" altLang="zh-CN" sz="2000" b="0" dirty="0">
                <a:effectLst/>
                <a:latin typeface="+mn-ea"/>
              </a:rPr>
              <a:t> </a:t>
            </a:r>
            <a:r>
              <a:rPr lang="zh-CN" altLang="en-US" sz="2000" b="0" dirty="0">
                <a:effectLst/>
                <a:latin typeface="+mn-ea"/>
              </a:rPr>
              <a:t>的双亲为 </a:t>
            </a:r>
            <a:r>
              <a:rPr lang="en-US" altLang="zh-CN" sz="2000" b="0" dirty="0">
                <a:effectLst/>
                <a:latin typeface="+mn-ea"/>
              </a:rPr>
              <a:t>p</a:t>
            </a:r>
            <a:r>
              <a:rPr lang="zh-CN" altLang="en-US" sz="2000" b="0" dirty="0">
                <a:effectLst/>
                <a:latin typeface="+mn-ea"/>
              </a:rPr>
              <a:t>，则 </a:t>
            </a:r>
            <a:r>
              <a:rPr lang="en-US" altLang="zh-CN" sz="2000" b="0" dirty="0">
                <a:effectLst/>
                <a:latin typeface="+mn-ea"/>
              </a:rPr>
              <a:t>p</a:t>
            </a:r>
            <a:r>
              <a:rPr lang="zh-CN" altLang="en-US" sz="2000" b="0" dirty="0">
                <a:effectLst/>
                <a:latin typeface="+mn-ea"/>
              </a:rPr>
              <a:t>＝</a:t>
            </a:r>
            <a:r>
              <a:rPr lang="en-US" altLang="zh-CN" sz="2000" b="0" dirty="0">
                <a:effectLst/>
                <a:latin typeface="+mn-ea"/>
              </a:rPr>
              <a:t>(i</a:t>
            </a:r>
            <a:r>
              <a:rPr lang="en-US" altLang="zh-CN" sz="2000" b="0" dirty="0">
                <a:latin typeface="+mn-ea"/>
              </a:rPr>
              <a:t>-</a:t>
            </a:r>
            <a:r>
              <a:rPr lang="en-US" altLang="zh-CN" sz="2000" b="0" dirty="0">
                <a:effectLst/>
                <a:latin typeface="+mn-ea"/>
              </a:rPr>
              <a:t>1</a:t>
            </a:r>
            <a:r>
              <a:rPr lang="en-US" altLang="zh-CN" sz="2000" b="0" dirty="0">
                <a:latin typeface="+mn-ea"/>
              </a:rPr>
              <a:t>)</a:t>
            </a:r>
            <a:r>
              <a:rPr lang="en-US" altLang="zh-CN" sz="2000" b="0" dirty="0">
                <a:effectLst/>
                <a:latin typeface="+mn-ea"/>
              </a:rPr>
              <a:t>/2=</a:t>
            </a:r>
            <a:r>
              <a:rPr lang="en-US" altLang="zh-CN" sz="2000" b="0" kern="0" dirty="0">
                <a:latin typeface="+mn-ea"/>
                <a:sym typeface="Symbol" panose="05050102010706020507" pitchFamily="18" charset="2"/>
              </a:rPr>
              <a:t></a:t>
            </a:r>
            <a:r>
              <a:rPr lang="en-US" altLang="zh-CN" sz="2000" b="0" dirty="0" err="1">
                <a:effectLst/>
                <a:latin typeface="+mn-ea"/>
              </a:rPr>
              <a:t>i</a:t>
            </a:r>
            <a:r>
              <a:rPr lang="en-US" altLang="zh-CN" sz="2000" b="0" dirty="0">
                <a:effectLst/>
                <a:latin typeface="+mn-ea"/>
              </a:rPr>
              <a:t>/2</a:t>
            </a:r>
            <a:r>
              <a:rPr lang="en-US" altLang="zh-CN" sz="2000" b="0" kern="0" dirty="0">
                <a:latin typeface="+mn-ea"/>
                <a:sym typeface="Symbol" panose="05050102010706020507" pitchFamily="18" charset="2"/>
              </a:rPr>
              <a:t></a:t>
            </a:r>
            <a:endParaRPr lang="zh-CN" altLang="en-US" sz="2000" b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90744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3011A0-33F0-4F8E-860E-6E011A0C1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794E84-E3EC-48A4-B9EB-E40B99FF0003}"/>
              </a:ext>
            </a:extLst>
          </p:cNvPr>
          <p:cNvSpPr txBox="1"/>
          <p:nvPr/>
        </p:nvSpPr>
        <p:spPr>
          <a:xfrm>
            <a:off x="323528" y="1268760"/>
            <a:ext cx="8496944" cy="3894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dirty="0">
                <a:latin typeface="+mn-ea"/>
                <a:ea typeface="+mn-ea"/>
              </a:rPr>
              <a:t>一棵二叉树中有</a:t>
            </a:r>
            <a:r>
              <a:rPr lang="en-US" altLang="zh-CN" b="0" dirty="0">
                <a:latin typeface="+mn-ea"/>
                <a:ea typeface="+mn-ea"/>
              </a:rPr>
              <a:t>7</a:t>
            </a:r>
            <a:r>
              <a:rPr lang="zh-CN" altLang="en-US" b="0" dirty="0">
                <a:latin typeface="+mn-ea"/>
                <a:ea typeface="+mn-ea"/>
              </a:rPr>
              <a:t>个度为</a:t>
            </a:r>
            <a:r>
              <a:rPr lang="en-US" altLang="zh-CN" b="0" dirty="0">
                <a:latin typeface="+mn-ea"/>
                <a:ea typeface="+mn-ea"/>
              </a:rPr>
              <a:t>2</a:t>
            </a:r>
            <a:r>
              <a:rPr lang="zh-CN" altLang="en-US" b="0" dirty="0">
                <a:latin typeface="+mn-ea"/>
                <a:ea typeface="+mn-ea"/>
              </a:rPr>
              <a:t>的结点和</a:t>
            </a:r>
            <a:r>
              <a:rPr lang="en-US" altLang="zh-CN" b="0" dirty="0">
                <a:latin typeface="+mn-ea"/>
                <a:ea typeface="+mn-ea"/>
              </a:rPr>
              <a:t>5</a:t>
            </a:r>
            <a:r>
              <a:rPr lang="zh-CN" altLang="en-US" b="0" dirty="0">
                <a:latin typeface="+mn-ea"/>
                <a:ea typeface="+mn-ea"/>
              </a:rPr>
              <a:t>个度为</a:t>
            </a:r>
            <a:r>
              <a:rPr lang="en-US" altLang="zh-CN" b="0" dirty="0">
                <a:latin typeface="+mn-ea"/>
                <a:ea typeface="+mn-ea"/>
              </a:rPr>
              <a:t>1</a:t>
            </a:r>
            <a:r>
              <a:rPr lang="zh-CN" altLang="en-US" b="0" dirty="0">
                <a:latin typeface="+mn-ea"/>
                <a:ea typeface="+mn-ea"/>
              </a:rPr>
              <a:t>的结点，其总共有</a:t>
            </a:r>
            <a:r>
              <a:rPr lang="en-US" altLang="zh-CN" b="0" dirty="0">
                <a:latin typeface="+mn-ea"/>
                <a:ea typeface="+mn-ea"/>
              </a:rPr>
              <a:t>_______</a:t>
            </a:r>
            <a:r>
              <a:rPr lang="zh-CN" altLang="en-US" b="0" dirty="0">
                <a:latin typeface="+mn-ea"/>
                <a:ea typeface="+mn-ea"/>
              </a:rPr>
              <a:t>个结点。</a:t>
            </a:r>
            <a:endParaRPr lang="en-US" altLang="zh-CN" b="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zh-CN" b="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zh-CN" b="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0" dirty="0">
                <a:latin typeface="+mn-ea"/>
                <a:ea typeface="+mn-ea"/>
              </a:rPr>
              <a:t>一棵含有</a:t>
            </a:r>
            <a:r>
              <a:rPr lang="en-US" altLang="zh-CN" b="0" dirty="0">
                <a:latin typeface="+mn-ea"/>
                <a:ea typeface="+mn-ea"/>
              </a:rPr>
              <a:t>882</a:t>
            </a:r>
            <a:r>
              <a:rPr lang="zh-CN" altLang="en-US" b="0" dirty="0">
                <a:latin typeface="+mn-ea"/>
                <a:ea typeface="+mn-ea"/>
              </a:rPr>
              <a:t>个结点的二叉树中有</a:t>
            </a:r>
            <a:r>
              <a:rPr lang="en-US" altLang="zh-CN" b="0" dirty="0">
                <a:latin typeface="+mn-ea"/>
                <a:ea typeface="+mn-ea"/>
              </a:rPr>
              <a:t>365</a:t>
            </a:r>
            <a:r>
              <a:rPr lang="zh-CN" altLang="en-US" b="0" dirty="0">
                <a:latin typeface="+mn-ea"/>
                <a:ea typeface="+mn-ea"/>
              </a:rPr>
              <a:t>个叶子结点，求度为</a:t>
            </a:r>
            <a:r>
              <a:rPr lang="en-US" altLang="zh-CN" b="0" dirty="0">
                <a:latin typeface="+mn-ea"/>
                <a:ea typeface="+mn-ea"/>
              </a:rPr>
              <a:t>1</a:t>
            </a:r>
            <a:r>
              <a:rPr lang="zh-CN" altLang="en-US" b="0" dirty="0">
                <a:latin typeface="+mn-ea"/>
                <a:ea typeface="+mn-ea"/>
              </a:rPr>
              <a:t>的结点个数和度为</a:t>
            </a:r>
            <a:r>
              <a:rPr lang="en-US" altLang="zh-CN" b="0" dirty="0">
                <a:latin typeface="+mn-ea"/>
                <a:ea typeface="+mn-ea"/>
              </a:rPr>
              <a:t>2</a:t>
            </a:r>
            <a:r>
              <a:rPr lang="zh-CN" altLang="en-US" b="0" dirty="0">
                <a:latin typeface="+mn-ea"/>
                <a:ea typeface="+mn-ea"/>
              </a:rPr>
              <a:t>的结点个数。</a:t>
            </a:r>
          </a:p>
        </p:txBody>
      </p:sp>
    </p:spTree>
    <p:extLst>
      <p:ext uri="{BB962C8B-B14F-4D97-AF65-F5344CB8AC3E}">
        <p14:creationId xmlns:p14="http://schemas.microsoft.com/office/powerpoint/2010/main" val="3796338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185966-A000-4378-AAB5-8EA9A2A8C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 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CF62AC-B95A-4A8E-A1B2-466A945C5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1052735"/>
            <a:ext cx="8642659" cy="516388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已知一棵完全二叉树的第</a:t>
            </a:r>
            <a:r>
              <a:rPr lang="en-US" altLang="zh-CN" dirty="0"/>
              <a:t>6</a:t>
            </a:r>
            <a:r>
              <a:rPr lang="zh-CN" altLang="en-US" dirty="0"/>
              <a:t>层（设根为第</a:t>
            </a:r>
            <a:r>
              <a:rPr lang="en-US" altLang="zh-CN" dirty="0"/>
              <a:t>1</a:t>
            </a:r>
            <a:r>
              <a:rPr lang="zh-CN" altLang="en-US" dirty="0"/>
              <a:t>层）有</a:t>
            </a:r>
            <a:r>
              <a:rPr lang="en-US" altLang="zh-CN" dirty="0"/>
              <a:t>8</a:t>
            </a:r>
            <a:r>
              <a:rPr lang="zh-CN" altLang="en-US" dirty="0"/>
              <a:t>个叶子结点，则该完全二叉树的结点个数最多是（   ）。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A.  39	      B.  52		C.  111	    D.  119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3864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9BA48A-A23D-439D-BEA3-2815C31FF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 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41CFFA-EA6C-4540-AA97-2FB0CC82B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1268759"/>
            <a:ext cx="8786675" cy="4947857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一棵完全二叉树中有</a:t>
            </a:r>
            <a:r>
              <a:rPr lang="en-US" altLang="zh-CN" dirty="0"/>
              <a:t>8</a:t>
            </a:r>
            <a:r>
              <a:rPr lang="zh-CN" altLang="en-US" dirty="0"/>
              <a:t>个叶结点，则高度至多是（  ）。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A.  3  	  B.  4             C.  5	        D.  </a:t>
            </a:r>
            <a:r>
              <a:rPr lang="zh-CN" altLang="en-US" dirty="0"/>
              <a:t>不确定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0305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06CBC2-EF29-4868-90C0-9572E70FD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 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AC9AF9-E172-477E-B363-D4412D4BE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1052735"/>
            <a:ext cx="8642659" cy="516388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一颗完全二叉树上有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1001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个结点，其中叶子结点的个数是（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）。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1994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3880D-1917-4275-A8A9-F3EBB02C5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 </a:t>
            </a: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950607-0C78-4660-88F5-349CD7473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1268759"/>
            <a:ext cx="8642659" cy="4947857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一棵有</a:t>
            </a:r>
            <a:r>
              <a:rPr lang="en-US" altLang="zh-CN" dirty="0"/>
              <a:t>124</a:t>
            </a:r>
            <a:r>
              <a:rPr lang="zh-CN" altLang="en-US" dirty="0"/>
              <a:t>个叶结点的完全二叉树，最多有多少结点？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一棵完全二叉树中有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个叶子结点，则至少有多少个结点？</a:t>
            </a:r>
          </a:p>
        </p:txBody>
      </p:sp>
    </p:spTree>
    <p:extLst>
      <p:ext uri="{BB962C8B-B14F-4D97-AF65-F5344CB8AC3E}">
        <p14:creationId xmlns:p14="http://schemas.microsoft.com/office/powerpoint/2010/main" val="1318850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树的定义和基本概念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二叉树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二叉树的定义和性质</a:t>
            </a:r>
            <a:endParaRPr lang="en-US" altLang="zh-CN" sz="24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二叉树的存储结构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遍历二叉树和线索二叉树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树和森林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哈夫曼树及其应用</a:t>
            </a:r>
          </a:p>
        </p:txBody>
      </p:sp>
    </p:spTree>
    <p:extLst>
      <p:ext uri="{BB962C8B-B14F-4D97-AF65-F5344CB8AC3E}">
        <p14:creationId xmlns:p14="http://schemas.microsoft.com/office/powerpoint/2010/main" val="1982985478"/>
      </p:ext>
    </p:extLst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718671-8601-45F0-AB2D-E559932D4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二叉树的顺序存储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62038D-0BEC-446F-AC6E-6A9760B30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44506"/>
            <a:ext cx="9144000" cy="2780686"/>
          </a:xfrm>
        </p:spPr>
        <p:txBody>
          <a:bodyPr/>
          <a:lstStyle/>
          <a:p>
            <a:r>
              <a:rPr lang="zh-CN" altLang="en-US" sz="2400" dirty="0"/>
              <a:t>顺序存储一棵二叉树就是用一组连续的存储单元存放二叉树。</a:t>
            </a:r>
          </a:p>
          <a:p>
            <a:r>
              <a:rPr lang="zh-CN" altLang="en-US" sz="2400" dirty="0"/>
              <a:t>由二叉树的性质</a:t>
            </a:r>
            <a:r>
              <a:rPr lang="en-US" altLang="zh-CN" sz="2400" dirty="0"/>
              <a:t>5</a:t>
            </a:r>
            <a:r>
              <a:rPr lang="zh-CN" altLang="en-US" sz="2400" dirty="0"/>
              <a:t>可知，对于</a:t>
            </a:r>
            <a:r>
              <a:rPr lang="zh-CN" altLang="en-US" sz="2400" dirty="0">
                <a:solidFill>
                  <a:srgbClr val="FF0000"/>
                </a:solidFill>
              </a:rPr>
              <a:t>完全二叉树</a:t>
            </a:r>
            <a:r>
              <a:rPr lang="zh-CN" altLang="en-US" sz="2400" dirty="0"/>
              <a:t>，树中结点层序编号可唯一地反映出结点间的逻辑关系，所以可以用一维数组按从上到下、从左到右的顺序存储树中所有结点值，</a:t>
            </a:r>
            <a:r>
              <a:rPr lang="zh-CN" altLang="en-US" sz="2400" dirty="0">
                <a:solidFill>
                  <a:srgbClr val="0000FF"/>
                </a:solidFill>
              </a:rPr>
              <a:t>通过数组元素的下标关系反映完全二叉树中结点间的逻辑关系</a:t>
            </a:r>
            <a:r>
              <a:rPr lang="zh-CN" altLang="en-US" sz="2400" dirty="0"/>
              <a:t>。</a:t>
            </a:r>
          </a:p>
        </p:txBody>
      </p:sp>
      <p:grpSp>
        <p:nvGrpSpPr>
          <p:cNvPr id="12" name="组合 12">
            <a:extLst>
              <a:ext uri="{FF2B5EF4-FFF2-40B4-BE49-F238E27FC236}">
                <a16:creationId xmlns:a16="http://schemas.microsoft.com/office/drawing/2014/main" id="{65FBA478-2126-4CC3-B3F2-BB3830F39B11}"/>
              </a:ext>
            </a:extLst>
          </p:cNvPr>
          <p:cNvGrpSpPr/>
          <p:nvPr/>
        </p:nvGrpSpPr>
        <p:grpSpPr>
          <a:xfrm>
            <a:off x="3055173" y="3645024"/>
            <a:ext cx="3245019" cy="3018541"/>
            <a:chOff x="2500298" y="4000504"/>
            <a:chExt cx="2714644" cy="2166435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0DE665C-CA35-421D-B6CC-9038DB5F670C}"/>
                </a:ext>
              </a:extLst>
            </p:cNvPr>
            <p:cNvSpPr/>
            <p:nvPr/>
          </p:nvSpPr>
          <p:spPr>
            <a:xfrm>
              <a:off x="3428992" y="4000504"/>
              <a:ext cx="714380" cy="523361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1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思源黑体 CN Bold" panose="02010600030101010101" charset="-122"/>
                  <a:cs typeface="思源黑体 CN Bold" panose="020B0800000000000000" charset="-122"/>
                </a:rPr>
                <a:t>i</a:t>
              </a: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思源黑体 CN Bold" panose="02010600030101010101" charset="-122"/>
                  <a:cs typeface="思源黑体 CN Bold" panose="020B0800000000000000" charset="-122"/>
                </a:rPr>
                <a:t>/2</a:t>
              </a: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1D327DC-AC31-46E9-8F09-0B8184BAD216}"/>
                </a:ext>
              </a:extLst>
            </p:cNvPr>
            <p:cNvSpPr/>
            <p:nvPr/>
          </p:nvSpPr>
          <p:spPr>
            <a:xfrm>
              <a:off x="3428992" y="4857760"/>
              <a:ext cx="714380" cy="523361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1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思源黑体 CN Bold" panose="02010600030101010101" charset="-122"/>
                  <a:cs typeface="思源黑体 CN Bold" panose="020B0800000000000000" charset="-122"/>
                </a:rPr>
                <a:t>i</a:t>
              </a: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1241E3E-E3FD-4971-BD7F-E52093CC1282}"/>
                </a:ext>
              </a:extLst>
            </p:cNvPr>
            <p:cNvSpPr/>
            <p:nvPr/>
          </p:nvSpPr>
          <p:spPr>
            <a:xfrm>
              <a:off x="2500298" y="5643578"/>
              <a:ext cx="714380" cy="523361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思源黑体 CN Bold" panose="02010600030101010101" charset="-122"/>
                  <a:cs typeface="思源黑体 CN Bold" panose="020B0800000000000000" charset="-122"/>
                </a:rPr>
                <a:t>2</a:t>
              </a:r>
              <a:r>
                <a:rPr kumimoji="0" lang="en-US" altLang="zh-CN" b="0" i="1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思源黑体 CN Bold" panose="02010600030101010101" charset="-122"/>
                  <a:cs typeface="思源黑体 CN Bold" panose="020B0800000000000000" charset="-122"/>
                </a:rPr>
                <a:t>i</a:t>
              </a: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A22ED008-E569-4B69-ACE0-8837FF324B1E}"/>
                </a:ext>
              </a:extLst>
            </p:cNvPr>
            <p:cNvSpPr/>
            <p:nvPr/>
          </p:nvSpPr>
          <p:spPr>
            <a:xfrm>
              <a:off x="4214810" y="5643578"/>
              <a:ext cx="1000132" cy="523361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思源黑体 CN Bold" panose="02010600030101010101" charset="-122"/>
                  <a:cs typeface="思源黑体 CN Bold" panose="020B0800000000000000" charset="-122"/>
                </a:rPr>
                <a:t>2</a:t>
              </a:r>
              <a:r>
                <a:rPr kumimoji="0" lang="en-US" altLang="zh-CN" b="0" i="1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思源黑体 CN Bold" panose="02010600030101010101" charset="-122"/>
                  <a:cs typeface="思源黑体 CN Bold" panose="020B0800000000000000" charset="-122"/>
                </a:rPr>
                <a:t>i</a:t>
              </a:r>
              <a:r>
                <a:rPr kumimoji="0" lang="en-US" altLang="zh-CN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思源黑体 CN Bold" panose="02010600030101010101" charset="-122"/>
                  <a:cs typeface="思源黑体 CN Bold" panose="020B0800000000000000" charset="-122"/>
                </a:rPr>
                <a:t>+1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0C8D87F5-E8C0-413F-9F7B-592F6C854F90}"/>
                </a:ext>
              </a:extLst>
            </p:cNvPr>
            <p:cNvCxnSpPr>
              <a:stCxn id="13" idx="4"/>
              <a:endCxn id="14" idx="0"/>
            </p:cNvCxnSpPr>
            <p:nvPr/>
          </p:nvCxnSpPr>
          <p:spPr>
            <a:xfrm rot="5400000">
              <a:off x="3619235" y="4690812"/>
              <a:ext cx="333895" cy="1588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C47DA5E-DBA1-4FF7-B31B-5608ECF40686}"/>
                </a:ext>
              </a:extLst>
            </p:cNvPr>
            <p:cNvCxnSpPr>
              <a:stCxn id="14" idx="3"/>
              <a:endCxn id="15" idx="7"/>
            </p:cNvCxnSpPr>
            <p:nvPr/>
          </p:nvCxnSpPr>
          <p:spPr>
            <a:xfrm rot="5400000">
              <a:off x="3113963" y="5300573"/>
              <a:ext cx="415745" cy="423552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91BF930F-42B9-448C-9721-45DC1306ECB8}"/>
                </a:ext>
              </a:extLst>
            </p:cNvPr>
            <p:cNvCxnSpPr>
              <a:cxnSpLocks/>
              <a:stCxn id="14" idx="5"/>
              <a:endCxn id="16" idx="1"/>
            </p:cNvCxnSpPr>
            <p:nvPr/>
          </p:nvCxnSpPr>
          <p:spPr>
            <a:xfrm rot="16200000" flipH="1">
              <a:off x="3992142" y="5351087"/>
              <a:ext cx="415745" cy="322523"/>
            </a:xfrm>
            <a:prstGeom prst="straightConnector1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85039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2B0A7-214D-464C-A40E-48366A144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完全二叉树的顺序存储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E63EED2-0EA6-4905-A6DE-5374D95B6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736559"/>
            <a:ext cx="5952970" cy="349842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085100-3A15-403B-8AD2-2D5AC6764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485" y="4234987"/>
            <a:ext cx="7599019" cy="1570277"/>
          </a:xfrm>
          <a:prstGeom prst="rect">
            <a:avLst/>
          </a:prstGeom>
        </p:spPr>
      </p:pic>
      <p:sp>
        <p:nvSpPr>
          <p:cNvPr id="7" name="任意多边形: 形状 19">
            <a:extLst>
              <a:ext uri="{FF2B5EF4-FFF2-40B4-BE49-F238E27FC236}">
                <a16:creationId xmlns:a16="http://schemas.microsoft.com/office/drawing/2014/main" id="{1443E0DF-0099-45BF-A0D1-E59A4E2C983B}"/>
              </a:ext>
            </a:extLst>
          </p:cNvPr>
          <p:cNvSpPr/>
          <p:nvPr/>
        </p:nvSpPr>
        <p:spPr>
          <a:xfrm>
            <a:off x="431540" y="5805264"/>
            <a:ext cx="8280920" cy="1052736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defTabSz="115570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各结点的索引（编号）与顺序表位置一一对应，结点的数据存放在顺序表相应位置的单元中 </a:t>
            </a:r>
            <a:endParaRPr lang="zh-CN" altLang="en-US" sz="2400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箭头: 圆角右 7">
            <a:extLst>
              <a:ext uri="{FF2B5EF4-FFF2-40B4-BE49-F238E27FC236}">
                <a16:creationId xmlns:a16="http://schemas.microsoft.com/office/drawing/2014/main" id="{B16D7C88-254D-4434-959F-AF492A4E0108}"/>
              </a:ext>
            </a:extLst>
          </p:cNvPr>
          <p:cNvSpPr/>
          <p:nvPr/>
        </p:nvSpPr>
        <p:spPr bwMode="auto">
          <a:xfrm rot="5400000">
            <a:off x="6669233" y="2996952"/>
            <a:ext cx="846094" cy="864096"/>
          </a:xfrm>
          <a:prstGeom prst="bentArrow">
            <a:avLst>
              <a:gd name="adj1" fmla="val 34164"/>
              <a:gd name="adj2" fmla="val 35473"/>
              <a:gd name="adj3" fmla="val 25000"/>
              <a:gd name="adj4" fmla="val 43750"/>
            </a:avLst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283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02EAD-29A2-4647-BA95-3A51728C3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非完全二叉树的顺序存储</a:t>
            </a:r>
          </a:p>
        </p:txBody>
      </p:sp>
      <p:sp>
        <p:nvSpPr>
          <p:cNvPr id="7" name="内容占位符 4">
            <a:extLst>
              <a:ext uri="{FF2B5EF4-FFF2-40B4-BE49-F238E27FC236}">
                <a16:creationId xmlns:a16="http://schemas.microsoft.com/office/drawing/2014/main" id="{D113D177-D4C6-420C-B994-D8519A7B4EFF}"/>
              </a:ext>
            </a:extLst>
          </p:cNvPr>
          <p:cNvSpPr txBox="1">
            <a:spLocks/>
          </p:cNvSpPr>
          <p:nvPr/>
        </p:nvSpPr>
        <p:spPr>
          <a:xfrm>
            <a:off x="0" y="742527"/>
            <a:ext cx="9144000" cy="153434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结点编号：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树根的索引为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；设结点的编号为 𝑘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(𝑘≥1)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，如果其左子树非空，则左子结点的编号为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2𝑘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；如果右子树非空，则右子结点为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2𝑘+1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顺序存放：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用一组地址连续的存储单元存储二叉树的各个结点。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9AE95C4-A13F-4A86-8B12-E1E71C7957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94"/>
          <a:stretch/>
        </p:blipFill>
        <p:spPr>
          <a:xfrm>
            <a:off x="179512" y="2156325"/>
            <a:ext cx="4248472" cy="328945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66C36CC-C04E-40D0-8C3C-C63D195BB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160" y="5445778"/>
            <a:ext cx="8093274" cy="1403458"/>
          </a:xfrm>
          <a:prstGeom prst="rect">
            <a:avLst/>
          </a:prstGeom>
        </p:spPr>
      </p:pic>
      <p:sp>
        <p:nvSpPr>
          <p:cNvPr id="11" name="箭头: 圆角右 10">
            <a:extLst>
              <a:ext uri="{FF2B5EF4-FFF2-40B4-BE49-F238E27FC236}">
                <a16:creationId xmlns:a16="http://schemas.microsoft.com/office/drawing/2014/main" id="{94AD49AD-32D2-4E3A-902C-EEBDDEB96FCF}"/>
              </a:ext>
            </a:extLst>
          </p:cNvPr>
          <p:cNvSpPr/>
          <p:nvPr/>
        </p:nvSpPr>
        <p:spPr bwMode="auto">
          <a:xfrm rot="5400000">
            <a:off x="5373089" y="4149080"/>
            <a:ext cx="846094" cy="864096"/>
          </a:xfrm>
          <a:prstGeom prst="bentArrow">
            <a:avLst>
              <a:gd name="adj1" fmla="val 34164"/>
              <a:gd name="adj2" fmla="val 35473"/>
              <a:gd name="adj3" fmla="val 25000"/>
              <a:gd name="adj4" fmla="val 43750"/>
            </a:avLst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9525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4A6FC-76C7-4543-8EC2-8C5A953E7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二叉树的顺序存储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9EAACC-1858-46C8-8AF5-AD693E3B1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744504"/>
            <a:ext cx="8786675" cy="6113495"/>
          </a:xfrm>
        </p:spPr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2400" b="1" dirty="0"/>
              <a:t>优点：</a:t>
            </a:r>
            <a:endParaRPr lang="en-US" altLang="zh-CN" sz="2400" b="1" dirty="0"/>
          </a:p>
          <a:p>
            <a:pPr>
              <a:spcAft>
                <a:spcPts val="0"/>
              </a:spcAft>
            </a:pPr>
            <a:r>
              <a:rPr lang="zh-CN" altLang="en-US" sz="2400" dirty="0"/>
              <a:t>只需存放结点数据，无需保存结点间的逻辑关系</a:t>
            </a:r>
          </a:p>
          <a:p>
            <a:pPr>
              <a:spcAft>
                <a:spcPts val="0"/>
              </a:spcAft>
            </a:pPr>
            <a:r>
              <a:rPr lang="zh-CN" altLang="en-US" sz="2400" dirty="0"/>
              <a:t>结点间的逻辑关系可通过相对位置确定</a:t>
            </a:r>
            <a:endParaRPr lang="en-US" altLang="zh-CN" sz="2400" dirty="0"/>
          </a:p>
          <a:p>
            <a:pPr>
              <a:spcAft>
                <a:spcPts val="0"/>
              </a:spcAft>
            </a:pPr>
            <a:r>
              <a:rPr lang="zh-CN" altLang="en-US" sz="2400" dirty="0"/>
              <a:t>查找子结点和父结点，只需 </a:t>
            </a:r>
            <a:r>
              <a:rPr lang="en-US" altLang="zh-CN" sz="2400" dirty="0"/>
              <a:t>O(1) </a:t>
            </a:r>
            <a:r>
              <a:rPr lang="zh-CN" altLang="en-US" sz="2400" dirty="0"/>
              <a:t>的时间</a:t>
            </a:r>
          </a:p>
          <a:p>
            <a:pPr>
              <a:spcAft>
                <a:spcPts val="0"/>
              </a:spcAft>
            </a:pPr>
            <a:r>
              <a:rPr lang="zh-CN" altLang="en-US" sz="2400" dirty="0"/>
              <a:t>存放 </a:t>
            </a:r>
            <a:r>
              <a:rPr lang="en-US" altLang="zh-CN" sz="2400" dirty="0"/>
              <a:t>n </a:t>
            </a:r>
            <a:r>
              <a:rPr lang="zh-CN" altLang="en-US" sz="2400" dirty="0"/>
              <a:t>个结点的</a:t>
            </a:r>
            <a:r>
              <a:rPr lang="zh-CN" altLang="en-US" sz="2400" dirty="0">
                <a:solidFill>
                  <a:srgbClr val="0000FF"/>
                </a:solidFill>
              </a:rPr>
              <a:t>完全二叉树</a:t>
            </a:r>
            <a:r>
              <a:rPr lang="zh-CN" altLang="en-US" sz="2400" dirty="0"/>
              <a:t>，只需 </a:t>
            </a:r>
            <a:r>
              <a:rPr lang="en-US" altLang="zh-CN" sz="2400" dirty="0">
                <a:solidFill>
                  <a:srgbClr val="0000FF"/>
                </a:solidFill>
              </a:rPr>
              <a:t>O(n) </a:t>
            </a:r>
            <a:r>
              <a:rPr lang="zh-CN" altLang="en-US" sz="2400" dirty="0"/>
              <a:t>的空间</a:t>
            </a:r>
            <a:endParaRPr lang="en-US" altLang="zh-CN" sz="2400" dirty="0"/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2400" b="1" dirty="0"/>
              <a:t>缺点：</a:t>
            </a:r>
            <a:endParaRPr lang="en-US" altLang="zh-CN" sz="2400" b="1" dirty="0"/>
          </a:p>
          <a:p>
            <a:pPr defTabSz="1155700">
              <a:spcAft>
                <a:spcPts val="0"/>
              </a:spcAft>
            </a:pPr>
            <a:r>
              <a:rPr lang="zh-CN" altLang="en-US" sz="2400" dirty="0"/>
              <a:t>对一般二叉树，可能造成空间浪费</a:t>
            </a:r>
            <a:endParaRPr lang="en-US" altLang="zh-CN" sz="2400" dirty="0"/>
          </a:p>
          <a:p>
            <a:pPr defTabSz="1155700">
              <a:spcAft>
                <a:spcPts val="0"/>
              </a:spcAft>
            </a:pPr>
            <a:r>
              <a:rPr lang="zh-CN" altLang="en-US" sz="2400" dirty="0">
                <a:sym typeface="Wingdings" pitchFamily="2" charset="2"/>
              </a:rPr>
              <a:t>最坏情况下，存放 </a:t>
            </a:r>
            <a:r>
              <a:rPr lang="en-US" altLang="zh-CN" sz="2400" dirty="0">
                <a:sym typeface="Wingdings" pitchFamily="2" charset="2"/>
              </a:rPr>
              <a:t>n </a:t>
            </a:r>
            <a:r>
              <a:rPr lang="zh-CN" altLang="en-US" sz="2400" dirty="0">
                <a:sym typeface="Wingdings" pitchFamily="2" charset="2"/>
              </a:rPr>
              <a:t>个结点的二叉树可能需要 </a:t>
            </a:r>
            <a:r>
              <a:rPr lang="en-US" altLang="zh-CN" sz="2400" dirty="0">
                <a:solidFill>
                  <a:srgbClr val="0000FF"/>
                </a:solidFill>
                <a:sym typeface="Wingdings" pitchFamily="2" charset="2"/>
              </a:rPr>
              <a:t>O(2</a:t>
            </a:r>
            <a:r>
              <a:rPr lang="en-US" altLang="zh-CN" sz="2400" baseline="30000" dirty="0">
                <a:solidFill>
                  <a:srgbClr val="0000FF"/>
                </a:solidFill>
                <a:sym typeface="Wingdings" pitchFamily="2" charset="2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sym typeface="Wingdings" pitchFamily="2" charset="2"/>
              </a:rPr>
              <a:t>) </a:t>
            </a:r>
            <a:r>
              <a:rPr lang="zh-CN" altLang="en-US" sz="2400" dirty="0">
                <a:sym typeface="Wingdings" pitchFamily="2" charset="2"/>
              </a:rPr>
              <a:t>的空间</a:t>
            </a:r>
            <a:endParaRPr lang="en-US" altLang="zh-CN" sz="2400" dirty="0">
              <a:sym typeface="Wingdings" pitchFamily="2" charset="2"/>
            </a:endParaRPr>
          </a:p>
          <a:p>
            <a:pPr defTabSz="1155700">
              <a:spcAft>
                <a:spcPts val="0"/>
              </a:spcAft>
            </a:pPr>
            <a:r>
              <a:rPr lang="zh-CN" altLang="en-US" sz="2400" dirty="0"/>
              <a:t>可用其它序列化的方法降低顺序存储的空间复杂度，但无法通过在顺序表中的相对位置直接确定父子关系，增加了查询结点间逻辑关系的时间复杂度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8505537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72684D-E941-4E7F-AFDD-903A35531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二叉树的链式存储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FC73BD-36BF-417A-9E85-41AE50A2B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4"/>
            <a:ext cx="8642659" cy="5636823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使用链表存放二叉树，比顺序存储能更有效地表达二叉树的</a:t>
            </a:r>
            <a:r>
              <a:rPr lang="zh-CN" altLang="en-US" dirty="0">
                <a:solidFill>
                  <a:srgbClr val="0000FF"/>
                </a:solidFill>
              </a:rPr>
              <a:t>非线性</a:t>
            </a:r>
            <a:r>
              <a:rPr lang="zh-CN" altLang="en-US" dirty="0"/>
              <a:t>逻辑结构。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二叉链表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三叉链表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D26AFD6-DCD6-40C5-8424-C3889A0A6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616" y="2183512"/>
            <a:ext cx="3457068" cy="166635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66C1F94-0822-40BC-BBC9-864E81A35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692" y="4357082"/>
            <a:ext cx="3714916" cy="225808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E172084E-9514-4C6F-92C5-E5E8FE8F3178}"/>
              </a:ext>
            </a:extLst>
          </p:cNvPr>
          <p:cNvSpPr txBox="1"/>
          <p:nvPr/>
        </p:nvSpPr>
        <p:spPr>
          <a:xfrm>
            <a:off x="1475656" y="342900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指向左子结点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C2424E4-753C-4B25-8F9D-975C1B531BF7}"/>
              </a:ext>
            </a:extLst>
          </p:cNvPr>
          <p:cNvSpPr txBox="1"/>
          <p:nvPr/>
        </p:nvSpPr>
        <p:spPr>
          <a:xfrm>
            <a:off x="6228184" y="342900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指向右子结点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A3D687B-413B-4255-BE26-6E7094A2C8B7}"/>
              </a:ext>
            </a:extLst>
          </p:cNvPr>
          <p:cNvSpPr txBox="1"/>
          <p:nvPr/>
        </p:nvSpPr>
        <p:spPr>
          <a:xfrm>
            <a:off x="1119067" y="6113496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指向左子结点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BFA08DE-F1DB-436C-BD5E-4C2968E0E358}"/>
              </a:ext>
            </a:extLst>
          </p:cNvPr>
          <p:cNvSpPr txBox="1"/>
          <p:nvPr/>
        </p:nvSpPr>
        <p:spPr>
          <a:xfrm>
            <a:off x="6444208" y="6113496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指向右子结点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9C5B7F2-EDE7-4B94-91AD-B45B7C459FE4}"/>
              </a:ext>
            </a:extLst>
          </p:cNvPr>
          <p:cNvSpPr txBox="1"/>
          <p:nvPr/>
        </p:nvSpPr>
        <p:spPr>
          <a:xfrm>
            <a:off x="5436096" y="4336324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指向父结点</a:t>
            </a:r>
          </a:p>
        </p:txBody>
      </p:sp>
    </p:spTree>
    <p:extLst>
      <p:ext uri="{BB962C8B-B14F-4D97-AF65-F5344CB8AC3E}">
        <p14:creationId xmlns:p14="http://schemas.microsoft.com/office/powerpoint/2010/main" val="25089519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5" name="Group 4"/>
          <p:cNvGrpSpPr/>
          <p:nvPr/>
        </p:nvGrpSpPr>
        <p:grpSpPr>
          <a:xfrm>
            <a:off x="539552" y="1318043"/>
            <a:ext cx="2308889" cy="4055173"/>
            <a:chOff x="703" y="2015"/>
            <a:chExt cx="1022" cy="1672"/>
          </a:xfrm>
        </p:grpSpPr>
        <p:sp>
          <p:nvSpPr>
            <p:cNvPr id="2" name="Oval 5"/>
            <p:cNvSpPr>
              <a:spLocks noChangeArrowheads="1"/>
            </p:cNvSpPr>
            <p:nvPr/>
          </p:nvSpPr>
          <p:spPr bwMode="auto">
            <a:xfrm>
              <a:off x="1222" y="2015"/>
              <a:ext cx="255" cy="2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3" name="Oval 6"/>
            <p:cNvSpPr>
              <a:spLocks noChangeArrowheads="1"/>
            </p:cNvSpPr>
            <p:nvPr/>
          </p:nvSpPr>
          <p:spPr bwMode="auto">
            <a:xfrm>
              <a:off x="974" y="2367"/>
              <a:ext cx="255" cy="2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44037" name="Oval 7"/>
            <p:cNvSpPr>
              <a:spLocks noChangeArrowheads="1"/>
            </p:cNvSpPr>
            <p:nvPr/>
          </p:nvSpPr>
          <p:spPr bwMode="auto">
            <a:xfrm>
              <a:off x="703" y="2729"/>
              <a:ext cx="255" cy="2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C</a:t>
              </a:r>
            </a:p>
          </p:txBody>
        </p:sp>
        <p:sp>
          <p:nvSpPr>
            <p:cNvPr id="44038" name="Oval 8"/>
            <p:cNvSpPr>
              <a:spLocks noChangeArrowheads="1"/>
            </p:cNvSpPr>
            <p:nvPr/>
          </p:nvSpPr>
          <p:spPr bwMode="auto">
            <a:xfrm>
              <a:off x="1215" y="2729"/>
              <a:ext cx="255" cy="2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D</a:t>
              </a:r>
            </a:p>
          </p:txBody>
        </p:sp>
        <p:sp>
          <p:nvSpPr>
            <p:cNvPr id="4" name="Oval 9"/>
            <p:cNvSpPr>
              <a:spLocks noChangeArrowheads="1"/>
            </p:cNvSpPr>
            <p:nvPr/>
          </p:nvSpPr>
          <p:spPr bwMode="auto">
            <a:xfrm>
              <a:off x="1015" y="3051"/>
              <a:ext cx="255" cy="23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E</a:t>
              </a:r>
            </a:p>
          </p:txBody>
        </p:sp>
        <p:sp>
          <p:nvSpPr>
            <p:cNvPr id="44040" name="Oval 10"/>
            <p:cNvSpPr>
              <a:spLocks noChangeArrowheads="1"/>
            </p:cNvSpPr>
            <p:nvPr/>
          </p:nvSpPr>
          <p:spPr bwMode="auto">
            <a:xfrm>
              <a:off x="1470" y="3051"/>
              <a:ext cx="255" cy="2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F</a:t>
              </a:r>
            </a:p>
          </p:txBody>
        </p:sp>
        <p:sp>
          <p:nvSpPr>
            <p:cNvPr id="44041" name="Oval 11"/>
            <p:cNvSpPr>
              <a:spLocks noChangeArrowheads="1"/>
            </p:cNvSpPr>
            <p:nvPr/>
          </p:nvSpPr>
          <p:spPr bwMode="auto">
            <a:xfrm>
              <a:off x="1225" y="3463"/>
              <a:ext cx="255" cy="2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G</a:t>
              </a:r>
            </a:p>
          </p:txBody>
        </p:sp>
        <p:sp>
          <p:nvSpPr>
            <p:cNvPr id="44042" name="Line 12"/>
            <p:cNvSpPr>
              <a:spLocks noChangeShapeType="1"/>
            </p:cNvSpPr>
            <p:nvPr/>
          </p:nvSpPr>
          <p:spPr bwMode="auto">
            <a:xfrm flipH="1">
              <a:off x="1156" y="2200"/>
              <a:ext cx="111" cy="1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43" name="Line 13"/>
            <p:cNvSpPr>
              <a:spLocks noChangeShapeType="1"/>
            </p:cNvSpPr>
            <p:nvPr/>
          </p:nvSpPr>
          <p:spPr bwMode="auto">
            <a:xfrm flipH="1">
              <a:off x="911" y="2566"/>
              <a:ext cx="122" cy="1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44" name="Line 14"/>
            <p:cNvSpPr>
              <a:spLocks noChangeShapeType="1"/>
            </p:cNvSpPr>
            <p:nvPr/>
          </p:nvSpPr>
          <p:spPr bwMode="auto">
            <a:xfrm>
              <a:off x="1189" y="2566"/>
              <a:ext cx="130" cy="1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45" name="Line 15"/>
            <p:cNvSpPr>
              <a:spLocks noChangeShapeType="1"/>
            </p:cNvSpPr>
            <p:nvPr/>
          </p:nvSpPr>
          <p:spPr bwMode="auto">
            <a:xfrm flipH="1">
              <a:off x="1215" y="2951"/>
              <a:ext cx="74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" name="Line 16"/>
            <p:cNvSpPr>
              <a:spLocks noChangeShapeType="1"/>
            </p:cNvSpPr>
            <p:nvPr/>
          </p:nvSpPr>
          <p:spPr bwMode="auto">
            <a:xfrm>
              <a:off x="1411" y="2933"/>
              <a:ext cx="112" cy="1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47" name="Line 17"/>
            <p:cNvSpPr>
              <a:spLocks noChangeShapeType="1"/>
            </p:cNvSpPr>
            <p:nvPr/>
          </p:nvSpPr>
          <p:spPr bwMode="auto">
            <a:xfrm>
              <a:off x="1178" y="3277"/>
              <a:ext cx="133" cy="1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4036" name="Group 19"/>
          <p:cNvGrpSpPr/>
          <p:nvPr/>
        </p:nvGrpSpPr>
        <p:grpSpPr>
          <a:xfrm>
            <a:off x="4121817" y="1248595"/>
            <a:ext cx="4536372" cy="4412653"/>
            <a:chOff x="2963" y="1577"/>
            <a:chExt cx="2223" cy="2420"/>
          </a:xfrm>
        </p:grpSpPr>
        <p:grpSp>
          <p:nvGrpSpPr>
            <p:cNvPr id="44039" name="Group 20"/>
            <p:cNvGrpSpPr/>
            <p:nvPr/>
          </p:nvGrpSpPr>
          <p:grpSpPr>
            <a:xfrm>
              <a:off x="2963" y="1796"/>
              <a:ext cx="2223" cy="2150"/>
              <a:chOff x="2540" y="1809"/>
              <a:chExt cx="2223" cy="2150"/>
            </a:xfrm>
          </p:grpSpPr>
          <p:grpSp>
            <p:nvGrpSpPr>
              <p:cNvPr id="44057" name="Group 21"/>
              <p:cNvGrpSpPr/>
              <p:nvPr/>
            </p:nvGrpSpPr>
            <p:grpSpPr>
              <a:xfrm>
                <a:off x="3289" y="1809"/>
                <a:ext cx="778" cy="256"/>
                <a:chOff x="1700" y="2033"/>
                <a:chExt cx="778" cy="256"/>
              </a:xfrm>
            </p:grpSpPr>
            <p:sp>
              <p:nvSpPr>
                <p:cNvPr id="44051" name="Rectangle 22"/>
                <p:cNvSpPr>
                  <a:spLocks noChangeArrowheads="1"/>
                </p:cNvSpPr>
                <p:nvPr/>
              </p:nvSpPr>
              <p:spPr bwMode="auto">
                <a:xfrm>
                  <a:off x="1700" y="2033"/>
                  <a:ext cx="778" cy="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      A</a:t>
                  </a:r>
                </a:p>
              </p:txBody>
            </p:sp>
            <p:sp>
              <p:nvSpPr>
                <p:cNvPr id="44052" name="Line 23"/>
                <p:cNvSpPr>
                  <a:spLocks noChangeShapeType="1"/>
                </p:cNvSpPr>
                <p:nvPr/>
              </p:nvSpPr>
              <p:spPr bwMode="auto">
                <a:xfrm>
                  <a:off x="1934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4053" name="Line 24"/>
                <p:cNvSpPr>
                  <a:spLocks noChangeShapeType="1"/>
                </p:cNvSpPr>
                <p:nvPr/>
              </p:nvSpPr>
              <p:spPr bwMode="auto">
                <a:xfrm>
                  <a:off x="2212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4058" name="Group 25"/>
              <p:cNvGrpSpPr/>
              <p:nvPr/>
            </p:nvGrpSpPr>
            <p:grpSpPr>
              <a:xfrm>
                <a:off x="2819" y="2217"/>
                <a:ext cx="778" cy="256"/>
                <a:chOff x="1700" y="2033"/>
                <a:chExt cx="778" cy="256"/>
              </a:xfrm>
            </p:grpSpPr>
            <p:sp>
              <p:nvSpPr>
                <p:cNvPr id="44055" name="Rectangle 26"/>
                <p:cNvSpPr>
                  <a:spLocks noChangeArrowheads="1"/>
                </p:cNvSpPr>
                <p:nvPr/>
              </p:nvSpPr>
              <p:spPr bwMode="auto">
                <a:xfrm>
                  <a:off x="1700" y="2033"/>
                  <a:ext cx="778" cy="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B</a:t>
                  </a:r>
                </a:p>
              </p:txBody>
            </p:sp>
            <p:sp>
              <p:nvSpPr>
                <p:cNvPr id="44056" name="Line 27"/>
                <p:cNvSpPr>
                  <a:spLocks noChangeShapeType="1"/>
                </p:cNvSpPr>
                <p:nvPr/>
              </p:nvSpPr>
              <p:spPr bwMode="auto">
                <a:xfrm>
                  <a:off x="1934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" name="Line 28"/>
                <p:cNvSpPr>
                  <a:spLocks noChangeShapeType="1"/>
                </p:cNvSpPr>
                <p:nvPr/>
              </p:nvSpPr>
              <p:spPr bwMode="auto">
                <a:xfrm>
                  <a:off x="2212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4059" name="Group 29"/>
              <p:cNvGrpSpPr/>
              <p:nvPr/>
            </p:nvGrpSpPr>
            <p:grpSpPr>
              <a:xfrm>
                <a:off x="2540" y="2717"/>
                <a:ext cx="778" cy="256"/>
                <a:chOff x="1700" y="2033"/>
                <a:chExt cx="778" cy="256"/>
              </a:xfrm>
            </p:grpSpPr>
            <p:sp>
              <p:nvSpPr>
                <p:cNvPr id="7" name="Rectangle 30"/>
                <p:cNvSpPr>
                  <a:spLocks noChangeArrowheads="1"/>
                </p:cNvSpPr>
                <p:nvPr/>
              </p:nvSpPr>
              <p:spPr bwMode="auto">
                <a:xfrm>
                  <a:off x="1700" y="2033"/>
                  <a:ext cx="778" cy="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      C</a:t>
                  </a:r>
                </a:p>
              </p:txBody>
            </p:sp>
            <p:sp>
              <p:nvSpPr>
                <p:cNvPr id="8" name="Line 31"/>
                <p:cNvSpPr>
                  <a:spLocks noChangeShapeType="1"/>
                </p:cNvSpPr>
                <p:nvPr/>
              </p:nvSpPr>
              <p:spPr bwMode="auto">
                <a:xfrm>
                  <a:off x="1934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9" name="Line 32"/>
                <p:cNvSpPr>
                  <a:spLocks noChangeShapeType="1"/>
                </p:cNvSpPr>
                <p:nvPr/>
              </p:nvSpPr>
              <p:spPr bwMode="auto">
                <a:xfrm>
                  <a:off x="2212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4060" name="Group 33"/>
              <p:cNvGrpSpPr/>
              <p:nvPr/>
            </p:nvGrpSpPr>
            <p:grpSpPr>
              <a:xfrm>
                <a:off x="3497" y="2716"/>
                <a:ext cx="778" cy="256"/>
                <a:chOff x="1700" y="2033"/>
                <a:chExt cx="778" cy="256"/>
              </a:xfrm>
            </p:grpSpPr>
            <p:sp>
              <p:nvSpPr>
                <p:cNvPr id="10" name="Rectangle 34"/>
                <p:cNvSpPr>
                  <a:spLocks noChangeArrowheads="1"/>
                </p:cNvSpPr>
                <p:nvPr/>
              </p:nvSpPr>
              <p:spPr bwMode="auto">
                <a:xfrm>
                  <a:off x="1700" y="2033"/>
                  <a:ext cx="778" cy="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      D</a:t>
                  </a:r>
                </a:p>
              </p:txBody>
            </p:sp>
            <p:sp>
              <p:nvSpPr>
                <p:cNvPr id="44064" name="Line 35"/>
                <p:cNvSpPr>
                  <a:spLocks noChangeShapeType="1"/>
                </p:cNvSpPr>
                <p:nvPr/>
              </p:nvSpPr>
              <p:spPr bwMode="auto">
                <a:xfrm>
                  <a:off x="1934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4065" name="Line 36"/>
                <p:cNvSpPr>
                  <a:spLocks noChangeShapeType="1"/>
                </p:cNvSpPr>
                <p:nvPr/>
              </p:nvSpPr>
              <p:spPr bwMode="auto">
                <a:xfrm>
                  <a:off x="2212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4061" name="Group 37"/>
              <p:cNvGrpSpPr/>
              <p:nvPr/>
            </p:nvGrpSpPr>
            <p:grpSpPr>
              <a:xfrm>
                <a:off x="3052" y="3226"/>
                <a:ext cx="778" cy="256"/>
                <a:chOff x="1700" y="2033"/>
                <a:chExt cx="778" cy="256"/>
              </a:xfrm>
            </p:grpSpPr>
            <p:sp>
              <p:nvSpPr>
                <p:cNvPr id="44067" name="Rectangle 38"/>
                <p:cNvSpPr>
                  <a:spLocks noChangeArrowheads="1"/>
                </p:cNvSpPr>
                <p:nvPr/>
              </p:nvSpPr>
              <p:spPr bwMode="auto">
                <a:xfrm>
                  <a:off x="1700" y="2033"/>
                  <a:ext cx="778" cy="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      E</a:t>
                  </a:r>
                </a:p>
              </p:txBody>
            </p:sp>
            <p:sp>
              <p:nvSpPr>
                <p:cNvPr id="44068" name="Line 39"/>
                <p:cNvSpPr>
                  <a:spLocks noChangeShapeType="1"/>
                </p:cNvSpPr>
                <p:nvPr/>
              </p:nvSpPr>
              <p:spPr bwMode="auto">
                <a:xfrm>
                  <a:off x="1934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4069" name="Line 40"/>
                <p:cNvSpPr>
                  <a:spLocks noChangeShapeType="1"/>
                </p:cNvSpPr>
                <p:nvPr/>
              </p:nvSpPr>
              <p:spPr bwMode="auto">
                <a:xfrm>
                  <a:off x="2212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4062" name="Group 41"/>
              <p:cNvGrpSpPr/>
              <p:nvPr/>
            </p:nvGrpSpPr>
            <p:grpSpPr>
              <a:xfrm>
                <a:off x="3985" y="3216"/>
                <a:ext cx="778" cy="256"/>
                <a:chOff x="1700" y="2033"/>
                <a:chExt cx="778" cy="256"/>
              </a:xfrm>
            </p:grpSpPr>
            <p:sp>
              <p:nvSpPr>
                <p:cNvPr id="44071" name="Rectangle 42"/>
                <p:cNvSpPr>
                  <a:spLocks noChangeArrowheads="1"/>
                </p:cNvSpPr>
                <p:nvPr/>
              </p:nvSpPr>
              <p:spPr bwMode="auto">
                <a:xfrm>
                  <a:off x="1700" y="2033"/>
                  <a:ext cx="778" cy="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      F</a:t>
                  </a:r>
                </a:p>
              </p:txBody>
            </p:sp>
            <p:sp>
              <p:nvSpPr>
                <p:cNvPr id="44072" name="Line 43"/>
                <p:cNvSpPr>
                  <a:spLocks noChangeShapeType="1"/>
                </p:cNvSpPr>
                <p:nvPr/>
              </p:nvSpPr>
              <p:spPr bwMode="auto">
                <a:xfrm>
                  <a:off x="1934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4073" name="Line 44"/>
                <p:cNvSpPr>
                  <a:spLocks noChangeShapeType="1"/>
                </p:cNvSpPr>
                <p:nvPr/>
              </p:nvSpPr>
              <p:spPr bwMode="auto">
                <a:xfrm>
                  <a:off x="2212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4063" name="Group 45"/>
              <p:cNvGrpSpPr/>
              <p:nvPr/>
            </p:nvGrpSpPr>
            <p:grpSpPr>
              <a:xfrm>
                <a:off x="3517" y="3703"/>
                <a:ext cx="778" cy="256"/>
                <a:chOff x="1700" y="2033"/>
                <a:chExt cx="778" cy="256"/>
              </a:xfrm>
            </p:grpSpPr>
            <p:sp>
              <p:nvSpPr>
                <p:cNvPr id="44075" name="Rectangle 46"/>
                <p:cNvSpPr>
                  <a:spLocks noChangeArrowheads="1"/>
                </p:cNvSpPr>
                <p:nvPr/>
              </p:nvSpPr>
              <p:spPr bwMode="auto">
                <a:xfrm>
                  <a:off x="1700" y="2033"/>
                  <a:ext cx="778" cy="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      G</a:t>
                  </a:r>
                </a:p>
              </p:txBody>
            </p:sp>
            <p:sp>
              <p:nvSpPr>
                <p:cNvPr id="44076" name="Line 47"/>
                <p:cNvSpPr>
                  <a:spLocks noChangeShapeType="1"/>
                </p:cNvSpPr>
                <p:nvPr/>
              </p:nvSpPr>
              <p:spPr bwMode="auto">
                <a:xfrm>
                  <a:off x="1934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4077" name="Line 48"/>
                <p:cNvSpPr>
                  <a:spLocks noChangeShapeType="1"/>
                </p:cNvSpPr>
                <p:nvPr/>
              </p:nvSpPr>
              <p:spPr bwMode="auto">
                <a:xfrm>
                  <a:off x="2212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44078" name="Line 49"/>
            <p:cNvSpPr>
              <a:spLocks noChangeShapeType="1"/>
            </p:cNvSpPr>
            <p:nvPr/>
          </p:nvSpPr>
          <p:spPr bwMode="auto">
            <a:xfrm flipH="1">
              <a:off x="3657" y="1975"/>
              <a:ext cx="144" cy="23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79" name="Line 50"/>
            <p:cNvSpPr>
              <a:spLocks noChangeShapeType="1"/>
            </p:cNvSpPr>
            <p:nvPr/>
          </p:nvSpPr>
          <p:spPr bwMode="auto">
            <a:xfrm flipH="1">
              <a:off x="3257" y="2409"/>
              <a:ext cx="111" cy="29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80" name="Line 51"/>
            <p:cNvSpPr>
              <a:spLocks noChangeShapeType="1"/>
            </p:cNvSpPr>
            <p:nvPr/>
          </p:nvSpPr>
          <p:spPr bwMode="auto">
            <a:xfrm>
              <a:off x="3924" y="2375"/>
              <a:ext cx="322" cy="33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81" name="Line 52"/>
            <p:cNvSpPr>
              <a:spLocks noChangeShapeType="1"/>
            </p:cNvSpPr>
            <p:nvPr/>
          </p:nvSpPr>
          <p:spPr bwMode="auto">
            <a:xfrm flipH="1">
              <a:off x="3857" y="2852"/>
              <a:ext cx="178" cy="35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82" name="Line 53"/>
            <p:cNvSpPr>
              <a:spLocks noChangeShapeType="1"/>
            </p:cNvSpPr>
            <p:nvPr/>
          </p:nvSpPr>
          <p:spPr bwMode="auto">
            <a:xfrm>
              <a:off x="4557" y="2852"/>
              <a:ext cx="200" cy="35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83" name="Line 54"/>
            <p:cNvSpPr>
              <a:spLocks noChangeShapeType="1"/>
            </p:cNvSpPr>
            <p:nvPr/>
          </p:nvSpPr>
          <p:spPr bwMode="auto">
            <a:xfrm>
              <a:off x="4090" y="3408"/>
              <a:ext cx="200" cy="28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86" name="Line 57"/>
            <p:cNvSpPr>
              <a:spLocks noChangeShapeType="1"/>
            </p:cNvSpPr>
            <p:nvPr/>
          </p:nvSpPr>
          <p:spPr bwMode="auto">
            <a:xfrm>
              <a:off x="3879" y="1577"/>
              <a:ext cx="200" cy="22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87" name="Text Box 58"/>
            <p:cNvSpPr txBox="1">
              <a:spLocks noChangeArrowheads="1"/>
            </p:cNvSpPr>
            <p:nvPr/>
          </p:nvSpPr>
          <p:spPr bwMode="auto">
            <a:xfrm>
              <a:off x="4231" y="1775"/>
              <a:ext cx="210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44088" name="Text Box 59"/>
            <p:cNvSpPr txBox="1">
              <a:spLocks noChangeArrowheads="1"/>
            </p:cNvSpPr>
            <p:nvPr/>
          </p:nvSpPr>
          <p:spPr bwMode="auto">
            <a:xfrm>
              <a:off x="2971" y="2674"/>
              <a:ext cx="210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44089" name="Text Box 60"/>
            <p:cNvSpPr txBox="1">
              <a:spLocks noChangeArrowheads="1"/>
            </p:cNvSpPr>
            <p:nvPr/>
          </p:nvSpPr>
          <p:spPr bwMode="auto">
            <a:xfrm>
              <a:off x="3511" y="2674"/>
              <a:ext cx="210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44090" name="Text Box 61"/>
            <p:cNvSpPr txBox="1">
              <a:spLocks noChangeArrowheads="1"/>
            </p:cNvSpPr>
            <p:nvPr/>
          </p:nvSpPr>
          <p:spPr bwMode="auto">
            <a:xfrm>
              <a:off x="3499" y="3190"/>
              <a:ext cx="210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44091" name="Text Box 62"/>
            <p:cNvSpPr txBox="1">
              <a:spLocks noChangeArrowheads="1"/>
            </p:cNvSpPr>
            <p:nvPr/>
          </p:nvSpPr>
          <p:spPr bwMode="auto">
            <a:xfrm>
              <a:off x="4423" y="3179"/>
              <a:ext cx="210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44092" name="Text Box 63"/>
            <p:cNvSpPr txBox="1">
              <a:spLocks noChangeArrowheads="1"/>
            </p:cNvSpPr>
            <p:nvPr/>
          </p:nvSpPr>
          <p:spPr bwMode="auto">
            <a:xfrm>
              <a:off x="4951" y="3179"/>
              <a:ext cx="210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44093" name="Text Box 64"/>
            <p:cNvSpPr txBox="1">
              <a:spLocks noChangeArrowheads="1"/>
            </p:cNvSpPr>
            <p:nvPr/>
          </p:nvSpPr>
          <p:spPr bwMode="auto">
            <a:xfrm>
              <a:off x="3955" y="3683"/>
              <a:ext cx="210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44094" name="Text Box 65"/>
            <p:cNvSpPr txBox="1">
              <a:spLocks noChangeArrowheads="1"/>
            </p:cNvSpPr>
            <p:nvPr/>
          </p:nvSpPr>
          <p:spPr bwMode="auto">
            <a:xfrm>
              <a:off x="4483" y="3671"/>
              <a:ext cx="210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</p:grpSp>
      <p:sp>
        <p:nvSpPr>
          <p:cNvPr id="44095" name="Rectangle 68"/>
          <p:cNvSpPr>
            <a:spLocks noChangeArrowheads="1"/>
          </p:cNvSpPr>
          <p:nvPr/>
        </p:nvSpPr>
        <p:spPr bwMode="auto">
          <a:xfrm>
            <a:off x="664021" y="732657"/>
            <a:ext cx="3195638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二叉链表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A6646C9A-65A0-4BB5-AE26-5337E3DAD62D}"/>
              </a:ext>
            </a:extLst>
          </p:cNvPr>
          <p:cNvSpPr/>
          <p:nvPr/>
        </p:nvSpPr>
        <p:spPr bwMode="auto">
          <a:xfrm>
            <a:off x="3329596" y="2960916"/>
            <a:ext cx="508197" cy="396077"/>
          </a:xfrm>
          <a:prstGeom prst="rightArrow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4A36496-A2A6-481B-A715-74BE68955481}"/>
              </a:ext>
            </a:extLst>
          </p:cNvPr>
          <p:cNvSpPr txBox="1"/>
          <p:nvPr/>
        </p:nvSpPr>
        <p:spPr>
          <a:xfrm>
            <a:off x="35496" y="5998173"/>
            <a:ext cx="91614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找给定结点的</a:t>
            </a: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子女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双亲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结点的时间复杂度分别是多少？</a:t>
            </a:r>
          </a:p>
        </p:txBody>
      </p:sp>
      <p:sp>
        <p:nvSpPr>
          <p:cNvPr id="68" name="标题 1">
            <a:extLst>
              <a:ext uri="{FF2B5EF4-FFF2-40B4-BE49-F238E27FC236}">
                <a16:creationId xmlns:a16="http://schemas.microsoft.com/office/drawing/2014/main" id="{FA3A1112-2A4E-4744-BFE7-9936B778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171" y="235957"/>
            <a:ext cx="6400800" cy="456739"/>
          </a:xfrm>
        </p:spPr>
        <p:txBody>
          <a:bodyPr/>
          <a:lstStyle/>
          <a:p>
            <a:r>
              <a:rPr lang="zh-CN" altLang="en-US" dirty="0"/>
              <a:t>二叉链表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6CFEB5-F28D-4376-BDB8-D841399A9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二叉链表</a:t>
            </a:r>
          </a:p>
        </p:txBody>
      </p:sp>
      <p:sp>
        <p:nvSpPr>
          <p:cNvPr id="4" name="Text Box 69">
            <a:extLst>
              <a:ext uri="{FF2B5EF4-FFF2-40B4-BE49-F238E27FC236}">
                <a16:creationId xmlns:a16="http://schemas.microsoft.com/office/drawing/2014/main" id="{D914BB53-068A-4C9B-B034-02137DBAE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484784"/>
            <a:ext cx="8640960" cy="26001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noFill/>
            <a:miter lim="800000"/>
          </a:ln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typedef struct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BiNode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{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0" dirty="0"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TElemType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data;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struct 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BiNode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lchild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*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rchild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左右孩子指针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BiNode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*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BiTree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42850921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0EDC02-5818-4E4D-9A30-ACCE44F21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 </a:t>
            </a:r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D4E66B-ACA4-4FA8-9D39-A253CF044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670" y="1121495"/>
            <a:ext cx="8642659" cy="864097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在 </a:t>
            </a:r>
            <a:r>
              <a:rPr lang="en-US" altLang="zh-CN" dirty="0"/>
              <a:t>n </a:t>
            </a:r>
            <a:r>
              <a:rPr lang="zh-CN" altLang="en-US" dirty="0"/>
              <a:t>个结点的二叉链表中，有</a:t>
            </a:r>
            <a:r>
              <a:rPr lang="zh-CN" altLang="en-US" u="sng" dirty="0"/>
              <a:t>         </a:t>
            </a:r>
            <a:r>
              <a:rPr lang="zh-CN" altLang="en-US" dirty="0"/>
              <a:t>个空指针域。</a:t>
            </a:r>
          </a:p>
          <a:p>
            <a:pPr marL="0" indent="0">
              <a:buNone/>
            </a:pPr>
            <a:endParaRPr lang="zh-CN" altLang="en-US" dirty="0"/>
          </a:p>
        </p:txBody>
      </p:sp>
      <p:grpSp>
        <p:nvGrpSpPr>
          <p:cNvPr id="4" name="Group 19">
            <a:extLst>
              <a:ext uri="{FF2B5EF4-FFF2-40B4-BE49-F238E27FC236}">
                <a16:creationId xmlns:a16="http://schemas.microsoft.com/office/drawing/2014/main" id="{7F9C1F8C-3590-4C9D-88D6-B72398A55250}"/>
              </a:ext>
            </a:extLst>
          </p:cNvPr>
          <p:cNvGrpSpPr/>
          <p:nvPr/>
        </p:nvGrpSpPr>
        <p:grpSpPr>
          <a:xfrm>
            <a:off x="2139414" y="2325855"/>
            <a:ext cx="4166850" cy="4038581"/>
            <a:chOff x="2963" y="1577"/>
            <a:chExt cx="2223" cy="2420"/>
          </a:xfrm>
        </p:grpSpPr>
        <p:grpSp>
          <p:nvGrpSpPr>
            <p:cNvPr id="5" name="Group 20">
              <a:extLst>
                <a:ext uri="{FF2B5EF4-FFF2-40B4-BE49-F238E27FC236}">
                  <a16:creationId xmlns:a16="http://schemas.microsoft.com/office/drawing/2014/main" id="{15C48FFF-7017-4E77-8D7F-B3DA93F6F083}"/>
                </a:ext>
              </a:extLst>
            </p:cNvPr>
            <p:cNvGrpSpPr/>
            <p:nvPr/>
          </p:nvGrpSpPr>
          <p:grpSpPr>
            <a:xfrm>
              <a:off x="2963" y="1796"/>
              <a:ext cx="2223" cy="2150"/>
              <a:chOff x="2540" y="1809"/>
              <a:chExt cx="2223" cy="2150"/>
            </a:xfrm>
          </p:grpSpPr>
          <p:grpSp>
            <p:nvGrpSpPr>
              <p:cNvPr id="21" name="Group 21">
                <a:extLst>
                  <a:ext uri="{FF2B5EF4-FFF2-40B4-BE49-F238E27FC236}">
                    <a16:creationId xmlns:a16="http://schemas.microsoft.com/office/drawing/2014/main" id="{823B76B2-A6BB-4A23-A3BB-D5595BE2707C}"/>
                  </a:ext>
                </a:extLst>
              </p:cNvPr>
              <p:cNvGrpSpPr/>
              <p:nvPr/>
            </p:nvGrpSpPr>
            <p:grpSpPr>
              <a:xfrm>
                <a:off x="3289" y="1809"/>
                <a:ext cx="778" cy="256"/>
                <a:chOff x="1700" y="2033"/>
                <a:chExt cx="778" cy="256"/>
              </a:xfrm>
            </p:grpSpPr>
            <p:sp>
              <p:nvSpPr>
                <p:cNvPr id="46" name="Rectangle 22">
                  <a:extLst>
                    <a:ext uri="{FF2B5EF4-FFF2-40B4-BE49-F238E27FC236}">
                      <a16:creationId xmlns:a16="http://schemas.microsoft.com/office/drawing/2014/main" id="{B9A1B3BF-3CF4-4F5F-9BF4-4B1596A0EA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0" y="2033"/>
                  <a:ext cx="778" cy="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      A</a:t>
                  </a:r>
                </a:p>
              </p:txBody>
            </p:sp>
            <p:sp>
              <p:nvSpPr>
                <p:cNvPr id="47" name="Line 23">
                  <a:extLst>
                    <a:ext uri="{FF2B5EF4-FFF2-40B4-BE49-F238E27FC236}">
                      <a16:creationId xmlns:a16="http://schemas.microsoft.com/office/drawing/2014/main" id="{5CD09A4B-513E-4AD3-A420-689A400DA8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34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Line 24">
                  <a:extLst>
                    <a:ext uri="{FF2B5EF4-FFF2-40B4-BE49-F238E27FC236}">
                      <a16:creationId xmlns:a16="http://schemas.microsoft.com/office/drawing/2014/main" id="{F36136C1-0EAC-440E-8D8C-DC9CB9B062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12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2" name="Group 25">
                <a:extLst>
                  <a:ext uri="{FF2B5EF4-FFF2-40B4-BE49-F238E27FC236}">
                    <a16:creationId xmlns:a16="http://schemas.microsoft.com/office/drawing/2014/main" id="{60C42CF3-859A-43F0-998E-18D33C23E818}"/>
                  </a:ext>
                </a:extLst>
              </p:cNvPr>
              <p:cNvGrpSpPr/>
              <p:nvPr/>
            </p:nvGrpSpPr>
            <p:grpSpPr>
              <a:xfrm>
                <a:off x="2819" y="2217"/>
                <a:ext cx="778" cy="256"/>
                <a:chOff x="1700" y="2033"/>
                <a:chExt cx="778" cy="256"/>
              </a:xfrm>
            </p:grpSpPr>
            <p:sp>
              <p:nvSpPr>
                <p:cNvPr id="43" name="Rectangle 26">
                  <a:extLst>
                    <a:ext uri="{FF2B5EF4-FFF2-40B4-BE49-F238E27FC236}">
                      <a16:creationId xmlns:a16="http://schemas.microsoft.com/office/drawing/2014/main" id="{516CE695-8FD0-41DA-9DE7-8FF2D592ED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0" y="2033"/>
                  <a:ext cx="778" cy="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B</a:t>
                  </a:r>
                </a:p>
              </p:txBody>
            </p:sp>
            <p:sp>
              <p:nvSpPr>
                <p:cNvPr id="44" name="Line 27">
                  <a:extLst>
                    <a:ext uri="{FF2B5EF4-FFF2-40B4-BE49-F238E27FC236}">
                      <a16:creationId xmlns:a16="http://schemas.microsoft.com/office/drawing/2014/main" id="{64CF889A-0EF7-43EB-8353-42515C2562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34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Line 28">
                  <a:extLst>
                    <a:ext uri="{FF2B5EF4-FFF2-40B4-BE49-F238E27FC236}">
                      <a16:creationId xmlns:a16="http://schemas.microsoft.com/office/drawing/2014/main" id="{410A01BD-2066-4A8D-958D-7752F8074C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12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3" name="Group 29">
                <a:extLst>
                  <a:ext uri="{FF2B5EF4-FFF2-40B4-BE49-F238E27FC236}">
                    <a16:creationId xmlns:a16="http://schemas.microsoft.com/office/drawing/2014/main" id="{DA0456B4-E8DC-40AB-B624-BEBA73B73831}"/>
                  </a:ext>
                </a:extLst>
              </p:cNvPr>
              <p:cNvGrpSpPr/>
              <p:nvPr/>
            </p:nvGrpSpPr>
            <p:grpSpPr>
              <a:xfrm>
                <a:off x="2540" y="2717"/>
                <a:ext cx="778" cy="256"/>
                <a:chOff x="1700" y="2033"/>
                <a:chExt cx="778" cy="256"/>
              </a:xfrm>
            </p:grpSpPr>
            <p:sp>
              <p:nvSpPr>
                <p:cNvPr id="40" name="Rectangle 30">
                  <a:extLst>
                    <a:ext uri="{FF2B5EF4-FFF2-40B4-BE49-F238E27FC236}">
                      <a16:creationId xmlns:a16="http://schemas.microsoft.com/office/drawing/2014/main" id="{77BE4DAC-C320-47A7-B5FF-162654F342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0" y="2033"/>
                  <a:ext cx="778" cy="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      C</a:t>
                  </a:r>
                </a:p>
              </p:txBody>
            </p:sp>
            <p:sp>
              <p:nvSpPr>
                <p:cNvPr id="41" name="Line 31">
                  <a:extLst>
                    <a:ext uri="{FF2B5EF4-FFF2-40B4-BE49-F238E27FC236}">
                      <a16:creationId xmlns:a16="http://schemas.microsoft.com/office/drawing/2014/main" id="{C20BBA5F-E2E4-40C3-ABBA-FDE8C37C46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34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Line 32">
                  <a:extLst>
                    <a:ext uri="{FF2B5EF4-FFF2-40B4-BE49-F238E27FC236}">
                      <a16:creationId xmlns:a16="http://schemas.microsoft.com/office/drawing/2014/main" id="{CC677053-90D5-4D2B-BCB5-10A7C8D74C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12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4" name="Group 33">
                <a:extLst>
                  <a:ext uri="{FF2B5EF4-FFF2-40B4-BE49-F238E27FC236}">
                    <a16:creationId xmlns:a16="http://schemas.microsoft.com/office/drawing/2014/main" id="{6FA284D0-C65D-4C2C-89B2-D92FE7115838}"/>
                  </a:ext>
                </a:extLst>
              </p:cNvPr>
              <p:cNvGrpSpPr/>
              <p:nvPr/>
            </p:nvGrpSpPr>
            <p:grpSpPr>
              <a:xfrm>
                <a:off x="3497" y="2716"/>
                <a:ext cx="778" cy="256"/>
                <a:chOff x="1700" y="2033"/>
                <a:chExt cx="778" cy="256"/>
              </a:xfrm>
            </p:grpSpPr>
            <p:sp>
              <p:nvSpPr>
                <p:cNvPr id="37" name="Rectangle 34">
                  <a:extLst>
                    <a:ext uri="{FF2B5EF4-FFF2-40B4-BE49-F238E27FC236}">
                      <a16:creationId xmlns:a16="http://schemas.microsoft.com/office/drawing/2014/main" id="{19324BCA-91F4-4E91-AFE1-9F52216D11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0" y="2033"/>
                  <a:ext cx="778" cy="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      D</a:t>
                  </a:r>
                </a:p>
              </p:txBody>
            </p:sp>
            <p:sp>
              <p:nvSpPr>
                <p:cNvPr id="38" name="Line 35">
                  <a:extLst>
                    <a:ext uri="{FF2B5EF4-FFF2-40B4-BE49-F238E27FC236}">
                      <a16:creationId xmlns:a16="http://schemas.microsoft.com/office/drawing/2014/main" id="{5AA66E51-7735-4773-B5CF-C47B50BC56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34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Line 36">
                  <a:extLst>
                    <a:ext uri="{FF2B5EF4-FFF2-40B4-BE49-F238E27FC236}">
                      <a16:creationId xmlns:a16="http://schemas.microsoft.com/office/drawing/2014/main" id="{1FD1716F-2508-4B2A-B5C6-133D03D8DE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12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5" name="Group 37">
                <a:extLst>
                  <a:ext uri="{FF2B5EF4-FFF2-40B4-BE49-F238E27FC236}">
                    <a16:creationId xmlns:a16="http://schemas.microsoft.com/office/drawing/2014/main" id="{94E876F4-6497-4A2F-8BAD-A6DF8C8AA121}"/>
                  </a:ext>
                </a:extLst>
              </p:cNvPr>
              <p:cNvGrpSpPr/>
              <p:nvPr/>
            </p:nvGrpSpPr>
            <p:grpSpPr>
              <a:xfrm>
                <a:off x="3052" y="3226"/>
                <a:ext cx="778" cy="256"/>
                <a:chOff x="1700" y="2033"/>
                <a:chExt cx="778" cy="256"/>
              </a:xfrm>
            </p:grpSpPr>
            <p:sp>
              <p:nvSpPr>
                <p:cNvPr id="34" name="Rectangle 38">
                  <a:extLst>
                    <a:ext uri="{FF2B5EF4-FFF2-40B4-BE49-F238E27FC236}">
                      <a16:creationId xmlns:a16="http://schemas.microsoft.com/office/drawing/2014/main" id="{9A69A62C-6180-4342-A54A-23AC58D19C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0" y="2033"/>
                  <a:ext cx="778" cy="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      E</a:t>
                  </a:r>
                </a:p>
              </p:txBody>
            </p:sp>
            <p:sp>
              <p:nvSpPr>
                <p:cNvPr id="35" name="Line 39">
                  <a:extLst>
                    <a:ext uri="{FF2B5EF4-FFF2-40B4-BE49-F238E27FC236}">
                      <a16:creationId xmlns:a16="http://schemas.microsoft.com/office/drawing/2014/main" id="{77206C69-E4E6-477A-8C35-1D62DCA929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34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Line 40">
                  <a:extLst>
                    <a:ext uri="{FF2B5EF4-FFF2-40B4-BE49-F238E27FC236}">
                      <a16:creationId xmlns:a16="http://schemas.microsoft.com/office/drawing/2014/main" id="{AC0ED093-EB5C-4571-A670-2B1BC95D37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12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6" name="Group 41">
                <a:extLst>
                  <a:ext uri="{FF2B5EF4-FFF2-40B4-BE49-F238E27FC236}">
                    <a16:creationId xmlns:a16="http://schemas.microsoft.com/office/drawing/2014/main" id="{5B1D7FFE-E74D-492E-8EC4-D866B2A9789F}"/>
                  </a:ext>
                </a:extLst>
              </p:cNvPr>
              <p:cNvGrpSpPr/>
              <p:nvPr/>
            </p:nvGrpSpPr>
            <p:grpSpPr>
              <a:xfrm>
                <a:off x="3985" y="3216"/>
                <a:ext cx="778" cy="256"/>
                <a:chOff x="1700" y="2033"/>
                <a:chExt cx="778" cy="256"/>
              </a:xfrm>
            </p:grpSpPr>
            <p:sp>
              <p:nvSpPr>
                <p:cNvPr id="31" name="Rectangle 42">
                  <a:extLst>
                    <a:ext uri="{FF2B5EF4-FFF2-40B4-BE49-F238E27FC236}">
                      <a16:creationId xmlns:a16="http://schemas.microsoft.com/office/drawing/2014/main" id="{318FE4BC-E31F-462A-AA83-BAB6679D96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0" y="2033"/>
                  <a:ext cx="778" cy="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      F</a:t>
                  </a:r>
                </a:p>
              </p:txBody>
            </p:sp>
            <p:sp>
              <p:nvSpPr>
                <p:cNvPr id="32" name="Line 43">
                  <a:extLst>
                    <a:ext uri="{FF2B5EF4-FFF2-40B4-BE49-F238E27FC236}">
                      <a16:creationId xmlns:a16="http://schemas.microsoft.com/office/drawing/2014/main" id="{99BFFD10-34FC-4943-90C8-1EE5A74506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34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Line 44">
                  <a:extLst>
                    <a:ext uri="{FF2B5EF4-FFF2-40B4-BE49-F238E27FC236}">
                      <a16:creationId xmlns:a16="http://schemas.microsoft.com/office/drawing/2014/main" id="{FFCD33ED-7622-4E3E-A069-E3382DA5FE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12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7" name="Group 45">
                <a:extLst>
                  <a:ext uri="{FF2B5EF4-FFF2-40B4-BE49-F238E27FC236}">
                    <a16:creationId xmlns:a16="http://schemas.microsoft.com/office/drawing/2014/main" id="{AFD46A91-2B03-4B3F-8F0E-EA3225E6219E}"/>
                  </a:ext>
                </a:extLst>
              </p:cNvPr>
              <p:cNvGrpSpPr/>
              <p:nvPr/>
            </p:nvGrpSpPr>
            <p:grpSpPr>
              <a:xfrm>
                <a:off x="3517" y="3703"/>
                <a:ext cx="778" cy="256"/>
                <a:chOff x="1700" y="2033"/>
                <a:chExt cx="778" cy="256"/>
              </a:xfrm>
            </p:grpSpPr>
            <p:sp>
              <p:nvSpPr>
                <p:cNvPr id="28" name="Rectangle 46">
                  <a:extLst>
                    <a:ext uri="{FF2B5EF4-FFF2-40B4-BE49-F238E27FC236}">
                      <a16:creationId xmlns:a16="http://schemas.microsoft.com/office/drawing/2014/main" id="{DB443AAE-ADE0-4E4D-BAB6-BCD6CDAF32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0" y="2033"/>
                  <a:ext cx="778" cy="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      G</a:t>
                  </a:r>
                </a:p>
              </p:txBody>
            </p:sp>
            <p:sp>
              <p:nvSpPr>
                <p:cNvPr id="29" name="Line 47">
                  <a:extLst>
                    <a:ext uri="{FF2B5EF4-FFF2-40B4-BE49-F238E27FC236}">
                      <a16:creationId xmlns:a16="http://schemas.microsoft.com/office/drawing/2014/main" id="{AF76F1D3-4362-47FF-A776-1514AAF9E4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34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Line 48">
                  <a:extLst>
                    <a:ext uri="{FF2B5EF4-FFF2-40B4-BE49-F238E27FC236}">
                      <a16:creationId xmlns:a16="http://schemas.microsoft.com/office/drawing/2014/main" id="{B68E3C86-FB28-4F46-A9E7-E7BBDFEDE9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12" y="2033"/>
                  <a:ext cx="0" cy="2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6" name="Line 49">
              <a:extLst>
                <a:ext uri="{FF2B5EF4-FFF2-40B4-BE49-F238E27FC236}">
                  <a16:creationId xmlns:a16="http://schemas.microsoft.com/office/drawing/2014/main" id="{0CCF31F3-AFA1-467B-B5FD-7AA73A9D90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7" y="1975"/>
              <a:ext cx="144" cy="23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" name="Line 50">
              <a:extLst>
                <a:ext uri="{FF2B5EF4-FFF2-40B4-BE49-F238E27FC236}">
                  <a16:creationId xmlns:a16="http://schemas.microsoft.com/office/drawing/2014/main" id="{5CC40D66-1D4D-4687-84D0-E5BC14C1DC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7" y="2409"/>
              <a:ext cx="111" cy="29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" name="Line 51">
              <a:extLst>
                <a:ext uri="{FF2B5EF4-FFF2-40B4-BE49-F238E27FC236}">
                  <a16:creationId xmlns:a16="http://schemas.microsoft.com/office/drawing/2014/main" id="{1C0D9941-35B7-40D6-98D8-5FCE82F3F8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4" y="2375"/>
              <a:ext cx="322" cy="33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Line 52">
              <a:extLst>
                <a:ext uri="{FF2B5EF4-FFF2-40B4-BE49-F238E27FC236}">
                  <a16:creationId xmlns:a16="http://schemas.microsoft.com/office/drawing/2014/main" id="{46D0D81E-DB53-44E7-8C53-72A59A25EC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7" y="2852"/>
              <a:ext cx="178" cy="35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Line 53">
              <a:extLst>
                <a:ext uri="{FF2B5EF4-FFF2-40B4-BE49-F238E27FC236}">
                  <a16:creationId xmlns:a16="http://schemas.microsoft.com/office/drawing/2014/main" id="{79828AEA-FFBF-46EE-972D-05FDEFB1A4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7" y="2852"/>
              <a:ext cx="200" cy="35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Line 54">
              <a:extLst>
                <a:ext uri="{FF2B5EF4-FFF2-40B4-BE49-F238E27FC236}">
                  <a16:creationId xmlns:a16="http://schemas.microsoft.com/office/drawing/2014/main" id="{F01044CA-E78B-4000-8AEB-4B934BACE8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0" y="3408"/>
              <a:ext cx="200" cy="28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Line 57">
              <a:extLst>
                <a:ext uri="{FF2B5EF4-FFF2-40B4-BE49-F238E27FC236}">
                  <a16:creationId xmlns:a16="http://schemas.microsoft.com/office/drawing/2014/main" id="{69E836B8-329B-4E50-AB89-DA21FB2AB0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9" y="1577"/>
              <a:ext cx="200" cy="22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Text Box 58">
              <a:extLst>
                <a:ext uri="{FF2B5EF4-FFF2-40B4-BE49-F238E27FC236}">
                  <a16:creationId xmlns:a16="http://schemas.microsoft.com/office/drawing/2014/main" id="{EFD64CAE-3DEB-486E-ABA7-082BCC235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1" y="1775"/>
              <a:ext cx="210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14" name="Text Box 59">
              <a:extLst>
                <a:ext uri="{FF2B5EF4-FFF2-40B4-BE49-F238E27FC236}">
                  <a16:creationId xmlns:a16="http://schemas.microsoft.com/office/drawing/2014/main" id="{A2CCC984-1B7B-47DE-A9E6-A45A13F6D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2674"/>
              <a:ext cx="210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15" name="Text Box 60">
              <a:extLst>
                <a:ext uri="{FF2B5EF4-FFF2-40B4-BE49-F238E27FC236}">
                  <a16:creationId xmlns:a16="http://schemas.microsoft.com/office/drawing/2014/main" id="{3B246B8E-2D58-462C-86D9-9CF7E8C7A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1" y="2674"/>
              <a:ext cx="210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16" name="Text Box 61">
              <a:extLst>
                <a:ext uri="{FF2B5EF4-FFF2-40B4-BE49-F238E27FC236}">
                  <a16:creationId xmlns:a16="http://schemas.microsoft.com/office/drawing/2014/main" id="{84F3DC48-6673-497C-A251-5F66371B4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9" y="3190"/>
              <a:ext cx="210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17" name="Text Box 62">
              <a:extLst>
                <a:ext uri="{FF2B5EF4-FFF2-40B4-BE49-F238E27FC236}">
                  <a16:creationId xmlns:a16="http://schemas.microsoft.com/office/drawing/2014/main" id="{2D84EF89-FEA9-43C3-A86D-B17F4A18D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3" y="3179"/>
              <a:ext cx="210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18" name="Text Box 63">
              <a:extLst>
                <a:ext uri="{FF2B5EF4-FFF2-40B4-BE49-F238E27FC236}">
                  <a16:creationId xmlns:a16="http://schemas.microsoft.com/office/drawing/2014/main" id="{F3C6E357-D303-46F1-BCD3-20192AF313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1" y="3179"/>
              <a:ext cx="210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19" name="Text Box 64">
              <a:extLst>
                <a:ext uri="{FF2B5EF4-FFF2-40B4-BE49-F238E27FC236}">
                  <a16:creationId xmlns:a16="http://schemas.microsoft.com/office/drawing/2014/main" id="{707B9B89-2E1F-4CC6-83A7-FD7F3DFC3C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5" y="3683"/>
              <a:ext cx="210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20" name="Text Box 65">
              <a:extLst>
                <a:ext uri="{FF2B5EF4-FFF2-40B4-BE49-F238E27FC236}">
                  <a16:creationId xmlns:a16="http://schemas.microsoft.com/office/drawing/2014/main" id="{9775D958-7D79-4CDB-B30E-773BE2FB3B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3" y="3671"/>
              <a:ext cx="210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70395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日期占位符 1"/>
          <p:cNvSpPr txBox="1">
            <a:spLocks noGrp="1" noChangeArrowheads="1"/>
          </p:cNvSpPr>
          <p:nvPr>
            <p:ph type="dt" sz="half" idx="4294967295"/>
          </p:nvPr>
        </p:nvSpPr>
        <p:spPr bwMode="auto">
          <a:xfrm>
            <a:off x="4724400" y="6240463"/>
            <a:ext cx="4419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         </a:t>
            </a:r>
          </a:p>
        </p:txBody>
      </p:sp>
      <p:sp>
        <p:nvSpPr>
          <p:cNvPr id="46083" name="Rectangle 4"/>
          <p:cNvSpPr>
            <a:spLocks noChangeArrowheads="1"/>
          </p:cNvSpPr>
          <p:nvPr/>
        </p:nvSpPr>
        <p:spPr bwMode="auto">
          <a:xfrm>
            <a:off x="820738" y="217488"/>
            <a:ext cx="3195638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三叉链表</a:t>
            </a:r>
          </a:p>
        </p:txBody>
      </p:sp>
      <p:grpSp>
        <p:nvGrpSpPr>
          <p:cNvPr id="46085" name="Group 5"/>
          <p:cNvGrpSpPr/>
          <p:nvPr/>
        </p:nvGrpSpPr>
        <p:grpSpPr>
          <a:xfrm>
            <a:off x="251520" y="1285415"/>
            <a:ext cx="2432181" cy="4087420"/>
            <a:chOff x="703" y="2015"/>
            <a:chExt cx="1022" cy="1672"/>
          </a:xfrm>
        </p:grpSpPr>
        <p:sp>
          <p:nvSpPr>
            <p:cNvPr id="2" name="Oval 6"/>
            <p:cNvSpPr>
              <a:spLocks noChangeArrowheads="1"/>
            </p:cNvSpPr>
            <p:nvPr/>
          </p:nvSpPr>
          <p:spPr bwMode="auto">
            <a:xfrm>
              <a:off x="1222" y="2015"/>
              <a:ext cx="255" cy="22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3" name="Oval 7"/>
            <p:cNvSpPr>
              <a:spLocks noChangeArrowheads="1"/>
            </p:cNvSpPr>
            <p:nvPr/>
          </p:nvSpPr>
          <p:spPr bwMode="auto">
            <a:xfrm>
              <a:off x="974" y="2367"/>
              <a:ext cx="255" cy="22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4" name="Oval 8"/>
            <p:cNvSpPr>
              <a:spLocks noChangeArrowheads="1"/>
            </p:cNvSpPr>
            <p:nvPr/>
          </p:nvSpPr>
          <p:spPr bwMode="auto">
            <a:xfrm>
              <a:off x="703" y="2729"/>
              <a:ext cx="255" cy="22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C</a:t>
              </a:r>
            </a:p>
          </p:txBody>
        </p:sp>
        <p:sp>
          <p:nvSpPr>
            <p:cNvPr id="46088" name="Oval 9"/>
            <p:cNvSpPr>
              <a:spLocks noChangeArrowheads="1"/>
            </p:cNvSpPr>
            <p:nvPr/>
          </p:nvSpPr>
          <p:spPr bwMode="auto">
            <a:xfrm>
              <a:off x="1215" y="2729"/>
              <a:ext cx="255" cy="22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D</a:t>
              </a:r>
            </a:p>
          </p:txBody>
        </p:sp>
        <p:sp>
          <p:nvSpPr>
            <p:cNvPr id="46089" name="Oval 10"/>
            <p:cNvSpPr>
              <a:spLocks noChangeArrowheads="1"/>
            </p:cNvSpPr>
            <p:nvPr/>
          </p:nvSpPr>
          <p:spPr bwMode="auto">
            <a:xfrm>
              <a:off x="1015" y="3051"/>
              <a:ext cx="255" cy="23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E</a:t>
              </a:r>
            </a:p>
          </p:txBody>
        </p:sp>
        <p:sp>
          <p:nvSpPr>
            <p:cNvPr id="46090" name="Oval 11"/>
            <p:cNvSpPr>
              <a:spLocks noChangeArrowheads="1"/>
            </p:cNvSpPr>
            <p:nvPr/>
          </p:nvSpPr>
          <p:spPr bwMode="auto">
            <a:xfrm>
              <a:off x="1470" y="3051"/>
              <a:ext cx="255" cy="22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F</a:t>
              </a:r>
            </a:p>
          </p:txBody>
        </p:sp>
        <p:sp>
          <p:nvSpPr>
            <p:cNvPr id="46091" name="Oval 12"/>
            <p:cNvSpPr>
              <a:spLocks noChangeArrowheads="1"/>
            </p:cNvSpPr>
            <p:nvPr/>
          </p:nvSpPr>
          <p:spPr bwMode="auto">
            <a:xfrm>
              <a:off x="1225" y="3463"/>
              <a:ext cx="255" cy="22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G</a:t>
              </a:r>
            </a:p>
          </p:txBody>
        </p:sp>
        <p:sp>
          <p:nvSpPr>
            <p:cNvPr id="46092" name="Line 13"/>
            <p:cNvSpPr>
              <a:spLocks noChangeShapeType="1"/>
            </p:cNvSpPr>
            <p:nvPr/>
          </p:nvSpPr>
          <p:spPr bwMode="auto">
            <a:xfrm flipH="1">
              <a:off x="1156" y="2200"/>
              <a:ext cx="111" cy="1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" name="Line 14"/>
            <p:cNvSpPr>
              <a:spLocks noChangeShapeType="1"/>
            </p:cNvSpPr>
            <p:nvPr/>
          </p:nvSpPr>
          <p:spPr bwMode="auto">
            <a:xfrm flipH="1">
              <a:off x="911" y="2566"/>
              <a:ext cx="122" cy="1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094" name="Line 15"/>
            <p:cNvSpPr>
              <a:spLocks noChangeShapeType="1"/>
            </p:cNvSpPr>
            <p:nvPr/>
          </p:nvSpPr>
          <p:spPr bwMode="auto">
            <a:xfrm>
              <a:off x="1189" y="2566"/>
              <a:ext cx="122" cy="1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095" name="Line 16"/>
            <p:cNvSpPr>
              <a:spLocks noChangeShapeType="1"/>
            </p:cNvSpPr>
            <p:nvPr/>
          </p:nvSpPr>
          <p:spPr bwMode="auto">
            <a:xfrm flipH="1">
              <a:off x="1229" y="2947"/>
              <a:ext cx="60" cy="1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096" name="Line 17"/>
            <p:cNvSpPr>
              <a:spLocks noChangeShapeType="1"/>
            </p:cNvSpPr>
            <p:nvPr/>
          </p:nvSpPr>
          <p:spPr bwMode="auto">
            <a:xfrm>
              <a:off x="1411" y="2933"/>
              <a:ext cx="112" cy="1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097" name="Line 18"/>
            <p:cNvSpPr>
              <a:spLocks noChangeShapeType="1"/>
            </p:cNvSpPr>
            <p:nvPr/>
          </p:nvSpPr>
          <p:spPr bwMode="auto">
            <a:xfrm>
              <a:off x="1178" y="3277"/>
              <a:ext cx="133" cy="1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6086" name="Group 19"/>
          <p:cNvGrpSpPr/>
          <p:nvPr/>
        </p:nvGrpSpPr>
        <p:grpSpPr>
          <a:xfrm>
            <a:off x="3275856" y="975717"/>
            <a:ext cx="5759186" cy="4846186"/>
            <a:chOff x="1898" y="497"/>
            <a:chExt cx="3201" cy="2458"/>
          </a:xfrm>
        </p:grpSpPr>
        <p:grpSp>
          <p:nvGrpSpPr>
            <p:cNvPr id="46093" name="Group 20"/>
            <p:cNvGrpSpPr/>
            <p:nvPr/>
          </p:nvGrpSpPr>
          <p:grpSpPr>
            <a:xfrm>
              <a:off x="1898" y="662"/>
              <a:ext cx="3201" cy="2253"/>
              <a:chOff x="2307" y="1809"/>
              <a:chExt cx="3201" cy="2253"/>
            </a:xfrm>
          </p:grpSpPr>
          <p:grpSp>
            <p:nvGrpSpPr>
              <p:cNvPr id="46118" name="Group 21"/>
              <p:cNvGrpSpPr/>
              <p:nvPr/>
            </p:nvGrpSpPr>
            <p:grpSpPr>
              <a:xfrm>
                <a:off x="3289" y="1809"/>
                <a:ext cx="1134" cy="257"/>
                <a:chOff x="3289" y="1809"/>
                <a:chExt cx="1134" cy="257"/>
              </a:xfrm>
            </p:grpSpPr>
            <p:sp>
              <p:nvSpPr>
                <p:cNvPr id="46101" name="Rectangle 22"/>
                <p:cNvSpPr>
                  <a:spLocks noChangeArrowheads="1"/>
                </p:cNvSpPr>
                <p:nvPr/>
              </p:nvSpPr>
              <p:spPr bwMode="auto">
                <a:xfrm>
                  <a:off x="3289" y="1809"/>
                  <a:ext cx="1134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      A</a:t>
                  </a:r>
                </a:p>
              </p:txBody>
            </p:sp>
            <p:sp>
              <p:nvSpPr>
                <p:cNvPr id="46102" name="Line 23"/>
                <p:cNvSpPr>
                  <a:spLocks noChangeShapeType="1"/>
                </p:cNvSpPr>
                <p:nvPr/>
              </p:nvSpPr>
              <p:spPr bwMode="auto">
                <a:xfrm>
                  <a:off x="3563" y="1809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6103" name="Line 24"/>
                <p:cNvSpPr>
                  <a:spLocks noChangeShapeType="1"/>
                </p:cNvSpPr>
                <p:nvPr/>
              </p:nvSpPr>
              <p:spPr bwMode="auto">
                <a:xfrm>
                  <a:off x="3848" y="1820"/>
                  <a:ext cx="0" cy="2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6104" name="Line 25"/>
                <p:cNvSpPr>
                  <a:spLocks noChangeShapeType="1"/>
                </p:cNvSpPr>
                <p:nvPr/>
              </p:nvSpPr>
              <p:spPr bwMode="auto">
                <a:xfrm>
                  <a:off x="4134" y="1811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6119" name="Group 26"/>
              <p:cNvGrpSpPr/>
              <p:nvPr/>
            </p:nvGrpSpPr>
            <p:grpSpPr>
              <a:xfrm>
                <a:off x="2651" y="2284"/>
                <a:ext cx="1134" cy="257"/>
                <a:chOff x="3289" y="1809"/>
                <a:chExt cx="1134" cy="257"/>
              </a:xfrm>
            </p:grpSpPr>
            <p:sp>
              <p:nvSpPr>
                <p:cNvPr id="6" name="Rectangle 27"/>
                <p:cNvSpPr>
                  <a:spLocks noChangeArrowheads="1"/>
                </p:cNvSpPr>
                <p:nvPr/>
              </p:nvSpPr>
              <p:spPr bwMode="auto">
                <a:xfrm>
                  <a:off x="3289" y="1809"/>
                  <a:ext cx="1134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      B              </a:t>
                  </a:r>
                </a:p>
              </p:txBody>
            </p:sp>
            <p:sp>
              <p:nvSpPr>
                <p:cNvPr id="46107" name="Line 28"/>
                <p:cNvSpPr>
                  <a:spLocks noChangeShapeType="1"/>
                </p:cNvSpPr>
                <p:nvPr/>
              </p:nvSpPr>
              <p:spPr bwMode="auto">
                <a:xfrm>
                  <a:off x="3563" y="1809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6108" name="Line 29"/>
                <p:cNvSpPr>
                  <a:spLocks noChangeShapeType="1"/>
                </p:cNvSpPr>
                <p:nvPr/>
              </p:nvSpPr>
              <p:spPr bwMode="auto">
                <a:xfrm>
                  <a:off x="3848" y="1820"/>
                  <a:ext cx="0" cy="2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6109" name="Line 30"/>
                <p:cNvSpPr>
                  <a:spLocks noChangeShapeType="1"/>
                </p:cNvSpPr>
                <p:nvPr/>
              </p:nvSpPr>
              <p:spPr bwMode="auto">
                <a:xfrm>
                  <a:off x="4134" y="1811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6120" name="Group 31"/>
              <p:cNvGrpSpPr/>
              <p:nvPr/>
            </p:nvGrpSpPr>
            <p:grpSpPr>
              <a:xfrm>
                <a:off x="2307" y="2772"/>
                <a:ext cx="1134" cy="257"/>
                <a:chOff x="3289" y="1809"/>
                <a:chExt cx="1134" cy="257"/>
              </a:xfrm>
            </p:grpSpPr>
            <p:sp>
              <p:nvSpPr>
                <p:cNvPr id="46111" name="Rectangle 32"/>
                <p:cNvSpPr>
                  <a:spLocks noChangeArrowheads="1"/>
                </p:cNvSpPr>
                <p:nvPr/>
              </p:nvSpPr>
              <p:spPr bwMode="auto">
                <a:xfrm>
                  <a:off x="3289" y="1809"/>
                  <a:ext cx="1134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      C               </a:t>
                  </a:r>
                </a:p>
              </p:txBody>
            </p:sp>
            <p:sp>
              <p:nvSpPr>
                <p:cNvPr id="46112" name="Line 33"/>
                <p:cNvSpPr>
                  <a:spLocks noChangeShapeType="1"/>
                </p:cNvSpPr>
                <p:nvPr/>
              </p:nvSpPr>
              <p:spPr bwMode="auto">
                <a:xfrm>
                  <a:off x="3563" y="1809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6113" name="Line 34"/>
                <p:cNvSpPr>
                  <a:spLocks noChangeShapeType="1"/>
                </p:cNvSpPr>
                <p:nvPr/>
              </p:nvSpPr>
              <p:spPr bwMode="auto">
                <a:xfrm>
                  <a:off x="3848" y="1820"/>
                  <a:ext cx="0" cy="2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6114" name="Line 35"/>
                <p:cNvSpPr>
                  <a:spLocks noChangeShapeType="1"/>
                </p:cNvSpPr>
                <p:nvPr/>
              </p:nvSpPr>
              <p:spPr bwMode="auto">
                <a:xfrm>
                  <a:off x="4134" y="1811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6121" name="Group 36"/>
              <p:cNvGrpSpPr/>
              <p:nvPr/>
            </p:nvGrpSpPr>
            <p:grpSpPr>
              <a:xfrm>
                <a:off x="3752" y="2750"/>
                <a:ext cx="1134" cy="257"/>
                <a:chOff x="3289" y="1809"/>
                <a:chExt cx="1134" cy="257"/>
              </a:xfrm>
            </p:grpSpPr>
            <p:sp>
              <p:nvSpPr>
                <p:cNvPr id="46116" name="Rectangle 37"/>
                <p:cNvSpPr>
                  <a:spLocks noChangeArrowheads="1"/>
                </p:cNvSpPr>
                <p:nvPr/>
              </p:nvSpPr>
              <p:spPr bwMode="auto">
                <a:xfrm>
                  <a:off x="3289" y="1809"/>
                  <a:ext cx="1134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      D</a:t>
                  </a:r>
                </a:p>
              </p:txBody>
            </p:sp>
            <p:sp>
              <p:nvSpPr>
                <p:cNvPr id="46117" name="Line 38"/>
                <p:cNvSpPr>
                  <a:spLocks noChangeShapeType="1"/>
                </p:cNvSpPr>
                <p:nvPr/>
              </p:nvSpPr>
              <p:spPr bwMode="auto">
                <a:xfrm>
                  <a:off x="3563" y="1809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" name="Line 39"/>
                <p:cNvSpPr>
                  <a:spLocks noChangeShapeType="1"/>
                </p:cNvSpPr>
                <p:nvPr/>
              </p:nvSpPr>
              <p:spPr bwMode="auto">
                <a:xfrm>
                  <a:off x="3848" y="1820"/>
                  <a:ext cx="0" cy="2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" name="Line 40"/>
                <p:cNvSpPr>
                  <a:spLocks noChangeShapeType="1"/>
                </p:cNvSpPr>
                <p:nvPr/>
              </p:nvSpPr>
              <p:spPr bwMode="auto">
                <a:xfrm>
                  <a:off x="4134" y="1811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6122" name="Group 41"/>
              <p:cNvGrpSpPr/>
              <p:nvPr/>
            </p:nvGrpSpPr>
            <p:grpSpPr>
              <a:xfrm>
                <a:off x="3041" y="3272"/>
                <a:ext cx="1134" cy="257"/>
                <a:chOff x="3289" y="1809"/>
                <a:chExt cx="1134" cy="257"/>
              </a:xfrm>
            </p:grpSpPr>
            <p:sp>
              <p:nvSpPr>
                <p:cNvPr id="9" name="Rectangle 42"/>
                <p:cNvSpPr>
                  <a:spLocks noChangeArrowheads="1"/>
                </p:cNvSpPr>
                <p:nvPr/>
              </p:nvSpPr>
              <p:spPr bwMode="auto">
                <a:xfrm>
                  <a:off x="3289" y="1809"/>
                  <a:ext cx="1134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      E         </a:t>
                  </a:r>
                </a:p>
              </p:txBody>
            </p:sp>
            <p:sp>
              <p:nvSpPr>
                <p:cNvPr id="10" name="Line 43"/>
                <p:cNvSpPr>
                  <a:spLocks noChangeShapeType="1"/>
                </p:cNvSpPr>
                <p:nvPr/>
              </p:nvSpPr>
              <p:spPr bwMode="auto">
                <a:xfrm>
                  <a:off x="3563" y="1809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1" name="Line 44"/>
                <p:cNvSpPr>
                  <a:spLocks noChangeShapeType="1"/>
                </p:cNvSpPr>
                <p:nvPr/>
              </p:nvSpPr>
              <p:spPr bwMode="auto">
                <a:xfrm>
                  <a:off x="3848" y="1820"/>
                  <a:ext cx="0" cy="2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2" name="Line 45"/>
                <p:cNvSpPr>
                  <a:spLocks noChangeShapeType="1"/>
                </p:cNvSpPr>
                <p:nvPr/>
              </p:nvSpPr>
              <p:spPr bwMode="auto">
                <a:xfrm>
                  <a:off x="4134" y="1811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6123" name="Group 46"/>
              <p:cNvGrpSpPr/>
              <p:nvPr/>
            </p:nvGrpSpPr>
            <p:grpSpPr>
              <a:xfrm>
                <a:off x="4374" y="3261"/>
                <a:ext cx="1134" cy="257"/>
                <a:chOff x="3289" y="1809"/>
                <a:chExt cx="1134" cy="257"/>
              </a:xfrm>
            </p:grpSpPr>
            <p:sp>
              <p:nvSpPr>
                <p:cNvPr id="46126" name="Rectangle 47"/>
                <p:cNvSpPr>
                  <a:spLocks noChangeArrowheads="1"/>
                </p:cNvSpPr>
                <p:nvPr/>
              </p:nvSpPr>
              <p:spPr bwMode="auto">
                <a:xfrm>
                  <a:off x="3289" y="1809"/>
                  <a:ext cx="1134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      F</a:t>
                  </a:r>
                </a:p>
              </p:txBody>
            </p:sp>
            <p:sp>
              <p:nvSpPr>
                <p:cNvPr id="46127" name="Line 48"/>
                <p:cNvSpPr>
                  <a:spLocks noChangeShapeType="1"/>
                </p:cNvSpPr>
                <p:nvPr/>
              </p:nvSpPr>
              <p:spPr bwMode="auto">
                <a:xfrm>
                  <a:off x="3563" y="1809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6128" name="Line 49"/>
                <p:cNvSpPr>
                  <a:spLocks noChangeShapeType="1"/>
                </p:cNvSpPr>
                <p:nvPr/>
              </p:nvSpPr>
              <p:spPr bwMode="auto">
                <a:xfrm>
                  <a:off x="3848" y="1820"/>
                  <a:ext cx="0" cy="2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6129" name="Line 50"/>
                <p:cNvSpPr>
                  <a:spLocks noChangeShapeType="1"/>
                </p:cNvSpPr>
                <p:nvPr/>
              </p:nvSpPr>
              <p:spPr bwMode="auto">
                <a:xfrm>
                  <a:off x="4134" y="1811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6124" name="Group 51"/>
              <p:cNvGrpSpPr/>
              <p:nvPr/>
            </p:nvGrpSpPr>
            <p:grpSpPr>
              <a:xfrm>
                <a:off x="3751" y="3805"/>
                <a:ext cx="1134" cy="257"/>
                <a:chOff x="3289" y="1809"/>
                <a:chExt cx="1134" cy="257"/>
              </a:xfrm>
            </p:grpSpPr>
            <p:sp>
              <p:nvSpPr>
                <p:cNvPr id="46131" name="Rectangle 52"/>
                <p:cNvSpPr>
                  <a:spLocks noChangeArrowheads="1"/>
                </p:cNvSpPr>
                <p:nvPr/>
              </p:nvSpPr>
              <p:spPr bwMode="auto">
                <a:xfrm>
                  <a:off x="3289" y="1809"/>
                  <a:ext cx="1134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1pPr>
                  <a:lvl2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2pPr>
                  <a:lvl3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3pPr>
                  <a:lvl4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4pPr>
                  <a:lvl5pPr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      G</a:t>
                  </a:r>
                </a:p>
              </p:txBody>
            </p:sp>
            <p:sp>
              <p:nvSpPr>
                <p:cNvPr id="46132" name="Line 53"/>
                <p:cNvSpPr>
                  <a:spLocks noChangeShapeType="1"/>
                </p:cNvSpPr>
                <p:nvPr/>
              </p:nvSpPr>
              <p:spPr bwMode="auto">
                <a:xfrm>
                  <a:off x="3563" y="1809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6133" name="Line 54"/>
                <p:cNvSpPr>
                  <a:spLocks noChangeShapeType="1"/>
                </p:cNvSpPr>
                <p:nvPr/>
              </p:nvSpPr>
              <p:spPr bwMode="auto">
                <a:xfrm>
                  <a:off x="3848" y="1820"/>
                  <a:ext cx="0" cy="2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6134" name="Line 55"/>
                <p:cNvSpPr>
                  <a:spLocks noChangeShapeType="1"/>
                </p:cNvSpPr>
                <p:nvPr/>
              </p:nvSpPr>
              <p:spPr bwMode="auto">
                <a:xfrm>
                  <a:off x="4134" y="1811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46135" name="Line 56"/>
            <p:cNvSpPr>
              <a:spLocks noChangeShapeType="1"/>
            </p:cNvSpPr>
            <p:nvPr/>
          </p:nvSpPr>
          <p:spPr bwMode="auto">
            <a:xfrm flipH="1">
              <a:off x="2736" y="864"/>
              <a:ext cx="278" cy="27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136" name="Line 57"/>
            <p:cNvSpPr>
              <a:spLocks noChangeShapeType="1"/>
            </p:cNvSpPr>
            <p:nvPr/>
          </p:nvSpPr>
          <p:spPr bwMode="auto">
            <a:xfrm flipH="1">
              <a:off x="2236" y="1353"/>
              <a:ext cx="166" cy="27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137" name="Line 58"/>
            <p:cNvSpPr>
              <a:spLocks noChangeShapeType="1"/>
            </p:cNvSpPr>
            <p:nvPr/>
          </p:nvSpPr>
          <p:spPr bwMode="auto">
            <a:xfrm flipH="1">
              <a:off x="3025" y="1786"/>
              <a:ext cx="467" cy="3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138" name="Line 59"/>
            <p:cNvSpPr>
              <a:spLocks noChangeShapeType="1"/>
            </p:cNvSpPr>
            <p:nvPr/>
          </p:nvSpPr>
          <p:spPr bwMode="auto">
            <a:xfrm>
              <a:off x="3236" y="1308"/>
              <a:ext cx="467" cy="30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139" name="Line 60"/>
            <p:cNvSpPr>
              <a:spLocks noChangeShapeType="1"/>
            </p:cNvSpPr>
            <p:nvPr/>
          </p:nvSpPr>
          <p:spPr bwMode="auto">
            <a:xfrm>
              <a:off x="4325" y="1764"/>
              <a:ext cx="144" cy="35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140" name="Line 61"/>
            <p:cNvSpPr>
              <a:spLocks noChangeShapeType="1"/>
            </p:cNvSpPr>
            <p:nvPr/>
          </p:nvSpPr>
          <p:spPr bwMode="auto">
            <a:xfrm>
              <a:off x="3647" y="2286"/>
              <a:ext cx="211" cy="36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141" name="Line 62"/>
            <p:cNvSpPr>
              <a:spLocks noChangeShapeType="1"/>
            </p:cNvSpPr>
            <p:nvPr/>
          </p:nvSpPr>
          <p:spPr bwMode="auto">
            <a:xfrm flipV="1">
              <a:off x="2945" y="908"/>
              <a:ext cx="313" cy="325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142" name="Line 63"/>
            <p:cNvSpPr>
              <a:spLocks noChangeShapeType="1"/>
            </p:cNvSpPr>
            <p:nvPr/>
          </p:nvSpPr>
          <p:spPr bwMode="auto">
            <a:xfrm flipV="1">
              <a:off x="2606" y="1397"/>
              <a:ext cx="108" cy="335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143" name="Line 64"/>
            <p:cNvSpPr>
              <a:spLocks noChangeShapeType="1"/>
            </p:cNvSpPr>
            <p:nvPr/>
          </p:nvSpPr>
          <p:spPr bwMode="auto">
            <a:xfrm flipH="1" flipV="1">
              <a:off x="3380" y="1308"/>
              <a:ext cx="656" cy="387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144" name="Line 65"/>
            <p:cNvSpPr>
              <a:spLocks noChangeShapeType="1"/>
            </p:cNvSpPr>
            <p:nvPr/>
          </p:nvSpPr>
          <p:spPr bwMode="auto">
            <a:xfrm flipV="1">
              <a:off x="3328" y="1864"/>
              <a:ext cx="330" cy="381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145" name="Line 66"/>
            <p:cNvSpPr>
              <a:spLocks noChangeShapeType="1"/>
            </p:cNvSpPr>
            <p:nvPr/>
          </p:nvSpPr>
          <p:spPr bwMode="auto">
            <a:xfrm flipH="1" flipV="1">
              <a:off x="3769" y="2264"/>
              <a:ext cx="283" cy="490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146" name="Line 67"/>
            <p:cNvSpPr>
              <a:spLocks noChangeShapeType="1"/>
            </p:cNvSpPr>
            <p:nvPr/>
          </p:nvSpPr>
          <p:spPr bwMode="auto">
            <a:xfrm flipH="1" flipV="1">
              <a:off x="4481" y="1764"/>
              <a:ext cx="201" cy="419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149" name="Line 70"/>
            <p:cNvSpPr>
              <a:spLocks noChangeShapeType="1"/>
            </p:cNvSpPr>
            <p:nvPr/>
          </p:nvSpPr>
          <p:spPr bwMode="auto">
            <a:xfrm>
              <a:off x="3380" y="497"/>
              <a:ext cx="212" cy="16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150" name="Text Box 71"/>
            <p:cNvSpPr txBox="1">
              <a:spLocks noChangeArrowheads="1"/>
            </p:cNvSpPr>
            <p:nvPr/>
          </p:nvSpPr>
          <p:spPr bwMode="auto">
            <a:xfrm>
              <a:off x="3457" y="649"/>
              <a:ext cx="23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46151" name="Text Box 72"/>
            <p:cNvSpPr txBox="1">
              <a:spLocks noChangeArrowheads="1"/>
            </p:cNvSpPr>
            <p:nvPr/>
          </p:nvSpPr>
          <p:spPr bwMode="auto">
            <a:xfrm>
              <a:off x="3746" y="653"/>
              <a:ext cx="23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46152" name="Text Box 73"/>
            <p:cNvSpPr txBox="1">
              <a:spLocks noChangeArrowheads="1"/>
            </p:cNvSpPr>
            <p:nvPr/>
          </p:nvSpPr>
          <p:spPr bwMode="auto">
            <a:xfrm>
              <a:off x="1934" y="1616"/>
              <a:ext cx="23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46153" name="Text Box 74"/>
            <p:cNvSpPr txBox="1">
              <a:spLocks noChangeArrowheads="1"/>
            </p:cNvSpPr>
            <p:nvPr/>
          </p:nvSpPr>
          <p:spPr bwMode="auto">
            <a:xfrm>
              <a:off x="2774" y="1604"/>
              <a:ext cx="23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46154" name="Text Box 75"/>
            <p:cNvSpPr txBox="1">
              <a:spLocks noChangeArrowheads="1"/>
            </p:cNvSpPr>
            <p:nvPr/>
          </p:nvSpPr>
          <p:spPr bwMode="auto">
            <a:xfrm>
              <a:off x="2630" y="2108"/>
              <a:ext cx="23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46155" name="Text Box 76"/>
            <p:cNvSpPr txBox="1">
              <a:spLocks noChangeArrowheads="1"/>
            </p:cNvSpPr>
            <p:nvPr/>
          </p:nvSpPr>
          <p:spPr bwMode="auto">
            <a:xfrm>
              <a:off x="3950" y="2108"/>
              <a:ext cx="23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46156" name="Text Box 77"/>
            <p:cNvSpPr txBox="1">
              <a:spLocks noChangeArrowheads="1"/>
            </p:cNvSpPr>
            <p:nvPr/>
          </p:nvSpPr>
          <p:spPr bwMode="auto">
            <a:xfrm>
              <a:off x="4838" y="2096"/>
              <a:ext cx="23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46157" name="Text Box 78"/>
            <p:cNvSpPr txBox="1">
              <a:spLocks noChangeArrowheads="1"/>
            </p:cNvSpPr>
            <p:nvPr/>
          </p:nvSpPr>
          <p:spPr bwMode="auto">
            <a:xfrm>
              <a:off x="3350" y="2648"/>
              <a:ext cx="23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46158" name="Text Box 79"/>
            <p:cNvSpPr txBox="1">
              <a:spLocks noChangeArrowheads="1"/>
            </p:cNvSpPr>
            <p:nvPr/>
          </p:nvSpPr>
          <p:spPr bwMode="auto">
            <a:xfrm>
              <a:off x="4214" y="2624"/>
              <a:ext cx="23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</p:grpSp>
      <p:sp>
        <p:nvSpPr>
          <p:cNvPr id="86" name="箭头: 右 85">
            <a:extLst>
              <a:ext uri="{FF2B5EF4-FFF2-40B4-BE49-F238E27FC236}">
                <a16:creationId xmlns:a16="http://schemas.microsoft.com/office/drawing/2014/main" id="{3AC53041-C0A8-4F82-B5EE-648A7CD45101}"/>
              </a:ext>
            </a:extLst>
          </p:cNvPr>
          <p:cNvSpPr/>
          <p:nvPr/>
        </p:nvSpPr>
        <p:spPr bwMode="auto">
          <a:xfrm>
            <a:off x="2555776" y="2939862"/>
            <a:ext cx="508197" cy="396077"/>
          </a:xfrm>
          <a:prstGeom prst="rightArrow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ED691BD1-0981-49B2-B041-E86E8DFAFC5D}"/>
              </a:ext>
            </a:extLst>
          </p:cNvPr>
          <p:cNvSpPr txBox="1"/>
          <p:nvPr/>
        </p:nvSpPr>
        <p:spPr>
          <a:xfrm>
            <a:off x="35496" y="6021288"/>
            <a:ext cx="9136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找给定结点的</a:t>
            </a: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子女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双亲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结点的时间复杂度分别是多少？</a:t>
            </a:r>
          </a:p>
        </p:txBody>
      </p:sp>
    </p:spTree>
  </p:cSld>
  <p:clrMapOvr>
    <a:masterClrMapping/>
  </p:clrMapOvr>
  <p:transition>
    <p:cover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A07A6-2A24-453C-9324-E463284A4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三叉链表</a:t>
            </a:r>
          </a:p>
        </p:txBody>
      </p:sp>
      <p:sp>
        <p:nvSpPr>
          <p:cNvPr id="3" name="Rectangle 85">
            <a:extLst>
              <a:ext uri="{FF2B5EF4-FFF2-40B4-BE49-F238E27FC236}">
                <a16:creationId xmlns:a16="http://schemas.microsoft.com/office/drawing/2014/main" id="{C9CD7ACF-B944-4F38-99F5-D72B097C6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1260849"/>
            <a:ext cx="8424936" cy="26001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typedef struct </a:t>
            </a:r>
            <a:r>
              <a:rPr kumimoji="1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TriTNode</a:t>
            </a:r>
            <a:r>
              <a:rPr kumimoji="1" lang="en-US" altLang="zh-CN" b="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1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TElemType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data;</a:t>
            </a:r>
            <a:b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struct </a:t>
            </a:r>
            <a:r>
              <a:rPr kumimoji="1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TriTNode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kumimoji="1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lchild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*parent, *</a:t>
            </a:r>
            <a:r>
              <a:rPr kumimoji="1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rchild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</a:t>
            </a:r>
            <a:endParaRPr kumimoji="1" lang="en-US" altLang="zh-CN" b="0" dirty="0"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</a:t>
            </a:r>
            <a:r>
              <a:rPr kumimoji="1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TriTNode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 *</a:t>
            </a:r>
            <a:r>
              <a:rPr kumimoji="1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TriTree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49774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9BBF7-BF6C-44BE-82DF-7F70545F3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静态链表结构</a:t>
            </a:r>
          </a:p>
        </p:txBody>
      </p:sp>
      <p:grpSp>
        <p:nvGrpSpPr>
          <p:cNvPr id="34" name="Group 32">
            <a:extLst>
              <a:ext uri="{FF2B5EF4-FFF2-40B4-BE49-F238E27FC236}">
                <a16:creationId xmlns:a16="http://schemas.microsoft.com/office/drawing/2014/main" id="{E3F192EC-6180-49DE-9580-F9567B662474}"/>
              </a:ext>
            </a:extLst>
          </p:cNvPr>
          <p:cNvGrpSpPr>
            <a:grpSpLocks/>
          </p:cNvGrpSpPr>
          <p:nvPr/>
        </p:nvGrpSpPr>
        <p:grpSpPr bwMode="auto">
          <a:xfrm>
            <a:off x="372145" y="1418903"/>
            <a:ext cx="2267710" cy="4242345"/>
            <a:chOff x="432" y="288"/>
            <a:chExt cx="1167" cy="2400"/>
          </a:xfrm>
        </p:grpSpPr>
        <p:sp>
          <p:nvSpPr>
            <p:cNvPr id="35" name="Line 2">
              <a:extLst>
                <a:ext uri="{FF2B5EF4-FFF2-40B4-BE49-F238E27FC236}">
                  <a16:creationId xmlns:a16="http://schemas.microsoft.com/office/drawing/2014/main" id="{BE59AC7A-B17E-4E12-AB2E-A39FE5BF43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2016"/>
              <a:ext cx="192" cy="48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" name="Line 3">
              <a:extLst>
                <a:ext uri="{FF2B5EF4-FFF2-40B4-BE49-F238E27FC236}">
                  <a16:creationId xmlns:a16="http://schemas.microsoft.com/office/drawing/2014/main" id="{73BFE163-9417-491B-96BE-7EA74FD0D7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536"/>
              <a:ext cx="384" cy="864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" name="Line 4">
              <a:extLst>
                <a:ext uri="{FF2B5EF4-FFF2-40B4-BE49-F238E27FC236}">
                  <a16:creationId xmlns:a16="http://schemas.microsoft.com/office/drawing/2014/main" id="{8DDF9C48-509A-4135-AC10-4C7A012F6E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1056"/>
              <a:ext cx="336" cy="816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Oval 6">
              <a:extLst>
                <a:ext uri="{FF2B5EF4-FFF2-40B4-BE49-F238E27FC236}">
                  <a16:creationId xmlns:a16="http://schemas.microsoft.com/office/drawing/2014/main" id="{275B15A0-1509-4333-B8DB-26391FD0E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816"/>
              <a:ext cx="288" cy="288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Oval 7">
              <a:extLst>
                <a:ext uri="{FF2B5EF4-FFF2-40B4-BE49-F238E27FC236}">
                  <a16:creationId xmlns:a16="http://schemas.microsoft.com/office/drawing/2014/main" id="{88E22C64-D18A-4EDF-A881-DEAAE56E1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296"/>
              <a:ext cx="288" cy="288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Oval 8">
              <a:extLst>
                <a:ext uri="{FF2B5EF4-FFF2-40B4-BE49-F238E27FC236}">
                  <a16:creationId xmlns:a16="http://schemas.microsoft.com/office/drawing/2014/main" id="{AFCE115D-CFEC-484A-AA92-61033705B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824"/>
              <a:ext cx="288" cy="288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Oval 9">
              <a:extLst>
                <a:ext uri="{FF2B5EF4-FFF2-40B4-BE49-F238E27FC236}">
                  <a16:creationId xmlns:a16="http://schemas.microsoft.com/office/drawing/2014/main" id="{60C15B68-C755-4E8B-9098-D0689F277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824"/>
              <a:ext cx="288" cy="288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Oval 10">
              <a:extLst>
                <a:ext uri="{FF2B5EF4-FFF2-40B4-BE49-F238E27FC236}">
                  <a16:creationId xmlns:a16="http://schemas.microsoft.com/office/drawing/2014/main" id="{47CEEC9D-EA19-4E3A-8715-CFF26F27E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52"/>
              <a:ext cx="288" cy="288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Oval 11">
              <a:extLst>
                <a:ext uri="{FF2B5EF4-FFF2-40B4-BE49-F238E27FC236}">
                  <a16:creationId xmlns:a16="http://schemas.microsoft.com/office/drawing/2014/main" id="{0F3CDEBD-2FAA-45D5-887E-99D02A3F9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352"/>
              <a:ext cx="288" cy="288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" name="Text Box 12">
              <a:extLst>
                <a:ext uri="{FF2B5EF4-FFF2-40B4-BE49-F238E27FC236}">
                  <a16:creationId xmlns:a16="http://schemas.microsoft.com/office/drawing/2014/main" id="{8E1F94E3-7790-4466-B0E4-543479AB17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3" y="758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A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45" name="Text Box 13">
              <a:extLst>
                <a:ext uri="{FF2B5EF4-FFF2-40B4-BE49-F238E27FC236}">
                  <a16:creationId xmlns:a16="http://schemas.microsoft.com/office/drawing/2014/main" id="{164BD21E-B396-4221-93BD-B6B03780D6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" y="1248"/>
              <a:ext cx="2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B</a:t>
              </a:r>
              <a:endPara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46" name="Text Box 14">
              <a:extLst>
                <a:ext uri="{FF2B5EF4-FFF2-40B4-BE49-F238E27FC236}">
                  <a16:creationId xmlns:a16="http://schemas.microsoft.com/office/drawing/2014/main" id="{84695273-CFF0-4448-A6C6-E26215BB25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795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C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47" name="Text Box 15">
              <a:extLst>
                <a:ext uri="{FF2B5EF4-FFF2-40B4-BE49-F238E27FC236}">
                  <a16:creationId xmlns:a16="http://schemas.microsoft.com/office/drawing/2014/main" id="{81A4400F-A054-49C8-B360-33D2807839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" y="1795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D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48" name="Text Box 16">
              <a:extLst>
                <a:ext uri="{FF2B5EF4-FFF2-40B4-BE49-F238E27FC236}">
                  <a16:creationId xmlns:a16="http://schemas.microsoft.com/office/drawing/2014/main" id="{7BAA9E2B-0D51-4DD2-B298-5D8687167B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8" y="2323"/>
              <a:ext cx="2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F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49" name="Text Box 17">
              <a:extLst>
                <a:ext uri="{FF2B5EF4-FFF2-40B4-BE49-F238E27FC236}">
                  <a16:creationId xmlns:a16="http://schemas.microsoft.com/office/drawing/2014/main" id="{12F5D10F-1B7E-4512-B46D-826B5FAF31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" y="2323"/>
              <a:ext cx="2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E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50" name="Line 18">
              <a:extLst>
                <a:ext uri="{FF2B5EF4-FFF2-40B4-BE49-F238E27FC236}">
                  <a16:creationId xmlns:a16="http://schemas.microsoft.com/office/drawing/2014/main" id="{AAAE17FB-263E-4DCC-825F-AD316DBFD6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624"/>
              <a:ext cx="144" cy="19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" name="Text Box 19">
              <a:extLst>
                <a:ext uri="{FF2B5EF4-FFF2-40B4-BE49-F238E27FC236}">
                  <a16:creationId xmlns:a16="http://schemas.microsoft.com/office/drawing/2014/main" id="{13D8BAA7-7464-4CBE-9C84-448E9E07C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8" y="288"/>
              <a:ext cx="57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root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  <p:grpSp>
        <p:nvGrpSpPr>
          <p:cNvPr id="52" name="Group 33">
            <a:extLst>
              <a:ext uri="{FF2B5EF4-FFF2-40B4-BE49-F238E27FC236}">
                <a16:creationId xmlns:a16="http://schemas.microsoft.com/office/drawing/2014/main" id="{371A353D-4CDE-45A6-A479-7E2CEA9CA56D}"/>
              </a:ext>
            </a:extLst>
          </p:cNvPr>
          <p:cNvGrpSpPr>
            <a:grpSpLocks/>
          </p:cNvGrpSpPr>
          <p:nvPr/>
        </p:nvGrpSpPr>
        <p:grpSpPr bwMode="auto">
          <a:xfrm>
            <a:off x="3502471" y="1672297"/>
            <a:ext cx="5534025" cy="3903663"/>
            <a:chOff x="1799" y="565"/>
            <a:chExt cx="3486" cy="2459"/>
          </a:xfrm>
        </p:grpSpPr>
        <p:sp>
          <p:nvSpPr>
            <p:cNvPr id="53" name="Text Box 20">
              <a:extLst>
                <a:ext uri="{FF2B5EF4-FFF2-40B4-BE49-F238E27FC236}">
                  <a16:creationId xmlns:a16="http://schemas.microsoft.com/office/drawing/2014/main" id="{85DFE49D-76E1-410E-88B3-A2C2680D7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8" y="565"/>
              <a:ext cx="312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99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data  parent  </a:t>
              </a:r>
              <a:r>
                <a:rPr kumimoji="1" lang="en-US" altLang="zh-CN" b="0" i="0" u="none" strike="noStrike" kern="0" cap="none" spc="0" normalizeH="0" baseline="0" noProof="0" dirty="0" err="1">
                  <a:ln>
                    <a:noFill/>
                  </a:ln>
                  <a:solidFill>
                    <a:srgbClr val="99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leftChild</a:t>
              </a: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99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 </a:t>
              </a:r>
              <a:r>
                <a:rPr kumimoji="1" lang="en-US" altLang="zh-CN" b="0" i="0" u="none" strike="noStrike" kern="0" cap="none" spc="0" normalizeH="0" baseline="0" noProof="0" dirty="0" err="1">
                  <a:ln>
                    <a:noFill/>
                  </a:ln>
                  <a:solidFill>
                    <a:srgbClr val="99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rightChild</a:t>
              </a:r>
              <a:endPara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54" name="Rectangle 21">
              <a:extLst>
                <a:ext uri="{FF2B5EF4-FFF2-40B4-BE49-F238E27FC236}">
                  <a16:creationId xmlns:a16="http://schemas.microsoft.com/office/drawing/2014/main" id="{097EE2C8-91B0-4EBF-94AB-A7B3DD5F6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960"/>
              <a:ext cx="3024" cy="206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55" name="Line 22">
              <a:extLst>
                <a:ext uri="{FF2B5EF4-FFF2-40B4-BE49-F238E27FC236}">
                  <a16:creationId xmlns:a16="http://schemas.microsoft.com/office/drawing/2014/main" id="{2482437D-EF9B-459C-BAB3-718FECC4CD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4" y="1296"/>
              <a:ext cx="3030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" name="Text Box 23">
              <a:extLst>
                <a:ext uri="{FF2B5EF4-FFF2-40B4-BE49-F238E27FC236}">
                  <a16:creationId xmlns:a16="http://schemas.microsoft.com/office/drawing/2014/main" id="{99DBCD5A-0C73-44B8-AA6B-CF48C17068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9" y="940"/>
              <a:ext cx="315" cy="20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990099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</a:rPr>
                <a:t>0</a:t>
              </a:r>
            </a:p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990099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</a:rPr>
                <a:t>1</a:t>
              </a:r>
            </a:p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990099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</a:rPr>
                <a:t>2</a:t>
              </a:r>
            </a:p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990099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</a:rPr>
                <a:t>3</a:t>
              </a:r>
            </a:p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990099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</a:rPr>
                <a:t>4</a:t>
              </a:r>
            </a:p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990099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</a:rPr>
                <a:t>5</a:t>
              </a:r>
              <a:endPara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57" name="Line 24">
              <a:extLst>
                <a:ext uri="{FF2B5EF4-FFF2-40B4-BE49-F238E27FC236}">
                  <a16:creationId xmlns:a16="http://schemas.microsoft.com/office/drawing/2014/main" id="{AC783C93-1EFF-4961-8D6B-EEBCB4E1C7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632"/>
              <a:ext cx="3024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" name="Line 25">
              <a:extLst>
                <a:ext uri="{FF2B5EF4-FFF2-40B4-BE49-F238E27FC236}">
                  <a16:creationId xmlns:a16="http://schemas.microsoft.com/office/drawing/2014/main" id="{31BD165D-4036-49CE-A444-3564261434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968"/>
              <a:ext cx="3024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" name="Line 26">
              <a:extLst>
                <a:ext uri="{FF2B5EF4-FFF2-40B4-BE49-F238E27FC236}">
                  <a16:creationId xmlns:a16="http://schemas.microsoft.com/office/drawing/2014/main" id="{78147B87-FC9D-4AB5-9A3A-517A4CBC26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304"/>
              <a:ext cx="3024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" name="Line 27">
              <a:extLst>
                <a:ext uri="{FF2B5EF4-FFF2-40B4-BE49-F238E27FC236}">
                  <a16:creationId xmlns:a16="http://schemas.microsoft.com/office/drawing/2014/main" id="{C1F3E5BC-CCDE-4652-8B08-555A171E19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640"/>
              <a:ext cx="3024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" name="Line 28">
              <a:extLst>
                <a:ext uri="{FF2B5EF4-FFF2-40B4-BE49-F238E27FC236}">
                  <a16:creationId xmlns:a16="http://schemas.microsoft.com/office/drawing/2014/main" id="{BD79947F-62B1-415E-83EF-1C4F348EFC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960"/>
              <a:ext cx="0" cy="2062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" name="Line 29">
              <a:extLst>
                <a:ext uri="{FF2B5EF4-FFF2-40B4-BE49-F238E27FC236}">
                  <a16:creationId xmlns:a16="http://schemas.microsoft.com/office/drawing/2014/main" id="{0D2EC686-391C-4266-99DA-7E6284E9F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958"/>
              <a:ext cx="0" cy="2064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3" name="Line 30">
              <a:extLst>
                <a:ext uri="{FF2B5EF4-FFF2-40B4-BE49-F238E27FC236}">
                  <a16:creationId xmlns:a16="http://schemas.microsoft.com/office/drawing/2014/main" id="{C355C2F7-01C9-472E-8D50-6819ED468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958"/>
              <a:ext cx="0" cy="2064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" name="Text Box 31">
              <a:extLst>
                <a:ext uri="{FF2B5EF4-FFF2-40B4-BE49-F238E27FC236}">
                  <a16:creationId xmlns:a16="http://schemas.microsoft.com/office/drawing/2014/main" id="{18C3B083-848B-43BE-BA01-67B880FE55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1" y="915"/>
              <a:ext cx="2689" cy="20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      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仿宋_GB2312" pitchFamily="49" charset="-122"/>
                </a:rPr>
                <a:t>-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1         1          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仿宋_GB2312" pitchFamily="49" charset="-122"/>
                </a:rPr>
                <a:t>-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1</a:t>
              </a:r>
            </a:p>
            <a:p>
              <a:pPr marL="0" marR="0" lvl="0" indent="0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B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3366F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        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0         2           3</a:t>
              </a:r>
            </a:p>
            <a:p>
              <a:pPr marL="0" marR="0" lvl="0" indent="0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C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3366F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        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1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       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仿宋_GB2312" pitchFamily="49" charset="-122"/>
                </a:rPr>
                <a:t>  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仿宋_GB2312" pitchFamily="49" charset="-122"/>
                </a:rPr>
                <a:t>-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1         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仿宋_GB2312" pitchFamily="49" charset="-122"/>
                </a:rPr>
                <a:t>-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1</a:t>
              </a:r>
            </a:p>
            <a:p>
              <a:pPr marL="0" marR="0" lvl="0" indent="0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D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3366F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        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1         4           5</a:t>
              </a:r>
            </a:p>
            <a:p>
              <a:pPr marL="0" marR="0" lvl="0" indent="0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E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3366F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        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3        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仿宋_GB2312" pitchFamily="49" charset="-122"/>
                </a:rPr>
                <a:t>-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1         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仿宋_GB2312" pitchFamily="49" charset="-122"/>
                </a:rPr>
                <a:t>-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1</a:t>
              </a:r>
            </a:p>
            <a:p>
              <a:pPr marL="0" marR="0" lvl="0" indent="0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F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3366F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        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3        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仿宋_GB2312" pitchFamily="49" charset="-122"/>
                </a:rPr>
                <a:t>-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1         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仿宋_GB2312" pitchFamily="49" charset="-122"/>
                </a:rPr>
                <a:t>-</a:t>
              </a:r>
              <a:r>
                <a:rPr kumimoji="1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1</a:t>
              </a:r>
              <a:endPara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  <p:sp>
        <p:nvSpPr>
          <p:cNvPr id="65" name="箭头: 右 64">
            <a:extLst>
              <a:ext uri="{FF2B5EF4-FFF2-40B4-BE49-F238E27FC236}">
                <a16:creationId xmlns:a16="http://schemas.microsoft.com/office/drawing/2014/main" id="{D9992A20-E6D0-42CD-BDBE-0B9FED04884D}"/>
              </a:ext>
            </a:extLst>
          </p:cNvPr>
          <p:cNvSpPr/>
          <p:nvPr/>
        </p:nvSpPr>
        <p:spPr bwMode="auto">
          <a:xfrm>
            <a:off x="2627784" y="3536979"/>
            <a:ext cx="508197" cy="396077"/>
          </a:xfrm>
          <a:prstGeom prst="rightArrow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46692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树的定义和基本概念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遍历二叉树和线索二叉树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遍历二叉树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线索二叉树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树和森林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哈夫曼树及其应用</a:t>
            </a:r>
          </a:p>
        </p:txBody>
      </p:sp>
    </p:spTree>
    <p:extLst>
      <p:ext uri="{BB962C8B-B14F-4D97-AF65-F5344CB8AC3E}">
        <p14:creationId xmlns:p14="http://schemas.microsoft.com/office/powerpoint/2010/main" val="4201079492"/>
      </p:ext>
    </p:extLst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469B4-7A52-40C5-898D-013AB5ABF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遍历二叉树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25956C-3258-4765-989E-86B3FA408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744504"/>
            <a:ext cx="8856983" cy="5780839"/>
          </a:xfrm>
        </p:spPr>
        <p:txBody>
          <a:bodyPr/>
          <a:lstStyle/>
          <a:p>
            <a:r>
              <a:rPr lang="zh-CN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二叉树遍历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r>
              <a:rPr lang="zh-CN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按照一定次序访问二叉树中所有结点，并且</a:t>
            </a:r>
            <a:r>
              <a:rPr lang="zh-CN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每个结点仅被访问一次</a:t>
            </a:r>
            <a:r>
              <a:rPr lang="zh-CN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它是树结构插入、删除、修改、查找和排序运算的前提，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是二叉树一切运算的基础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和核心。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dirty="0"/>
              <a:t>“</a:t>
            </a:r>
            <a:r>
              <a:rPr lang="zh-CN" altLang="en-US" b="1" dirty="0"/>
              <a:t>遍历</a:t>
            </a:r>
            <a:r>
              <a:rPr lang="zh-CN" altLang="en-US" dirty="0"/>
              <a:t>”是任何数据类型都有的操作。对线性结构而言，只有一条搜索路径（每个结点只有一个后继），故不需另加讨论。而二叉树是非线性结构，每个结点有两个后继，则存在如何遍历，即按什么样的搜索路径遍历的问题。</a:t>
            </a:r>
          </a:p>
        </p:txBody>
      </p:sp>
    </p:spTree>
    <p:extLst>
      <p:ext uri="{BB962C8B-B14F-4D97-AF65-F5344CB8AC3E}">
        <p14:creationId xmlns:p14="http://schemas.microsoft.com/office/powerpoint/2010/main" val="12566535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9C3B6-E84B-447A-82F2-4A639C4A8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遍历二叉树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08A006-9D4F-420C-8BC4-48D6BE9D3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4"/>
            <a:ext cx="8808270" cy="6113495"/>
          </a:xfrm>
        </p:spPr>
        <p:txBody>
          <a:bodyPr/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深度优先遍历：</a:t>
            </a:r>
            <a:r>
              <a:rPr lang="zh-CN" altLang="en-US" sz="2400" dirty="0"/>
              <a:t>按序独立处理二叉树的各个分支单元：</a:t>
            </a:r>
            <a:r>
              <a:rPr lang="zh-CN" altLang="en-US" sz="2400" dirty="0">
                <a:solidFill>
                  <a:srgbClr val="0000FF"/>
                </a:solidFill>
              </a:rPr>
              <a:t>根 </a:t>
            </a:r>
            <a:r>
              <a:rPr lang="en-US" altLang="zh-CN" sz="2400" dirty="0">
                <a:solidFill>
                  <a:srgbClr val="0000FF"/>
                </a:solidFill>
              </a:rPr>
              <a:t>r</a:t>
            </a:r>
            <a:r>
              <a:rPr lang="zh-CN" altLang="en-US" sz="2400" dirty="0"/>
              <a:t>、</a:t>
            </a:r>
            <a:r>
              <a:rPr lang="zh-CN" altLang="en-US" sz="2400" dirty="0">
                <a:solidFill>
                  <a:srgbClr val="0000FF"/>
                </a:solidFill>
              </a:rPr>
              <a:t>左子树 </a:t>
            </a:r>
            <a:r>
              <a:rPr lang="en-US" altLang="zh-CN" sz="2400" dirty="0">
                <a:solidFill>
                  <a:srgbClr val="0000FF"/>
                </a:solidFill>
              </a:rPr>
              <a:t>L 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0000FF"/>
                </a:solidFill>
              </a:rPr>
              <a:t>右子树 </a:t>
            </a:r>
            <a:r>
              <a:rPr lang="en-US" altLang="zh-CN" sz="2400" dirty="0">
                <a:solidFill>
                  <a:srgbClr val="0000FF"/>
                </a:solidFill>
              </a:rPr>
              <a:t>R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b="1" dirty="0">
                <a:solidFill>
                  <a:srgbClr val="FF0000"/>
                </a:solidFill>
              </a:rPr>
              <a:t>广度优先遍历：</a:t>
            </a:r>
            <a:r>
              <a:rPr lang="zh-CN" altLang="en-US" sz="2400" dirty="0"/>
              <a:t>按层从上至下、从左向右依次访问树中所有结点，也称作</a:t>
            </a:r>
            <a:r>
              <a:rPr lang="zh-CN" altLang="en-US" sz="2400" b="1" dirty="0">
                <a:solidFill>
                  <a:srgbClr val="FF0000"/>
                </a:solidFill>
              </a:rPr>
              <a:t>层序遍历</a:t>
            </a:r>
            <a:r>
              <a:rPr lang="zh-CN" altLang="en-US" sz="2400" dirty="0"/>
              <a:t>。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CAAE133-44E9-42BD-B1A1-D893E4EAF8BF}"/>
              </a:ext>
            </a:extLst>
          </p:cNvPr>
          <p:cNvGrpSpPr/>
          <p:nvPr/>
        </p:nvGrpSpPr>
        <p:grpSpPr>
          <a:xfrm>
            <a:off x="6697577" y="1916832"/>
            <a:ext cx="1898650" cy="1612943"/>
            <a:chOff x="6697577" y="1916832"/>
            <a:chExt cx="1898650" cy="1612943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938987C-E830-4768-8642-37111FC393C7}"/>
                </a:ext>
              </a:extLst>
            </p:cNvPr>
            <p:cNvSpPr/>
            <p:nvPr/>
          </p:nvSpPr>
          <p:spPr>
            <a:xfrm>
              <a:off x="7391210" y="1916832"/>
              <a:ext cx="404917" cy="404917"/>
            </a:xfrm>
            <a:prstGeom prst="ellipse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r</a:t>
              </a:r>
              <a:endPara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三角形 15">
              <a:extLst>
                <a:ext uri="{FF2B5EF4-FFF2-40B4-BE49-F238E27FC236}">
                  <a16:creationId xmlns:a16="http://schemas.microsoft.com/office/drawing/2014/main" id="{28050D62-F32E-4903-8CDA-73525CBF8D73}"/>
                </a:ext>
              </a:extLst>
            </p:cNvPr>
            <p:cNvSpPr/>
            <p:nvPr/>
          </p:nvSpPr>
          <p:spPr>
            <a:xfrm>
              <a:off x="6697577" y="2598860"/>
              <a:ext cx="812800" cy="930915"/>
            </a:xfrm>
            <a:prstGeom prst="triangle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L</a:t>
              </a:r>
              <a:endPara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三角形 16">
              <a:extLst>
                <a:ext uri="{FF2B5EF4-FFF2-40B4-BE49-F238E27FC236}">
                  <a16:creationId xmlns:a16="http://schemas.microsoft.com/office/drawing/2014/main" id="{FF98BB87-BF68-45DA-B294-AD4D4E0BB83D}"/>
                </a:ext>
              </a:extLst>
            </p:cNvPr>
            <p:cNvSpPr/>
            <p:nvPr/>
          </p:nvSpPr>
          <p:spPr>
            <a:xfrm>
              <a:off x="7783427" y="2598860"/>
              <a:ext cx="812800" cy="930915"/>
            </a:xfrm>
            <a:prstGeom prst="triangle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R</a:t>
              </a:r>
              <a:endPara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5" name="直线连接符 18">
              <a:extLst>
                <a:ext uri="{FF2B5EF4-FFF2-40B4-BE49-F238E27FC236}">
                  <a16:creationId xmlns:a16="http://schemas.microsoft.com/office/drawing/2014/main" id="{EE36AB2F-5A00-4788-94EB-5A3F20A13356}"/>
                </a:ext>
              </a:extLst>
            </p:cNvPr>
            <p:cNvCxnSpPr>
              <a:cxnSpLocks/>
              <a:stCxn id="12" idx="3"/>
              <a:endCxn id="13" idx="0"/>
            </p:cNvCxnSpPr>
            <p:nvPr/>
          </p:nvCxnSpPr>
          <p:spPr>
            <a:xfrm flipH="1">
              <a:off x="7103977" y="2262450"/>
              <a:ext cx="346532" cy="336410"/>
            </a:xfrm>
            <a:prstGeom prst="line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16" name="直线连接符 19">
              <a:extLst>
                <a:ext uri="{FF2B5EF4-FFF2-40B4-BE49-F238E27FC236}">
                  <a16:creationId xmlns:a16="http://schemas.microsoft.com/office/drawing/2014/main" id="{6BCADD12-3C0C-4A46-A5DB-81C9FCDC0D78}"/>
                </a:ext>
              </a:extLst>
            </p:cNvPr>
            <p:cNvCxnSpPr>
              <a:cxnSpLocks/>
              <a:stCxn id="12" idx="5"/>
              <a:endCxn id="14" idx="0"/>
            </p:cNvCxnSpPr>
            <p:nvPr/>
          </p:nvCxnSpPr>
          <p:spPr>
            <a:xfrm>
              <a:off x="7736828" y="2262450"/>
              <a:ext cx="452999" cy="336410"/>
            </a:xfrm>
            <a:prstGeom prst="line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FFF7EF84-F90F-49DD-B70A-EEFBE7EDE678}"/>
              </a:ext>
            </a:extLst>
          </p:cNvPr>
          <p:cNvSpPr txBox="1"/>
          <p:nvPr/>
        </p:nvSpPr>
        <p:spPr>
          <a:xfrm>
            <a:off x="6300192" y="3717032"/>
            <a:ext cx="2757899" cy="1884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kumimoji="1" lang="zh-CN" altLang="en-US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种深度优先遍历方案： </a:t>
            </a:r>
            <a:endParaRPr kumimoji="1" lang="en-US" altLang="zh-CN" sz="2000" b="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kumimoji="1" lang="en-US" altLang="zh-CN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(1)</a:t>
            </a:r>
            <a:r>
              <a:rPr kumimoji="1" lang="zh-CN" altLang="en-US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 L R</a:t>
            </a:r>
            <a:r>
              <a:rPr kumimoji="1" lang="zh-CN" altLang="en-US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kumimoji="1" lang="en-US" altLang="zh-CN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kumimoji="1" lang="zh-CN" altLang="en-US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kumimoji="1" lang="zh-CN" altLang="en-US" sz="2000" b="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前序</a:t>
            </a:r>
            <a:endParaRPr kumimoji="1" lang="en-US" altLang="zh-CN" sz="2000" b="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kumimoji="1" lang="en-US" altLang="zh-CN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(2)</a:t>
            </a:r>
            <a:r>
              <a:rPr kumimoji="1" lang="zh-CN" altLang="en-US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 r </a:t>
            </a:r>
            <a:r>
              <a:rPr kumimoji="1" lang="en-US" altLang="zh-CN" sz="2000" b="0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kumimoji="1" lang="zh-CN" altLang="en-US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kumimoji="1" lang="en-US" altLang="zh-CN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kumimoji="1" lang="zh-CN" altLang="en-US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kumimoji="1" lang="zh-CN" altLang="en-US" sz="2000" b="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中序</a:t>
            </a:r>
            <a:endParaRPr kumimoji="1" lang="en-US" altLang="zh-CN" sz="2000" b="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kumimoji="1" lang="en-US" altLang="zh-CN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(3)</a:t>
            </a:r>
            <a:r>
              <a:rPr kumimoji="1" lang="zh-CN" altLang="en-US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 R </a:t>
            </a:r>
            <a:r>
              <a:rPr kumimoji="1" lang="en-US" altLang="zh-CN" sz="2000" b="0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kumimoji="1" lang="zh-CN" altLang="en-US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kumimoji="1" lang="en-US" altLang="zh-CN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kumimoji="1" lang="zh-CN" altLang="en-US" sz="20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kumimoji="1" lang="zh-CN" altLang="en-US" sz="2000" b="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后序</a:t>
            </a: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7ED2674F-BC31-46D8-9E15-EBCA0E3F3A04}"/>
              </a:ext>
            </a:extLst>
          </p:cNvPr>
          <p:cNvSpPr/>
          <p:nvPr/>
        </p:nvSpPr>
        <p:spPr>
          <a:xfrm rot="16200000">
            <a:off x="5807282" y="3362065"/>
            <a:ext cx="548958" cy="580877"/>
          </a:xfrm>
          <a:custGeom>
            <a:avLst/>
            <a:gdLst>
              <a:gd name="connsiteX0" fmla="*/ 0 w 888566"/>
              <a:gd name="connsiteY0" fmla="*/ 236935 h 1184675"/>
              <a:gd name="connsiteX1" fmla="*/ 444283 w 888566"/>
              <a:gd name="connsiteY1" fmla="*/ 236935 h 1184675"/>
              <a:gd name="connsiteX2" fmla="*/ 444283 w 888566"/>
              <a:gd name="connsiteY2" fmla="*/ 0 h 1184675"/>
              <a:gd name="connsiteX3" fmla="*/ 888566 w 888566"/>
              <a:gd name="connsiteY3" fmla="*/ 592338 h 1184675"/>
              <a:gd name="connsiteX4" fmla="*/ 444283 w 888566"/>
              <a:gd name="connsiteY4" fmla="*/ 1184675 h 1184675"/>
              <a:gd name="connsiteX5" fmla="*/ 444283 w 888566"/>
              <a:gd name="connsiteY5" fmla="*/ 947740 h 1184675"/>
              <a:gd name="connsiteX6" fmla="*/ 0 w 888566"/>
              <a:gd name="connsiteY6" fmla="*/ 947740 h 1184675"/>
              <a:gd name="connsiteX7" fmla="*/ 0 w 888566"/>
              <a:gd name="connsiteY7" fmla="*/ 236935 h 118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8566" h="1184675">
                <a:moveTo>
                  <a:pt x="710853" y="1"/>
                </a:moveTo>
                <a:lnTo>
                  <a:pt x="710853" y="592338"/>
                </a:lnTo>
                <a:lnTo>
                  <a:pt x="888566" y="592338"/>
                </a:lnTo>
                <a:lnTo>
                  <a:pt x="444283" y="1184674"/>
                </a:lnTo>
                <a:lnTo>
                  <a:pt x="0" y="592338"/>
                </a:lnTo>
                <a:lnTo>
                  <a:pt x="177713" y="592338"/>
                </a:lnTo>
                <a:lnTo>
                  <a:pt x="177713" y="1"/>
                </a:lnTo>
                <a:lnTo>
                  <a:pt x="710853" y="1"/>
                </a:lnTo>
                <a:close/>
              </a:path>
            </a:pathLst>
          </a:custGeom>
          <a:solidFill>
            <a:srgbClr val="009999"/>
          </a:solidFill>
          <a:ln>
            <a:noFill/>
          </a:ln>
          <a:effectLst/>
        </p:spPr>
        <p:txBody>
          <a:bodyPr spcFirstLastPara="0" vert="horz" wrap="square" lIns="236936" tIns="0" rIns="236935" bIns="266571" numCol="1" spcCol="1270" anchor="ctr" anchorCtr="0">
            <a:noAutofit/>
          </a:bodyPr>
          <a:lstStyle/>
          <a:p>
            <a:pPr marL="0" marR="0" lvl="0" indent="0" algn="ctr" defTabSz="9334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任意多边形: 形状 19">
            <a:extLst>
              <a:ext uri="{FF2B5EF4-FFF2-40B4-BE49-F238E27FC236}">
                <a16:creationId xmlns:a16="http://schemas.microsoft.com/office/drawing/2014/main" id="{FE5E2C20-436A-41C2-B5AC-A9BBEDE72A88}"/>
              </a:ext>
            </a:extLst>
          </p:cNvPr>
          <p:cNvSpPr/>
          <p:nvPr/>
        </p:nvSpPr>
        <p:spPr>
          <a:xfrm>
            <a:off x="192160" y="1844824"/>
            <a:ext cx="5387952" cy="3960440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</p:spPr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marL="457200" marR="0" lvl="0" indent="-457200" defTabSz="11557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递归思想：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对左子树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L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和右子树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R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按相同的方案进行遍历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457200" marR="0" lvl="0" indent="-457200" defTabSz="11557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深度原则：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独立处理各分支，即在访问完一个分支的所有结点后，才能开始遍历下一个分支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457200" marR="0" lvl="0" indent="-457200" defTabSz="11557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限制子树的遍历顺序：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对子树的遍历始终按从左向右的顺序进行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779700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65C06A-4320-46F1-BAAB-9C7C54F11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思考练习</a:t>
            </a:r>
          </a:p>
        </p:txBody>
      </p:sp>
      <p:sp>
        <p:nvSpPr>
          <p:cNvPr id="57" name="TextBox 2">
            <a:extLst>
              <a:ext uri="{FF2B5EF4-FFF2-40B4-BE49-F238E27FC236}">
                <a16:creationId xmlns:a16="http://schemas.microsoft.com/office/drawing/2014/main" id="{AC521936-1C74-436B-86D3-7EE6041EBB1D}"/>
              </a:ext>
            </a:extLst>
          </p:cNvPr>
          <p:cNvSpPr txBox="1"/>
          <p:nvPr/>
        </p:nvSpPr>
        <p:spPr>
          <a:xfrm>
            <a:off x="323528" y="746774"/>
            <a:ext cx="8496944" cy="1135054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以若一棵二叉树的前序序列和后序序列正好相反。该二叉树的形态是什么？</a:t>
            </a: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67D4C4A6-CBB6-41FD-A8C5-477EFE5F2559}"/>
              </a:ext>
            </a:extLst>
          </p:cNvPr>
          <p:cNvGrpSpPr/>
          <p:nvPr/>
        </p:nvGrpSpPr>
        <p:grpSpPr>
          <a:xfrm>
            <a:off x="2339752" y="1380389"/>
            <a:ext cx="2624489" cy="1688571"/>
            <a:chOff x="2566988" y="571912"/>
            <a:chExt cx="3162696" cy="1945863"/>
          </a:xfrm>
        </p:grpSpPr>
        <p:sp>
          <p:nvSpPr>
            <p:cNvPr id="59" name="Oval 5">
              <a:extLst>
                <a:ext uri="{FF2B5EF4-FFF2-40B4-BE49-F238E27FC236}">
                  <a16:creationId xmlns:a16="http://schemas.microsoft.com/office/drawing/2014/main" id="{56893C03-EADF-4549-860F-57D8228D3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8203" y="571912"/>
              <a:ext cx="799508" cy="721900"/>
            </a:xfrm>
            <a:prstGeom prst="ellipse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r</a:t>
              </a:r>
            </a:p>
          </p:txBody>
        </p:sp>
        <p:sp>
          <p:nvSpPr>
            <p:cNvPr id="60" name="AutoShape 7">
              <a:extLst>
                <a:ext uri="{FF2B5EF4-FFF2-40B4-BE49-F238E27FC236}">
                  <a16:creationId xmlns:a16="http://schemas.microsoft.com/office/drawing/2014/main" id="{D4A77948-3D20-48D1-997C-0EA8606CC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6988" y="1725613"/>
              <a:ext cx="1150937" cy="792162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61" name="AutoShape 8">
              <a:extLst>
                <a:ext uri="{FF2B5EF4-FFF2-40B4-BE49-F238E27FC236}">
                  <a16:creationId xmlns:a16="http://schemas.microsoft.com/office/drawing/2014/main" id="{B256CD7F-DFCE-4A07-BDC4-5F9FE7363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8746" y="1725613"/>
              <a:ext cx="1150938" cy="792162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R</a:t>
              </a:r>
            </a:p>
          </p:txBody>
        </p:sp>
        <p:sp>
          <p:nvSpPr>
            <p:cNvPr id="62" name="Line 9">
              <a:extLst>
                <a:ext uri="{FF2B5EF4-FFF2-40B4-BE49-F238E27FC236}">
                  <a16:creationId xmlns:a16="http://schemas.microsoft.com/office/drawing/2014/main" id="{39427755-B244-4CAC-B578-50464F683B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4688" y="1220788"/>
              <a:ext cx="647700" cy="649287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tailEnd type="stealth" w="med" len="lg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  <p:sp>
          <p:nvSpPr>
            <p:cNvPr id="63" name="Freeform 10">
              <a:extLst>
                <a:ext uri="{FF2B5EF4-FFF2-40B4-BE49-F238E27FC236}">
                  <a16:creationId xmlns:a16="http://schemas.microsoft.com/office/drawing/2014/main" id="{43BC7F17-F807-4D26-B3C0-168D1A608B0A}"/>
                </a:ext>
              </a:extLst>
            </p:cNvPr>
            <p:cNvSpPr/>
            <p:nvPr/>
          </p:nvSpPr>
          <p:spPr bwMode="auto">
            <a:xfrm>
              <a:off x="4403724" y="1233487"/>
              <a:ext cx="647700" cy="6227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2" y="364"/>
                </a:cxn>
              </a:cxnLst>
              <a:rect l="0" t="0" r="r" b="b"/>
              <a:pathLst>
                <a:path w="342" h="364">
                  <a:moveTo>
                    <a:pt x="0" y="0"/>
                  </a:moveTo>
                  <a:lnTo>
                    <a:pt x="342" y="364"/>
                  </a:lnTo>
                </a:path>
              </a:pathLst>
            </a:custGeom>
            <a:noFill/>
            <a:ln w="28575" cap="flat" cmpd="sng">
              <a:solidFill>
                <a:sysClr val="windowText" lastClr="000000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4F5F3843-D72E-48A2-B92E-606AA17388E4}"/>
              </a:ext>
            </a:extLst>
          </p:cNvPr>
          <p:cNvGrpSpPr/>
          <p:nvPr/>
        </p:nvGrpSpPr>
        <p:grpSpPr>
          <a:xfrm>
            <a:off x="825293" y="3108134"/>
            <a:ext cx="6771043" cy="1507040"/>
            <a:chOff x="1379849" y="3049227"/>
            <a:chExt cx="5835357" cy="1107456"/>
          </a:xfrm>
        </p:grpSpPr>
        <p:sp>
          <p:nvSpPr>
            <p:cNvPr id="65" name="TextBox 9">
              <a:extLst>
                <a:ext uri="{FF2B5EF4-FFF2-40B4-BE49-F238E27FC236}">
                  <a16:creationId xmlns:a16="http://schemas.microsoft.com/office/drawing/2014/main" id="{5BA59DA0-D491-4480-9757-797BD9CC10CB}"/>
                </a:ext>
              </a:extLst>
            </p:cNvPr>
            <p:cNvSpPr txBox="1"/>
            <p:nvPr/>
          </p:nvSpPr>
          <p:spPr>
            <a:xfrm>
              <a:off x="1379849" y="3523219"/>
              <a:ext cx="1571636" cy="284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kumimoji="1"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前序序列：</a:t>
              </a:r>
            </a:p>
          </p:txBody>
        </p:sp>
        <p:sp>
          <p:nvSpPr>
            <p:cNvPr id="66" name="TextBox 10">
              <a:extLst>
                <a:ext uri="{FF2B5EF4-FFF2-40B4-BE49-F238E27FC236}">
                  <a16:creationId xmlns:a16="http://schemas.microsoft.com/office/drawing/2014/main" id="{9A64CF67-01E0-452A-A471-4C5384DF5CA0}"/>
                </a:ext>
              </a:extLst>
            </p:cNvPr>
            <p:cNvSpPr txBox="1"/>
            <p:nvPr/>
          </p:nvSpPr>
          <p:spPr>
            <a:xfrm>
              <a:off x="4929190" y="3049227"/>
              <a:ext cx="2286016" cy="426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>
                <a:lnSpc>
                  <a:spcPct val="150000"/>
                </a:lnSpc>
                <a:spcBef>
                  <a:spcPts val="0"/>
                </a:spcBef>
                <a:defRPr/>
              </a:pPr>
              <a:r>
                <a:rPr kumimoji="1"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后序序列：</a:t>
              </a:r>
              <a:r>
                <a:rPr kumimoji="1" lang="en-US" altLang="zh-CN" sz="2400" b="0" i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L R </a:t>
              </a:r>
              <a:r>
                <a:rPr kumimoji="1" lang="en-US" altLang="zh-CN" sz="2400" b="0" i="1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r</a:t>
              </a:r>
              <a:endParaRPr kumimoji="1" lang="zh-CN" altLang="en-US" sz="2400" b="0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67" name="TextBox 11">
              <a:extLst>
                <a:ext uri="{FF2B5EF4-FFF2-40B4-BE49-F238E27FC236}">
                  <a16:creationId xmlns:a16="http://schemas.microsoft.com/office/drawing/2014/main" id="{FEE0527B-F1C4-4176-8572-9F56D5EC7C04}"/>
                </a:ext>
              </a:extLst>
            </p:cNvPr>
            <p:cNvSpPr txBox="1"/>
            <p:nvPr/>
          </p:nvSpPr>
          <p:spPr>
            <a:xfrm>
              <a:off x="4911862" y="3389013"/>
              <a:ext cx="2286016" cy="426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>
                <a:lnSpc>
                  <a:spcPct val="150000"/>
                </a:lnSpc>
                <a:spcBef>
                  <a:spcPts val="0"/>
                </a:spcBef>
                <a:defRPr/>
              </a:pPr>
              <a:r>
                <a:rPr kumimoji="1"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后序序列的反序：</a:t>
              </a:r>
            </a:p>
          </p:txBody>
        </p:sp>
        <p:sp>
          <p:nvSpPr>
            <p:cNvPr id="68" name="TextBox 12">
              <a:extLst>
                <a:ext uri="{FF2B5EF4-FFF2-40B4-BE49-F238E27FC236}">
                  <a16:creationId xmlns:a16="http://schemas.microsoft.com/office/drawing/2014/main" id="{B46DF05A-D21B-41BD-B04B-2A6C92044CEE}"/>
                </a:ext>
              </a:extLst>
            </p:cNvPr>
            <p:cNvSpPr txBox="1"/>
            <p:nvPr/>
          </p:nvSpPr>
          <p:spPr>
            <a:xfrm>
              <a:off x="1399184" y="3871708"/>
              <a:ext cx="1357322" cy="284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kumimoji="1" lang="en-US" altLang="zh-CN" sz="2400" b="0" i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r  L  R</a:t>
              </a:r>
            </a:p>
          </p:txBody>
        </p:sp>
        <p:sp>
          <p:nvSpPr>
            <p:cNvPr id="69" name="TextBox 13">
              <a:extLst>
                <a:ext uri="{FF2B5EF4-FFF2-40B4-BE49-F238E27FC236}">
                  <a16:creationId xmlns:a16="http://schemas.microsoft.com/office/drawing/2014/main" id="{EBC7B015-F0E8-4A89-BB5C-AA7AB7EF39DC}"/>
                </a:ext>
              </a:extLst>
            </p:cNvPr>
            <p:cNvSpPr txBox="1"/>
            <p:nvPr/>
          </p:nvSpPr>
          <p:spPr>
            <a:xfrm>
              <a:off x="5050559" y="3871708"/>
              <a:ext cx="1424265" cy="284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kumimoji="1" lang="en-US" altLang="zh-CN" sz="2400" b="0" i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r  R</a:t>
              </a:r>
              <a:r>
                <a:rPr kumimoji="1" lang="en-US" altLang="zh-CN" sz="2400" b="0" i="1" baseline="30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-1</a:t>
              </a:r>
              <a:r>
                <a:rPr kumimoji="1" lang="en-US" altLang="zh-CN" sz="2400" b="0" i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 L</a:t>
              </a:r>
              <a:r>
                <a:rPr kumimoji="1" lang="en-US" altLang="zh-CN" sz="2400" b="0" i="1" baseline="30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-1</a:t>
              </a:r>
              <a:endParaRPr kumimoji="1" lang="en-US" altLang="zh-CN" sz="2400" b="0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50FF5290-DDEA-43DA-86AC-30065B685346}"/>
              </a:ext>
            </a:extLst>
          </p:cNvPr>
          <p:cNvGrpSpPr/>
          <p:nvPr/>
        </p:nvGrpSpPr>
        <p:grpSpPr>
          <a:xfrm>
            <a:off x="2235300" y="4365104"/>
            <a:ext cx="2749773" cy="585761"/>
            <a:chOff x="2633159" y="4103734"/>
            <a:chExt cx="2548635" cy="585761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318574C7-8A94-4307-9A7F-E1AA4D5F1139}"/>
                </a:ext>
              </a:extLst>
            </p:cNvPr>
            <p:cNvCxnSpPr/>
            <p:nvPr/>
          </p:nvCxnSpPr>
          <p:spPr>
            <a:xfrm flipV="1">
              <a:off x="2786050" y="4214818"/>
              <a:ext cx="2088000" cy="0"/>
            </a:xfrm>
            <a:prstGeom prst="line">
              <a:avLst/>
            </a:prstGeom>
            <a:noFill/>
            <a:ln w="28575" cap="flat" cmpd="sng" algn="ctr">
              <a:solidFill>
                <a:srgbClr val="7030A0"/>
              </a:solidFill>
              <a:prstDash val="solid"/>
            </a:ln>
            <a:effectLst/>
          </p:spPr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A82C371-6135-4EEC-96BF-040140FD2F7B}"/>
                </a:ext>
              </a:extLst>
            </p:cNvPr>
            <p:cNvCxnSpPr/>
            <p:nvPr/>
          </p:nvCxnSpPr>
          <p:spPr>
            <a:xfrm flipV="1">
              <a:off x="2786050" y="4103734"/>
              <a:ext cx="2088000" cy="0"/>
            </a:xfrm>
            <a:prstGeom prst="line">
              <a:avLst/>
            </a:prstGeom>
            <a:noFill/>
            <a:ln w="28575" cap="flat" cmpd="sng" algn="ctr">
              <a:solidFill>
                <a:srgbClr val="7030A0"/>
              </a:solidFill>
              <a:prstDash val="solid"/>
            </a:ln>
            <a:effectLst/>
          </p:spPr>
        </p:cxnSp>
        <p:sp>
          <p:nvSpPr>
            <p:cNvPr id="73" name="TextBox 18">
              <a:extLst>
                <a:ext uri="{FF2B5EF4-FFF2-40B4-BE49-F238E27FC236}">
                  <a16:creationId xmlns:a16="http://schemas.microsoft.com/office/drawing/2014/main" id="{4EC3277A-2EFC-4521-BC22-7D399CB317FE}"/>
                </a:ext>
              </a:extLst>
            </p:cNvPr>
            <p:cNvSpPr txBox="1"/>
            <p:nvPr/>
          </p:nvSpPr>
          <p:spPr>
            <a:xfrm>
              <a:off x="2633159" y="4350941"/>
              <a:ext cx="25486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L </a:t>
              </a:r>
              <a:r>
                <a:rPr kumimoji="1" lang="zh-CN" altLang="en-US" sz="200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为空或</a:t>
              </a:r>
              <a:r>
                <a:rPr kumimoji="1" lang="en-US" altLang="zh-CN" sz="2000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R </a:t>
              </a:r>
              <a:r>
                <a:rPr kumimoji="1" lang="zh-CN" altLang="en-US" sz="200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为空时成立</a:t>
              </a: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8129DD21-7998-495C-BDD7-406A1714D28F}"/>
              </a:ext>
            </a:extLst>
          </p:cNvPr>
          <p:cNvGrpSpPr/>
          <p:nvPr/>
        </p:nvGrpSpPr>
        <p:grpSpPr>
          <a:xfrm>
            <a:off x="512897" y="5001802"/>
            <a:ext cx="6036297" cy="1477140"/>
            <a:chOff x="915782" y="4900133"/>
            <a:chExt cx="5500726" cy="1477140"/>
          </a:xfrm>
        </p:grpSpPr>
        <p:sp>
          <p:nvSpPr>
            <p:cNvPr id="75" name="TextBox 17">
              <a:extLst>
                <a:ext uri="{FF2B5EF4-FFF2-40B4-BE49-F238E27FC236}">
                  <a16:creationId xmlns:a16="http://schemas.microsoft.com/office/drawing/2014/main" id="{DAC3F6C2-EE5B-4060-BBFF-8D32E3FB936E}"/>
                </a:ext>
              </a:extLst>
            </p:cNvPr>
            <p:cNvSpPr txBox="1"/>
            <p:nvPr/>
          </p:nvSpPr>
          <p:spPr>
            <a:xfrm>
              <a:off x="915782" y="5242219"/>
              <a:ext cx="5500726" cy="1135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这样的二叉树</a:t>
              </a:r>
              <a:r>
                <a:rPr kumimoji="1" lang="zh-CN" altLang="en-US" sz="2400" b="0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，</a:t>
              </a: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每层只有一个结点，即二叉树的形态是其高度等于结点个数。</a:t>
              </a:r>
            </a:p>
          </p:txBody>
        </p:sp>
        <p:sp>
          <p:nvSpPr>
            <p:cNvPr id="76" name="下箭头 19">
              <a:extLst>
                <a:ext uri="{FF2B5EF4-FFF2-40B4-BE49-F238E27FC236}">
                  <a16:creationId xmlns:a16="http://schemas.microsoft.com/office/drawing/2014/main" id="{CFD50CA0-FB2C-456D-BA1D-7C80345D71F5}"/>
                </a:ext>
              </a:extLst>
            </p:cNvPr>
            <p:cNvSpPr/>
            <p:nvPr/>
          </p:nvSpPr>
          <p:spPr>
            <a:xfrm>
              <a:off x="3469872" y="4900133"/>
              <a:ext cx="387747" cy="386255"/>
            </a:xfrm>
            <a:prstGeom prst="downArrow">
              <a:avLst/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D1B245BC-68BE-4E4E-B2AC-24AD2CB752CD}"/>
              </a:ext>
            </a:extLst>
          </p:cNvPr>
          <p:cNvGrpSpPr/>
          <p:nvPr/>
        </p:nvGrpSpPr>
        <p:grpSpPr>
          <a:xfrm>
            <a:off x="6930890" y="4619064"/>
            <a:ext cx="1700213" cy="1819935"/>
            <a:chOff x="6880246" y="4680899"/>
            <a:chExt cx="1700213" cy="1819935"/>
          </a:xfrm>
        </p:grpSpPr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id="{B9AD9F30-6BC8-4A38-8A24-0DD53E30C463}"/>
                </a:ext>
              </a:extLst>
            </p:cNvPr>
            <p:cNvSpPr/>
            <p:nvPr/>
          </p:nvSpPr>
          <p:spPr bwMode="auto">
            <a:xfrm>
              <a:off x="7966096" y="5229247"/>
              <a:ext cx="301625" cy="38893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0" y="245"/>
                </a:cxn>
              </a:cxnLst>
              <a:rect l="0" t="0" r="r" b="b"/>
              <a:pathLst>
                <a:path w="190" h="245">
                  <a:moveTo>
                    <a:pt x="0" y="0"/>
                  </a:moveTo>
                  <a:lnTo>
                    <a:pt x="190" y="245"/>
                  </a:lnTo>
                </a:path>
              </a:pathLst>
            </a:cu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" name="Line 8">
              <a:extLst>
                <a:ext uri="{FF2B5EF4-FFF2-40B4-BE49-F238E27FC236}">
                  <a16:creationId xmlns:a16="http://schemas.microsoft.com/office/drawing/2014/main" id="{30FB8CB3-704F-4A40-86E5-60562539E9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23234" y="5881709"/>
              <a:ext cx="287337" cy="287338"/>
            </a:xfrm>
            <a:prstGeom prst="line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Oval 10">
              <a:extLst>
                <a:ext uri="{FF2B5EF4-FFF2-40B4-BE49-F238E27FC236}">
                  <a16:creationId xmlns:a16="http://schemas.microsoft.com/office/drawing/2014/main" id="{B29CFC64-F276-4ACE-AB36-3ADE93C3C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96" y="4989534"/>
              <a:ext cx="431800" cy="360363"/>
            </a:xfrm>
            <a:prstGeom prst="ellipse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81" name="Oval 12">
              <a:extLst>
                <a:ext uri="{FF2B5EF4-FFF2-40B4-BE49-F238E27FC236}">
                  <a16:creationId xmlns:a16="http://schemas.microsoft.com/office/drawing/2014/main" id="{165F251A-3E24-4E45-ABF3-8F08E8485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48659" y="5564209"/>
              <a:ext cx="431800" cy="360363"/>
            </a:xfrm>
            <a:prstGeom prst="ellipse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82" name="Oval 14">
              <a:extLst>
                <a:ext uri="{FF2B5EF4-FFF2-40B4-BE49-F238E27FC236}">
                  <a16:creationId xmlns:a16="http://schemas.microsoft.com/office/drawing/2014/main" id="{AF84C33F-5794-44EE-8E28-F3592F89C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84" y="6140472"/>
              <a:ext cx="431800" cy="360362"/>
            </a:xfrm>
            <a:prstGeom prst="ellipse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83" name="TextBox 37">
              <a:extLst>
                <a:ext uri="{FF2B5EF4-FFF2-40B4-BE49-F238E27FC236}">
                  <a16:creationId xmlns:a16="http://schemas.microsoft.com/office/drawing/2014/main" id="{B45E84ED-3762-4568-92F5-DF8E940C1616}"/>
                </a:ext>
              </a:extLst>
            </p:cNvPr>
            <p:cNvSpPr txBox="1"/>
            <p:nvPr/>
          </p:nvSpPr>
          <p:spPr>
            <a:xfrm>
              <a:off x="6880246" y="4680899"/>
              <a:ext cx="428625" cy="78581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例如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972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E0EEA9-F503-485A-B31B-6E2C9044B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二叉树遍历的递归算法</a:t>
            </a:r>
          </a:p>
        </p:txBody>
      </p:sp>
      <p:sp>
        <p:nvSpPr>
          <p:cNvPr id="11" name="任意多边形: 形状 19">
            <a:extLst>
              <a:ext uri="{FF2B5EF4-FFF2-40B4-BE49-F238E27FC236}">
                <a16:creationId xmlns:a16="http://schemas.microsoft.com/office/drawing/2014/main" id="{D8A7C204-FCE5-4535-B079-D9E913DDCA09}"/>
              </a:ext>
            </a:extLst>
          </p:cNvPr>
          <p:cNvSpPr/>
          <p:nvPr/>
        </p:nvSpPr>
        <p:spPr>
          <a:xfrm>
            <a:off x="297607" y="1136717"/>
            <a:ext cx="4130377" cy="2292283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</p:spPr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marL="0" marR="0" lvl="0" indent="0" algn="ctr" defTabSz="11557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前序遍历方案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0" indent="-457200" defTabSz="11557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访问根结点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r</a:t>
            </a:r>
          </a:p>
          <a:p>
            <a:pPr marL="457200" marR="0" lvl="0" indent="-457200" defTabSz="11557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前序遍历左子树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L</a:t>
            </a:r>
          </a:p>
          <a:p>
            <a:pPr marL="457200" marR="0" lvl="0" indent="-457200" defTabSz="11557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前序遍历右子树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R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6B097EE-12CA-4F30-B627-C0F2F702FBCD}"/>
              </a:ext>
            </a:extLst>
          </p:cNvPr>
          <p:cNvGrpSpPr/>
          <p:nvPr/>
        </p:nvGrpSpPr>
        <p:grpSpPr>
          <a:xfrm>
            <a:off x="5148064" y="1052737"/>
            <a:ext cx="2952328" cy="2376264"/>
            <a:chOff x="5448584" y="1299347"/>
            <a:chExt cx="1898650" cy="1612943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61445F76-9267-41D6-B81D-65FBBCCF780C}"/>
                </a:ext>
              </a:extLst>
            </p:cNvPr>
            <p:cNvSpPr/>
            <p:nvPr/>
          </p:nvSpPr>
          <p:spPr>
            <a:xfrm>
              <a:off x="6142217" y="1299347"/>
              <a:ext cx="404917" cy="404917"/>
            </a:xfrm>
            <a:prstGeom prst="ellipse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r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三角形 15">
              <a:extLst>
                <a:ext uri="{FF2B5EF4-FFF2-40B4-BE49-F238E27FC236}">
                  <a16:creationId xmlns:a16="http://schemas.microsoft.com/office/drawing/2014/main" id="{4D5B59DD-083D-4F38-8DAA-51731CBC942B}"/>
                </a:ext>
              </a:extLst>
            </p:cNvPr>
            <p:cNvSpPr/>
            <p:nvPr/>
          </p:nvSpPr>
          <p:spPr>
            <a:xfrm>
              <a:off x="5448584" y="1981375"/>
              <a:ext cx="812800" cy="930915"/>
            </a:xfrm>
            <a:prstGeom prst="triangle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L</a:t>
              </a:r>
              <a:endPara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三角形 16">
              <a:extLst>
                <a:ext uri="{FF2B5EF4-FFF2-40B4-BE49-F238E27FC236}">
                  <a16:creationId xmlns:a16="http://schemas.microsoft.com/office/drawing/2014/main" id="{450E9094-EA63-4FFF-B732-A4DDFF8B04C0}"/>
                </a:ext>
              </a:extLst>
            </p:cNvPr>
            <p:cNvSpPr/>
            <p:nvPr/>
          </p:nvSpPr>
          <p:spPr>
            <a:xfrm>
              <a:off x="6534434" y="1981375"/>
              <a:ext cx="812800" cy="930915"/>
            </a:xfrm>
            <a:prstGeom prst="triangle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R</a:t>
              </a:r>
              <a:endPara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5" name="直线连接符 18">
              <a:extLst>
                <a:ext uri="{FF2B5EF4-FFF2-40B4-BE49-F238E27FC236}">
                  <a16:creationId xmlns:a16="http://schemas.microsoft.com/office/drawing/2014/main" id="{95FD3D2E-7006-4883-A929-D4A4E340082B}"/>
                </a:ext>
              </a:extLst>
            </p:cNvPr>
            <p:cNvCxnSpPr>
              <a:cxnSpLocks/>
              <a:stCxn id="12" idx="3"/>
              <a:endCxn id="13" idx="0"/>
            </p:cNvCxnSpPr>
            <p:nvPr/>
          </p:nvCxnSpPr>
          <p:spPr>
            <a:xfrm flipH="1">
              <a:off x="5854984" y="1644965"/>
              <a:ext cx="346532" cy="336410"/>
            </a:xfrm>
            <a:prstGeom prst="line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16" name="直线连接符 19">
              <a:extLst>
                <a:ext uri="{FF2B5EF4-FFF2-40B4-BE49-F238E27FC236}">
                  <a16:creationId xmlns:a16="http://schemas.microsoft.com/office/drawing/2014/main" id="{0AA24147-4D69-438A-815C-7D2CE3EC04BE}"/>
                </a:ext>
              </a:extLst>
            </p:cNvPr>
            <p:cNvCxnSpPr>
              <a:cxnSpLocks/>
              <a:stCxn id="12" idx="5"/>
              <a:endCxn id="14" idx="0"/>
            </p:cNvCxnSpPr>
            <p:nvPr/>
          </p:nvCxnSpPr>
          <p:spPr>
            <a:xfrm>
              <a:off x="6487835" y="1644965"/>
              <a:ext cx="452999" cy="336410"/>
            </a:xfrm>
            <a:prstGeom prst="line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</p:grpSp>
      <p:sp>
        <p:nvSpPr>
          <p:cNvPr id="17" name="任意多边形: 形状 19">
            <a:extLst>
              <a:ext uri="{FF2B5EF4-FFF2-40B4-BE49-F238E27FC236}">
                <a16:creationId xmlns:a16="http://schemas.microsoft.com/office/drawing/2014/main" id="{F0D4EDBF-A081-4E72-967A-F498A2025575}"/>
              </a:ext>
            </a:extLst>
          </p:cNvPr>
          <p:cNvSpPr/>
          <p:nvPr/>
        </p:nvSpPr>
        <p:spPr>
          <a:xfrm>
            <a:off x="291503" y="3704152"/>
            <a:ext cx="4136481" cy="2245128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</p:spPr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marL="0" marR="0" lvl="0" indent="0" algn="ctr" defTabSz="11557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中序遍历方案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0" indent="-457200" defTabSz="11557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中序遍历左子树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L</a:t>
            </a:r>
          </a:p>
          <a:p>
            <a:pPr marL="457200" marR="0" lvl="0" indent="-457200" defTabSz="11557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访问根结点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r</a:t>
            </a:r>
          </a:p>
          <a:p>
            <a:pPr marL="457200" marR="0" lvl="0" indent="-457200" defTabSz="11557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中序遍历右子树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R</a:t>
            </a:r>
          </a:p>
        </p:txBody>
      </p:sp>
      <p:sp>
        <p:nvSpPr>
          <p:cNvPr id="18" name="任意多边形: 形状 19">
            <a:extLst>
              <a:ext uri="{FF2B5EF4-FFF2-40B4-BE49-F238E27FC236}">
                <a16:creationId xmlns:a16="http://schemas.microsoft.com/office/drawing/2014/main" id="{5B754DDC-56EA-4AAE-9CA2-155C971810B5}"/>
              </a:ext>
            </a:extLst>
          </p:cNvPr>
          <p:cNvSpPr/>
          <p:nvPr/>
        </p:nvSpPr>
        <p:spPr>
          <a:xfrm>
            <a:off x="4932040" y="3704152"/>
            <a:ext cx="3920457" cy="2245128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</p:spPr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marL="0" marR="0" lvl="0" indent="0" algn="ctr" defTabSz="11557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后序遍历方案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0" indent="-457200" defTabSz="11557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后序遍历左子树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L</a:t>
            </a:r>
          </a:p>
          <a:p>
            <a:pPr marL="457200" marR="0" lvl="0" indent="-457200" defTabSz="11557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后序遍历右子树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R</a:t>
            </a:r>
          </a:p>
          <a:p>
            <a:pPr marL="457200" marR="0" lvl="0" indent="-457200" defTabSz="11557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访问根结点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040174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AB4B5-BA1B-4EBA-BBDC-B0D5C47B0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50" y="190500"/>
            <a:ext cx="7039818" cy="527050"/>
          </a:xfrm>
        </p:spPr>
        <p:txBody>
          <a:bodyPr/>
          <a:lstStyle/>
          <a:p>
            <a:r>
              <a:rPr lang="zh-CN" altLang="en-US" dirty="0"/>
              <a:t>前序遍历（</a:t>
            </a:r>
            <a:r>
              <a:rPr lang="en-US" altLang="zh-CN" dirty="0"/>
              <a:t>Pre-order Traversal</a:t>
            </a:r>
            <a:r>
              <a:rPr lang="zh-CN" altLang="en-US" dirty="0"/>
              <a:t>）的递归算法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855006D-1596-4FB8-9748-0722E2DD27AE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734064"/>
            <a:ext cx="5410846" cy="6123936"/>
          </a:xfrm>
          <a:prstGeom prst="rect">
            <a:avLst/>
          </a:prstGeom>
        </p:spPr>
        <p:txBody>
          <a:bodyPr/>
          <a:lstStyle>
            <a:lvl1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ea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void </a:t>
            </a:r>
            <a:r>
              <a:rPr kumimoji="1" lang="en-US" altLang="zh-CN" b="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PreOrder</a:t>
            </a: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kumimoji="1" lang="en-US" altLang="zh-CN" b="0" kern="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BiTNode</a:t>
            </a: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*T) {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if (T != NULL) {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visit (T</a:t>
            </a:r>
            <a:r>
              <a:rPr kumimoji="1" lang="en-US" altLang="zh-CN" kern="0" dirty="0">
                <a:solidFill>
                  <a:srgbClr val="0000FF"/>
                </a:solidFill>
                <a:latin typeface="Courier New" panose="02070309020205020404" pitchFamily="49" charset="0"/>
              </a:rPr>
              <a:t>-&gt;</a:t>
            </a:r>
            <a:r>
              <a:rPr kumimoji="1"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data);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b="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PreOrder</a:t>
            </a: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 (T</a:t>
            </a:r>
            <a:r>
              <a:rPr kumimoji="1" lang="en-US" altLang="zh-CN" b="0" kern="0" dirty="0">
                <a:solidFill>
                  <a:srgbClr val="FF0000"/>
                </a:solidFill>
                <a:latin typeface="Courier New" panose="02070309020205020404" pitchFamily="49" charset="0"/>
              </a:rPr>
              <a:t>-&gt;</a:t>
            </a:r>
            <a:r>
              <a:rPr kumimoji="1" lang="en-US" altLang="zh-CN" b="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lchild</a:t>
            </a: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);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b="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PreOrder</a:t>
            </a: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 (T</a:t>
            </a:r>
            <a:r>
              <a:rPr kumimoji="1" lang="en-US" altLang="zh-CN" b="0" kern="0" dirty="0">
                <a:solidFill>
                  <a:srgbClr val="FF0000"/>
                </a:solidFill>
                <a:latin typeface="Courier New" panose="02070309020205020404" pitchFamily="49" charset="0"/>
              </a:rPr>
              <a:t>-&gt;</a:t>
            </a:r>
            <a:r>
              <a:rPr kumimoji="1" lang="en-US" altLang="zh-CN" b="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rchild</a:t>
            </a: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);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}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visit() </a:t>
            </a:r>
            <a:r>
              <a:rPr kumimoji="1" lang="zh-CN" altLang="en-US" b="0" kern="0" dirty="0">
                <a:latin typeface="Times New Roman" panose="02020603050405020304" pitchFamily="18" charset="0"/>
              </a:rPr>
              <a:t>是输出数据值的操作，实际使用时可用相应的操作来替换。</a:t>
            </a:r>
            <a:endParaRPr lang="zh-CN" altLang="en-US" b="0" kern="0" dirty="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95DC4581-255B-4E77-8EF2-F182688DDE01}"/>
              </a:ext>
            </a:extLst>
          </p:cNvPr>
          <p:cNvSpPr txBox="1"/>
          <p:nvPr/>
        </p:nvSpPr>
        <p:spPr>
          <a:xfrm>
            <a:off x="5708102" y="5229200"/>
            <a:ext cx="3408305" cy="1308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dirty="0">
                <a:solidFill>
                  <a:srgbClr val="C00000"/>
                </a:solidFill>
                <a:latin typeface="+mn-ea"/>
                <a:ea typeface="+mn-ea"/>
              </a:rPr>
              <a:t>遍历结果：</a:t>
            </a:r>
          </a:p>
          <a:p>
            <a:pPr>
              <a:lnSpc>
                <a:spcPct val="150000"/>
              </a:lnSpc>
            </a:pPr>
            <a:r>
              <a:rPr lang="pt-BR" altLang="zh-CN" b="0" dirty="0">
                <a:solidFill>
                  <a:srgbClr val="00B050"/>
                </a:solidFill>
                <a:latin typeface="+mn-ea"/>
                <a:ea typeface="+mn-ea"/>
              </a:rPr>
              <a:t> - + a * b - c d / e f</a:t>
            </a:r>
          </a:p>
        </p:txBody>
      </p:sp>
      <p:sp>
        <p:nvSpPr>
          <p:cNvPr id="262" name="Line 38">
            <a:extLst>
              <a:ext uri="{FF2B5EF4-FFF2-40B4-BE49-F238E27FC236}">
                <a16:creationId xmlns:a16="http://schemas.microsoft.com/office/drawing/2014/main" id="{99A9BAC8-FF8B-43BE-860A-B9E215938B6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0563" y="4073946"/>
            <a:ext cx="381000" cy="6858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3" name="Line 39">
            <a:extLst>
              <a:ext uri="{FF2B5EF4-FFF2-40B4-BE49-F238E27FC236}">
                <a16:creationId xmlns:a16="http://schemas.microsoft.com/office/drawing/2014/main" id="{6D3C776B-65EB-4CB5-AB95-4B91629417D1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8763" y="2245146"/>
            <a:ext cx="304800" cy="6858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4" name="Line 40">
            <a:extLst>
              <a:ext uri="{FF2B5EF4-FFF2-40B4-BE49-F238E27FC236}">
                <a16:creationId xmlns:a16="http://schemas.microsoft.com/office/drawing/2014/main" id="{5BFE890E-2DF5-49B1-9D78-F5E9CB42070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26163" y="2245146"/>
            <a:ext cx="381000" cy="6858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5" name="Line 41">
            <a:extLst>
              <a:ext uri="{FF2B5EF4-FFF2-40B4-BE49-F238E27FC236}">
                <a16:creationId xmlns:a16="http://schemas.microsoft.com/office/drawing/2014/main" id="{8C6F0483-FF76-4031-AD02-E1B1E4DB77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3363" y="3159546"/>
            <a:ext cx="381000" cy="6858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" name="Line 42">
            <a:extLst>
              <a:ext uri="{FF2B5EF4-FFF2-40B4-BE49-F238E27FC236}">
                <a16:creationId xmlns:a16="http://schemas.microsoft.com/office/drawing/2014/main" id="{AC423659-E11D-4E81-B16E-1CF985B0D7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45363" y="2245146"/>
            <a:ext cx="304800" cy="6096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7" name="Line 43">
            <a:extLst>
              <a:ext uri="{FF2B5EF4-FFF2-40B4-BE49-F238E27FC236}">
                <a16:creationId xmlns:a16="http://schemas.microsoft.com/office/drawing/2014/main" id="{A2524668-3B31-425A-9AB3-00646C78F3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83363" y="4073946"/>
            <a:ext cx="304800" cy="6096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8" name="Line 44">
            <a:extLst>
              <a:ext uri="{FF2B5EF4-FFF2-40B4-BE49-F238E27FC236}">
                <a16:creationId xmlns:a16="http://schemas.microsoft.com/office/drawing/2014/main" id="{C0D5505E-B569-4345-A8E8-6317F4203C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02363" y="3159546"/>
            <a:ext cx="304800" cy="6096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9" name="Line 45">
            <a:extLst>
              <a:ext uri="{FF2B5EF4-FFF2-40B4-BE49-F238E27FC236}">
                <a16:creationId xmlns:a16="http://schemas.microsoft.com/office/drawing/2014/main" id="{966EB7A8-7976-4CC7-AD12-F300ED3B52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68963" y="2321346"/>
            <a:ext cx="304800" cy="6096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0" name="Line 46">
            <a:extLst>
              <a:ext uri="{FF2B5EF4-FFF2-40B4-BE49-F238E27FC236}">
                <a16:creationId xmlns:a16="http://schemas.microsoft.com/office/drawing/2014/main" id="{F9C80CEF-C090-47E0-BAD5-2C58D9F259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4363" y="1406946"/>
            <a:ext cx="685800" cy="6096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1" name="Line 47">
            <a:extLst>
              <a:ext uri="{FF2B5EF4-FFF2-40B4-BE49-F238E27FC236}">
                <a16:creationId xmlns:a16="http://schemas.microsoft.com/office/drawing/2014/main" id="{36F9FD2B-B751-4D72-82D2-D17DB73516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02363" y="1406946"/>
            <a:ext cx="609600" cy="6096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2" name="Oval 48">
            <a:extLst>
              <a:ext uri="{FF2B5EF4-FFF2-40B4-BE49-F238E27FC236}">
                <a16:creationId xmlns:a16="http://schemas.microsoft.com/office/drawing/2014/main" id="{A6130280-8ADF-4E04-BB3E-3AFA5FB7E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1025946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3" name="Oval 49">
            <a:extLst>
              <a:ext uri="{FF2B5EF4-FFF2-40B4-BE49-F238E27FC236}">
                <a16:creationId xmlns:a16="http://schemas.microsoft.com/office/drawing/2014/main" id="{64E52CBC-6CA8-46F0-8E59-282F4FEF6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778546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4" name="Oval 50">
            <a:extLst>
              <a:ext uri="{FF2B5EF4-FFF2-40B4-BE49-F238E27FC236}">
                <a16:creationId xmlns:a16="http://schemas.microsoft.com/office/drawing/2014/main" id="{36DDD8DA-CB66-4C1C-96B3-DA7B7128C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563" y="2778546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5" name="Oval 51">
            <a:extLst>
              <a:ext uri="{FF2B5EF4-FFF2-40B4-BE49-F238E27FC236}">
                <a16:creationId xmlns:a16="http://schemas.microsoft.com/office/drawing/2014/main" id="{FEB6A781-DC79-4D5B-A3D5-A0E5E5066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563" y="2778546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" name="Oval 52">
            <a:extLst>
              <a:ext uri="{FF2B5EF4-FFF2-40B4-BE49-F238E27FC236}">
                <a16:creationId xmlns:a16="http://schemas.microsoft.com/office/drawing/2014/main" id="{5E13E753-CCF3-4439-891E-290B3AEEE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2778546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7" name="Oval 53">
            <a:extLst>
              <a:ext uri="{FF2B5EF4-FFF2-40B4-BE49-F238E27FC236}">
                <a16:creationId xmlns:a16="http://schemas.microsoft.com/office/drawing/2014/main" id="{FF51A655-ABB9-426C-9E3D-C2355E6D8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1363" y="1864146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8" name="Oval 54">
            <a:extLst>
              <a:ext uri="{FF2B5EF4-FFF2-40B4-BE49-F238E27FC236}">
                <a16:creationId xmlns:a16="http://schemas.microsoft.com/office/drawing/2014/main" id="{D3C2865A-991E-412B-A743-BCD7D9B69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7763" y="1864146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9" name="Oval 55">
            <a:extLst>
              <a:ext uri="{FF2B5EF4-FFF2-40B4-BE49-F238E27FC236}">
                <a16:creationId xmlns:a16="http://schemas.microsoft.com/office/drawing/2014/main" id="{40BD5FFB-AAC5-444E-A0E5-843A96FA0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1363" y="3692946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0" name="Oval 56">
            <a:extLst>
              <a:ext uri="{FF2B5EF4-FFF2-40B4-BE49-F238E27FC236}">
                <a16:creationId xmlns:a16="http://schemas.microsoft.com/office/drawing/2014/main" id="{3D731120-58D8-4C4F-88DF-9F2EF79F6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763" y="3692946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1" name="Oval 57">
            <a:extLst>
              <a:ext uri="{FF2B5EF4-FFF2-40B4-BE49-F238E27FC236}">
                <a16:creationId xmlns:a16="http://schemas.microsoft.com/office/drawing/2014/main" id="{6E411B38-2A03-4EDA-AEED-330A2B292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563" y="4531146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2" name="Oval 58">
            <a:extLst>
              <a:ext uri="{FF2B5EF4-FFF2-40B4-BE49-F238E27FC236}">
                <a16:creationId xmlns:a16="http://schemas.microsoft.com/office/drawing/2014/main" id="{A38CDAFE-B9B1-4571-B957-E88F07B47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963" y="4531146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3" name="Text Box 59">
            <a:extLst>
              <a:ext uri="{FF2B5EF4-FFF2-40B4-BE49-F238E27FC236}">
                <a16:creationId xmlns:a16="http://schemas.microsoft.com/office/drawing/2014/main" id="{B8FD1EEE-A74C-4F87-8E3B-2EC7B387E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0050" y="997371"/>
            <a:ext cx="3889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3200">
                <a:solidFill>
                  <a:srgbClr val="000066"/>
                </a:solidFill>
                <a:latin typeface="仿宋_GB2312" pitchFamily="49" charset="-122"/>
              </a:rPr>
              <a:t>-</a:t>
            </a:r>
            <a:endParaRPr kumimoji="1" lang="en-US" altLang="zh-CN" sz="3200">
              <a:solidFill>
                <a:srgbClr val="000066"/>
              </a:solidFill>
              <a:ea typeface="宋体" panose="02010600030101010101" pitchFamily="2" charset="-122"/>
            </a:endParaRPr>
          </a:p>
        </p:txBody>
      </p:sp>
      <p:sp>
        <p:nvSpPr>
          <p:cNvPr id="284" name="Text Box 60">
            <a:extLst>
              <a:ext uri="{FF2B5EF4-FFF2-40B4-BE49-F238E27FC236}">
                <a16:creationId xmlns:a16="http://schemas.microsoft.com/office/drawing/2014/main" id="{C453BE59-B803-4EB9-B4DD-7F4A2D686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1963" y="3661196"/>
            <a:ext cx="3889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</a:rPr>
              <a:t>-</a:t>
            </a:r>
            <a:endParaRPr kumimoji="1" lang="en-US" altLang="zh-CN" sz="3200">
              <a:solidFill>
                <a:srgbClr val="000066"/>
              </a:solidFill>
              <a:ea typeface="宋体" panose="02010600030101010101" pitchFamily="2" charset="-122"/>
            </a:endParaRPr>
          </a:p>
        </p:txBody>
      </p:sp>
      <p:sp>
        <p:nvSpPr>
          <p:cNvPr id="285" name="Text Box 61">
            <a:extLst>
              <a:ext uri="{FF2B5EF4-FFF2-40B4-BE49-F238E27FC236}">
                <a16:creationId xmlns:a16="http://schemas.microsoft.com/office/drawing/2014/main" id="{8484D2BA-6B85-45E5-906B-DC08F532B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1263" y="1884784"/>
            <a:ext cx="3492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2600">
                <a:solidFill>
                  <a:srgbClr val="000066"/>
                </a:solidFill>
                <a:latin typeface="仿宋_GB2312" pitchFamily="49" charset="-122"/>
              </a:rPr>
              <a:t>/</a:t>
            </a:r>
            <a:endParaRPr kumimoji="1" lang="en-US" altLang="zh-CN" sz="2600">
              <a:solidFill>
                <a:srgbClr val="000066"/>
              </a:solidFill>
              <a:ea typeface="宋体" panose="02010600030101010101" pitchFamily="2" charset="-122"/>
            </a:endParaRPr>
          </a:p>
        </p:txBody>
      </p:sp>
      <p:sp>
        <p:nvSpPr>
          <p:cNvPr id="286" name="Text Box 62">
            <a:extLst>
              <a:ext uri="{FF2B5EF4-FFF2-40B4-BE49-F238E27FC236}">
                <a16:creationId xmlns:a16="http://schemas.microsoft.com/office/drawing/2014/main" id="{C888419B-8A8C-4D2C-87E8-22545E0C1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25" y="1824459"/>
            <a:ext cx="3889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3200">
                <a:solidFill>
                  <a:srgbClr val="000066"/>
                </a:solidFill>
                <a:latin typeface="仿宋_GB2312" pitchFamily="49" charset="-122"/>
              </a:rPr>
              <a:t>+</a:t>
            </a:r>
          </a:p>
        </p:txBody>
      </p:sp>
      <p:sp>
        <p:nvSpPr>
          <p:cNvPr id="287" name="Text Box 63">
            <a:extLst>
              <a:ext uri="{FF2B5EF4-FFF2-40B4-BE49-F238E27FC236}">
                <a16:creationId xmlns:a16="http://schemas.microsoft.com/office/drawing/2014/main" id="{2550DB3C-3AC4-4EB8-83C5-5B5682237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6825" y="2726159"/>
            <a:ext cx="3889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zh-CN" altLang="en-US" sz="3200">
                <a:solidFill>
                  <a:srgbClr val="000066"/>
                </a:solidFill>
                <a:latin typeface="仿宋_GB2312" pitchFamily="49" charset="-122"/>
              </a:rPr>
              <a:t>*</a:t>
            </a:r>
          </a:p>
        </p:txBody>
      </p:sp>
      <p:sp>
        <p:nvSpPr>
          <p:cNvPr id="288" name="Text Box 64">
            <a:extLst>
              <a:ext uri="{FF2B5EF4-FFF2-40B4-BE49-F238E27FC236}">
                <a16:creationId xmlns:a16="http://schemas.microsoft.com/office/drawing/2014/main" id="{485B411C-978B-4D47-BD3E-0A33B8923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0838" y="2707109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</a:rPr>
              <a:t>a</a:t>
            </a:r>
            <a:endParaRPr kumimoji="1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仿宋_GB2312" pitchFamily="49" charset="-122"/>
            </a:endParaRPr>
          </a:p>
        </p:txBody>
      </p:sp>
      <p:sp>
        <p:nvSpPr>
          <p:cNvPr id="289" name="Text Box 65">
            <a:extLst>
              <a:ext uri="{FF2B5EF4-FFF2-40B4-BE49-F238E27FC236}">
                <a16:creationId xmlns:a16="http://schemas.microsoft.com/office/drawing/2014/main" id="{40B7AD27-0B6F-4E27-9A4E-2530857FC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863" y="3651671"/>
            <a:ext cx="409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</a:rPr>
              <a:t>b</a:t>
            </a:r>
            <a:endParaRPr kumimoji="1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仿宋_GB2312" pitchFamily="49" charset="-122"/>
            </a:endParaRPr>
          </a:p>
        </p:txBody>
      </p:sp>
      <p:sp>
        <p:nvSpPr>
          <p:cNvPr id="290" name="Text Box 66">
            <a:extLst>
              <a:ext uri="{FF2B5EF4-FFF2-40B4-BE49-F238E27FC236}">
                <a16:creationId xmlns:a16="http://schemas.microsoft.com/office/drawing/2014/main" id="{9B468CBA-7CB5-414F-B840-A308CC20E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6350" y="4488284"/>
            <a:ext cx="365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</a:rPr>
              <a:t>c</a:t>
            </a:r>
            <a:endParaRPr kumimoji="1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仿宋_GB2312" pitchFamily="49" charset="-122"/>
            </a:endParaRPr>
          </a:p>
        </p:txBody>
      </p:sp>
      <p:sp>
        <p:nvSpPr>
          <p:cNvPr id="291" name="Text Box 67">
            <a:extLst>
              <a:ext uri="{FF2B5EF4-FFF2-40B4-BE49-F238E27FC236}">
                <a16:creationId xmlns:a16="http://schemas.microsoft.com/office/drawing/2014/main" id="{1A7CD8CE-FC33-472A-8A56-F5A674442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525" y="4505746"/>
            <a:ext cx="409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</a:rPr>
              <a:t>d</a:t>
            </a:r>
            <a:endParaRPr kumimoji="1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仿宋_GB2312" pitchFamily="49" charset="-122"/>
            </a:endParaRPr>
          </a:p>
        </p:txBody>
      </p:sp>
      <p:sp>
        <p:nvSpPr>
          <p:cNvPr id="292" name="Text Box 68">
            <a:extLst>
              <a:ext uri="{FF2B5EF4-FFF2-40B4-BE49-F238E27FC236}">
                <a16:creationId xmlns:a16="http://schemas.microsoft.com/office/drawing/2014/main" id="{B97CB62F-5D14-4FF6-8969-C3891DD45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8350" y="2721396"/>
            <a:ext cx="365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</a:rPr>
              <a:t>e</a:t>
            </a:r>
            <a:endParaRPr kumimoji="1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仿宋_GB2312" pitchFamily="49" charset="-122"/>
            </a:endParaRPr>
          </a:p>
        </p:txBody>
      </p:sp>
      <p:sp>
        <p:nvSpPr>
          <p:cNvPr id="293" name="Text Box 69">
            <a:extLst>
              <a:ext uri="{FF2B5EF4-FFF2-40B4-BE49-F238E27FC236}">
                <a16:creationId xmlns:a16="http://schemas.microsoft.com/office/drawing/2014/main" id="{36B896E2-4027-4BA6-BD04-D6057D8C6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5925" y="2753146"/>
            <a:ext cx="3190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</a:rPr>
              <a:t>f</a:t>
            </a:r>
            <a:endParaRPr kumimoji="1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仿宋_GB2312" pitchFamily="49" charset="-122"/>
            </a:endParaRPr>
          </a:p>
        </p:txBody>
      </p:sp>
      <p:sp>
        <p:nvSpPr>
          <p:cNvPr id="294" name="Line 70">
            <a:extLst>
              <a:ext uri="{FF2B5EF4-FFF2-40B4-BE49-F238E27FC236}">
                <a16:creationId xmlns:a16="http://schemas.microsoft.com/office/drawing/2014/main" id="{3C455950-EC17-4641-BE77-FC0D345825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27763" y="1392659"/>
            <a:ext cx="360362" cy="360362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5" name="Line 71">
            <a:extLst>
              <a:ext uri="{FF2B5EF4-FFF2-40B4-BE49-F238E27FC236}">
                <a16:creationId xmlns:a16="http://schemas.microsoft.com/office/drawing/2014/main" id="{A9E0922B-79D5-4091-A7E7-7E0699D127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16575" y="2327696"/>
            <a:ext cx="180975" cy="360363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6" name="Line 72">
            <a:extLst>
              <a:ext uri="{FF2B5EF4-FFF2-40B4-BE49-F238E27FC236}">
                <a16:creationId xmlns:a16="http://schemas.microsoft.com/office/drawing/2014/main" id="{036515FA-EB11-4783-BE91-C7CD59EC03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72338" y="2327696"/>
            <a:ext cx="179387" cy="360363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" name="Line 73">
            <a:extLst>
              <a:ext uri="{FF2B5EF4-FFF2-40B4-BE49-F238E27FC236}">
                <a16:creationId xmlns:a16="http://schemas.microsoft.com/office/drawing/2014/main" id="{0902B4D0-CF77-44FA-8E38-3EBF16DF7A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19813" y="3264321"/>
            <a:ext cx="179387" cy="360363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8" name="Line 74">
            <a:extLst>
              <a:ext uri="{FF2B5EF4-FFF2-40B4-BE49-F238E27FC236}">
                <a16:creationId xmlns:a16="http://schemas.microsoft.com/office/drawing/2014/main" id="{C783B8DF-CA79-4CA7-BA09-24762E0650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16688" y="4127921"/>
            <a:ext cx="179387" cy="360363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9" name="Freeform 80">
            <a:extLst>
              <a:ext uri="{FF2B5EF4-FFF2-40B4-BE49-F238E27FC236}">
                <a16:creationId xmlns:a16="http://schemas.microsoft.com/office/drawing/2014/main" id="{51AAE95A-4C2E-4CEC-8C22-7D19AD1CFE0E}"/>
              </a:ext>
            </a:extLst>
          </p:cNvPr>
          <p:cNvSpPr>
            <a:spLocks/>
          </p:cNvSpPr>
          <p:nvPr/>
        </p:nvSpPr>
        <p:spPr bwMode="auto">
          <a:xfrm>
            <a:off x="5903913" y="2503909"/>
            <a:ext cx="396875" cy="292100"/>
          </a:xfrm>
          <a:custGeom>
            <a:avLst/>
            <a:gdLst>
              <a:gd name="T0" fmla="*/ 0 w 250"/>
              <a:gd name="T1" fmla="*/ 162 h 184"/>
              <a:gd name="T2" fmla="*/ 46 w 250"/>
              <a:gd name="T3" fmla="*/ 26 h 184"/>
              <a:gd name="T4" fmla="*/ 159 w 250"/>
              <a:gd name="T5" fmla="*/ 26 h 184"/>
              <a:gd name="T6" fmla="*/ 250 w 250"/>
              <a:gd name="T7" fmla="*/ 184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0" h="184">
                <a:moveTo>
                  <a:pt x="0" y="162"/>
                </a:moveTo>
                <a:cubicBezTo>
                  <a:pt x="9" y="105"/>
                  <a:pt x="19" y="49"/>
                  <a:pt x="46" y="26"/>
                </a:cubicBezTo>
                <a:cubicBezTo>
                  <a:pt x="73" y="3"/>
                  <a:pt x="125" y="0"/>
                  <a:pt x="159" y="26"/>
                </a:cubicBezTo>
                <a:cubicBezTo>
                  <a:pt x="193" y="52"/>
                  <a:pt x="235" y="158"/>
                  <a:pt x="250" y="184"/>
                </a:cubicBezTo>
              </a:path>
            </a:pathLst>
          </a:custGeom>
          <a:noFill/>
          <a:ln w="19050" cap="flat">
            <a:solidFill>
              <a:srgbClr val="CC0000"/>
            </a:solidFill>
            <a:prstDash val="dash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0" name="Freeform 81">
            <a:extLst>
              <a:ext uri="{FF2B5EF4-FFF2-40B4-BE49-F238E27FC236}">
                <a16:creationId xmlns:a16="http://schemas.microsoft.com/office/drawing/2014/main" id="{8D2B935C-3DF6-4EF6-8B44-67CC0AD37F3A}"/>
              </a:ext>
            </a:extLst>
          </p:cNvPr>
          <p:cNvSpPr>
            <a:spLocks/>
          </p:cNvSpPr>
          <p:nvPr/>
        </p:nvSpPr>
        <p:spPr bwMode="auto">
          <a:xfrm>
            <a:off x="6372225" y="3445296"/>
            <a:ext cx="396875" cy="292100"/>
          </a:xfrm>
          <a:custGeom>
            <a:avLst/>
            <a:gdLst>
              <a:gd name="T0" fmla="*/ 0 w 250"/>
              <a:gd name="T1" fmla="*/ 162 h 184"/>
              <a:gd name="T2" fmla="*/ 46 w 250"/>
              <a:gd name="T3" fmla="*/ 26 h 184"/>
              <a:gd name="T4" fmla="*/ 159 w 250"/>
              <a:gd name="T5" fmla="*/ 26 h 184"/>
              <a:gd name="T6" fmla="*/ 250 w 250"/>
              <a:gd name="T7" fmla="*/ 184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0" h="184">
                <a:moveTo>
                  <a:pt x="0" y="162"/>
                </a:moveTo>
                <a:cubicBezTo>
                  <a:pt x="9" y="105"/>
                  <a:pt x="19" y="49"/>
                  <a:pt x="46" y="26"/>
                </a:cubicBezTo>
                <a:cubicBezTo>
                  <a:pt x="73" y="3"/>
                  <a:pt x="125" y="0"/>
                  <a:pt x="159" y="26"/>
                </a:cubicBezTo>
                <a:cubicBezTo>
                  <a:pt x="193" y="52"/>
                  <a:pt x="235" y="158"/>
                  <a:pt x="250" y="184"/>
                </a:cubicBezTo>
              </a:path>
            </a:pathLst>
          </a:custGeom>
          <a:noFill/>
          <a:ln w="19050" cap="flat">
            <a:solidFill>
              <a:srgbClr val="CC0000"/>
            </a:solidFill>
            <a:prstDash val="dash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1" name="Freeform 82">
            <a:extLst>
              <a:ext uri="{FF2B5EF4-FFF2-40B4-BE49-F238E27FC236}">
                <a16:creationId xmlns:a16="http://schemas.microsoft.com/office/drawing/2014/main" id="{3526CA8F-68FE-4924-A572-E74F1AB35975}"/>
              </a:ext>
            </a:extLst>
          </p:cNvPr>
          <p:cNvSpPr>
            <a:spLocks/>
          </p:cNvSpPr>
          <p:nvPr/>
        </p:nvSpPr>
        <p:spPr bwMode="auto">
          <a:xfrm>
            <a:off x="6804025" y="4308896"/>
            <a:ext cx="396875" cy="292100"/>
          </a:xfrm>
          <a:custGeom>
            <a:avLst/>
            <a:gdLst>
              <a:gd name="T0" fmla="*/ 0 w 250"/>
              <a:gd name="T1" fmla="*/ 162 h 184"/>
              <a:gd name="T2" fmla="*/ 46 w 250"/>
              <a:gd name="T3" fmla="*/ 26 h 184"/>
              <a:gd name="T4" fmla="*/ 159 w 250"/>
              <a:gd name="T5" fmla="*/ 26 h 184"/>
              <a:gd name="T6" fmla="*/ 250 w 250"/>
              <a:gd name="T7" fmla="*/ 184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0" h="184">
                <a:moveTo>
                  <a:pt x="0" y="162"/>
                </a:moveTo>
                <a:cubicBezTo>
                  <a:pt x="9" y="105"/>
                  <a:pt x="19" y="49"/>
                  <a:pt x="46" y="26"/>
                </a:cubicBezTo>
                <a:cubicBezTo>
                  <a:pt x="73" y="3"/>
                  <a:pt x="125" y="0"/>
                  <a:pt x="159" y="26"/>
                </a:cubicBezTo>
                <a:cubicBezTo>
                  <a:pt x="193" y="52"/>
                  <a:pt x="235" y="158"/>
                  <a:pt x="250" y="184"/>
                </a:cubicBezTo>
              </a:path>
            </a:pathLst>
          </a:custGeom>
          <a:noFill/>
          <a:ln w="19050" cap="flat">
            <a:solidFill>
              <a:srgbClr val="CC0000"/>
            </a:solidFill>
            <a:prstDash val="dash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2" name="Freeform 83">
            <a:extLst>
              <a:ext uri="{FF2B5EF4-FFF2-40B4-BE49-F238E27FC236}">
                <a16:creationId xmlns:a16="http://schemas.microsoft.com/office/drawing/2014/main" id="{80F3DE30-6A71-4A07-B9A1-6A94EEE8C43B}"/>
              </a:ext>
            </a:extLst>
          </p:cNvPr>
          <p:cNvSpPr>
            <a:spLocks/>
          </p:cNvSpPr>
          <p:nvPr/>
        </p:nvSpPr>
        <p:spPr bwMode="auto">
          <a:xfrm>
            <a:off x="7559675" y="2472159"/>
            <a:ext cx="433388" cy="288925"/>
          </a:xfrm>
          <a:custGeom>
            <a:avLst/>
            <a:gdLst>
              <a:gd name="T0" fmla="*/ 0 w 250"/>
              <a:gd name="T1" fmla="*/ 162 h 184"/>
              <a:gd name="T2" fmla="*/ 46 w 250"/>
              <a:gd name="T3" fmla="*/ 26 h 184"/>
              <a:gd name="T4" fmla="*/ 159 w 250"/>
              <a:gd name="T5" fmla="*/ 26 h 184"/>
              <a:gd name="T6" fmla="*/ 250 w 250"/>
              <a:gd name="T7" fmla="*/ 184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0" h="184">
                <a:moveTo>
                  <a:pt x="0" y="162"/>
                </a:moveTo>
                <a:cubicBezTo>
                  <a:pt x="9" y="105"/>
                  <a:pt x="19" y="49"/>
                  <a:pt x="46" y="26"/>
                </a:cubicBezTo>
                <a:cubicBezTo>
                  <a:pt x="73" y="3"/>
                  <a:pt x="125" y="0"/>
                  <a:pt x="159" y="26"/>
                </a:cubicBezTo>
                <a:cubicBezTo>
                  <a:pt x="193" y="52"/>
                  <a:pt x="235" y="158"/>
                  <a:pt x="250" y="184"/>
                </a:cubicBezTo>
              </a:path>
            </a:pathLst>
          </a:custGeom>
          <a:noFill/>
          <a:ln w="19050" cap="flat">
            <a:solidFill>
              <a:srgbClr val="CC0000"/>
            </a:solidFill>
            <a:prstDash val="dash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3" name="Freeform 88">
            <a:extLst>
              <a:ext uri="{FF2B5EF4-FFF2-40B4-BE49-F238E27FC236}">
                <a16:creationId xmlns:a16="http://schemas.microsoft.com/office/drawing/2014/main" id="{AE683D94-4135-4613-8FEF-FD203DAC4869}"/>
              </a:ext>
            </a:extLst>
          </p:cNvPr>
          <p:cNvSpPr>
            <a:spLocks/>
          </p:cNvSpPr>
          <p:nvPr/>
        </p:nvSpPr>
        <p:spPr bwMode="auto">
          <a:xfrm>
            <a:off x="6480175" y="1679996"/>
            <a:ext cx="1079500" cy="2767013"/>
          </a:xfrm>
          <a:custGeom>
            <a:avLst/>
            <a:gdLst>
              <a:gd name="T0" fmla="*/ 719 w 719"/>
              <a:gd name="T1" fmla="*/ 1743 h 1743"/>
              <a:gd name="T2" fmla="*/ 106 w 719"/>
              <a:gd name="T3" fmla="*/ 541 h 1743"/>
              <a:gd name="T4" fmla="*/ 84 w 719"/>
              <a:gd name="T5" fmla="*/ 178 h 1743"/>
              <a:gd name="T6" fmla="*/ 220 w 719"/>
              <a:gd name="T7" fmla="*/ 42 h 1743"/>
              <a:gd name="T8" fmla="*/ 356 w 719"/>
              <a:gd name="T9" fmla="*/ 19 h 1743"/>
              <a:gd name="T10" fmla="*/ 560 w 719"/>
              <a:gd name="T11" fmla="*/ 155 h 1743"/>
              <a:gd name="T12" fmla="*/ 628 w 719"/>
              <a:gd name="T13" fmla="*/ 246 h 17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19" h="1743">
                <a:moveTo>
                  <a:pt x="719" y="1743"/>
                </a:moveTo>
                <a:cubicBezTo>
                  <a:pt x="465" y="1272"/>
                  <a:pt x="212" y="802"/>
                  <a:pt x="106" y="541"/>
                </a:cubicBezTo>
                <a:cubicBezTo>
                  <a:pt x="0" y="280"/>
                  <a:pt x="65" y="261"/>
                  <a:pt x="84" y="178"/>
                </a:cubicBezTo>
                <a:cubicBezTo>
                  <a:pt x="103" y="95"/>
                  <a:pt x="175" y="69"/>
                  <a:pt x="220" y="42"/>
                </a:cubicBezTo>
                <a:cubicBezTo>
                  <a:pt x="265" y="15"/>
                  <a:pt x="299" y="0"/>
                  <a:pt x="356" y="19"/>
                </a:cubicBezTo>
                <a:cubicBezTo>
                  <a:pt x="413" y="38"/>
                  <a:pt x="515" y="117"/>
                  <a:pt x="560" y="155"/>
                </a:cubicBezTo>
                <a:cubicBezTo>
                  <a:pt x="605" y="193"/>
                  <a:pt x="617" y="231"/>
                  <a:pt x="628" y="246"/>
                </a:cubicBezTo>
              </a:path>
            </a:pathLst>
          </a:custGeom>
          <a:noFill/>
          <a:ln w="19050" cap="flat">
            <a:solidFill>
              <a:srgbClr val="CC0000"/>
            </a:solidFill>
            <a:prstDash val="dash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13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283" grpId="0"/>
      <p:bldP spid="284" grpId="0"/>
      <p:bldP spid="285" grpId="0"/>
      <p:bldP spid="286" grpId="0"/>
      <p:bldP spid="287" grpId="0"/>
      <p:bldP spid="288" grpId="0"/>
      <p:bldP spid="289" grpId="0"/>
      <p:bldP spid="290" grpId="0"/>
      <p:bldP spid="291" grpId="0"/>
      <p:bldP spid="292" grpId="0"/>
      <p:bldP spid="29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AB4B5-BA1B-4EBA-BBDC-B0D5C47B0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50" y="190500"/>
            <a:ext cx="7039818" cy="527050"/>
          </a:xfrm>
        </p:spPr>
        <p:txBody>
          <a:bodyPr/>
          <a:lstStyle/>
          <a:p>
            <a:r>
              <a:rPr lang="zh-CN" altLang="en-US" dirty="0"/>
              <a:t>中序遍历（</a:t>
            </a:r>
            <a:r>
              <a:rPr lang="en-US" altLang="zh-CN" dirty="0"/>
              <a:t>In-order Traversal</a:t>
            </a:r>
            <a:r>
              <a:rPr lang="zh-CN" altLang="en-US" dirty="0"/>
              <a:t>）的递归算法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855006D-1596-4FB8-9748-0722E2DD27AE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734064"/>
            <a:ext cx="5410846" cy="6123936"/>
          </a:xfrm>
          <a:prstGeom prst="rect">
            <a:avLst/>
          </a:prstGeom>
        </p:spPr>
        <p:txBody>
          <a:bodyPr/>
          <a:lstStyle>
            <a:lvl1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ea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void </a:t>
            </a:r>
            <a:r>
              <a:rPr kumimoji="1" lang="en-US" altLang="zh-CN" b="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InOrder</a:t>
            </a: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kumimoji="1" lang="en-US" altLang="zh-CN" b="0" kern="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BiTNode</a:t>
            </a: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*T) {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if (T != NULL) {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b="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InOrder</a:t>
            </a: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 (T</a:t>
            </a:r>
            <a:r>
              <a:rPr kumimoji="1" lang="en-US" altLang="zh-CN" b="0" kern="0" dirty="0">
                <a:solidFill>
                  <a:srgbClr val="FF0000"/>
                </a:solidFill>
                <a:latin typeface="Courier New" panose="02070309020205020404" pitchFamily="49" charset="0"/>
              </a:rPr>
              <a:t>-&gt;</a:t>
            </a:r>
            <a:r>
              <a:rPr kumimoji="1" lang="en-US" altLang="zh-CN" b="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lchild</a:t>
            </a: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);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visit (T</a:t>
            </a:r>
            <a:r>
              <a:rPr kumimoji="1" lang="en-US" altLang="zh-CN" kern="0" dirty="0">
                <a:solidFill>
                  <a:srgbClr val="0000FF"/>
                </a:solidFill>
                <a:latin typeface="Courier New" panose="02070309020205020404" pitchFamily="49" charset="0"/>
              </a:rPr>
              <a:t>-&gt;</a:t>
            </a:r>
            <a:r>
              <a:rPr kumimoji="1"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data);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b="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InOrder</a:t>
            </a: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 (T</a:t>
            </a:r>
            <a:r>
              <a:rPr kumimoji="1" lang="en-US" altLang="zh-CN" b="0" kern="0" dirty="0">
                <a:solidFill>
                  <a:srgbClr val="FF0000"/>
                </a:solidFill>
                <a:latin typeface="Courier New" panose="02070309020205020404" pitchFamily="49" charset="0"/>
              </a:rPr>
              <a:t>-&gt;</a:t>
            </a:r>
            <a:r>
              <a:rPr kumimoji="1" lang="en-US" altLang="zh-CN" b="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rchild</a:t>
            </a: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);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}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visit() </a:t>
            </a:r>
            <a:r>
              <a:rPr kumimoji="1" lang="zh-CN" altLang="en-US" b="0" kern="0" dirty="0">
                <a:latin typeface="Times New Roman" panose="02020603050405020304" pitchFamily="18" charset="0"/>
              </a:rPr>
              <a:t>是输出数据值的操作，实际使用时可用相应的操作来替换。</a:t>
            </a:r>
            <a:endParaRPr lang="zh-CN" altLang="en-US" b="0" kern="0" dirty="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95DC4581-255B-4E77-8EF2-F182688DDE01}"/>
              </a:ext>
            </a:extLst>
          </p:cNvPr>
          <p:cNvSpPr txBox="1"/>
          <p:nvPr/>
        </p:nvSpPr>
        <p:spPr>
          <a:xfrm>
            <a:off x="5708102" y="5301208"/>
            <a:ext cx="3302507" cy="1308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dirty="0">
                <a:solidFill>
                  <a:srgbClr val="C00000"/>
                </a:solidFill>
                <a:latin typeface="+mn-ea"/>
                <a:ea typeface="+mn-ea"/>
              </a:rPr>
              <a:t>遍历结果：</a:t>
            </a:r>
          </a:p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rgbClr val="00B050"/>
                </a:solidFill>
                <a:latin typeface="+mn-ea"/>
                <a:ea typeface="+mn-ea"/>
              </a:rPr>
              <a:t>a + b * c - d - e / f</a:t>
            </a:r>
          </a:p>
        </p:txBody>
      </p:sp>
      <p:sp>
        <p:nvSpPr>
          <p:cNvPr id="138" name="Line 5">
            <a:extLst>
              <a:ext uri="{FF2B5EF4-FFF2-40B4-BE49-F238E27FC236}">
                <a16:creationId xmlns:a16="http://schemas.microsoft.com/office/drawing/2014/main" id="{67B1D72C-1FE4-479E-A361-350E1A00966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950" y="4210025"/>
            <a:ext cx="381000" cy="6858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" name="Line 6">
            <a:extLst>
              <a:ext uri="{FF2B5EF4-FFF2-40B4-BE49-F238E27FC236}">
                <a16:creationId xmlns:a16="http://schemas.microsoft.com/office/drawing/2014/main" id="{66BBF4AF-C53E-40EF-910B-52DB2A1C3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5113" y="2409800"/>
            <a:ext cx="344487" cy="665162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" name="Line 7">
            <a:extLst>
              <a:ext uri="{FF2B5EF4-FFF2-40B4-BE49-F238E27FC236}">
                <a16:creationId xmlns:a16="http://schemas.microsoft.com/office/drawing/2014/main" id="{2BA52F3E-7B4C-45A4-9AAF-07DF9E9703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389162"/>
            <a:ext cx="381000" cy="6858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1" name="Line 8">
            <a:extLst>
              <a:ext uri="{FF2B5EF4-FFF2-40B4-BE49-F238E27FC236}">
                <a16:creationId xmlns:a16="http://schemas.microsoft.com/office/drawing/2014/main" id="{86035367-726B-432D-98DF-D33B6B0CB2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3303562"/>
            <a:ext cx="381000" cy="6858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2" name="Line 9">
            <a:extLst>
              <a:ext uri="{FF2B5EF4-FFF2-40B4-BE49-F238E27FC236}">
                <a16:creationId xmlns:a16="http://schemas.microsoft.com/office/drawing/2014/main" id="{AFFEA7EA-06AC-44DC-8DCC-B872F3E3F6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91400" y="2374875"/>
            <a:ext cx="349250" cy="623887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" name="Line 10">
            <a:extLst>
              <a:ext uri="{FF2B5EF4-FFF2-40B4-BE49-F238E27FC236}">
                <a16:creationId xmlns:a16="http://schemas.microsoft.com/office/drawing/2014/main" id="{E2618532-4F27-4B48-B9D3-8852EC3A7C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29400" y="4217962"/>
            <a:ext cx="304800" cy="6096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" name="Line 11">
            <a:extLst>
              <a:ext uri="{FF2B5EF4-FFF2-40B4-BE49-F238E27FC236}">
                <a16:creationId xmlns:a16="http://schemas.microsoft.com/office/drawing/2014/main" id="{477D07CE-DF51-470E-8480-FCC19D5794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8400" y="3303562"/>
            <a:ext cx="304800" cy="6096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" name="Line 12">
            <a:extLst>
              <a:ext uri="{FF2B5EF4-FFF2-40B4-BE49-F238E27FC236}">
                <a16:creationId xmlns:a16="http://schemas.microsoft.com/office/drawing/2014/main" id="{EAD9B1CB-81A4-4FDA-A576-BDACEFFA66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0" y="2465362"/>
            <a:ext cx="304800" cy="6096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" name="Line 13">
            <a:extLst>
              <a:ext uri="{FF2B5EF4-FFF2-40B4-BE49-F238E27FC236}">
                <a16:creationId xmlns:a16="http://schemas.microsoft.com/office/drawing/2014/main" id="{5DCD99B3-EF9F-4F99-8E6D-928B0127BC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1550962"/>
            <a:ext cx="685800" cy="6096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" name="Line 14">
            <a:extLst>
              <a:ext uri="{FF2B5EF4-FFF2-40B4-BE49-F238E27FC236}">
                <a16:creationId xmlns:a16="http://schemas.microsoft.com/office/drawing/2014/main" id="{28162AB4-AEF9-4960-AA70-E3B8A74E62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8400" y="1550962"/>
            <a:ext cx="609600" cy="6096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" name="Oval 15">
            <a:extLst>
              <a:ext uri="{FF2B5EF4-FFF2-40B4-BE49-F238E27FC236}">
                <a16:creationId xmlns:a16="http://schemas.microsoft.com/office/drawing/2014/main" id="{58368650-C4E6-4601-854C-FD98D5319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1169962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" name="Oval 16">
            <a:extLst>
              <a:ext uri="{FF2B5EF4-FFF2-40B4-BE49-F238E27FC236}">
                <a16:creationId xmlns:a16="http://schemas.microsoft.com/office/drawing/2014/main" id="{F50AD512-FCA3-417A-8B12-D797A82CD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922562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" name="Oval 17">
            <a:extLst>
              <a:ext uri="{FF2B5EF4-FFF2-40B4-BE49-F238E27FC236}">
                <a16:creationId xmlns:a16="http://schemas.microsoft.com/office/drawing/2014/main" id="{B857AF9F-A4E6-4491-AC4A-1CA27C2A7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922562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1" name="Oval 18">
            <a:extLst>
              <a:ext uri="{FF2B5EF4-FFF2-40B4-BE49-F238E27FC236}">
                <a16:creationId xmlns:a16="http://schemas.microsoft.com/office/drawing/2014/main" id="{3B137AC1-48EA-4E66-9D13-D7BECD79D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922562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2" name="Oval 19">
            <a:extLst>
              <a:ext uri="{FF2B5EF4-FFF2-40B4-BE49-F238E27FC236}">
                <a16:creationId xmlns:a16="http://schemas.microsoft.com/office/drawing/2014/main" id="{7934BB96-3865-4838-94FD-B80F7B927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3063" y="2914625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" name="Oval 20">
            <a:extLst>
              <a:ext uri="{FF2B5EF4-FFF2-40B4-BE49-F238E27FC236}">
                <a16:creationId xmlns:a16="http://schemas.microsoft.com/office/drawing/2014/main" id="{B583EF0D-BE19-49C3-96BB-AA3057164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008162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4" name="Oval 21">
            <a:extLst>
              <a:ext uri="{FF2B5EF4-FFF2-40B4-BE49-F238E27FC236}">
                <a16:creationId xmlns:a16="http://schemas.microsoft.com/office/drawing/2014/main" id="{C1C210D5-3979-492E-895D-8DFB45F75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2008162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5" name="Oval 22">
            <a:extLst>
              <a:ext uri="{FF2B5EF4-FFF2-40B4-BE49-F238E27FC236}">
                <a16:creationId xmlns:a16="http://schemas.microsoft.com/office/drawing/2014/main" id="{E2EFAC02-A307-43BF-A1DF-8EF0F1261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836962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6" name="Oval 23">
            <a:extLst>
              <a:ext uri="{FF2B5EF4-FFF2-40B4-BE49-F238E27FC236}">
                <a16:creationId xmlns:a16="http://schemas.microsoft.com/office/drawing/2014/main" id="{3EC6CFED-0BF0-45A7-9923-6B14C4AAB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836962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7" name="Oval 24">
            <a:extLst>
              <a:ext uri="{FF2B5EF4-FFF2-40B4-BE49-F238E27FC236}">
                <a16:creationId xmlns:a16="http://schemas.microsoft.com/office/drawing/2014/main" id="{24CF60AC-0866-4907-AB8C-905AA09A1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675162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8" name="Oval 25">
            <a:extLst>
              <a:ext uri="{FF2B5EF4-FFF2-40B4-BE49-F238E27FC236}">
                <a16:creationId xmlns:a16="http://schemas.microsoft.com/office/drawing/2014/main" id="{B0564A83-A561-4058-A9EB-B95071536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675162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9" name="Text Box 26">
            <a:extLst>
              <a:ext uri="{FF2B5EF4-FFF2-40B4-BE49-F238E27FC236}">
                <a16:creationId xmlns:a16="http://schemas.microsoft.com/office/drawing/2014/main" id="{24E5D858-83B1-441E-A343-4E05D9EBD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6088" y="1141387"/>
            <a:ext cx="3889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3200">
                <a:solidFill>
                  <a:srgbClr val="000066"/>
                </a:solidFill>
                <a:latin typeface="仿宋_GB2312" pitchFamily="49" charset="-122"/>
              </a:rPr>
              <a:t>-</a:t>
            </a:r>
            <a:endParaRPr kumimoji="1" lang="en-US" altLang="zh-CN" sz="3200">
              <a:solidFill>
                <a:srgbClr val="000066"/>
              </a:solidFill>
              <a:ea typeface="宋体" panose="02010600030101010101" pitchFamily="2" charset="-122"/>
            </a:endParaRPr>
          </a:p>
        </p:txBody>
      </p:sp>
      <p:sp>
        <p:nvSpPr>
          <p:cNvPr id="160" name="Text Box 27">
            <a:extLst>
              <a:ext uri="{FF2B5EF4-FFF2-40B4-BE49-F238E27FC236}">
                <a16:creationId xmlns:a16="http://schemas.microsoft.com/office/drawing/2014/main" id="{1A5629BA-FC8E-4D88-B4C9-6D98B3D74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805212"/>
            <a:ext cx="3889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</a:rPr>
              <a:t>-</a:t>
            </a:r>
            <a:endParaRPr kumimoji="1" lang="en-US" altLang="zh-CN" sz="3200">
              <a:solidFill>
                <a:srgbClr val="000066"/>
              </a:solidFill>
              <a:ea typeface="宋体" panose="02010600030101010101" pitchFamily="2" charset="-122"/>
            </a:endParaRPr>
          </a:p>
        </p:txBody>
      </p:sp>
      <p:sp>
        <p:nvSpPr>
          <p:cNvPr id="161" name="Text Box 28">
            <a:extLst>
              <a:ext uri="{FF2B5EF4-FFF2-40B4-BE49-F238E27FC236}">
                <a16:creationId xmlns:a16="http://schemas.microsoft.com/office/drawing/2014/main" id="{C34E6D09-854F-45D2-ADD2-075E29D42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4763" y="1970062"/>
            <a:ext cx="3889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3200">
                <a:solidFill>
                  <a:srgbClr val="000066"/>
                </a:solidFill>
                <a:latin typeface="仿宋_GB2312" pitchFamily="49" charset="-122"/>
              </a:rPr>
              <a:t>/</a:t>
            </a:r>
            <a:endParaRPr kumimoji="1" lang="en-US" altLang="zh-CN" sz="3200">
              <a:solidFill>
                <a:srgbClr val="000066"/>
              </a:solidFill>
              <a:ea typeface="宋体" panose="02010600030101010101" pitchFamily="2" charset="-122"/>
            </a:endParaRPr>
          </a:p>
        </p:txBody>
      </p:sp>
      <p:sp>
        <p:nvSpPr>
          <p:cNvPr id="162" name="Text Box 29">
            <a:extLst>
              <a:ext uri="{FF2B5EF4-FFF2-40B4-BE49-F238E27FC236}">
                <a16:creationId xmlns:a16="http://schemas.microsoft.com/office/drawing/2014/main" id="{73DB3DA5-5EBA-49F0-B759-DF3226FD9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663" y="1968475"/>
            <a:ext cx="3889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3200">
                <a:solidFill>
                  <a:srgbClr val="000066"/>
                </a:solidFill>
                <a:latin typeface="仿宋_GB2312" pitchFamily="49" charset="-122"/>
              </a:rPr>
              <a:t>+</a:t>
            </a: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34F3E189-49D0-49DB-87CD-B4EF7BD13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863" y="2870175"/>
            <a:ext cx="3889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zh-CN" altLang="en-US" sz="3200">
                <a:solidFill>
                  <a:srgbClr val="000066"/>
                </a:solidFill>
                <a:latin typeface="仿宋_GB2312" pitchFamily="49" charset="-122"/>
              </a:rPr>
              <a:t>*</a:t>
            </a:r>
          </a:p>
        </p:txBody>
      </p:sp>
      <p:sp>
        <p:nvSpPr>
          <p:cNvPr id="164" name="Text Box 31">
            <a:extLst>
              <a:ext uri="{FF2B5EF4-FFF2-40B4-BE49-F238E27FC236}">
                <a16:creationId xmlns:a16="http://schemas.microsoft.com/office/drawing/2014/main" id="{BD882403-6CD8-4CE0-A0D0-4BF8B9F01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75" y="2851125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</a:rPr>
              <a:t>a</a:t>
            </a:r>
            <a:endParaRPr kumimoji="1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仿宋_GB2312" pitchFamily="49" charset="-122"/>
            </a:endParaRPr>
          </a:p>
        </p:txBody>
      </p:sp>
      <p:sp>
        <p:nvSpPr>
          <p:cNvPr id="165" name="Text Box 32">
            <a:extLst>
              <a:ext uri="{FF2B5EF4-FFF2-40B4-BE49-F238E27FC236}">
                <a16:creationId xmlns:a16="http://schemas.microsoft.com/office/drawing/2014/main" id="{A097307F-F146-4D39-8C09-D828E7841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8363" y="3784575"/>
            <a:ext cx="4095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</a:rPr>
              <a:t>b</a:t>
            </a:r>
            <a:endParaRPr kumimoji="1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仿宋_GB2312" pitchFamily="49" charset="-122"/>
            </a:endParaRPr>
          </a:p>
        </p:txBody>
      </p:sp>
      <p:sp>
        <p:nvSpPr>
          <p:cNvPr id="166" name="Text Box 33">
            <a:extLst>
              <a:ext uri="{FF2B5EF4-FFF2-40B4-BE49-F238E27FC236}">
                <a16:creationId xmlns:a16="http://schemas.microsoft.com/office/drawing/2014/main" id="{1A61DB5A-FAAC-4338-8124-CCCE6FF70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388" y="4632300"/>
            <a:ext cx="365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</a:rPr>
              <a:t>c</a:t>
            </a:r>
            <a:endParaRPr kumimoji="1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仿宋_GB2312" pitchFamily="49" charset="-122"/>
            </a:endParaRPr>
          </a:p>
        </p:txBody>
      </p:sp>
      <p:sp>
        <p:nvSpPr>
          <p:cNvPr id="167" name="Text Box 34">
            <a:extLst>
              <a:ext uri="{FF2B5EF4-FFF2-40B4-BE49-F238E27FC236}">
                <a16:creationId xmlns:a16="http://schemas.microsoft.com/office/drawing/2014/main" id="{FDFBE858-E32A-402B-970A-599B74622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563" y="4649762"/>
            <a:ext cx="409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</a:rPr>
              <a:t>d</a:t>
            </a:r>
            <a:endParaRPr kumimoji="1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仿宋_GB2312" pitchFamily="49" charset="-122"/>
            </a:endParaRPr>
          </a:p>
        </p:txBody>
      </p:sp>
      <p:sp>
        <p:nvSpPr>
          <p:cNvPr id="168" name="Text Box 35">
            <a:extLst>
              <a:ext uri="{FF2B5EF4-FFF2-40B4-BE49-F238E27FC236}">
                <a16:creationId xmlns:a16="http://schemas.microsoft.com/office/drawing/2014/main" id="{D55F73A4-AF35-466C-8710-F9B1B7B0C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2865412"/>
            <a:ext cx="365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</a:rPr>
              <a:t>e</a:t>
            </a:r>
            <a:endParaRPr kumimoji="1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仿宋_GB2312" pitchFamily="49" charset="-122"/>
            </a:endParaRPr>
          </a:p>
        </p:txBody>
      </p:sp>
      <p:sp>
        <p:nvSpPr>
          <p:cNvPr id="169" name="Text Box 36">
            <a:extLst>
              <a:ext uri="{FF2B5EF4-FFF2-40B4-BE49-F238E27FC236}">
                <a16:creationId xmlns:a16="http://schemas.microsoft.com/office/drawing/2014/main" id="{43510FA6-D865-4DFB-8B07-A38856FBD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1963" y="2897162"/>
            <a:ext cx="3190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</a:rPr>
              <a:t>f</a:t>
            </a:r>
            <a:endParaRPr kumimoji="1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仿宋_GB2312" pitchFamily="49" charset="-122"/>
            </a:endParaRPr>
          </a:p>
        </p:txBody>
      </p:sp>
      <p:sp>
        <p:nvSpPr>
          <p:cNvPr id="170" name="Line 38">
            <a:extLst>
              <a:ext uri="{FF2B5EF4-FFF2-40B4-BE49-F238E27FC236}">
                <a16:creationId xmlns:a16="http://schemas.microsoft.com/office/drawing/2014/main" id="{5CBD69E7-1685-4C21-ABE8-8B3D6B29B2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92838" y="1509687"/>
            <a:ext cx="395287" cy="396875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1" name="Line 39">
            <a:extLst>
              <a:ext uri="{FF2B5EF4-FFF2-40B4-BE49-F238E27FC236}">
                <a16:creationId xmlns:a16="http://schemas.microsoft.com/office/drawing/2014/main" id="{458B17F6-DC17-4F0F-8E5C-69545F79CE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51500" y="2446312"/>
            <a:ext cx="179388" cy="395288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2" name="Freeform 41">
            <a:extLst>
              <a:ext uri="{FF2B5EF4-FFF2-40B4-BE49-F238E27FC236}">
                <a16:creationId xmlns:a16="http://schemas.microsoft.com/office/drawing/2014/main" id="{FDD4E8F9-95CA-4325-BB13-3328C0E52501}"/>
              </a:ext>
            </a:extLst>
          </p:cNvPr>
          <p:cNvSpPr>
            <a:spLocks/>
          </p:cNvSpPr>
          <p:nvPr/>
        </p:nvSpPr>
        <p:spPr bwMode="auto">
          <a:xfrm>
            <a:off x="6084888" y="2625700"/>
            <a:ext cx="215900" cy="1116012"/>
          </a:xfrm>
          <a:custGeom>
            <a:avLst/>
            <a:gdLst>
              <a:gd name="T0" fmla="*/ 45 w 144"/>
              <a:gd name="T1" fmla="*/ 0 h 657"/>
              <a:gd name="T2" fmla="*/ 136 w 144"/>
              <a:gd name="T3" fmla="*/ 226 h 657"/>
              <a:gd name="T4" fmla="*/ 91 w 144"/>
              <a:gd name="T5" fmla="*/ 499 h 657"/>
              <a:gd name="T6" fmla="*/ 0 w 144"/>
              <a:gd name="T7" fmla="*/ 657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4" h="657">
                <a:moveTo>
                  <a:pt x="45" y="0"/>
                </a:moveTo>
                <a:cubicBezTo>
                  <a:pt x="86" y="71"/>
                  <a:pt x="128" y="143"/>
                  <a:pt x="136" y="226"/>
                </a:cubicBezTo>
                <a:cubicBezTo>
                  <a:pt x="144" y="309"/>
                  <a:pt x="114" y="427"/>
                  <a:pt x="91" y="499"/>
                </a:cubicBezTo>
                <a:cubicBezTo>
                  <a:pt x="68" y="571"/>
                  <a:pt x="15" y="631"/>
                  <a:pt x="0" y="657"/>
                </a:cubicBezTo>
              </a:path>
            </a:pathLst>
          </a:custGeom>
          <a:noFill/>
          <a:ln w="19050" cap="flat">
            <a:solidFill>
              <a:srgbClr val="CC0000"/>
            </a:solidFill>
            <a:prstDash val="dash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3" name="Line 42">
            <a:extLst>
              <a:ext uri="{FF2B5EF4-FFF2-40B4-BE49-F238E27FC236}">
                <a16:creationId xmlns:a16="http://schemas.microsoft.com/office/drawing/2014/main" id="{A6D589B6-E27E-4FAC-A455-9C01362F3B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03913" y="2590775"/>
            <a:ext cx="180975" cy="323850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" name="Freeform 43">
            <a:extLst>
              <a:ext uri="{FF2B5EF4-FFF2-40B4-BE49-F238E27FC236}">
                <a16:creationId xmlns:a16="http://schemas.microsoft.com/office/drawing/2014/main" id="{3E45FEB8-312F-4A6B-B597-BE01AF6BCA11}"/>
              </a:ext>
            </a:extLst>
          </p:cNvPr>
          <p:cNvSpPr>
            <a:spLocks/>
          </p:cNvSpPr>
          <p:nvPr/>
        </p:nvSpPr>
        <p:spPr bwMode="auto">
          <a:xfrm>
            <a:off x="6516688" y="3562325"/>
            <a:ext cx="250825" cy="1008062"/>
          </a:xfrm>
          <a:custGeom>
            <a:avLst/>
            <a:gdLst>
              <a:gd name="T0" fmla="*/ 45 w 144"/>
              <a:gd name="T1" fmla="*/ 0 h 657"/>
              <a:gd name="T2" fmla="*/ 136 w 144"/>
              <a:gd name="T3" fmla="*/ 226 h 657"/>
              <a:gd name="T4" fmla="*/ 91 w 144"/>
              <a:gd name="T5" fmla="*/ 499 h 657"/>
              <a:gd name="T6" fmla="*/ 0 w 144"/>
              <a:gd name="T7" fmla="*/ 657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4" h="657">
                <a:moveTo>
                  <a:pt x="45" y="0"/>
                </a:moveTo>
                <a:cubicBezTo>
                  <a:pt x="86" y="71"/>
                  <a:pt x="128" y="143"/>
                  <a:pt x="136" y="226"/>
                </a:cubicBezTo>
                <a:cubicBezTo>
                  <a:pt x="144" y="309"/>
                  <a:pt x="114" y="427"/>
                  <a:pt x="91" y="499"/>
                </a:cubicBezTo>
                <a:cubicBezTo>
                  <a:pt x="68" y="571"/>
                  <a:pt x="15" y="631"/>
                  <a:pt x="0" y="657"/>
                </a:cubicBezTo>
              </a:path>
            </a:pathLst>
          </a:custGeom>
          <a:noFill/>
          <a:ln w="19050" cap="flat">
            <a:solidFill>
              <a:srgbClr val="CC0000"/>
            </a:solidFill>
            <a:prstDash val="dash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5" name="Line 44">
            <a:extLst>
              <a:ext uri="{FF2B5EF4-FFF2-40B4-BE49-F238E27FC236}">
                <a16:creationId xmlns:a16="http://schemas.microsoft.com/office/drawing/2014/main" id="{621EB368-4ED8-4819-B0A2-A1656FAE1D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8738" y="3598837"/>
            <a:ext cx="144462" cy="287338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6" name="Line 46">
            <a:extLst>
              <a:ext uri="{FF2B5EF4-FFF2-40B4-BE49-F238E27FC236}">
                <a16:creationId xmlns:a16="http://schemas.microsoft.com/office/drawing/2014/main" id="{E29ACD7A-FAF9-402C-9A0F-C53952C859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40538" y="4425925"/>
            <a:ext cx="144462" cy="287337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7" name="Line 47">
            <a:extLst>
              <a:ext uri="{FF2B5EF4-FFF2-40B4-BE49-F238E27FC236}">
                <a16:creationId xmlns:a16="http://schemas.microsoft.com/office/drawing/2014/main" id="{A140A939-317A-4508-A26E-2A4A2B0D3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950" y="4462437"/>
            <a:ext cx="142875" cy="287338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8" name="Freeform 49">
            <a:extLst>
              <a:ext uri="{FF2B5EF4-FFF2-40B4-BE49-F238E27FC236}">
                <a16:creationId xmlns:a16="http://schemas.microsoft.com/office/drawing/2014/main" id="{1562E8B5-BBB0-4A4D-A570-0D060272227D}"/>
              </a:ext>
            </a:extLst>
          </p:cNvPr>
          <p:cNvSpPr>
            <a:spLocks/>
          </p:cNvSpPr>
          <p:nvPr/>
        </p:nvSpPr>
        <p:spPr bwMode="auto">
          <a:xfrm>
            <a:off x="6480175" y="1833537"/>
            <a:ext cx="1169988" cy="2735263"/>
          </a:xfrm>
          <a:custGeom>
            <a:avLst/>
            <a:gdLst>
              <a:gd name="T0" fmla="*/ 239 w 737"/>
              <a:gd name="T1" fmla="*/ 0 h 1723"/>
              <a:gd name="T2" fmla="*/ 34 w 737"/>
              <a:gd name="T3" fmla="*/ 204 h 1723"/>
              <a:gd name="T4" fmla="*/ 34 w 737"/>
              <a:gd name="T5" fmla="*/ 363 h 1723"/>
              <a:gd name="T6" fmla="*/ 57 w 737"/>
              <a:gd name="T7" fmla="*/ 408 h 1723"/>
              <a:gd name="T8" fmla="*/ 307 w 737"/>
              <a:gd name="T9" fmla="*/ 907 h 1723"/>
              <a:gd name="T10" fmla="*/ 737 w 737"/>
              <a:gd name="T11" fmla="*/ 1723 h 17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37" h="1723">
                <a:moveTo>
                  <a:pt x="239" y="0"/>
                </a:moveTo>
                <a:cubicBezTo>
                  <a:pt x="153" y="72"/>
                  <a:pt x="68" y="144"/>
                  <a:pt x="34" y="204"/>
                </a:cubicBezTo>
                <a:cubicBezTo>
                  <a:pt x="0" y="264"/>
                  <a:pt x="30" y="329"/>
                  <a:pt x="34" y="363"/>
                </a:cubicBezTo>
                <a:cubicBezTo>
                  <a:pt x="38" y="397"/>
                  <a:pt x="11" y="317"/>
                  <a:pt x="57" y="408"/>
                </a:cubicBezTo>
                <a:cubicBezTo>
                  <a:pt x="103" y="499"/>
                  <a:pt x="194" y="688"/>
                  <a:pt x="307" y="907"/>
                </a:cubicBezTo>
                <a:cubicBezTo>
                  <a:pt x="420" y="1126"/>
                  <a:pt x="665" y="1587"/>
                  <a:pt x="737" y="1723"/>
                </a:cubicBezTo>
              </a:path>
            </a:pathLst>
          </a:custGeom>
          <a:noFill/>
          <a:ln w="19050" cap="flat">
            <a:solidFill>
              <a:srgbClr val="CC0000"/>
            </a:solidFill>
            <a:prstDash val="dash"/>
            <a:round/>
            <a:headEnd type="triangle" w="med" len="lg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9" name="Line 50">
            <a:extLst>
              <a:ext uri="{FF2B5EF4-FFF2-40B4-BE49-F238E27FC236}">
                <a16:creationId xmlns:a16="http://schemas.microsoft.com/office/drawing/2014/main" id="{9E106794-F7F6-4341-B620-54ACB82CC7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32700" y="2625700"/>
            <a:ext cx="144463" cy="287337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0" name="Line 51">
            <a:extLst>
              <a:ext uri="{FF2B5EF4-FFF2-40B4-BE49-F238E27FC236}">
                <a16:creationId xmlns:a16="http://schemas.microsoft.com/office/drawing/2014/main" id="{6F3B74CA-A48D-4DC7-84F8-CDD8FCC0D4C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5113" y="2662212"/>
            <a:ext cx="142875" cy="287338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1" name="Freeform 52">
            <a:extLst>
              <a:ext uri="{FF2B5EF4-FFF2-40B4-BE49-F238E27FC236}">
                <a16:creationId xmlns:a16="http://schemas.microsoft.com/office/drawing/2014/main" id="{323A539E-8BC5-43BC-A3AD-65415F2D7D4D}"/>
              </a:ext>
            </a:extLst>
          </p:cNvPr>
          <p:cNvSpPr>
            <a:spLocks/>
          </p:cNvSpPr>
          <p:nvPr/>
        </p:nvSpPr>
        <p:spPr bwMode="auto">
          <a:xfrm>
            <a:off x="7056438" y="1833537"/>
            <a:ext cx="431800" cy="973138"/>
          </a:xfrm>
          <a:custGeom>
            <a:avLst/>
            <a:gdLst>
              <a:gd name="T0" fmla="*/ 0 w 298"/>
              <a:gd name="T1" fmla="*/ 0 h 613"/>
              <a:gd name="T2" fmla="*/ 249 w 298"/>
              <a:gd name="T3" fmla="*/ 227 h 613"/>
              <a:gd name="T4" fmla="*/ 295 w 298"/>
              <a:gd name="T5" fmla="*/ 386 h 613"/>
              <a:gd name="T6" fmla="*/ 249 w 298"/>
              <a:gd name="T7" fmla="*/ 522 h 613"/>
              <a:gd name="T8" fmla="*/ 181 w 298"/>
              <a:gd name="T9" fmla="*/ 613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8" h="613">
                <a:moveTo>
                  <a:pt x="0" y="0"/>
                </a:moveTo>
                <a:cubicBezTo>
                  <a:pt x="100" y="81"/>
                  <a:pt x="200" y="163"/>
                  <a:pt x="249" y="227"/>
                </a:cubicBezTo>
                <a:cubicBezTo>
                  <a:pt x="298" y="291"/>
                  <a:pt x="295" y="337"/>
                  <a:pt x="295" y="386"/>
                </a:cubicBezTo>
                <a:cubicBezTo>
                  <a:pt x="295" y="435"/>
                  <a:pt x="268" y="484"/>
                  <a:pt x="249" y="522"/>
                </a:cubicBezTo>
                <a:cubicBezTo>
                  <a:pt x="230" y="560"/>
                  <a:pt x="192" y="598"/>
                  <a:pt x="181" y="613"/>
                </a:cubicBezTo>
              </a:path>
            </a:pathLst>
          </a:custGeom>
          <a:noFill/>
          <a:ln w="19050" cap="flat">
            <a:solidFill>
              <a:srgbClr val="CC0000"/>
            </a:solidFill>
            <a:prstDash val="dash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9964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159" grpId="0"/>
      <p:bldP spid="160" grpId="0"/>
      <p:bldP spid="161" grpId="0"/>
      <p:bldP spid="162" grpId="0"/>
      <p:bldP spid="163" grpId="0"/>
      <p:bldP spid="164" grpId="0"/>
      <p:bldP spid="165" grpId="0"/>
      <p:bldP spid="166" grpId="0"/>
      <p:bldP spid="167" grpId="0"/>
      <p:bldP spid="168" grpId="0"/>
      <p:bldP spid="16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AB4B5-BA1B-4EBA-BBDC-B0D5C47B0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50" y="190500"/>
            <a:ext cx="7039818" cy="527050"/>
          </a:xfrm>
        </p:spPr>
        <p:txBody>
          <a:bodyPr/>
          <a:lstStyle/>
          <a:p>
            <a:r>
              <a:rPr lang="zh-CN" altLang="en-US" dirty="0"/>
              <a:t>后序遍历（</a:t>
            </a:r>
            <a:r>
              <a:rPr lang="en-US" altLang="zh-CN" dirty="0"/>
              <a:t>Post-order Traversal</a:t>
            </a:r>
            <a:r>
              <a:rPr lang="zh-CN" altLang="en-US" dirty="0"/>
              <a:t>）的递归算法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855006D-1596-4FB8-9748-0722E2DD27AE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734064"/>
            <a:ext cx="5410846" cy="6123936"/>
          </a:xfrm>
          <a:prstGeom prst="rect">
            <a:avLst/>
          </a:prstGeom>
        </p:spPr>
        <p:txBody>
          <a:bodyPr/>
          <a:lstStyle>
            <a:lvl1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ea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void </a:t>
            </a:r>
            <a:r>
              <a:rPr kumimoji="1" lang="en-US" altLang="zh-CN" b="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PostOrder</a:t>
            </a: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b="0" kern="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BiTNode</a:t>
            </a: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*T) {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if (T != NULL) {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b="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PostOrder</a:t>
            </a: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 (T</a:t>
            </a:r>
            <a:r>
              <a:rPr kumimoji="1" lang="en-US" altLang="zh-CN" b="0" kern="0" dirty="0">
                <a:solidFill>
                  <a:srgbClr val="FF0000"/>
                </a:solidFill>
                <a:latin typeface="Courier New" panose="02070309020205020404" pitchFamily="49" charset="0"/>
              </a:rPr>
              <a:t>-&gt;</a:t>
            </a:r>
            <a:r>
              <a:rPr kumimoji="1" lang="en-US" altLang="zh-CN" b="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lchild</a:t>
            </a: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);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b="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PostOrder</a:t>
            </a: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 (T</a:t>
            </a:r>
            <a:r>
              <a:rPr kumimoji="1" lang="en-US" altLang="zh-CN" b="0" kern="0" dirty="0">
                <a:solidFill>
                  <a:srgbClr val="FF0000"/>
                </a:solidFill>
                <a:latin typeface="Courier New" panose="02070309020205020404" pitchFamily="49" charset="0"/>
              </a:rPr>
              <a:t>-&gt;</a:t>
            </a:r>
            <a:r>
              <a:rPr kumimoji="1" lang="en-US" altLang="zh-CN" b="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rchild</a:t>
            </a: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);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visit (T</a:t>
            </a:r>
            <a:r>
              <a:rPr kumimoji="1" lang="en-US" altLang="zh-CN" kern="0" dirty="0">
                <a:solidFill>
                  <a:srgbClr val="0000FF"/>
                </a:solidFill>
                <a:latin typeface="Courier New" panose="02070309020205020404" pitchFamily="49" charset="0"/>
              </a:rPr>
              <a:t>-&gt;</a:t>
            </a:r>
            <a:r>
              <a:rPr kumimoji="1"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data);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}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visit() </a:t>
            </a:r>
            <a:r>
              <a:rPr kumimoji="1" lang="zh-CN" altLang="en-US" b="0" kern="0" dirty="0">
                <a:latin typeface="Times New Roman" panose="02020603050405020304" pitchFamily="18" charset="0"/>
              </a:rPr>
              <a:t>是输出数据值的操作，实际使用时可用相应的操作来替换。</a:t>
            </a:r>
            <a:endParaRPr lang="zh-CN" altLang="en-US" b="0" kern="0" dirty="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95DC4581-255B-4E77-8EF2-F182688DDE01}"/>
              </a:ext>
            </a:extLst>
          </p:cNvPr>
          <p:cNvSpPr txBox="1"/>
          <p:nvPr/>
        </p:nvSpPr>
        <p:spPr>
          <a:xfrm>
            <a:off x="5805997" y="5288468"/>
            <a:ext cx="3302507" cy="1308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dirty="0">
                <a:solidFill>
                  <a:srgbClr val="C00000"/>
                </a:solidFill>
                <a:latin typeface="+mn-ea"/>
                <a:ea typeface="+mn-ea"/>
              </a:rPr>
              <a:t>遍历结果：</a:t>
            </a:r>
          </a:p>
          <a:p>
            <a:pPr>
              <a:lnSpc>
                <a:spcPct val="150000"/>
              </a:lnSpc>
            </a:pPr>
            <a:r>
              <a:rPr lang="pt-BR" altLang="zh-CN" b="0" dirty="0">
                <a:solidFill>
                  <a:srgbClr val="00B050"/>
                </a:solidFill>
                <a:latin typeface="+mn-ea"/>
                <a:ea typeface="+mn-ea"/>
              </a:rPr>
              <a:t>a b c d - * + e f / -</a:t>
            </a:r>
            <a:endParaRPr lang="en-US" altLang="zh-CN" b="0" dirty="0">
              <a:solidFill>
                <a:srgbClr val="00B050"/>
              </a:solidFill>
              <a:latin typeface="+mn-ea"/>
              <a:ea typeface="+mn-ea"/>
            </a:endParaRPr>
          </a:p>
        </p:txBody>
      </p:sp>
      <p:sp>
        <p:nvSpPr>
          <p:cNvPr id="140" name="Line 40">
            <a:extLst>
              <a:ext uri="{FF2B5EF4-FFF2-40B4-BE49-F238E27FC236}">
                <a16:creationId xmlns:a16="http://schemas.microsoft.com/office/drawing/2014/main" id="{088B3A3C-D332-476E-9235-E88B55449853}"/>
              </a:ext>
            </a:extLst>
          </p:cNvPr>
          <p:cNvSpPr>
            <a:spLocks noChangeShapeType="1"/>
          </p:cNvSpPr>
          <p:nvPr/>
        </p:nvSpPr>
        <p:spPr bwMode="auto">
          <a:xfrm>
            <a:off x="7156648" y="4180557"/>
            <a:ext cx="381000" cy="6858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1" name="Line 41">
            <a:extLst>
              <a:ext uri="{FF2B5EF4-FFF2-40B4-BE49-F238E27FC236}">
                <a16:creationId xmlns:a16="http://schemas.microsoft.com/office/drawing/2014/main" id="{0A9837BA-6BC9-4E5A-87BD-28BC7638FB1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4848" y="2351757"/>
            <a:ext cx="304800" cy="6858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2" name="Line 42">
            <a:extLst>
              <a:ext uri="{FF2B5EF4-FFF2-40B4-BE49-F238E27FC236}">
                <a16:creationId xmlns:a16="http://schemas.microsoft.com/office/drawing/2014/main" id="{C5FF8ACA-309A-4C8D-9C04-AB4786039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248" y="2351757"/>
            <a:ext cx="381000" cy="6858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" name="Line 43">
            <a:extLst>
              <a:ext uri="{FF2B5EF4-FFF2-40B4-BE49-F238E27FC236}">
                <a16:creationId xmlns:a16="http://schemas.microsoft.com/office/drawing/2014/main" id="{D3AB15EF-1A5A-4CFD-A428-A73C89782C2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9448" y="3266157"/>
            <a:ext cx="381000" cy="6858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" name="Line 44">
            <a:extLst>
              <a:ext uri="{FF2B5EF4-FFF2-40B4-BE49-F238E27FC236}">
                <a16:creationId xmlns:a16="http://schemas.microsoft.com/office/drawing/2014/main" id="{47436DED-46F8-49F8-B954-291370DC88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61448" y="2351757"/>
            <a:ext cx="304800" cy="6096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" name="Line 45">
            <a:extLst>
              <a:ext uri="{FF2B5EF4-FFF2-40B4-BE49-F238E27FC236}">
                <a16:creationId xmlns:a16="http://schemas.microsoft.com/office/drawing/2014/main" id="{BF0C3A40-5103-4A69-B6B4-C8D0AD42CA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99448" y="4180557"/>
            <a:ext cx="304800" cy="6096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" name="Line 46">
            <a:extLst>
              <a:ext uri="{FF2B5EF4-FFF2-40B4-BE49-F238E27FC236}">
                <a16:creationId xmlns:a16="http://schemas.microsoft.com/office/drawing/2014/main" id="{46ECA5E9-4CF4-477C-8CC3-5E8F2A2C22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8448" y="3266157"/>
            <a:ext cx="304800" cy="6096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" name="Line 47">
            <a:extLst>
              <a:ext uri="{FF2B5EF4-FFF2-40B4-BE49-F238E27FC236}">
                <a16:creationId xmlns:a16="http://schemas.microsoft.com/office/drawing/2014/main" id="{EDF54061-8DD8-491D-82D5-5C17BE98AB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5048" y="2427957"/>
            <a:ext cx="304800" cy="6096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" name="Line 48">
            <a:extLst>
              <a:ext uri="{FF2B5EF4-FFF2-40B4-BE49-F238E27FC236}">
                <a16:creationId xmlns:a16="http://schemas.microsoft.com/office/drawing/2014/main" id="{227E8BD5-8B66-449F-B5DF-B3BDB4B36EA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0448" y="1513557"/>
            <a:ext cx="685800" cy="6096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" name="Line 49">
            <a:extLst>
              <a:ext uri="{FF2B5EF4-FFF2-40B4-BE49-F238E27FC236}">
                <a16:creationId xmlns:a16="http://schemas.microsoft.com/office/drawing/2014/main" id="{967EB80D-46A3-4A55-9C8D-2F7437FD42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8448" y="1513557"/>
            <a:ext cx="609600" cy="609600"/>
          </a:xfrm>
          <a:prstGeom prst="line">
            <a:avLst/>
          </a:prstGeom>
          <a:noFill/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" name="Oval 50">
            <a:extLst>
              <a:ext uri="{FF2B5EF4-FFF2-40B4-BE49-F238E27FC236}">
                <a16:creationId xmlns:a16="http://schemas.microsoft.com/office/drawing/2014/main" id="{39217A97-834F-4F51-B12C-4EA672A14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5648" y="1132557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1" name="Oval 51">
            <a:extLst>
              <a:ext uri="{FF2B5EF4-FFF2-40B4-BE49-F238E27FC236}">
                <a16:creationId xmlns:a16="http://schemas.microsoft.com/office/drawing/2014/main" id="{E8375BFF-42AC-4ED1-B2F6-B0C559BED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248" y="2885157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2" name="Oval 52">
            <a:extLst>
              <a:ext uri="{FF2B5EF4-FFF2-40B4-BE49-F238E27FC236}">
                <a16:creationId xmlns:a16="http://schemas.microsoft.com/office/drawing/2014/main" id="{2F8788CC-CD56-4DD0-9621-2EF037587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4648" y="2885157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" name="Oval 53">
            <a:extLst>
              <a:ext uri="{FF2B5EF4-FFF2-40B4-BE49-F238E27FC236}">
                <a16:creationId xmlns:a16="http://schemas.microsoft.com/office/drawing/2014/main" id="{9A2153D0-27D5-4261-BC23-C1A4CC518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6648" y="2885157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4" name="Oval 54">
            <a:extLst>
              <a:ext uri="{FF2B5EF4-FFF2-40B4-BE49-F238E27FC236}">
                <a16:creationId xmlns:a16="http://schemas.microsoft.com/office/drawing/2014/main" id="{CC3BA95A-4035-48C7-B46E-6E5D9089E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1048" y="2885157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5" name="Oval 55">
            <a:extLst>
              <a:ext uri="{FF2B5EF4-FFF2-40B4-BE49-F238E27FC236}">
                <a16:creationId xmlns:a16="http://schemas.microsoft.com/office/drawing/2014/main" id="{75CAC2FF-F601-4466-A9DC-38DD58BCD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448" y="1970757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6" name="Oval 56">
            <a:extLst>
              <a:ext uri="{FF2B5EF4-FFF2-40B4-BE49-F238E27FC236}">
                <a16:creationId xmlns:a16="http://schemas.microsoft.com/office/drawing/2014/main" id="{5537C339-9F5A-42AE-869A-838BD23A1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848" y="1970757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7" name="Oval 57">
            <a:extLst>
              <a:ext uri="{FF2B5EF4-FFF2-40B4-BE49-F238E27FC236}">
                <a16:creationId xmlns:a16="http://schemas.microsoft.com/office/drawing/2014/main" id="{0D43E656-5F28-4B78-A685-8C48010BF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448" y="3799557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8" name="Oval 58">
            <a:extLst>
              <a:ext uri="{FF2B5EF4-FFF2-40B4-BE49-F238E27FC236}">
                <a16:creationId xmlns:a16="http://schemas.microsoft.com/office/drawing/2014/main" id="{7CF86D6D-122E-4F27-8D6C-E048E901C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1848" y="3799557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9" name="Oval 59">
            <a:extLst>
              <a:ext uri="{FF2B5EF4-FFF2-40B4-BE49-F238E27FC236}">
                <a16:creationId xmlns:a16="http://schemas.microsoft.com/office/drawing/2014/main" id="{0F23A282-D1CE-4E2B-913B-B5B25FED3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4648" y="4637757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0" name="Oval 60">
            <a:extLst>
              <a:ext uri="{FF2B5EF4-FFF2-40B4-BE49-F238E27FC236}">
                <a16:creationId xmlns:a16="http://schemas.microsoft.com/office/drawing/2014/main" id="{FE8FEB38-DFC0-420C-AEED-5CABE355A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9048" y="4637757"/>
            <a:ext cx="533400" cy="533400"/>
          </a:xfrm>
          <a:prstGeom prst="ellipse">
            <a:avLst/>
          </a:prstGeom>
          <a:solidFill>
            <a:srgbClr val="FFFF66"/>
          </a:solidFill>
          <a:ln w="2222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1" name="Text Box 61">
            <a:extLst>
              <a:ext uri="{FF2B5EF4-FFF2-40B4-BE49-F238E27FC236}">
                <a16:creationId xmlns:a16="http://schemas.microsoft.com/office/drawing/2014/main" id="{BEA4577B-2A3A-4CD3-B7B3-983FDB37D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6135" y="1103982"/>
            <a:ext cx="3889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3200">
                <a:solidFill>
                  <a:srgbClr val="000066"/>
                </a:solidFill>
                <a:latin typeface="仿宋_GB2312" pitchFamily="49" charset="-122"/>
              </a:rPr>
              <a:t>-</a:t>
            </a:r>
            <a:endParaRPr kumimoji="1" lang="en-US" altLang="zh-CN" sz="3200">
              <a:solidFill>
                <a:srgbClr val="000066"/>
              </a:solidFill>
              <a:ea typeface="宋体" panose="02010600030101010101" pitchFamily="2" charset="-122"/>
            </a:endParaRPr>
          </a:p>
        </p:txBody>
      </p:sp>
      <p:sp>
        <p:nvSpPr>
          <p:cNvPr id="162" name="Text Box 62">
            <a:extLst>
              <a:ext uri="{FF2B5EF4-FFF2-40B4-BE49-F238E27FC236}">
                <a16:creationId xmlns:a16="http://schemas.microsoft.com/office/drawing/2014/main" id="{97758764-D8F3-418D-9AD0-7DF6543E5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8048" y="3767807"/>
            <a:ext cx="3889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</a:rPr>
              <a:t>-</a:t>
            </a:r>
            <a:endParaRPr kumimoji="1" lang="en-US" altLang="zh-CN" sz="3200">
              <a:solidFill>
                <a:srgbClr val="000066"/>
              </a:solidFill>
              <a:ea typeface="宋体" panose="02010600030101010101" pitchFamily="2" charset="-122"/>
            </a:endParaRPr>
          </a:p>
        </p:txBody>
      </p:sp>
      <p:sp>
        <p:nvSpPr>
          <p:cNvPr id="163" name="Text Box 63">
            <a:extLst>
              <a:ext uri="{FF2B5EF4-FFF2-40B4-BE49-F238E27FC236}">
                <a16:creationId xmlns:a16="http://schemas.microsoft.com/office/drawing/2014/main" id="{FE33B660-E954-460A-97B6-F6C9E4BE8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8298" y="1946945"/>
            <a:ext cx="3889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3200">
                <a:solidFill>
                  <a:srgbClr val="000066"/>
                </a:solidFill>
                <a:latin typeface="仿宋_GB2312" pitchFamily="49" charset="-122"/>
              </a:rPr>
              <a:t>/</a:t>
            </a:r>
            <a:endParaRPr kumimoji="1" lang="en-US" altLang="zh-CN" sz="3200">
              <a:solidFill>
                <a:srgbClr val="000066"/>
              </a:solidFill>
              <a:ea typeface="宋体" panose="02010600030101010101" pitchFamily="2" charset="-122"/>
            </a:endParaRPr>
          </a:p>
        </p:txBody>
      </p:sp>
      <p:sp>
        <p:nvSpPr>
          <p:cNvPr id="164" name="Text Box 64">
            <a:extLst>
              <a:ext uri="{FF2B5EF4-FFF2-40B4-BE49-F238E27FC236}">
                <a16:creationId xmlns:a16="http://schemas.microsoft.com/office/drawing/2014/main" id="{5401C7FE-6A66-434D-AD65-CD54FD10B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5710" y="1931070"/>
            <a:ext cx="3889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3200">
                <a:solidFill>
                  <a:srgbClr val="000066"/>
                </a:solidFill>
                <a:latin typeface="仿宋_GB2312" pitchFamily="49" charset="-122"/>
              </a:rPr>
              <a:t>+</a:t>
            </a:r>
          </a:p>
        </p:txBody>
      </p:sp>
      <p:sp>
        <p:nvSpPr>
          <p:cNvPr id="165" name="Text Box 65">
            <a:extLst>
              <a:ext uri="{FF2B5EF4-FFF2-40B4-BE49-F238E27FC236}">
                <a16:creationId xmlns:a16="http://schemas.microsoft.com/office/drawing/2014/main" id="{C2DCA9F1-CC05-40D7-9786-4792ED922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2910" y="2832770"/>
            <a:ext cx="3889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zh-CN" altLang="en-US" sz="3200">
                <a:solidFill>
                  <a:srgbClr val="000066"/>
                </a:solidFill>
                <a:latin typeface="仿宋_GB2312" pitchFamily="49" charset="-122"/>
              </a:rPr>
              <a:t>*</a:t>
            </a:r>
          </a:p>
        </p:txBody>
      </p:sp>
      <p:sp>
        <p:nvSpPr>
          <p:cNvPr id="166" name="Text Box 66">
            <a:extLst>
              <a:ext uri="{FF2B5EF4-FFF2-40B4-BE49-F238E27FC236}">
                <a16:creationId xmlns:a16="http://schemas.microsoft.com/office/drawing/2014/main" id="{9BFF8B8B-EDA8-42ED-970D-72AE26821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923" y="2813720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</a:rPr>
              <a:t>a</a:t>
            </a:r>
            <a:endParaRPr kumimoji="1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仿宋_GB2312" pitchFamily="49" charset="-122"/>
            </a:endParaRPr>
          </a:p>
        </p:txBody>
      </p:sp>
      <p:sp>
        <p:nvSpPr>
          <p:cNvPr id="167" name="Text Box 67">
            <a:extLst>
              <a:ext uri="{FF2B5EF4-FFF2-40B4-BE49-F238E27FC236}">
                <a16:creationId xmlns:a16="http://schemas.microsoft.com/office/drawing/2014/main" id="{F9DD0FB4-B3EC-4423-80EE-8A429712B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9360" y="3758282"/>
            <a:ext cx="409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</a:rPr>
              <a:t>b</a:t>
            </a:r>
            <a:endParaRPr kumimoji="1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仿宋_GB2312" pitchFamily="49" charset="-122"/>
            </a:endParaRPr>
          </a:p>
        </p:txBody>
      </p:sp>
      <p:sp>
        <p:nvSpPr>
          <p:cNvPr id="168" name="Text Box 68">
            <a:extLst>
              <a:ext uri="{FF2B5EF4-FFF2-40B4-BE49-F238E27FC236}">
                <a16:creationId xmlns:a16="http://schemas.microsoft.com/office/drawing/2014/main" id="{45FECBF4-2C73-4FD1-871D-D925822C1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0848" y="4594895"/>
            <a:ext cx="365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</a:rPr>
              <a:t>c</a:t>
            </a:r>
            <a:endParaRPr kumimoji="1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仿宋_GB2312" pitchFamily="49" charset="-122"/>
            </a:endParaRPr>
          </a:p>
        </p:txBody>
      </p:sp>
      <p:sp>
        <p:nvSpPr>
          <p:cNvPr id="169" name="Text Box 69">
            <a:extLst>
              <a:ext uri="{FF2B5EF4-FFF2-40B4-BE49-F238E27FC236}">
                <a16:creationId xmlns:a16="http://schemas.microsoft.com/office/drawing/2014/main" id="{C5EAB7BF-4E0B-4249-BA7A-25D9D5A8F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4773" y="4586957"/>
            <a:ext cx="409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</a:rPr>
              <a:t>d</a:t>
            </a:r>
            <a:endParaRPr kumimoji="1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仿宋_GB2312" pitchFamily="49" charset="-122"/>
            </a:endParaRPr>
          </a:p>
        </p:txBody>
      </p:sp>
      <p:sp>
        <p:nvSpPr>
          <p:cNvPr id="170" name="Text Box 70">
            <a:extLst>
              <a:ext uri="{FF2B5EF4-FFF2-40B4-BE49-F238E27FC236}">
                <a16:creationId xmlns:a16="http://schemas.microsoft.com/office/drawing/2014/main" id="{2C10020C-300F-4C5D-A5EF-00530EA53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848" y="2828007"/>
            <a:ext cx="365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</a:rPr>
              <a:t>e</a:t>
            </a:r>
            <a:endParaRPr kumimoji="1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仿宋_GB2312" pitchFamily="49" charset="-122"/>
            </a:endParaRPr>
          </a:p>
        </p:txBody>
      </p:sp>
      <p:sp>
        <p:nvSpPr>
          <p:cNvPr id="171" name="Text Box 71">
            <a:extLst>
              <a:ext uri="{FF2B5EF4-FFF2-40B4-BE49-F238E27FC236}">
                <a16:creationId xmlns:a16="http://schemas.microsoft.com/office/drawing/2014/main" id="{280D1022-F85D-4940-8B60-7E119FD10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2010" y="2859757"/>
            <a:ext cx="3190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</a:rPr>
              <a:t>f</a:t>
            </a:r>
            <a:endParaRPr kumimoji="1" lang="en-US" altLang="zh-CN" sz="3200" b="0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仿宋_GB2312" pitchFamily="49" charset="-122"/>
            </a:endParaRPr>
          </a:p>
        </p:txBody>
      </p:sp>
      <p:sp>
        <p:nvSpPr>
          <p:cNvPr id="172" name="Line 72">
            <a:extLst>
              <a:ext uri="{FF2B5EF4-FFF2-40B4-BE49-F238E27FC236}">
                <a16:creationId xmlns:a16="http://schemas.microsoft.com/office/drawing/2014/main" id="{CB319083-FA60-4EEF-8E4E-5A7482A7B7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43848" y="1534195"/>
            <a:ext cx="323850" cy="325437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3" name="Line 73">
            <a:extLst>
              <a:ext uri="{FF2B5EF4-FFF2-40B4-BE49-F238E27FC236}">
                <a16:creationId xmlns:a16="http://schemas.microsoft.com/office/drawing/2014/main" id="{E0CC41CC-DA9F-41A3-A5A8-EE66EB584A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32660" y="2470820"/>
            <a:ext cx="180975" cy="323850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" name="Freeform 74">
            <a:extLst>
              <a:ext uri="{FF2B5EF4-FFF2-40B4-BE49-F238E27FC236}">
                <a16:creationId xmlns:a16="http://schemas.microsoft.com/office/drawing/2014/main" id="{172F7729-DF63-4F4C-9DBB-4DD7D2AD98FB}"/>
              </a:ext>
            </a:extLst>
          </p:cNvPr>
          <p:cNvSpPr>
            <a:spLocks/>
          </p:cNvSpPr>
          <p:nvPr/>
        </p:nvSpPr>
        <p:spPr bwMode="auto">
          <a:xfrm>
            <a:off x="5983485" y="2597820"/>
            <a:ext cx="420688" cy="1096962"/>
          </a:xfrm>
          <a:custGeom>
            <a:avLst/>
            <a:gdLst>
              <a:gd name="T0" fmla="*/ 0 w 265"/>
              <a:gd name="T1" fmla="*/ 192 h 691"/>
              <a:gd name="T2" fmla="*/ 68 w 265"/>
              <a:gd name="T3" fmla="*/ 34 h 691"/>
              <a:gd name="T4" fmla="*/ 114 w 265"/>
              <a:gd name="T5" fmla="*/ 11 h 691"/>
              <a:gd name="T6" fmla="*/ 182 w 265"/>
              <a:gd name="T7" fmla="*/ 34 h 691"/>
              <a:gd name="T8" fmla="*/ 250 w 265"/>
              <a:gd name="T9" fmla="*/ 215 h 691"/>
              <a:gd name="T10" fmla="*/ 91 w 265"/>
              <a:gd name="T11" fmla="*/ 691 h 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65" h="691">
                <a:moveTo>
                  <a:pt x="0" y="192"/>
                </a:moveTo>
                <a:cubicBezTo>
                  <a:pt x="24" y="128"/>
                  <a:pt x="49" y="64"/>
                  <a:pt x="68" y="34"/>
                </a:cubicBezTo>
                <a:cubicBezTo>
                  <a:pt x="87" y="4"/>
                  <a:pt x="95" y="11"/>
                  <a:pt x="114" y="11"/>
                </a:cubicBezTo>
                <a:cubicBezTo>
                  <a:pt x="133" y="11"/>
                  <a:pt x="159" y="0"/>
                  <a:pt x="182" y="34"/>
                </a:cubicBezTo>
                <a:cubicBezTo>
                  <a:pt x="205" y="68"/>
                  <a:pt x="265" y="106"/>
                  <a:pt x="250" y="215"/>
                </a:cubicBezTo>
                <a:cubicBezTo>
                  <a:pt x="235" y="324"/>
                  <a:pt x="117" y="612"/>
                  <a:pt x="91" y="691"/>
                </a:cubicBezTo>
              </a:path>
            </a:pathLst>
          </a:custGeom>
          <a:noFill/>
          <a:ln w="19050" cap="flat">
            <a:solidFill>
              <a:srgbClr val="CC0000"/>
            </a:solidFill>
            <a:prstDash val="dash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5" name="Freeform 75">
            <a:extLst>
              <a:ext uri="{FF2B5EF4-FFF2-40B4-BE49-F238E27FC236}">
                <a16:creationId xmlns:a16="http://schemas.microsoft.com/office/drawing/2014/main" id="{501AB626-3A37-4CE6-ABC5-C0E12146E1D6}"/>
              </a:ext>
            </a:extLst>
          </p:cNvPr>
          <p:cNvSpPr>
            <a:spLocks/>
          </p:cNvSpPr>
          <p:nvPr/>
        </p:nvSpPr>
        <p:spPr bwMode="auto">
          <a:xfrm>
            <a:off x="6488310" y="3515395"/>
            <a:ext cx="384175" cy="1096962"/>
          </a:xfrm>
          <a:custGeom>
            <a:avLst/>
            <a:gdLst>
              <a:gd name="T0" fmla="*/ 0 w 265"/>
              <a:gd name="T1" fmla="*/ 192 h 691"/>
              <a:gd name="T2" fmla="*/ 68 w 265"/>
              <a:gd name="T3" fmla="*/ 34 h 691"/>
              <a:gd name="T4" fmla="*/ 114 w 265"/>
              <a:gd name="T5" fmla="*/ 11 h 691"/>
              <a:gd name="T6" fmla="*/ 182 w 265"/>
              <a:gd name="T7" fmla="*/ 34 h 691"/>
              <a:gd name="T8" fmla="*/ 250 w 265"/>
              <a:gd name="T9" fmla="*/ 215 h 691"/>
              <a:gd name="T10" fmla="*/ 91 w 265"/>
              <a:gd name="T11" fmla="*/ 691 h 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65" h="691">
                <a:moveTo>
                  <a:pt x="0" y="192"/>
                </a:moveTo>
                <a:cubicBezTo>
                  <a:pt x="24" y="128"/>
                  <a:pt x="49" y="64"/>
                  <a:pt x="68" y="34"/>
                </a:cubicBezTo>
                <a:cubicBezTo>
                  <a:pt x="87" y="4"/>
                  <a:pt x="95" y="11"/>
                  <a:pt x="114" y="11"/>
                </a:cubicBezTo>
                <a:cubicBezTo>
                  <a:pt x="133" y="11"/>
                  <a:pt x="159" y="0"/>
                  <a:pt x="182" y="34"/>
                </a:cubicBezTo>
                <a:cubicBezTo>
                  <a:pt x="205" y="68"/>
                  <a:pt x="265" y="106"/>
                  <a:pt x="250" y="215"/>
                </a:cubicBezTo>
                <a:cubicBezTo>
                  <a:pt x="235" y="324"/>
                  <a:pt x="117" y="612"/>
                  <a:pt x="91" y="691"/>
                </a:cubicBezTo>
              </a:path>
            </a:pathLst>
          </a:custGeom>
          <a:noFill/>
          <a:ln w="19050" cap="flat">
            <a:solidFill>
              <a:srgbClr val="CC0000"/>
            </a:solidFill>
            <a:prstDash val="dash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6" name="Freeform 77">
            <a:extLst>
              <a:ext uri="{FF2B5EF4-FFF2-40B4-BE49-F238E27FC236}">
                <a16:creationId xmlns:a16="http://schemas.microsoft.com/office/drawing/2014/main" id="{BAECC14B-01E4-45CA-A5A8-2A71D8D70BBC}"/>
              </a:ext>
            </a:extLst>
          </p:cNvPr>
          <p:cNvSpPr>
            <a:spLocks/>
          </p:cNvSpPr>
          <p:nvPr/>
        </p:nvSpPr>
        <p:spPr bwMode="auto">
          <a:xfrm>
            <a:off x="6920110" y="4378995"/>
            <a:ext cx="360363" cy="252412"/>
          </a:xfrm>
          <a:custGeom>
            <a:avLst/>
            <a:gdLst>
              <a:gd name="T0" fmla="*/ 0 w 250"/>
              <a:gd name="T1" fmla="*/ 151 h 174"/>
              <a:gd name="T2" fmla="*/ 46 w 250"/>
              <a:gd name="T3" fmla="*/ 38 h 174"/>
              <a:gd name="T4" fmla="*/ 137 w 250"/>
              <a:gd name="T5" fmla="*/ 15 h 174"/>
              <a:gd name="T6" fmla="*/ 227 w 250"/>
              <a:gd name="T7" fmla="*/ 128 h 174"/>
              <a:gd name="T8" fmla="*/ 250 w 250"/>
              <a:gd name="T9" fmla="*/ 174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0" h="174">
                <a:moveTo>
                  <a:pt x="0" y="151"/>
                </a:moveTo>
                <a:cubicBezTo>
                  <a:pt x="11" y="106"/>
                  <a:pt x="23" y="61"/>
                  <a:pt x="46" y="38"/>
                </a:cubicBezTo>
                <a:cubicBezTo>
                  <a:pt x="69" y="15"/>
                  <a:pt x="107" y="0"/>
                  <a:pt x="137" y="15"/>
                </a:cubicBezTo>
                <a:cubicBezTo>
                  <a:pt x="167" y="30"/>
                  <a:pt x="208" y="101"/>
                  <a:pt x="227" y="128"/>
                </a:cubicBezTo>
                <a:cubicBezTo>
                  <a:pt x="246" y="155"/>
                  <a:pt x="246" y="166"/>
                  <a:pt x="250" y="174"/>
                </a:cubicBezTo>
              </a:path>
            </a:pathLst>
          </a:custGeom>
          <a:noFill/>
          <a:ln w="19050" cap="flat">
            <a:solidFill>
              <a:srgbClr val="CC0000"/>
            </a:solidFill>
            <a:prstDash val="dash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7" name="Freeform 78">
            <a:extLst>
              <a:ext uri="{FF2B5EF4-FFF2-40B4-BE49-F238E27FC236}">
                <a16:creationId xmlns:a16="http://schemas.microsoft.com/office/drawing/2014/main" id="{F42EDF5E-67EF-47AC-9E1F-BE39FE272763}"/>
              </a:ext>
            </a:extLst>
          </p:cNvPr>
          <p:cNvSpPr>
            <a:spLocks/>
          </p:cNvSpPr>
          <p:nvPr/>
        </p:nvSpPr>
        <p:spPr bwMode="auto">
          <a:xfrm>
            <a:off x="7640835" y="2615282"/>
            <a:ext cx="468313" cy="288925"/>
          </a:xfrm>
          <a:custGeom>
            <a:avLst/>
            <a:gdLst>
              <a:gd name="T0" fmla="*/ 0 w 250"/>
              <a:gd name="T1" fmla="*/ 151 h 174"/>
              <a:gd name="T2" fmla="*/ 46 w 250"/>
              <a:gd name="T3" fmla="*/ 38 h 174"/>
              <a:gd name="T4" fmla="*/ 137 w 250"/>
              <a:gd name="T5" fmla="*/ 15 h 174"/>
              <a:gd name="T6" fmla="*/ 227 w 250"/>
              <a:gd name="T7" fmla="*/ 128 h 174"/>
              <a:gd name="T8" fmla="*/ 250 w 250"/>
              <a:gd name="T9" fmla="*/ 174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0" h="174">
                <a:moveTo>
                  <a:pt x="0" y="151"/>
                </a:moveTo>
                <a:cubicBezTo>
                  <a:pt x="11" y="106"/>
                  <a:pt x="23" y="61"/>
                  <a:pt x="46" y="38"/>
                </a:cubicBezTo>
                <a:cubicBezTo>
                  <a:pt x="69" y="15"/>
                  <a:pt x="107" y="0"/>
                  <a:pt x="137" y="15"/>
                </a:cubicBezTo>
                <a:cubicBezTo>
                  <a:pt x="167" y="30"/>
                  <a:pt x="208" y="101"/>
                  <a:pt x="227" y="128"/>
                </a:cubicBezTo>
                <a:cubicBezTo>
                  <a:pt x="246" y="155"/>
                  <a:pt x="246" y="166"/>
                  <a:pt x="250" y="174"/>
                </a:cubicBezTo>
              </a:path>
            </a:pathLst>
          </a:custGeom>
          <a:noFill/>
          <a:ln w="19050" cap="flat">
            <a:solidFill>
              <a:srgbClr val="CC0000"/>
            </a:solidFill>
            <a:prstDash val="dash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8" name="Line 79">
            <a:extLst>
              <a:ext uri="{FF2B5EF4-FFF2-40B4-BE49-F238E27FC236}">
                <a16:creationId xmlns:a16="http://schemas.microsoft.com/office/drawing/2014/main" id="{BCDFE906-1104-4455-9F7B-B167D366C30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80585" y="2470820"/>
            <a:ext cx="142875" cy="325437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9" name="Line 80">
            <a:extLst>
              <a:ext uri="{FF2B5EF4-FFF2-40B4-BE49-F238E27FC236}">
                <a16:creationId xmlns:a16="http://schemas.microsoft.com/office/drawing/2014/main" id="{58943A50-1102-48F7-B288-F4AAF663210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51910" y="1534195"/>
            <a:ext cx="360363" cy="360362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0" name="Line 85">
            <a:extLst>
              <a:ext uri="{FF2B5EF4-FFF2-40B4-BE49-F238E27FC236}">
                <a16:creationId xmlns:a16="http://schemas.microsoft.com/office/drawing/2014/main" id="{BFE2EB2E-FCBD-4EDD-88AD-96BAEEAFF9C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88423" y="4234532"/>
            <a:ext cx="179387" cy="325438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1" name="Line 86">
            <a:extLst>
              <a:ext uri="{FF2B5EF4-FFF2-40B4-BE49-F238E27FC236}">
                <a16:creationId xmlns:a16="http://schemas.microsoft.com/office/drawing/2014/main" id="{0C93FA11-8C17-4694-8458-3BA9356E74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20110" y="3370932"/>
            <a:ext cx="179388" cy="325438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2" name="Line 87">
            <a:extLst>
              <a:ext uri="{FF2B5EF4-FFF2-40B4-BE49-F238E27FC236}">
                <a16:creationId xmlns:a16="http://schemas.microsoft.com/office/drawing/2014/main" id="{0C00B5C0-CE50-4A83-BBF5-9861209F2F6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51798" y="2470820"/>
            <a:ext cx="179387" cy="325437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3" name="Freeform 88">
            <a:extLst>
              <a:ext uri="{FF2B5EF4-FFF2-40B4-BE49-F238E27FC236}">
                <a16:creationId xmlns:a16="http://schemas.microsoft.com/office/drawing/2014/main" id="{740B6E0E-7CFA-4204-94A9-D504CB91442B}"/>
              </a:ext>
            </a:extLst>
          </p:cNvPr>
          <p:cNvSpPr>
            <a:spLocks/>
          </p:cNvSpPr>
          <p:nvPr/>
        </p:nvSpPr>
        <p:spPr bwMode="auto">
          <a:xfrm>
            <a:off x="6524823" y="1751682"/>
            <a:ext cx="1049337" cy="1025525"/>
          </a:xfrm>
          <a:custGeom>
            <a:avLst/>
            <a:gdLst>
              <a:gd name="T0" fmla="*/ 0 w 661"/>
              <a:gd name="T1" fmla="*/ 215 h 646"/>
              <a:gd name="T2" fmla="*/ 204 w 661"/>
              <a:gd name="T3" fmla="*/ 34 h 646"/>
              <a:gd name="T4" fmla="*/ 318 w 661"/>
              <a:gd name="T5" fmla="*/ 11 h 646"/>
              <a:gd name="T6" fmla="*/ 454 w 661"/>
              <a:gd name="T7" fmla="*/ 57 h 646"/>
              <a:gd name="T8" fmla="*/ 635 w 661"/>
              <a:gd name="T9" fmla="*/ 215 h 646"/>
              <a:gd name="T10" fmla="*/ 612 w 661"/>
              <a:gd name="T11" fmla="*/ 465 h 646"/>
              <a:gd name="T12" fmla="*/ 522 w 661"/>
              <a:gd name="T13" fmla="*/ 646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61" h="646">
                <a:moveTo>
                  <a:pt x="0" y="215"/>
                </a:moveTo>
                <a:cubicBezTo>
                  <a:pt x="75" y="141"/>
                  <a:pt x="151" y="68"/>
                  <a:pt x="204" y="34"/>
                </a:cubicBezTo>
                <a:cubicBezTo>
                  <a:pt x="257" y="0"/>
                  <a:pt x="276" y="7"/>
                  <a:pt x="318" y="11"/>
                </a:cubicBezTo>
                <a:cubicBezTo>
                  <a:pt x="360" y="15"/>
                  <a:pt x="401" y="23"/>
                  <a:pt x="454" y="57"/>
                </a:cubicBezTo>
                <a:cubicBezTo>
                  <a:pt x="507" y="91"/>
                  <a:pt x="609" y="147"/>
                  <a:pt x="635" y="215"/>
                </a:cubicBezTo>
                <a:cubicBezTo>
                  <a:pt x="661" y="283"/>
                  <a:pt x="631" y="393"/>
                  <a:pt x="612" y="465"/>
                </a:cubicBezTo>
                <a:cubicBezTo>
                  <a:pt x="593" y="537"/>
                  <a:pt x="537" y="616"/>
                  <a:pt x="522" y="646"/>
                </a:cubicBezTo>
              </a:path>
            </a:pathLst>
          </a:custGeom>
          <a:noFill/>
          <a:ln w="19050" cap="flat">
            <a:solidFill>
              <a:srgbClr val="CC0000"/>
            </a:solidFill>
            <a:prstDash val="dash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90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161" grpId="0"/>
      <p:bldP spid="162" grpId="0"/>
      <p:bldP spid="163" grpId="0"/>
      <p:bldP spid="164" grpId="0"/>
      <p:bldP spid="165" grpId="0"/>
      <p:bldP spid="166" grpId="0"/>
      <p:bldP spid="167" grpId="0"/>
      <p:bldP spid="168" grpId="0"/>
      <p:bldP spid="169" grpId="0"/>
      <p:bldP spid="170" grpId="0"/>
      <p:bldP spid="17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4"/>
          <p:cNvSpPr>
            <a:spLocks noChangeArrowheads="1"/>
          </p:cNvSpPr>
          <p:nvPr/>
        </p:nvSpPr>
        <p:spPr bwMode="auto">
          <a:xfrm>
            <a:off x="251520" y="737809"/>
            <a:ext cx="8640959" cy="2030586"/>
          </a:xfrm>
          <a:prstGeom prst="roundRect">
            <a:avLst>
              <a:gd name="adj" fmla="val 7298"/>
            </a:avLst>
          </a:prstGeom>
          <a:noFill/>
          <a:ln w="38100">
            <a:noFill/>
            <a:miter lim="800000"/>
          </a:ln>
        </p:spPr>
        <p:txBody>
          <a:bodyPr wrap="square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如果去掉输出语句，从递归的角度看，三种算法是完全相同的，或说这三种算法的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访问路径是相同的，只是访问结点的时机不同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</a:p>
        </p:txBody>
      </p:sp>
      <p:sp>
        <p:nvSpPr>
          <p:cNvPr id="763909" name="Rectangle 5"/>
          <p:cNvSpPr>
            <a:spLocks noChangeArrowheads="1"/>
          </p:cNvSpPr>
          <p:nvPr/>
        </p:nvSpPr>
        <p:spPr bwMode="auto">
          <a:xfrm>
            <a:off x="4571999" y="2689400"/>
            <a:ext cx="4162426" cy="16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从虚线的出发点到终点的路径上，每个结点经过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次（左、下、右）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。</a:t>
            </a:r>
          </a:p>
        </p:txBody>
      </p:sp>
      <p:grpSp>
        <p:nvGrpSpPr>
          <p:cNvPr id="63492" name="Group 6"/>
          <p:cNvGrpSpPr/>
          <p:nvPr/>
        </p:nvGrpSpPr>
        <p:grpSpPr>
          <a:xfrm>
            <a:off x="288355" y="2780928"/>
            <a:ext cx="3923605" cy="4014787"/>
            <a:chOff x="96" y="1488"/>
            <a:chExt cx="2256" cy="2400"/>
          </a:xfrm>
        </p:grpSpPr>
        <p:sp>
          <p:nvSpPr>
            <p:cNvPr id="60421" name="Oval 7"/>
            <p:cNvSpPr>
              <a:spLocks noChangeArrowheads="1"/>
            </p:cNvSpPr>
            <p:nvPr/>
          </p:nvSpPr>
          <p:spPr bwMode="auto">
            <a:xfrm>
              <a:off x="1207" y="1510"/>
              <a:ext cx="231" cy="23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000080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60422" name="Oval 8"/>
            <p:cNvSpPr>
              <a:spLocks noChangeArrowheads="1"/>
            </p:cNvSpPr>
            <p:nvPr/>
          </p:nvSpPr>
          <p:spPr bwMode="auto">
            <a:xfrm>
              <a:off x="836" y="3155"/>
              <a:ext cx="232" cy="233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000080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F</a:t>
              </a:r>
            </a:p>
          </p:txBody>
        </p:sp>
        <p:sp>
          <p:nvSpPr>
            <p:cNvPr id="60423" name="Oval 9"/>
            <p:cNvSpPr>
              <a:spLocks noChangeArrowheads="1"/>
            </p:cNvSpPr>
            <p:nvPr/>
          </p:nvSpPr>
          <p:spPr bwMode="auto">
            <a:xfrm>
              <a:off x="1207" y="2599"/>
              <a:ext cx="231" cy="233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000080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E</a:t>
              </a:r>
            </a:p>
          </p:txBody>
        </p:sp>
        <p:sp>
          <p:nvSpPr>
            <p:cNvPr id="60424" name="Oval 10"/>
            <p:cNvSpPr>
              <a:spLocks noChangeArrowheads="1"/>
            </p:cNvSpPr>
            <p:nvPr/>
          </p:nvSpPr>
          <p:spPr bwMode="auto">
            <a:xfrm>
              <a:off x="489" y="2621"/>
              <a:ext cx="232" cy="23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000080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D</a:t>
              </a:r>
            </a:p>
          </p:txBody>
        </p:sp>
        <p:sp>
          <p:nvSpPr>
            <p:cNvPr id="60425" name="Oval 11"/>
            <p:cNvSpPr>
              <a:spLocks noChangeArrowheads="1"/>
            </p:cNvSpPr>
            <p:nvPr/>
          </p:nvSpPr>
          <p:spPr bwMode="auto">
            <a:xfrm>
              <a:off x="1727" y="2010"/>
              <a:ext cx="232" cy="23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000080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C</a:t>
              </a:r>
            </a:p>
          </p:txBody>
        </p:sp>
        <p:sp>
          <p:nvSpPr>
            <p:cNvPr id="60426" name="Oval 12"/>
            <p:cNvSpPr>
              <a:spLocks noChangeArrowheads="1"/>
            </p:cNvSpPr>
            <p:nvPr/>
          </p:nvSpPr>
          <p:spPr bwMode="auto">
            <a:xfrm>
              <a:off x="825" y="2044"/>
              <a:ext cx="231" cy="233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000080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60427" name="Oval 13"/>
            <p:cNvSpPr>
              <a:spLocks noChangeArrowheads="1"/>
            </p:cNvSpPr>
            <p:nvPr/>
          </p:nvSpPr>
          <p:spPr bwMode="auto">
            <a:xfrm>
              <a:off x="1542" y="3177"/>
              <a:ext cx="232" cy="233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000080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G</a:t>
              </a:r>
            </a:p>
          </p:txBody>
        </p:sp>
        <p:sp>
          <p:nvSpPr>
            <p:cNvPr id="60428" name="Line 14"/>
            <p:cNvSpPr>
              <a:spLocks noChangeShapeType="1"/>
            </p:cNvSpPr>
            <p:nvPr/>
          </p:nvSpPr>
          <p:spPr bwMode="auto">
            <a:xfrm flipH="1">
              <a:off x="1022" y="1732"/>
              <a:ext cx="242" cy="33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29" name="Line 15"/>
            <p:cNvSpPr>
              <a:spLocks noChangeShapeType="1"/>
            </p:cNvSpPr>
            <p:nvPr/>
          </p:nvSpPr>
          <p:spPr bwMode="auto">
            <a:xfrm flipH="1">
              <a:off x="640" y="2288"/>
              <a:ext cx="243" cy="3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30" name="Line 16"/>
            <p:cNvSpPr>
              <a:spLocks noChangeShapeType="1"/>
            </p:cNvSpPr>
            <p:nvPr/>
          </p:nvSpPr>
          <p:spPr bwMode="auto">
            <a:xfrm flipH="1">
              <a:off x="1010" y="2832"/>
              <a:ext cx="243" cy="33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31" name="Line 17"/>
            <p:cNvSpPr>
              <a:spLocks noChangeShapeType="1"/>
            </p:cNvSpPr>
            <p:nvPr/>
          </p:nvSpPr>
          <p:spPr bwMode="auto">
            <a:xfrm flipH="1">
              <a:off x="1646" y="2221"/>
              <a:ext cx="104" cy="1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32" name="Line 18"/>
            <p:cNvSpPr>
              <a:spLocks noChangeShapeType="1"/>
            </p:cNvSpPr>
            <p:nvPr/>
          </p:nvSpPr>
          <p:spPr bwMode="auto">
            <a:xfrm>
              <a:off x="1403" y="1710"/>
              <a:ext cx="347" cy="33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33" name="Line 19"/>
            <p:cNvSpPr>
              <a:spLocks noChangeShapeType="1"/>
            </p:cNvSpPr>
            <p:nvPr/>
          </p:nvSpPr>
          <p:spPr bwMode="auto">
            <a:xfrm>
              <a:off x="1010" y="2232"/>
              <a:ext cx="231" cy="3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34" name="Line 20"/>
            <p:cNvSpPr>
              <a:spLocks noChangeShapeType="1"/>
            </p:cNvSpPr>
            <p:nvPr/>
          </p:nvSpPr>
          <p:spPr bwMode="auto">
            <a:xfrm>
              <a:off x="1392" y="2799"/>
              <a:ext cx="231" cy="3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35" name="Oval 21"/>
            <p:cNvSpPr>
              <a:spLocks noChangeArrowheads="1"/>
            </p:cNvSpPr>
            <p:nvPr/>
          </p:nvSpPr>
          <p:spPr bwMode="auto">
            <a:xfrm>
              <a:off x="316" y="2999"/>
              <a:ext cx="92" cy="1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36" name="Oval 22"/>
            <p:cNvSpPr>
              <a:spLocks noChangeArrowheads="1"/>
            </p:cNvSpPr>
            <p:nvPr/>
          </p:nvSpPr>
          <p:spPr bwMode="auto">
            <a:xfrm>
              <a:off x="709" y="3021"/>
              <a:ext cx="93" cy="1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37" name="Oval 23"/>
            <p:cNvSpPr>
              <a:spLocks noChangeArrowheads="1"/>
            </p:cNvSpPr>
            <p:nvPr/>
          </p:nvSpPr>
          <p:spPr bwMode="auto">
            <a:xfrm>
              <a:off x="674" y="3521"/>
              <a:ext cx="93" cy="1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38" name="Oval 24"/>
            <p:cNvSpPr>
              <a:spLocks noChangeArrowheads="1"/>
            </p:cNvSpPr>
            <p:nvPr/>
          </p:nvSpPr>
          <p:spPr bwMode="auto">
            <a:xfrm>
              <a:off x="1033" y="3532"/>
              <a:ext cx="93" cy="1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39" name="Oval 25"/>
            <p:cNvSpPr>
              <a:spLocks noChangeArrowheads="1"/>
            </p:cNvSpPr>
            <p:nvPr/>
          </p:nvSpPr>
          <p:spPr bwMode="auto">
            <a:xfrm>
              <a:off x="1450" y="3599"/>
              <a:ext cx="92" cy="1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40" name="Oval 26"/>
            <p:cNvSpPr>
              <a:spLocks noChangeArrowheads="1"/>
            </p:cNvSpPr>
            <p:nvPr/>
          </p:nvSpPr>
          <p:spPr bwMode="auto">
            <a:xfrm>
              <a:off x="1820" y="3555"/>
              <a:ext cx="92" cy="1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41" name="Oval 27"/>
            <p:cNvSpPr>
              <a:spLocks noChangeArrowheads="1"/>
            </p:cNvSpPr>
            <p:nvPr/>
          </p:nvSpPr>
          <p:spPr bwMode="auto">
            <a:xfrm>
              <a:off x="2040" y="2366"/>
              <a:ext cx="92" cy="1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42" name="Line 28"/>
            <p:cNvSpPr>
              <a:spLocks noChangeShapeType="1"/>
            </p:cNvSpPr>
            <p:nvPr/>
          </p:nvSpPr>
          <p:spPr bwMode="auto">
            <a:xfrm flipH="1">
              <a:off x="385" y="2844"/>
              <a:ext cx="127" cy="1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43" name="Line 29"/>
            <p:cNvSpPr>
              <a:spLocks noChangeShapeType="1"/>
            </p:cNvSpPr>
            <p:nvPr/>
          </p:nvSpPr>
          <p:spPr bwMode="auto">
            <a:xfrm>
              <a:off x="651" y="2855"/>
              <a:ext cx="81" cy="1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44" name="Line 30"/>
            <p:cNvSpPr>
              <a:spLocks noChangeShapeType="1"/>
            </p:cNvSpPr>
            <p:nvPr/>
          </p:nvSpPr>
          <p:spPr bwMode="auto">
            <a:xfrm flipV="1">
              <a:off x="721" y="3744"/>
              <a:ext cx="58" cy="33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45" name="Line 31"/>
            <p:cNvSpPr>
              <a:spLocks noChangeShapeType="1"/>
            </p:cNvSpPr>
            <p:nvPr/>
          </p:nvSpPr>
          <p:spPr bwMode="auto">
            <a:xfrm>
              <a:off x="1022" y="3766"/>
              <a:ext cx="104" cy="2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46" name="Line 32"/>
            <p:cNvSpPr>
              <a:spLocks noChangeShapeType="1"/>
            </p:cNvSpPr>
            <p:nvPr/>
          </p:nvSpPr>
          <p:spPr bwMode="auto">
            <a:xfrm flipV="1">
              <a:off x="1531" y="3844"/>
              <a:ext cx="57" cy="33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47" name="Line 33"/>
            <p:cNvSpPr>
              <a:spLocks noChangeShapeType="1"/>
            </p:cNvSpPr>
            <p:nvPr/>
          </p:nvSpPr>
          <p:spPr bwMode="auto">
            <a:xfrm>
              <a:off x="96" y="3099"/>
              <a:ext cx="35" cy="10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48" name="Line 34"/>
            <p:cNvSpPr>
              <a:spLocks noChangeShapeType="1"/>
            </p:cNvSpPr>
            <p:nvPr/>
          </p:nvSpPr>
          <p:spPr bwMode="auto">
            <a:xfrm>
              <a:off x="212" y="3288"/>
              <a:ext cx="104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49" name="Line 35"/>
            <p:cNvSpPr>
              <a:spLocks noChangeShapeType="1"/>
            </p:cNvSpPr>
            <p:nvPr/>
          </p:nvSpPr>
          <p:spPr bwMode="auto">
            <a:xfrm flipV="1">
              <a:off x="2329" y="2444"/>
              <a:ext cx="11" cy="10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50" name="Line 36"/>
            <p:cNvSpPr>
              <a:spLocks noChangeShapeType="1"/>
            </p:cNvSpPr>
            <p:nvPr/>
          </p:nvSpPr>
          <p:spPr bwMode="auto">
            <a:xfrm flipH="1">
              <a:off x="779" y="1555"/>
              <a:ext cx="381" cy="489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51" name="Line 37"/>
            <p:cNvSpPr>
              <a:spLocks noChangeShapeType="1"/>
            </p:cNvSpPr>
            <p:nvPr/>
          </p:nvSpPr>
          <p:spPr bwMode="auto">
            <a:xfrm flipH="1">
              <a:off x="131" y="2044"/>
              <a:ext cx="671" cy="92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52" name="Line 38"/>
            <p:cNvSpPr>
              <a:spLocks noChangeShapeType="1"/>
            </p:cNvSpPr>
            <p:nvPr/>
          </p:nvSpPr>
          <p:spPr bwMode="auto">
            <a:xfrm flipH="1">
              <a:off x="108" y="2955"/>
              <a:ext cx="23" cy="12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53" name="Line 39"/>
            <p:cNvSpPr>
              <a:spLocks noChangeShapeType="1"/>
            </p:cNvSpPr>
            <p:nvPr/>
          </p:nvSpPr>
          <p:spPr bwMode="auto">
            <a:xfrm>
              <a:off x="131" y="3210"/>
              <a:ext cx="81" cy="6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54" name="Line 40"/>
            <p:cNvSpPr>
              <a:spLocks noChangeShapeType="1"/>
            </p:cNvSpPr>
            <p:nvPr/>
          </p:nvSpPr>
          <p:spPr bwMode="auto">
            <a:xfrm flipV="1">
              <a:off x="339" y="3232"/>
              <a:ext cx="93" cy="5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55" name="Line 41"/>
            <p:cNvSpPr>
              <a:spLocks noChangeShapeType="1"/>
            </p:cNvSpPr>
            <p:nvPr/>
          </p:nvSpPr>
          <p:spPr bwMode="auto">
            <a:xfrm flipV="1">
              <a:off x="432" y="3044"/>
              <a:ext cx="115" cy="20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56" name="Line 42"/>
            <p:cNvSpPr>
              <a:spLocks noChangeShapeType="1"/>
            </p:cNvSpPr>
            <p:nvPr/>
          </p:nvSpPr>
          <p:spPr bwMode="auto">
            <a:xfrm>
              <a:off x="536" y="3055"/>
              <a:ext cx="115" cy="189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57" name="Line 43"/>
            <p:cNvSpPr>
              <a:spLocks noChangeShapeType="1"/>
            </p:cNvSpPr>
            <p:nvPr/>
          </p:nvSpPr>
          <p:spPr bwMode="auto">
            <a:xfrm flipV="1">
              <a:off x="663" y="3210"/>
              <a:ext cx="92" cy="3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58" name="Line 44"/>
            <p:cNvSpPr>
              <a:spLocks noChangeShapeType="1"/>
            </p:cNvSpPr>
            <p:nvPr/>
          </p:nvSpPr>
          <p:spPr bwMode="auto">
            <a:xfrm flipV="1">
              <a:off x="779" y="3088"/>
              <a:ext cx="81" cy="11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59" name="Line 45"/>
            <p:cNvSpPr>
              <a:spLocks noChangeShapeType="1"/>
            </p:cNvSpPr>
            <p:nvPr/>
          </p:nvSpPr>
          <p:spPr bwMode="auto">
            <a:xfrm>
              <a:off x="790" y="2721"/>
              <a:ext cx="81" cy="35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60" name="Line 46"/>
            <p:cNvSpPr>
              <a:spLocks noChangeShapeType="1"/>
            </p:cNvSpPr>
            <p:nvPr/>
          </p:nvSpPr>
          <p:spPr bwMode="auto">
            <a:xfrm flipV="1">
              <a:off x="790" y="2444"/>
              <a:ext cx="174" cy="27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61" name="Line 47"/>
            <p:cNvSpPr>
              <a:spLocks noChangeShapeType="1"/>
            </p:cNvSpPr>
            <p:nvPr/>
          </p:nvSpPr>
          <p:spPr bwMode="auto">
            <a:xfrm>
              <a:off x="975" y="2432"/>
              <a:ext cx="162" cy="26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62" name="Line 48"/>
            <p:cNvSpPr>
              <a:spLocks noChangeShapeType="1"/>
            </p:cNvSpPr>
            <p:nvPr/>
          </p:nvSpPr>
          <p:spPr bwMode="auto">
            <a:xfrm flipH="1">
              <a:off x="570" y="2710"/>
              <a:ext cx="567" cy="86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63" name="Line 49"/>
            <p:cNvSpPr>
              <a:spLocks noChangeShapeType="1"/>
            </p:cNvSpPr>
            <p:nvPr/>
          </p:nvSpPr>
          <p:spPr bwMode="auto">
            <a:xfrm>
              <a:off x="559" y="3599"/>
              <a:ext cx="23" cy="11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64" name="Line 50"/>
            <p:cNvSpPr>
              <a:spLocks noChangeShapeType="1"/>
            </p:cNvSpPr>
            <p:nvPr/>
          </p:nvSpPr>
          <p:spPr bwMode="auto">
            <a:xfrm>
              <a:off x="582" y="3732"/>
              <a:ext cx="127" cy="45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65" name="Line 51"/>
            <p:cNvSpPr>
              <a:spLocks noChangeShapeType="1"/>
            </p:cNvSpPr>
            <p:nvPr/>
          </p:nvSpPr>
          <p:spPr bwMode="auto">
            <a:xfrm flipV="1">
              <a:off x="779" y="3488"/>
              <a:ext cx="150" cy="24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66" name="Line 52"/>
            <p:cNvSpPr>
              <a:spLocks noChangeShapeType="1"/>
            </p:cNvSpPr>
            <p:nvPr/>
          </p:nvSpPr>
          <p:spPr bwMode="auto">
            <a:xfrm>
              <a:off x="929" y="3510"/>
              <a:ext cx="104" cy="26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67" name="Line 53"/>
            <p:cNvSpPr>
              <a:spLocks noChangeShapeType="1"/>
            </p:cNvSpPr>
            <p:nvPr/>
          </p:nvSpPr>
          <p:spPr bwMode="auto">
            <a:xfrm flipV="1">
              <a:off x="1126" y="3744"/>
              <a:ext cx="104" cy="55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68" name="Line 54"/>
            <p:cNvSpPr>
              <a:spLocks noChangeShapeType="1"/>
            </p:cNvSpPr>
            <p:nvPr/>
          </p:nvSpPr>
          <p:spPr bwMode="auto">
            <a:xfrm flipV="1">
              <a:off x="1241" y="3610"/>
              <a:ext cx="47" cy="145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69" name="Line 55"/>
            <p:cNvSpPr>
              <a:spLocks noChangeShapeType="1"/>
            </p:cNvSpPr>
            <p:nvPr/>
          </p:nvSpPr>
          <p:spPr bwMode="auto">
            <a:xfrm flipH="1" flipV="1">
              <a:off x="1137" y="3232"/>
              <a:ext cx="151" cy="40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70" name="Line 56"/>
            <p:cNvSpPr>
              <a:spLocks noChangeShapeType="1"/>
            </p:cNvSpPr>
            <p:nvPr/>
          </p:nvSpPr>
          <p:spPr bwMode="auto">
            <a:xfrm flipV="1">
              <a:off x="1137" y="2944"/>
              <a:ext cx="208" cy="31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71" name="Line 57"/>
            <p:cNvSpPr>
              <a:spLocks noChangeShapeType="1"/>
            </p:cNvSpPr>
            <p:nvPr/>
          </p:nvSpPr>
          <p:spPr bwMode="auto">
            <a:xfrm>
              <a:off x="1334" y="2966"/>
              <a:ext cx="150" cy="311"/>
            </a:xfrm>
            <a:prstGeom prst="line">
              <a:avLst/>
            </a:prstGeom>
            <a:noFill/>
            <a:ln w="38100" cap="rnd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72" name="Line 58"/>
            <p:cNvSpPr>
              <a:spLocks noChangeShapeType="1"/>
            </p:cNvSpPr>
            <p:nvPr/>
          </p:nvSpPr>
          <p:spPr bwMode="auto">
            <a:xfrm flipH="1">
              <a:off x="1345" y="3244"/>
              <a:ext cx="139" cy="50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73" name="Line 59"/>
            <p:cNvSpPr>
              <a:spLocks noChangeShapeType="1"/>
            </p:cNvSpPr>
            <p:nvPr/>
          </p:nvSpPr>
          <p:spPr bwMode="auto">
            <a:xfrm>
              <a:off x="1345" y="3766"/>
              <a:ext cx="81" cy="89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74" name="Line 60"/>
            <p:cNvSpPr>
              <a:spLocks noChangeShapeType="1"/>
            </p:cNvSpPr>
            <p:nvPr/>
          </p:nvSpPr>
          <p:spPr bwMode="auto">
            <a:xfrm>
              <a:off x="1426" y="3866"/>
              <a:ext cx="105" cy="2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75" name="Line 61"/>
            <p:cNvSpPr>
              <a:spLocks noChangeShapeType="1"/>
            </p:cNvSpPr>
            <p:nvPr/>
          </p:nvSpPr>
          <p:spPr bwMode="auto">
            <a:xfrm flipV="1">
              <a:off x="1577" y="3466"/>
              <a:ext cx="104" cy="378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76" name="Line 62"/>
            <p:cNvSpPr>
              <a:spLocks noChangeShapeType="1"/>
            </p:cNvSpPr>
            <p:nvPr/>
          </p:nvSpPr>
          <p:spPr bwMode="auto">
            <a:xfrm>
              <a:off x="1693" y="3477"/>
              <a:ext cx="185" cy="389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77" name="Line 63"/>
            <p:cNvSpPr>
              <a:spLocks noChangeShapeType="1"/>
            </p:cNvSpPr>
            <p:nvPr/>
          </p:nvSpPr>
          <p:spPr bwMode="auto">
            <a:xfrm flipV="1">
              <a:off x="1866" y="3799"/>
              <a:ext cx="174" cy="5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78" name="Line 64"/>
            <p:cNvSpPr>
              <a:spLocks noChangeShapeType="1"/>
            </p:cNvSpPr>
            <p:nvPr/>
          </p:nvSpPr>
          <p:spPr bwMode="auto">
            <a:xfrm flipV="1">
              <a:off x="2040" y="3677"/>
              <a:ext cx="69" cy="11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79" name="Line 65"/>
            <p:cNvSpPr>
              <a:spLocks noChangeShapeType="1"/>
            </p:cNvSpPr>
            <p:nvPr/>
          </p:nvSpPr>
          <p:spPr bwMode="auto">
            <a:xfrm flipH="1" flipV="1">
              <a:off x="1149" y="2099"/>
              <a:ext cx="960" cy="156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80" name="Line 66"/>
            <p:cNvSpPr>
              <a:spLocks noChangeShapeType="1"/>
            </p:cNvSpPr>
            <p:nvPr/>
          </p:nvSpPr>
          <p:spPr bwMode="auto">
            <a:xfrm flipV="1">
              <a:off x="1669" y="2332"/>
              <a:ext cx="174" cy="278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81" name="Line 67"/>
            <p:cNvSpPr>
              <a:spLocks noChangeShapeType="1"/>
            </p:cNvSpPr>
            <p:nvPr/>
          </p:nvSpPr>
          <p:spPr bwMode="auto">
            <a:xfrm>
              <a:off x="1866" y="2399"/>
              <a:ext cx="139" cy="20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82" name="Line 68"/>
            <p:cNvSpPr>
              <a:spLocks noChangeShapeType="1"/>
            </p:cNvSpPr>
            <p:nvPr/>
          </p:nvSpPr>
          <p:spPr bwMode="auto">
            <a:xfrm>
              <a:off x="1970" y="2577"/>
              <a:ext cx="162" cy="78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83" name="Line 69"/>
            <p:cNvSpPr>
              <a:spLocks noChangeShapeType="1"/>
            </p:cNvSpPr>
            <p:nvPr/>
          </p:nvSpPr>
          <p:spPr bwMode="auto">
            <a:xfrm flipV="1">
              <a:off x="2190" y="2577"/>
              <a:ext cx="81" cy="6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84" name="Line 70"/>
            <p:cNvSpPr>
              <a:spLocks noChangeShapeType="1"/>
            </p:cNvSpPr>
            <p:nvPr/>
          </p:nvSpPr>
          <p:spPr bwMode="auto">
            <a:xfrm flipH="1" flipV="1">
              <a:off x="1519" y="1488"/>
              <a:ext cx="833" cy="933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85" name="Line 71"/>
            <p:cNvSpPr>
              <a:spLocks noChangeShapeType="1"/>
            </p:cNvSpPr>
            <p:nvPr/>
          </p:nvSpPr>
          <p:spPr bwMode="auto">
            <a:xfrm flipH="1">
              <a:off x="755" y="3366"/>
              <a:ext cx="128" cy="1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86" name="Line 72"/>
            <p:cNvSpPr>
              <a:spLocks noChangeShapeType="1"/>
            </p:cNvSpPr>
            <p:nvPr/>
          </p:nvSpPr>
          <p:spPr bwMode="auto">
            <a:xfrm flipH="1">
              <a:off x="1531" y="3399"/>
              <a:ext cx="104" cy="1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87" name="Line 73"/>
            <p:cNvSpPr>
              <a:spLocks noChangeShapeType="1"/>
            </p:cNvSpPr>
            <p:nvPr/>
          </p:nvSpPr>
          <p:spPr bwMode="auto">
            <a:xfrm>
              <a:off x="998" y="3366"/>
              <a:ext cx="81" cy="1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88" name="Line 74"/>
            <p:cNvSpPr>
              <a:spLocks noChangeShapeType="1"/>
            </p:cNvSpPr>
            <p:nvPr/>
          </p:nvSpPr>
          <p:spPr bwMode="auto">
            <a:xfrm>
              <a:off x="1762" y="3377"/>
              <a:ext cx="81" cy="1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89" name="Line 75"/>
            <p:cNvSpPr>
              <a:spLocks noChangeShapeType="1"/>
            </p:cNvSpPr>
            <p:nvPr/>
          </p:nvSpPr>
          <p:spPr bwMode="auto">
            <a:xfrm>
              <a:off x="1912" y="2210"/>
              <a:ext cx="139" cy="1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90" name="Oval 76"/>
            <p:cNvSpPr>
              <a:spLocks noChangeArrowheads="1"/>
            </p:cNvSpPr>
            <p:nvPr/>
          </p:nvSpPr>
          <p:spPr bwMode="auto">
            <a:xfrm>
              <a:off x="1577" y="2388"/>
              <a:ext cx="92" cy="1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91" name="Line 77"/>
            <p:cNvSpPr>
              <a:spLocks noChangeShapeType="1"/>
            </p:cNvSpPr>
            <p:nvPr/>
          </p:nvSpPr>
          <p:spPr bwMode="auto">
            <a:xfrm flipV="1">
              <a:off x="1160" y="1855"/>
              <a:ext cx="174" cy="27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92" name="Line 78"/>
            <p:cNvSpPr>
              <a:spLocks noChangeShapeType="1"/>
            </p:cNvSpPr>
            <p:nvPr/>
          </p:nvSpPr>
          <p:spPr bwMode="auto">
            <a:xfrm>
              <a:off x="1369" y="1910"/>
              <a:ext cx="243" cy="256"/>
            </a:xfrm>
            <a:prstGeom prst="line">
              <a:avLst/>
            </a:prstGeom>
            <a:noFill/>
            <a:ln w="38100" cap="rnd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93" name="Line 79"/>
            <p:cNvSpPr>
              <a:spLocks noChangeShapeType="1"/>
            </p:cNvSpPr>
            <p:nvPr/>
          </p:nvSpPr>
          <p:spPr bwMode="auto">
            <a:xfrm flipV="1">
              <a:off x="1473" y="2110"/>
              <a:ext cx="173" cy="278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94" name="Line 80"/>
            <p:cNvSpPr>
              <a:spLocks noChangeShapeType="1"/>
            </p:cNvSpPr>
            <p:nvPr/>
          </p:nvSpPr>
          <p:spPr bwMode="auto">
            <a:xfrm>
              <a:off x="1496" y="2432"/>
              <a:ext cx="23" cy="11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495" name="Line 81"/>
            <p:cNvSpPr>
              <a:spLocks noChangeShapeType="1"/>
            </p:cNvSpPr>
            <p:nvPr/>
          </p:nvSpPr>
          <p:spPr bwMode="auto">
            <a:xfrm>
              <a:off x="1519" y="2566"/>
              <a:ext cx="127" cy="4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763986" name="Rectangle 82"/>
          <p:cNvSpPr>
            <a:spLocks noChangeArrowheads="1"/>
          </p:cNvSpPr>
          <p:nvPr/>
        </p:nvSpPr>
        <p:spPr bwMode="auto">
          <a:xfrm>
            <a:off x="4610100" y="4980500"/>
            <a:ext cx="4124325" cy="168886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次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经过时访问＝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先序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遍历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次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经过时访问＝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中序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遍历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次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经过时访问＝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后序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遍历</a:t>
            </a:r>
          </a:p>
        </p:txBody>
      </p:sp>
      <p:sp>
        <p:nvSpPr>
          <p:cNvPr id="60497" name="Rectangle 85"/>
          <p:cNvSpPr>
            <a:spLocks noChangeArrowheads="1"/>
          </p:cNvSpPr>
          <p:nvPr/>
        </p:nvSpPr>
        <p:spPr bwMode="auto">
          <a:xfrm>
            <a:off x="750888" y="190500"/>
            <a:ext cx="36941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递归遍历算法的分析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2EC4EFE-751A-41DD-A578-32B7B8AB3566}"/>
              </a:ext>
            </a:extLst>
          </p:cNvPr>
          <p:cNvSpPr txBox="1"/>
          <p:nvPr/>
        </p:nvSpPr>
        <p:spPr>
          <a:xfrm>
            <a:off x="4610100" y="4437112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欧拉环游遍历</a:t>
            </a:r>
          </a:p>
        </p:txBody>
      </p:sp>
    </p:spTree>
    <p:extLst>
      <p:ext uri="{BB962C8B-B14F-4D97-AF65-F5344CB8AC3E}">
        <p14:creationId xmlns:p14="http://schemas.microsoft.com/office/powerpoint/2010/main" val="776827396"/>
      </p:ext>
    </p:extLst>
  </p:cSld>
  <p:clrMapOvr>
    <a:masterClrMapping/>
  </p:clrMapOvr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63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63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3909" grpId="0"/>
      <p:bldP spid="76398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14" name="Group 6"/>
          <p:cNvGrpSpPr/>
          <p:nvPr/>
        </p:nvGrpSpPr>
        <p:grpSpPr>
          <a:xfrm>
            <a:off x="179512" y="1484784"/>
            <a:ext cx="4596212" cy="4608508"/>
            <a:chOff x="96" y="1488"/>
            <a:chExt cx="2256" cy="2400"/>
          </a:xfrm>
        </p:grpSpPr>
        <p:sp>
          <p:nvSpPr>
            <p:cNvPr id="61443" name="Oval 7"/>
            <p:cNvSpPr>
              <a:spLocks noChangeArrowheads="1"/>
            </p:cNvSpPr>
            <p:nvPr/>
          </p:nvSpPr>
          <p:spPr bwMode="auto">
            <a:xfrm>
              <a:off x="1207" y="1510"/>
              <a:ext cx="231" cy="23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000080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61444" name="Oval 8"/>
            <p:cNvSpPr>
              <a:spLocks noChangeArrowheads="1"/>
            </p:cNvSpPr>
            <p:nvPr/>
          </p:nvSpPr>
          <p:spPr bwMode="auto">
            <a:xfrm>
              <a:off x="836" y="3155"/>
              <a:ext cx="232" cy="233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000080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F</a:t>
              </a:r>
            </a:p>
          </p:txBody>
        </p:sp>
        <p:sp>
          <p:nvSpPr>
            <p:cNvPr id="61445" name="Oval 9"/>
            <p:cNvSpPr>
              <a:spLocks noChangeArrowheads="1"/>
            </p:cNvSpPr>
            <p:nvPr/>
          </p:nvSpPr>
          <p:spPr bwMode="auto">
            <a:xfrm>
              <a:off x="1207" y="2599"/>
              <a:ext cx="231" cy="233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000080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E</a:t>
              </a:r>
            </a:p>
          </p:txBody>
        </p:sp>
        <p:sp>
          <p:nvSpPr>
            <p:cNvPr id="61446" name="Oval 10"/>
            <p:cNvSpPr>
              <a:spLocks noChangeArrowheads="1"/>
            </p:cNvSpPr>
            <p:nvPr/>
          </p:nvSpPr>
          <p:spPr bwMode="auto">
            <a:xfrm>
              <a:off x="489" y="2621"/>
              <a:ext cx="232" cy="23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000080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D</a:t>
              </a:r>
            </a:p>
          </p:txBody>
        </p:sp>
        <p:sp>
          <p:nvSpPr>
            <p:cNvPr id="61447" name="Oval 11"/>
            <p:cNvSpPr>
              <a:spLocks noChangeArrowheads="1"/>
            </p:cNvSpPr>
            <p:nvPr/>
          </p:nvSpPr>
          <p:spPr bwMode="auto">
            <a:xfrm>
              <a:off x="1727" y="2010"/>
              <a:ext cx="232" cy="23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000080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C</a:t>
              </a:r>
            </a:p>
          </p:txBody>
        </p:sp>
        <p:sp>
          <p:nvSpPr>
            <p:cNvPr id="61448" name="Oval 12"/>
            <p:cNvSpPr>
              <a:spLocks noChangeArrowheads="1"/>
            </p:cNvSpPr>
            <p:nvPr/>
          </p:nvSpPr>
          <p:spPr bwMode="auto">
            <a:xfrm>
              <a:off x="825" y="2044"/>
              <a:ext cx="231" cy="233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000080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61449" name="Oval 13"/>
            <p:cNvSpPr>
              <a:spLocks noChangeArrowheads="1"/>
            </p:cNvSpPr>
            <p:nvPr/>
          </p:nvSpPr>
          <p:spPr bwMode="auto">
            <a:xfrm>
              <a:off x="1542" y="3177"/>
              <a:ext cx="232" cy="233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000080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G</a:t>
              </a:r>
            </a:p>
          </p:txBody>
        </p:sp>
        <p:sp>
          <p:nvSpPr>
            <p:cNvPr id="61450" name="Line 14"/>
            <p:cNvSpPr>
              <a:spLocks noChangeShapeType="1"/>
            </p:cNvSpPr>
            <p:nvPr/>
          </p:nvSpPr>
          <p:spPr bwMode="auto">
            <a:xfrm flipH="1">
              <a:off x="1022" y="1732"/>
              <a:ext cx="242" cy="33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51" name="Line 15"/>
            <p:cNvSpPr>
              <a:spLocks noChangeShapeType="1"/>
            </p:cNvSpPr>
            <p:nvPr/>
          </p:nvSpPr>
          <p:spPr bwMode="auto">
            <a:xfrm flipH="1">
              <a:off x="640" y="2288"/>
              <a:ext cx="243" cy="3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52" name="Line 16"/>
            <p:cNvSpPr>
              <a:spLocks noChangeShapeType="1"/>
            </p:cNvSpPr>
            <p:nvPr/>
          </p:nvSpPr>
          <p:spPr bwMode="auto">
            <a:xfrm flipH="1">
              <a:off x="1010" y="2832"/>
              <a:ext cx="243" cy="33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53" name="Line 17"/>
            <p:cNvSpPr>
              <a:spLocks noChangeShapeType="1"/>
            </p:cNvSpPr>
            <p:nvPr/>
          </p:nvSpPr>
          <p:spPr bwMode="auto">
            <a:xfrm flipH="1">
              <a:off x="1646" y="2221"/>
              <a:ext cx="104" cy="1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54" name="Line 18"/>
            <p:cNvSpPr>
              <a:spLocks noChangeShapeType="1"/>
            </p:cNvSpPr>
            <p:nvPr/>
          </p:nvSpPr>
          <p:spPr bwMode="auto">
            <a:xfrm>
              <a:off x="1403" y="1710"/>
              <a:ext cx="347" cy="33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55" name="Line 19"/>
            <p:cNvSpPr>
              <a:spLocks noChangeShapeType="1"/>
            </p:cNvSpPr>
            <p:nvPr/>
          </p:nvSpPr>
          <p:spPr bwMode="auto">
            <a:xfrm>
              <a:off x="1010" y="2232"/>
              <a:ext cx="231" cy="3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56" name="Line 20"/>
            <p:cNvSpPr>
              <a:spLocks noChangeShapeType="1"/>
            </p:cNvSpPr>
            <p:nvPr/>
          </p:nvSpPr>
          <p:spPr bwMode="auto">
            <a:xfrm>
              <a:off x="1392" y="2799"/>
              <a:ext cx="231" cy="3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57" name="Oval 21"/>
            <p:cNvSpPr>
              <a:spLocks noChangeArrowheads="1"/>
            </p:cNvSpPr>
            <p:nvPr/>
          </p:nvSpPr>
          <p:spPr bwMode="auto">
            <a:xfrm>
              <a:off x="316" y="2999"/>
              <a:ext cx="92" cy="1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58" name="Oval 22"/>
            <p:cNvSpPr>
              <a:spLocks noChangeArrowheads="1"/>
            </p:cNvSpPr>
            <p:nvPr/>
          </p:nvSpPr>
          <p:spPr bwMode="auto">
            <a:xfrm>
              <a:off x="709" y="3021"/>
              <a:ext cx="93" cy="1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59" name="Oval 23"/>
            <p:cNvSpPr>
              <a:spLocks noChangeArrowheads="1"/>
            </p:cNvSpPr>
            <p:nvPr/>
          </p:nvSpPr>
          <p:spPr bwMode="auto">
            <a:xfrm>
              <a:off x="674" y="3521"/>
              <a:ext cx="93" cy="1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60" name="Oval 24"/>
            <p:cNvSpPr>
              <a:spLocks noChangeArrowheads="1"/>
            </p:cNvSpPr>
            <p:nvPr/>
          </p:nvSpPr>
          <p:spPr bwMode="auto">
            <a:xfrm>
              <a:off x="1033" y="3532"/>
              <a:ext cx="93" cy="1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61" name="Oval 25"/>
            <p:cNvSpPr>
              <a:spLocks noChangeArrowheads="1"/>
            </p:cNvSpPr>
            <p:nvPr/>
          </p:nvSpPr>
          <p:spPr bwMode="auto">
            <a:xfrm>
              <a:off x="1450" y="3599"/>
              <a:ext cx="92" cy="1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62" name="Oval 26"/>
            <p:cNvSpPr>
              <a:spLocks noChangeArrowheads="1"/>
            </p:cNvSpPr>
            <p:nvPr/>
          </p:nvSpPr>
          <p:spPr bwMode="auto">
            <a:xfrm>
              <a:off x="1820" y="3555"/>
              <a:ext cx="92" cy="1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63" name="Oval 27"/>
            <p:cNvSpPr>
              <a:spLocks noChangeArrowheads="1"/>
            </p:cNvSpPr>
            <p:nvPr/>
          </p:nvSpPr>
          <p:spPr bwMode="auto">
            <a:xfrm>
              <a:off x="2040" y="2366"/>
              <a:ext cx="92" cy="1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64" name="Line 28"/>
            <p:cNvSpPr>
              <a:spLocks noChangeShapeType="1"/>
            </p:cNvSpPr>
            <p:nvPr/>
          </p:nvSpPr>
          <p:spPr bwMode="auto">
            <a:xfrm flipH="1">
              <a:off x="385" y="2844"/>
              <a:ext cx="127" cy="1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65" name="Line 29"/>
            <p:cNvSpPr>
              <a:spLocks noChangeShapeType="1"/>
            </p:cNvSpPr>
            <p:nvPr/>
          </p:nvSpPr>
          <p:spPr bwMode="auto">
            <a:xfrm>
              <a:off x="651" y="2855"/>
              <a:ext cx="81" cy="1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66" name="Line 30"/>
            <p:cNvSpPr>
              <a:spLocks noChangeShapeType="1"/>
            </p:cNvSpPr>
            <p:nvPr/>
          </p:nvSpPr>
          <p:spPr bwMode="auto">
            <a:xfrm flipV="1">
              <a:off x="721" y="3744"/>
              <a:ext cx="58" cy="33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67" name="Line 31"/>
            <p:cNvSpPr>
              <a:spLocks noChangeShapeType="1"/>
            </p:cNvSpPr>
            <p:nvPr/>
          </p:nvSpPr>
          <p:spPr bwMode="auto">
            <a:xfrm>
              <a:off x="1022" y="3766"/>
              <a:ext cx="104" cy="2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68" name="Line 32"/>
            <p:cNvSpPr>
              <a:spLocks noChangeShapeType="1"/>
            </p:cNvSpPr>
            <p:nvPr/>
          </p:nvSpPr>
          <p:spPr bwMode="auto">
            <a:xfrm flipV="1">
              <a:off x="1531" y="3844"/>
              <a:ext cx="57" cy="33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69" name="Line 33"/>
            <p:cNvSpPr>
              <a:spLocks noChangeShapeType="1"/>
            </p:cNvSpPr>
            <p:nvPr/>
          </p:nvSpPr>
          <p:spPr bwMode="auto">
            <a:xfrm>
              <a:off x="96" y="3099"/>
              <a:ext cx="35" cy="10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70" name="Line 34"/>
            <p:cNvSpPr>
              <a:spLocks noChangeShapeType="1"/>
            </p:cNvSpPr>
            <p:nvPr/>
          </p:nvSpPr>
          <p:spPr bwMode="auto">
            <a:xfrm>
              <a:off x="212" y="3288"/>
              <a:ext cx="104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71" name="Line 35"/>
            <p:cNvSpPr>
              <a:spLocks noChangeShapeType="1"/>
            </p:cNvSpPr>
            <p:nvPr/>
          </p:nvSpPr>
          <p:spPr bwMode="auto">
            <a:xfrm flipV="1">
              <a:off x="2329" y="2444"/>
              <a:ext cx="11" cy="10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72" name="Line 36"/>
            <p:cNvSpPr>
              <a:spLocks noChangeShapeType="1"/>
            </p:cNvSpPr>
            <p:nvPr/>
          </p:nvSpPr>
          <p:spPr bwMode="auto">
            <a:xfrm flipH="1">
              <a:off x="779" y="1555"/>
              <a:ext cx="381" cy="489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73" name="Line 37"/>
            <p:cNvSpPr>
              <a:spLocks noChangeShapeType="1"/>
            </p:cNvSpPr>
            <p:nvPr/>
          </p:nvSpPr>
          <p:spPr bwMode="auto">
            <a:xfrm flipH="1">
              <a:off x="131" y="2044"/>
              <a:ext cx="671" cy="92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74" name="Line 38"/>
            <p:cNvSpPr>
              <a:spLocks noChangeShapeType="1"/>
            </p:cNvSpPr>
            <p:nvPr/>
          </p:nvSpPr>
          <p:spPr bwMode="auto">
            <a:xfrm flipH="1">
              <a:off x="108" y="2955"/>
              <a:ext cx="23" cy="12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75" name="Line 39"/>
            <p:cNvSpPr>
              <a:spLocks noChangeShapeType="1"/>
            </p:cNvSpPr>
            <p:nvPr/>
          </p:nvSpPr>
          <p:spPr bwMode="auto">
            <a:xfrm>
              <a:off x="131" y="3210"/>
              <a:ext cx="81" cy="6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76" name="Line 40"/>
            <p:cNvSpPr>
              <a:spLocks noChangeShapeType="1"/>
            </p:cNvSpPr>
            <p:nvPr/>
          </p:nvSpPr>
          <p:spPr bwMode="auto">
            <a:xfrm flipV="1">
              <a:off x="339" y="3232"/>
              <a:ext cx="93" cy="5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77" name="Line 41"/>
            <p:cNvSpPr>
              <a:spLocks noChangeShapeType="1"/>
            </p:cNvSpPr>
            <p:nvPr/>
          </p:nvSpPr>
          <p:spPr bwMode="auto">
            <a:xfrm flipV="1">
              <a:off x="432" y="3044"/>
              <a:ext cx="115" cy="20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78" name="Line 42"/>
            <p:cNvSpPr>
              <a:spLocks noChangeShapeType="1"/>
            </p:cNvSpPr>
            <p:nvPr/>
          </p:nvSpPr>
          <p:spPr bwMode="auto">
            <a:xfrm>
              <a:off x="536" y="3055"/>
              <a:ext cx="115" cy="189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79" name="Line 43"/>
            <p:cNvSpPr>
              <a:spLocks noChangeShapeType="1"/>
            </p:cNvSpPr>
            <p:nvPr/>
          </p:nvSpPr>
          <p:spPr bwMode="auto">
            <a:xfrm flipV="1">
              <a:off x="663" y="3210"/>
              <a:ext cx="92" cy="3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80" name="Line 44"/>
            <p:cNvSpPr>
              <a:spLocks noChangeShapeType="1"/>
            </p:cNvSpPr>
            <p:nvPr/>
          </p:nvSpPr>
          <p:spPr bwMode="auto">
            <a:xfrm flipV="1">
              <a:off x="779" y="3088"/>
              <a:ext cx="81" cy="11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81" name="Line 45"/>
            <p:cNvSpPr>
              <a:spLocks noChangeShapeType="1"/>
            </p:cNvSpPr>
            <p:nvPr/>
          </p:nvSpPr>
          <p:spPr bwMode="auto">
            <a:xfrm>
              <a:off x="790" y="2721"/>
              <a:ext cx="81" cy="35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82" name="Line 46"/>
            <p:cNvSpPr>
              <a:spLocks noChangeShapeType="1"/>
            </p:cNvSpPr>
            <p:nvPr/>
          </p:nvSpPr>
          <p:spPr bwMode="auto">
            <a:xfrm flipV="1">
              <a:off x="790" y="2444"/>
              <a:ext cx="174" cy="27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83" name="Line 47"/>
            <p:cNvSpPr>
              <a:spLocks noChangeShapeType="1"/>
            </p:cNvSpPr>
            <p:nvPr/>
          </p:nvSpPr>
          <p:spPr bwMode="auto">
            <a:xfrm>
              <a:off x="975" y="2432"/>
              <a:ext cx="162" cy="26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84" name="Line 48"/>
            <p:cNvSpPr>
              <a:spLocks noChangeShapeType="1"/>
            </p:cNvSpPr>
            <p:nvPr/>
          </p:nvSpPr>
          <p:spPr bwMode="auto">
            <a:xfrm flipH="1">
              <a:off x="570" y="2710"/>
              <a:ext cx="567" cy="86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85" name="Line 49"/>
            <p:cNvSpPr>
              <a:spLocks noChangeShapeType="1"/>
            </p:cNvSpPr>
            <p:nvPr/>
          </p:nvSpPr>
          <p:spPr bwMode="auto">
            <a:xfrm>
              <a:off x="559" y="3599"/>
              <a:ext cx="23" cy="11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86" name="Line 50"/>
            <p:cNvSpPr>
              <a:spLocks noChangeShapeType="1"/>
            </p:cNvSpPr>
            <p:nvPr/>
          </p:nvSpPr>
          <p:spPr bwMode="auto">
            <a:xfrm>
              <a:off x="582" y="3732"/>
              <a:ext cx="127" cy="45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87" name="Line 51"/>
            <p:cNvSpPr>
              <a:spLocks noChangeShapeType="1"/>
            </p:cNvSpPr>
            <p:nvPr/>
          </p:nvSpPr>
          <p:spPr bwMode="auto">
            <a:xfrm flipV="1">
              <a:off x="779" y="3488"/>
              <a:ext cx="150" cy="24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88" name="Line 52"/>
            <p:cNvSpPr>
              <a:spLocks noChangeShapeType="1"/>
            </p:cNvSpPr>
            <p:nvPr/>
          </p:nvSpPr>
          <p:spPr bwMode="auto">
            <a:xfrm>
              <a:off x="929" y="3510"/>
              <a:ext cx="104" cy="26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89" name="Line 53"/>
            <p:cNvSpPr>
              <a:spLocks noChangeShapeType="1"/>
            </p:cNvSpPr>
            <p:nvPr/>
          </p:nvSpPr>
          <p:spPr bwMode="auto">
            <a:xfrm flipV="1">
              <a:off x="1126" y="3744"/>
              <a:ext cx="104" cy="55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90" name="Line 54"/>
            <p:cNvSpPr>
              <a:spLocks noChangeShapeType="1"/>
            </p:cNvSpPr>
            <p:nvPr/>
          </p:nvSpPr>
          <p:spPr bwMode="auto">
            <a:xfrm flipV="1">
              <a:off x="1241" y="3610"/>
              <a:ext cx="47" cy="145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91" name="Line 55"/>
            <p:cNvSpPr>
              <a:spLocks noChangeShapeType="1"/>
            </p:cNvSpPr>
            <p:nvPr/>
          </p:nvSpPr>
          <p:spPr bwMode="auto">
            <a:xfrm flipH="1" flipV="1">
              <a:off x="1137" y="3232"/>
              <a:ext cx="151" cy="40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92" name="Line 56"/>
            <p:cNvSpPr>
              <a:spLocks noChangeShapeType="1"/>
            </p:cNvSpPr>
            <p:nvPr/>
          </p:nvSpPr>
          <p:spPr bwMode="auto">
            <a:xfrm flipV="1">
              <a:off x="1137" y="2944"/>
              <a:ext cx="208" cy="31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93" name="Line 57"/>
            <p:cNvSpPr>
              <a:spLocks noChangeShapeType="1"/>
            </p:cNvSpPr>
            <p:nvPr/>
          </p:nvSpPr>
          <p:spPr bwMode="auto">
            <a:xfrm>
              <a:off x="1334" y="2966"/>
              <a:ext cx="150" cy="311"/>
            </a:xfrm>
            <a:prstGeom prst="line">
              <a:avLst/>
            </a:prstGeom>
            <a:noFill/>
            <a:ln w="38100" cap="rnd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94" name="Line 58"/>
            <p:cNvSpPr>
              <a:spLocks noChangeShapeType="1"/>
            </p:cNvSpPr>
            <p:nvPr/>
          </p:nvSpPr>
          <p:spPr bwMode="auto">
            <a:xfrm flipH="1">
              <a:off x="1345" y="3244"/>
              <a:ext cx="139" cy="50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95" name="Line 59"/>
            <p:cNvSpPr>
              <a:spLocks noChangeShapeType="1"/>
            </p:cNvSpPr>
            <p:nvPr/>
          </p:nvSpPr>
          <p:spPr bwMode="auto">
            <a:xfrm>
              <a:off x="1345" y="3766"/>
              <a:ext cx="81" cy="89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96" name="Line 60"/>
            <p:cNvSpPr>
              <a:spLocks noChangeShapeType="1"/>
            </p:cNvSpPr>
            <p:nvPr/>
          </p:nvSpPr>
          <p:spPr bwMode="auto">
            <a:xfrm>
              <a:off x="1426" y="3866"/>
              <a:ext cx="105" cy="2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97" name="Line 61"/>
            <p:cNvSpPr>
              <a:spLocks noChangeShapeType="1"/>
            </p:cNvSpPr>
            <p:nvPr/>
          </p:nvSpPr>
          <p:spPr bwMode="auto">
            <a:xfrm flipV="1">
              <a:off x="1577" y="3466"/>
              <a:ext cx="104" cy="378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98" name="Line 62"/>
            <p:cNvSpPr>
              <a:spLocks noChangeShapeType="1"/>
            </p:cNvSpPr>
            <p:nvPr/>
          </p:nvSpPr>
          <p:spPr bwMode="auto">
            <a:xfrm>
              <a:off x="1693" y="3477"/>
              <a:ext cx="185" cy="389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499" name="Line 63"/>
            <p:cNvSpPr>
              <a:spLocks noChangeShapeType="1"/>
            </p:cNvSpPr>
            <p:nvPr/>
          </p:nvSpPr>
          <p:spPr bwMode="auto">
            <a:xfrm flipV="1">
              <a:off x="1866" y="3799"/>
              <a:ext cx="174" cy="5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500" name="Line 64"/>
            <p:cNvSpPr>
              <a:spLocks noChangeShapeType="1"/>
            </p:cNvSpPr>
            <p:nvPr/>
          </p:nvSpPr>
          <p:spPr bwMode="auto">
            <a:xfrm flipV="1">
              <a:off x="2040" y="3677"/>
              <a:ext cx="69" cy="11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501" name="Line 65"/>
            <p:cNvSpPr>
              <a:spLocks noChangeShapeType="1"/>
            </p:cNvSpPr>
            <p:nvPr/>
          </p:nvSpPr>
          <p:spPr bwMode="auto">
            <a:xfrm flipH="1" flipV="1">
              <a:off x="1149" y="2099"/>
              <a:ext cx="960" cy="156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502" name="Line 66"/>
            <p:cNvSpPr>
              <a:spLocks noChangeShapeType="1"/>
            </p:cNvSpPr>
            <p:nvPr/>
          </p:nvSpPr>
          <p:spPr bwMode="auto">
            <a:xfrm flipV="1">
              <a:off x="1669" y="2332"/>
              <a:ext cx="174" cy="278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503" name="Line 67"/>
            <p:cNvSpPr>
              <a:spLocks noChangeShapeType="1"/>
            </p:cNvSpPr>
            <p:nvPr/>
          </p:nvSpPr>
          <p:spPr bwMode="auto">
            <a:xfrm>
              <a:off x="1866" y="2399"/>
              <a:ext cx="139" cy="20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504" name="Line 68"/>
            <p:cNvSpPr>
              <a:spLocks noChangeShapeType="1"/>
            </p:cNvSpPr>
            <p:nvPr/>
          </p:nvSpPr>
          <p:spPr bwMode="auto">
            <a:xfrm>
              <a:off x="1970" y="2577"/>
              <a:ext cx="162" cy="78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505" name="Line 69"/>
            <p:cNvSpPr>
              <a:spLocks noChangeShapeType="1"/>
            </p:cNvSpPr>
            <p:nvPr/>
          </p:nvSpPr>
          <p:spPr bwMode="auto">
            <a:xfrm flipV="1">
              <a:off x="2190" y="2577"/>
              <a:ext cx="81" cy="6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506" name="Line 70"/>
            <p:cNvSpPr>
              <a:spLocks noChangeShapeType="1"/>
            </p:cNvSpPr>
            <p:nvPr/>
          </p:nvSpPr>
          <p:spPr bwMode="auto">
            <a:xfrm flipH="1" flipV="1">
              <a:off x="1519" y="1488"/>
              <a:ext cx="833" cy="933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507" name="Line 71"/>
            <p:cNvSpPr>
              <a:spLocks noChangeShapeType="1"/>
            </p:cNvSpPr>
            <p:nvPr/>
          </p:nvSpPr>
          <p:spPr bwMode="auto">
            <a:xfrm flipH="1">
              <a:off x="755" y="3366"/>
              <a:ext cx="128" cy="1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508" name="Line 72"/>
            <p:cNvSpPr>
              <a:spLocks noChangeShapeType="1"/>
            </p:cNvSpPr>
            <p:nvPr/>
          </p:nvSpPr>
          <p:spPr bwMode="auto">
            <a:xfrm flipH="1">
              <a:off x="1531" y="3399"/>
              <a:ext cx="104" cy="1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509" name="Line 73"/>
            <p:cNvSpPr>
              <a:spLocks noChangeShapeType="1"/>
            </p:cNvSpPr>
            <p:nvPr/>
          </p:nvSpPr>
          <p:spPr bwMode="auto">
            <a:xfrm>
              <a:off x="998" y="3366"/>
              <a:ext cx="81" cy="1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510" name="Line 74"/>
            <p:cNvSpPr>
              <a:spLocks noChangeShapeType="1"/>
            </p:cNvSpPr>
            <p:nvPr/>
          </p:nvSpPr>
          <p:spPr bwMode="auto">
            <a:xfrm>
              <a:off x="1762" y="3377"/>
              <a:ext cx="81" cy="1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511" name="Line 75"/>
            <p:cNvSpPr>
              <a:spLocks noChangeShapeType="1"/>
            </p:cNvSpPr>
            <p:nvPr/>
          </p:nvSpPr>
          <p:spPr bwMode="auto">
            <a:xfrm>
              <a:off x="1912" y="2210"/>
              <a:ext cx="139" cy="1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512" name="Oval 76"/>
            <p:cNvSpPr>
              <a:spLocks noChangeArrowheads="1"/>
            </p:cNvSpPr>
            <p:nvPr/>
          </p:nvSpPr>
          <p:spPr bwMode="auto">
            <a:xfrm>
              <a:off x="1577" y="2388"/>
              <a:ext cx="92" cy="1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513" name="Line 77"/>
            <p:cNvSpPr>
              <a:spLocks noChangeShapeType="1"/>
            </p:cNvSpPr>
            <p:nvPr/>
          </p:nvSpPr>
          <p:spPr bwMode="auto">
            <a:xfrm flipV="1">
              <a:off x="1160" y="1855"/>
              <a:ext cx="174" cy="27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514" name="Line 78"/>
            <p:cNvSpPr>
              <a:spLocks noChangeShapeType="1"/>
            </p:cNvSpPr>
            <p:nvPr/>
          </p:nvSpPr>
          <p:spPr bwMode="auto">
            <a:xfrm>
              <a:off x="1369" y="1910"/>
              <a:ext cx="243" cy="256"/>
            </a:xfrm>
            <a:prstGeom prst="line">
              <a:avLst/>
            </a:prstGeom>
            <a:noFill/>
            <a:ln w="38100" cap="rnd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515" name="Line 79"/>
            <p:cNvSpPr>
              <a:spLocks noChangeShapeType="1"/>
            </p:cNvSpPr>
            <p:nvPr/>
          </p:nvSpPr>
          <p:spPr bwMode="auto">
            <a:xfrm flipV="1">
              <a:off x="1473" y="2110"/>
              <a:ext cx="173" cy="278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516" name="Line 80"/>
            <p:cNvSpPr>
              <a:spLocks noChangeShapeType="1"/>
            </p:cNvSpPr>
            <p:nvPr/>
          </p:nvSpPr>
          <p:spPr bwMode="auto">
            <a:xfrm>
              <a:off x="1496" y="2432"/>
              <a:ext cx="23" cy="11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517" name="Line 81"/>
            <p:cNvSpPr>
              <a:spLocks noChangeShapeType="1"/>
            </p:cNvSpPr>
            <p:nvPr/>
          </p:nvSpPr>
          <p:spPr bwMode="auto">
            <a:xfrm>
              <a:off x="1519" y="2566"/>
              <a:ext cx="127" cy="4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765012" name="Rectangle 84"/>
          <p:cNvSpPr>
            <a:spLocks noChangeArrowheads="1"/>
          </p:cNvSpPr>
          <p:nvPr/>
        </p:nvSpPr>
        <p:spPr bwMode="auto">
          <a:xfrm>
            <a:off x="4775724" y="2217738"/>
            <a:ext cx="4188764" cy="3247877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时间效率：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O(n)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//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每个结点只访问一次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空间效率</a:t>
            </a:r>
            <a:r>
              <a:rPr kumimoji="1" lang="zh-CN" altLang="en-US" b="0" dirty="0">
                <a:solidFill>
                  <a:srgbClr val="FF3300"/>
                </a:solidFill>
                <a:latin typeface="+mn-ea"/>
                <a:ea typeface="+mn-ea"/>
                <a:cs typeface="+mn-ea"/>
                <a:sym typeface="+mn-lt"/>
              </a:rPr>
              <a:t>：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O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(n)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 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//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栈占用的最大辅助空间</a:t>
            </a:r>
          </a:p>
        </p:txBody>
      </p:sp>
      <p:sp>
        <p:nvSpPr>
          <p:cNvPr id="61519" name="Rectangle 86"/>
          <p:cNvSpPr>
            <a:spLocks noChangeArrowheads="1"/>
          </p:cNvSpPr>
          <p:nvPr/>
        </p:nvSpPr>
        <p:spPr bwMode="auto">
          <a:xfrm>
            <a:off x="841375" y="228600"/>
            <a:ext cx="36941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递归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遍历算法的分析</a:t>
            </a:r>
          </a:p>
        </p:txBody>
      </p:sp>
      <p:cxnSp>
        <p:nvCxnSpPr>
          <p:cNvPr id="64517" name="直接连接符 2"/>
          <p:cNvCxnSpPr>
            <a:cxnSpLocks/>
          </p:cNvCxnSpPr>
          <p:nvPr/>
        </p:nvCxnSpPr>
        <p:spPr>
          <a:xfrm>
            <a:off x="4775724" y="3470275"/>
            <a:ext cx="4044748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4518" name="直接连接符 82"/>
          <p:cNvCxnSpPr>
            <a:cxnSpLocks/>
          </p:cNvCxnSpPr>
          <p:nvPr/>
        </p:nvCxnSpPr>
        <p:spPr>
          <a:xfrm>
            <a:off x="4775724" y="5383212"/>
            <a:ext cx="4044748" cy="1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41865444"/>
      </p:ext>
    </p:extLst>
  </p:cSld>
  <p:clrMapOvr>
    <a:masterClrMapping/>
  </p:clrMapOvr>
  <p:transition>
    <p:split orient="vert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7945CA-05D3-49FE-B301-A2686A788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二叉树递归遍历算法的应用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BD80626F-5441-4FC8-9DC7-06B9132EF8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757385"/>
            <a:ext cx="2772171" cy="2772171"/>
          </a:xfrm>
          <a:prstGeom prst="rect">
            <a:avLst/>
          </a:prstGeom>
        </p:spPr>
      </p:pic>
      <p:sp>
        <p:nvSpPr>
          <p:cNvPr id="33" name="TextBox 16">
            <a:extLst>
              <a:ext uri="{FF2B5EF4-FFF2-40B4-BE49-F238E27FC236}">
                <a16:creationId xmlns:a16="http://schemas.microsoft.com/office/drawing/2014/main" id="{9A003F1E-354B-48EA-9B90-D888623F9D06}"/>
              </a:ext>
            </a:extLst>
          </p:cNvPr>
          <p:cNvSpPr txBox="1"/>
          <p:nvPr/>
        </p:nvSpPr>
        <p:spPr>
          <a:xfrm>
            <a:off x="971600" y="1149349"/>
            <a:ext cx="1643074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基本思路</a:t>
            </a:r>
          </a:p>
        </p:txBody>
      </p:sp>
      <p:sp>
        <p:nvSpPr>
          <p:cNvPr id="24" name="Line 7">
            <a:extLst>
              <a:ext uri="{FF2B5EF4-FFF2-40B4-BE49-F238E27FC236}">
                <a16:creationId xmlns:a16="http://schemas.microsoft.com/office/drawing/2014/main" id="{CF68C980-8B99-42E9-A24B-1C20CFE655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4139" y="2271191"/>
            <a:ext cx="182629" cy="429853"/>
          </a:xfrm>
          <a:prstGeom prst="line">
            <a:avLst/>
          </a:prstGeom>
          <a:noFill/>
          <a:ln w="28575">
            <a:solidFill>
              <a:srgbClr val="FF00FF"/>
            </a:solidFill>
            <a:miter lim="800000"/>
            <a:tailEnd type="triangle" w="med" len="med"/>
          </a:ln>
          <a:effectLst/>
        </p:spPr>
        <p:txBody>
          <a:bodyPr wrap="none"/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endParaRPr kumimoji="1" lang="zh-CN" altLang="en-US">
              <a:solidFill>
                <a:srgbClr val="0033CC"/>
              </a:solidFill>
              <a:ea typeface="楷体_GB2312" pitchFamily="49" charset="-122"/>
            </a:endParaRPr>
          </a:p>
        </p:txBody>
      </p:sp>
      <p:sp>
        <p:nvSpPr>
          <p:cNvPr id="25" name="Text Box 12">
            <a:extLst>
              <a:ext uri="{FF2B5EF4-FFF2-40B4-BE49-F238E27FC236}">
                <a16:creationId xmlns:a16="http://schemas.microsoft.com/office/drawing/2014/main" id="{050189E6-F5F4-45BB-BC8B-246FAC7D2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989" y="2285844"/>
            <a:ext cx="927838" cy="4370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i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f </a:t>
            </a:r>
            <a:r>
              <a:rPr kumimoji="1"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kumimoji="1" lang="en-US" altLang="zh-CN" i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T </a:t>
            </a:r>
            <a:r>
              <a:rPr kumimoji="1"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26" name="Text Box 13">
            <a:extLst>
              <a:ext uri="{FF2B5EF4-FFF2-40B4-BE49-F238E27FC236}">
                <a16:creationId xmlns:a16="http://schemas.microsoft.com/office/drawing/2014/main" id="{7A81EAAE-D978-4B01-9C4D-CA737A11A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5651816"/>
            <a:ext cx="2303558" cy="4370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i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f </a:t>
            </a:r>
            <a:r>
              <a:rPr kumimoji="1"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kumimoji="1" lang="en-US" altLang="zh-CN" i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  <a:r>
              <a:rPr kumimoji="1"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-&gt;</a:t>
            </a:r>
            <a:r>
              <a:rPr kumimoji="1" lang="en-US" altLang="zh-CN" dirty="0" err="1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lchild</a:t>
            </a:r>
            <a:r>
              <a:rPr kumimoji="1"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27" name="Text Box 14">
            <a:extLst>
              <a:ext uri="{FF2B5EF4-FFF2-40B4-BE49-F238E27FC236}">
                <a16:creationId xmlns:a16="http://schemas.microsoft.com/office/drawing/2014/main" id="{163D3FB2-D6F9-42EC-9E7B-B84A11D2F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683" y="5622557"/>
            <a:ext cx="2303558" cy="4370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i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f </a:t>
            </a:r>
            <a:r>
              <a:rPr kumimoji="1"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kumimoji="1" lang="en-US" altLang="zh-CN" i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  <a:r>
              <a:rPr kumimoji="1"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-&gt;</a:t>
            </a:r>
            <a:r>
              <a:rPr kumimoji="1" lang="en-US" altLang="zh-CN" dirty="0" err="1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rchild</a:t>
            </a:r>
            <a:r>
              <a:rPr kumimoji="1" lang="en-US" altLang="zh-CN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28" name="Oval 15">
            <a:extLst>
              <a:ext uri="{FF2B5EF4-FFF2-40B4-BE49-F238E27FC236}">
                <a16:creationId xmlns:a16="http://schemas.microsoft.com/office/drawing/2014/main" id="{26FBE335-D6EB-4B8B-A2AB-28FB395EB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398" y="2701045"/>
            <a:ext cx="993591" cy="581645"/>
          </a:xfrm>
          <a:prstGeom prst="ellipse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  <a:tailEnd type="none" w="med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r</a:t>
            </a:r>
          </a:p>
        </p:txBody>
      </p:sp>
      <p:sp>
        <p:nvSpPr>
          <p:cNvPr id="29" name="AutoShape 16">
            <a:extLst>
              <a:ext uri="{FF2B5EF4-FFF2-40B4-BE49-F238E27FC236}">
                <a16:creationId xmlns:a16="http://schemas.microsoft.com/office/drawing/2014/main" id="{11E46115-1FBE-42C6-BF6F-83301F042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119" y="4490356"/>
            <a:ext cx="1324178" cy="912706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  <a:tailEnd type="none" w="med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1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L</a:t>
            </a:r>
          </a:p>
        </p:txBody>
      </p:sp>
      <p:sp>
        <p:nvSpPr>
          <p:cNvPr id="30" name="AutoShape 17">
            <a:extLst>
              <a:ext uri="{FF2B5EF4-FFF2-40B4-BE49-F238E27FC236}">
                <a16:creationId xmlns:a16="http://schemas.microsoft.com/office/drawing/2014/main" id="{1C1C060D-28F0-4E0D-93FC-1EF200E04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586" y="4490359"/>
            <a:ext cx="1324179" cy="912706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  <a:tailEnd type="none" w="med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R</a:t>
            </a:r>
          </a:p>
        </p:txBody>
      </p:sp>
      <p:sp>
        <p:nvSpPr>
          <p:cNvPr id="31" name="Line 18">
            <a:extLst>
              <a:ext uri="{FF2B5EF4-FFF2-40B4-BE49-F238E27FC236}">
                <a16:creationId xmlns:a16="http://schemas.microsoft.com/office/drawing/2014/main" id="{52253DEC-01F8-448B-BA81-543A11346C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7704" y="3213183"/>
            <a:ext cx="899960" cy="1277175"/>
          </a:xfrm>
          <a:prstGeom prst="line">
            <a:avLst/>
          </a:prstGeom>
          <a:noFill/>
          <a:ln w="25400" cap="flat" cmpd="sng" algn="ctr">
            <a:solidFill>
              <a:srgbClr val="4BACC6"/>
            </a:solidFill>
            <a:prstDash val="solid"/>
            <a:tailEnd type="stealth" w="med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Freeform 19">
            <a:extLst>
              <a:ext uri="{FF2B5EF4-FFF2-40B4-BE49-F238E27FC236}">
                <a16:creationId xmlns:a16="http://schemas.microsoft.com/office/drawing/2014/main" id="{1CA94782-292D-4F24-AF29-44182DA819C4}"/>
              </a:ext>
            </a:extLst>
          </p:cNvPr>
          <p:cNvSpPr/>
          <p:nvPr/>
        </p:nvSpPr>
        <p:spPr bwMode="auto">
          <a:xfrm>
            <a:off x="3392293" y="3231113"/>
            <a:ext cx="993591" cy="12771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42" y="364"/>
              </a:cxn>
            </a:cxnLst>
            <a:rect l="0" t="0" r="r" b="b"/>
            <a:pathLst>
              <a:path w="342" h="364">
                <a:moveTo>
                  <a:pt x="0" y="0"/>
                </a:moveTo>
                <a:lnTo>
                  <a:pt x="342" y="364"/>
                </a:lnTo>
              </a:path>
            </a:pathLst>
          </a:custGeom>
          <a:noFill/>
          <a:ln w="25400" cap="flat" cmpd="sng" algn="ctr">
            <a:solidFill>
              <a:srgbClr val="4BACC6"/>
            </a:solidFill>
            <a:prstDash val="solid"/>
            <a:headEnd type="none" w="med" len="med"/>
            <a:tailEnd type="stealth" w="med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" name="组合 22">
            <a:extLst>
              <a:ext uri="{FF2B5EF4-FFF2-40B4-BE49-F238E27FC236}">
                <a16:creationId xmlns:a16="http://schemas.microsoft.com/office/drawing/2014/main" id="{A7BE209B-60D6-4C43-9194-70278BE780E6}"/>
              </a:ext>
            </a:extLst>
          </p:cNvPr>
          <p:cNvGrpSpPr/>
          <p:nvPr/>
        </p:nvGrpSpPr>
        <p:grpSpPr>
          <a:xfrm>
            <a:off x="4882187" y="2334148"/>
            <a:ext cx="3124333" cy="3696089"/>
            <a:chOff x="5143504" y="2983576"/>
            <a:chExt cx="2715579" cy="3207934"/>
          </a:xfrm>
        </p:grpSpPr>
        <p:sp>
          <p:nvSpPr>
            <p:cNvPr id="35" name="TextBox 17">
              <a:extLst>
                <a:ext uri="{FF2B5EF4-FFF2-40B4-BE49-F238E27FC236}">
                  <a16:creationId xmlns:a16="http://schemas.microsoft.com/office/drawing/2014/main" id="{C6C4EFA1-D706-4BAB-85AF-2255271E400D}"/>
                </a:ext>
              </a:extLst>
            </p:cNvPr>
            <p:cNvSpPr txBox="1"/>
            <p:nvPr/>
          </p:nvSpPr>
          <p:spPr>
            <a:xfrm>
              <a:off x="6119792" y="2983576"/>
              <a:ext cx="1097172" cy="379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大问题</a:t>
              </a:r>
            </a:p>
          </p:txBody>
        </p:sp>
        <p:sp>
          <p:nvSpPr>
            <p:cNvPr id="36" name="TextBox 18">
              <a:extLst>
                <a:ext uri="{FF2B5EF4-FFF2-40B4-BE49-F238E27FC236}">
                  <a16:creationId xmlns:a16="http://schemas.microsoft.com/office/drawing/2014/main" id="{348C7681-4254-40C6-92F4-852372363E99}"/>
                </a:ext>
              </a:extLst>
            </p:cNvPr>
            <p:cNvSpPr txBox="1"/>
            <p:nvPr/>
          </p:nvSpPr>
          <p:spPr>
            <a:xfrm>
              <a:off x="6119792" y="5616462"/>
              <a:ext cx="1739291" cy="575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两个小问题</a:t>
              </a:r>
            </a:p>
          </p:txBody>
        </p:sp>
        <p:sp>
          <p:nvSpPr>
            <p:cNvPr id="37" name="右箭头 19">
              <a:extLst>
                <a:ext uri="{FF2B5EF4-FFF2-40B4-BE49-F238E27FC236}">
                  <a16:creationId xmlns:a16="http://schemas.microsoft.com/office/drawing/2014/main" id="{2739B58F-379F-4B12-A31D-82244B306C94}"/>
                </a:ext>
              </a:extLst>
            </p:cNvPr>
            <p:cNvSpPr/>
            <p:nvPr/>
          </p:nvSpPr>
          <p:spPr>
            <a:xfrm>
              <a:off x="5143504" y="3071810"/>
              <a:ext cx="928694" cy="142876"/>
            </a:xfrm>
            <a:prstGeom prst="rightArrow">
              <a:avLst/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右箭头 20">
              <a:extLst>
                <a:ext uri="{FF2B5EF4-FFF2-40B4-BE49-F238E27FC236}">
                  <a16:creationId xmlns:a16="http://schemas.microsoft.com/office/drawing/2014/main" id="{3BCB6B33-7D57-4D01-96EB-EC14258A7F3A}"/>
                </a:ext>
              </a:extLst>
            </p:cNvPr>
            <p:cNvSpPr/>
            <p:nvPr/>
          </p:nvSpPr>
          <p:spPr>
            <a:xfrm>
              <a:off x="5759792" y="5933752"/>
              <a:ext cx="360000" cy="142876"/>
            </a:xfrm>
            <a:prstGeom prst="rightArrow">
              <a:avLst/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9" name="组合 26">
            <a:extLst>
              <a:ext uri="{FF2B5EF4-FFF2-40B4-BE49-F238E27FC236}">
                <a16:creationId xmlns:a16="http://schemas.microsoft.com/office/drawing/2014/main" id="{47019F9C-78EE-4852-B054-7383A97CCBA4}"/>
              </a:ext>
            </a:extLst>
          </p:cNvPr>
          <p:cNvGrpSpPr/>
          <p:nvPr/>
        </p:nvGrpSpPr>
        <p:grpSpPr>
          <a:xfrm>
            <a:off x="6591122" y="2852936"/>
            <a:ext cx="2053219" cy="2448273"/>
            <a:chOff x="5700167" y="3433847"/>
            <a:chExt cx="1784598" cy="2124921"/>
          </a:xfrm>
        </p:grpSpPr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4023DA5D-284C-40A9-958D-625883D3C379}"/>
                </a:ext>
              </a:extLst>
            </p:cNvPr>
            <p:cNvCxnSpPr>
              <a:cxnSpLocks/>
            </p:cNvCxnSpPr>
            <p:nvPr/>
          </p:nvCxnSpPr>
          <p:spPr>
            <a:xfrm>
              <a:off x="5700167" y="3433847"/>
              <a:ext cx="0" cy="2124921"/>
            </a:xfrm>
            <a:prstGeom prst="straightConnector1">
              <a:avLst/>
            </a:prstGeom>
            <a:noFill/>
            <a:ln w="38100" cap="flat" cmpd="sng" algn="ctr">
              <a:solidFill>
                <a:srgbClr val="7030A0"/>
              </a:solidFill>
              <a:prstDash val="solid"/>
              <a:headEnd type="arrow"/>
              <a:tailEnd type="arrow"/>
            </a:ln>
            <a:effectLst/>
          </p:spPr>
        </p:cxnSp>
        <p:sp>
          <p:nvSpPr>
            <p:cNvPr id="41" name="TextBox 25">
              <a:extLst>
                <a:ext uri="{FF2B5EF4-FFF2-40B4-BE49-F238E27FC236}">
                  <a16:creationId xmlns:a16="http://schemas.microsoft.com/office/drawing/2014/main" id="{62A5D0D2-BB24-4364-AF47-927FAC8213C6}"/>
                </a:ext>
              </a:extLst>
            </p:cNvPr>
            <p:cNvSpPr txBox="1"/>
            <p:nvPr/>
          </p:nvSpPr>
          <p:spPr>
            <a:xfrm>
              <a:off x="5745470" y="3534612"/>
              <a:ext cx="1739295" cy="1696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</a:rPr>
                <a:t>求解过程相似，仅是规模不同</a:t>
              </a:r>
            </a:p>
          </p:txBody>
        </p:sp>
      </p:grpSp>
      <p:sp>
        <p:nvSpPr>
          <p:cNvPr id="42" name="Text Box 12">
            <a:extLst>
              <a:ext uri="{FF2B5EF4-FFF2-40B4-BE49-F238E27FC236}">
                <a16:creationId xmlns:a16="http://schemas.microsoft.com/office/drawing/2014/main" id="{F8346430-13E7-4526-BB02-2D2F5AB9D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775" y="2019417"/>
            <a:ext cx="410955" cy="4370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i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820010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D8A0D-E4D1-4B00-BE42-2FF01E689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二叉树递归遍历算法的应用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90596E-02BF-41C6-A7E3-DF3CBAB16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64705"/>
            <a:ext cx="8642659" cy="324036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例 </a:t>
            </a:r>
            <a:r>
              <a:rPr lang="en-US" altLang="zh-CN" dirty="0"/>
              <a:t>1</a:t>
            </a:r>
            <a:r>
              <a:rPr lang="zh-CN" altLang="en-US" dirty="0"/>
              <a:t>：统计二叉树中的结点个数。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int </a:t>
            </a:r>
            <a:r>
              <a:rPr kumimoji="1"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Count</a:t>
            </a:r>
            <a:r>
              <a:rPr kumimoji="1"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kumimoji="1" lang="en-US" altLang="zh-CN" sz="2800" b="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BiTNode</a:t>
            </a:r>
            <a:r>
              <a:rPr kumimoji="1"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*T) 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{</a:t>
            </a:r>
            <a:endParaRPr kumimoji="1" lang="en-US" altLang="zh-CN" sz="2800" b="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if</a:t>
            </a:r>
            <a:r>
              <a:rPr kumimoji="1"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(T</a:t>
            </a:r>
            <a:r>
              <a:rPr kumimoji="1" lang="en-US" altLang="zh-CN" sz="2800" b="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==</a:t>
            </a:r>
            <a:r>
              <a:rPr kumimoji="1"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NULL) 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return</a:t>
            </a:r>
            <a:r>
              <a:rPr kumimoji="1"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0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else</a:t>
            </a:r>
            <a:r>
              <a:rPr kumimoji="1"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return</a:t>
            </a:r>
            <a:r>
              <a:rPr kumimoji="1"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1+ </a:t>
            </a:r>
            <a:r>
              <a:rPr kumimoji="1"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Count (T</a:t>
            </a:r>
            <a:r>
              <a:rPr kumimoji="1" lang="en-US" altLang="zh-CN" sz="2800" b="0" dirty="0">
                <a:solidFill>
                  <a:srgbClr val="FF0000"/>
                </a:solidFill>
                <a:latin typeface="Courier New" panose="02070309020205020404" pitchFamily="49" charset="0"/>
              </a:rPr>
              <a:t>-&gt;</a:t>
            </a:r>
            <a:r>
              <a:rPr kumimoji="1" lang="en-US" altLang="zh-CN" sz="2800" b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lchild</a:t>
            </a:r>
            <a:r>
              <a:rPr kumimoji="1"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  <a:r>
              <a:rPr kumimoji="1"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+ </a:t>
            </a:r>
            <a:r>
              <a:rPr kumimoji="1"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Count (T</a:t>
            </a:r>
            <a:r>
              <a:rPr kumimoji="1" lang="en-US" altLang="zh-CN" sz="2800" b="0" dirty="0">
                <a:solidFill>
                  <a:srgbClr val="FF0000"/>
                </a:solidFill>
                <a:latin typeface="Courier New" panose="02070309020205020404" pitchFamily="49" charset="0"/>
              </a:rPr>
              <a:t>-&gt;</a:t>
            </a:r>
            <a:r>
              <a:rPr kumimoji="1" lang="en-US" altLang="zh-CN" sz="2800" b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rchild</a:t>
            </a:r>
            <a:r>
              <a:rPr kumimoji="1"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5" name="Text Box 20">
            <a:extLst>
              <a:ext uri="{FF2B5EF4-FFF2-40B4-BE49-F238E27FC236}">
                <a16:creationId xmlns:a16="http://schemas.microsoft.com/office/drawing/2014/main" id="{30B25AA2-FB20-4DBC-9E8A-FF9E70161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280" y="4149080"/>
            <a:ext cx="7927740" cy="125685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  <a:tailEnd type="none" w="med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180000" tIns="108000" rIns="180000" bIns="10800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f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(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T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) = 0			</a:t>
            </a:r>
            <a:r>
              <a:rPr kumimoji="1" lang="en-US" altLang="zh-CN" sz="2400" b="0" kern="0" dirty="0">
                <a:solidFill>
                  <a:srgbClr val="3333FF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                    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若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T =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= NULL</a:t>
            </a: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f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(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T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) =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f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(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T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-&gt;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lchild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)+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f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(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T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-&gt;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rchild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)+1</a:t>
            </a:r>
            <a:r>
              <a:rPr kumimoji="1" lang="en-US" altLang="zh-CN" sz="2400" b="0" kern="0" dirty="0">
                <a:solidFill>
                  <a:srgbClr val="3333FF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   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若</a:t>
            </a:r>
            <a:r>
              <a:rPr kumimoji="1" lang="en-US" altLang="zh-CN" sz="2400" b="0" i="1" kern="0" dirty="0">
                <a:solidFill>
                  <a:srgbClr val="00B050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T </a:t>
            </a:r>
            <a:r>
              <a:rPr kumimoji="1" lang="en-US" altLang="zh-CN" sz="2400" b="0" kern="0" dirty="0">
                <a:solidFill>
                  <a:srgbClr val="00B050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!= NULL</a:t>
            </a: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EBE54AB-9181-4E6A-9973-9B8CBCE57222}"/>
              </a:ext>
            </a:extLst>
          </p:cNvPr>
          <p:cNvSpPr txBox="1"/>
          <p:nvPr/>
        </p:nvSpPr>
        <p:spPr>
          <a:xfrm>
            <a:off x="2862990" y="6093295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可基于任何遍历顺序</a:t>
            </a:r>
          </a:p>
        </p:txBody>
      </p:sp>
    </p:spTree>
    <p:extLst>
      <p:ext uri="{BB962C8B-B14F-4D97-AF65-F5344CB8AC3E}">
        <p14:creationId xmlns:p14="http://schemas.microsoft.com/office/powerpoint/2010/main" val="107165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D87A34-C618-4581-BA46-726C7CE3D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 </a:t>
            </a:r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695CAA-5792-414D-839F-63B85B590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980727"/>
            <a:ext cx="8642659" cy="5472609"/>
          </a:xfrm>
        </p:spPr>
        <p:txBody>
          <a:bodyPr/>
          <a:lstStyle/>
          <a:p>
            <a:r>
              <a:rPr lang="zh-CN" altLang="en-US" dirty="0"/>
              <a:t>统计二叉树中叶子节点的个数。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从左到右输出二叉树中所有叶子结点的值。</a:t>
            </a:r>
          </a:p>
        </p:txBody>
      </p:sp>
    </p:spTree>
    <p:extLst>
      <p:ext uri="{BB962C8B-B14F-4D97-AF65-F5344CB8AC3E}">
        <p14:creationId xmlns:p14="http://schemas.microsoft.com/office/powerpoint/2010/main" val="17225946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3EE7DD-6576-4F43-AAC5-9411C4A50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二叉树递归遍历算法的应用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EEB2E9-9401-404D-8078-17BFA6792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935838"/>
            <a:ext cx="8208912" cy="573352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例 </a:t>
            </a:r>
            <a:r>
              <a:rPr lang="en-US" altLang="zh-CN" dirty="0"/>
              <a:t>2</a:t>
            </a:r>
            <a:r>
              <a:rPr lang="zh-CN" altLang="en-US" dirty="0"/>
              <a:t>：求二叉树的高度。</a:t>
            </a:r>
            <a:endParaRPr lang="en-US" altLang="zh-CN" dirty="0"/>
          </a:p>
          <a:p>
            <a:pPr>
              <a:buNone/>
            </a:pPr>
            <a:r>
              <a:rPr kumimoji="1"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int  </a:t>
            </a: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Height</a:t>
            </a:r>
            <a:r>
              <a:rPr kumimoji="1"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kumimoji="1"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BiTNode</a:t>
            </a:r>
            <a:r>
              <a:rPr kumimoji="1"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 *T) {</a:t>
            </a:r>
          </a:p>
          <a:p>
            <a:pPr>
              <a:buNone/>
            </a:pPr>
            <a:r>
              <a:rPr kumimoji="1"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    if (T == NULL) return 0;</a:t>
            </a:r>
          </a:p>
          <a:p>
            <a:pPr>
              <a:buNone/>
            </a:pPr>
            <a:r>
              <a:rPr kumimoji="1"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    else {</a:t>
            </a:r>
          </a:p>
          <a:p>
            <a:pPr>
              <a:buNone/>
            </a:pPr>
            <a:r>
              <a:rPr kumimoji="1"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int m = </a:t>
            </a: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Height (T-&gt;</a:t>
            </a:r>
            <a:r>
              <a:rPr kumimoji="1"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lchild</a:t>
            </a: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);</a:t>
            </a:r>
          </a:p>
          <a:p>
            <a:pPr>
              <a:buNone/>
            </a:pPr>
            <a:r>
              <a:rPr kumimoji="1"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int n = </a:t>
            </a: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Height (T-&gt;</a:t>
            </a:r>
            <a:r>
              <a:rPr kumimoji="1"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rchild</a:t>
            </a: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)); </a:t>
            </a:r>
          </a:p>
          <a:p>
            <a:pPr>
              <a:buNone/>
            </a:pPr>
            <a:r>
              <a:rPr kumimoji="1"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return (m &gt; n) ? m+1 : n+1;</a:t>
            </a:r>
          </a:p>
          <a:p>
            <a:pPr>
              <a:buNone/>
            </a:pPr>
            <a:r>
              <a:rPr kumimoji="1"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    }</a:t>
            </a:r>
          </a:p>
          <a:p>
            <a:pPr>
              <a:buNone/>
            </a:pPr>
            <a:r>
              <a:rPr kumimoji="1"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8D8488-77F9-464A-A191-E6A6C33073A8}"/>
              </a:ext>
            </a:extLst>
          </p:cNvPr>
          <p:cNvSpPr txBox="1"/>
          <p:nvPr/>
        </p:nvSpPr>
        <p:spPr>
          <a:xfrm>
            <a:off x="2862990" y="6093295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可基于任何遍历顺序</a:t>
            </a:r>
          </a:p>
        </p:txBody>
      </p:sp>
    </p:spTree>
    <p:extLst>
      <p:ext uri="{BB962C8B-B14F-4D97-AF65-F5344CB8AC3E}">
        <p14:creationId xmlns:p14="http://schemas.microsoft.com/office/powerpoint/2010/main" val="108907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2416D-BB3D-4134-B785-132CFF18F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二叉树递归遍历算法的应用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269E03-7D00-4E94-B950-80B52A9E2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5"/>
            <a:ext cx="8642659" cy="117346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例</a:t>
            </a:r>
            <a:r>
              <a:rPr lang="en-US" altLang="zh-CN" sz="2400" dirty="0"/>
              <a:t> 3</a:t>
            </a:r>
            <a:r>
              <a:rPr lang="zh-CN" altLang="en-US" sz="2400" dirty="0"/>
              <a:t>：假设二叉树采用二叉链存储结构，设计一个算法求二叉树 </a:t>
            </a:r>
            <a:r>
              <a:rPr lang="en-US" altLang="zh-CN" sz="2400" dirty="0"/>
              <a:t>T </a:t>
            </a:r>
            <a:r>
              <a:rPr lang="zh-CN" altLang="en-US" sz="2400" dirty="0"/>
              <a:t>中值为 </a:t>
            </a:r>
            <a:r>
              <a:rPr lang="en-US" altLang="zh-CN" sz="2400" dirty="0"/>
              <a:t>x </a:t>
            </a:r>
            <a:r>
              <a:rPr lang="zh-CN" altLang="en-US" sz="2400" dirty="0"/>
              <a:t>的结点的层次（假设所有结点值唯一）。</a:t>
            </a:r>
          </a:p>
        </p:txBody>
      </p:sp>
      <p:grpSp>
        <p:nvGrpSpPr>
          <p:cNvPr id="14" name="组合 17">
            <a:extLst>
              <a:ext uri="{FF2B5EF4-FFF2-40B4-BE49-F238E27FC236}">
                <a16:creationId xmlns:a16="http://schemas.microsoft.com/office/drawing/2014/main" id="{13A9869E-CD5E-4ABC-91BE-4E5CF9269C54}"/>
              </a:ext>
            </a:extLst>
          </p:cNvPr>
          <p:cNvGrpSpPr/>
          <p:nvPr/>
        </p:nvGrpSpPr>
        <p:grpSpPr>
          <a:xfrm>
            <a:off x="2416943" y="2060848"/>
            <a:ext cx="3357586" cy="2221244"/>
            <a:chOff x="2571736" y="1714488"/>
            <a:chExt cx="3357586" cy="2221244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A3645144-E822-42C5-8049-21F6377B82D3}"/>
                </a:ext>
              </a:extLst>
            </p:cNvPr>
            <p:cNvSpPr/>
            <p:nvPr/>
          </p:nvSpPr>
          <p:spPr bwMode="auto">
            <a:xfrm>
              <a:off x="3929058" y="2000240"/>
              <a:ext cx="571504" cy="428628"/>
            </a:xfrm>
            <a:prstGeom prst="ellipse">
              <a:avLst/>
            </a:prstGeom>
            <a:solidFill>
              <a:srgbClr val="00B0F0"/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2F498ABC-C0FA-4D45-8403-7646CE02B1A9}"/>
                </a:ext>
              </a:extLst>
            </p:cNvPr>
            <p:cNvSpPr/>
            <p:nvPr/>
          </p:nvSpPr>
          <p:spPr bwMode="auto">
            <a:xfrm>
              <a:off x="2643174" y="2857496"/>
              <a:ext cx="1000132" cy="714380"/>
            </a:xfrm>
            <a:prstGeom prst="triangle">
              <a:avLst/>
            </a:prstGeom>
            <a:solidFill>
              <a:srgbClr val="00B0F0"/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8F42131D-21F5-4C6F-BC5D-0999D1410EB1}"/>
                </a:ext>
              </a:extLst>
            </p:cNvPr>
            <p:cNvSpPr/>
            <p:nvPr/>
          </p:nvSpPr>
          <p:spPr bwMode="auto">
            <a:xfrm>
              <a:off x="4714876" y="2857496"/>
              <a:ext cx="1000132" cy="714380"/>
            </a:xfrm>
            <a:prstGeom prst="triangle">
              <a:avLst/>
            </a:prstGeom>
            <a:solidFill>
              <a:srgbClr val="00B0F0"/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ADD78F15-94FA-4D21-A1EB-77CCCD0D751F}"/>
                </a:ext>
              </a:extLst>
            </p:cNvPr>
            <p:cNvCxnSpPr>
              <a:stCxn id="15" idx="3"/>
            </p:cNvCxnSpPr>
            <p:nvPr/>
          </p:nvCxnSpPr>
          <p:spPr bwMode="auto">
            <a:xfrm rot="5400000">
              <a:off x="3332298" y="2319916"/>
              <a:ext cx="634275" cy="726637"/>
            </a:xfrm>
            <a:prstGeom prst="straightConnector1">
              <a:avLst/>
            </a:prstGeom>
            <a:noFill/>
            <a:ln w="25400" cap="flat" cmpd="sng" algn="ctr">
              <a:solidFill>
                <a:srgbClr val="4BACC6"/>
              </a:solidFill>
              <a:prstDash val="solid"/>
              <a:headEnd type="none" w="med" len="me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E9466B00-9612-400C-B75A-0D0A744489A4}"/>
                </a:ext>
              </a:extLst>
            </p:cNvPr>
            <p:cNvCxnSpPr>
              <a:stCxn id="15" idx="5"/>
            </p:cNvCxnSpPr>
            <p:nvPr/>
          </p:nvCxnSpPr>
          <p:spPr bwMode="auto">
            <a:xfrm rot="16200000" flipH="1">
              <a:off x="4391610" y="2391353"/>
              <a:ext cx="705713" cy="655199"/>
            </a:xfrm>
            <a:prstGeom prst="straightConnector1">
              <a:avLst/>
            </a:prstGeom>
            <a:noFill/>
            <a:ln w="25400" cap="flat" cmpd="sng" algn="ctr">
              <a:solidFill>
                <a:srgbClr val="4BACC6"/>
              </a:solidFill>
              <a:prstDash val="solid"/>
              <a:headEnd type="none" w="med" len="me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B8A8BF04-30DF-4068-B371-805A781137B2}"/>
                </a:ext>
              </a:extLst>
            </p:cNvPr>
            <p:cNvCxnSpPr>
              <a:endCxn id="15" idx="1"/>
            </p:cNvCxnSpPr>
            <p:nvPr/>
          </p:nvCxnSpPr>
          <p:spPr bwMode="auto">
            <a:xfrm>
              <a:off x="3786182" y="1928802"/>
              <a:ext cx="226571" cy="134209"/>
            </a:xfrm>
            <a:prstGeom prst="straightConnector1">
              <a:avLst/>
            </a:prstGeom>
            <a:solidFill>
              <a:srgbClr val="4F81BD"/>
            </a:solidFill>
            <a:ln w="25400" cap="flat" cmpd="sng" algn="ctr">
              <a:solidFill>
                <a:srgbClr val="99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F55B47D7-60E8-4194-9782-E3E6177E85D8}"/>
                </a:ext>
              </a:extLst>
            </p:cNvPr>
            <p:cNvSpPr txBox="1"/>
            <p:nvPr/>
          </p:nvSpPr>
          <p:spPr>
            <a:xfrm>
              <a:off x="3571868" y="1714488"/>
              <a:ext cx="214314" cy="2209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T</a:t>
              </a:r>
            </a:p>
          </p:txBody>
        </p:sp>
        <p:sp>
          <p:nvSpPr>
            <p:cNvPr id="22" name="TextBox 13">
              <a:extLst>
                <a:ext uri="{FF2B5EF4-FFF2-40B4-BE49-F238E27FC236}">
                  <a16:creationId xmlns:a16="http://schemas.microsoft.com/office/drawing/2014/main" id="{F60D98DD-754E-40B9-88F0-B6CFD1EBA043}"/>
                </a:ext>
              </a:extLst>
            </p:cNvPr>
            <p:cNvSpPr txBox="1"/>
            <p:nvPr/>
          </p:nvSpPr>
          <p:spPr>
            <a:xfrm>
              <a:off x="2571736" y="3714752"/>
              <a:ext cx="1214446" cy="2209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T</a:t>
              </a:r>
              <a:r>
                <a:rPr kumimoji="1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-&gt;</a:t>
              </a:r>
              <a:r>
                <a:rPr kumimoji="1" lang="en-US" altLang="zh-CN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lchild</a:t>
              </a:r>
              <a:endPara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F522130C-0820-4340-9C64-547962E7BD06}"/>
                </a:ext>
              </a:extLst>
            </p:cNvPr>
            <p:cNvSpPr txBox="1"/>
            <p:nvPr/>
          </p:nvSpPr>
          <p:spPr>
            <a:xfrm>
              <a:off x="4714876" y="3714752"/>
              <a:ext cx="1214446" cy="2209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T</a:t>
              </a:r>
              <a:r>
                <a:rPr kumimoji="1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-&gt;</a:t>
              </a:r>
              <a:r>
                <a:rPr kumimoji="1" lang="en-US" altLang="zh-CN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rchild</a:t>
              </a:r>
              <a:endPara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25" name="Text Box 15">
            <a:extLst>
              <a:ext uri="{FF2B5EF4-FFF2-40B4-BE49-F238E27FC236}">
                <a16:creationId xmlns:a16="http://schemas.microsoft.com/office/drawing/2014/main" id="{18DB3517-42EA-4124-839E-A18BF7800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524" y="4472972"/>
            <a:ext cx="8696955" cy="236882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/>
        </p:spPr>
        <p:txBody>
          <a:bodyPr wrap="square" lIns="180000" tIns="108000" rIns="180000" bIns="10800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f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(</a:t>
            </a:r>
            <a:r>
              <a:rPr kumimoji="1" lang="en-US" altLang="zh-CN" sz="2400" b="0" i="1" kern="0" dirty="0">
                <a:solidFill>
                  <a:srgbClr val="3333FF"/>
                </a:solidFill>
                <a:latin typeface="+mn-ea"/>
                <a:ea typeface="+mn-ea"/>
                <a:cs typeface="Consolas" panose="020B0609020204030204" pitchFamily="49" charset="0"/>
              </a:rPr>
              <a:t>T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，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x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)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  <a:sym typeface="Symbol" panose="05050102010706020507" pitchFamily="18" charset="2"/>
              </a:rPr>
              <a:t>= 0		</a:t>
            </a:r>
            <a:r>
              <a:rPr kumimoji="1" lang="en-US" altLang="zh-CN" sz="2400" b="0" kern="0" dirty="0">
                <a:solidFill>
                  <a:srgbClr val="3333FF"/>
                </a:solidFill>
                <a:latin typeface="+mn-ea"/>
                <a:ea typeface="+mn-ea"/>
                <a:cs typeface="Consolas" panose="020B0609020204030204" pitchFamily="49" charset="0"/>
                <a:sym typeface="Symbol" panose="05050102010706020507" pitchFamily="18" charset="2"/>
              </a:rPr>
              <a:t>         </a:t>
            </a:r>
            <a:r>
              <a:rPr kumimoji="1" lang="zh-CN" altLang="en-US" sz="2400" b="0" kern="0" dirty="0">
                <a:solidFill>
                  <a:srgbClr val="00B050"/>
                </a:solidFill>
                <a:latin typeface="+mn-ea"/>
                <a:ea typeface="+mn-ea"/>
                <a:cs typeface="Consolas" panose="020B0609020204030204" pitchFamily="49" charset="0"/>
                <a:sym typeface="Symbol" panose="05050102010706020507" pitchFamily="18" charset="2"/>
              </a:rPr>
              <a:t>若</a:t>
            </a:r>
            <a:r>
              <a:rPr kumimoji="1" lang="en-US" altLang="zh-CN" sz="2400" b="0" i="1" kern="0" dirty="0">
                <a:solidFill>
                  <a:srgbClr val="00B050"/>
                </a:solidFill>
                <a:latin typeface="+mn-ea"/>
                <a:ea typeface="+mn-ea"/>
                <a:cs typeface="Consolas" panose="020B0609020204030204" pitchFamily="49" charset="0"/>
                <a:sym typeface="Symbol" panose="05050102010706020507" pitchFamily="18" charset="2"/>
              </a:rPr>
              <a:t>T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  <a:sym typeface="Symbol" panose="05050102010706020507" pitchFamily="18" charset="2"/>
              </a:rPr>
              <a:t>==NULL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  <a:sym typeface="Symbol" panose="05050102010706020507" pitchFamily="18" charset="2"/>
              </a:rPr>
              <a:t>，或以下条件均不满足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ea"/>
              <a:ea typeface="+mn-ea"/>
              <a:cs typeface="Consolas" panose="020B0609020204030204" pitchFamily="49" charset="0"/>
              <a:sym typeface="Symbol" panose="05050102010706020507" pitchFamily="18" charset="2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  <a:sym typeface="Symbol" panose="05050102010706020507" pitchFamily="18" charset="2"/>
              </a:rPr>
              <a:t>f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  <a:sym typeface="Symbol" panose="05050102010706020507" pitchFamily="18" charset="2"/>
              </a:rPr>
              <a:t>(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  <a:sym typeface="Symbol" panose="05050102010706020507" pitchFamily="18" charset="2"/>
              </a:rPr>
              <a:t>T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  <a:sym typeface="Symbol" panose="05050102010706020507" pitchFamily="18" charset="2"/>
              </a:rPr>
              <a:t>，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  <a:sym typeface="Symbol" panose="05050102010706020507" pitchFamily="18" charset="2"/>
              </a:rPr>
              <a:t>x</a:t>
            </a:r>
            <a:r>
              <a:rPr kumimoji="1" lang="zh-CN" altLang="en-US" sz="2400" b="0" kern="0" dirty="0">
                <a:solidFill>
                  <a:srgbClr val="3333FF"/>
                </a:solidFill>
                <a:latin typeface="+mn-ea"/>
                <a:ea typeface="+mn-ea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  <a:sym typeface="Symbol" panose="05050102010706020507" pitchFamily="18" charset="2"/>
              </a:rPr>
              <a:t>)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=</a:t>
            </a:r>
            <a:r>
              <a:rPr kumimoji="1" lang="en-US" altLang="zh-CN" sz="2400" b="0" i="1" kern="0" dirty="0">
                <a:solidFill>
                  <a:srgbClr val="3333FF"/>
                </a:solidFill>
                <a:latin typeface="+mn-ea"/>
                <a:ea typeface="+mn-ea"/>
                <a:cs typeface="Consolas" panose="020B0609020204030204" pitchFamily="49" charset="0"/>
              </a:rPr>
              <a:t> 1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				     </a:t>
            </a:r>
            <a:r>
              <a:rPr kumimoji="1" lang="zh-CN" altLang="en-US" sz="2400" b="0" kern="0" dirty="0">
                <a:solidFill>
                  <a:srgbClr val="00B050"/>
                </a:solidFill>
                <a:latin typeface="+mn-ea"/>
                <a:ea typeface="+mn-ea"/>
                <a:cs typeface="Consolas" panose="020B0609020204030204" pitchFamily="49" charset="0"/>
              </a:rPr>
              <a:t>若</a:t>
            </a:r>
            <a:r>
              <a:rPr kumimoji="1" lang="en-US" altLang="zh-CN" sz="2400" b="0" i="1" kern="0" dirty="0">
                <a:solidFill>
                  <a:srgbClr val="00B050"/>
                </a:solidFill>
                <a:latin typeface="+mn-ea"/>
                <a:ea typeface="+mn-ea"/>
                <a:cs typeface="Consolas" panose="020B0609020204030204" pitchFamily="49" charset="0"/>
              </a:rPr>
              <a:t>T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-&gt;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data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==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x</a:t>
            </a: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400" b="0" i="1" kern="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f </a:t>
            </a:r>
            <a:r>
              <a:rPr kumimoji="1" lang="en-US" altLang="zh-CN" sz="2400" b="0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(</a:t>
            </a:r>
            <a:r>
              <a:rPr kumimoji="1" lang="en-US" altLang="zh-CN" sz="2400" b="0" i="1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T</a:t>
            </a:r>
            <a:r>
              <a:rPr kumimoji="1" lang="zh-CN" altLang="en-US" sz="2400" b="0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，</a:t>
            </a:r>
            <a:r>
              <a:rPr kumimoji="1" lang="en-US" altLang="zh-CN" sz="2400" b="0" i="1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x</a:t>
            </a:r>
            <a:r>
              <a:rPr kumimoji="1" lang="zh-CN" altLang="en-US" sz="2400" b="0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0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) </a:t>
            </a:r>
            <a:r>
              <a:rPr kumimoji="1" lang="en-US" altLang="zh-CN" sz="2400" b="0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=</a:t>
            </a:r>
            <a:r>
              <a:rPr kumimoji="1" lang="en-US" altLang="zh-CN" sz="2400" b="0" i="1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kumimoji="1" lang="en-US" altLang="zh-CN" sz="2400" b="0" i="1" kern="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f</a:t>
            </a:r>
            <a:r>
              <a:rPr kumimoji="1" lang="en-US" altLang="zh-CN" sz="2400" b="0" i="1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kumimoji="1" lang="en-US" altLang="zh-CN" sz="2400" b="0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kumimoji="1" lang="en-US" altLang="zh-CN" sz="2400" b="0" i="1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kumimoji="1" lang="en-US" altLang="zh-CN" sz="2400" b="0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-&gt;</a:t>
            </a:r>
            <a:r>
              <a:rPr kumimoji="1" lang="en-US" altLang="zh-CN" sz="2400" b="0" kern="0" dirty="0" err="1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lchild</a:t>
            </a:r>
            <a:r>
              <a:rPr kumimoji="1" lang="zh-CN" altLang="en-US" sz="2400" b="0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kumimoji="1" lang="en-US" altLang="zh-CN" sz="2400" b="0" i="1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x </a:t>
            </a:r>
            <a:r>
              <a:rPr kumimoji="1" lang="en-US" altLang="zh-CN" sz="2400" b="0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)+1</a:t>
            </a:r>
            <a:r>
              <a:rPr kumimoji="1" lang="en-US" altLang="zh-CN" sz="2400" b="0" i="1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	     </a:t>
            </a:r>
            <a:r>
              <a:rPr kumimoji="1" lang="zh-CN" altLang="en-US" sz="2400" b="0" kern="0" dirty="0">
                <a:solidFill>
                  <a:srgbClr val="00B050"/>
                </a:solidFill>
                <a:latin typeface="+mn-ea"/>
                <a:ea typeface="+mn-ea"/>
                <a:cs typeface="Consolas" panose="020B0609020204030204" pitchFamily="49" charset="0"/>
              </a:rPr>
              <a:t>若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f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(</a:t>
            </a:r>
            <a:r>
              <a:rPr kumimoji="1" lang="en-US" altLang="zh-CN" sz="2400" b="0" i="1" kern="0" dirty="0">
                <a:solidFill>
                  <a:srgbClr val="00B050"/>
                </a:solidFill>
                <a:latin typeface="+mn-ea"/>
                <a:ea typeface="+mn-ea"/>
                <a:cs typeface="Consolas" panose="020B0609020204030204" pitchFamily="49" charset="0"/>
              </a:rPr>
              <a:t>T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-&gt;</a:t>
            </a:r>
            <a:r>
              <a:rPr kumimoji="1" lang="en-US" altLang="zh-CN" sz="2400" b="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lchild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，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x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)</a:t>
            </a:r>
            <a:r>
              <a:rPr kumimoji="1" lang="en-US" altLang="zh-CN" sz="2400" b="0" kern="0" dirty="0">
                <a:solidFill>
                  <a:srgbClr val="00B050"/>
                </a:solidFill>
                <a:latin typeface="+mn-ea"/>
                <a:ea typeface="+mn-ea"/>
                <a:cs typeface="Consolas" panose="020B0609020204030204" pitchFamily="49" charset="0"/>
              </a:rPr>
              <a:t>!=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0</a:t>
            </a: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400" b="0" i="1" kern="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f </a:t>
            </a:r>
            <a:r>
              <a:rPr kumimoji="1" lang="en-US" altLang="zh-CN" sz="2400" b="0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(</a:t>
            </a:r>
            <a:r>
              <a:rPr kumimoji="1" lang="en-US" altLang="zh-CN" sz="2400" b="0" i="1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T</a:t>
            </a:r>
            <a:r>
              <a:rPr kumimoji="1" lang="zh-CN" altLang="en-US" sz="2400" b="0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，</a:t>
            </a:r>
            <a:r>
              <a:rPr kumimoji="1" lang="en-US" altLang="zh-CN" sz="2400" b="0" i="1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x</a:t>
            </a:r>
            <a:r>
              <a:rPr kumimoji="1" lang="zh-CN" altLang="en-US" sz="2400" b="0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0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) </a:t>
            </a:r>
            <a:r>
              <a:rPr kumimoji="1" lang="en-US" altLang="zh-CN" sz="2400" b="0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=</a:t>
            </a:r>
            <a:r>
              <a:rPr kumimoji="1" lang="en-US" altLang="zh-CN" sz="2400" b="0" i="1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kumimoji="1" lang="en-US" altLang="zh-CN" sz="2400" b="0" i="1" kern="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f</a:t>
            </a:r>
            <a:r>
              <a:rPr kumimoji="1" lang="en-US" altLang="zh-CN" sz="2400" b="0" i="1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kumimoji="1" lang="en-US" altLang="zh-CN" sz="2400" b="0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kumimoji="1" lang="en-US" altLang="zh-CN" sz="2400" b="0" i="1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kumimoji="1" lang="en-US" altLang="zh-CN" sz="2400" b="0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-&gt;</a:t>
            </a:r>
            <a:r>
              <a:rPr kumimoji="1" lang="en-US" altLang="zh-CN" sz="2400" b="0" i="1" kern="0" dirty="0" err="1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rchild</a:t>
            </a:r>
            <a:r>
              <a:rPr kumimoji="1" lang="zh-CN" altLang="en-US" sz="2400" b="0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kumimoji="1" lang="en-US" altLang="zh-CN" sz="2400" b="0" i="1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x </a:t>
            </a:r>
            <a:r>
              <a:rPr kumimoji="1" lang="en-US" altLang="zh-CN" sz="2400" b="0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)+1</a:t>
            </a:r>
            <a:r>
              <a:rPr kumimoji="1" lang="en-US" altLang="zh-CN" sz="2400" b="0" i="1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kumimoji="1" lang="en-US" altLang="zh-CN" sz="2400" b="0" kern="0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	     </a:t>
            </a:r>
            <a:r>
              <a:rPr kumimoji="1" lang="zh-CN" altLang="en-US" sz="2400" b="0" kern="0" dirty="0">
                <a:solidFill>
                  <a:srgbClr val="00B050"/>
                </a:solidFill>
                <a:latin typeface="+mn-ea"/>
                <a:cs typeface="Consolas" panose="020B0609020204030204" pitchFamily="49" charset="0"/>
              </a:rPr>
              <a:t>若</a:t>
            </a:r>
            <a:r>
              <a:rPr kumimoji="1" lang="en-US" altLang="zh-CN" sz="2400" b="0" i="1" kern="0" dirty="0">
                <a:solidFill>
                  <a:srgbClr val="00B050"/>
                </a:solidFill>
                <a:latin typeface="+mn-ea"/>
                <a:cs typeface="Consolas" panose="020B0609020204030204" pitchFamily="49" charset="0"/>
              </a:rPr>
              <a:t>f </a:t>
            </a:r>
            <a:r>
              <a:rPr kumimoji="1" lang="en-US" altLang="zh-CN" sz="2400" b="0" kern="0" dirty="0">
                <a:solidFill>
                  <a:srgbClr val="00B050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kumimoji="1" lang="en-US" altLang="zh-CN" sz="2400" b="0" i="1" kern="0" dirty="0">
                <a:solidFill>
                  <a:srgbClr val="00B050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kumimoji="1" lang="en-US" altLang="zh-CN" sz="2400" b="0" kern="0" dirty="0">
                <a:solidFill>
                  <a:srgbClr val="00B050"/>
                </a:solidFill>
                <a:latin typeface="+mn-ea"/>
                <a:cs typeface="Consolas" panose="020B0609020204030204" pitchFamily="49" charset="0"/>
              </a:rPr>
              <a:t>-&gt;</a:t>
            </a:r>
            <a:r>
              <a:rPr kumimoji="1" lang="en-US" altLang="zh-CN" sz="2400" b="0" kern="0" dirty="0" err="1">
                <a:solidFill>
                  <a:srgbClr val="00B050"/>
                </a:solidFill>
                <a:latin typeface="+mn-ea"/>
                <a:cs typeface="Consolas" panose="020B0609020204030204" pitchFamily="49" charset="0"/>
              </a:rPr>
              <a:t>rchild</a:t>
            </a:r>
            <a:r>
              <a:rPr kumimoji="1" lang="zh-CN" altLang="en-US" sz="2400" b="0" kern="0" dirty="0">
                <a:solidFill>
                  <a:srgbClr val="00B050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kumimoji="1" lang="en-US" altLang="zh-CN" sz="2400" b="0" i="1" kern="0" dirty="0">
                <a:solidFill>
                  <a:srgbClr val="00B050"/>
                </a:solidFill>
                <a:latin typeface="+mn-ea"/>
                <a:cs typeface="Consolas" panose="020B0609020204030204" pitchFamily="49" charset="0"/>
              </a:rPr>
              <a:t>x </a:t>
            </a:r>
            <a:r>
              <a:rPr kumimoji="1" lang="en-US" altLang="zh-CN" sz="2400" b="0" kern="0" dirty="0">
                <a:solidFill>
                  <a:srgbClr val="00B050"/>
                </a:solidFill>
                <a:latin typeface="+mn-ea"/>
                <a:cs typeface="Consolas" panose="020B0609020204030204" pitchFamily="49" charset="0"/>
              </a:rPr>
              <a:t>)!=0</a:t>
            </a:r>
          </a:p>
        </p:txBody>
      </p:sp>
    </p:spTree>
    <p:extLst>
      <p:ext uri="{BB962C8B-B14F-4D97-AF65-F5344CB8AC3E}">
        <p14:creationId xmlns:p14="http://schemas.microsoft.com/office/powerpoint/2010/main" val="348018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7710B-8DC0-4B1B-B791-B02A5CC75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二叉树递归遍历算法的应用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26808A-6C79-42FA-9069-3BBBB6252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4"/>
            <a:ext cx="8894179" cy="59968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int 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Level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 (</a:t>
            </a:r>
            <a:r>
              <a:rPr lang="en-US" altLang="zh-CN" dirty="0" err="1">
                <a:solidFill>
                  <a:srgbClr val="0000FF"/>
                </a:solidFill>
                <a:latin typeface="+mn-lt"/>
              </a:rPr>
              <a:t>BiTNode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 *T</a:t>
            </a:r>
            <a:r>
              <a:rPr lang="zh-CN" altLang="en-US" dirty="0">
                <a:solidFill>
                  <a:srgbClr val="0000FF"/>
                </a:solidFill>
                <a:latin typeface="+mn-lt"/>
              </a:rPr>
              <a:t>，</a:t>
            </a:r>
            <a:r>
              <a:rPr lang="en-US" altLang="zh-CN" dirty="0" err="1">
                <a:solidFill>
                  <a:srgbClr val="0000FF"/>
                </a:solidFill>
                <a:latin typeface="+mn-lt"/>
              </a:rPr>
              <a:t>ElemType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 x)  {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dirty="0">
                <a:solidFill>
                  <a:srgbClr val="00B050"/>
                </a:solidFill>
                <a:latin typeface="+mn-lt"/>
              </a:rPr>
              <a:t>返回值为 </a:t>
            </a:r>
            <a:r>
              <a:rPr lang="en-US" altLang="zh-CN" dirty="0">
                <a:solidFill>
                  <a:srgbClr val="00B050"/>
                </a:solidFill>
                <a:latin typeface="+mn-lt"/>
              </a:rPr>
              <a:t>x </a:t>
            </a:r>
            <a:r>
              <a:rPr lang="zh-CN" altLang="en-US" dirty="0">
                <a:solidFill>
                  <a:srgbClr val="00B050"/>
                </a:solidFill>
                <a:latin typeface="+mn-lt"/>
              </a:rPr>
              <a:t>的结点在树 </a:t>
            </a:r>
            <a:r>
              <a:rPr lang="en-US" altLang="zh-CN" dirty="0">
                <a:solidFill>
                  <a:srgbClr val="00B050"/>
                </a:solidFill>
                <a:latin typeface="+mn-lt"/>
              </a:rPr>
              <a:t>T </a:t>
            </a:r>
            <a:r>
              <a:rPr lang="zh-CN" altLang="en-US" dirty="0">
                <a:solidFill>
                  <a:srgbClr val="00B050"/>
                </a:solidFill>
                <a:latin typeface="+mn-lt"/>
              </a:rPr>
              <a:t>中的层次，若不存在，返回</a:t>
            </a:r>
            <a:r>
              <a:rPr lang="en-US" altLang="zh-CN" dirty="0">
                <a:solidFill>
                  <a:srgbClr val="00B050"/>
                </a:solidFill>
                <a:latin typeface="+mn-lt"/>
              </a:rPr>
              <a:t>0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if (T==NULL)   return 0;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if (T-&gt;data==x)   return 1;   </a:t>
            </a:r>
            <a:r>
              <a:rPr lang="en-US" altLang="zh-CN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dirty="0">
                <a:solidFill>
                  <a:srgbClr val="00B050"/>
                </a:solidFill>
                <a:latin typeface="+mn-lt"/>
              </a:rPr>
              <a:t>根节点，返回层次</a:t>
            </a:r>
            <a:r>
              <a:rPr lang="en-US" altLang="zh-CN" dirty="0">
                <a:solidFill>
                  <a:srgbClr val="00B050"/>
                </a:solidFill>
                <a:latin typeface="+mn-lt"/>
              </a:rPr>
              <a:t>1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else {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    if (lev = 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Level(T-&gt;</a:t>
            </a:r>
            <a:r>
              <a:rPr lang="en-US" altLang="zh-CN" dirty="0" err="1">
                <a:solidFill>
                  <a:srgbClr val="FF0000"/>
                </a:solidFill>
                <a:latin typeface="+mn-lt"/>
              </a:rPr>
              <a:t>lchild</a:t>
            </a:r>
            <a:r>
              <a:rPr lang="zh-CN" altLang="en-US" dirty="0">
                <a:solidFill>
                  <a:srgbClr val="FF0000"/>
                </a:solidFill>
                <a:latin typeface="+mn-lt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x)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)   return lev+1;</a:t>
            </a:r>
            <a:endParaRPr lang="zh-CN" altLang="en-US" dirty="0">
              <a:solidFill>
                <a:srgbClr val="0000FF"/>
              </a:solidFill>
              <a:latin typeface="+mn-lt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    if (lev = 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Level(T-&gt;</a:t>
            </a:r>
            <a:r>
              <a:rPr lang="en-US" altLang="zh-CN" dirty="0" err="1">
                <a:solidFill>
                  <a:srgbClr val="FF0000"/>
                </a:solidFill>
                <a:latin typeface="+mn-lt"/>
              </a:rPr>
              <a:t>rchild</a:t>
            </a:r>
            <a:r>
              <a:rPr lang="zh-CN" altLang="en-US" dirty="0">
                <a:solidFill>
                  <a:srgbClr val="FF0000"/>
                </a:solidFill>
                <a:latin typeface="+mn-lt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x)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)   return lev+1;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    return 0;    </a:t>
            </a:r>
            <a:r>
              <a:rPr lang="en-US" altLang="zh-CN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dirty="0">
                <a:solidFill>
                  <a:srgbClr val="00B050"/>
                </a:solidFill>
                <a:latin typeface="+mn-lt"/>
              </a:rPr>
              <a:t>不存在，则返回</a:t>
            </a:r>
            <a:r>
              <a:rPr lang="en-US" altLang="zh-CN" dirty="0">
                <a:solidFill>
                  <a:srgbClr val="00B050"/>
                </a:solidFill>
                <a:latin typeface="+mn-lt"/>
              </a:rPr>
              <a:t>0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} </a:t>
            </a:r>
            <a:r>
              <a:rPr lang="en-US" altLang="zh-CN" dirty="0">
                <a:solidFill>
                  <a:srgbClr val="00B050"/>
                </a:solidFill>
                <a:latin typeface="+mn-lt"/>
              </a:rPr>
              <a:t>// if   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} </a:t>
            </a:r>
            <a:r>
              <a:rPr lang="en-US" altLang="zh-CN" dirty="0">
                <a:solidFill>
                  <a:srgbClr val="00B050"/>
                </a:solidFill>
                <a:latin typeface="+mn-lt"/>
              </a:rPr>
              <a:t>// Level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A0A481-1EF9-412F-B5C7-C795F86DC7D8}"/>
              </a:ext>
            </a:extLst>
          </p:cNvPr>
          <p:cNvSpPr txBox="1"/>
          <p:nvPr/>
        </p:nvSpPr>
        <p:spPr>
          <a:xfrm>
            <a:off x="5652120" y="6021288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基于先序遍历顺序</a:t>
            </a:r>
          </a:p>
        </p:txBody>
      </p:sp>
    </p:spTree>
    <p:extLst>
      <p:ext uri="{BB962C8B-B14F-4D97-AF65-F5344CB8AC3E}">
        <p14:creationId xmlns:p14="http://schemas.microsoft.com/office/powerpoint/2010/main" val="349109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A388B-1AD3-4CE7-BD6E-2E913DAB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 </a:t>
            </a:r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C6A769-544D-48C7-8613-52D5921C3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假设二叉树采用二叉链存储结构，设计一个算法求二叉树</a:t>
            </a:r>
            <a:r>
              <a:rPr lang="en-US" altLang="zh-CN" dirty="0"/>
              <a:t> T </a:t>
            </a:r>
            <a:r>
              <a:rPr lang="zh-CN" altLang="en-US" dirty="0"/>
              <a:t>中第 </a:t>
            </a:r>
            <a:r>
              <a:rPr lang="en-US" altLang="zh-CN" dirty="0"/>
              <a:t>k </a:t>
            </a:r>
            <a:r>
              <a:rPr lang="zh-CN" altLang="en-US" dirty="0"/>
              <a:t>层的结点个数。</a:t>
            </a:r>
          </a:p>
        </p:txBody>
      </p:sp>
    </p:spTree>
    <p:extLst>
      <p:ext uri="{BB962C8B-B14F-4D97-AF65-F5344CB8AC3E}">
        <p14:creationId xmlns:p14="http://schemas.microsoft.com/office/powerpoint/2010/main" val="21464256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F9A9D-C4CB-45D8-93B4-5EA32CE4A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 </a:t>
            </a:r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48C4CB-3A9A-4685-BC1C-E0C858259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假设二叉树采用二叉链存储结构，设计一个算法判断两棵二叉树是否相似。二叉树 </a:t>
            </a:r>
            <a:r>
              <a:rPr lang="en-US" altLang="zh-CN" dirty="0"/>
              <a:t>T1 </a:t>
            </a:r>
            <a:r>
              <a:rPr lang="zh-CN" altLang="en-US" dirty="0"/>
              <a:t>和</a:t>
            </a:r>
            <a:r>
              <a:rPr lang="en-US" altLang="zh-CN" dirty="0"/>
              <a:t> T2 </a:t>
            </a:r>
            <a:r>
              <a:rPr lang="zh-CN" altLang="en-US" dirty="0"/>
              <a:t>相似，指的是 </a:t>
            </a:r>
            <a:r>
              <a:rPr lang="en-US" altLang="zh-CN" dirty="0"/>
              <a:t>T1 </a:t>
            </a:r>
            <a:r>
              <a:rPr lang="zh-CN" altLang="en-US" dirty="0"/>
              <a:t>和</a:t>
            </a:r>
            <a:r>
              <a:rPr lang="en-US" altLang="zh-CN" dirty="0"/>
              <a:t> T2 </a:t>
            </a:r>
            <a:r>
              <a:rPr lang="zh-CN" altLang="en-US" dirty="0"/>
              <a:t>都是空树；或者 </a:t>
            </a:r>
            <a:r>
              <a:rPr lang="en-US" altLang="zh-CN" dirty="0"/>
              <a:t>T1 </a:t>
            </a:r>
            <a:r>
              <a:rPr lang="zh-CN" altLang="en-US" dirty="0"/>
              <a:t>和</a:t>
            </a:r>
            <a:r>
              <a:rPr lang="en-US" altLang="zh-CN" dirty="0"/>
              <a:t> T2 </a:t>
            </a:r>
            <a:r>
              <a:rPr lang="zh-CN" altLang="en-US" dirty="0"/>
              <a:t>的根结点是相似的，并且</a:t>
            </a:r>
            <a:r>
              <a:rPr lang="en-US" altLang="zh-CN" dirty="0"/>
              <a:t> T1 </a:t>
            </a:r>
            <a:r>
              <a:rPr lang="zh-CN" altLang="en-US" dirty="0"/>
              <a:t>的左右子树分别和</a:t>
            </a:r>
            <a:r>
              <a:rPr lang="en-US" altLang="zh-CN" dirty="0"/>
              <a:t> T2 </a:t>
            </a:r>
            <a:r>
              <a:rPr lang="zh-CN" altLang="en-US" dirty="0"/>
              <a:t>的左右子树相似。</a:t>
            </a:r>
          </a:p>
        </p:txBody>
      </p:sp>
    </p:spTree>
    <p:extLst>
      <p:ext uri="{BB962C8B-B14F-4D97-AF65-F5344CB8AC3E}">
        <p14:creationId xmlns:p14="http://schemas.microsoft.com/office/powerpoint/2010/main" val="25139973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027DE-0078-4556-AC5E-0616478B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二叉树递归遍历算法的应用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F3E81F-3D05-40F0-8A24-D13B48D7A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5"/>
            <a:ext cx="8642659" cy="2036423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例 </a:t>
            </a:r>
            <a:r>
              <a:rPr lang="en-US" altLang="zh-CN" dirty="0"/>
              <a:t>4</a:t>
            </a:r>
            <a:r>
              <a:rPr lang="zh-CN" altLang="en-US" dirty="0"/>
              <a:t>：假设二叉树采用二叉链存储结构，且所有结点值均不相同，设计一个算法输出值为 </a:t>
            </a:r>
            <a:r>
              <a:rPr lang="en-US" altLang="zh-CN" dirty="0"/>
              <a:t>x </a:t>
            </a:r>
            <a:r>
              <a:rPr lang="zh-CN" altLang="en-US" dirty="0"/>
              <a:t>的结点的所有祖先。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C7EB7-E087-453B-B12D-F75050BA8BE1}"/>
              </a:ext>
            </a:extLst>
          </p:cNvPr>
          <p:cNvSpPr txBox="1"/>
          <p:nvPr/>
        </p:nvSpPr>
        <p:spPr>
          <a:xfrm>
            <a:off x="178662" y="2852936"/>
            <a:ext cx="8784976" cy="303187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180000" tIns="144000" bIns="18000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0" i="1" kern="0" dirty="0">
                <a:solidFill>
                  <a:srgbClr val="3333FF"/>
                </a:solidFill>
                <a:latin typeface="+mn-ea"/>
                <a:ea typeface="+mn-ea"/>
                <a:cs typeface="Consolas" panose="020B0609020204030204" pitchFamily="49" charset="0"/>
              </a:rPr>
              <a:t>f</a:t>
            </a:r>
            <a:r>
              <a:rPr kumimoji="1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 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(</a:t>
            </a:r>
            <a:r>
              <a:rPr kumimoji="1" lang="en-US" sz="2400" b="0" i="1" kern="0" dirty="0">
                <a:solidFill>
                  <a:srgbClr val="3333FF"/>
                </a:solidFill>
                <a:latin typeface="+mn-ea"/>
                <a:ea typeface="+mn-ea"/>
                <a:cs typeface="Consolas" panose="020B0609020204030204" pitchFamily="49" charset="0"/>
              </a:rPr>
              <a:t>T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，</a:t>
            </a:r>
            <a:r>
              <a:rPr kumimoji="1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x 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) = false		      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若 </a:t>
            </a:r>
            <a:r>
              <a:rPr kumimoji="1" lang="en-US" altLang="zh-CN" sz="2400" b="0" i="1" kern="0" dirty="0">
                <a:solidFill>
                  <a:srgbClr val="00B050"/>
                </a:solidFill>
                <a:latin typeface="+mn-ea"/>
                <a:ea typeface="+mn-ea"/>
                <a:cs typeface="Consolas" panose="020B0609020204030204" pitchFamily="49" charset="0"/>
              </a:rPr>
              <a:t>T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==NULL</a:t>
            </a: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ea"/>
              <a:ea typeface="+mn-ea"/>
              <a:cs typeface="Consolas" panose="020B0609020204030204" pitchFamily="49" charset="0"/>
            </a:endParaRP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sz="2400" b="0" i="1" kern="0" dirty="0">
                <a:solidFill>
                  <a:srgbClr val="3333FF"/>
                </a:solidFill>
                <a:latin typeface="+mn-ea"/>
                <a:ea typeface="+mn-ea"/>
                <a:cs typeface="Consolas" panose="020B0609020204030204" pitchFamily="49" charset="0"/>
              </a:rPr>
              <a:t>f</a:t>
            </a:r>
            <a:r>
              <a:rPr kumimoji="1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 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(</a:t>
            </a:r>
            <a:r>
              <a:rPr kumimoji="1" lang="en-US" sz="2400" b="0" i="1" kern="0" dirty="0">
                <a:solidFill>
                  <a:srgbClr val="3333FF"/>
                </a:solidFill>
                <a:latin typeface="+mn-ea"/>
                <a:ea typeface="+mn-ea"/>
                <a:cs typeface="Consolas" panose="020B0609020204030204" pitchFamily="49" charset="0"/>
              </a:rPr>
              <a:t>T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，</a:t>
            </a:r>
            <a:r>
              <a:rPr kumimoji="1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x 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) = true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，输出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T </a:t>
            </a:r>
            <a:r>
              <a:rPr kumimoji="1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的值</a:t>
            </a:r>
            <a:r>
              <a:rPr kumimoji="1" lang="en-US" altLang="zh-CN" sz="2400" b="0" kern="0" dirty="0">
                <a:solidFill>
                  <a:srgbClr val="3333FF"/>
                </a:solidFill>
                <a:latin typeface="+mn-ea"/>
                <a:ea typeface="+mn-ea"/>
                <a:cs typeface="Consolas" panose="020B0609020204030204" pitchFamily="49" charset="0"/>
              </a:rPr>
              <a:t>   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若</a:t>
            </a:r>
            <a:r>
              <a:rPr kumimoji="1" lang="en-US" altLang="zh-CN" sz="2400" b="0" i="1" kern="0" dirty="0">
                <a:solidFill>
                  <a:srgbClr val="00B050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kumimoji="1" lang="en-US" altLang="zh-CN" sz="2400" b="0" kern="0" dirty="0">
                <a:solidFill>
                  <a:srgbClr val="00B050"/>
                </a:solidFill>
                <a:latin typeface="+mn-ea"/>
                <a:cs typeface="Consolas" panose="020B0609020204030204" pitchFamily="49" charset="0"/>
              </a:rPr>
              <a:t>-&gt;data==</a:t>
            </a:r>
            <a:r>
              <a:rPr kumimoji="1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x</a:t>
            </a: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ea"/>
              <a:ea typeface="+mn-ea"/>
              <a:cs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0" i="1" kern="0" dirty="0">
                <a:solidFill>
                  <a:srgbClr val="3333FF"/>
                </a:solidFill>
                <a:latin typeface="+mn-ea"/>
                <a:ea typeface="+mn-ea"/>
                <a:cs typeface="Consolas" panose="020B0609020204030204" pitchFamily="49" charset="0"/>
              </a:rPr>
              <a:t>f</a:t>
            </a:r>
            <a:r>
              <a:rPr kumimoji="1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 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(</a:t>
            </a:r>
            <a:r>
              <a:rPr kumimoji="1" lang="en-US" sz="2400" b="0" i="1" kern="0" dirty="0">
                <a:solidFill>
                  <a:srgbClr val="3333FF"/>
                </a:solidFill>
                <a:latin typeface="+mn-ea"/>
                <a:ea typeface="+mn-ea"/>
                <a:cs typeface="Consolas" panose="020B0609020204030204" pitchFamily="49" charset="0"/>
              </a:rPr>
              <a:t>T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，</a:t>
            </a:r>
            <a:r>
              <a:rPr kumimoji="1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x 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) = true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，输出</a:t>
            </a:r>
            <a:r>
              <a:rPr kumimoji="1" lang="en-US" altLang="zh-CN" sz="2400" b="0" i="1" kern="0" dirty="0">
                <a:solidFill>
                  <a:srgbClr val="3333FF"/>
                </a:solidFill>
                <a:latin typeface="+mn-ea"/>
                <a:ea typeface="+mn-ea"/>
                <a:cs typeface="Consolas" panose="020B0609020204030204" pitchFamily="49" charset="0"/>
              </a:rPr>
              <a:t>T </a:t>
            </a:r>
            <a:r>
              <a:rPr kumimoji="1" lang="zh-CN" altLang="en-US" sz="2400" b="0" kern="0" dirty="0">
                <a:solidFill>
                  <a:srgbClr val="3333FF"/>
                </a:solidFill>
                <a:latin typeface="+mn-ea"/>
                <a:ea typeface="+mn-ea"/>
                <a:cs typeface="Consolas" panose="020B0609020204030204" pitchFamily="49" charset="0"/>
              </a:rPr>
              <a:t>的值</a:t>
            </a:r>
            <a:r>
              <a:rPr kumimoji="1" lang="en-US" altLang="zh-CN" sz="2400" b="0" kern="0" dirty="0">
                <a:solidFill>
                  <a:srgbClr val="3333FF"/>
                </a:solidFill>
                <a:latin typeface="+mn-ea"/>
                <a:ea typeface="+mn-ea"/>
                <a:cs typeface="Consolas" panose="020B0609020204030204" pitchFamily="49" charset="0"/>
              </a:rPr>
              <a:t> 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  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若</a:t>
            </a:r>
            <a:r>
              <a:rPr kumimoji="1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f 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(</a:t>
            </a:r>
            <a:r>
              <a:rPr kumimoji="1" lang="en-US" sz="2400" b="0" i="1" kern="0" dirty="0">
                <a:solidFill>
                  <a:srgbClr val="00B050"/>
                </a:solidFill>
                <a:latin typeface="+mn-ea"/>
                <a:ea typeface="+mn-ea"/>
                <a:cs typeface="Consolas" panose="020B0609020204030204" pitchFamily="49" charset="0"/>
              </a:rPr>
              <a:t>T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-&gt;</a:t>
            </a:r>
            <a:r>
              <a:rPr kumimoji="1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lchild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，</a:t>
            </a:r>
            <a:r>
              <a:rPr kumimoji="1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x 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)</a:t>
            </a:r>
            <a:r>
              <a:rPr kumimoji="1" lang="en-US" sz="2400" b="0" kern="0" dirty="0">
                <a:solidFill>
                  <a:srgbClr val="00B050"/>
                </a:solidFill>
                <a:latin typeface="+mn-ea"/>
                <a:ea typeface="+mn-ea"/>
                <a:cs typeface="Consolas" panose="020B0609020204030204" pitchFamily="49" charset="0"/>
              </a:rPr>
              <a:t>==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true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或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ea"/>
              <a:ea typeface="+mn-ea"/>
              <a:cs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					 f 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(</a:t>
            </a:r>
            <a:r>
              <a:rPr kumimoji="1" lang="en-US" sz="2400" b="0" i="1" kern="0" dirty="0">
                <a:solidFill>
                  <a:srgbClr val="00B050"/>
                </a:solidFill>
                <a:latin typeface="+mn-ea"/>
                <a:ea typeface="+mn-ea"/>
                <a:cs typeface="Consolas" panose="020B0609020204030204" pitchFamily="49" charset="0"/>
              </a:rPr>
              <a:t>T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-&gt;</a:t>
            </a:r>
            <a:r>
              <a:rPr kumimoji="1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rchild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，</a:t>
            </a:r>
            <a:r>
              <a:rPr kumimoji="1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x 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)</a:t>
            </a:r>
            <a:r>
              <a:rPr kumimoji="1" lang="en-US" sz="2400" b="0" kern="0" dirty="0">
                <a:solidFill>
                  <a:srgbClr val="00B050"/>
                </a:solidFill>
                <a:latin typeface="+mn-ea"/>
                <a:ea typeface="+mn-ea"/>
                <a:cs typeface="Consolas" panose="020B0609020204030204" pitchFamily="49" charset="0"/>
              </a:rPr>
              <a:t>==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true</a:t>
            </a: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ea"/>
              <a:ea typeface="+mn-ea"/>
              <a:cs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0" i="1" kern="0" dirty="0">
                <a:solidFill>
                  <a:srgbClr val="3333FF"/>
                </a:solidFill>
                <a:latin typeface="+mn-ea"/>
                <a:ea typeface="+mn-ea"/>
                <a:cs typeface="Consolas" panose="020B0609020204030204" pitchFamily="49" charset="0"/>
              </a:rPr>
              <a:t>f</a:t>
            </a:r>
            <a:r>
              <a:rPr kumimoji="1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 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(</a:t>
            </a:r>
            <a:r>
              <a:rPr kumimoji="1" lang="en-US" sz="2400" b="0" i="1" kern="0" dirty="0">
                <a:solidFill>
                  <a:srgbClr val="3333FF"/>
                </a:solidFill>
                <a:latin typeface="+mn-ea"/>
                <a:ea typeface="+mn-ea"/>
                <a:cs typeface="Consolas" panose="020B0609020204030204" pitchFamily="49" charset="0"/>
              </a:rPr>
              <a:t>T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，</a:t>
            </a:r>
            <a:r>
              <a:rPr kumimoji="1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x 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) = false		      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其他情况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500352-903E-4782-9835-19EF9DE9ECFA}"/>
              </a:ext>
            </a:extLst>
          </p:cNvPr>
          <p:cNvSpPr txBox="1"/>
          <p:nvPr/>
        </p:nvSpPr>
        <p:spPr>
          <a:xfrm>
            <a:off x="1606236" y="6113495"/>
            <a:ext cx="5929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如果要将路径从根结点开始打印呢？</a:t>
            </a:r>
          </a:p>
        </p:txBody>
      </p:sp>
    </p:spTree>
    <p:extLst>
      <p:ext uri="{BB962C8B-B14F-4D97-AF65-F5344CB8AC3E}">
        <p14:creationId xmlns:p14="http://schemas.microsoft.com/office/powerpoint/2010/main" val="1507970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BC589-6BB9-45F1-8444-7758D8627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二叉树递归遍历算法的应用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2F3B8E-4B5F-481D-999B-D573AE5A0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836712"/>
            <a:ext cx="8496945" cy="58775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bool 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ancestor 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latin typeface="+mn-lt"/>
              </a:rPr>
              <a:t>BiTNode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 *T</a:t>
            </a:r>
            <a:r>
              <a:rPr lang="zh-CN" altLang="en-US" dirty="0">
                <a:solidFill>
                  <a:srgbClr val="0000FF"/>
                </a:solidFill>
                <a:latin typeface="+mn-lt"/>
              </a:rPr>
              <a:t>，</a:t>
            </a:r>
            <a:r>
              <a:rPr lang="en-US" altLang="zh-CN" dirty="0" err="1">
                <a:solidFill>
                  <a:srgbClr val="0000FF"/>
                </a:solidFill>
                <a:latin typeface="+mn-lt"/>
              </a:rPr>
              <a:t>ElemType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 x) {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if (T==NULL)   return false;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if (T-&gt;data==x) { </a:t>
            </a:r>
            <a:r>
              <a:rPr lang="en-US" altLang="zh-CN" dirty="0" err="1">
                <a:solidFill>
                  <a:srgbClr val="0000FF"/>
                </a:solidFill>
                <a:latin typeface="+mn-lt"/>
              </a:rPr>
              <a:t>cout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 &lt;&lt; T-&gt;data;	return true; }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if (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ancestor(T-&gt;</a:t>
            </a:r>
            <a:r>
              <a:rPr lang="en-US" altLang="zh-CN" dirty="0" err="1">
                <a:solidFill>
                  <a:srgbClr val="FF0000"/>
                </a:solidFill>
                <a:latin typeface="+mn-lt"/>
              </a:rPr>
              <a:t>lchild</a:t>
            </a:r>
            <a:r>
              <a:rPr lang="zh-CN" altLang="en-US" dirty="0">
                <a:solidFill>
                  <a:srgbClr val="FF0000"/>
                </a:solidFill>
                <a:latin typeface="+mn-lt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x) 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|| 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ancestor(T-&gt;</a:t>
            </a:r>
            <a:r>
              <a:rPr lang="en-US" altLang="zh-CN" dirty="0" err="1">
                <a:solidFill>
                  <a:srgbClr val="FF0000"/>
                </a:solidFill>
                <a:latin typeface="+mn-lt"/>
              </a:rPr>
              <a:t>rchild</a:t>
            </a:r>
            <a:r>
              <a:rPr lang="zh-CN" altLang="en-US" dirty="0">
                <a:solidFill>
                  <a:srgbClr val="FF0000"/>
                </a:solidFill>
                <a:latin typeface="+mn-lt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x)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) {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    </a:t>
            </a:r>
            <a:r>
              <a:rPr lang="en-US" altLang="zh-CN" dirty="0" err="1">
                <a:solidFill>
                  <a:srgbClr val="0000FF"/>
                </a:solidFill>
                <a:latin typeface="+mn-lt"/>
              </a:rPr>
              <a:t>cout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 &lt;&lt; T-&gt;data;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    return true;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}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return false;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}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C429FE-23EF-4B91-8A92-F4BC9DD86C56}"/>
              </a:ext>
            </a:extLst>
          </p:cNvPr>
          <p:cNvSpPr txBox="1"/>
          <p:nvPr/>
        </p:nvSpPr>
        <p:spPr>
          <a:xfrm>
            <a:off x="5652120" y="6021288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基于先序遍历顺序</a:t>
            </a:r>
          </a:p>
        </p:txBody>
      </p:sp>
    </p:spTree>
    <p:extLst>
      <p:ext uri="{BB962C8B-B14F-4D97-AF65-F5344CB8AC3E}">
        <p14:creationId xmlns:p14="http://schemas.microsoft.com/office/powerpoint/2010/main" val="152419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DDDE7-EADF-494E-B148-1B72098AE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0D3DD4-797D-4A5E-90AC-D52716082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5"/>
            <a:ext cx="8642659" cy="5877538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算术表达式是分层的递归结构</a:t>
            </a:r>
            <a:r>
              <a:rPr lang="zh-CN" altLang="en-US" dirty="0"/>
              <a:t>，一个运算符作用于相应的运算对象，其运算对象又可以是任意复杂的表达式。</a:t>
            </a:r>
            <a:endParaRPr lang="en-US" altLang="zh-CN" dirty="0"/>
          </a:p>
          <a:p>
            <a:r>
              <a:rPr lang="zh-CN" altLang="en-US" dirty="0"/>
              <a:t>树的递归结构正好用来表示这种表达式。</a:t>
            </a:r>
            <a:endParaRPr lang="en-US" altLang="zh-CN" dirty="0"/>
          </a:p>
          <a:p>
            <a:r>
              <a:rPr lang="zh-CN" altLang="en-US" dirty="0"/>
              <a:t>二元运算表达式可以表示为一棵二叉树：以</a:t>
            </a:r>
            <a:r>
              <a:rPr lang="zh-CN" altLang="en-US" dirty="0">
                <a:solidFill>
                  <a:srgbClr val="0000FF"/>
                </a:solidFill>
              </a:rPr>
              <a:t>基本运算对象作为叶节点</a:t>
            </a:r>
            <a:r>
              <a:rPr lang="zh-CN" altLang="en-US" dirty="0"/>
              <a:t>中的数据；以</a:t>
            </a:r>
            <a:r>
              <a:rPr lang="zh-CN" altLang="en-US" dirty="0">
                <a:solidFill>
                  <a:srgbClr val="0000FF"/>
                </a:solidFill>
              </a:rPr>
              <a:t>运算符作为非叶节点</a:t>
            </a:r>
            <a:r>
              <a:rPr lang="zh-CN" altLang="en-US" dirty="0"/>
              <a:t>中的数据，其</a:t>
            </a:r>
            <a:r>
              <a:rPr lang="zh-CN" altLang="en-US" dirty="0">
                <a:solidFill>
                  <a:srgbClr val="0000FF"/>
                </a:solidFill>
              </a:rPr>
              <a:t>两棵子树是它的运算对象</a:t>
            </a:r>
            <a:r>
              <a:rPr lang="zh-CN" altLang="en-US" dirty="0"/>
              <a:t>，子树可以是基本运算对象，也可以是复杂表达式。</a:t>
            </a:r>
            <a:endParaRPr lang="en-US" altLang="zh-CN" dirty="0"/>
          </a:p>
          <a:p>
            <a:r>
              <a:rPr lang="zh-CN" altLang="en-US" dirty="0"/>
              <a:t>只包含二元运算的表达式树是一棵</a:t>
            </a:r>
            <a:r>
              <a:rPr lang="zh-CN" altLang="en-US" dirty="0">
                <a:solidFill>
                  <a:srgbClr val="0000FF"/>
                </a:solidFill>
              </a:rPr>
              <a:t>满二叉树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2162735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EBC47-7C28-48F1-ABB9-900AE69DD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表达式树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AB12EE-FB3C-4755-BE61-F879B414170E}"/>
              </a:ext>
            </a:extLst>
          </p:cNvPr>
          <p:cNvSpPr txBox="1"/>
          <p:nvPr/>
        </p:nvSpPr>
        <p:spPr>
          <a:xfrm>
            <a:off x="1493275" y="1023119"/>
            <a:ext cx="6309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400" b="0" dirty="0">
                <a:solidFill>
                  <a:srgbClr val="333333"/>
                </a:solidFill>
                <a:latin typeface="+mn-ea"/>
                <a:ea typeface="+mn-ea"/>
              </a:rPr>
              <a:t>中缀表达式：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9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+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(6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+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3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*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2)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/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(8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/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(5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-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3))</a:t>
            </a:r>
            <a:r>
              <a:rPr lang="zh-CN" altLang="zh-CN" sz="24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endParaRPr kumimoji="1" lang="zh-CN" altLang="en-US" sz="24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AE21F9-F5B5-4EFA-B62A-132E110EC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774" y="1790353"/>
            <a:ext cx="6696744" cy="442463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CE68651-0949-4C4F-8595-601957A5AC16}"/>
              </a:ext>
            </a:extLst>
          </p:cNvPr>
          <p:cNvSpPr txBox="1"/>
          <p:nvPr/>
        </p:nvSpPr>
        <p:spPr>
          <a:xfrm>
            <a:off x="1427549" y="6240630"/>
            <a:ext cx="6288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根结点是表达式中</a:t>
            </a:r>
            <a:r>
              <a:rPr lang="zh-CN" altLang="en-US" b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优先级最低</a:t>
            </a:r>
            <a:r>
              <a:rPr lang="zh-CN" altLang="en-US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的运算符</a:t>
            </a:r>
          </a:p>
        </p:txBody>
      </p:sp>
    </p:spTree>
    <p:extLst>
      <p:ext uri="{BB962C8B-B14F-4D97-AF65-F5344CB8AC3E}">
        <p14:creationId xmlns:p14="http://schemas.microsoft.com/office/powerpoint/2010/main" val="347299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5320DA-775F-44F4-BF05-F97D06D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表达式树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65E4F3FB-277B-4201-873D-EE49CB0A8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40457"/>
            <a:ext cx="6582946" cy="4349447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E760C876-D295-43B7-B878-2765D68A6EFF}"/>
              </a:ext>
            </a:extLst>
          </p:cNvPr>
          <p:cNvSpPr txBox="1"/>
          <p:nvPr/>
        </p:nvSpPr>
        <p:spPr>
          <a:xfrm>
            <a:off x="757217" y="4927221"/>
            <a:ext cx="5398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b="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前序遍历结果</a:t>
            </a:r>
            <a:r>
              <a:rPr kumimoji="1" lang="zh-CN" altLang="en-US" sz="2400" b="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：</a:t>
            </a:r>
            <a:r>
              <a:rPr lang="en-US" altLang="zh-CN" sz="2400" kern="0" dirty="0">
                <a:solidFill>
                  <a:srgbClr val="C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+ 9 / + 6 * 3 2 / 8 - 5 3</a:t>
            </a:r>
            <a:endParaRPr lang="zh-CN" altLang="zh-CN" sz="2400" kern="100" dirty="0">
              <a:solidFill>
                <a:srgbClr val="C00000"/>
              </a:solidFill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C985A16-1190-4F21-8627-BF79F3B52EED}"/>
              </a:ext>
            </a:extLst>
          </p:cNvPr>
          <p:cNvSpPr txBox="1"/>
          <p:nvPr/>
        </p:nvSpPr>
        <p:spPr>
          <a:xfrm>
            <a:off x="755576" y="5416391"/>
            <a:ext cx="5398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b="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后序遍历结果</a:t>
            </a:r>
            <a:r>
              <a:rPr kumimoji="1" lang="zh-CN" altLang="en-US" sz="2400" b="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：</a:t>
            </a:r>
            <a:r>
              <a:rPr lang="en-US" altLang="zh-CN" sz="2400" kern="0" dirty="0">
                <a:solidFill>
                  <a:srgbClr val="C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 6 3 2 * + 8 5 3 - / / +</a:t>
            </a:r>
            <a:r>
              <a:rPr lang="zh-CN" altLang="en-US" sz="2400" kern="0" dirty="0">
                <a:solidFill>
                  <a:srgbClr val="C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2400" kern="100" dirty="0">
              <a:solidFill>
                <a:srgbClr val="C00000"/>
              </a:solidFill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D4566B4-8F56-4AD9-99A1-92D412CA27B6}"/>
              </a:ext>
            </a:extLst>
          </p:cNvPr>
          <p:cNvSpPr txBox="1"/>
          <p:nvPr/>
        </p:nvSpPr>
        <p:spPr>
          <a:xfrm>
            <a:off x="760969" y="5939835"/>
            <a:ext cx="5467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b="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中序遍历结果</a:t>
            </a:r>
            <a:r>
              <a:rPr kumimoji="1" lang="zh-CN" altLang="en-US" sz="2400" b="0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：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9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+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6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+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*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8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5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–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3</a:t>
            </a:r>
            <a:endParaRPr lang="zh-CN" altLang="zh-CN" sz="2400" kern="1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55BB10A-D4C3-4441-829C-6C6FA50370B2}"/>
              </a:ext>
            </a:extLst>
          </p:cNvPr>
          <p:cNvSpPr txBox="1"/>
          <p:nvPr/>
        </p:nvSpPr>
        <p:spPr>
          <a:xfrm>
            <a:off x="3635896" y="874821"/>
            <a:ext cx="5508104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表达式：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9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+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(6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+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*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2)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/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(8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/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(5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-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3))</a:t>
            </a:r>
            <a:r>
              <a:rPr kumimoji="0" lang="zh-CN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endParaRPr kumimoji="1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9" name="任意多边形: 形状 8">
            <a:extLst>
              <a:ext uri="{FF2B5EF4-FFF2-40B4-BE49-F238E27FC236}">
                <a16:creationId xmlns:a16="http://schemas.microsoft.com/office/drawing/2014/main" id="{9CD67BFA-913A-4D68-85B4-5F8EBC315EB0}"/>
              </a:ext>
            </a:extLst>
          </p:cNvPr>
          <p:cNvSpPr/>
          <p:nvPr/>
        </p:nvSpPr>
        <p:spPr>
          <a:xfrm>
            <a:off x="6228184" y="4869160"/>
            <a:ext cx="2232248" cy="461665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</p:spPr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marL="0" marR="0" lvl="0" indent="0" algn="ctr" defTabSz="11557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</a:rPr>
              <a:t>=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</a:rPr>
              <a:t> 前缀表示法</a:t>
            </a:r>
          </a:p>
        </p:txBody>
      </p:sp>
      <p:sp>
        <p:nvSpPr>
          <p:cNvPr id="30" name="任意多边形: 形状 8">
            <a:extLst>
              <a:ext uri="{FF2B5EF4-FFF2-40B4-BE49-F238E27FC236}">
                <a16:creationId xmlns:a16="http://schemas.microsoft.com/office/drawing/2014/main" id="{561CA590-89B7-4FB8-853C-5DCECA621627}"/>
              </a:ext>
            </a:extLst>
          </p:cNvPr>
          <p:cNvSpPr/>
          <p:nvPr/>
        </p:nvSpPr>
        <p:spPr>
          <a:xfrm>
            <a:off x="6228182" y="5402880"/>
            <a:ext cx="2232250" cy="461665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</p:spPr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marL="0" marR="0" lvl="0" indent="0" algn="ctr" defTabSz="11557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</a:rPr>
              <a:t>=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</a:rPr>
              <a:t> 后缀表示法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任意多边形: 形状 8">
                <a:extLst>
                  <a:ext uri="{FF2B5EF4-FFF2-40B4-BE49-F238E27FC236}">
                    <a16:creationId xmlns:a16="http://schemas.microsoft.com/office/drawing/2014/main" id="{C9F80012-A6EA-47C4-A729-D3CA8F728BBD}"/>
                  </a:ext>
                </a:extLst>
              </p:cNvPr>
              <p:cNvSpPr/>
              <p:nvPr/>
            </p:nvSpPr>
            <p:spPr>
              <a:xfrm>
                <a:off x="6228182" y="5939835"/>
                <a:ext cx="2232250" cy="461665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solidFill>
                <a:srgbClr val="009999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154393" tIns="154393" rIns="154393" bIns="154393" numCol="1" spcCol="1270" anchor="ctr" anchorCtr="0">
                <a:noAutofit/>
              </a:bodyPr>
              <a:lstStyle/>
              <a:p>
                <a:pPr marL="0" marR="0" lvl="0" indent="0" algn="ctr" defTabSz="11557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4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≠</m:t>
                    </m:r>
                  </m:oMath>
                </a14:m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宋体" panose="02010600030101010101" pitchFamily="2" charset="-122"/>
                    <a:cs typeface="+mn-cs"/>
                  </a:rPr>
                  <a:t> 中缀表示法</a:t>
                </a:r>
              </a:p>
            </p:txBody>
          </p:sp>
        </mc:Choice>
        <mc:Fallback xmlns="">
          <p:sp>
            <p:nvSpPr>
              <p:cNvPr id="31" name="任意多边形: 形状 8">
                <a:extLst>
                  <a:ext uri="{FF2B5EF4-FFF2-40B4-BE49-F238E27FC236}">
                    <a16:creationId xmlns:a16="http://schemas.microsoft.com/office/drawing/2014/main" id="{C9F80012-A6EA-47C4-A729-D3CA8F728B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182" y="5939835"/>
                <a:ext cx="2232250" cy="461665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blipFill>
                <a:blip r:embed="rId3"/>
                <a:stretch>
                  <a:fillRect t="-15385" b="-20513"/>
                </a:stretch>
              </a:blip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E29064F9-2022-41C7-A494-9B11233FA684}"/>
              </a:ext>
            </a:extLst>
          </p:cNvPr>
          <p:cNvSpPr txBox="1"/>
          <p:nvPr/>
        </p:nvSpPr>
        <p:spPr>
          <a:xfrm>
            <a:off x="1979712" y="6377485"/>
            <a:ext cx="5929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没有括号，不是正确的中缀表达式！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006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9" grpId="0" animBg="1"/>
      <p:bldP spid="30" grpId="0" animBg="1"/>
      <p:bldP spid="31" grpId="0" animBg="1"/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61F740-81C8-40B3-A1B5-AD93B28E5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表达式树转换为中缀表达式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7363ECE-55B1-446C-9C64-B71B5E983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744538"/>
            <a:ext cx="9036496" cy="599683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void </a:t>
            </a:r>
            <a:r>
              <a:rPr lang="en-US" altLang="zh-CN" dirty="0" err="1">
                <a:solidFill>
                  <a:srgbClr val="FF0000"/>
                </a:solidFill>
                <a:latin typeface="+mn-lt"/>
              </a:rPr>
              <a:t>printInfix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latin typeface="+mn-lt"/>
              </a:rPr>
              <a:t>BiTNode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 *T) {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将表达式树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T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输出为中缀表示</a:t>
            </a:r>
            <a:endParaRPr lang="en-US" altLang="zh-CN" sz="2400" dirty="0">
              <a:solidFill>
                <a:srgbClr val="00B050"/>
              </a:solidFill>
              <a:latin typeface="+mn-lt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if (T!=NULL) {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    if (T-&gt;</a:t>
            </a:r>
            <a:r>
              <a:rPr lang="en-US" altLang="zh-CN" dirty="0" err="1">
                <a:solidFill>
                  <a:srgbClr val="0000FF"/>
                </a:solidFill>
                <a:latin typeface="+mn-lt"/>
              </a:rPr>
              <a:t>lchild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 &amp;&amp; T-&gt;</a:t>
            </a:r>
            <a:r>
              <a:rPr lang="en-US" altLang="zh-CN" dirty="0" err="1">
                <a:solidFill>
                  <a:srgbClr val="0000FF"/>
                </a:solidFill>
                <a:latin typeface="+mn-lt"/>
              </a:rPr>
              <a:t>rchild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)  </a:t>
            </a:r>
            <a:r>
              <a:rPr lang="en-US" altLang="zh-CN" dirty="0" err="1">
                <a:solidFill>
                  <a:srgbClr val="0000FF"/>
                </a:solidFill>
                <a:latin typeface="+mn-lt"/>
              </a:rPr>
              <a:t>cout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 &lt;&lt; “(“;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    </a:t>
            </a:r>
            <a:r>
              <a:rPr lang="en-US" altLang="zh-CN" dirty="0" err="1">
                <a:solidFill>
                  <a:srgbClr val="FF0000"/>
                </a:solidFill>
                <a:latin typeface="+mn-lt"/>
              </a:rPr>
              <a:t>printInfix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(T-&gt;</a:t>
            </a:r>
            <a:r>
              <a:rPr lang="en-US" altLang="zh-CN" dirty="0" err="1">
                <a:solidFill>
                  <a:srgbClr val="FF0000"/>
                </a:solidFill>
                <a:latin typeface="+mn-lt"/>
              </a:rPr>
              <a:t>lchild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)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+mn-lt"/>
              </a:rPr>
              <a:t>        </a:t>
            </a:r>
            <a:r>
              <a:rPr lang="en-US" altLang="zh-CN" dirty="0" err="1">
                <a:solidFill>
                  <a:srgbClr val="0000FF"/>
                </a:solidFill>
                <a:latin typeface="+mn-lt"/>
              </a:rPr>
              <a:t>cout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 &lt;&lt; T-&gt;data;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    </a:t>
            </a:r>
            <a:r>
              <a:rPr lang="en-US" altLang="zh-CN" dirty="0" err="1">
                <a:solidFill>
                  <a:srgbClr val="FF0000"/>
                </a:solidFill>
                <a:latin typeface="+mn-lt"/>
              </a:rPr>
              <a:t>printInfix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(T-&gt;</a:t>
            </a:r>
            <a:r>
              <a:rPr lang="en-US" altLang="zh-CN" dirty="0" err="1">
                <a:solidFill>
                  <a:srgbClr val="FF0000"/>
                </a:solidFill>
                <a:latin typeface="+mn-lt"/>
              </a:rPr>
              <a:t>rchild</a:t>
            </a:r>
            <a:r>
              <a:rPr lang="en-US" altLang="zh-CN" dirty="0">
                <a:solidFill>
                  <a:srgbClr val="FF0000"/>
                </a:solidFill>
                <a:latin typeface="+mn-lt"/>
              </a:rPr>
              <a:t>)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    if (T-&gt;</a:t>
            </a:r>
            <a:r>
              <a:rPr lang="en-US" altLang="zh-CN" dirty="0" err="1">
                <a:solidFill>
                  <a:srgbClr val="0000FF"/>
                </a:solidFill>
                <a:latin typeface="+mn-lt"/>
              </a:rPr>
              <a:t>lchild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 &amp;&amp; T-&gt;</a:t>
            </a:r>
            <a:r>
              <a:rPr lang="en-US" altLang="zh-CN" dirty="0" err="1">
                <a:solidFill>
                  <a:srgbClr val="0000FF"/>
                </a:solidFill>
                <a:latin typeface="+mn-lt"/>
              </a:rPr>
              <a:t>rchild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)  </a:t>
            </a:r>
            <a:r>
              <a:rPr lang="en-US" altLang="zh-CN" dirty="0" err="1">
                <a:solidFill>
                  <a:srgbClr val="0000FF"/>
                </a:solidFill>
                <a:latin typeface="+mn-lt"/>
              </a:rPr>
              <a:t>cout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 &lt;&lt; “)“;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}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302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5320DA-775F-44F4-BF05-F97D06D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表达式树转换为中缀表达式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65E4F3FB-277B-4201-873D-EE49CB0A8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40457"/>
            <a:ext cx="6582946" cy="4349447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F55BB10A-D4C3-4441-829C-6C6FA50370B2}"/>
              </a:ext>
            </a:extLst>
          </p:cNvPr>
          <p:cNvSpPr txBox="1"/>
          <p:nvPr/>
        </p:nvSpPr>
        <p:spPr>
          <a:xfrm>
            <a:off x="3635896" y="874821"/>
            <a:ext cx="5508104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表达式：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9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+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(6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+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*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2)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/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(8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/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(5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-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3))</a:t>
            </a:r>
            <a:r>
              <a:rPr kumimoji="0" lang="zh-CN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endParaRPr kumimoji="1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0CB9ED-C50C-4D12-901A-A06A58B14A20}"/>
              </a:ext>
            </a:extLst>
          </p:cNvPr>
          <p:cNvSpPr txBox="1"/>
          <p:nvPr/>
        </p:nvSpPr>
        <p:spPr>
          <a:xfrm>
            <a:off x="323528" y="5104695"/>
            <a:ext cx="8496944" cy="1308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算法运行结果：</a:t>
            </a:r>
            <a:r>
              <a:rPr lang="en-US" altLang="zh-CN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(9+((6+(3*2))/(8/(5-3))))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  <a:r>
              <a:rPr lang="zh-CN" altLang="en-US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如何将中缀表达式转换为等价的表达式树？</a:t>
            </a:r>
            <a:endParaRPr lang="en-US" altLang="zh-CN" b="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71176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4F5B4-7F34-479D-8059-D624B9348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二叉树遍历的非递归算法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D775FD-D366-4095-9CF0-CA27C034F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递归算法的问题：</a:t>
            </a:r>
          </a:p>
          <a:p>
            <a:pPr lvl="1"/>
            <a:r>
              <a:rPr lang="zh-CN" altLang="en-US" dirty="0"/>
              <a:t>存在不支持递归算法的程序设计语言。</a:t>
            </a:r>
          </a:p>
          <a:p>
            <a:pPr lvl="1"/>
            <a:r>
              <a:rPr lang="zh-CN" altLang="en-US" dirty="0"/>
              <a:t>递归算法在运行中，需要系统在内存栈中分配空间保存函数的参数、返回地址以及局部变量等，运行效率较低。</a:t>
            </a:r>
          </a:p>
          <a:p>
            <a:pPr lvl="1"/>
            <a:r>
              <a:rPr lang="zh-CN" altLang="en-US" dirty="0"/>
              <a:t>系统对每个进程分配的栈容量有限，如果二叉树的深度太大造成递归调用的层次太高，容易导致栈溢出。</a:t>
            </a:r>
          </a:p>
          <a:p>
            <a:r>
              <a:rPr lang="zh-CN" altLang="en-US" dirty="0"/>
              <a:t>非递归算法实现的关键：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zh-CN" altLang="en-US" b="1" dirty="0">
                <a:solidFill>
                  <a:srgbClr val="FF0000"/>
                </a:solidFill>
              </a:rPr>
              <a:t>栈</a:t>
            </a:r>
            <a:r>
              <a:rPr lang="zh-CN" altLang="en-US" dirty="0"/>
              <a:t>结构模拟函数调用中系统栈的工作原理。</a:t>
            </a:r>
          </a:p>
        </p:txBody>
      </p:sp>
    </p:spTree>
    <p:extLst>
      <p:ext uri="{BB962C8B-B14F-4D97-AF65-F5344CB8AC3E}">
        <p14:creationId xmlns:p14="http://schemas.microsoft.com/office/powerpoint/2010/main" val="9817447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4FBA5-C730-4344-8BF8-A4C73D07C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前序遍历的非递归算法</a:t>
            </a:r>
            <a:r>
              <a:rPr lang="en-US" altLang="zh-CN" dirty="0"/>
              <a:t> 1</a:t>
            </a:r>
            <a:endParaRPr lang="zh-CN" altLang="en-US" dirty="0"/>
          </a:p>
        </p:txBody>
      </p:sp>
      <p:grpSp>
        <p:nvGrpSpPr>
          <p:cNvPr id="24" name="组合 17">
            <a:extLst>
              <a:ext uri="{FF2B5EF4-FFF2-40B4-BE49-F238E27FC236}">
                <a16:creationId xmlns:a16="http://schemas.microsoft.com/office/drawing/2014/main" id="{7617DC96-9C7A-42E3-972F-44468BBD7193}"/>
              </a:ext>
            </a:extLst>
          </p:cNvPr>
          <p:cNvGrpSpPr/>
          <p:nvPr/>
        </p:nvGrpSpPr>
        <p:grpSpPr>
          <a:xfrm>
            <a:off x="546301" y="1291066"/>
            <a:ext cx="3536520" cy="2835723"/>
            <a:chOff x="430506" y="1468999"/>
            <a:chExt cx="3536520" cy="2835723"/>
          </a:xfrm>
        </p:grpSpPr>
        <p:sp>
          <p:nvSpPr>
            <p:cNvPr id="25" name="Line 15">
              <a:extLst>
                <a:ext uri="{FF2B5EF4-FFF2-40B4-BE49-F238E27FC236}">
                  <a16:creationId xmlns:a16="http://schemas.microsoft.com/office/drawing/2014/main" id="{A4E2AF5B-6B36-46FD-8503-EA6C0E304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4168" y="1713456"/>
              <a:ext cx="196866" cy="315931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miter lim="800000"/>
              <a:tailEnd type="arrow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6" name="Text Box 16">
              <a:extLst>
                <a:ext uri="{FF2B5EF4-FFF2-40B4-BE49-F238E27FC236}">
                  <a16:creationId xmlns:a16="http://schemas.microsoft.com/office/drawing/2014/main" id="{FEEE1090-2484-481A-A28F-BE252E2871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0005" y="1468999"/>
              <a:ext cx="288925" cy="38779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1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T</a:t>
              </a:r>
            </a:p>
          </p:txBody>
        </p:sp>
        <p:sp>
          <p:nvSpPr>
            <p:cNvPr id="27" name="Text Box 17">
              <a:extLst>
                <a:ext uri="{FF2B5EF4-FFF2-40B4-BE49-F238E27FC236}">
                  <a16:creationId xmlns:a16="http://schemas.microsoft.com/office/drawing/2014/main" id="{A73A3272-FA1A-4414-90F3-1AD744DDE4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506" y="3916924"/>
              <a:ext cx="1592304" cy="38779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1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T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-&gt;</a:t>
              </a:r>
              <a:r>
                <a:rPr kumimoji="1" lang="en-US" altLang="zh-CN" sz="2400" i="0" u="none" strike="noStrike" kern="0" cap="none" spc="0" normalizeH="0" baseline="0" noProof="0" dirty="0" err="1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lchild</a:t>
              </a:r>
              <a:endPara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8" name="Text Box 18">
              <a:extLst>
                <a:ext uri="{FF2B5EF4-FFF2-40B4-BE49-F238E27FC236}">
                  <a16:creationId xmlns:a16="http://schemas.microsoft.com/office/drawing/2014/main" id="{61F0C39C-A1BA-4619-B90B-3FA2A02594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9118" y="3916924"/>
              <a:ext cx="1667908" cy="38779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1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T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-&gt;</a:t>
              </a:r>
              <a:r>
                <a:rPr kumimoji="1" lang="en-US" altLang="zh-CN" sz="2400" i="0" u="none" strike="noStrike" kern="0" cap="none" spc="0" normalizeH="0" baseline="0" noProof="0" dirty="0" err="1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rchild</a:t>
              </a:r>
              <a:endPara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9" name="Oval 19">
              <a:extLst>
                <a:ext uri="{FF2B5EF4-FFF2-40B4-BE49-F238E27FC236}">
                  <a16:creationId xmlns:a16="http://schemas.microsoft.com/office/drawing/2014/main" id="{27FC91CA-B690-4ED5-9147-93795FA8F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1147" y="2045262"/>
              <a:ext cx="863600" cy="504825"/>
            </a:xfrm>
            <a:prstGeom prst="ellipse">
              <a:avLst/>
            </a:prstGeom>
            <a:solidFill>
              <a:srgbClr val="FFC000"/>
            </a:solidFill>
            <a:ln w="9525" algn="ctr">
              <a:solidFill>
                <a:sysClr val="windowText" lastClr="000000"/>
              </a:solidFill>
              <a:round/>
              <a:tailEnd type="none" w="med" len="lg"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1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r</a:t>
              </a:r>
            </a:p>
          </p:txBody>
        </p:sp>
        <p:sp>
          <p:nvSpPr>
            <p:cNvPr id="30" name="AutoShape 20">
              <a:extLst>
                <a:ext uri="{FF2B5EF4-FFF2-40B4-BE49-F238E27FC236}">
                  <a16:creationId xmlns:a16="http://schemas.microsoft.com/office/drawing/2014/main" id="{CCE435CF-ECE9-49F3-937A-24E604826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022" y="2981887"/>
              <a:ext cx="1150937" cy="792162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 w="9525" algn="ctr">
              <a:solidFill>
                <a:sysClr val="windowText" lastClr="000000"/>
              </a:solidFill>
              <a:miter lim="800000"/>
              <a:tailEnd type="none" w="med" len="lg"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1" u="none" strike="noStrike" kern="0" cap="none" spc="0" normalizeH="0" baseline="0" noProof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31" name="AutoShape 21">
              <a:extLst>
                <a:ext uri="{FF2B5EF4-FFF2-40B4-BE49-F238E27FC236}">
                  <a16:creationId xmlns:a16="http://schemas.microsoft.com/office/drawing/2014/main" id="{960DAF41-F59E-4879-9C15-C1E1784D2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159" y="2981887"/>
              <a:ext cx="1150938" cy="792162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 w="9525" algn="ctr">
              <a:solidFill>
                <a:sysClr val="windowText" lastClr="000000"/>
              </a:solidFill>
              <a:miter lim="800000"/>
              <a:tailEnd type="none" w="med" len="lg"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1" u="none" strike="noStrike" kern="0" cap="none" spc="0" normalizeH="0" baseline="0" noProof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R</a:t>
              </a:r>
            </a:p>
          </p:txBody>
        </p:sp>
        <p:sp>
          <p:nvSpPr>
            <p:cNvPr id="32" name="Line 22">
              <a:extLst>
                <a:ext uri="{FF2B5EF4-FFF2-40B4-BE49-F238E27FC236}">
                  <a16:creationId xmlns:a16="http://schemas.microsoft.com/office/drawing/2014/main" id="{5C428134-393F-4D00-B9DF-94DFB85001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01722" y="2477062"/>
              <a:ext cx="647700" cy="649287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tailEnd type="arrow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848E2A60-FEB2-4E90-A4B2-BF56C771E5DF}"/>
                </a:ext>
              </a:extLst>
            </p:cNvPr>
            <p:cNvSpPr/>
            <p:nvPr/>
          </p:nvSpPr>
          <p:spPr bwMode="auto">
            <a:xfrm>
              <a:off x="2490759" y="2489762"/>
              <a:ext cx="542925" cy="5778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2" y="364"/>
                </a:cxn>
              </a:cxnLst>
              <a:rect l="0" t="0" r="r" b="b"/>
              <a:pathLst>
                <a:path w="342" h="364">
                  <a:moveTo>
                    <a:pt x="0" y="0"/>
                  </a:moveTo>
                  <a:lnTo>
                    <a:pt x="342" y="364"/>
                  </a:lnTo>
                </a:path>
              </a:pathLst>
            </a:custGeom>
            <a:noFill/>
            <a:ln w="28575" cap="flat" cmpd="sng">
              <a:solidFill>
                <a:sysClr val="windowText" lastClr="00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8774DAAC-0305-464E-A3A2-05CE2607D294}"/>
              </a:ext>
            </a:extLst>
          </p:cNvPr>
          <p:cNvSpPr txBox="1"/>
          <p:nvPr/>
        </p:nvSpPr>
        <p:spPr>
          <a:xfrm>
            <a:off x="91200" y="4754936"/>
            <a:ext cx="4647426" cy="1135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dirty="0">
                <a:latin typeface="+mn-ea"/>
                <a:ea typeface="+mn-ea"/>
              </a:rPr>
              <a:t>用</a:t>
            </a:r>
            <a:r>
              <a:rPr lang="zh-CN" altLang="en-US" sz="2400" b="0" dirty="0">
                <a:solidFill>
                  <a:srgbClr val="FF0000"/>
                </a:solidFill>
                <a:latin typeface="+mn-ea"/>
                <a:ea typeface="+mn-ea"/>
              </a:rPr>
              <a:t>栈</a:t>
            </a:r>
            <a:r>
              <a:rPr lang="zh-CN" altLang="en-US" sz="2400" b="0" dirty="0">
                <a:latin typeface="+mn-ea"/>
                <a:ea typeface="+mn-ea"/>
              </a:rPr>
              <a:t>保存遍历结点的孩子结点</a:t>
            </a:r>
            <a:endParaRPr lang="en-US" altLang="zh-CN" sz="2400" b="0" dirty="0">
              <a:latin typeface="+mn-ea"/>
              <a:ea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dirty="0">
                <a:latin typeface="+mn-ea"/>
                <a:ea typeface="+mn-ea"/>
              </a:rPr>
              <a:t>右孩子先入栈，左孩子后入栈</a:t>
            </a:r>
          </a:p>
        </p:txBody>
      </p:sp>
      <p:sp>
        <p:nvSpPr>
          <p:cNvPr id="36" name="Text Box 5">
            <a:extLst>
              <a:ext uri="{FF2B5EF4-FFF2-40B4-BE49-F238E27FC236}">
                <a16:creationId xmlns:a16="http://schemas.microsoft.com/office/drawing/2014/main" id="{938D8D83-2182-404E-92D5-388119D06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4" y="1307290"/>
            <a:ext cx="4707849" cy="3476822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180000" tIns="108000" bIns="10800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根结点进栈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while (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栈不空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) {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出栈结点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p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并访问之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若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p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有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右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孩子，将其右孩子进栈；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  <a:cs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  若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p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有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左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孩子，将其左孩子进栈；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  <a:cs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06117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9038F-B11C-44A6-8DF2-36A35A87B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前序遍历的非递归算法</a:t>
            </a:r>
            <a:r>
              <a:rPr lang="en-US" altLang="zh-CN" dirty="0"/>
              <a:t> 1</a:t>
            </a:r>
            <a:endParaRPr lang="zh-CN" altLang="en-US" dirty="0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17D20B4E-61B7-4E59-8209-6D77B080B82D}"/>
              </a:ext>
            </a:extLst>
          </p:cNvPr>
          <p:cNvGrpSpPr/>
          <p:nvPr/>
        </p:nvGrpSpPr>
        <p:grpSpPr>
          <a:xfrm>
            <a:off x="2175912" y="4308677"/>
            <a:ext cx="1152526" cy="1824036"/>
            <a:chOff x="3000375" y="4226977"/>
            <a:chExt cx="1152526" cy="1824036"/>
          </a:xfrm>
        </p:grpSpPr>
        <p:sp>
          <p:nvSpPr>
            <p:cNvPr id="49" name="Line 17">
              <a:extLst>
                <a:ext uri="{FF2B5EF4-FFF2-40B4-BE49-F238E27FC236}">
                  <a16:creationId xmlns:a16="http://schemas.microsoft.com/office/drawing/2014/main" id="{489575F5-A738-491C-BBDB-347C1DC70A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375" y="4226977"/>
              <a:ext cx="0" cy="1800225"/>
            </a:xfrm>
            <a:prstGeom prst="line">
              <a:avLst/>
            </a:prstGeom>
            <a:noFill/>
            <a:ln w="38100" cap="flat" cmpd="sng" algn="ctr">
              <a:solidFill>
                <a:srgbClr val="4BACC6"/>
              </a:solidFill>
              <a:prstDash val="solid"/>
              <a:tailEnd type="none" w="med" len="lg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0" name="Line 18">
              <a:extLst>
                <a:ext uri="{FF2B5EF4-FFF2-40B4-BE49-F238E27FC236}">
                  <a16:creationId xmlns:a16="http://schemas.microsoft.com/office/drawing/2014/main" id="{205EA4FC-ED80-4837-9879-1A9855F412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2900" y="4226977"/>
              <a:ext cx="0" cy="1800225"/>
            </a:xfrm>
            <a:prstGeom prst="line">
              <a:avLst/>
            </a:prstGeom>
            <a:noFill/>
            <a:ln w="38100" cap="flat" cmpd="sng" algn="ctr">
              <a:solidFill>
                <a:srgbClr val="4BACC6"/>
              </a:solidFill>
              <a:prstDash val="solid"/>
              <a:tailEnd type="none" w="med" len="lg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1" name="Line 19">
              <a:extLst>
                <a:ext uri="{FF2B5EF4-FFF2-40B4-BE49-F238E27FC236}">
                  <a16:creationId xmlns:a16="http://schemas.microsoft.com/office/drawing/2014/main" id="{1F8971C3-F6AB-40BD-9BB8-75D9AFCD2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376" y="6051013"/>
              <a:ext cx="1152525" cy="0"/>
            </a:xfrm>
            <a:prstGeom prst="line">
              <a:avLst/>
            </a:prstGeom>
            <a:noFill/>
            <a:ln w="38100" cap="flat" cmpd="sng" algn="ctr">
              <a:solidFill>
                <a:srgbClr val="4BACC6"/>
              </a:solidFill>
              <a:prstDash val="solid"/>
              <a:tailEnd type="none" w="med" len="lg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52" name="Text Box 20">
            <a:extLst>
              <a:ext uri="{FF2B5EF4-FFF2-40B4-BE49-F238E27FC236}">
                <a16:creationId xmlns:a16="http://schemas.microsoft.com/office/drawing/2014/main" id="{616F6436-7A0D-4137-89C5-D1117F727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6157" y="6241555"/>
            <a:ext cx="1333715" cy="437043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b="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一个栈</a:t>
            </a:r>
          </a:p>
        </p:txBody>
      </p:sp>
      <p:sp>
        <p:nvSpPr>
          <p:cNvPr id="36" name="Line 4">
            <a:extLst>
              <a:ext uri="{FF2B5EF4-FFF2-40B4-BE49-F238E27FC236}">
                <a16:creationId xmlns:a16="http://schemas.microsoft.com/office/drawing/2014/main" id="{20E6C967-06AC-4F15-890B-39B0F5F5E9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3225" y="2988117"/>
            <a:ext cx="378530" cy="435263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37" name="Line 5">
            <a:extLst>
              <a:ext uri="{FF2B5EF4-FFF2-40B4-BE49-F238E27FC236}">
                <a16:creationId xmlns:a16="http://schemas.microsoft.com/office/drawing/2014/main" id="{DF9766C1-4E49-420E-89CF-2AC5E2CA5D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4611" y="1242251"/>
            <a:ext cx="376451" cy="435263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956DE24C-AA2B-4FFD-B280-AC1ADDF5DE83}"/>
              </a:ext>
            </a:extLst>
          </p:cNvPr>
          <p:cNvSpPr/>
          <p:nvPr/>
        </p:nvSpPr>
        <p:spPr bwMode="auto">
          <a:xfrm>
            <a:off x="2933269" y="1170108"/>
            <a:ext cx="395169" cy="589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0" y="245"/>
              </a:cxn>
            </a:cxnLst>
            <a:rect l="0" t="0" r="r" b="b"/>
            <a:pathLst>
              <a:path w="190" h="245">
                <a:moveTo>
                  <a:pt x="0" y="0"/>
                </a:moveTo>
                <a:lnTo>
                  <a:pt x="190" y="245"/>
                </a:lnTo>
              </a:path>
            </a:pathLst>
          </a:cu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39" name="Line 7">
            <a:extLst>
              <a:ext uri="{FF2B5EF4-FFF2-40B4-BE49-F238E27FC236}">
                <a16:creationId xmlns:a16="http://schemas.microsoft.com/office/drawing/2014/main" id="{6C1D1142-57B6-415C-BA3E-F0A2DAD0A9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9632" y="2115183"/>
            <a:ext cx="472122" cy="545885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0" name="Line 8">
            <a:extLst>
              <a:ext uri="{FF2B5EF4-FFF2-40B4-BE49-F238E27FC236}">
                <a16:creationId xmlns:a16="http://schemas.microsoft.com/office/drawing/2014/main" id="{C9698BB1-1E06-428E-8E9A-45C9227C36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77114" y="2158468"/>
            <a:ext cx="376449" cy="435265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E5A20236-313C-4576-9430-62221A0C2A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571" y="2115183"/>
            <a:ext cx="376451" cy="545885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2" name="Oval 10">
            <a:extLst>
              <a:ext uri="{FF2B5EF4-FFF2-40B4-BE49-F238E27FC236}">
                <a16:creationId xmlns:a16="http://schemas.microsoft.com/office/drawing/2014/main" id="{DCA4383D-C791-4FB8-9FB7-7A3D855D5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7469" y="806986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43" name="Oval 11">
            <a:extLst>
              <a:ext uri="{FF2B5EF4-FFF2-40B4-BE49-F238E27FC236}">
                <a16:creationId xmlns:a16="http://schemas.microsoft.com/office/drawing/2014/main" id="{E7F87263-7BED-4DEA-993E-00721D305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081" y="1677514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44" name="Oval 12">
            <a:extLst>
              <a:ext uri="{FF2B5EF4-FFF2-40B4-BE49-F238E27FC236}">
                <a16:creationId xmlns:a16="http://schemas.microsoft.com/office/drawing/2014/main" id="{55B4E7AD-0CB8-46B5-8E22-01B55F9D1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2449" y="1677514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45" name="Oval 13">
            <a:extLst>
              <a:ext uri="{FF2B5EF4-FFF2-40B4-BE49-F238E27FC236}">
                <a16:creationId xmlns:a16="http://schemas.microsoft.com/office/drawing/2014/main" id="{24894121-4380-48DA-9F96-73826BE8B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181" y="2550447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D</a:t>
            </a:r>
          </a:p>
        </p:txBody>
      </p:sp>
      <p:sp>
        <p:nvSpPr>
          <p:cNvPr id="46" name="Oval 14">
            <a:extLst>
              <a:ext uri="{FF2B5EF4-FFF2-40B4-BE49-F238E27FC236}">
                <a16:creationId xmlns:a16="http://schemas.microsoft.com/office/drawing/2014/main" id="{C12ECCFA-41A2-4C54-B2E7-581E1E4B5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549" y="2550447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47" name="Oval 15">
            <a:extLst>
              <a:ext uri="{FF2B5EF4-FFF2-40B4-BE49-F238E27FC236}">
                <a16:creationId xmlns:a16="http://schemas.microsoft.com/office/drawing/2014/main" id="{5034242F-AB6F-4DDF-BB91-1A4D3FFD7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081" y="3315165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G</a:t>
            </a:r>
          </a:p>
        </p:txBody>
      </p:sp>
      <p:sp>
        <p:nvSpPr>
          <p:cNvPr id="48" name="Oval 16">
            <a:extLst>
              <a:ext uri="{FF2B5EF4-FFF2-40B4-BE49-F238E27FC236}">
                <a16:creationId xmlns:a16="http://schemas.microsoft.com/office/drawing/2014/main" id="{3DE0C769-8651-41B3-8030-FB9801DAA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3837" y="2550447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F</a:t>
            </a:r>
          </a:p>
        </p:txBody>
      </p:sp>
      <p:sp>
        <p:nvSpPr>
          <p:cNvPr id="53" name="Oval 27">
            <a:extLst>
              <a:ext uri="{FF2B5EF4-FFF2-40B4-BE49-F238E27FC236}">
                <a16:creationId xmlns:a16="http://schemas.microsoft.com/office/drawing/2014/main" id="{905674FC-6277-4F32-A5AD-B1AE85871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7469" y="806986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54" name="Oval 28">
            <a:extLst>
              <a:ext uri="{FF2B5EF4-FFF2-40B4-BE49-F238E27FC236}">
                <a16:creationId xmlns:a16="http://schemas.microsoft.com/office/drawing/2014/main" id="{1918996A-A7E5-4920-BA90-F49362A7E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081" y="1679918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55" name="Oval 29">
            <a:extLst>
              <a:ext uri="{FF2B5EF4-FFF2-40B4-BE49-F238E27FC236}">
                <a16:creationId xmlns:a16="http://schemas.microsoft.com/office/drawing/2014/main" id="{4F8E1C6A-5576-47D3-922C-28C311257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2449" y="1677514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56" name="Oval 30">
            <a:extLst>
              <a:ext uri="{FF2B5EF4-FFF2-40B4-BE49-F238E27FC236}">
                <a16:creationId xmlns:a16="http://schemas.microsoft.com/office/drawing/2014/main" id="{B9869271-7827-4CA6-9B3D-0E175E156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181" y="2552852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D</a:t>
            </a:r>
          </a:p>
        </p:txBody>
      </p:sp>
      <p:sp>
        <p:nvSpPr>
          <p:cNvPr id="57" name="Oval 31">
            <a:extLst>
              <a:ext uri="{FF2B5EF4-FFF2-40B4-BE49-F238E27FC236}">
                <a16:creationId xmlns:a16="http://schemas.microsoft.com/office/drawing/2014/main" id="{3FA5C828-261B-4955-8AA0-2282D08A1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549" y="2550447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58" name="Oval 32">
            <a:extLst>
              <a:ext uri="{FF2B5EF4-FFF2-40B4-BE49-F238E27FC236}">
                <a16:creationId xmlns:a16="http://schemas.microsoft.com/office/drawing/2014/main" id="{39032AB1-6985-43D9-80B6-C2F93E944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081" y="3315165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G</a:t>
            </a:r>
          </a:p>
        </p:txBody>
      </p:sp>
      <p:sp>
        <p:nvSpPr>
          <p:cNvPr id="59" name="Oval 33">
            <a:extLst>
              <a:ext uri="{FF2B5EF4-FFF2-40B4-BE49-F238E27FC236}">
                <a16:creationId xmlns:a16="http://schemas.microsoft.com/office/drawing/2014/main" id="{5A1D6FCD-9558-4108-A623-AA27AF3C1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3837" y="2550447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F</a:t>
            </a:r>
          </a:p>
        </p:txBody>
      </p:sp>
      <p:sp>
        <p:nvSpPr>
          <p:cNvPr id="60" name="Text Box 34">
            <a:extLst>
              <a:ext uri="{FF2B5EF4-FFF2-40B4-BE49-F238E27FC236}">
                <a16:creationId xmlns:a16="http://schemas.microsoft.com/office/drawing/2014/main" id="{7C3A09E8-9859-4E74-A028-20EBC0C6B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9724" y="3236605"/>
            <a:ext cx="1728787" cy="437043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b="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前序序列：</a:t>
            </a:r>
          </a:p>
        </p:txBody>
      </p:sp>
      <p:sp>
        <p:nvSpPr>
          <p:cNvPr id="61" name="Text Box 35">
            <a:extLst>
              <a:ext uri="{FF2B5EF4-FFF2-40B4-BE49-F238E27FC236}">
                <a16:creationId xmlns:a16="http://schemas.microsoft.com/office/drawing/2014/main" id="{8CF82C0F-CB8D-4577-9D32-5C91AB78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1793" y="3876378"/>
            <a:ext cx="433387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62" name="Text Box 36">
            <a:extLst>
              <a:ext uri="{FF2B5EF4-FFF2-40B4-BE49-F238E27FC236}">
                <a16:creationId xmlns:a16="http://schemas.microsoft.com/office/drawing/2014/main" id="{8ADF968E-67CC-42C7-A6DE-B077CE5E1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9493" y="3876378"/>
            <a:ext cx="433387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63" name="Text Box 37">
            <a:extLst>
              <a:ext uri="{FF2B5EF4-FFF2-40B4-BE49-F238E27FC236}">
                <a16:creationId xmlns:a16="http://schemas.microsoft.com/office/drawing/2014/main" id="{94314F1A-A2E2-4F9D-9EFB-EA0A556D3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7193" y="3876378"/>
            <a:ext cx="433387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D</a:t>
            </a:r>
          </a:p>
        </p:txBody>
      </p:sp>
      <p:sp>
        <p:nvSpPr>
          <p:cNvPr id="64" name="Text Box 38">
            <a:extLst>
              <a:ext uri="{FF2B5EF4-FFF2-40B4-BE49-F238E27FC236}">
                <a16:creationId xmlns:a16="http://schemas.microsoft.com/office/drawing/2014/main" id="{69E76BF1-B41E-434B-9A93-FE04178DD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6479" y="3876378"/>
            <a:ext cx="433388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G</a:t>
            </a:r>
          </a:p>
        </p:txBody>
      </p:sp>
      <p:sp>
        <p:nvSpPr>
          <p:cNvPr id="65" name="Text Box 39">
            <a:extLst>
              <a:ext uri="{FF2B5EF4-FFF2-40B4-BE49-F238E27FC236}">
                <a16:creationId xmlns:a16="http://schemas.microsoft.com/office/drawing/2014/main" id="{3C03C316-EB6A-48D2-B1A6-EF7064A94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104" y="3876378"/>
            <a:ext cx="433388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66" name="Text Box 40">
            <a:extLst>
              <a:ext uri="{FF2B5EF4-FFF2-40B4-BE49-F238E27FC236}">
                <a16:creationId xmlns:a16="http://schemas.microsoft.com/office/drawing/2014/main" id="{4D4D155B-6815-4AA5-AF11-1C82D1BB5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9804" y="3876378"/>
            <a:ext cx="433388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67" name="Text Box 41">
            <a:extLst>
              <a:ext uri="{FF2B5EF4-FFF2-40B4-BE49-F238E27FC236}">
                <a16:creationId xmlns:a16="http://schemas.microsoft.com/office/drawing/2014/main" id="{1098A2BD-F463-44E5-A226-3AB34E97A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9093" y="3876378"/>
            <a:ext cx="433387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</a:p>
        </p:txBody>
      </p:sp>
      <p:sp>
        <p:nvSpPr>
          <p:cNvPr id="68" name="Text Box 42">
            <a:extLst>
              <a:ext uri="{FF2B5EF4-FFF2-40B4-BE49-F238E27FC236}">
                <a16:creationId xmlns:a16="http://schemas.microsoft.com/office/drawing/2014/main" id="{F0185C91-94FB-45CB-B516-9878B5B3A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6097" y="5160805"/>
            <a:ext cx="2694812" cy="502061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sz="3200" b="0" dirty="0">
                <a:latin typeface="华文新魏" panose="02010800040101010101" pitchFamily="2" charset="-122"/>
                <a:ea typeface="华文新魏" panose="02010800040101010101" pitchFamily="2" charset="-122"/>
                <a:cs typeface="Consolas" panose="020B0609020204030204" pitchFamily="49" charset="0"/>
              </a:rPr>
              <a:t>前序遍历完毕！</a:t>
            </a:r>
          </a:p>
        </p:txBody>
      </p:sp>
    </p:spTree>
    <p:extLst>
      <p:ext uri="{BB962C8B-B14F-4D97-AF65-F5344CB8AC3E}">
        <p14:creationId xmlns:p14="http://schemas.microsoft.com/office/powerpoint/2010/main" val="388259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0.03727 L 0.0007 0.03727 C 0.00434 0.12824 0.00087 0.0368 0.00261 0.25416 C 0.00278 0.2743 0.00313 0.29421 0.00365 0.31435 C 0.00382 0.32569 0.00469 0.33703 0.00469 0.34838 C 0.00486 0.45995 0.00469 0.57153 0.00469 0.68287 L 0.00469 0.68287 " pathEditMode="relative" ptsTypes="AAAAAAA">
                                      <p:cBhvr>
                                        <p:cTn id="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6 0.04352 L -0.00226 0.04352 C -0.00504 0.05903 -0.00712 0.075 -0.01025 0.09051 C -0.01233 0.10162 -0.01632 0.11204 -0.01806 0.12315 C -0.01997 0.13611 -0.01962 0.14931 -0.02101 0.1625 C -0.02205 0.17292 -0.02379 0.18333 -0.02483 0.19375 C -0.02674 0.20949 -0.02743 0.22546 -0.02986 0.24074 C -0.03125 0.25023 -0.0349 0.25903 -0.03663 0.26829 C -0.04306 0.30394 -0.03941 0.29838 -0.04445 0.32593 C -0.04688 0.33866 -0.04965 0.35116 -0.05226 0.36366 C -0.05295 0.37107 -0.05365 0.3787 -0.05434 0.38588 C -0.05486 0.39213 -0.05573 0.39815 -0.05625 0.4044 C -0.05712 0.41343 -0.05764 0.42269 -0.05816 0.43171 C -0.05868 0.4375 -0.05868 0.44306 -0.0592 0.44884 C -0.06042 0.46157 -0.06545 0.48727 -0.06702 0.49583 C -0.06736 0.50023 -0.06788 0.5125 -0.06893 0.51806 C -0.07049 0.52546 -0.07292 0.53264 -0.07396 0.54028 C -0.07431 0.54282 -0.07413 0.5456 -0.07483 0.54815 C -0.07847 0.55995 -0.07778 0.54792 -0.07778 0.55741 L -0.07778 0.55741 " pathEditMode="relative" ptsTypes="AAAAAAAAAAAAAAAAAAAA">
                                      <p:cBhvr>
                                        <p:cTn id="1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.04213 L 0.0026 0.04213 C 0.01927 0.08912 0.00468 0.04375 0.01909 0.10996 C 0.02222 0.12408 0.02708 0.1375 0.02986 0.15185 C 0.03663 0.18496 0.03576 0.20301 0.04062 0.23681 C 0.04635 0.275 0.04948 0.28797 0.05642 0.32037 C 0.05781 0.36528 0.05781 0.39468 0.06423 0.43935 C 0.06527 0.4463 0.0684 0.45232 0.07014 0.45903 C 0.07135 0.46366 0.07187 0.46875 0.07309 0.47338 C 0.07465 0.48033 0.07326 0.47986 0.07604 0.47986 L 0.07604 0.47986 " pathEditMode="relative" ptsTypes="AAAAAAAAAAA">
                                      <p:cBhvr>
                                        <p:cTn id="22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4166 L 0.00052 0.04166 C 0.00504 0.0419 0.00973 0.04143 0.01424 0.04282 C 0.02327 0.04583 0.04966 0.06412 0.05348 0.06898 C 0.07049 0.09074 0.08056 0.1081 0.10435 0.11875 L 0.1073 0.1199 C 0.10938 0.12477 0.11094 0.12986 0.1132 0.13426 C 0.11789 0.14328 0.12518 0.15023 0.12796 0.16041 C 0.13091 0.17152 0.12796 0.18426 0.12987 0.19583 C 0.13126 0.20416 0.13542 0.21134 0.13785 0.21921 C 0.14341 0.23842 0.14462 0.25023 0.14862 0.27152 C 0.14896 0.27407 0.15105 0.28495 0.15244 0.28981 C 0.15816 0.30995 0.15626 0.30046 0.15834 0.31203 C 0.15869 0.32291 0.15886 0.33379 0.15938 0.34467 C 0.16042 0.36527 0.16025 0.34444 0.16025 0.35115 L 0.16025 0.35115 " pathEditMode="relative" ptsTypes="AAAAAAAAAAAAAAAA">
                                      <p:cBhvr>
                                        <p:cTn id="34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47 0.04282 L 0.00347 0.04282 C 0.00833 0.04745 0.01302 0.05278 0.01805 0.05717 C 0.02187 0.06018 0.025 0.06088 0.02899 0.06227 C 0.03021 0.06366 0.03142 0.06528 0.03281 0.0662 C 0.03402 0.06713 0.03559 0.0669 0.0368 0.06759 C 0.03958 0.06921 0.04479 0.07639 0.04566 0.07801 C 0.05347 0.09491 0.04982 0.08634 0.05937 0.11065 C 0.06007 0.1125 0.06059 0.11435 0.06128 0.11597 C 0.06198 0.11713 0.06284 0.11829 0.06336 0.11991 C 0.06406 0.12245 0.06406 0.12546 0.06527 0.12778 C 0.06597 0.12893 0.06666 0.13009 0.06718 0.13171 C 0.0684 0.13472 0.06857 0.13866 0.06927 0.14213 C 0.06979 0.14467 0.07048 0.14722 0.07118 0.15 C 0.07448 0.17685 0.06927 0.13194 0.07309 0.20347 C 0.07326 0.20625 0.07448 0.20879 0.07517 0.21134 L 0.07604 0.21528 C 0.07639 0.21829 0.07673 0.22129 0.07708 0.2243 C 0.07812 0.2375 0.07795 0.23541 0.07795 0.24282 L 0.07795 0.24282 " pathEditMode="relative" ptsTypes="AAAAAAAAAAAAAAAAAAAA">
                                      <p:cBhvr>
                                        <p:cTn id="46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4 0.03542 L 0.00174 0.03542 C -0.0085 0.04699 -0.01788 0.05996 -0.02864 0.07061 C -0.04114 0.08264 -0.05659 0.08936 -0.06788 0.10324 C -0.07708 0.11459 -0.08073 0.13195 -0.08854 0.14514 C -0.09357 0.15348 -0.10017 0.15996 -0.10607 0.16737 C -0.11163 0.18287 -0.12083 0.20625 -0.12482 0.22477 C -0.12743 0.23727 -0.12916 0.25024 -0.13159 0.26274 C -0.13854 0.29699 -0.13993 0.3 -0.1493 0.33334 C -0.15191 0.39422 -0.15121 0.36297 -0.15121 0.42755 L -0.15121 0.42755 " pathEditMode="relative" ptsTypes="AAAAAAAAAAA">
                                      <p:cBhvr>
                                        <p:cTn id="66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0.04074 L 0.00156 0.04074 C 0.00538 0.09653 0.00173 0.03727 0.00434 0.11783 C 0.00486 0.13033 0.00573 0.14306 0.00642 0.15556 C 0.00538 0.21227 0.00468 0.26899 0.00347 0.32547 C 0.00208 0.38959 0.00243 0.27963 0.00243 0.3544 L 0.00243 0.3544 " pathEditMode="relative" ptsTypes="AAAAAAA">
                                      <p:cBhvr>
                                        <p:cTn id="70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1" grpId="0" bldLvl="0" animBg="1"/>
      <p:bldP spid="62" grpId="0" bldLvl="0" animBg="1"/>
      <p:bldP spid="63" grpId="0" bldLvl="0" animBg="1"/>
      <p:bldP spid="64" grpId="0" bldLvl="0" animBg="1"/>
      <p:bldP spid="65" grpId="0" bldLvl="0" animBg="1"/>
      <p:bldP spid="66" grpId="0" bldLvl="0" animBg="1"/>
      <p:bldP spid="67" grpId="0" bldLvl="0" animBg="1"/>
      <p:bldP spid="6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4E19C-DD4B-4906-BC67-16FB99DED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前序遍历的非递归算法</a:t>
            </a:r>
            <a:r>
              <a:rPr lang="en-US" altLang="zh-CN" dirty="0"/>
              <a:t> 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9178B9-A307-42E8-B8B7-7CF2F5B53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44504"/>
            <a:ext cx="9144000" cy="5780839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void </a:t>
            </a:r>
            <a:r>
              <a:rPr lang="en-US" altLang="zh-CN" dirty="0" err="1">
                <a:solidFill>
                  <a:srgbClr val="FF0000"/>
                </a:solidFill>
              </a:rPr>
              <a:t>PreOrder</a:t>
            </a:r>
            <a:r>
              <a:rPr lang="en-US" altLang="zh-CN" dirty="0">
                <a:solidFill>
                  <a:srgbClr val="0000FF"/>
                </a:solidFill>
              </a:rPr>
              <a:t> (</a:t>
            </a:r>
            <a:r>
              <a:rPr lang="en-US" altLang="zh-CN" dirty="0" err="1">
                <a:solidFill>
                  <a:srgbClr val="0000FF"/>
                </a:solidFill>
              </a:rPr>
              <a:t>BinTree</a:t>
            </a:r>
            <a:r>
              <a:rPr lang="en-US" altLang="zh-CN" dirty="0">
                <a:solidFill>
                  <a:srgbClr val="0000FF"/>
                </a:solidFill>
              </a:rPr>
              <a:t> T) {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    </a:t>
            </a:r>
            <a:r>
              <a:rPr lang="en-US" altLang="zh-CN" dirty="0" err="1">
                <a:solidFill>
                  <a:srgbClr val="0000FF"/>
                </a:solidFill>
              </a:rPr>
              <a:t>InitStack</a:t>
            </a:r>
            <a:r>
              <a:rPr lang="en-US" altLang="zh-CN" dirty="0">
                <a:solidFill>
                  <a:srgbClr val="0000FF"/>
                </a:solidFill>
              </a:rPr>
              <a:t>(S);   Push(S, NULL);  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递归工作栈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0000FF"/>
                </a:solidFill>
              </a:rPr>
              <a:t>    </a:t>
            </a:r>
            <a:r>
              <a:rPr lang="en-US" altLang="zh-CN" dirty="0" err="1">
                <a:solidFill>
                  <a:srgbClr val="0000FF"/>
                </a:solidFill>
              </a:rPr>
              <a:t>BiTNode</a:t>
            </a:r>
            <a:r>
              <a:rPr lang="en-US" altLang="zh-CN" dirty="0">
                <a:solidFill>
                  <a:srgbClr val="0000FF"/>
                </a:solidFill>
              </a:rPr>
              <a:t> * p = T;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    while (p != NULL) {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        </a:t>
            </a:r>
            <a:r>
              <a:rPr lang="en-US" altLang="zh-CN" b="1" dirty="0">
                <a:solidFill>
                  <a:srgbClr val="0000FF"/>
                </a:solidFill>
              </a:rPr>
              <a:t>visit(p); 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 访问结点 </a:t>
            </a:r>
            <a:r>
              <a:rPr lang="en-US" altLang="zh-CN" dirty="0">
                <a:solidFill>
                  <a:srgbClr val="00B050"/>
                </a:solidFill>
              </a:rPr>
              <a:t>p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        if (p-&gt;</a:t>
            </a:r>
            <a:r>
              <a:rPr lang="en-US" altLang="zh-CN" dirty="0" err="1">
                <a:solidFill>
                  <a:srgbClr val="0000FF"/>
                </a:solidFill>
              </a:rPr>
              <a:t>rchild</a:t>
            </a:r>
            <a:r>
              <a:rPr lang="en-US" altLang="zh-CN" dirty="0">
                <a:solidFill>
                  <a:srgbClr val="0000FF"/>
                </a:solidFill>
              </a:rPr>
              <a:t> != NULL)   </a:t>
            </a:r>
            <a:r>
              <a:rPr lang="en-US" altLang="zh-CN" dirty="0">
                <a:solidFill>
                  <a:srgbClr val="FF0000"/>
                </a:solidFill>
              </a:rPr>
              <a:t>Push(S, p-&gt;</a:t>
            </a:r>
            <a:r>
              <a:rPr lang="en-US" altLang="zh-CN" dirty="0" err="1">
                <a:solidFill>
                  <a:srgbClr val="FF0000"/>
                </a:solidFill>
              </a:rPr>
              <a:t>rchild</a:t>
            </a:r>
            <a:r>
              <a:rPr lang="en-US" altLang="zh-CN" dirty="0">
                <a:solidFill>
                  <a:srgbClr val="FF0000"/>
                </a:solidFill>
              </a:rPr>
              <a:t>);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        if (p-&gt;</a:t>
            </a:r>
            <a:r>
              <a:rPr lang="en-US" altLang="zh-CN" dirty="0" err="1">
                <a:solidFill>
                  <a:srgbClr val="0000FF"/>
                </a:solidFill>
              </a:rPr>
              <a:t>lchild</a:t>
            </a:r>
            <a:r>
              <a:rPr lang="en-US" altLang="zh-CN" dirty="0">
                <a:solidFill>
                  <a:srgbClr val="0000FF"/>
                </a:solidFill>
              </a:rPr>
              <a:t> != NULL)   p=p-&gt;</a:t>
            </a:r>
            <a:r>
              <a:rPr lang="en-US" altLang="zh-CN" dirty="0" err="1">
                <a:solidFill>
                  <a:srgbClr val="0000FF"/>
                </a:solidFill>
              </a:rPr>
              <a:t>lchild</a:t>
            </a:r>
            <a:r>
              <a:rPr lang="en-US" altLang="zh-CN" dirty="0">
                <a:solidFill>
                  <a:srgbClr val="0000FF"/>
                </a:solidFill>
              </a:rPr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进左子树</a:t>
            </a:r>
            <a:endParaRPr lang="en-US" altLang="zh-CN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        else </a:t>
            </a:r>
            <a:r>
              <a:rPr lang="en-US" altLang="zh-CN" dirty="0">
                <a:solidFill>
                  <a:srgbClr val="FF0000"/>
                </a:solidFill>
              </a:rPr>
              <a:t>Pop(S, p);    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左子树空</a:t>
            </a:r>
            <a:r>
              <a:rPr lang="en-US" altLang="zh-CN" dirty="0">
                <a:solidFill>
                  <a:srgbClr val="00B050"/>
                </a:solidFill>
              </a:rPr>
              <a:t>, </a:t>
            </a:r>
            <a:r>
              <a:rPr lang="zh-CN" altLang="en-US" dirty="0">
                <a:solidFill>
                  <a:srgbClr val="00B050"/>
                </a:solidFill>
              </a:rPr>
              <a:t>进右子树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0000FF"/>
                </a:solidFill>
              </a:rPr>
              <a:t>    </a:t>
            </a:r>
            <a:r>
              <a:rPr lang="en-US" altLang="zh-CN" dirty="0">
                <a:solidFill>
                  <a:srgbClr val="0000FF"/>
                </a:solidFill>
              </a:rPr>
              <a:t>}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while</a:t>
            </a:r>
            <a:r>
              <a:rPr lang="zh-CN" altLang="en-US" dirty="0">
                <a:solidFill>
                  <a:srgbClr val="00B050"/>
                </a:solidFill>
              </a:rPr>
              <a:t>   </a:t>
            </a:r>
            <a:r>
              <a:rPr lang="en-US" altLang="zh-CN" dirty="0">
                <a:solidFill>
                  <a:srgbClr val="0000FF"/>
                </a:solidFill>
              </a:rPr>
              <a:t>}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>
                <a:solidFill>
                  <a:srgbClr val="00B050"/>
                </a:solidFill>
              </a:rPr>
              <a:t>PreOrder</a:t>
            </a:r>
            <a:endParaRPr lang="en-US" altLang="zh-C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1114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24D6E1-6359-4729-B0C9-F6715A63D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前序遍历的非递归算法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8206D65F-1794-4A65-AA01-A5824F923450}"/>
              </a:ext>
            </a:extLst>
          </p:cNvPr>
          <p:cNvGrpSpPr/>
          <p:nvPr/>
        </p:nvGrpSpPr>
        <p:grpSpPr>
          <a:xfrm>
            <a:off x="93509" y="818782"/>
            <a:ext cx="6718017" cy="5625405"/>
            <a:chOff x="2216266" y="2598688"/>
            <a:chExt cx="4862547" cy="3725353"/>
          </a:xfrm>
        </p:grpSpPr>
        <p:sp>
          <p:nvSpPr>
            <p:cNvPr id="45" name="Rectangle 9">
              <a:extLst>
                <a:ext uri="{FF2B5EF4-FFF2-40B4-BE49-F238E27FC236}">
                  <a16:creationId xmlns:a16="http://schemas.microsoft.com/office/drawing/2014/main" id="{CCB43423-9A21-420A-8D95-FE3E25827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806" y="4187757"/>
              <a:ext cx="528350" cy="264651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rgbClr val="AE96C0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ctr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a</a:t>
              </a:r>
              <a:r>
                <a:rPr kumimoji="0" lang="en-US" altLang="zh-CN" sz="2400" b="0" i="1" u="none" strike="noStrike" kern="0" cap="none" spc="0" normalizeH="0" baseline="-3000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m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等线" panose="02010600030101010101" pitchFamily="2" charset="-122"/>
                <a:cs typeface="Consolas" panose="020B0609020204030204" pitchFamily="49" charset="0"/>
              </a:endParaRPr>
            </a:p>
          </p:txBody>
        </p: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DB4A9102-FF7E-4976-8024-1B8EA2A3BE00}"/>
                </a:ext>
              </a:extLst>
            </p:cNvPr>
            <p:cNvGrpSpPr/>
            <p:nvPr/>
          </p:nvGrpSpPr>
          <p:grpSpPr>
            <a:xfrm>
              <a:off x="2216266" y="4120986"/>
              <a:ext cx="2071702" cy="1625737"/>
              <a:chOff x="428596" y="2803396"/>
              <a:chExt cx="2071702" cy="1625737"/>
            </a:xfrm>
          </p:grpSpPr>
          <p:sp>
            <p:nvSpPr>
              <p:cNvPr id="47" name="Rectangle 12">
                <a:extLst>
                  <a:ext uri="{FF2B5EF4-FFF2-40B4-BE49-F238E27FC236}">
                    <a16:creationId xmlns:a16="http://schemas.microsoft.com/office/drawing/2014/main" id="{D1E2D9EC-FB67-4B78-BF6C-999E03E392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4136" y="3716399"/>
                <a:ext cx="528350" cy="284105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rgbClr val="8E6CA7"/>
                </a:solidFill>
                <a:prstDash val="solid"/>
                <a:miter lim="800000"/>
              </a:ln>
              <a:effectLst/>
            </p:spPr>
            <p:txBody>
              <a:bodyPr vert="horz" wrap="square" lIns="0" tIns="0" rIns="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2400" b="0" i="0" u="none" strike="noStrike" kern="0" cap="none" spc="0" normalizeH="0" baseline="-300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1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48" name="Rectangle 11">
                <a:extLst>
                  <a:ext uri="{FF2B5EF4-FFF2-40B4-BE49-F238E27FC236}">
                    <a16:creationId xmlns:a16="http://schemas.microsoft.com/office/drawing/2014/main" id="{A6C93A77-6AE8-41A8-AB92-1706B99058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4136" y="3432294"/>
                <a:ext cx="528350" cy="284105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rgbClr val="8E6CA7"/>
                </a:solidFill>
                <a:prstDash val="solid"/>
                <a:miter lim="800000"/>
              </a:ln>
              <a:effectLst/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24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…</a:t>
                </a:r>
              </a:p>
              <a:p>
                <a:pPr marL="0" marR="0" lvl="0" indent="0" defTabSz="91440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49" name="Rectangle 10">
                <a:extLst>
                  <a:ext uri="{FF2B5EF4-FFF2-40B4-BE49-F238E27FC236}">
                    <a16:creationId xmlns:a16="http://schemas.microsoft.com/office/drawing/2014/main" id="{F7A53944-A012-4F97-B87D-317DDCBAE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4136" y="3143203"/>
                <a:ext cx="528350" cy="293166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rgbClr val="8E6CA7"/>
                </a:solidFill>
                <a:prstDash val="solid"/>
                <a:miter lim="800000"/>
              </a:ln>
              <a:effectLst/>
            </p:spPr>
            <p:txBody>
              <a:bodyPr vert="horz" wrap="square" lIns="0" tIns="0" rIns="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2400" b="0" i="1" u="none" strike="noStrike" kern="0" cap="none" spc="0" normalizeH="0" baseline="-300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m</a:t>
                </a:r>
                <a:r>
                  <a:rPr kumimoji="0" lang="en-US" altLang="zh-CN" sz="2400" b="0" i="0" u="none" strike="noStrike" kern="0" cap="none" spc="0" normalizeH="0" baseline="-300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-1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50" name="Rectangle 7">
                <a:extLst>
                  <a:ext uri="{FF2B5EF4-FFF2-40B4-BE49-F238E27FC236}">
                    <a16:creationId xmlns:a16="http://schemas.microsoft.com/office/drawing/2014/main" id="{047D3A6B-5632-4B32-96B9-0951A2B04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7042" y="3760897"/>
                <a:ext cx="527372" cy="23960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栈底</a:t>
                </a:r>
              </a:p>
            </p:txBody>
          </p:sp>
          <p:sp>
            <p:nvSpPr>
              <p:cNvPr id="51" name="Rectangle 6">
                <a:extLst>
                  <a:ext uri="{FF2B5EF4-FFF2-40B4-BE49-F238E27FC236}">
                    <a16:creationId xmlns:a16="http://schemas.microsoft.com/office/drawing/2014/main" id="{B40E8BB1-B204-486B-9366-3DE95EB0A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7474" y="2803396"/>
                <a:ext cx="527372" cy="23960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栈顶</a:t>
                </a:r>
              </a:p>
              <a:p>
                <a:pPr marL="0" marR="0" lvl="0" indent="0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52" name="Rectangle 5">
                <a:extLst>
                  <a:ext uri="{FF2B5EF4-FFF2-40B4-BE49-F238E27FC236}">
                    <a16:creationId xmlns:a16="http://schemas.microsoft.com/office/drawing/2014/main" id="{31E25A4D-4817-48A0-8519-CE06BB38A2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596" y="4143381"/>
                <a:ext cx="2071702" cy="28575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栈中的结点均已访问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8D587430-DAE1-4900-838C-345294036DA5}"/>
                </a:ext>
              </a:extLst>
            </p:cNvPr>
            <p:cNvGrpSpPr/>
            <p:nvPr/>
          </p:nvGrpSpPr>
          <p:grpSpPr>
            <a:xfrm>
              <a:off x="4362998" y="2598688"/>
              <a:ext cx="2715815" cy="3725353"/>
              <a:chOff x="4362998" y="2598688"/>
              <a:chExt cx="2715815" cy="3725354"/>
            </a:xfrm>
          </p:grpSpPr>
          <p:sp>
            <p:nvSpPr>
              <p:cNvPr id="54" name="Rectangle 37">
                <a:extLst>
                  <a:ext uri="{FF2B5EF4-FFF2-40B4-BE49-F238E27FC236}">
                    <a16:creationId xmlns:a16="http://schemas.microsoft.com/office/drawing/2014/main" id="{A53E0C4B-4D63-4DF3-8A1F-22135333AC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2880" y="4273207"/>
                <a:ext cx="275916" cy="16631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24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Consolas" panose="020B0609020204030204" pitchFamily="49" charset="0"/>
                  </a:rPr>
                  <a:t>…</a:t>
                </a:r>
              </a:p>
              <a:p>
                <a:pPr marL="0" marR="0" lvl="0" indent="0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55" name="Rectangle 36">
                <a:extLst>
                  <a:ext uri="{FF2B5EF4-FFF2-40B4-BE49-F238E27FC236}">
                    <a16:creationId xmlns:a16="http://schemas.microsoft.com/office/drawing/2014/main" id="{2A51B551-C52D-46BE-82C7-69B385FF8D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3965" y="3934939"/>
                <a:ext cx="528350" cy="23960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24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Consolas" panose="020B0609020204030204" pitchFamily="49" charset="0"/>
                  </a:rPr>
                  <a:t>……</a:t>
                </a:r>
              </a:p>
              <a:p>
                <a:pPr marL="0" marR="0" lvl="0" indent="0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56" name="Freeform 35">
                <a:extLst>
                  <a:ext uri="{FF2B5EF4-FFF2-40B4-BE49-F238E27FC236}">
                    <a16:creationId xmlns:a16="http://schemas.microsoft.com/office/drawing/2014/main" id="{EA209FA7-6230-418A-BEC0-BE6A5B7AA4DA}"/>
                  </a:ext>
                </a:extLst>
              </p:cNvPr>
              <p:cNvSpPr/>
              <p:nvPr/>
            </p:nvSpPr>
            <p:spPr bwMode="auto">
              <a:xfrm>
                <a:off x="5121279" y="4540064"/>
                <a:ext cx="365931" cy="41343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74" y="440"/>
                  </a:cxn>
                </a:cxnLst>
                <a:rect l="0" t="0" r="r" b="b"/>
                <a:pathLst>
                  <a:path w="374" h="440">
                    <a:moveTo>
                      <a:pt x="0" y="0"/>
                    </a:moveTo>
                    <a:lnTo>
                      <a:pt x="374" y="44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57" name="Freeform 34">
                <a:extLst>
                  <a:ext uri="{FF2B5EF4-FFF2-40B4-BE49-F238E27FC236}">
                    <a16:creationId xmlns:a16="http://schemas.microsoft.com/office/drawing/2014/main" id="{1A74D0DD-B34B-46E9-9F23-9E209C7A8989}"/>
                  </a:ext>
                </a:extLst>
              </p:cNvPr>
              <p:cNvSpPr/>
              <p:nvPr/>
            </p:nvSpPr>
            <p:spPr bwMode="auto">
              <a:xfrm>
                <a:off x="5002890" y="4089039"/>
                <a:ext cx="250477" cy="342027"/>
              </a:xfrm>
              <a:custGeom>
                <a:avLst/>
                <a:gdLst/>
                <a:ahLst/>
                <a:cxnLst>
                  <a:cxn ang="0">
                    <a:pos x="255" y="0"/>
                  </a:cxn>
                  <a:cxn ang="0">
                    <a:pos x="0" y="363"/>
                  </a:cxn>
                </a:cxnLst>
                <a:rect l="0" t="0" r="r" b="b"/>
                <a:pathLst>
                  <a:path w="255" h="363">
                    <a:moveTo>
                      <a:pt x="255" y="0"/>
                    </a:moveTo>
                    <a:lnTo>
                      <a:pt x="0" y="36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58" name="Freeform 33">
                <a:extLst>
                  <a:ext uri="{FF2B5EF4-FFF2-40B4-BE49-F238E27FC236}">
                    <a16:creationId xmlns:a16="http://schemas.microsoft.com/office/drawing/2014/main" id="{8FF18D0A-AA23-4AD9-8B53-B34E77FF3A55}"/>
                  </a:ext>
                </a:extLst>
              </p:cNvPr>
              <p:cNvSpPr/>
              <p:nvPr/>
            </p:nvSpPr>
            <p:spPr bwMode="auto">
              <a:xfrm>
                <a:off x="5769976" y="3153162"/>
                <a:ext cx="227973" cy="300683"/>
              </a:xfrm>
              <a:custGeom>
                <a:avLst/>
                <a:gdLst/>
                <a:ahLst/>
                <a:cxnLst>
                  <a:cxn ang="0">
                    <a:pos x="233" y="0"/>
                  </a:cxn>
                  <a:cxn ang="0">
                    <a:pos x="0" y="320"/>
                  </a:cxn>
                </a:cxnLst>
                <a:rect l="0" t="0" r="r" b="b"/>
                <a:pathLst>
                  <a:path w="233" h="320">
                    <a:moveTo>
                      <a:pt x="233" y="0"/>
                    </a:moveTo>
                    <a:lnTo>
                      <a:pt x="0" y="32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59" name="Oval 32">
                <a:extLst>
                  <a:ext uri="{FF2B5EF4-FFF2-40B4-BE49-F238E27FC236}">
                    <a16:creationId xmlns:a16="http://schemas.microsoft.com/office/drawing/2014/main" id="{A8353CFD-7169-4963-BA8D-CAB2EC4DBF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21632" y="2949094"/>
                <a:ext cx="352233" cy="312125"/>
              </a:xfrm>
              <a:prstGeom prst="ellipse">
                <a:avLst/>
              </a:prstGeom>
              <a:solidFill>
                <a:srgbClr val="FFC000"/>
              </a:solidFill>
              <a:ln w="6350" cap="flat" cmpd="sng" algn="ctr">
                <a:solidFill>
                  <a:srgbClr val="8E6CA7"/>
                </a:solidFill>
                <a:prstDash val="solid"/>
                <a:miter lim="800000"/>
              </a:ln>
              <a:effectLst/>
            </p:spPr>
            <p:txBody>
              <a:bodyPr vert="horz" wrap="square" lIns="0" tIns="0" rIns="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16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2400" b="0" i="0" u="none" strike="noStrike" kern="0" cap="none" spc="0" normalizeH="0" baseline="-300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1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0" name="Oval 31">
                <a:extLst>
                  <a:ext uri="{FF2B5EF4-FFF2-40B4-BE49-F238E27FC236}">
                    <a16:creationId xmlns:a16="http://schemas.microsoft.com/office/drawing/2014/main" id="{BA55DD56-D19D-4A9C-9B3D-F6266AD5FC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1108" y="3840075"/>
                <a:ext cx="578868" cy="302388"/>
              </a:xfrm>
              <a:prstGeom prst="ellipse">
                <a:avLst/>
              </a:prstGeom>
              <a:solidFill>
                <a:srgbClr val="FFC000"/>
              </a:solidFill>
              <a:ln w="6350" cap="flat" cmpd="sng" algn="ctr">
                <a:solidFill>
                  <a:srgbClr val="8E6CA7"/>
                </a:solidFill>
                <a:prstDash val="solid"/>
                <a:miter lim="800000"/>
              </a:ln>
              <a:effectLst/>
            </p:spPr>
            <p:txBody>
              <a:bodyPr vert="horz" wrap="square" lIns="0" tIns="0" rIns="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16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2400" b="0" i="1" u="none" strike="noStrike" kern="0" cap="none" spc="0" normalizeH="0" baseline="-300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m</a:t>
                </a:r>
                <a:r>
                  <a:rPr kumimoji="0" lang="en-US" altLang="zh-CN" sz="2400" b="0" i="0" u="none" strike="noStrike" kern="0" cap="none" spc="0" normalizeH="0" baseline="-300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-1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1" name="Oval 30">
                <a:extLst>
                  <a:ext uri="{FF2B5EF4-FFF2-40B4-BE49-F238E27FC236}">
                    <a16:creationId xmlns:a16="http://schemas.microsoft.com/office/drawing/2014/main" id="{0CE87963-3072-4AD0-A68B-195B6E1926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1477" y="3488611"/>
                <a:ext cx="352233" cy="293166"/>
              </a:xfrm>
              <a:prstGeom prst="ellipse">
                <a:avLst/>
              </a:prstGeom>
              <a:solidFill>
                <a:srgbClr val="FFC000"/>
              </a:solidFill>
              <a:ln w="6350" cap="flat" cmpd="sng" algn="ctr">
                <a:solidFill>
                  <a:srgbClr val="8E6CA7"/>
                </a:solidFill>
                <a:prstDash val="solid"/>
                <a:miter lim="800000"/>
              </a:ln>
              <a:effectLst/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2" name="Oval 29">
                <a:extLst>
                  <a:ext uri="{FF2B5EF4-FFF2-40B4-BE49-F238E27FC236}">
                    <a16:creationId xmlns:a16="http://schemas.microsoft.com/office/drawing/2014/main" id="{DC983FAF-B7EF-4EB7-BDC5-D72765A33E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173" y="4360041"/>
                <a:ext cx="379847" cy="348722"/>
              </a:xfrm>
              <a:prstGeom prst="ellipse">
                <a:avLst/>
              </a:prstGeom>
              <a:solidFill>
                <a:srgbClr val="FFC000"/>
              </a:solidFill>
              <a:ln w="6350" cap="flat" cmpd="sng" algn="ctr">
                <a:solidFill>
                  <a:srgbClr val="AE96C0"/>
                </a:solidFill>
                <a:prstDash val="solid"/>
                <a:miter lim="800000"/>
              </a:ln>
              <a:effectLst/>
            </p:spPr>
            <p:txBody>
              <a:bodyPr vert="horz" wrap="square" lIns="0" tIns="0" rIns="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16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2400" b="0" i="1" u="none" strike="noStrike" kern="0" cap="none" spc="0" normalizeH="0" baseline="-300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m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3" name="Freeform 28">
                <a:extLst>
                  <a:ext uri="{FF2B5EF4-FFF2-40B4-BE49-F238E27FC236}">
                    <a16:creationId xmlns:a16="http://schemas.microsoft.com/office/drawing/2014/main" id="{96335B3E-D2AE-4A3C-A3E1-C154AF4659C0}"/>
                  </a:ext>
                </a:extLst>
              </p:cNvPr>
              <p:cNvSpPr/>
              <p:nvPr/>
            </p:nvSpPr>
            <p:spPr bwMode="auto">
              <a:xfrm>
                <a:off x="6222986" y="3218936"/>
                <a:ext cx="220146" cy="27343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5" y="292"/>
                  </a:cxn>
                </a:cxnLst>
                <a:rect l="0" t="0" r="r" b="b"/>
                <a:pathLst>
                  <a:path w="225" h="292">
                    <a:moveTo>
                      <a:pt x="0" y="0"/>
                    </a:moveTo>
                    <a:lnTo>
                      <a:pt x="225" y="292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4" name="Oval 27">
                <a:extLst>
                  <a:ext uri="{FF2B5EF4-FFF2-40B4-BE49-F238E27FC236}">
                    <a16:creationId xmlns:a16="http://schemas.microsoft.com/office/drawing/2014/main" id="{EB6A89D2-AEFD-4BC6-9FEB-AD37818AD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6965" y="4780609"/>
                <a:ext cx="352233" cy="293166"/>
              </a:xfrm>
              <a:prstGeom prst="ellipse">
                <a:avLst/>
              </a:prstGeom>
              <a:solidFill>
                <a:srgbClr val="FFC000"/>
              </a:solidFill>
              <a:ln w="6350" cap="flat" cmpd="sng" algn="ctr">
                <a:solidFill>
                  <a:srgbClr val="8E6CA7"/>
                </a:solidFill>
                <a:prstDash val="solid"/>
                <a:miter lim="800000"/>
              </a:ln>
              <a:effectLst/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5" name="Rectangle 26">
                <a:extLst>
                  <a:ext uri="{FF2B5EF4-FFF2-40B4-BE49-F238E27FC236}">
                    <a16:creationId xmlns:a16="http://schemas.microsoft.com/office/drawing/2014/main" id="{FD0278C9-3B14-4FE3-993B-F2AB43ED7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9398" y="3418307"/>
                <a:ext cx="243628" cy="23960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24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Consolas" panose="020B0609020204030204" pitchFamily="49" charset="0"/>
                  </a:rPr>
                  <a:t>…</a:t>
                </a:r>
              </a:p>
            </p:txBody>
          </p:sp>
          <p:sp>
            <p:nvSpPr>
              <p:cNvPr id="66" name="Rectangle 25">
                <a:extLst>
                  <a:ext uri="{FF2B5EF4-FFF2-40B4-BE49-F238E27FC236}">
                    <a16:creationId xmlns:a16="http://schemas.microsoft.com/office/drawing/2014/main" id="{8F414A59-030E-4495-9E0B-A2B304650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3427" y="2598688"/>
                <a:ext cx="243628" cy="23960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Consolas" panose="020B0609020204030204" pitchFamily="49" charset="0"/>
                  </a:rPr>
                  <a:t>r</a:t>
                </a:r>
              </a:p>
            </p:txBody>
          </p:sp>
          <p:sp>
            <p:nvSpPr>
              <p:cNvPr id="67" name="Freeform 22">
                <a:extLst>
                  <a:ext uri="{FF2B5EF4-FFF2-40B4-BE49-F238E27FC236}">
                    <a16:creationId xmlns:a16="http://schemas.microsoft.com/office/drawing/2014/main" id="{79D9437E-A5BA-4E70-B1F2-522BDAD2941A}"/>
                  </a:ext>
                </a:extLst>
              </p:cNvPr>
              <p:cNvSpPr/>
              <p:nvPr/>
            </p:nvSpPr>
            <p:spPr bwMode="auto">
              <a:xfrm>
                <a:off x="5449051" y="3667142"/>
                <a:ext cx="146764" cy="184168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0" y="196"/>
                  </a:cxn>
                </a:cxnLst>
                <a:rect l="0" t="0" r="r" b="b"/>
                <a:pathLst>
                  <a:path w="150" h="196">
                    <a:moveTo>
                      <a:pt x="150" y="0"/>
                    </a:moveTo>
                    <a:lnTo>
                      <a:pt x="0" y="196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8" name="Freeform 21">
                <a:extLst>
                  <a:ext uri="{FF2B5EF4-FFF2-40B4-BE49-F238E27FC236}">
                    <a16:creationId xmlns:a16="http://schemas.microsoft.com/office/drawing/2014/main" id="{F2AEFC88-1B45-4602-976A-FE4D189EAE19}"/>
                  </a:ext>
                </a:extLst>
              </p:cNvPr>
              <p:cNvSpPr/>
              <p:nvPr/>
            </p:nvSpPr>
            <p:spPr bwMode="auto">
              <a:xfrm>
                <a:off x="6582069" y="3746071"/>
                <a:ext cx="95886" cy="16913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9" y="180"/>
                  </a:cxn>
                </a:cxnLst>
                <a:rect l="0" t="0" r="r" b="b"/>
                <a:pathLst>
                  <a:path w="99" h="180">
                    <a:moveTo>
                      <a:pt x="0" y="0"/>
                    </a:moveTo>
                    <a:lnTo>
                      <a:pt x="99" y="18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9" name="Freeform 20">
                <a:extLst>
                  <a:ext uri="{FF2B5EF4-FFF2-40B4-BE49-F238E27FC236}">
                    <a16:creationId xmlns:a16="http://schemas.microsoft.com/office/drawing/2014/main" id="{641F53C9-1C04-4F09-863C-88D5507FD995}"/>
                  </a:ext>
                </a:extLst>
              </p:cNvPr>
              <p:cNvSpPr/>
              <p:nvPr/>
            </p:nvSpPr>
            <p:spPr bwMode="auto">
              <a:xfrm>
                <a:off x="6262124" y="3751709"/>
                <a:ext cx="102735" cy="186048"/>
              </a:xfrm>
              <a:custGeom>
                <a:avLst/>
                <a:gdLst/>
                <a:ahLst/>
                <a:cxnLst>
                  <a:cxn ang="0">
                    <a:pos x="105" y="0"/>
                  </a:cxn>
                  <a:cxn ang="0">
                    <a:pos x="0" y="198"/>
                  </a:cxn>
                </a:cxnLst>
                <a:rect l="0" t="0" r="r" b="b"/>
                <a:pathLst>
                  <a:path w="105" h="198">
                    <a:moveTo>
                      <a:pt x="105" y="0"/>
                    </a:moveTo>
                    <a:lnTo>
                      <a:pt x="0" y="19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70" name="Freeform 19">
                <a:extLst>
                  <a:ext uri="{FF2B5EF4-FFF2-40B4-BE49-F238E27FC236}">
                    <a16:creationId xmlns:a16="http://schemas.microsoft.com/office/drawing/2014/main" id="{F2047333-D503-4800-9C87-5D9AB3DE5FB9}"/>
                  </a:ext>
                </a:extLst>
              </p:cNvPr>
              <p:cNvSpPr/>
              <p:nvPr/>
            </p:nvSpPr>
            <p:spPr bwMode="auto">
              <a:xfrm>
                <a:off x="5582578" y="4122054"/>
                <a:ext cx="111541" cy="1550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14" y="165"/>
                  </a:cxn>
                </a:cxnLst>
                <a:rect l="0" t="0" r="r" b="b"/>
                <a:pathLst>
                  <a:path w="114" h="165">
                    <a:moveTo>
                      <a:pt x="0" y="0"/>
                    </a:moveTo>
                    <a:lnTo>
                      <a:pt x="114" y="165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71" name="Rectangle 18">
                <a:extLst>
                  <a:ext uri="{FF2B5EF4-FFF2-40B4-BE49-F238E27FC236}">
                    <a16:creationId xmlns:a16="http://schemas.microsoft.com/office/drawing/2014/main" id="{682788EF-346C-46C6-B57B-9423828EC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1716" y="5291861"/>
                <a:ext cx="528350" cy="24054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Consolas" panose="020B0609020204030204" pitchFamily="49" charset="0"/>
                  </a:rPr>
                  <a:t>……</a:t>
                </a:r>
              </a:p>
              <a:p>
                <a:pPr marL="0" marR="0" lvl="0" indent="0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72" name="Freeform 17">
                <a:extLst>
                  <a:ext uri="{FF2B5EF4-FFF2-40B4-BE49-F238E27FC236}">
                    <a16:creationId xmlns:a16="http://schemas.microsoft.com/office/drawing/2014/main" id="{35DF3699-B928-4987-8DAA-A1F16AA6BD2C}"/>
                  </a:ext>
                </a:extLst>
              </p:cNvPr>
              <p:cNvSpPr/>
              <p:nvPr/>
            </p:nvSpPr>
            <p:spPr bwMode="auto">
              <a:xfrm>
                <a:off x="5598750" y="5042767"/>
                <a:ext cx="90994" cy="1710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3" y="183"/>
                  </a:cxn>
                </a:cxnLst>
                <a:rect l="0" t="0" r="r" b="b"/>
                <a:pathLst>
                  <a:path w="93" h="183">
                    <a:moveTo>
                      <a:pt x="0" y="0"/>
                    </a:moveTo>
                    <a:lnTo>
                      <a:pt x="93" y="18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73" name="Freeform 16">
                <a:extLst>
                  <a:ext uri="{FF2B5EF4-FFF2-40B4-BE49-F238E27FC236}">
                    <a16:creationId xmlns:a16="http://schemas.microsoft.com/office/drawing/2014/main" id="{4FD14A8F-5465-45E2-8D89-592C703362C5}"/>
                  </a:ext>
                </a:extLst>
              </p:cNvPr>
              <p:cNvSpPr/>
              <p:nvPr/>
            </p:nvSpPr>
            <p:spPr bwMode="auto">
              <a:xfrm>
                <a:off x="5278806" y="5047467"/>
                <a:ext cx="103713" cy="186987"/>
              </a:xfrm>
              <a:custGeom>
                <a:avLst/>
                <a:gdLst/>
                <a:ahLst/>
                <a:cxnLst>
                  <a:cxn ang="0">
                    <a:pos x="105" y="0"/>
                  </a:cxn>
                  <a:cxn ang="0">
                    <a:pos x="0" y="198"/>
                  </a:cxn>
                </a:cxnLst>
                <a:rect l="0" t="0" r="r" b="b"/>
                <a:pathLst>
                  <a:path w="105" h="198">
                    <a:moveTo>
                      <a:pt x="105" y="0"/>
                    </a:moveTo>
                    <a:lnTo>
                      <a:pt x="0" y="19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grpSp>
            <p:nvGrpSpPr>
              <p:cNvPr id="74" name="组合 73">
                <a:extLst>
                  <a:ext uri="{FF2B5EF4-FFF2-40B4-BE49-F238E27FC236}">
                    <a16:creationId xmlns:a16="http://schemas.microsoft.com/office/drawing/2014/main" id="{DAA2351E-102C-4992-8987-4503AF6CDC53}"/>
                  </a:ext>
                </a:extLst>
              </p:cNvPr>
              <p:cNvGrpSpPr/>
              <p:nvPr/>
            </p:nvGrpSpPr>
            <p:grpSpPr>
              <a:xfrm>
                <a:off x="5672016" y="4449832"/>
                <a:ext cx="1406797" cy="372378"/>
                <a:chOff x="3884345" y="3132243"/>
                <a:chExt cx="1406797" cy="372378"/>
              </a:xfrm>
            </p:grpSpPr>
            <p:sp>
              <p:nvSpPr>
                <p:cNvPr id="81" name="Rectangle 24">
                  <a:extLst>
                    <a:ext uri="{FF2B5EF4-FFF2-40B4-BE49-F238E27FC236}">
                      <a16:creationId xmlns:a16="http://schemas.microsoft.com/office/drawing/2014/main" id="{F2B10519-12B5-417C-9B36-9175443B4D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41859" y="3132243"/>
                  <a:ext cx="1249283" cy="239607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</a:ln>
              </p:spPr>
              <p:txBody>
                <a:bodyPr vert="horz" wrap="square" lIns="0" tIns="0" rIns="0" bIns="0" numCol="1" anchor="t" anchorCtr="0" compatLnSpc="1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Consolas" panose="020B0609020204030204" pitchFamily="49" charset="0"/>
                    </a:rPr>
                    <a:t>p </a:t>
                  </a:r>
                  <a:r>
                    <a:rPr kumimoji="0" lang="en-US" altLang="zh-CN" sz="24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Consolas" panose="020B0609020204030204" pitchFamily="49" charset="0"/>
                    </a:rPr>
                    <a:t>-&gt;</a:t>
                  </a:r>
                  <a:r>
                    <a:rPr kumimoji="0" lang="en-US" altLang="zh-CN" sz="2400" b="0" i="0" u="none" strike="noStrike" kern="0" cap="none" spc="0" normalizeH="0" baseline="0" noProof="0" dirty="0" err="1">
                      <a:ln>
                        <a:noFill/>
                      </a:ln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Consolas" panose="020B0609020204030204" pitchFamily="49" charset="0"/>
                    </a:rPr>
                    <a:t>rchild</a:t>
                  </a:r>
                  <a:endPara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Consolas" panose="020B0609020204030204" pitchFamily="49" charset="0"/>
                  </a:endParaRPr>
                </a:p>
              </p:txBody>
            </p:sp>
            <p:sp>
              <p:nvSpPr>
                <p:cNvPr id="82" name="Freeform 15">
                  <a:extLst>
                    <a:ext uri="{FF2B5EF4-FFF2-40B4-BE49-F238E27FC236}">
                      <a16:creationId xmlns:a16="http://schemas.microsoft.com/office/drawing/2014/main" id="{A7444B2A-A0F3-41D8-A4C1-0A457446E264}"/>
                    </a:ext>
                  </a:extLst>
                </p:cNvPr>
                <p:cNvSpPr/>
                <p:nvPr/>
              </p:nvSpPr>
              <p:spPr bwMode="auto">
                <a:xfrm>
                  <a:off x="3884345" y="3329849"/>
                  <a:ext cx="167311" cy="174772"/>
                </a:xfrm>
                <a:custGeom>
                  <a:avLst/>
                  <a:gdLst/>
                  <a:ahLst/>
                  <a:cxnLst>
                    <a:cxn ang="0">
                      <a:pos x="171" y="0"/>
                    </a:cxn>
                    <a:cxn ang="0">
                      <a:pos x="0" y="186"/>
                    </a:cxn>
                  </a:cxnLst>
                  <a:rect l="0" t="0" r="r" b="b"/>
                  <a:pathLst>
                    <a:path w="171" h="186">
                      <a:moveTo>
                        <a:pt x="171" y="0"/>
                      </a:moveTo>
                      <a:lnTo>
                        <a:pt x="0" y="186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 type="none" w="med" len="med"/>
                  <a:tailEnd type="arrow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ctr" defTabSz="914400" eaLnBrk="1" fontAlgn="auto" latinLnBrk="0" hangingPunct="1">
                    <a:lnSpc>
                      <a:spcPts val="22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onsolas" panose="020B0609020204030204" pitchFamily="49" charset="0"/>
                    <a:ea typeface="仿宋" panose="02010609060101010101" pitchFamily="49" charset="-122"/>
                    <a:cs typeface="Consolas" panose="020B0609020204030204" pitchFamily="49" charset="0"/>
                  </a:endParaRPr>
                </a:p>
              </p:txBody>
            </p:sp>
          </p:grpSp>
          <p:grpSp>
            <p:nvGrpSpPr>
              <p:cNvPr id="75" name="组合 74">
                <a:extLst>
                  <a:ext uri="{FF2B5EF4-FFF2-40B4-BE49-F238E27FC236}">
                    <a16:creationId xmlns:a16="http://schemas.microsoft.com/office/drawing/2014/main" id="{2FEC7964-39D6-45BD-9307-970C2DBEC600}"/>
                  </a:ext>
                </a:extLst>
              </p:cNvPr>
              <p:cNvGrpSpPr/>
              <p:nvPr/>
            </p:nvGrpSpPr>
            <p:grpSpPr>
              <a:xfrm>
                <a:off x="4362998" y="4303276"/>
                <a:ext cx="413874" cy="239607"/>
                <a:chOff x="2575328" y="2985686"/>
                <a:chExt cx="413874" cy="239607"/>
              </a:xfrm>
            </p:grpSpPr>
            <p:sp>
              <p:nvSpPr>
                <p:cNvPr id="79" name="Rectangle 23">
                  <a:extLst>
                    <a:ext uri="{FF2B5EF4-FFF2-40B4-BE49-F238E27FC236}">
                      <a16:creationId xmlns:a16="http://schemas.microsoft.com/office/drawing/2014/main" id="{A0CD9A0F-3ED6-4B48-8E1D-01FCC0E129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5328" y="2985686"/>
                  <a:ext cx="243628" cy="239607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</a:ln>
              </p:spPr>
              <p:txBody>
                <a:bodyPr vert="horz" wrap="square" lIns="0" tIns="0" rIns="0" bIns="0" numCol="1" anchor="t" anchorCtr="0" compatLnSpc="1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Consolas" panose="020B0609020204030204" pitchFamily="49" charset="0"/>
                    </a:rPr>
                    <a:t>p</a:t>
                  </a:r>
                  <a:endParaRPr kumimoji="0" lang="en-US" altLang="zh-CN" sz="24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Consolas" panose="020B0609020204030204" pitchFamily="49" charset="0"/>
                  </a:endParaRPr>
                </a:p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24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Consolas" panose="020B0609020204030204" pitchFamily="49" charset="0"/>
                  </a:endParaRPr>
                </a:p>
              </p:txBody>
            </p:sp>
            <p:sp>
              <p:nvSpPr>
                <p:cNvPr id="80" name="Line 13">
                  <a:extLst>
                    <a:ext uri="{FF2B5EF4-FFF2-40B4-BE49-F238E27FC236}">
                      <a16:creationId xmlns:a16="http://schemas.microsoft.com/office/drawing/2014/main" id="{7EEE144A-F58F-4FB3-8900-ECAE7AF286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13085" y="3134148"/>
                  <a:ext cx="176117" cy="94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 type="none" w="med" len="med"/>
                  <a:tailEnd type="arrow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ctr" defTabSz="914400" eaLnBrk="1" fontAlgn="auto" latinLnBrk="0" hangingPunct="1">
                    <a:lnSpc>
                      <a:spcPts val="22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onsolas" panose="020B0609020204030204" pitchFamily="49" charset="0"/>
                    <a:ea typeface="仿宋" panose="02010609060101010101" pitchFamily="49" charset="-122"/>
                    <a:cs typeface="Consolas" panose="020B0609020204030204" pitchFamily="49" charset="0"/>
                  </a:endParaRPr>
                </a:p>
              </p:txBody>
            </p:sp>
          </p:grpSp>
          <p:sp>
            <p:nvSpPr>
              <p:cNvPr id="76" name="Oval 4">
                <a:extLst>
                  <a:ext uri="{FF2B5EF4-FFF2-40B4-BE49-F238E27FC236}">
                    <a16:creationId xmlns:a16="http://schemas.microsoft.com/office/drawing/2014/main" id="{A57D058B-A667-471C-BA63-F88280122F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2890" y="4696583"/>
                <a:ext cx="995059" cy="928694"/>
              </a:xfrm>
              <a:prstGeom prst="ellipse">
                <a:avLst/>
              </a:prstGeom>
              <a:noFill/>
              <a:ln w="19050">
                <a:solidFill>
                  <a:srgbClr val="8E6CA7"/>
                </a:solidFill>
                <a:prstDash val="dash"/>
                <a:rou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77" name="AutoShape 3">
                <a:extLst>
                  <a:ext uri="{FF2B5EF4-FFF2-40B4-BE49-F238E27FC236}">
                    <a16:creationId xmlns:a16="http://schemas.microsoft.com/office/drawing/2014/main" id="{A30158D2-8EC8-4967-98A6-55803B0BCC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21832" y="2795160"/>
                <a:ext cx="196664" cy="18135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78" name="Rectangle 2">
                <a:extLst>
                  <a:ext uri="{FF2B5EF4-FFF2-40B4-BE49-F238E27FC236}">
                    <a16:creationId xmlns:a16="http://schemas.microsoft.com/office/drawing/2014/main" id="{A01E0F78-9901-4D91-88D7-69DCDC2A18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9531" y="5752538"/>
                <a:ext cx="2462612" cy="57150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遍历 </a:t>
                </a: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p-&gt;</a:t>
                </a:r>
                <a:r>
                  <a:rPr kumimoji="1" lang="en-US" altLang="zh-CN" sz="2400" b="0" i="0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rchild</a:t>
                </a: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子树的过程与遍历 </a:t>
                </a: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 </a:t>
                </a: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的过程相似</a:t>
                </a:r>
              </a:p>
            </p:txBody>
          </p:sp>
        </p:grp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41E337DC-04D9-4FC1-B05A-F33B1108C432}"/>
                </a:ext>
              </a:extLst>
            </p:cNvPr>
            <p:cNvGrpSpPr/>
            <p:nvPr/>
          </p:nvGrpSpPr>
          <p:grpSpPr>
            <a:xfrm>
              <a:off x="3216400" y="3032077"/>
              <a:ext cx="2428891" cy="1071570"/>
              <a:chOff x="1428729" y="1714488"/>
              <a:chExt cx="2428891" cy="1071570"/>
            </a:xfrm>
          </p:grpSpPr>
          <p:sp>
            <p:nvSpPr>
              <p:cNvPr id="84" name="Rectangle 38">
                <a:extLst>
                  <a:ext uri="{FF2B5EF4-FFF2-40B4-BE49-F238E27FC236}">
                    <a16:creationId xmlns:a16="http://schemas.microsoft.com/office/drawing/2014/main" id="{95EF3B18-7C25-4C16-B6D5-F0333AE5F8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8729" y="1785926"/>
                <a:ext cx="2143140" cy="56550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根结点 </a:t>
                </a: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 </a:t>
                </a: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及左</a:t>
                </a:r>
                <a:r>
                  <a:rPr kumimoji="1" lang="zh-CN" altLang="en-US" sz="2400" b="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</a:t>
                </a: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结点：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边访问边进栈</a:t>
                </a:r>
              </a:p>
            </p:txBody>
          </p:sp>
          <p:cxnSp>
            <p:nvCxnSpPr>
              <p:cNvPr id="85" name="直接箭头连接符 84">
                <a:extLst>
                  <a:ext uri="{FF2B5EF4-FFF2-40B4-BE49-F238E27FC236}">
                    <a16:creationId xmlns:a16="http://schemas.microsoft.com/office/drawing/2014/main" id="{CBADE36D-DE12-437A-A0DB-BA368DE8EE2F}"/>
                  </a:ext>
                </a:extLst>
              </p:cNvPr>
              <p:cNvCxnSpPr/>
              <p:nvPr/>
            </p:nvCxnSpPr>
            <p:spPr>
              <a:xfrm rot="5400000">
                <a:off x="2893207" y="1821645"/>
                <a:ext cx="1071570" cy="85725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88" name="文本框 87">
            <a:extLst>
              <a:ext uri="{FF2B5EF4-FFF2-40B4-BE49-F238E27FC236}">
                <a16:creationId xmlns:a16="http://schemas.microsoft.com/office/drawing/2014/main" id="{99BDFDAD-47E1-4665-A9D4-84CC5AD0CC2E}"/>
              </a:ext>
            </a:extLst>
          </p:cNvPr>
          <p:cNvSpPr txBox="1"/>
          <p:nvPr/>
        </p:nvSpPr>
        <p:spPr>
          <a:xfrm>
            <a:off x="7264581" y="1914367"/>
            <a:ext cx="1691679" cy="324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模拟递归算法的函数调用中系统栈的工作原理</a:t>
            </a:r>
          </a:p>
        </p:txBody>
      </p:sp>
    </p:spTree>
    <p:extLst>
      <p:ext uri="{BB962C8B-B14F-4D97-AF65-F5344CB8AC3E}">
        <p14:creationId xmlns:p14="http://schemas.microsoft.com/office/powerpoint/2010/main" val="623734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9038F-B11C-44A6-8DF2-36A35A87B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前序遍历的非递归算法</a:t>
            </a:r>
            <a:r>
              <a:rPr lang="en-US" altLang="zh-CN" dirty="0"/>
              <a:t> 2</a:t>
            </a:r>
            <a:endParaRPr lang="zh-CN" altLang="en-US" dirty="0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17D20B4E-61B7-4E59-8209-6D77B080B82D}"/>
              </a:ext>
            </a:extLst>
          </p:cNvPr>
          <p:cNvGrpSpPr/>
          <p:nvPr/>
        </p:nvGrpSpPr>
        <p:grpSpPr>
          <a:xfrm>
            <a:off x="2175912" y="4308677"/>
            <a:ext cx="1152526" cy="1824036"/>
            <a:chOff x="3000375" y="4226977"/>
            <a:chExt cx="1152526" cy="1824036"/>
          </a:xfrm>
        </p:grpSpPr>
        <p:sp>
          <p:nvSpPr>
            <p:cNvPr id="49" name="Line 17">
              <a:extLst>
                <a:ext uri="{FF2B5EF4-FFF2-40B4-BE49-F238E27FC236}">
                  <a16:creationId xmlns:a16="http://schemas.microsoft.com/office/drawing/2014/main" id="{489575F5-A738-491C-BBDB-347C1DC70A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375" y="4226977"/>
              <a:ext cx="0" cy="1800225"/>
            </a:xfrm>
            <a:prstGeom prst="line">
              <a:avLst/>
            </a:prstGeom>
            <a:noFill/>
            <a:ln w="38100" cap="flat" cmpd="sng" algn="ctr">
              <a:solidFill>
                <a:srgbClr val="4BACC6"/>
              </a:solidFill>
              <a:prstDash val="solid"/>
              <a:tailEnd type="none" w="med" len="lg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0" name="Line 18">
              <a:extLst>
                <a:ext uri="{FF2B5EF4-FFF2-40B4-BE49-F238E27FC236}">
                  <a16:creationId xmlns:a16="http://schemas.microsoft.com/office/drawing/2014/main" id="{205EA4FC-ED80-4837-9879-1A9855F412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2900" y="4226977"/>
              <a:ext cx="0" cy="1800225"/>
            </a:xfrm>
            <a:prstGeom prst="line">
              <a:avLst/>
            </a:prstGeom>
            <a:noFill/>
            <a:ln w="38100" cap="flat" cmpd="sng" algn="ctr">
              <a:solidFill>
                <a:srgbClr val="4BACC6"/>
              </a:solidFill>
              <a:prstDash val="solid"/>
              <a:tailEnd type="none" w="med" len="lg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1" name="Line 19">
              <a:extLst>
                <a:ext uri="{FF2B5EF4-FFF2-40B4-BE49-F238E27FC236}">
                  <a16:creationId xmlns:a16="http://schemas.microsoft.com/office/drawing/2014/main" id="{1F8971C3-F6AB-40BD-9BB8-75D9AFCD2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376" y="6051013"/>
              <a:ext cx="1152525" cy="0"/>
            </a:xfrm>
            <a:prstGeom prst="line">
              <a:avLst/>
            </a:prstGeom>
            <a:noFill/>
            <a:ln w="38100" cap="flat" cmpd="sng" algn="ctr">
              <a:solidFill>
                <a:srgbClr val="4BACC6"/>
              </a:solidFill>
              <a:prstDash val="solid"/>
              <a:tailEnd type="none" w="med" len="lg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52" name="Text Box 20">
            <a:extLst>
              <a:ext uri="{FF2B5EF4-FFF2-40B4-BE49-F238E27FC236}">
                <a16:creationId xmlns:a16="http://schemas.microsoft.com/office/drawing/2014/main" id="{616F6436-7A0D-4137-89C5-D1117F727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6157" y="6241555"/>
            <a:ext cx="1333715" cy="437043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b="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一个栈</a:t>
            </a:r>
          </a:p>
        </p:txBody>
      </p:sp>
      <p:sp>
        <p:nvSpPr>
          <p:cNvPr id="36" name="Line 4">
            <a:extLst>
              <a:ext uri="{FF2B5EF4-FFF2-40B4-BE49-F238E27FC236}">
                <a16:creationId xmlns:a16="http://schemas.microsoft.com/office/drawing/2014/main" id="{20E6C967-06AC-4F15-890B-39B0F5F5E9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3225" y="2988117"/>
            <a:ext cx="378530" cy="435263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37" name="Line 5">
            <a:extLst>
              <a:ext uri="{FF2B5EF4-FFF2-40B4-BE49-F238E27FC236}">
                <a16:creationId xmlns:a16="http://schemas.microsoft.com/office/drawing/2014/main" id="{DF9766C1-4E49-420E-89CF-2AC5E2CA5D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4611" y="1242251"/>
            <a:ext cx="376451" cy="435263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956DE24C-AA2B-4FFD-B280-AC1ADDF5DE83}"/>
              </a:ext>
            </a:extLst>
          </p:cNvPr>
          <p:cNvSpPr/>
          <p:nvPr/>
        </p:nvSpPr>
        <p:spPr bwMode="auto">
          <a:xfrm>
            <a:off x="2933269" y="1170108"/>
            <a:ext cx="395169" cy="589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0" y="245"/>
              </a:cxn>
            </a:cxnLst>
            <a:rect l="0" t="0" r="r" b="b"/>
            <a:pathLst>
              <a:path w="190" h="245">
                <a:moveTo>
                  <a:pt x="0" y="0"/>
                </a:moveTo>
                <a:lnTo>
                  <a:pt x="190" y="245"/>
                </a:lnTo>
              </a:path>
            </a:pathLst>
          </a:cu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39" name="Line 7">
            <a:extLst>
              <a:ext uri="{FF2B5EF4-FFF2-40B4-BE49-F238E27FC236}">
                <a16:creationId xmlns:a16="http://schemas.microsoft.com/office/drawing/2014/main" id="{6C1D1142-57B6-415C-BA3E-F0A2DAD0A9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9632" y="2115183"/>
            <a:ext cx="472122" cy="545885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0" name="Line 8">
            <a:extLst>
              <a:ext uri="{FF2B5EF4-FFF2-40B4-BE49-F238E27FC236}">
                <a16:creationId xmlns:a16="http://schemas.microsoft.com/office/drawing/2014/main" id="{C9698BB1-1E06-428E-8E9A-45C9227C36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77114" y="2158468"/>
            <a:ext cx="376449" cy="435265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E5A20236-313C-4576-9430-62221A0C2A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571" y="2115183"/>
            <a:ext cx="376451" cy="545885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2" name="Oval 10">
            <a:extLst>
              <a:ext uri="{FF2B5EF4-FFF2-40B4-BE49-F238E27FC236}">
                <a16:creationId xmlns:a16="http://schemas.microsoft.com/office/drawing/2014/main" id="{DCA4383D-C791-4FB8-9FB7-7A3D855D5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7469" y="806986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43" name="Oval 11">
            <a:extLst>
              <a:ext uri="{FF2B5EF4-FFF2-40B4-BE49-F238E27FC236}">
                <a16:creationId xmlns:a16="http://schemas.microsoft.com/office/drawing/2014/main" id="{E7F87263-7BED-4DEA-993E-00721D305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081" y="1677514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44" name="Oval 12">
            <a:extLst>
              <a:ext uri="{FF2B5EF4-FFF2-40B4-BE49-F238E27FC236}">
                <a16:creationId xmlns:a16="http://schemas.microsoft.com/office/drawing/2014/main" id="{55B4E7AD-0CB8-46B5-8E22-01B55F9D1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2449" y="1677514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45" name="Oval 13">
            <a:extLst>
              <a:ext uri="{FF2B5EF4-FFF2-40B4-BE49-F238E27FC236}">
                <a16:creationId xmlns:a16="http://schemas.microsoft.com/office/drawing/2014/main" id="{24894121-4380-48DA-9F96-73826BE8B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181" y="2550447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D</a:t>
            </a:r>
          </a:p>
        </p:txBody>
      </p:sp>
      <p:sp>
        <p:nvSpPr>
          <p:cNvPr id="46" name="Oval 14">
            <a:extLst>
              <a:ext uri="{FF2B5EF4-FFF2-40B4-BE49-F238E27FC236}">
                <a16:creationId xmlns:a16="http://schemas.microsoft.com/office/drawing/2014/main" id="{C12ECCFA-41A2-4C54-B2E7-581E1E4B5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549" y="2550447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47" name="Oval 15">
            <a:extLst>
              <a:ext uri="{FF2B5EF4-FFF2-40B4-BE49-F238E27FC236}">
                <a16:creationId xmlns:a16="http://schemas.microsoft.com/office/drawing/2014/main" id="{5034242F-AB6F-4DDF-BB91-1A4D3FFD7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081" y="3315165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G</a:t>
            </a:r>
          </a:p>
        </p:txBody>
      </p:sp>
      <p:sp>
        <p:nvSpPr>
          <p:cNvPr id="48" name="Oval 16">
            <a:extLst>
              <a:ext uri="{FF2B5EF4-FFF2-40B4-BE49-F238E27FC236}">
                <a16:creationId xmlns:a16="http://schemas.microsoft.com/office/drawing/2014/main" id="{3DE0C769-8651-41B3-8030-FB9801DAA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3837" y="2550447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F</a:t>
            </a:r>
          </a:p>
        </p:txBody>
      </p:sp>
      <p:sp>
        <p:nvSpPr>
          <p:cNvPr id="53" name="Oval 27">
            <a:extLst>
              <a:ext uri="{FF2B5EF4-FFF2-40B4-BE49-F238E27FC236}">
                <a16:creationId xmlns:a16="http://schemas.microsoft.com/office/drawing/2014/main" id="{905674FC-6277-4F32-A5AD-B1AE85871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7469" y="806986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54" name="Oval 28">
            <a:extLst>
              <a:ext uri="{FF2B5EF4-FFF2-40B4-BE49-F238E27FC236}">
                <a16:creationId xmlns:a16="http://schemas.microsoft.com/office/drawing/2014/main" id="{1918996A-A7E5-4920-BA90-F49362A7E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081" y="1679918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55" name="Oval 29">
            <a:extLst>
              <a:ext uri="{FF2B5EF4-FFF2-40B4-BE49-F238E27FC236}">
                <a16:creationId xmlns:a16="http://schemas.microsoft.com/office/drawing/2014/main" id="{4F8E1C6A-5576-47D3-922C-28C311257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2449" y="1677514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56" name="Oval 30">
            <a:extLst>
              <a:ext uri="{FF2B5EF4-FFF2-40B4-BE49-F238E27FC236}">
                <a16:creationId xmlns:a16="http://schemas.microsoft.com/office/drawing/2014/main" id="{B9869271-7827-4CA6-9B3D-0E175E156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181" y="2552852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D</a:t>
            </a:r>
          </a:p>
        </p:txBody>
      </p:sp>
      <p:sp>
        <p:nvSpPr>
          <p:cNvPr id="57" name="Oval 31">
            <a:extLst>
              <a:ext uri="{FF2B5EF4-FFF2-40B4-BE49-F238E27FC236}">
                <a16:creationId xmlns:a16="http://schemas.microsoft.com/office/drawing/2014/main" id="{3FA5C828-261B-4955-8AA0-2282D08A1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549" y="2550447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58" name="Oval 32">
            <a:extLst>
              <a:ext uri="{FF2B5EF4-FFF2-40B4-BE49-F238E27FC236}">
                <a16:creationId xmlns:a16="http://schemas.microsoft.com/office/drawing/2014/main" id="{39032AB1-6985-43D9-80B6-C2F93E944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081" y="3315165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G</a:t>
            </a:r>
          </a:p>
        </p:txBody>
      </p:sp>
      <p:sp>
        <p:nvSpPr>
          <p:cNvPr id="59" name="Oval 33">
            <a:extLst>
              <a:ext uri="{FF2B5EF4-FFF2-40B4-BE49-F238E27FC236}">
                <a16:creationId xmlns:a16="http://schemas.microsoft.com/office/drawing/2014/main" id="{5A1D6FCD-9558-4108-A623-AA27AF3C1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3837" y="2550447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F</a:t>
            </a:r>
          </a:p>
        </p:txBody>
      </p:sp>
      <p:sp>
        <p:nvSpPr>
          <p:cNvPr id="60" name="Text Box 34">
            <a:extLst>
              <a:ext uri="{FF2B5EF4-FFF2-40B4-BE49-F238E27FC236}">
                <a16:creationId xmlns:a16="http://schemas.microsoft.com/office/drawing/2014/main" id="{7C3A09E8-9859-4E74-A028-20EBC0C6B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9724" y="3236605"/>
            <a:ext cx="1728787" cy="437043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b="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前序序列：</a:t>
            </a:r>
          </a:p>
        </p:txBody>
      </p:sp>
      <p:sp>
        <p:nvSpPr>
          <p:cNvPr id="61" name="Text Box 35">
            <a:extLst>
              <a:ext uri="{FF2B5EF4-FFF2-40B4-BE49-F238E27FC236}">
                <a16:creationId xmlns:a16="http://schemas.microsoft.com/office/drawing/2014/main" id="{8CF82C0F-CB8D-4577-9D32-5C91AB78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1793" y="3876378"/>
            <a:ext cx="433387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62" name="Text Box 36">
            <a:extLst>
              <a:ext uri="{FF2B5EF4-FFF2-40B4-BE49-F238E27FC236}">
                <a16:creationId xmlns:a16="http://schemas.microsoft.com/office/drawing/2014/main" id="{8ADF968E-67CC-42C7-A6DE-B077CE5E1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9493" y="3876378"/>
            <a:ext cx="433387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63" name="Text Box 37">
            <a:extLst>
              <a:ext uri="{FF2B5EF4-FFF2-40B4-BE49-F238E27FC236}">
                <a16:creationId xmlns:a16="http://schemas.microsoft.com/office/drawing/2014/main" id="{94314F1A-A2E2-4F9D-9EFB-EA0A556D3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7193" y="3876378"/>
            <a:ext cx="433387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D</a:t>
            </a:r>
          </a:p>
        </p:txBody>
      </p:sp>
      <p:sp>
        <p:nvSpPr>
          <p:cNvPr id="64" name="Text Box 38">
            <a:extLst>
              <a:ext uri="{FF2B5EF4-FFF2-40B4-BE49-F238E27FC236}">
                <a16:creationId xmlns:a16="http://schemas.microsoft.com/office/drawing/2014/main" id="{69E76BF1-B41E-434B-9A93-FE04178DD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6479" y="3876378"/>
            <a:ext cx="433388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G</a:t>
            </a:r>
          </a:p>
        </p:txBody>
      </p:sp>
      <p:sp>
        <p:nvSpPr>
          <p:cNvPr id="65" name="Text Box 39">
            <a:extLst>
              <a:ext uri="{FF2B5EF4-FFF2-40B4-BE49-F238E27FC236}">
                <a16:creationId xmlns:a16="http://schemas.microsoft.com/office/drawing/2014/main" id="{3C03C316-EB6A-48D2-B1A6-EF7064A94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104" y="3876378"/>
            <a:ext cx="433388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66" name="Text Box 40">
            <a:extLst>
              <a:ext uri="{FF2B5EF4-FFF2-40B4-BE49-F238E27FC236}">
                <a16:creationId xmlns:a16="http://schemas.microsoft.com/office/drawing/2014/main" id="{4D4D155B-6815-4AA5-AF11-1C82D1BB5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9804" y="3876378"/>
            <a:ext cx="433388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67" name="Text Box 41">
            <a:extLst>
              <a:ext uri="{FF2B5EF4-FFF2-40B4-BE49-F238E27FC236}">
                <a16:creationId xmlns:a16="http://schemas.microsoft.com/office/drawing/2014/main" id="{1098A2BD-F463-44E5-A226-3AB34E97A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9093" y="3876378"/>
            <a:ext cx="433387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</a:p>
        </p:txBody>
      </p:sp>
      <p:sp>
        <p:nvSpPr>
          <p:cNvPr id="68" name="Text Box 42">
            <a:extLst>
              <a:ext uri="{FF2B5EF4-FFF2-40B4-BE49-F238E27FC236}">
                <a16:creationId xmlns:a16="http://schemas.microsoft.com/office/drawing/2014/main" id="{F0185C91-94FB-45CB-B516-9878B5B3A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6097" y="5160805"/>
            <a:ext cx="2694812" cy="502061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sz="3200" b="0" dirty="0">
                <a:latin typeface="华文新魏" panose="02010800040101010101" pitchFamily="2" charset="-122"/>
                <a:ea typeface="华文新魏" panose="02010800040101010101" pitchFamily="2" charset="-122"/>
                <a:cs typeface="Consolas" panose="020B0609020204030204" pitchFamily="49" charset="0"/>
              </a:rPr>
              <a:t>前序遍历完毕！</a:t>
            </a:r>
          </a:p>
        </p:txBody>
      </p:sp>
    </p:spTree>
    <p:extLst>
      <p:ext uri="{BB962C8B-B14F-4D97-AF65-F5344CB8AC3E}">
        <p14:creationId xmlns:p14="http://schemas.microsoft.com/office/powerpoint/2010/main" val="328103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0.03727 L 0.0007 0.03727 C 0.00434 0.12824 0.00087 0.0368 0.00261 0.25416 C 0.00278 0.2743 0.00313 0.29421 0.00365 0.31435 C 0.00382 0.32569 0.00469 0.33703 0.00469 0.34838 C 0.00486 0.45995 0.00469 0.57153 0.00469 0.68287 L 0.00469 0.68287 " pathEditMode="relative" ptsTypes="AAAAAAA">
                                      <p:cBhvr>
                                        <p:cTn id="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.04213 L 0.0026 0.04213 C 0.01927 0.08912 0.00468 0.04375 0.01909 0.10996 C 0.02222 0.12408 0.02708 0.1375 0.02986 0.15185 C 0.03663 0.18496 0.03576 0.20301 0.04062 0.23681 C 0.04635 0.275 0.04948 0.28797 0.05642 0.32037 C 0.05781 0.36528 0.05781 0.39468 0.06423 0.43935 C 0.06527 0.4463 0.0684 0.45232 0.07014 0.45903 C 0.07135 0.46366 0.07187 0.46875 0.07309 0.47338 C 0.07465 0.48033 0.07326 0.47986 0.07604 0.47986 L 0.07604 0.47986 " pathEditMode="relative" ptsTypes="AAAAAAAAAAA">
                                      <p:cBhvr>
                                        <p:cTn id="1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0.00023 L 5E-6 2.96296E-6 C 0.00452 -0.00023 0.00921 -0.00047 0.01372 0.00069 C 0.02275 0.00301 0.04914 0.01852 0.05296 0.02268 C 0.06997 0.04074 0.08004 0.05532 0.10382 0.06458 L 0.10678 0.06551 C 0.10886 0.06967 0.11042 0.07361 0.11268 0.07731 C 0.11737 0.08495 0.12466 0.09074 0.12744 0.09953 C 0.13039 0.10856 0.12744 0.11944 0.12935 0.1294 C 0.13073 0.13634 0.1349 0.14213 0.13733 0.14907 C 0.14289 0.16504 0.1441 0.17477 0.1481 0.19282 C 0.14844 0.1949 0.15053 0.20416 0.15191 0.2081 C 0.15764 0.225 0.15573 0.21736 0.15782 0.22685 C 0.15816 0.23588 0.15834 0.24514 0.15886 0.2544 C 0.1599 0.27176 0.15973 0.25416 0.15973 0.25972 L 0.15973 0.25995 " pathEditMode="relative" rAng="0" ptsTypes="AAAAAAAAAAAAAAAA">
                                      <p:cBhvr>
                                        <p:cTn id="22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86" y="13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5185E-6 L 3.33333E-6 0.00023 C 0.00468 0.00324 0.0092 0.00717 0.01406 0.01041 C 0.01788 0.01273 0.02083 0.01342 0.02465 0.01458 C 0.02586 0.01551 0.02708 0.0169 0.02847 0.01759 C 0.02968 0.01805 0.03107 0.01782 0.03229 0.01852 C 0.03507 0.01944 0.0401 0.02523 0.04097 0.02616 C 0.04843 0.03912 0.04496 0.03241 0.05416 0.05116 C 0.05486 0.05231 0.05538 0.0537 0.05607 0.05509 C 0.05677 0.05579 0.05764 0.05671 0.05816 0.0581 C 0.05885 0.05972 0.05885 0.06204 0.06007 0.06389 C 0.06059 0.06458 0.06128 0.06574 0.0618 0.06666 C 0.06302 0.06898 0.06319 0.07199 0.06389 0.07454 C 0.06441 0.07662 0.0651 0.0787 0.0658 0.08055 C 0.06892 0.10092 0.06389 0.0669 0.06753 0.12106 C 0.06771 0.12315 0.06892 0.12523 0.06961 0.12685 L 0.07048 0.12986 C 0.07083 0.13217 0.07118 0.13449 0.07152 0.1368 C 0.07239 0.14676 0.07239 0.14514 0.07239 0.15069 L 0.07239 0.15116 " pathEditMode="relative" rAng="0" ptsTypes="AAAAAAAAAAAAAAAAAAAA">
                                      <p:cBhvr>
                                        <p:cTn id="34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1" y="7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6 0.04352 L -0.00226 0.04352 C -0.00504 0.05903 -0.00712 0.075 -0.01025 0.09051 C -0.01233 0.10162 -0.01632 0.11204 -0.01806 0.12315 C -0.01997 0.13611 -0.01962 0.14931 -0.02101 0.1625 C -0.02205 0.17292 -0.02379 0.18333 -0.02483 0.19375 C -0.02674 0.20949 -0.02743 0.22546 -0.02986 0.24074 C -0.03125 0.25023 -0.0349 0.25903 -0.03663 0.26829 C -0.04306 0.30394 -0.03941 0.29838 -0.04445 0.32593 C -0.04688 0.33866 -0.04965 0.35116 -0.05226 0.36366 C -0.05295 0.37107 -0.05365 0.3787 -0.05434 0.38588 C -0.05486 0.39213 -0.05573 0.39815 -0.05625 0.4044 C -0.05712 0.41343 -0.05764 0.42269 -0.05816 0.43171 C -0.05868 0.4375 -0.05868 0.44306 -0.0592 0.44884 C -0.06042 0.46157 -0.06545 0.48727 -0.06702 0.49583 C -0.06736 0.50023 -0.06788 0.5125 -0.06893 0.51806 C -0.07049 0.52546 -0.07292 0.53264 -0.07396 0.54028 C -0.07431 0.54282 -0.07413 0.5456 -0.07483 0.54815 C -0.07847 0.55995 -0.07778 0.54792 -0.07778 0.55741 L -0.07778 0.55741 " pathEditMode="relative" ptsTypes="AAAAAAAAAAAAAAAAAAAA">
                                      <p:cBhvr>
                                        <p:cTn id="54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0.04074 L 0.00156 0.04074 C 0.00538 0.09653 0.00173 0.03727 0.00434 0.11783 C 0.00486 0.13033 0.00573 0.14306 0.00642 0.15556 C 0.00538 0.21227 0.00468 0.26899 0.00347 0.32547 C 0.00208 0.38959 0.00243 0.27963 0.00243 0.3544 L 0.00243 0.3544 " pathEditMode="relative" ptsTypes="AAAAAAA">
                                      <p:cBhvr>
                                        <p:cTn id="6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4 0.03542 L 0.00174 0.03542 C -0.0085 0.04699 -0.01788 0.05996 -0.02864 0.07061 C -0.04114 0.08264 -0.05659 0.08936 -0.06788 0.10324 C -0.07708 0.11459 -0.08073 0.13195 -0.08854 0.14514 C -0.09357 0.15348 -0.10017 0.15996 -0.10607 0.16737 C -0.11163 0.18287 -0.12083 0.20625 -0.12482 0.22477 C -0.12743 0.23727 -0.12916 0.25024 -0.13159 0.26274 C -0.13854 0.29699 -0.13993 0.3 -0.1493 0.33334 C -0.15191 0.39422 -0.15121 0.36297 -0.15121 0.42755 L -0.15121 0.42755 " pathEditMode="relative" ptsTypes="AAAAAAAAAAA">
                                      <p:cBhvr>
                                        <p:cTn id="78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1" grpId="0" bldLvl="0" animBg="1"/>
      <p:bldP spid="62" grpId="0" bldLvl="0" animBg="1"/>
      <p:bldP spid="63" grpId="0" bldLvl="0" animBg="1"/>
      <p:bldP spid="64" grpId="0" bldLvl="0" animBg="1"/>
      <p:bldP spid="65" grpId="0" bldLvl="0" animBg="1"/>
      <p:bldP spid="66" grpId="0" bldLvl="0" animBg="1"/>
      <p:bldP spid="67" grpId="0" bldLvl="0" animBg="1"/>
      <p:bldP spid="6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4E19C-DD4B-4906-BC67-16FB99DED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前序遍历的非递归算法</a:t>
            </a:r>
            <a:r>
              <a:rPr lang="en-US" altLang="zh-CN" dirty="0"/>
              <a:t> 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9178B9-A307-42E8-B8B7-7CF2F5B53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44504"/>
            <a:ext cx="9144000" cy="611349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void </a:t>
            </a:r>
            <a:r>
              <a:rPr lang="en-US" altLang="zh-CN" sz="2400" dirty="0" err="1">
                <a:solidFill>
                  <a:srgbClr val="FF0000"/>
                </a:solidFill>
              </a:rPr>
              <a:t>PreOrder</a:t>
            </a:r>
            <a:r>
              <a:rPr lang="en-US" altLang="zh-CN" sz="2400" dirty="0">
                <a:solidFill>
                  <a:srgbClr val="0000FF"/>
                </a:solidFill>
              </a:rPr>
              <a:t> (</a:t>
            </a:r>
            <a:r>
              <a:rPr lang="en-US" altLang="zh-CN" sz="2400" dirty="0" err="1">
                <a:solidFill>
                  <a:srgbClr val="0000FF"/>
                </a:solidFill>
              </a:rPr>
              <a:t>BinTree</a:t>
            </a:r>
            <a:r>
              <a:rPr lang="en-US" altLang="zh-CN" sz="2400" dirty="0">
                <a:solidFill>
                  <a:srgbClr val="0000FF"/>
                </a:solidFill>
              </a:rPr>
              <a:t> T) {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</a:t>
            </a:r>
            <a:r>
              <a:rPr lang="en-US" altLang="zh-CN" sz="2400" dirty="0" err="1">
                <a:solidFill>
                  <a:srgbClr val="0000FF"/>
                </a:solidFill>
              </a:rPr>
              <a:t>InitStack</a:t>
            </a:r>
            <a:r>
              <a:rPr lang="en-US" altLang="zh-CN" sz="2400" dirty="0">
                <a:solidFill>
                  <a:srgbClr val="0000FF"/>
                </a:solidFill>
              </a:rPr>
              <a:t>(S);    </a:t>
            </a:r>
            <a:r>
              <a:rPr lang="en-US" altLang="zh-CN" sz="2400" dirty="0" err="1">
                <a:solidFill>
                  <a:srgbClr val="0000FF"/>
                </a:solidFill>
              </a:rPr>
              <a:t>BiTNode</a:t>
            </a:r>
            <a:r>
              <a:rPr lang="en-US" altLang="zh-CN" sz="2400" dirty="0">
                <a:solidFill>
                  <a:srgbClr val="0000FF"/>
                </a:solidFill>
              </a:rPr>
              <a:t> * p = T;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do {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while (p!=NULL) {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</a:rPr>
              <a:t>沿左分支向下，并将访问过的结点压栈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    </a:t>
            </a:r>
            <a:r>
              <a:rPr lang="en-US" altLang="zh-CN" sz="2400" b="1" dirty="0">
                <a:solidFill>
                  <a:srgbClr val="0000FF"/>
                </a:solidFill>
              </a:rPr>
              <a:t>visit(p);    </a:t>
            </a:r>
            <a:r>
              <a:rPr lang="en-US" altLang="zh-CN" sz="2400" dirty="0">
                <a:solidFill>
                  <a:srgbClr val="00B050"/>
                </a:solidFill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</a:rPr>
              <a:t> 访问结点 </a:t>
            </a:r>
            <a:r>
              <a:rPr lang="en-US" altLang="zh-CN" sz="2400" dirty="0">
                <a:solidFill>
                  <a:srgbClr val="00B050"/>
                </a:solidFill>
              </a:rPr>
              <a:t>p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    </a:t>
            </a:r>
            <a:r>
              <a:rPr lang="en-US" altLang="zh-CN" sz="2400" dirty="0">
                <a:solidFill>
                  <a:srgbClr val="FF0000"/>
                </a:solidFill>
              </a:rPr>
              <a:t>Push(S, p);</a:t>
            </a:r>
            <a:r>
              <a:rPr lang="en-US" altLang="zh-CN" sz="2400" dirty="0">
                <a:solidFill>
                  <a:srgbClr val="0000FF"/>
                </a:solidFill>
              </a:rPr>
              <a:t>   p=p-&gt;</a:t>
            </a:r>
            <a:r>
              <a:rPr lang="en-US" altLang="zh-CN" sz="2400" dirty="0" err="1">
                <a:solidFill>
                  <a:srgbClr val="0000FF"/>
                </a:solidFill>
              </a:rPr>
              <a:t>lchild</a:t>
            </a:r>
            <a:r>
              <a:rPr lang="en-US" altLang="zh-CN" sz="2400" dirty="0">
                <a:solidFill>
                  <a:srgbClr val="0000FF"/>
                </a:solidFill>
              </a:rPr>
              <a:t>; }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if (!</a:t>
            </a:r>
            <a:r>
              <a:rPr lang="en-US" altLang="zh-CN" sz="2400" dirty="0" err="1">
                <a:solidFill>
                  <a:srgbClr val="0000FF"/>
                </a:solidFill>
              </a:rPr>
              <a:t>StackEmpty</a:t>
            </a:r>
            <a:r>
              <a:rPr lang="en-US" altLang="zh-CN" sz="2400" dirty="0">
                <a:solidFill>
                  <a:srgbClr val="0000FF"/>
                </a:solidFill>
              </a:rPr>
              <a:t>(S)) {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</a:rPr>
              <a:t>左子树遍历结束，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    </a:t>
            </a:r>
            <a:r>
              <a:rPr lang="en-US" altLang="zh-CN" sz="2400" dirty="0">
                <a:solidFill>
                  <a:srgbClr val="FF0000"/>
                </a:solidFill>
              </a:rPr>
              <a:t>Pop(S, p);            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</a:rPr>
              <a:t>从栈中弹出结点，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    p=p-&gt;</a:t>
            </a:r>
            <a:r>
              <a:rPr lang="en-US" altLang="zh-CN" sz="2400" dirty="0" err="1">
                <a:solidFill>
                  <a:srgbClr val="0000FF"/>
                </a:solidFill>
              </a:rPr>
              <a:t>rchild</a:t>
            </a:r>
            <a:r>
              <a:rPr lang="en-US" altLang="zh-CN" sz="2400" dirty="0">
                <a:solidFill>
                  <a:srgbClr val="0000FF"/>
                </a:solidFill>
              </a:rPr>
              <a:t>; }    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</a:rPr>
              <a:t>开始遍历右子树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} while (!</a:t>
            </a:r>
            <a:r>
              <a:rPr lang="en-US" altLang="zh-CN" sz="2400" dirty="0" err="1">
                <a:solidFill>
                  <a:srgbClr val="0000FF"/>
                </a:solidFill>
              </a:rPr>
              <a:t>StackEmpty</a:t>
            </a:r>
            <a:r>
              <a:rPr lang="en-US" altLang="zh-CN" sz="2400" dirty="0">
                <a:solidFill>
                  <a:srgbClr val="0000FF"/>
                </a:solidFill>
              </a:rPr>
              <a:t>(S) || p != NULL)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}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en-US" altLang="zh-CN" sz="2400" dirty="0" err="1">
                <a:solidFill>
                  <a:srgbClr val="00B050"/>
                </a:solidFill>
              </a:rPr>
              <a:t>PreOrder</a:t>
            </a:r>
            <a:endParaRPr lang="en-US" altLang="zh-CN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11744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24D6E1-6359-4729-B0C9-F6715A63D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中序遍历的非递归算法</a:t>
            </a:r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8206D65F-1794-4A65-AA01-A5824F923450}"/>
              </a:ext>
            </a:extLst>
          </p:cNvPr>
          <p:cNvGrpSpPr/>
          <p:nvPr/>
        </p:nvGrpSpPr>
        <p:grpSpPr>
          <a:xfrm>
            <a:off x="187740" y="818782"/>
            <a:ext cx="6904539" cy="5625405"/>
            <a:chOff x="2455144" y="2598688"/>
            <a:chExt cx="4623669" cy="3725353"/>
          </a:xfrm>
        </p:grpSpPr>
        <p:sp>
          <p:nvSpPr>
            <p:cNvPr id="45" name="Rectangle 9">
              <a:extLst>
                <a:ext uri="{FF2B5EF4-FFF2-40B4-BE49-F238E27FC236}">
                  <a16:creationId xmlns:a16="http://schemas.microsoft.com/office/drawing/2014/main" id="{CCB43423-9A21-420A-8D95-FE3E25827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806" y="4187757"/>
              <a:ext cx="528350" cy="264651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rgbClr val="AE96C0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ctr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a</a:t>
              </a:r>
              <a:r>
                <a:rPr kumimoji="0" lang="en-US" altLang="zh-CN" sz="2400" b="0" i="1" u="none" strike="noStrike" kern="0" cap="none" spc="0" normalizeH="0" baseline="-3000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m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等线" panose="02010600030101010101" pitchFamily="2" charset="-122"/>
                <a:cs typeface="Consolas" panose="020B0609020204030204" pitchFamily="49" charset="0"/>
              </a:endParaRPr>
            </a:p>
          </p:txBody>
        </p: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DB4A9102-FF7E-4976-8024-1B8EA2A3BE00}"/>
                </a:ext>
              </a:extLst>
            </p:cNvPr>
            <p:cNvGrpSpPr/>
            <p:nvPr/>
          </p:nvGrpSpPr>
          <p:grpSpPr>
            <a:xfrm>
              <a:off x="2455144" y="4120986"/>
              <a:ext cx="1337724" cy="1911489"/>
              <a:chOff x="667474" y="2803396"/>
              <a:chExt cx="1337724" cy="1911489"/>
            </a:xfrm>
          </p:grpSpPr>
          <p:sp>
            <p:nvSpPr>
              <p:cNvPr id="47" name="Rectangle 12">
                <a:extLst>
                  <a:ext uri="{FF2B5EF4-FFF2-40B4-BE49-F238E27FC236}">
                    <a16:creationId xmlns:a16="http://schemas.microsoft.com/office/drawing/2014/main" id="{D1E2D9EC-FB67-4B78-BF6C-999E03E392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4136" y="3716399"/>
                <a:ext cx="528350" cy="284105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rgbClr val="8E6CA7"/>
                </a:solidFill>
                <a:prstDash val="solid"/>
                <a:miter lim="800000"/>
              </a:ln>
              <a:effectLst/>
            </p:spPr>
            <p:txBody>
              <a:bodyPr vert="horz" wrap="square" lIns="0" tIns="0" rIns="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2400" b="0" i="0" u="none" strike="noStrike" kern="0" cap="none" spc="0" normalizeH="0" baseline="-300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1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48" name="Rectangle 11">
                <a:extLst>
                  <a:ext uri="{FF2B5EF4-FFF2-40B4-BE49-F238E27FC236}">
                    <a16:creationId xmlns:a16="http://schemas.microsoft.com/office/drawing/2014/main" id="{A6C93A77-6AE8-41A8-AB92-1706B99058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4136" y="3432294"/>
                <a:ext cx="528350" cy="284105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rgbClr val="8E6CA7"/>
                </a:solidFill>
                <a:prstDash val="solid"/>
                <a:miter lim="800000"/>
              </a:ln>
              <a:effectLst/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24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…</a:t>
                </a:r>
              </a:p>
              <a:p>
                <a:pPr marL="0" marR="0" lvl="0" indent="0" defTabSz="91440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49" name="Rectangle 10">
                <a:extLst>
                  <a:ext uri="{FF2B5EF4-FFF2-40B4-BE49-F238E27FC236}">
                    <a16:creationId xmlns:a16="http://schemas.microsoft.com/office/drawing/2014/main" id="{F7A53944-A012-4F97-B87D-317DDCBAE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4136" y="3143203"/>
                <a:ext cx="528350" cy="293166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rgbClr val="8E6CA7"/>
                </a:solidFill>
                <a:prstDash val="solid"/>
                <a:miter lim="800000"/>
              </a:ln>
              <a:effectLst/>
            </p:spPr>
            <p:txBody>
              <a:bodyPr vert="horz" wrap="square" lIns="0" tIns="0" rIns="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2400" b="0" i="1" u="none" strike="noStrike" kern="0" cap="none" spc="0" normalizeH="0" baseline="-300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m</a:t>
                </a:r>
                <a:r>
                  <a:rPr kumimoji="0" lang="en-US" altLang="zh-CN" sz="2400" b="0" i="0" u="none" strike="noStrike" kern="0" cap="none" spc="0" normalizeH="0" baseline="-300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-1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50" name="Rectangle 7">
                <a:extLst>
                  <a:ext uri="{FF2B5EF4-FFF2-40B4-BE49-F238E27FC236}">
                    <a16:creationId xmlns:a16="http://schemas.microsoft.com/office/drawing/2014/main" id="{047D3A6B-5632-4B32-96B9-0951A2B04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7042" y="3760897"/>
                <a:ext cx="527372" cy="23960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栈底</a:t>
                </a:r>
              </a:p>
            </p:txBody>
          </p:sp>
          <p:sp>
            <p:nvSpPr>
              <p:cNvPr id="51" name="Rectangle 6">
                <a:extLst>
                  <a:ext uri="{FF2B5EF4-FFF2-40B4-BE49-F238E27FC236}">
                    <a16:creationId xmlns:a16="http://schemas.microsoft.com/office/drawing/2014/main" id="{B40E8BB1-B204-486B-9366-3DE95EB0A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7474" y="2803396"/>
                <a:ext cx="527372" cy="23960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栈顶</a:t>
                </a:r>
              </a:p>
              <a:p>
                <a:pPr marL="0" marR="0" lvl="0" indent="0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52" name="Rectangle 5">
                <a:extLst>
                  <a:ext uri="{FF2B5EF4-FFF2-40B4-BE49-F238E27FC236}">
                    <a16:creationId xmlns:a16="http://schemas.microsoft.com/office/drawing/2014/main" id="{31E25A4D-4817-48A0-8519-CE06BB38A2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6311" y="4143381"/>
                <a:ext cx="1208887" cy="57150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栈中的结点均</a:t>
                </a: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未</a:t>
                </a: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访问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8D587430-DAE1-4900-838C-345294036DA5}"/>
                </a:ext>
              </a:extLst>
            </p:cNvPr>
            <p:cNvGrpSpPr/>
            <p:nvPr/>
          </p:nvGrpSpPr>
          <p:grpSpPr>
            <a:xfrm>
              <a:off x="4362998" y="2598688"/>
              <a:ext cx="2715815" cy="3725353"/>
              <a:chOff x="4362998" y="2598688"/>
              <a:chExt cx="2715815" cy="3725354"/>
            </a:xfrm>
          </p:grpSpPr>
          <p:sp>
            <p:nvSpPr>
              <p:cNvPr id="54" name="Rectangle 37">
                <a:extLst>
                  <a:ext uri="{FF2B5EF4-FFF2-40B4-BE49-F238E27FC236}">
                    <a16:creationId xmlns:a16="http://schemas.microsoft.com/office/drawing/2014/main" id="{A53E0C4B-4D63-4DF3-8A1F-22135333AC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2880" y="4273207"/>
                <a:ext cx="275916" cy="16631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24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Consolas" panose="020B0609020204030204" pitchFamily="49" charset="0"/>
                  </a:rPr>
                  <a:t>…</a:t>
                </a:r>
              </a:p>
              <a:p>
                <a:pPr marL="0" marR="0" lvl="0" indent="0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55" name="Rectangle 36">
                <a:extLst>
                  <a:ext uri="{FF2B5EF4-FFF2-40B4-BE49-F238E27FC236}">
                    <a16:creationId xmlns:a16="http://schemas.microsoft.com/office/drawing/2014/main" id="{2A51B551-C52D-46BE-82C7-69B385FF8D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3965" y="3934939"/>
                <a:ext cx="528350" cy="23960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24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Consolas" panose="020B0609020204030204" pitchFamily="49" charset="0"/>
                  </a:rPr>
                  <a:t>……</a:t>
                </a:r>
              </a:p>
              <a:p>
                <a:pPr marL="0" marR="0" lvl="0" indent="0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56" name="Freeform 35">
                <a:extLst>
                  <a:ext uri="{FF2B5EF4-FFF2-40B4-BE49-F238E27FC236}">
                    <a16:creationId xmlns:a16="http://schemas.microsoft.com/office/drawing/2014/main" id="{EA209FA7-6230-418A-BEC0-BE6A5B7AA4DA}"/>
                  </a:ext>
                </a:extLst>
              </p:cNvPr>
              <p:cNvSpPr/>
              <p:nvPr/>
            </p:nvSpPr>
            <p:spPr bwMode="auto">
              <a:xfrm>
                <a:off x="5121279" y="4540064"/>
                <a:ext cx="365931" cy="41343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74" y="440"/>
                  </a:cxn>
                </a:cxnLst>
                <a:rect l="0" t="0" r="r" b="b"/>
                <a:pathLst>
                  <a:path w="374" h="440">
                    <a:moveTo>
                      <a:pt x="0" y="0"/>
                    </a:moveTo>
                    <a:lnTo>
                      <a:pt x="374" y="44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57" name="Freeform 34">
                <a:extLst>
                  <a:ext uri="{FF2B5EF4-FFF2-40B4-BE49-F238E27FC236}">
                    <a16:creationId xmlns:a16="http://schemas.microsoft.com/office/drawing/2014/main" id="{1A74D0DD-B34B-46E9-9F23-9E209C7A8989}"/>
                  </a:ext>
                </a:extLst>
              </p:cNvPr>
              <p:cNvSpPr/>
              <p:nvPr/>
            </p:nvSpPr>
            <p:spPr bwMode="auto">
              <a:xfrm>
                <a:off x="5002890" y="4089039"/>
                <a:ext cx="250477" cy="342027"/>
              </a:xfrm>
              <a:custGeom>
                <a:avLst/>
                <a:gdLst/>
                <a:ahLst/>
                <a:cxnLst>
                  <a:cxn ang="0">
                    <a:pos x="255" y="0"/>
                  </a:cxn>
                  <a:cxn ang="0">
                    <a:pos x="0" y="363"/>
                  </a:cxn>
                </a:cxnLst>
                <a:rect l="0" t="0" r="r" b="b"/>
                <a:pathLst>
                  <a:path w="255" h="363">
                    <a:moveTo>
                      <a:pt x="255" y="0"/>
                    </a:moveTo>
                    <a:lnTo>
                      <a:pt x="0" y="36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58" name="Freeform 33">
                <a:extLst>
                  <a:ext uri="{FF2B5EF4-FFF2-40B4-BE49-F238E27FC236}">
                    <a16:creationId xmlns:a16="http://schemas.microsoft.com/office/drawing/2014/main" id="{8FF18D0A-AA23-4AD9-8B53-B34E77FF3A55}"/>
                  </a:ext>
                </a:extLst>
              </p:cNvPr>
              <p:cNvSpPr/>
              <p:nvPr/>
            </p:nvSpPr>
            <p:spPr bwMode="auto">
              <a:xfrm>
                <a:off x="5769976" y="3153162"/>
                <a:ext cx="227973" cy="300683"/>
              </a:xfrm>
              <a:custGeom>
                <a:avLst/>
                <a:gdLst/>
                <a:ahLst/>
                <a:cxnLst>
                  <a:cxn ang="0">
                    <a:pos x="233" y="0"/>
                  </a:cxn>
                  <a:cxn ang="0">
                    <a:pos x="0" y="320"/>
                  </a:cxn>
                </a:cxnLst>
                <a:rect l="0" t="0" r="r" b="b"/>
                <a:pathLst>
                  <a:path w="233" h="320">
                    <a:moveTo>
                      <a:pt x="233" y="0"/>
                    </a:moveTo>
                    <a:lnTo>
                      <a:pt x="0" y="32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59" name="Oval 32">
                <a:extLst>
                  <a:ext uri="{FF2B5EF4-FFF2-40B4-BE49-F238E27FC236}">
                    <a16:creationId xmlns:a16="http://schemas.microsoft.com/office/drawing/2014/main" id="{A8353CFD-7169-4963-BA8D-CAB2EC4DBF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21632" y="2949094"/>
                <a:ext cx="352233" cy="312125"/>
              </a:xfrm>
              <a:prstGeom prst="ellipse">
                <a:avLst/>
              </a:prstGeom>
              <a:solidFill>
                <a:srgbClr val="FFC000"/>
              </a:solidFill>
              <a:ln w="6350" cap="flat" cmpd="sng" algn="ctr">
                <a:solidFill>
                  <a:srgbClr val="8E6CA7"/>
                </a:solidFill>
                <a:prstDash val="solid"/>
                <a:miter lim="800000"/>
              </a:ln>
              <a:effectLst/>
            </p:spPr>
            <p:txBody>
              <a:bodyPr vert="horz" wrap="square" lIns="0" tIns="0" rIns="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16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2400" b="0" i="0" u="none" strike="noStrike" kern="0" cap="none" spc="0" normalizeH="0" baseline="-300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1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0" name="Oval 31">
                <a:extLst>
                  <a:ext uri="{FF2B5EF4-FFF2-40B4-BE49-F238E27FC236}">
                    <a16:creationId xmlns:a16="http://schemas.microsoft.com/office/drawing/2014/main" id="{BA55DD56-D19D-4A9C-9B3D-F6266AD5FC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1108" y="3840075"/>
                <a:ext cx="578868" cy="302388"/>
              </a:xfrm>
              <a:prstGeom prst="ellipse">
                <a:avLst/>
              </a:prstGeom>
              <a:solidFill>
                <a:srgbClr val="FFC000"/>
              </a:solidFill>
              <a:ln w="6350" cap="flat" cmpd="sng" algn="ctr">
                <a:solidFill>
                  <a:srgbClr val="8E6CA7"/>
                </a:solidFill>
                <a:prstDash val="solid"/>
                <a:miter lim="800000"/>
              </a:ln>
              <a:effectLst/>
            </p:spPr>
            <p:txBody>
              <a:bodyPr vert="horz" wrap="square" lIns="0" tIns="0" rIns="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16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2400" b="0" i="1" u="none" strike="noStrike" kern="0" cap="none" spc="0" normalizeH="0" baseline="-300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m</a:t>
                </a:r>
                <a:r>
                  <a:rPr kumimoji="0" lang="en-US" altLang="zh-CN" sz="2400" b="0" i="0" u="none" strike="noStrike" kern="0" cap="none" spc="0" normalizeH="0" baseline="-300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-1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1" name="Oval 30">
                <a:extLst>
                  <a:ext uri="{FF2B5EF4-FFF2-40B4-BE49-F238E27FC236}">
                    <a16:creationId xmlns:a16="http://schemas.microsoft.com/office/drawing/2014/main" id="{0CE87963-3072-4AD0-A68B-195B6E1926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1477" y="3488611"/>
                <a:ext cx="352233" cy="293166"/>
              </a:xfrm>
              <a:prstGeom prst="ellipse">
                <a:avLst/>
              </a:prstGeom>
              <a:solidFill>
                <a:srgbClr val="FFC000"/>
              </a:solidFill>
              <a:ln w="6350" cap="flat" cmpd="sng" algn="ctr">
                <a:solidFill>
                  <a:srgbClr val="8E6CA7"/>
                </a:solidFill>
                <a:prstDash val="solid"/>
                <a:miter lim="800000"/>
              </a:ln>
              <a:effectLst/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2" name="Oval 29">
                <a:extLst>
                  <a:ext uri="{FF2B5EF4-FFF2-40B4-BE49-F238E27FC236}">
                    <a16:creationId xmlns:a16="http://schemas.microsoft.com/office/drawing/2014/main" id="{DC983FAF-B7EF-4EB7-BDC5-D72765A33E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173" y="4360041"/>
                <a:ext cx="379847" cy="348722"/>
              </a:xfrm>
              <a:prstGeom prst="ellipse">
                <a:avLst/>
              </a:prstGeom>
              <a:solidFill>
                <a:srgbClr val="FFC000"/>
              </a:solidFill>
              <a:ln w="6350" cap="flat" cmpd="sng" algn="ctr">
                <a:solidFill>
                  <a:srgbClr val="AE96C0"/>
                </a:solidFill>
                <a:prstDash val="solid"/>
                <a:miter lim="800000"/>
              </a:ln>
              <a:effectLst/>
            </p:spPr>
            <p:txBody>
              <a:bodyPr vert="horz" wrap="square" lIns="0" tIns="0" rIns="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16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2400" b="0" i="1" u="none" strike="noStrike" kern="0" cap="none" spc="0" normalizeH="0" baseline="-3000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m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3" name="Freeform 28">
                <a:extLst>
                  <a:ext uri="{FF2B5EF4-FFF2-40B4-BE49-F238E27FC236}">
                    <a16:creationId xmlns:a16="http://schemas.microsoft.com/office/drawing/2014/main" id="{96335B3E-D2AE-4A3C-A3E1-C154AF4659C0}"/>
                  </a:ext>
                </a:extLst>
              </p:cNvPr>
              <p:cNvSpPr/>
              <p:nvPr/>
            </p:nvSpPr>
            <p:spPr bwMode="auto">
              <a:xfrm>
                <a:off x="6222986" y="3218936"/>
                <a:ext cx="220146" cy="27343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5" y="292"/>
                  </a:cxn>
                </a:cxnLst>
                <a:rect l="0" t="0" r="r" b="b"/>
                <a:pathLst>
                  <a:path w="225" h="292">
                    <a:moveTo>
                      <a:pt x="0" y="0"/>
                    </a:moveTo>
                    <a:lnTo>
                      <a:pt x="225" y="292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4" name="Oval 27">
                <a:extLst>
                  <a:ext uri="{FF2B5EF4-FFF2-40B4-BE49-F238E27FC236}">
                    <a16:creationId xmlns:a16="http://schemas.microsoft.com/office/drawing/2014/main" id="{EB6A89D2-AEFD-4BC6-9FEB-AD37818AD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6965" y="4780609"/>
                <a:ext cx="352233" cy="293166"/>
              </a:xfrm>
              <a:prstGeom prst="ellipse">
                <a:avLst/>
              </a:prstGeom>
              <a:solidFill>
                <a:srgbClr val="FFC000"/>
              </a:solidFill>
              <a:ln w="6350" cap="flat" cmpd="sng" algn="ctr">
                <a:solidFill>
                  <a:srgbClr val="8E6CA7"/>
                </a:solidFill>
                <a:prstDash val="solid"/>
                <a:miter lim="800000"/>
              </a:ln>
              <a:effectLst/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5" name="Rectangle 26">
                <a:extLst>
                  <a:ext uri="{FF2B5EF4-FFF2-40B4-BE49-F238E27FC236}">
                    <a16:creationId xmlns:a16="http://schemas.microsoft.com/office/drawing/2014/main" id="{FD0278C9-3B14-4FE3-993B-F2AB43ED7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9398" y="3418307"/>
                <a:ext cx="243628" cy="23960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24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Consolas" panose="020B0609020204030204" pitchFamily="49" charset="0"/>
                  </a:rPr>
                  <a:t>…</a:t>
                </a:r>
              </a:p>
            </p:txBody>
          </p:sp>
          <p:sp>
            <p:nvSpPr>
              <p:cNvPr id="66" name="Rectangle 25">
                <a:extLst>
                  <a:ext uri="{FF2B5EF4-FFF2-40B4-BE49-F238E27FC236}">
                    <a16:creationId xmlns:a16="http://schemas.microsoft.com/office/drawing/2014/main" id="{8F414A59-030E-4495-9E0B-A2B304650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3427" y="2598688"/>
                <a:ext cx="243628" cy="23960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Consolas" panose="020B0609020204030204" pitchFamily="49" charset="0"/>
                  </a:rPr>
                  <a:t>r</a:t>
                </a:r>
              </a:p>
            </p:txBody>
          </p:sp>
          <p:sp>
            <p:nvSpPr>
              <p:cNvPr id="67" name="Freeform 22">
                <a:extLst>
                  <a:ext uri="{FF2B5EF4-FFF2-40B4-BE49-F238E27FC236}">
                    <a16:creationId xmlns:a16="http://schemas.microsoft.com/office/drawing/2014/main" id="{79D9437E-A5BA-4E70-B1F2-522BDAD2941A}"/>
                  </a:ext>
                </a:extLst>
              </p:cNvPr>
              <p:cNvSpPr/>
              <p:nvPr/>
            </p:nvSpPr>
            <p:spPr bwMode="auto">
              <a:xfrm>
                <a:off x="5449051" y="3667142"/>
                <a:ext cx="146764" cy="184168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0" y="196"/>
                  </a:cxn>
                </a:cxnLst>
                <a:rect l="0" t="0" r="r" b="b"/>
                <a:pathLst>
                  <a:path w="150" h="196">
                    <a:moveTo>
                      <a:pt x="150" y="0"/>
                    </a:moveTo>
                    <a:lnTo>
                      <a:pt x="0" y="196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8" name="Freeform 21">
                <a:extLst>
                  <a:ext uri="{FF2B5EF4-FFF2-40B4-BE49-F238E27FC236}">
                    <a16:creationId xmlns:a16="http://schemas.microsoft.com/office/drawing/2014/main" id="{F2AEFC88-1B45-4602-976A-FE4D189EAE19}"/>
                  </a:ext>
                </a:extLst>
              </p:cNvPr>
              <p:cNvSpPr/>
              <p:nvPr/>
            </p:nvSpPr>
            <p:spPr bwMode="auto">
              <a:xfrm>
                <a:off x="6582069" y="3746071"/>
                <a:ext cx="95886" cy="16913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9" y="180"/>
                  </a:cxn>
                </a:cxnLst>
                <a:rect l="0" t="0" r="r" b="b"/>
                <a:pathLst>
                  <a:path w="99" h="180">
                    <a:moveTo>
                      <a:pt x="0" y="0"/>
                    </a:moveTo>
                    <a:lnTo>
                      <a:pt x="99" y="18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9" name="Freeform 20">
                <a:extLst>
                  <a:ext uri="{FF2B5EF4-FFF2-40B4-BE49-F238E27FC236}">
                    <a16:creationId xmlns:a16="http://schemas.microsoft.com/office/drawing/2014/main" id="{641F53C9-1C04-4F09-863C-88D5507FD995}"/>
                  </a:ext>
                </a:extLst>
              </p:cNvPr>
              <p:cNvSpPr/>
              <p:nvPr/>
            </p:nvSpPr>
            <p:spPr bwMode="auto">
              <a:xfrm>
                <a:off x="6262124" y="3751709"/>
                <a:ext cx="102735" cy="186048"/>
              </a:xfrm>
              <a:custGeom>
                <a:avLst/>
                <a:gdLst/>
                <a:ahLst/>
                <a:cxnLst>
                  <a:cxn ang="0">
                    <a:pos x="105" y="0"/>
                  </a:cxn>
                  <a:cxn ang="0">
                    <a:pos x="0" y="198"/>
                  </a:cxn>
                </a:cxnLst>
                <a:rect l="0" t="0" r="r" b="b"/>
                <a:pathLst>
                  <a:path w="105" h="198">
                    <a:moveTo>
                      <a:pt x="105" y="0"/>
                    </a:moveTo>
                    <a:lnTo>
                      <a:pt x="0" y="19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70" name="Freeform 19">
                <a:extLst>
                  <a:ext uri="{FF2B5EF4-FFF2-40B4-BE49-F238E27FC236}">
                    <a16:creationId xmlns:a16="http://schemas.microsoft.com/office/drawing/2014/main" id="{F2047333-D503-4800-9C87-5D9AB3DE5FB9}"/>
                  </a:ext>
                </a:extLst>
              </p:cNvPr>
              <p:cNvSpPr/>
              <p:nvPr/>
            </p:nvSpPr>
            <p:spPr bwMode="auto">
              <a:xfrm>
                <a:off x="5582578" y="4122054"/>
                <a:ext cx="111541" cy="1550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14" y="165"/>
                  </a:cxn>
                </a:cxnLst>
                <a:rect l="0" t="0" r="r" b="b"/>
                <a:pathLst>
                  <a:path w="114" h="165">
                    <a:moveTo>
                      <a:pt x="0" y="0"/>
                    </a:moveTo>
                    <a:lnTo>
                      <a:pt x="114" y="165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71" name="Rectangle 18">
                <a:extLst>
                  <a:ext uri="{FF2B5EF4-FFF2-40B4-BE49-F238E27FC236}">
                    <a16:creationId xmlns:a16="http://schemas.microsoft.com/office/drawing/2014/main" id="{682788EF-346C-46C6-B57B-9423828EC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1716" y="5291861"/>
                <a:ext cx="528350" cy="24054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Consolas" panose="020B0609020204030204" pitchFamily="49" charset="0"/>
                  </a:rPr>
                  <a:t>……</a:t>
                </a:r>
              </a:p>
              <a:p>
                <a:pPr marL="0" marR="0" lvl="0" indent="0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72" name="Freeform 17">
                <a:extLst>
                  <a:ext uri="{FF2B5EF4-FFF2-40B4-BE49-F238E27FC236}">
                    <a16:creationId xmlns:a16="http://schemas.microsoft.com/office/drawing/2014/main" id="{35DF3699-B928-4987-8DAA-A1F16AA6BD2C}"/>
                  </a:ext>
                </a:extLst>
              </p:cNvPr>
              <p:cNvSpPr/>
              <p:nvPr/>
            </p:nvSpPr>
            <p:spPr bwMode="auto">
              <a:xfrm>
                <a:off x="5598750" y="5042767"/>
                <a:ext cx="90994" cy="1710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3" y="183"/>
                  </a:cxn>
                </a:cxnLst>
                <a:rect l="0" t="0" r="r" b="b"/>
                <a:pathLst>
                  <a:path w="93" h="183">
                    <a:moveTo>
                      <a:pt x="0" y="0"/>
                    </a:moveTo>
                    <a:lnTo>
                      <a:pt x="93" y="18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73" name="Freeform 16">
                <a:extLst>
                  <a:ext uri="{FF2B5EF4-FFF2-40B4-BE49-F238E27FC236}">
                    <a16:creationId xmlns:a16="http://schemas.microsoft.com/office/drawing/2014/main" id="{4FD14A8F-5465-45E2-8D89-592C703362C5}"/>
                  </a:ext>
                </a:extLst>
              </p:cNvPr>
              <p:cNvSpPr/>
              <p:nvPr/>
            </p:nvSpPr>
            <p:spPr bwMode="auto">
              <a:xfrm>
                <a:off x="5278806" y="5047467"/>
                <a:ext cx="103713" cy="186987"/>
              </a:xfrm>
              <a:custGeom>
                <a:avLst/>
                <a:gdLst/>
                <a:ahLst/>
                <a:cxnLst>
                  <a:cxn ang="0">
                    <a:pos x="105" y="0"/>
                  </a:cxn>
                  <a:cxn ang="0">
                    <a:pos x="0" y="198"/>
                  </a:cxn>
                </a:cxnLst>
                <a:rect l="0" t="0" r="r" b="b"/>
                <a:pathLst>
                  <a:path w="105" h="198">
                    <a:moveTo>
                      <a:pt x="105" y="0"/>
                    </a:moveTo>
                    <a:lnTo>
                      <a:pt x="0" y="19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grpSp>
            <p:nvGrpSpPr>
              <p:cNvPr id="74" name="组合 73">
                <a:extLst>
                  <a:ext uri="{FF2B5EF4-FFF2-40B4-BE49-F238E27FC236}">
                    <a16:creationId xmlns:a16="http://schemas.microsoft.com/office/drawing/2014/main" id="{DAA2351E-102C-4992-8987-4503AF6CDC53}"/>
                  </a:ext>
                </a:extLst>
              </p:cNvPr>
              <p:cNvGrpSpPr/>
              <p:nvPr/>
            </p:nvGrpSpPr>
            <p:grpSpPr>
              <a:xfrm>
                <a:off x="5672016" y="4449832"/>
                <a:ext cx="1406797" cy="372378"/>
                <a:chOff x="3884345" y="3132243"/>
                <a:chExt cx="1406797" cy="372378"/>
              </a:xfrm>
            </p:grpSpPr>
            <p:sp>
              <p:nvSpPr>
                <p:cNvPr id="81" name="Rectangle 24">
                  <a:extLst>
                    <a:ext uri="{FF2B5EF4-FFF2-40B4-BE49-F238E27FC236}">
                      <a16:creationId xmlns:a16="http://schemas.microsoft.com/office/drawing/2014/main" id="{F2B10519-12B5-417C-9B36-9175443B4D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41859" y="3132243"/>
                  <a:ext cx="1249283" cy="239607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</a:ln>
              </p:spPr>
              <p:txBody>
                <a:bodyPr vert="horz" wrap="square" lIns="0" tIns="0" rIns="0" bIns="0" numCol="1" anchor="t" anchorCtr="0" compatLnSpc="1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Consolas" panose="020B0609020204030204" pitchFamily="49" charset="0"/>
                    </a:rPr>
                    <a:t>p</a:t>
                  </a:r>
                  <a:r>
                    <a:rPr kumimoji="0" lang="en-US" altLang="zh-CN" sz="24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Consolas" panose="020B0609020204030204" pitchFamily="49" charset="0"/>
                    </a:rPr>
                    <a:t>-&gt;</a:t>
                  </a:r>
                  <a:r>
                    <a:rPr kumimoji="0" lang="en-US" altLang="zh-CN" sz="2400" b="0" i="0" u="none" strike="noStrike" kern="0" cap="none" spc="0" normalizeH="0" baseline="0" noProof="0" dirty="0" err="1">
                      <a:ln>
                        <a:noFill/>
                      </a:ln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Consolas" panose="020B0609020204030204" pitchFamily="49" charset="0"/>
                    </a:rPr>
                    <a:t>rchild</a:t>
                  </a:r>
                  <a:endPara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Consolas" panose="020B0609020204030204" pitchFamily="49" charset="0"/>
                  </a:endParaRPr>
                </a:p>
              </p:txBody>
            </p:sp>
            <p:sp>
              <p:nvSpPr>
                <p:cNvPr id="82" name="Freeform 15">
                  <a:extLst>
                    <a:ext uri="{FF2B5EF4-FFF2-40B4-BE49-F238E27FC236}">
                      <a16:creationId xmlns:a16="http://schemas.microsoft.com/office/drawing/2014/main" id="{A7444B2A-A0F3-41D8-A4C1-0A457446E264}"/>
                    </a:ext>
                  </a:extLst>
                </p:cNvPr>
                <p:cNvSpPr/>
                <p:nvPr/>
              </p:nvSpPr>
              <p:spPr bwMode="auto">
                <a:xfrm>
                  <a:off x="3884345" y="3329849"/>
                  <a:ext cx="167311" cy="174772"/>
                </a:xfrm>
                <a:custGeom>
                  <a:avLst/>
                  <a:gdLst/>
                  <a:ahLst/>
                  <a:cxnLst>
                    <a:cxn ang="0">
                      <a:pos x="171" y="0"/>
                    </a:cxn>
                    <a:cxn ang="0">
                      <a:pos x="0" y="186"/>
                    </a:cxn>
                  </a:cxnLst>
                  <a:rect l="0" t="0" r="r" b="b"/>
                  <a:pathLst>
                    <a:path w="171" h="186">
                      <a:moveTo>
                        <a:pt x="171" y="0"/>
                      </a:moveTo>
                      <a:lnTo>
                        <a:pt x="0" y="186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 type="none" w="med" len="med"/>
                  <a:tailEnd type="arrow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ctr" defTabSz="914400" eaLnBrk="1" fontAlgn="auto" latinLnBrk="0" hangingPunct="1">
                    <a:lnSpc>
                      <a:spcPts val="22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onsolas" panose="020B0609020204030204" pitchFamily="49" charset="0"/>
                    <a:ea typeface="仿宋" panose="02010609060101010101" pitchFamily="49" charset="-122"/>
                    <a:cs typeface="Consolas" panose="020B0609020204030204" pitchFamily="49" charset="0"/>
                  </a:endParaRPr>
                </a:p>
              </p:txBody>
            </p:sp>
          </p:grpSp>
          <p:grpSp>
            <p:nvGrpSpPr>
              <p:cNvPr id="75" name="组合 74">
                <a:extLst>
                  <a:ext uri="{FF2B5EF4-FFF2-40B4-BE49-F238E27FC236}">
                    <a16:creationId xmlns:a16="http://schemas.microsoft.com/office/drawing/2014/main" id="{2FEC7964-39D6-45BD-9307-970C2DBEC600}"/>
                  </a:ext>
                </a:extLst>
              </p:cNvPr>
              <p:cNvGrpSpPr/>
              <p:nvPr/>
            </p:nvGrpSpPr>
            <p:grpSpPr>
              <a:xfrm>
                <a:off x="4362998" y="4303276"/>
                <a:ext cx="413874" cy="239607"/>
                <a:chOff x="2575328" y="2985686"/>
                <a:chExt cx="413874" cy="239607"/>
              </a:xfrm>
            </p:grpSpPr>
            <p:sp>
              <p:nvSpPr>
                <p:cNvPr id="79" name="Rectangle 23">
                  <a:extLst>
                    <a:ext uri="{FF2B5EF4-FFF2-40B4-BE49-F238E27FC236}">
                      <a16:creationId xmlns:a16="http://schemas.microsoft.com/office/drawing/2014/main" id="{A0CD9A0F-3ED6-4B48-8E1D-01FCC0E129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5328" y="2985686"/>
                  <a:ext cx="243628" cy="239607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</a:ln>
              </p:spPr>
              <p:txBody>
                <a:bodyPr vert="horz" wrap="square" lIns="0" tIns="0" rIns="0" bIns="0" numCol="1" anchor="t" anchorCtr="0" compatLnSpc="1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Consolas" panose="020B0609020204030204" pitchFamily="49" charset="0"/>
                    </a:rPr>
                    <a:t>p</a:t>
                  </a:r>
                  <a:endParaRPr kumimoji="0" lang="en-US" altLang="zh-CN" sz="24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Consolas" panose="020B0609020204030204" pitchFamily="49" charset="0"/>
                  </a:endParaRPr>
                </a:p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24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Consolas" panose="020B0609020204030204" pitchFamily="49" charset="0"/>
                  </a:endParaRPr>
                </a:p>
              </p:txBody>
            </p:sp>
            <p:sp>
              <p:nvSpPr>
                <p:cNvPr id="80" name="Line 13">
                  <a:extLst>
                    <a:ext uri="{FF2B5EF4-FFF2-40B4-BE49-F238E27FC236}">
                      <a16:creationId xmlns:a16="http://schemas.microsoft.com/office/drawing/2014/main" id="{7EEE144A-F58F-4FB3-8900-ECAE7AF286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13085" y="3134148"/>
                  <a:ext cx="176117" cy="94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 type="none" w="med" len="med"/>
                  <a:tailEnd type="arrow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ctr" defTabSz="914400" eaLnBrk="1" fontAlgn="auto" latinLnBrk="0" hangingPunct="1">
                    <a:lnSpc>
                      <a:spcPts val="22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onsolas" panose="020B0609020204030204" pitchFamily="49" charset="0"/>
                    <a:ea typeface="仿宋" panose="02010609060101010101" pitchFamily="49" charset="-122"/>
                    <a:cs typeface="Consolas" panose="020B0609020204030204" pitchFamily="49" charset="0"/>
                  </a:endParaRPr>
                </a:p>
              </p:txBody>
            </p:sp>
          </p:grpSp>
          <p:sp>
            <p:nvSpPr>
              <p:cNvPr id="76" name="Oval 4">
                <a:extLst>
                  <a:ext uri="{FF2B5EF4-FFF2-40B4-BE49-F238E27FC236}">
                    <a16:creationId xmlns:a16="http://schemas.microsoft.com/office/drawing/2014/main" id="{A57D058B-A667-471C-BA63-F88280122F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2890" y="4696583"/>
                <a:ext cx="995059" cy="928694"/>
              </a:xfrm>
              <a:prstGeom prst="ellipse">
                <a:avLst/>
              </a:prstGeom>
              <a:noFill/>
              <a:ln w="19050">
                <a:solidFill>
                  <a:srgbClr val="8E6CA7"/>
                </a:solidFill>
                <a:prstDash val="dash"/>
                <a:rou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77" name="AutoShape 3">
                <a:extLst>
                  <a:ext uri="{FF2B5EF4-FFF2-40B4-BE49-F238E27FC236}">
                    <a16:creationId xmlns:a16="http://schemas.microsoft.com/office/drawing/2014/main" id="{A30158D2-8EC8-4967-98A6-55803B0BCC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21832" y="2795160"/>
                <a:ext cx="196664" cy="18135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78" name="Rectangle 2">
                <a:extLst>
                  <a:ext uri="{FF2B5EF4-FFF2-40B4-BE49-F238E27FC236}">
                    <a16:creationId xmlns:a16="http://schemas.microsoft.com/office/drawing/2014/main" id="{A01E0F78-9901-4D91-88D7-69DCDC2A18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9531" y="5752538"/>
                <a:ext cx="2462612" cy="57150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遍历 </a:t>
                </a: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p-&gt;</a:t>
                </a:r>
                <a:r>
                  <a:rPr kumimoji="1" lang="en-US" altLang="zh-CN" sz="2400" b="0" i="0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rchild</a:t>
                </a: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子树的过程与遍历 </a:t>
                </a: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 </a:t>
                </a: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的过程相似</a:t>
                </a:r>
              </a:p>
            </p:txBody>
          </p:sp>
        </p:grp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41E337DC-04D9-4FC1-B05A-F33B1108C432}"/>
                </a:ext>
              </a:extLst>
            </p:cNvPr>
            <p:cNvGrpSpPr/>
            <p:nvPr/>
          </p:nvGrpSpPr>
          <p:grpSpPr>
            <a:xfrm>
              <a:off x="3216400" y="3032077"/>
              <a:ext cx="2428891" cy="1071570"/>
              <a:chOff x="1428729" y="1714488"/>
              <a:chExt cx="2428891" cy="1071570"/>
            </a:xfrm>
          </p:grpSpPr>
          <p:sp>
            <p:nvSpPr>
              <p:cNvPr id="84" name="Rectangle 38">
                <a:extLst>
                  <a:ext uri="{FF2B5EF4-FFF2-40B4-BE49-F238E27FC236}">
                    <a16:creationId xmlns:a16="http://schemas.microsoft.com/office/drawing/2014/main" id="{95EF3B18-7C25-4C16-B6D5-F0333AE5F8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8729" y="1785926"/>
                <a:ext cx="2143140" cy="56550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根结点 </a:t>
                </a: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 </a:t>
                </a: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及左下结点：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依次进栈但</a:t>
                </a: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</a:t>
                </a: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访问</a:t>
                </a:r>
              </a:p>
            </p:txBody>
          </p:sp>
          <p:cxnSp>
            <p:nvCxnSpPr>
              <p:cNvPr id="85" name="直接箭头连接符 84">
                <a:extLst>
                  <a:ext uri="{FF2B5EF4-FFF2-40B4-BE49-F238E27FC236}">
                    <a16:creationId xmlns:a16="http://schemas.microsoft.com/office/drawing/2014/main" id="{CBADE36D-DE12-437A-A0DB-BA368DE8EE2F}"/>
                  </a:ext>
                </a:extLst>
              </p:cNvPr>
              <p:cNvCxnSpPr/>
              <p:nvPr/>
            </p:nvCxnSpPr>
            <p:spPr>
              <a:xfrm rot="5400000">
                <a:off x="2893207" y="1821645"/>
                <a:ext cx="1071570" cy="85725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88" name="文本框 87">
            <a:extLst>
              <a:ext uri="{FF2B5EF4-FFF2-40B4-BE49-F238E27FC236}">
                <a16:creationId xmlns:a16="http://schemas.microsoft.com/office/drawing/2014/main" id="{99BDFDAD-47E1-4665-A9D4-84CC5AD0CC2E}"/>
              </a:ext>
            </a:extLst>
          </p:cNvPr>
          <p:cNvSpPr txBox="1"/>
          <p:nvPr/>
        </p:nvSpPr>
        <p:spPr>
          <a:xfrm>
            <a:off x="7264581" y="1914367"/>
            <a:ext cx="1691679" cy="324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模拟递归算法的函数调用中系统栈的工作原理</a:t>
            </a:r>
          </a:p>
        </p:txBody>
      </p: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292946FC-7D55-4079-84B0-2F0A67417129}"/>
              </a:ext>
            </a:extLst>
          </p:cNvPr>
          <p:cNvGrpSpPr/>
          <p:nvPr/>
        </p:nvGrpSpPr>
        <p:grpSpPr>
          <a:xfrm>
            <a:off x="2438013" y="4018617"/>
            <a:ext cx="1893150" cy="1297675"/>
            <a:chOff x="4525972" y="4349953"/>
            <a:chExt cx="1893150" cy="1297675"/>
          </a:xfrm>
        </p:grpSpPr>
        <p:sp>
          <p:nvSpPr>
            <p:cNvPr id="92" name="Rectangle 2">
              <a:extLst>
                <a:ext uri="{FF2B5EF4-FFF2-40B4-BE49-F238E27FC236}">
                  <a16:creationId xmlns:a16="http://schemas.microsoft.com/office/drawing/2014/main" id="{00E5B3EC-6A3A-4489-B6A9-2D4799C47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972" y="4651036"/>
              <a:ext cx="1248994" cy="9965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在出栈时访问并转向右子树</a:t>
              </a:r>
            </a:p>
          </p:txBody>
        </p: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9D52DE97-F258-466C-AC92-D2AAF6F9632F}"/>
                </a:ext>
              </a:extLst>
            </p:cNvPr>
            <p:cNvCxnSpPr/>
            <p:nvPr/>
          </p:nvCxnSpPr>
          <p:spPr>
            <a:xfrm flipH="1">
              <a:off x="5811420" y="4349953"/>
              <a:ext cx="607702" cy="514175"/>
            </a:xfrm>
            <a:prstGeom prst="line">
              <a:avLst/>
            </a:prstGeom>
            <a:ln>
              <a:solidFill>
                <a:srgbClr val="FF0000"/>
              </a:solidFill>
              <a:tailEnd type="none"/>
            </a:ln>
            <a:effectLst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7068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9038F-B11C-44A6-8DF2-36A35A87B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中序遍历的非递归算法</a:t>
            </a: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17D20B4E-61B7-4E59-8209-6D77B080B82D}"/>
              </a:ext>
            </a:extLst>
          </p:cNvPr>
          <p:cNvGrpSpPr/>
          <p:nvPr/>
        </p:nvGrpSpPr>
        <p:grpSpPr>
          <a:xfrm>
            <a:off x="2175912" y="4308677"/>
            <a:ext cx="1152526" cy="1824036"/>
            <a:chOff x="3000375" y="4226977"/>
            <a:chExt cx="1152526" cy="1824036"/>
          </a:xfrm>
        </p:grpSpPr>
        <p:sp>
          <p:nvSpPr>
            <p:cNvPr id="49" name="Line 17">
              <a:extLst>
                <a:ext uri="{FF2B5EF4-FFF2-40B4-BE49-F238E27FC236}">
                  <a16:creationId xmlns:a16="http://schemas.microsoft.com/office/drawing/2014/main" id="{489575F5-A738-491C-BBDB-347C1DC70A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375" y="4226977"/>
              <a:ext cx="0" cy="1800225"/>
            </a:xfrm>
            <a:prstGeom prst="line">
              <a:avLst/>
            </a:prstGeom>
            <a:noFill/>
            <a:ln w="38100" cap="flat" cmpd="sng" algn="ctr">
              <a:solidFill>
                <a:srgbClr val="4BACC6"/>
              </a:solidFill>
              <a:prstDash val="solid"/>
              <a:tailEnd type="none" w="med" len="lg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0" name="Line 18">
              <a:extLst>
                <a:ext uri="{FF2B5EF4-FFF2-40B4-BE49-F238E27FC236}">
                  <a16:creationId xmlns:a16="http://schemas.microsoft.com/office/drawing/2014/main" id="{205EA4FC-ED80-4837-9879-1A9855F412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2900" y="4226977"/>
              <a:ext cx="0" cy="1800225"/>
            </a:xfrm>
            <a:prstGeom prst="line">
              <a:avLst/>
            </a:prstGeom>
            <a:noFill/>
            <a:ln w="38100" cap="flat" cmpd="sng" algn="ctr">
              <a:solidFill>
                <a:srgbClr val="4BACC6"/>
              </a:solidFill>
              <a:prstDash val="solid"/>
              <a:tailEnd type="none" w="med" len="lg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1" name="Line 19">
              <a:extLst>
                <a:ext uri="{FF2B5EF4-FFF2-40B4-BE49-F238E27FC236}">
                  <a16:creationId xmlns:a16="http://schemas.microsoft.com/office/drawing/2014/main" id="{1F8971C3-F6AB-40BD-9BB8-75D9AFCD2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376" y="6051013"/>
              <a:ext cx="1152525" cy="0"/>
            </a:xfrm>
            <a:prstGeom prst="line">
              <a:avLst/>
            </a:prstGeom>
            <a:noFill/>
            <a:ln w="38100" cap="flat" cmpd="sng" algn="ctr">
              <a:solidFill>
                <a:srgbClr val="4BACC6"/>
              </a:solidFill>
              <a:prstDash val="solid"/>
              <a:tailEnd type="none" w="med" len="lg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52" name="Text Box 20">
            <a:extLst>
              <a:ext uri="{FF2B5EF4-FFF2-40B4-BE49-F238E27FC236}">
                <a16:creationId xmlns:a16="http://schemas.microsoft.com/office/drawing/2014/main" id="{616F6436-7A0D-4137-89C5-D1117F727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6157" y="6241555"/>
            <a:ext cx="1333715" cy="437043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b="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一个栈</a:t>
            </a:r>
          </a:p>
        </p:txBody>
      </p:sp>
      <p:sp>
        <p:nvSpPr>
          <p:cNvPr id="36" name="Line 4">
            <a:extLst>
              <a:ext uri="{FF2B5EF4-FFF2-40B4-BE49-F238E27FC236}">
                <a16:creationId xmlns:a16="http://schemas.microsoft.com/office/drawing/2014/main" id="{20E6C967-06AC-4F15-890B-39B0F5F5E9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3225" y="2988117"/>
            <a:ext cx="378530" cy="435263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37" name="Line 5">
            <a:extLst>
              <a:ext uri="{FF2B5EF4-FFF2-40B4-BE49-F238E27FC236}">
                <a16:creationId xmlns:a16="http://schemas.microsoft.com/office/drawing/2014/main" id="{DF9766C1-4E49-420E-89CF-2AC5E2CA5D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4611" y="1242251"/>
            <a:ext cx="376451" cy="435263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956DE24C-AA2B-4FFD-B280-AC1ADDF5DE83}"/>
              </a:ext>
            </a:extLst>
          </p:cNvPr>
          <p:cNvSpPr/>
          <p:nvPr/>
        </p:nvSpPr>
        <p:spPr bwMode="auto">
          <a:xfrm>
            <a:off x="2933269" y="1170108"/>
            <a:ext cx="395169" cy="589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0" y="245"/>
              </a:cxn>
            </a:cxnLst>
            <a:rect l="0" t="0" r="r" b="b"/>
            <a:pathLst>
              <a:path w="190" h="245">
                <a:moveTo>
                  <a:pt x="0" y="0"/>
                </a:moveTo>
                <a:lnTo>
                  <a:pt x="190" y="245"/>
                </a:lnTo>
              </a:path>
            </a:pathLst>
          </a:cu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39" name="Line 7">
            <a:extLst>
              <a:ext uri="{FF2B5EF4-FFF2-40B4-BE49-F238E27FC236}">
                <a16:creationId xmlns:a16="http://schemas.microsoft.com/office/drawing/2014/main" id="{6C1D1142-57B6-415C-BA3E-F0A2DAD0A9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9632" y="2115183"/>
            <a:ext cx="472122" cy="545885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0" name="Line 8">
            <a:extLst>
              <a:ext uri="{FF2B5EF4-FFF2-40B4-BE49-F238E27FC236}">
                <a16:creationId xmlns:a16="http://schemas.microsoft.com/office/drawing/2014/main" id="{C9698BB1-1E06-428E-8E9A-45C9227C36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77114" y="2158468"/>
            <a:ext cx="376449" cy="435265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E5A20236-313C-4576-9430-62221A0C2A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571" y="2115183"/>
            <a:ext cx="376451" cy="545885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2" name="Oval 10">
            <a:extLst>
              <a:ext uri="{FF2B5EF4-FFF2-40B4-BE49-F238E27FC236}">
                <a16:creationId xmlns:a16="http://schemas.microsoft.com/office/drawing/2014/main" id="{DCA4383D-C791-4FB8-9FB7-7A3D855D5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7469" y="806986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43" name="Oval 11">
            <a:extLst>
              <a:ext uri="{FF2B5EF4-FFF2-40B4-BE49-F238E27FC236}">
                <a16:creationId xmlns:a16="http://schemas.microsoft.com/office/drawing/2014/main" id="{E7F87263-7BED-4DEA-993E-00721D305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081" y="1677514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44" name="Oval 12">
            <a:extLst>
              <a:ext uri="{FF2B5EF4-FFF2-40B4-BE49-F238E27FC236}">
                <a16:creationId xmlns:a16="http://schemas.microsoft.com/office/drawing/2014/main" id="{55B4E7AD-0CB8-46B5-8E22-01B55F9D1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2449" y="1677514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45" name="Oval 13">
            <a:extLst>
              <a:ext uri="{FF2B5EF4-FFF2-40B4-BE49-F238E27FC236}">
                <a16:creationId xmlns:a16="http://schemas.microsoft.com/office/drawing/2014/main" id="{24894121-4380-48DA-9F96-73826BE8B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181" y="2550447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D</a:t>
            </a:r>
          </a:p>
        </p:txBody>
      </p:sp>
      <p:sp>
        <p:nvSpPr>
          <p:cNvPr id="46" name="Oval 14">
            <a:extLst>
              <a:ext uri="{FF2B5EF4-FFF2-40B4-BE49-F238E27FC236}">
                <a16:creationId xmlns:a16="http://schemas.microsoft.com/office/drawing/2014/main" id="{C12ECCFA-41A2-4C54-B2E7-581E1E4B5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549" y="2550447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47" name="Oval 15">
            <a:extLst>
              <a:ext uri="{FF2B5EF4-FFF2-40B4-BE49-F238E27FC236}">
                <a16:creationId xmlns:a16="http://schemas.microsoft.com/office/drawing/2014/main" id="{5034242F-AB6F-4DDF-BB91-1A4D3FFD7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081" y="3315165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G</a:t>
            </a:r>
          </a:p>
        </p:txBody>
      </p:sp>
      <p:sp>
        <p:nvSpPr>
          <p:cNvPr id="48" name="Oval 16">
            <a:extLst>
              <a:ext uri="{FF2B5EF4-FFF2-40B4-BE49-F238E27FC236}">
                <a16:creationId xmlns:a16="http://schemas.microsoft.com/office/drawing/2014/main" id="{3DE0C769-8651-41B3-8030-FB9801DAA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3837" y="2550447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F</a:t>
            </a:r>
          </a:p>
        </p:txBody>
      </p:sp>
      <p:sp>
        <p:nvSpPr>
          <p:cNvPr id="53" name="Oval 27">
            <a:extLst>
              <a:ext uri="{FF2B5EF4-FFF2-40B4-BE49-F238E27FC236}">
                <a16:creationId xmlns:a16="http://schemas.microsoft.com/office/drawing/2014/main" id="{905674FC-6277-4F32-A5AD-B1AE85871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7469" y="806986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54" name="Oval 28">
            <a:extLst>
              <a:ext uri="{FF2B5EF4-FFF2-40B4-BE49-F238E27FC236}">
                <a16:creationId xmlns:a16="http://schemas.microsoft.com/office/drawing/2014/main" id="{1918996A-A7E5-4920-BA90-F49362A7E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081" y="1679918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55" name="Oval 29">
            <a:extLst>
              <a:ext uri="{FF2B5EF4-FFF2-40B4-BE49-F238E27FC236}">
                <a16:creationId xmlns:a16="http://schemas.microsoft.com/office/drawing/2014/main" id="{4F8E1C6A-5576-47D3-922C-28C311257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2449" y="1677514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56" name="Oval 30">
            <a:extLst>
              <a:ext uri="{FF2B5EF4-FFF2-40B4-BE49-F238E27FC236}">
                <a16:creationId xmlns:a16="http://schemas.microsoft.com/office/drawing/2014/main" id="{B9869271-7827-4CA6-9B3D-0E175E156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181" y="2552852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D</a:t>
            </a:r>
          </a:p>
        </p:txBody>
      </p:sp>
      <p:sp>
        <p:nvSpPr>
          <p:cNvPr id="57" name="Oval 31">
            <a:extLst>
              <a:ext uri="{FF2B5EF4-FFF2-40B4-BE49-F238E27FC236}">
                <a16:creationId xmlns:a16="http://schemas.microsoft.com/office/drawing/2014/main" id="{3FA5C828-261B-4955-8AA0-2282D08A1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549" y="2550447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58" name="Oval 32">
            <a:extLst>
              <a:ext uri="{FF2B5EF4-FFF2-40B4-BE49-F238E27FC236}">
                <a16:creationId xmlns:a16="http://schemas.microsoft.com/office/drawing/2014/main" id="{39032AB1-6985-43D9-80B6-C2F93E944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081" y="3315165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G</a:t>
            </a:r>
          </a:p>
        </p:txBody>
      </p:sp>
      <p:sp>
        <p:nvSpPr>
          <p:cNvPr id="59" name="Oval 33">
            <a:extLst>
              <a:ext uri="{FF2B5EF4-FFF2-40B4-BE49-F238E27FC236}">
                <a16:creationId xmlns:a16="http://schemas.microsoft.com/office/drawing/2014/main" id="{5A1D6FCD-9558-4108-A623-AA27AF3C1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3837" y="2550447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F</a:t>
            </a:r>
          </a:p>
        </p:txBody>
      </p:sp>
      <p:sp>
        <p:nvSpPr>
          <p:cNvPr id="60" name="Text Box 34">
            <a:extLst>
              <a:ext uri="{FF2B5EF4-FFF2-40B4-BE49-F238E27FC236}">
                <a16:creationId xmlns:a16="http://schemas.microsoft.com/office/drawing/2014/main" id="{7C3A09E8-9859-4E74-A028-20EBC0C6B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9724" y="3236605"/>
            <a:ext cx="1728787" cy="437043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b="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中序序列：</a:t>
            </a:r>
          </a:p>
        </p:txBody>
      </p:sp>
      <p:sp>
        <p:nvSpPr>
          <p:cNvPr id="61" name="Text Box 35">
            <a:extLst>
              <a:ext uri="{FF2B5EF4-FFF2-40B4-BE49-F238E27FC236}">
                <a16:creationId xmlns:a16="http://schemas.microsoft.com/office/drawing/2014/main" id="{8CF82C0F-CB8D-4577-9D32-5C91AB78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1793" y="3876378"/>
            <a:ext cx="433387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D</a:t>
            </a:r>
          </a:p>
        </p:txBody>
      </p:sp>
      <p:sp>
        <p:nvSpPr>
          <p:cNvPr id="62" name="Text Box 36">
            <a:extLst>
              <a:ext uri="{FF2B5EF4-FFF2-40B4-BE49-F238E27FC236}">
                <a16:creationId xmlns:a16="http://schemas.microsoft.com/office/drawing/2014/main" id="{8ADF968E-67CC-42C7-A6DE-B077CE5E1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9493" y="3876378"/>
            <a:ext cx="433387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G</a:t>
            </a:r>
          </a:p>
        </p:txBody>
      </p:sp>
      <p:sp>
        <p:nvSpPr>
          <p:cNvPr id="63" name="Text Box 37">
            <a:extLst>
              <a:ext uri="{FF2B5EF4-FFF2-40B4-BE49-F238E27FC236}">
                <a16:creationId xmlns:a16="http://schemas.microsoft.com/office/drawing/2014/main" id="{94314F1A-A2E2-4F9D-9EFB-EA0A556D3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7193" y="3876378"/>
            <a:ext cx="433387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64" name="Text Box 38">
            <a:extLst>
              <a:ext uri="{FF2B5EF4-FFF2-40B4-BE49-F238E27FC236}">
                <a16:creationId xmlns:a16="http://schemas.microsoft.com/office/drawing/2014/main" id="{69E76BF1-B41E-434B-9A93-FE04178DD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6479" y="3876378"/>
            <a:ext cx="433388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65" name="Text Box 39">
            <a:extLst>
              <a:ext uri="{FF2B5EF4-FFF2-40B4-BE49-F238E27FC236}">
                <a16:creationId xmlns:a16="http://schemas.microsoft.com/office/drawing/2014/main" id="{3C03C316-EB6A-48D2-B1A6-EF7064A94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104" y="3876378"/>
            <a:ext cx="433388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66" name="Text Box 40">
            <a:extLst>
              <a:ext uri="{FF2B5EF4-FFF2-40B4-BE49-F238E27FC236}">
                <a16:creationId xmlns:a16="http://schemas.microsoft.com/office/drawing/2014/main" id="{4D4D155B-6815-4AA5-AF11-1C82D1BB5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9804" y="3876378"/>
            <a:ext cx="433388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wrap="square"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67" name="Text Box 41">
            <a:extLst>
              <a:ext uri="{FF2B5EF4-FFF2-40B4-BE49-F238E27FC236}">
                <a16:creationId xmlns:a16="http://schemas.microsoft.com/office/drawing/2014/main" id="{1098A2BD-F463-44E5-A226-3AB34E97A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9093" y="3876378"/>
            <a:ext cx="433387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</a:p>
        </p:txBody>
      </p:sp>
      <p:sp>
        <p:nvSpPr>
          <p:cNvPr id="68" name="Text Box 42">
            <a:extLst>
              <a:ext uri="{FF2B5EF4-FFF2-40B4-BE49-F238E27FC236}">
                <a16:creationId xmlns:a16="http://schemas.microsoft.com/office/drawing/2014/main" id="{F0185C91-94FB-45CB-B516-9878B5B3A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6097" y="5160805"/>
            <a:ext cx="2694812" cy="502061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sz="3200" b="0" dirty="0">
                <a:latin typeface="华文新魏" panose="02010800040101010101" pitchFamily="2" charset="-122"/>
                <a:ea typeface="华文新魏" panose="02010800040101010101" pitchFamily="2" charset="-122"/>
                <a:cs typeface="Consolas" panose="020B0609020204030204" pitchFamily="49" charset="0"/>
              </a:rPr>
              <a:t>中序遍历完毕！</a:t>
            </a:r>
          </a:p>
        </p:txBody>
      </p:sp>
    </p:spTree>
    <p:extLst>
      <p:ext uri="{BB962C8B-B14F-4D97-AF65-F5344CB8AC3E}">
        <p14:creationId xmlns:p14="http://schemas.microsoft.com/office/powerpoint/2010/main" val="1991187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0.03727 L 0.0007 0.03727 C 0.00434 0.12824 0.00087 0.0368 0.00261 0.25416 C 0.00278 0.2743 0.00313 0.29421 0.00365 0.31435 C 0.00382 0.32569 0.00469 0.33703 0.00469 0.34838 C 0.00486 0.45995 0.00469 0.57153 0.00469 0.68287 L 0.00469 0.68287 " pathEditMode="relative" ptsTypes="AAAAAAA">
                                      <p:cBhvr>
                                        <p:cTn id="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.04213 L 0.0026 0.04213 C 0.01927 0.08912 0.00468 0.04375 0.01909 0.10996 C 0.02222 0.12408 0.02708 0.1375 0.02986 0.15185 C 0.03663 0.18496 0.03576 0.20301 0.04062 0.23681 C 0.04635 0.275 0.04948 0.28797 0.05642 0.32037 C 0.05781 0.36528 0.05781 0.39468 0.06423 0.43935 C 0.06527 0.4463 0.0684 0.45232 0.07014 0.45903 C 0.07135 0.46366 0.07187 0.46875 0.07309 0.47338 C 0.07465 0.48033 0.07326 0.47986 0.07604 0.47986 L 0.07604 0.47986 " pathEditMode="relative" ptsTypes="AAAAAAAAAAA">
                                      <p:cBhvr>
                                        <p:cTn id="10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0.00023 L 5E-6 2.96296E-6 C 0.00452 -0.00023 0.00921 -0.00047 0.01372 0.00069 C 0.02275 0.00301 0.04914 0.01852 0.05296 0.02268 C 0.06997 0.04074 0.08004 0.05532 0.10382 0.06458 L 0.10678 0.06551 C 0.10886 0.06967 0.11042 0.07361 0.11268 0.07731 C 0.11737 0.08495 0.12466 0.09074 0.12744 0.09953 C 0.13039 0.10856 0.12744 0.11944 0.12935 0.1294 C 0.13073 0.13634 0.1349 0.14213 0.13733 0.14907 C 0.14289 0.16504 0.1441 0.17477 0.1481 0.19282 C 0.14844 0.1949 0.15053 0.20416 0.15191 0.2081 C 0.15764 0.225 0.15573 0.21736 0.15782 0.22685 C 0.15816 0.23588 0.15834 0.24514 0.15886 0.2544 C 0.1599 0.27176 0.15973 0.25416 0.15973 0.25972 L 0.15973 0.25995 " pathEditMode="relative" rAng="0" ptsTypes="AAAAAAAAAAAAAAAA">
                                      <p:cBhvr>
                                        <p:cTn id="14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86" y="13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5185E-6 L 3.33333E-6 0.00023 C 0.00468 0.00324 0.0092 0.00717 0.01406 0.01041 C 0.01788 0.01273 0.02083 0.01342 0.02465 0.01458 C 0.02586 0.01551 0.02708 0.0169 0.02847 0.01759 C 0.02968 0.01805 0.03107 0.01782 0.03229 0.01852 C 0.03507 0.01944 0.0401 0.02523 0.04097 0.02616 C 0.04843 0.03912 0.04496 0.03241 0.05416 0.05116 C 0.05486 0.05231 0.05538 0.0537 0.05607 0.05509 C 0.05677 0.05579 0.05764 0.05671 0.05816 0.0581 C 0.05885 0.05972 0.05885 0.06204 0.06007 0.06389 C 0.06059 0.06458 0.06128 0.06574 0.0618 0.06666 C 0.06302 0.06898 0.06319 0.07199 0.06389 0.07454 C 0.06441 0.07662 0.0651 0.0787 0.0658 0.08055 C 0.06892 0.10092 0.06389 0.0669 0.06753 0.12106 C 0.06771 0.12315 0.06892 0.12523 0.06961 0.12685 L 0.07048 0.12986 C 0.07083 0.13217 0.07118 0.13449 0.07152 0.1368 C 0.07239 0.14676 0.07239 0.14514 0.07239 0.15069 L 0.07239 0.15116 " pathEditMode="relative" rAng="0" ptsTypes="AAAAAAAAAAAAAAAAAAAA">
                                      <p:cBhvr>
                                        <p:cTn id="25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1" y="7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6 0.04352 L -0.00226 0.04352 C -0.00504 0.05903 -0.00712 0.075 -0.01025 0.09051 C -0.01233 0.10162 -0.01632 0.11204 -0.01806 0.12315 C -0.01997 0.13611 -0.01962 0.14931 -0.02101 0.1625 C -0.02205 0.17292 -0.02379 0.18333 -0.02483 0.19375 C -0.02674 0.20949 -0.02743 0.22546 -0.02986 0.24074 C -0.03125 0.25023 -0.0349 0.25903 -0.03663 0.26829 C -0.04306 0.30394 -0.03941 0.29838 -0.04445 0.32593 C -0.04688 0.33866 -0.04965 0.35116 -0.05226 0.36366 C -0.05295 0.37107 -0.05365 0.3787 -0.05434 0.38588 C -0.05486 0.39213 -0.05573 0.39815 -0.05625 0.4044 C -0.05712 0.41343 -0.05764 0.42269 -0.05816 0.43171 C -0.05868 0.4375 -0.05868 0.44306 -0.0592 0.44884 C -0.06042 0.46157 -0.06545 0.48727 -0.06702 0.49583 C -0.06736 0.50023 -0.06788 0.5125 -0.06893 0.51806 C -0.07049 0.52546 -0.07292 0.53264 -0.07396 0.54028 C -0.07431 0.54282 -0.07413 0.5456 -0.07483 0.54815 C -0.07847 0.55995 -0.07778 0.54792 -0.07778 0.55741 L -0.07778 0.55741 " pathEditMode="relative" ptsTypes="AAAAAAAAAAAAAAAAAAAA">
                                      <p:cBhvr>
                                        <p:cTn id="50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0.04074 L 0.00156 0.04074 C 0.00538 0.09653 0.00173 0.03727 0.00434 0.11783 C 0.00486 0.13033 0.00573 0.14306 0.00642 0.15556 C 0.00538 0.21227 0.00468 0.26899 0.00347 0.32547 C 0.00208 0.38959 0.00243 0.27963 0.00243 0.3544 L 0.00243 0.3544 " pathEditMode="relative" ptsTypes="AAAAAAA">
                                      <p:cBhvr>
                                        <p:cTn id="54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4 0.03542 L 0.00174 0.03542 C -0.0085 0.04699 -0.01788 0.05996 -0.02864 0.07061 C -0.04114 0.08264 -0.05659 0.08936 -0.06788 0.10324 C -0.07708 0.11459 -0.08073 0.13195 -0.08854 0.14514 C -0.09357 0.15348 -0.10017 0.15996 -0.10607 0.16737 C -0.11163 0.18287 -0.12083 0.20625 -0.12482 0.22477 C -0.12743 0.23727 -0.12916 0.25024 -0.13159 0.26274 C -0.13854 0.29699 -0.13993 0.3 -0.1493 0.33334 C -0.15191 0.39422 -0.15121 0.36297 -0.15121 0.42755 L -0.15121 0.42755 " pathEditMode="relative" ptsTypes="AAAAAAAAAAA">
                                      <p:cBhvr>
                                        <p:cTn id="72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1" grpId="0"/>
      <p:bldP spid="62" grpId="0"/>
      <p:bldP spid="63" grpId="0"/>
      <p:bldP spid="64" grpId="0"/>
      <p:bldP spid="65" grpId="0"/>
      <p:bldP spid="66" grpId="0"/>
      <p:bldP spid="67" grpId="0" bldLvl="0" animBg="1"/>
      <p:bldP spid="6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4E19C-DD4B-4906-BC67-16FB99DED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中序遍历的非递归算法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9178B9-A307-42E8-B8B7-7CF2F5B53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44504"/>
            <a:ext cx="9144000" cy="611349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void </a:t>
            </a:r>
            <a:r>
              <a:rPr lang="en-US" altLang="zh-CN" sz="2400" dirty="0" err="1">
                <a:solidFill>
                  <a:srgbClr val="FF0000"/>
                </a:solidFill>
              </a:rPr>
              <a:t>InOrder</a:t>
            </a:r>
            <a:r>
              <a:rPr lang="en-US" altLang="zh-CN" sz="2400" dirty="0">
                <a:solidFill>
                  <a:srgbClr val="0000FF"/>
                </a:solidFill>
              </a:rPr>
              <a:t> (</a:t>
            </a:r>
            <a:r>
              <a:rPr lang="en-US" altLang="zh-CN" sz="2400" dirty="0" err="1">
                <a:solidFill>
                  <a:srgbClr val="0000FF"/>
                </a:solidFill>
              </a:rPr>
              <a:t>BinTree</a:t>
            </a:r>
            <a:r>
              <a:rPr lang="en-US" altLang="zh-CN" sz="2400" dirty="0">
                <a:solidFill>
                  <a:srgbClr val="0000FF"/>
                </a:solidFill>
              </a:rPr>
              <a:t> T) {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</a:t>
            </a:r>
            <a:r>
              <a:rPr lang="en-US" altLang="zh-CN" sz="2400" dirty="0" err="1">
                <a:solidFill>
                  <a:srgbClr val="0000FF"/>
                </a:solidFill>
              </a:rPr>
              <a:t>InitStack</a:t>
            </a:r>
            <a:r>
              <a:rPr lang="en-US" altLang="zh-CN" sz="2400" dirty="0">
                <a:solidFill>
                  <a:srgbClr val="0000FF"/>
                </a:solidFill>
              </a:rPr>
              <a:t>(S);    </a:t>
            </a:r>
            <a:r>
              <a:rPr lang="en-US" altLang="zh-CN" sz="2400" dirty="0" err="1">
                <a:solidFill>
                  <a:srgbClr val="0000FF"/>
                </a:solidFill>
              </a:rPr>
              <a:t>BiTNode</a:t>
            </a:r>
            <a:r>
              <a:rPr lang="en-US" altLang="zh-CN" sz="2400" dirty="0">
                <a:solidFill>
                  <a:srgbClr val="0000FF"/>
                </a:solidFill>
              </a:rPr>
              <a:t> * p = T;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do {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while (p!=NULL) {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</a:rPr>
              <a:t>沿左分支向下，并将结点压栈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         Push(S, p);</a:t>
            </a:r>
            <a:r>
              <a:rPr lang="en-US" altLang="zh-CN" sz="2400" dirty="0">
                <a:solidFill>
                  <a:srgbClr val="0000FF"/>
                </a:solidFill>
              </a:rPr>
              <a:t>   p=p-&gt;</a:t>
            </a:r>
            <a:r>
              <a:rPr lang="en-US" altLang="zh-CN" sz="2400" dirty="0" err="1">
                <a:solidFill>
                  <a:srgbClr val="0000FF"/>
                </a:solidFill>
              </a:rPr>
              <a:t>lchild</a:t>
            </a:r>
            <a:r>
              <a:rPr lang="en-US" altLang="zh-CN" sz="2400" dirty="0">
                <a:solidFill>
                  <a:srgbClr val="0000FF"/>
                </a:solidFill>
              </a:rPr>
              <a:t>; }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if (!</a:t>
            </a:r>
            <a:r>
              <a:rPr lang="en-US" altLang="zh-CN" sz="2400" dirty="0" err="1">
                <a:solidFill>
                  <a:srgbClr val="0000FF"/>
                </a:solidFill>
              </a:rPr>
              <a:t>StackEmpty</a:t>
            </a:r>
            <a:r>
              <a:rPr lang="en-US" altLang="zh-CN" sz="2400" dirty="0">
                <a:solidFill>
                  <a:srgbClr val="0000FF"/>
                </a:solidFill>
              </a:rPr>
              <a:t>(S)) {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</a:rPr>
              <a:t>左子树遍历结束，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    </a:t>
            </a:r>
            <a:r>
              <a:rPr lang="en-US" altLang="zh-CN" sz="2400" dirty="0">
                <a:solidFill>
                  <a:srgbClr val="FF0000"/>
                </a:solidFill>
              </a:rPr>
              <a:t>Pop(S, p);            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</a:rPr>
              <a:t>从栈中弹出结点，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B050"/>
                </a:solidFill>
              </a:rPr>
              <a:t>            </a:t>
            </a:r>
            <a:r>
              <a:rPr lang="en-US" altLang="zh-CN" sz="2400" b="1" dirty="0">
                <a:solidFill>
                  <a:srgbClr val="0000FF"/>
                </a:solidFill>
              </a:rPr>
              <a:t>visit(p);               </a:t>
            </a:r>
            <a:r>
              <a:rPr lang="en-US" altLang="zh-CN" sz="2400" dirty="0">
                <a:solidFill>
                  <a:srgbClr val="00B050"/>
                </a:solidFill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</a:rPr>
              <a:t> 访问结点 </a:t>
            </a:r>
            <a:r>
              <a:rPr lang="en-US" altLang="zh-CN" sz="2400" dirty="0">
                <a:solidFill>
                  <a:srgbClr val="00B050"/>
                </a:solidFill>
              </a:rPr>
              <a:t>p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    p=p-&gt;</a:t>
            </a:r>
            <a:r>
              <a:rPr lang="en-US" altLang="zh-CN" sz="2400" dirty="0" err="1">
                <a:solidFill>
                  <a:srgbClr val="0000FF"/>
                </a:solidFill>
              </a:rPr>
              <a:t>rchild</a:t>
            </a:r>
            <a:r>
              <a:rPr lang="en-US" altLang="zh-CN" sz="2400" dirty="0">
                <a:solidFill>
                  <a:srgbClr val="0000FF"/>
                </a:solidFill>
              </a:rPr>
              <a:t>; }    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</a:rPr>
              <a:t>开始遍历右子树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} while (!</a:t>
            </a:r>
            <a:r>
              <a:rPr lang="en-US" altLang="zh-CN" sz="2400" dirty="0" err="1">
                <a:solidFill>
                  <a:srgbClr val="0000FF"/>
                </a:solidFill>
              </a:rPr>
              <a:t>StackEmpty</a:t>
            </a:r>
            <a:r>
              <a:rPr lang="en-US" altLang="zh-CN" sz="2400" dirty="0">
                <a:solidFill>
                  <a:srgbClr val="0000FF"/>
                </a:solidFill>
              </a:rPr>
              <a:t>(S) || p != NULL)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}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en-US" altLang="zh-CN" sz="2400" dirty="0" err="1">
                <a:solidFill>
                  <a:srgbClr val="00B050"/>
                </a:solidFill>
              </a:rPr>
              <a:t>InOrder</a:t>
            </a:r>
            <a:endParaRPr lang="en-US" altLang="zh-CN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72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8ACD64-EA01-49D9-93C0-623F5741E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后序遍历的非递归算法</a:t>
            </a: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C10DAFE7-71A9-4F1C-BA8E-53E692D79AEA}"/>
              </a:ext>
            </a:extLst>
          </p:cNvPr>
          <p:cNvGrpSpPr/>
          <p:nvPr/>
        </p:nvGrpSpPr>
        <p:grpSpPr>
          <a:xfrm>
            <a:off x="980771" y="3107844"/>
            <a:ext cx="2026842" cy="1168054"/>
            <a:chOff x="4471291" y="4302702"/>
            <a:chExt cx="2026842" cy="810216"/>
          </a:xfrm>
        </p:grpSpPr>
        <p:sp>
          <p:nvSpPr>
            <p:cNvPr id="81" name="Rectangle 2">
              <a:extLst>
                <a:ext uri="{FF2B5EF4-FFF2-40B4-BE49-F238E27FC236}">
                  <a16:creationId xmlns:a16="http://schemas.microsoft.com/office/drawing/2014/main" id="{FDA337F1-9CA2-4868-A6C1-54D6FAC0A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1291" y="4525471"/>
              <a:ext cx="1598263" cy="58744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rPr>
                <a:t>若结点 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rPr>
                <a:t>p </a:t>
              </a: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rPr>
                <a:t>不可以访问</a:t>
              </a:r>
            </a:p>
          </p:txBody>
        </p: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E8BA6AD9-7DBD-4C7E-9057-EB49CF0ACF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69554" y="4302702"/>
              <a:ext cx="428579" cy="244625"/>
            </a:xfrm>
            <a:prstGeom prst="lin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  <a:tailEnd type="none"/>
            </a:ln>
            <a:effectLst/>
          </p:spPr>
        </p:cxnSp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66CCD7D5-D744-465E-872A-87ECD4ECCF3C}"/>
              </a:ext>
            </a:extLst>
          </p:cNvPr>
          <p:cNvGrpSpPr/>
          <p:nvPr/>
        </p:nvGrpSpPr>
        <p:grpSpPr>
          <a:xfrm>
            <a:off x="52596" y="4300171"/>
            <a:ext cx="2143140" cy="2555030"/>
            <a:chOff x="991730" y="3585975"/>
            <a:chExt cx="1713120" cy="1768268"/>
          </a:xfrm>
        </p:grpSpPr>
        <p:sp>
          <p:nvSpPr>
            <p:cNvPr id="83" name="Rectangle 9">
              <a:extLst>
                <a:ext uri="{FF2B5EF4-FFF2-40B4-BE49-F238E27FC236}">
                  <a16:creationId xmlns:a16="http://schemas.microsoft.com/office/drawing/2014/main" id="{12136D1B-290B-4AB7-ACF0-7ECA85E40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8392" y="3633292"/>
              <a:ext cx="528350" cy="284105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rgbClr val="AE96C0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ctr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a</a:t>
              </a:r>
              <a:r>
                <a:rPr kumimoji="0" lang="en-US" altLang="zh-CN" sz="2400" b="0" i="1" u="none" strike="noStrike" kern="0" cap="none" spc="0" normalizeH="0" baseline="-3000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m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EFE91B99-9771-403F-80A6-7615D7EC5D86}"/>
                </a:ext>
              </a:extLst>
            </p:cNvPr>
            <p:cNvGrpSpPr/>
            <p:nvPr/>
          </p:nvGrpSpPr>
          <p:grpSpPr>
            <a:xfrm>
              <a:off x="991730" y="3585975"/>
              <a:ext cx="1713120" cy="1768268"/>
              <a:chOff x="667474" y="2803396"/>
              <a:chExt cx="1713120" cy="1768268"/>
            </a:xfrm>
          </p:grpSpPr>
          <p:sp>
            <p:nvSpPr>
              <p:cNvPr id="85" name="Rectangle 12">
                <a:extLst>
                  <a:ext uri="{FF2B5EF4-FFF2-40B4-BE49-F238E27FC236}">
                    <a16:creationId xmlns:a16="http://schemas.microsoft.com/office/drawing/2014/main" id="{003599C3-72C7-4631-8044-FCBAB7F9E1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4136" y="3716399"/>
                <a:ext cx="528350" cy="284105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rgbClr val="8E6CA7"/>
                </a:solidFill>
                <a:prstDash val="solid"/>
                <a:miter lim="800000"/>
              </a:ln>
              <a:effectLst/>
            </p:spPr>
            <p:txBody>
              <a:bodyPr vert="horz" wrap="square" lIns="0" tIns="0" rIns="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ea typeface="+mn-ea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2400" b="0" i="0" u="none" strike="noStrike" kern="0" cap="none" spc="0" normalizeH="0" baseline="-3000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ea typeface="+mn-ea"/>
                    <a:cs typeface="Consolas" panose="020B0609020204030204" pitchFamily="49" charset="0"/>
                  </a:rPr>
                  <a:t>1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endParaRPr>
              </a:p>
            </p:txBody>
          </p:sp>
          <p:sp>
            <p:nvSpPr>
              <p:cNvPr id="86" name="Rectangle 11">
                <a:extLst>
                  <a:ext uri="{FF2B5EF4-FFF2-40B4-BE49-F238E27FC236}">
                    <a16:creationId xmlns:a16="http://schemas.microsoft.com/office/drawing/2014/main" id="{301069C7-408A-44B2-8423-B48F4F51A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4136" y="3432294"/>
                <a:ext cx="528350" cy="284105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rgbClr val="8E6CA7"/>
                </a:solidFill>
                <a:prstDash val="solid"/>
                <a:miter lim="800000"/>
              </a:ln>
              <a:effectLst/>
            </p:spPr>
            <p:txBody>
              <a:bodyPr vert="horz" wrap="square" lIns="0" tIns="0" rIns="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ea typeface="+mn-ea"/>
                    <a:cs typeface="Consolas" panose="020B0609020204030204" pitchFamily="49" charset="0"/>
                  </a:rPr>
                  <a:t>…</a:t>
                </a:r>
              </a:p>
            </p:txBody>
          </p:sp>
          <p:sp>
            <p:nvSpPr>
              <p:cNvPr id="87" name="Rectangle 10">
                <a:extLst>
                  <a:ext uri="{FF2B5EF4-FFF2-40B4-BE49-F238E27FC236}">
                    <a16:creationId xmlns:a16="http://schemas.microsoft.com/office/drawing/2014/main" id="{46FB1DFE-86D6-4988-8CA6-530CF2DD2E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4136" y="3141503"/>
                <a:ext cx="528350" cy="298644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rgbClr val="8E6CA7"/>
                </a:solidFill>
                <a:prstDash val="solid"/>
                <a:miter lim="800000"/>
              </a:ln>
              <a:effectLst/>
            </p:spPr>
            <p:txBody>
              <a:bodyPr vert="horz" wrap="square" lIns="0" tIns="0" rIns="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ea typeface="+mn-ea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2400" b="0" i="1" u="none" strike="noStrike" kern="0" cap="none" spc="0" normalizeH="0" baseline="-3000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ea typeface="+mn-ea"/>
                    <a:cs typeface="Consolas" panose="020B0609020204030204" pitchFamily="49" charset="0"/>
                  </a:rPr>
                  <a:t>m</a:t>
                </a:r>
                <a:r>
                  <a:rPr kumimoji="0" lang="en-US" altLang="zh-CN" sz="2400" b="0" i="0" u="none" strike="noStrike" kern="0" cap="none" spc="0" normalizeH="0" baseline="-3000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ea typeface="+mn-ea"/>
                    <a:cs typeface="Consolas" panose="020B0609020204030204" pitchFamily="49" charset="0"/>
                  </a:rPr>
                  <a:t>-1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endParaRPr>
              </a:p>
            </p:txBody>
          </p:sp>
          <p:sp>
            <p:nvSpPr>
              <p:cNvPr id="88" name="Rectangle 7">
                <a:extLst>
                  <a:ext uri="{FF2B5EF4-FFF2-40B4-BE49-F238E27FC236}">
                    <a16:creationId xmlns:a16="http://schemas.microsoft.com/office/drawing/2014/main" id="{492D605E-67CB-4F59-8E9C-694632B048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7042" y="3760897"/>
                <a:ext cx="527372" cy="23960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ea typeface="+mn-ea"/>
                  </a:rPr>
                  <a:t>栈底</a:t>
                </a:r>
              </a:p>
            </p:txBody>
          </p:sp>
          <p:sp>
            <p:nvSpPr>
              <p:cNvPr id="89" name="Rectangle 6">
                <a:extLst>
                  <a:ext uri="{FF2B5EF4-FFF2-40B4-BE49-F238E27FC236}">
                    <a16:creationId xmlns:a16="http://schemas.microsoft.com/office/drawing/2014/main" id="{B0F44419-BDBF-4FB2-99EF-36C0D4CA84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7474" y="2803396"/>
                <a:ext cx="527372" cy="23960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ea typeface="+mn-ea"/>
                  </a:rPr>
                  <a:t>栈顶</a:t>
                </a:r>
              </a:p>
              <a:p>
                <a:pPr marL="0" marR="0" lvl="0" indent="0" defTabSz="91440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endParaRPr>
              </a:p>
            </p:txBody>
          </p:sp>
          <p:sp>
            <p:nvSpPr>
              <p:cNvPr id="90" name="Rectangle 5">
                <a:extLst>
                  <a:ext uri="{FF2B5EF4-FFF2-40B4-BE49-F238E27FC236}">
                    <a16:creationId xmlns:a16="http://schemas.microsoft.com/office/drawing/2014/main" id="{C9F4792F-7AED-4A2F-9487-80E598410D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304" y="4074256"/>
                <a:ext cx="1630290" cy="497408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ea typeface="+mn-ea"/>
                  </a:rPr>
                  <a:t>栈中的结点</a:t>
                </a:r>
                <a:endParaRPr kumimoji="1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ea typeface="+mn-ea"/>
                  </a:rPr>
                  <a:t>均</a:t>
                </a: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ea"/>
                    <a:ea typeface="+mn-ea"/>
                  </a:rPr>
                  <a:t>未</a:t>
                </a:r>
                <a:r>
                  <a:rPr kumimoji="1" lang="zh-CN" altLang="en-US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ea typeface="+mn-ea"/>
                  </a:rPr>
                  <a:t>访问</a:t>
                </a:r>
              </a:p>
            </p:txBody>
          </p:sp>
        </p:grp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96C344BE-478C-4C8A-9E7D-494A30AFD124}"/>
              </a:ext>
            </a:extLst>
          </p:cNvPr>
          <p:cNvGrpSpPr/>
          <p:nvPr/>
        </p:nvGrpSpPr>
        <p:grpSpPr>
          <a:xfrm>
            <a:off x="2070924" y="800852"/>
            <a:ext cx="3090591" cy="3276506"/>
            <a:chOff x="2070924" y="800852"/>
            <a:chExt cx="3090591" cy="3276506"/>
          </a:xfrm>
        </p:grpSpPr>
        <p:sp>
          <p:nvSpPr>
            <p:cNvPr id="92" name="Rectangle 37">
              <a:extLst>
                <a:ext uri="{FF2B5EF4-FFF2-40B4-BE49-F238E27FC236}">
                  <a16:creationId xmlns:a16="http://schemas.microsoft.com/office/drawing/2014/main" id="{7BF77F7F-8A1B-473C-88A0-337B1104E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6876" y="2645582"/>
              <a:ext cx="287655" cy="17612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…</a:t>
              </a:r>
            </a:p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93" name="Rectangle 36">
              <a:extLst>
                <a:ext uri="{FF2B5EF4-FFF2-40B4-BE49-F238E27FC236}">
                  <a16:creationId xmlns:a16="http://schemas.microsoft.com/office/drawing/2014/main" id="{218FFDB0-75F7-4879-A2C3-91F37F6B1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810" y="2287372"/>
              <a:ext cx="550829" cy="2537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……</a:t>
              </a:r>
            </a:p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94" name="Freeform 35">
              <a:extLst>
                <a:ext uri="{FF2B5EF4-FFF2-40B4-BE49-F238E27FC236}">
                  <a16:creationId xmlns:a16="http://schemas.microsoft.com/office/drawing/2014/main" id="{3997F0EE-2EFF-4800-9DCC-1CBA29851980}"/>
                </a:ext>
              </a:extLst>
            </p:cNvPr>
            <p:cNvSpPr/>
            <p:nvPr/>
          </p:nvSpPr>
          <p:spPr bwMode="auto">
            <a:xfrm>
              <a:off x="2905210" y="2928170"/>
              <a:ext cx="381500" cy="4378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74" y="440"/>
                </a:cxn>
              </a:cxnLst>
              <a:rect l="0" t="0" r="r" b="b"/>
              <a:pathLst>
                <a:path w="374" h="440">
                  <a:moveTo>
                    <a:pt x="0" y="0"/>
                  </a:moveTo>
                  <a:lnTo>
                    <a:pt x="374" y="44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95" name="Freeform 34">
              <a:extLst>
                <a:ext uri="{FF2B5EF4-FFF2-40B4-BE49-F238E27FC236}">
                  <a16:creationId xmlns:a16="http://schemas.microsoft.com/office/drawing/2014/main" id="{AF750AC3-90EF-40A4-AD13-0366A6686B2B}"/>
                </a:ext>
              </a:extLst>
            </p:cNvPr>
            <p:cNvSpPr/>
            <p:nvPr/>
          </p:nvSpPr>
          <p:spPr bwMode="auto">
            <a:xfrm>
              <a:off x="2781785" y="2450557"/>
              <a:ext cx="261134" cy="362190"/>
            </a:xfrm>
            <a:custGeom>
              <a:avLst/>
              <a:gdLst/>
              <a:ahLst/>
              <a:cxnLst>
                <a:cxn ang="0">
                  <a:pos x="255" y="0"/>
                </a:cxn>
                <a:cxn ang="0">
                  <a:pos x="0" y="363"/>
                </a:cxn>
              </a:cxnLst>
              <a:rect l="0" t="0" r="r" b="b"/>
              <a:pathLst>
                <a:path w="255" h="363">
                  <a:moveTo>
                    <a:pt x="255" y="0"/>
                  </a:moveTo>
                  <a:lnTo>
                    <a:pt x="0" y="36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96" name="Freeform 33">
              <a:extLst>
                <a:ext uri="{FF2B5EF4-FFF2-40B4-BE49-F238E27FC236}">
                  <a16:creationId xmlns:a16="http://schemas.microsoft.com/office/drawing/2014/main" id="{C5EDBD47-7A64-4871-8A66-87DFEA085D20}"/>
                </a:ext>
              </a:extLst>
            </p:cNvPr>
            <p:cNvSpPr/>
            <p:nvPr/>
          </p:nvSpPr>
          <p:spPr bwMode="auto">
            <a:xfrm>
              <a:off x="3581506" y="1459508"/>
              <a:ext cx="237672" cy="318409"/>
            </a:xfrm>
            <a:custGeom>
              <a:avLst/>
              <a:gdLst/>
              <a:ahLst/>
              <a:cxnLst>
                <a:cxn ang="0">
                  <a:pos x="233" y="0"/>
                </a:cxn>
                <a:cxn ang="0">
                  <a:pos x="0" y="320"/>
                </a:cxn>
              </a:cxnLst>
              <a:rect l="0" t="0" r="r" b="b"/>
              <a:pathLst>
                <a:path w="233" h="320">
                  <a:moveTo>
                    <a:pt x="233" y="0"/>
                  </a:moveTo>
                  <a:lnTo>
                    <a:pt x="0" y="32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97" name="Oval 32">
              <a:extLst>
                <a:ext uri="{FF2B5EF4-FFF2-40B4-BE49-F238E27FC236}">
                  <a16:creationId xmlns:a16="http://schemas.microsoft.com/office/drawing/2014/main" id="{53BB6120-0ECC-4169-BC04-302E7B211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9614" y="1163628"/>
              <a:ext cx="462085" cy="365175"/>
            </a:xfrm>
            <a:prstGeom prst="ellipse">
              <a:avLst/>
            </a:prstGeom>
            <a:solidFill>
              <a:srgbClr val="FFC000"/>
            </a:solidFill>
            <a:ln w="6350" cap="flat" cmpd="sng" algn="ctr">
              <a:solidFill>
                <a:srgbClr val="8E6CA7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a</a:t>
              </a:r>
              <a:r>
                <a:rPr kumimoji="0" lang="en-US" altLang="zh-CN" sz="2400" b="0" i="0" u="none" strike="noStrike" kern="0" cap="none" spc="0" normalizeH="0" baseline="-3000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1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98" name="Oval 31">
              <a:extLst>
                <a:ext uri="{FF2B5EF4-FFF2-40B4-BE49-F238E27FC236}">
                  <a16:creationId xmlns:a16="http://schemas.microsoft.com/office/drawing/2014/main" id="{346E75FC-2FBF-4DBA-B169-4828F9151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6672" y="2165382"/>
              <a:ext cx="869762" cy="310449"/>
            </a:xfrm>
            <a:prstGeom prst="ellipse">
              <a:avLst/>
            </a:prstGeom>
            <a:solidFill>
              <a:srgbClr val="FFC000"/>
            </a:solidFill>
            <a:ln w="6350" cap="flat" cmpd="sng" algn="ctr">
              <a:solidFill>
                <a:srgbClr val="8E6CA7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a</a:t>
              </a:r>
              <a:r>
                <a:rPr kumimoji="0" lang="en-US" altLang="zh-CN" sz="2400" b="0" i="1" u="none" strike="noStrike" kern="0" cap="none" spc="0" normalizeH="0" baseline="-3000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m</a:t>
              </a:r>
              <a:r>
                <a:rPr kumimoji="0" lang="en-US" altLang="zh-CN" sz="2400" b="0" i="0" u="none" strike="noStrike" kern="0" cap="none" spc="0" normalizeH="0" baseline="-3000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-1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  <a:p>
              <a:pPr marL="0" marR="0" lvl="0" indent="0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99" name="Oval 30">
              <a:extLst>
                <a:ext uri="{FF2B5EF4-FFF2-40B4-BE49-F238E27FC236}">
                  <a16:creationId xmlns:a16="http://schemas.microsoft.com/office/drawing/2014/main" id="{45A5FEFB-8005-4BC0-B90E-3B2DC3F31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5195" y="1814732"/>
              <a:ext cx="367219" cy="310449"/>
            </a:xfrm>
            <a:prstGeom prst="ellipse">
              <a:avLst/>
            </a:prstGeom>
            <a:solidFill>
              <a:srgbClr val="FFC000"/>
            </a:solidFill>
            <a:ln w="6350" cap="flat" cmpd="sng" algn="ctr">
              <a:solidFill>
                <a:srgbClr val="8E6CA7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00" name="Oval 29">
              <a:extLst>
                <a:ext uri="{FF2B5EF4-FFF2-40B4-BE49-F238E27FC236}">
                  <a16:creationId xmlns:a16="http://schemas.microsoft.com/office/drawing/2014/main" id="{BBB427C2-4A43-43BC-BA39-B65981240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3768" y="2678417"/>
              <a:ext cx="523845" cy="375184"/>
            </a:xfrm>
            <a:prstGeom prst="ellipse">
              <a:avLst/>
            </a:prstGeom>
            <a:solidFill>
              <a:srgbClr val="FFC000"/>
            </a:solidFill>
            <a:ln w="6350" cap="flat" cmpd="sng" algn="ctr">
              <a:solidFill>
                <a:srgbClr val="AE96C0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a</a:t>
              </a:r>
              <a:r>
                <a:rPr kumimoji="0" lang="en-US" altLang="zh-CN" sz="2400" b="0" i="1" u="none" strike="noStrike" kern="0" cap="none" spc="0" normalizeH="0" baseline="-3000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m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  <a:p>
              <a:pPr marL="0" marR="0" lvl="0" indent="0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01" name="Freeform 28">
              <a:extLst>
                <a:ext uri="{FF2B5EF4-FFF2-40B4-BE49-F238E27FC236}">
                  <a16:creationId xmlns:a16="http://schemas.microsoft.com/office/drawing/2014/main" id="{B6E7B8D1-A047-4753-9289-5DA8BF330926}"/>
                </a:ext>
              </a:extLst>
            </p:cNvPr>
            <p:cNvSpPr/>
            <p:nvPr/>
          </p:nvSpPr>
          <p:spPr bwMode="auto">
            <a:xfrm>
              <a:off x="4053790" y="1529160"/>
              <a:ext cx="229512" cy="2895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5" y="292"/>
                </a:cxn>
              </a:cxnLst>
              <a:rect l="0" t="0" r="r" b="b"/>
              <a:pathLst>
                <a:path w="225" h="292">
                  <a:moveTo>
                    <a:pt x="0" y="0"/>
                  </a:moveTo>
                  <a:lnTo>
                    <a:pt x="225" y="29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02" name="Oval 27">
              <a:extLst>
                <a:ext uri="{FF2B5EF4-FFF2-40B4-BE49-F238E27FC236}">
                  <a16:creationId xmlns:a16="http://schemas.microsoft.com/office/drawing/2014/main" id="{457D65D7-6402-40AB-AB11-567F258D1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9222" y="3182896"/>
              <a:ext cx="367219" cy="310449"/>
            </a:xfrm>
            <a:prstGeom prst="ellipse">
              <a:avLst/>
            </a:prstGeom>
            <a:solidFill>
              <a:srgbClr val="FFC000"/>
            </a:solidFill>
            <a:ln w="6350" cap="flat" cmpd="sng" algn="ctr">
              <a:solidFill>
                <a:srgbClr val="8E6CA7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03" name="Rectangle 26">
              <a:extLst>
                <a:ext uri="{FF2B5EF4-FFF2-40B4-BE49-F238E27FC236}">
                  <a16:creationId xmlns:a16="http://schemas.microsoft.com/office/drawing/2014/main" id="{DF4A2F17-C8DC-45FF-B15D-B16FF1763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2395" y="1740284"/>
              <a:ext cx="253993" cy="2537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…</a:t>
              </a:r>
            </a:p>
          </p:txBody>
        </p:sp>
        <p:sp>
          <p:nvSpPr>
            <p:cNvPr id="104" name="Rectangle 25">
              <a:extLst>
                <a:ext uri="{FF2B5EF4-FFF2-40B4-BE49-F238E27FC236}">
                  <a16:creationId xmlns:a16="http://schemas.microsoft.com/office/drawing/2014/main" id="{B9ABB0E0-4ECF-499E-A5AD-9BF74DD39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9601" y="800852"/>
              <a:ext cx="253993" cy="2537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r</a:t>
              </a:r>
            </a:p>
          </p:txBody>
        </p:sp>
        <p:sp>
          <p:nvSpPr>
            <p:cNvPr id="105" name="Freeform 22">
              <a:extLst>
                <a:ext uri="{FF2B5EF4-FFF2-40B4-BE49-F238E27FC236}">
                  <a16:creationId xmlns:a16="http://schemas.microsoft.com/office/drawing/2014/main" id="{C8A1D64D-3141-4CEE-82C3-629A06927718}"/>
                </a:ext>
              </a:extLst>
            </p:cNvPr>
            <p:cNvSpPr/>
            <p:nvPr/>
          </p:nvSpPr>
          <p:spPr bwMode="auto">
            <a:xfrm>
              <a:off x="3246928" y="2003788"/>
              <a:ext cx="153008" cy="195025"/>
            </a:xfrm>
            <a:custGeom>
              <a:avLst/>
              <a:gdLst/>
              <a:ahLst/>
              <a:cxnLst>
                <a:cxn ang="0">
                  <a:pos x="150" y="0"/>
                </a:cxn>
                <a:cxn ang="0">
                  <a:pos x="0" y="196"/>
                </a:cxn>
              </a:cxnLst>
              <a:rect l="0" t="0" r="r" b="b"/>
              <a:pathLst>
                <a:path w="150" h="196">
                  <a:moveTo>
                    <a:pt x="150" y="0"/>
                  </a:moveTo>
                  <a:lnTo>
                    <a:pt x="0" y="19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06" name="Freeform 21">
              <a:extLst>
                <a:ext uri="{FF2B5EF4-FFF2-40B4-BE49-F238E27FC236}">
                  <a16:creationId xmlns:a16="http://schemas.microsoft.com/office/drawing/2014/main" id="{B847E90F-25E4-4D83-99F4-2FDBE9CF12B6}"/>
                </a:ext>
              </a:extLst>
            </p:cNvPr>
            <p:cNvSpPr/>
            <p:nvPr/>
          </p:nvSpPr>
          <p:spPr bwMode="auto">
            <a:xfrm>
              <a:off x="4428150" y="2087370"/>
              <a:ext cx="99965" cy="17910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9" y="180"/>
                </a:cxn>
              </a:cxnLst>
              <a:rect l="0" t="0" r="r" b="b"/>
              <a:pathLst>
                <a:path w="99" h="180">
                  <a:moveTo>
                    <a:pt x="0" y="0"/>
                  </a:moveTo>
                  <a:lnTo>
                    <a:pt x="99" y="18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07" name="Freeform 20">
              <a:extLst>
                <a:ext uri="{FF2B5EF4-FFF2-40B4-BE49-F238E27FC236}">
                  <a16:creationId xmlns:a16="http://schemas.microsoft.com/office/drawing/2014/main" id="{ECE9DABA-338B-4C92-8748-629593367F9D}"/>
                </a:ext>
              </a:extLst>
            </p:cNvPr>
            <p:cNvSpPr/>
            <p:nvPr/>
          </p:nvSpPr>
          <p:spPr bwMode="auto">
            <a:xfrm>
              <a:off x="4094593" y="2093341"/>
              <a:ext cx="107106" cy="197016"/>
            </a:xfrm>
            <a:custGeom>
              <a:avLst/>
              <a:gdLst/>
              <a:ahLst/>
              <a:cxnLst>
                <a:cxn ang="0">
                  <a:pos x="105" y="0"/>
                </a:cxn>
                <a:cxn ang="0">
                  <a:pos x="0" y="198"/>
                </a:cxn>
              </a:cxnLst>
              <a:rect l="0" t="0" r="r" b="b"/>
              <a:pathLst>
                <a:path w="105" h="198">
                  <a:moveTo>
                    <a:pt x="105" y="0"/>
                  </a:moveTo>
                  <a:lnTo>
                    <a:pt x="0" y="19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08" name="Freeform 19">
              <a:extLst>
                <a:ext uri="{FF2B5EF4-FFF2-40B4-BE49-F238E27FC236}">
                  <a16:creationId xmlns:a16="http://schemas.microsoft.com/office/drawing/2014/main" id="{E9E271A6-74A6-4435-BD91-2739F7129737}"/>
                </a:ext>
              </a:extLst>
            </p:cNvPr>
            <p:cNvSpPr/>
            <p:nvPr/>
          </p:nvSpPr>
          <p:spPr bwMode="auto">
            <a:xfrm>
              <a:off x="3386135" y="2485518"/>
              <a:ext cx="116287" cy="1641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4" y="165"/>
                </a:cxn>
              </a:cxnLst>
              <a:rect l="0" t="0" r="r" b="b"/>
              <a:pathLst>
                <a:path w="114" h="165">
                  <a:moveTo>
                    <a:pt x="0" y="0"/>
                  </a:moveTo>
                  <a:lnTo>
                    <a:pt x="114" y="16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09" name="Rectangle 18">
              <a:extLst>
                <a:ext uri="{FF2B5EF4-FFF2-40B4-BE49-F238E27FC236}">
                  <a16:creationId xmlns:a16="http://schemas.microsoft.com/office/drawing/2014/main" id="{CD8C40AD-84ED-44AA-8B53-F9F79D001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9921" y="3724287"/>
              <a:ext cx="550829" cy="25472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……</a:t>
              </a:r>
            </a:p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0" name="Freeform 17">
              <a:extLst>
                <a:ext uri="{FF2B5EF4-FFF2-40B4-BE49-F238E27FC236}">
                  <a16:creationId xmlns:a16="http://schemas.microsoft.com/office/drawing/2014/main" id="{839FF12E-1934-4630-9E00-F2E344AFB3D8}"/>
                </a:ext>
              </a:extLst>
            </p:cNvPr>
            <p:cNvSpPr/>
            <p:nvPr/>
          </p:nvSpPr>
          <p:spPr bwMode="auto">
            <a:xfrm>
              <a:off x="3402996" y="3460509"/>
              <a:ext cx="94865" cy="1810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3" y="183"/>
                </a:cxn>
              </a:cxnLst>
              <a:rect l="0" t="0" r="r" b="b"/>
              <a:pathLst>
                <a:path w="93" h="183">
                  <a:moveTo>
                    <a:pt x="0" y="0"/>
                  </a:moveTo>
                  <a:lnTo>
                    <a:pt x="93" y="18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1" name="Freeform 16">
              <a:extLst>
                <a:ext uri="{FF2B5EF4-FFF2-40B4-BE49-F238E27FC236}">
                  <a16:creationId xmlns:a16="http://schemas.microsoft.com/office/drawing/2014/main" id="{630C3884-39BD-4162-B013-D394315A4DD1}"/>
                </a:ext>
              </a:extLst>
            </p:cNvPr>
            <p:cNvSpPr/>
            <p:nvPr/>
          </p:nvSpPr>
          <p:spPr bwMode="auto">
            <a:xfrm>
              <a:off x="3069439" y="3465486"/>
              <a:ext cx="108125" cy="198010"/>
            </a:xfrm>
            <a:custGeom>
              <a:avLst/>
              <a:gdLst/>
              <a:ahLst/>
              <a:cxnLst>
                <a:cxn ang="0">
                  <a:pos x="105" y="0"/>
                </a:cxn>
                <a:cxn ang="0">
                  <a:pos x="0" y="198"/>
                </a:cxn>
              </a:cxnLst>
              <a:rect l="0" t="0" r="r" b="b"/>
              <a:pathLst>
                <a:path w="105" h="198">
                  <a:moveTo>
                    <a:pt x="105" y="0"/>
                  </a:moveTo>
                  <a:lnTo>
                    <a:pt x="0" y="19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CD9D2682-D5AB-4EF2-A7BC-581F2CD5ABC3}"/>
                </a:ext>
              </a:extLst>
            </p:cNvPr>
            <p:cNvGrpSpPr/>
            <p:nvPr/>
          </p:nvGrpSpPr>
          <p:grpSpPr>
            <a:xfrm>
              <a:off x="3479379" y="2832618"/>
              <a:ext cx="1682136" cy="405978"/>
              <a:chOff x="3884345" y="3132242"/>
              <a:chExt cx="1613490" cy="383377"/>
            </a:xfrm>
          </p:grpSpPr>
          <p:sp>
            <p:nvSpPr>
              <p:cNvPr id="119" name="Rectangle 24">
                <a:extLst>
                  <a:ext uri="{FF2B5EF4-FFF2-40B4-BE49-F238E27FC236}">
                    <a16:creationId xmlns:a16="http://schemas.microsoft.com/office/drawing/2014/main" id="{AD6CECB6-77C1-46FE-B5D4-0A56A1A02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1859" y="3132242"/>
                <a:ext cx="1455976" cy="38337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ea typeface="+mn-ea"/>
                    <a:cs typeface="Consolas" panose="020B0609020204030204" pitchFamily="49" charset="0"/>
                  </a:rPr>
                  <a:t>p-&gt;</a:t>
                </a:r>
                <a:r>
                  <a:rPr kumimoji="0" lang="en-US" altLang="zh-CN" sz="2400" b="0" i="0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+mn-ea"/>
                    <a:ea typeface="+mn-ea"/>
                    <a:cs typeface="Consolas" panose="020B0609020204030204" pitchFamily="49" charset="0"/>
                  </a:rPr>
                  <a:t>rchild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endParaRPr>
              </a:p>
            </p:txBody>
          </p:sp>
          <p:sp>
            <p:nvSpPr>
              <p:cNvPr id="120" name="Freeform 15">
                <a:extLst>
                  <a:ext uri="{FF2B5EF4-FFF2-40B4-BE49-F238E27FC236}">
                    <a16:creationId xmlns:a16="http://schemas.microsoft.com/office/drawing/2014/main" id="{AE5C5F31-CC6D-4E10-B1FA-798ED02440E7}"/>
                  </a:ext>
                </a:extLst>
              </p:cNvPr>
              <p:cNvSpPr/>
              <p:nvPr/>
            </p:nvSpPr>
            <p:spPr bwMode="auto">
              <a:xfrm>
                <a:off x="3884345" y="3329849"/>
                <a:ext cx="167311" cy="174772"/>
              </a:xfrm>
              <a:custGeom>
                <a:avLst/>
                <a:gdLst/>
                <a:ahLst/>
                <a:cxnLst>
                  <a:cxn ang="0">
                    <a:pos x="171" y="0"/>
                  </a:cxn>
                  <a:cxn ang="0">
                    <a:pos x="0" y="186"/>
                  </a:cxn>
                </a:cxnLst>
                <a:rect l="0" t="0" r="r" b="b"/>
                <a:pathLst>
                  <a:path w="171" h="186">
                    <a:moveTo>
                      <a:pt x="171" y="0"/>
                    </a:moveTo>
                    <a:lnTo>
                      <a:pt x="0" y="186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425F32C6-4907-4439-A585-6568934A608A}"/>
                </a:ext>
              </a:extLst>
            </p:cNvPr>
            <p:cNvGrpSpPr/>
            <p:nvPr/>
          </p:nvGrpSpPr>
          <p:grpSpPr>
            <a:xfrm>
              <a:off x="2070924" y="2506382"/>
              <a:ext cx="457859" cy="291035"/>
              <a:chOff x="2533369" y="2824166"/>
              <a:chExt cx="439174" cy="274833"/>
            </a:xfrm>
          </p:grpSpPr>
          <p:sp>
            <p:nvSpPr>
              <p:cNvPr id="117" name="Rectangle 23">
                <a:extLst>
                  <a:ext uri="{FF2B5EF4-FFF2-40B4-BE49-F238E27FC236}">
                    <a16:creationId xmlns:a16="http://schemas.microsoft.com/office/drawing/2014/main" id="{38D922C6-3CF2-49E8-937E-26C24617AA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3369" y="2824166"/>
                <a:ext cx="243628" cy="23960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+mn-ea"/>
                    <a:ea typeface="+mn-ea"/>
                    <a:cs typeface="Consolas" panose="020B0609020204030204" pitchFamily="49" charset="0"/>
                  </a:rPr>
                  <a:t>p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endParaRPr>
              </a:p>
            </p:txBody>
          </p:sp>
          <p:sp>
            <p:nvSpPr>
              <p:cNvPr id="118" name="Line 13">
                <a:extLst>
                  <a:ext uri="{FF2B5EF4-FFF2-40B4-BE49-F238E27FC236}">
                    <a16:creationId xmlns:a16="http://schemas.microsoft.com/office/drawing/2014/main" id="{8C91D4AA-7073-4571-A09E-506B887D54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6426" y="3098059"/>
                <a:ext cx="176117" cy="94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114" name="Oval 4">
              <a:extLst>
                <a:ext uri="{FF2B5EF4-FFF2-40B4-BE49-F238E27FC236}">
                  <a16:creationId xmlns:a16="http://schemas.microsoft.com/office/drawing/2014/main" id="{59938A1D-7856-4FF7-AB0C-BBF6F1D43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6311" y="3103361"/>
              <a:ext cx="918049" cy="973997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19050">
              <a:solidFill>
                <a:srgbClr val="8E6CA7"/>
              </a:solidFill>
              <a:prstDash val="dash"/>
              <a:round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5" name="AutoShape 3">
              <a:extLst>
                <a:ext uri="{FF2B5EF4-FFF2-40B4-BE49-F238E27FC236}">
                  <a16:creationId xmlns:a16="http://schemas.microsoft.com/office/drawing/2014/main" id="{7D7CDCD2-F0A3-4005-B3A6-EDFFC5FB9F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4658" y="1051212"/>
              <a:ext cx="205031" cy="19204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116" name="Rectangle 2">
            <a:extLst>
              <a:ext uri="{FF2B5EF4-FFF2-40B4-BE49-F238E27FC236}">
                <a16:creationId xmlns:a16="http://schemas.microsoft.com/office/drawing/2014/main" id="{E2C2986A-EBDE-48A6-8083-B96F58746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5690" y="4120966"/>
            <a:ext cx="2332055" cy="157340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遍历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p-&gt;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rchild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子树的过程与遍历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r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的过程相似</a:t>
            </a:r>
          </a:p>
        </p:txBody>
      </p:sp>
      <p:sp>
        <p:nvSpPr>
          <p:cNvPr id="122" name="Rectangle 38">
            <a:extLst>
              <a:ext uri="{FF2B5EF4-FFF2-40B4-BE49-F238E27FC236}">
                <a16:creationId xmlns:a16="http://schemas.microsoft.com/office/drawing/2014/main" id="{DA84FEF6-FC94-4D49-9CB9-AC15876F1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5" y="792251"/>
            <a:ext cx="1938977" cy="155897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根结点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r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及左下结点：依次进栈但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不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访问</a:t>
            </a:r>
          </a:p>
        </p:txBody>
      </p: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5E916DEB-A8EA-4BCB-B2AD-DEE4D2A4E9CA}"/>
              </a:ext>
            </a:extLst>
          </p:cNvPr>
          <p:cNvCxnSpPr>
            <a:cxnSpLocks/>
          </p:cNvCxnSpPr>
          <p:nvPr/>
        </p:nvCxnSpPr>
        <p:spPr>
          <a:xfrm flipH="1">
            <a:off x="2456960" y="1202251"/>
            <a:ext cx="1031967" cy="1315181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miter lim="800000"/>
            <a:tailEnd type="arrow"/>
          </a:ln>
          <a:effectLst/>
        </p:spPr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258A52CF-17AD-4106-ABB7-268FD6F117B1}"/>
              </a:ext>
            </a:extLst>
          </p:cNvPr>
          <p:cNvCxnSpPr>
            <a:cxnSpLocks/>
          </p:cNvCxnSpPr>
          <p:nvPr/>
        </p:nvCxnSpPr>
        <p:spPr>
          <a:xfrm>
            <a:off x="5149701" y="836712"/>
            <a:ext cx="34223" cy="5091163"/>
          </a:xfrm>
          <a:prstGeom prst="line">
            <a:avLst/>
          </a:prstGeom>
          <a:noFill/>
          <a:ln w="19050" cap="flat" cmpd="sng" algn="ctr">
            <a:solidFill>
              <a:srgbClr val="7030A0"/>
            </a:solidFill>
            <a:prstDash val="solid"/>
            <a:miter lim="800000"/>
          </a:ln>
          <a:effectLst/>
        </p:spPr>
      </p:cxn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D2B9BA55-D88D-4A17-9259-7819FDB77482}"/>
              </a:ext>
            </a:extLst>
          </p:cNvPr>
          <p:cNvGrpSpPr/>
          <p:nvPr/>
        </p:nvGrpSpPr>
        <p:grpSpPr>
          <a:xfrm>
            <a:off x="5297451" y="3025975"/>
            <a:ext cx="2303855" cy="1619473"/>
            <a:chOff x="4183452" y="4214184"/>
            <a:chExt cx="2303855" cy="1619473"/>
          </a:xfrm>
        </p:grpSpPr>
        <p:sp>
          <p:nvSpPr>
            <p:cNvPr id="126" name="Rectangle 2">
              <a:extLst>
                <a:ext uri="{FF2B5EF4-FFF2-40B4-BE49-F238E27FC236}">
                  <a16:creationId xmlns:a16="http://schemas.microsoft.com/office/drawing/2014/main" id="{A14BC5B2-31AB-46BE-8D8F-4EAFF8C235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3452" y="4689178"/>
              <a:ext cx="2142369" cy="1144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rPr>
                <a:t>若结点 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rPr>
                <a:t>p </a:t>
              </a: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rPr>
                <a:t>可以访问：出栈结点 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rPr>
                <a:t>p </a:t>
              </a: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rPr>
                <a:t>并访问之，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rPr>
                <a:t>…</a:t>
              </a:r>
              <a:endPara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A58D5EB6-4927-4FE3-B8A7-E88E4A542BA0}"/>
                </a:ext>
              </a:extLst>
            </p:cNvPr>
            <p:cNvCxnSpPr/>
            <p:nvPr/>
          </p:nvCxnSpPr>
          <p:spPr>
            <a:xfrm flipH="1">
              <a:off x="5879605" y="4214184"/>
              <a:ext cx="607702" cy="514175"/>
            </a:xfrm>
            <a:prstGeom prst="lin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  <a:tailEnd type="none"/>
            </a:ln>
            <a:effectLst/>
          </p:spPr>
        </p:cxn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2D6ED742-9A78-46D1-93C3-A9B350A6CF13}"/>
              </a:ext>
            </a:extLst>
          </p:cNvPr>
          <p:cNvGrpSpPr/>
          <p:nvPr/>
        </p:nvGrpSpPr>
        <p:grpSpPr>
          <a:xfrm>
            <a:off x="6664389" y="818947"/>
            <a:ext cx="2427015" cy="2979976"/>
            <a:chOff x="4325300" y="2552432"/>
            <a:chExt cx="2427015" cy="2979976"/>
          </a:xfrm>
        </p:grpSpPr>
        <p:sp>
          <p:nvSpPr>
            <p:cNvPr id="129" name="Rectangle 37">
              <a:extLst>
                <a:ext uri="{FF2B5EF4-FFF2-40B4-BE49-F238E27FC236}">
                  <a16:creationId xmlns:a16="http://schemas.microsoft.com/office/drawing/2014/main" id="{13FDC0C9-063D-4882-8116-115D33E97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880" y="4273207"/>
              <a:ext cx="275916" cy="16631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…</a:t>
              </a:r>
            </a:p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30" name="Rectangle 36">
              <a:extLst>
                <a:ext uri="{FF2B5EF4-FFF2-40B4-BE49-F238E27FC236}">
                  <a16:creationId xmlns:a16="http://schemas.microsoft.com/office/drawing/2014/main" id="{073627FF-F133-4726-9B59-D27D582E2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3965" y="3934939"/>
              <a:ext cx="528350" cy="23960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……</a:t>
              </a:r>
            </a:p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687E0B3D-3318-4075-8B14-44A45EFABA00}"/>
                </a:ext>
              </a:extLst>
            </p:cNvPr>
            <p:cNvSpPr/>
            <p:nvPr/>
          </p:nvSpPr>
          <p:spPr bwMode="auto">
            <a:xfrm>
              <a:off x="5121279" y="4540064"/>
              <a:ext cx="365931" cy="41343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74" y="440"/>
                </a:cxn>
              </a:cxnLst>
              <a:rect l="0" t="0" r="r" b="b"/>
              <a:pathLst>
                <a:path w="374" h="440">
                  <a:moveTo>
                    <a:pt x="0" y="0"/>
                  </a:moveTo>
                  <a:lnTo>
                    <a:pt x="374" y="44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32" name="Freeform 34">
              <a:extLst>
                <a:ext uri="{FF2B5EF4-FFF2-40B4-BE49-F238E27FC236}">
                  <a16:creationId xmlns:a16="http://schemas.microsoft.com/office/drawing/2014/main" id="{4263F778-AC85-4CDC-98B0-0B12DC8DBC00}"/>
                </a:ext>
              </a:extLst>
            </p:cNvPr>
            <p:cNvSpPr/>
            <p:nvPr/>
          </p:nvSpPr>
          <p:spPr bwMode="auto">
            <a:xfrm>
              <a:off x="5002890" y="4089039"/>
              <a:ext cx="250477" cy="342027"/>
            </a:xfrm>
            <a:custGeom>
              <a:avLst/>
              <a:gdLst/>
              <a:ahLst/>
              <a:cxnLst>
                <a:cxn ang="0">
                  <a:pos x="255" y="0"/>
                </a:cxn>
                <a:cxn ang="0">
                  <a:pos x="0" y="363"/>
                </a:cxn>
              </a:cxnLst>
              <a:rect l="0" t="0" r="r" b="b"/>
              <a:pathLst>
                <a:path w="255" h="363">
                  <a:moveTo>
                    <a:pt x="255" y="0"/>
                  </a:moveTo>
                  <a:lnTo>
                    <a:pt x="0" y="36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33" name="Freeform 33">
              <a:extLst>
                <a:ext uri="{FF2B5EF4-FFF2-40B4-BE49-F238E27FC236}">
                  <a16:creationId xmlns:a16="http://schemas.microsoft.com/office/drawing/2014/main" id="{5BCBF7EB-2381-4DAA-89AD-B7F014016177}"/>
                </a:ext>
              </a:extLst>
            </p:cNvPr>
            <p:cNvSpPr/>
            <p:nvPr/>
          </p:nvSpPr>
          <p:spPr bwMode="auto">
            <a:xfrm>
              <a:off x="5769976" y="3153162"/>
              <a:ext cx="227973" cy="300683"/>
            </a:xfrm>
            <a:custGeom>
              <a:avLst/>
              <a:gdLst/>
              <a:ahLst/>
              <a:cxnLst>
                <a:cxn ang="0">
                  <a:pos x="233" y="0"/>
                </a:cxn>
                <a:cxn ang="0">
                  <a:pos x="0" y="320"/>
                </a:cxn>
              </a:cxnLst>
              <a:rect l="0" t="0" r="r" b="b"/>
              <a:pathLst>
                <a:path w="233" h="320">
                  <a:moveTo>
                    <a:pt x="233" y="0"/>
                  </a:moveTo>
                  <a:lnTo>
                    <a:pt x="0" y="32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34" name="Oval 32">
              <a:extLst>
                <a:ext uri="{FF2B5EF4-FFF2-40B4-BE49-F238E27FC236}">
                  <a16:creationId xmlns:a16="http://schemas.microsoft.com/office/drawing/2014/main" id="{0B652271-C6DC-4214-B83F-D333D9011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1632" y="2897113"/>
              <a:ext cx="506824" cy="364106"/>
            </a:xfrm>
            <a:prstGeom prst="ellipse">
              <a:avLst/>
            </a:prstGeom>
            <a:solidFill>
              <a:srgbClr val="FFC000"/>
            </a:solidFill>
            <a:ln w="6350" cap="flat" cmpd="sng" algn="ctr">
              <a:solidFill>
                <a:srgbClr val="8E6CA7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a</a:t>
              </a:r>
              <a:r>
                <a:rPr kumimoji="0" lang="en-US" altLang="zh-CN" sz="2400" b="0" i="0" u="none" strike="noStrike" kern="0" cap="none" spc="0" normalizeH="0" baseline="-30000" noProof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1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35" name="Oval 31">
              <a:extLst>
                <a:ext uri="{FF2B5EF4-FFF2-40B4-BE49-F238E27FC236}">
                  <a16:creationId xmlns:a16="http://schemas.microsoft.com/office/drawing/2014/main" id="{05962911-A851-4FBD-9B04-C6895D67C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9222" y="3792203"/>
              <a:ext cx="800352" cy="372006"/>
            </a:xfrm>
            <a:prstGeom prst="ellipse">
              <a:avLst/>
            </a:prstGeom>
            <a:solidFill>
              <a:srgbClr val="FFC000"/>
            </a:solidFill>
            <a:ln w="6350" cap="flat" cmpd="sng" algn="ctr">
              <a:solidFill>
                <a:srgbClr val="8E6CA7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a</a:t>
              </a:r>
              <a:r>
                <a:rPr kumimoji="0" lang="en-US" altLang="zh-CN" sz="2400" b="0" i="1" u="none" strike="noStrike" kern="0" cap="none" spc="0" normalizeH="0" baseline="-30000" noProof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m</a:t>
              </a:r>
              <a:r>
                <a:rPr kumimoji="0" lang="en-US" altLang="zh-CN" sz="2400" b="0" i="0" u="none" strike="noStrike" kern="0" cap="none" spc="0" normalizeH="0" baseline="-30000" noProof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-1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  <a:p>
              <a:pPr marL="0" marR="0" lvl="0" indent="0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36" name="Oval 30">
              <a:extLst>
                <a:ext uri="{FF2B5EF4-FFF2-40B4-BE49-F238E27FC236}">
                  <a16:creationId xmlns:a16="http://schemas.microsoft.com/office/drawing/2014/main" id="{64D202C2-224B-4548-BD22-67A7AE31E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1477" y="3488611"/>
              <a:ext cx="352233" cy="293166"/>
            </a:xfrm>
            <a:prstGeom prst="ellipse">
              <a:avLst/>
            </a:prstGeom>
            <a:solidFill>
              <a:srgbClr val="FFC000"/>
            </a:solidFill>
            <a:ln w="6350" cap="flat" cmpd="sng" algn="ctr">
              <a:solidFill>
                <a:srgbClr val="8E6CA7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37" name="Oval 29">
              <a:extLst>
                <a:ext uri="{FF2B5EF4-FFF2-40B4-BE49-F238E27FC236}">
                  <a16:creationId xmlns:a16="http://schemas.microsoft.com/office/drawing/2014/main" id="{88834DAB-EC80-4514-B3B3-0375F20CD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514" y="4304214"/>
              <a:ext cx="550853" cy="425056"/>
            </a:xfrm>
            <a:prstGeom prst="ellipse">
              <a:avLst/>
            </a:prstGeom>
            <a:solidFill>
              <a:srgbClr val="FFC000"/>
            </a:solidFill>
            <a:ln w="6350" cap="flat" cmpd="sng" algn="ctr">
              <a:solidFill>
                <a:srgbClr val="AE96C0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a</a:t>
              </a:r>
              <a:r>
                <a:rPr kumimoji="0" lang="en-US" altLang="zh-CN" sz="2400" b="0" i="1" u="none" strike="noStrike" kern="0" cap="none" spc="0" normalizeH="0" baseline="-3000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m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  <a:p>
              <a:pPr marL="0" marR="0" lvl="0" indent="0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38" name="Freeform 28">
              <a:extLst>
                <a:ext uri="{FF2B5EF4-FFF2-40B4-BE49-F238E27FC236}">
                  <a16:creationId xmlns:a16="http://schemas.microsoft.com/office/drawing/2014/main" id="{51C5831B-F219-4395-9DD9-DBCD79E69843}"/>
                </a:ext>
              </a:extLst>
            </p:cNvPr>
            <p:cNvSpPr/>
            <p:nvPr/>
          </p:nvSpPr>
          <p:spPr bwMode="auto">
            <a:xfrm>
              <a:off x="6222986" y="3218936"/>
              <a:ext cx="220146" cy="2734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5" y="292"/>
                </a:cxn>
              </a:cxnLst>
              <a:rect l="0" t="0" r="r" b="b"/>
              <a:pathLst>
                <a:path w="225" h="292">
                  <a:moveTo>
                    <a:pt x="0" y="0"/>
                  </a:moveTo>
                  <a:lnTo>
                    <a:pt x="225" y="29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39" name="Oval 27">
              <a:extLst>
                <a:ext uri="{FF2B5EF4-FFF2-40B4-BE49-F238E27FC236}">
                  <a16:creationId xmlns:a16="http://schemas.microsoft.com/office/drawing/2014/main" id="{EB2C924E-71EA-4527-837F-ED1D95407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6965" y="4780609"/>
              <a:ext cx="352233" cy="293166"/>
            </a:xfrm>
            <a:prstGeom prst="ellipse">
              <a:avLst/>
            </a:prstGeom>
            <a:solidFill>
              <a:srgbClr val="FFC000"/>
            </a:solidFill>
            <a:ln w="6350" cap="flat" cmpd="sng" algn="ctr">
              <a:solidFill>
                <a:srgbClr val="8E6CA7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40" name="Rectangle 26">
              <a:extLst>
                <a:ext uri="{FF2B5EF4-FFF2-40B4-BE49-F238E27FC236}">
                  <a16:creationId xmlns:a16="http://schemas.microsoft.com/office/drawing/2014/main" id="{762A92B3-BC2F-48FF-A4A4-EA5F34FAA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9398" y="3418307"/>
              <a:ext cx="243628" cy="23960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…</a:t>
              </a:r>
            </a:p>
          </p:txBody>
        </p:sp>
        <p:sp>
          <p:nvSpPr>
            <p:cNvPr id="141" name="Rectangle 25">
              <a:extLst>
                <a:ext uri="{FF2B5EF4-FFF2-40B4-BE49-F238E27FC236}">
                  <a16:creationId xmlns:a16="http://schemas.microsoft.com/office/drawing/2014/main" id="{14E1DD6D-644C-47B5-8F0D-3AE44D4A7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8204" y="2552432"/>
              <a:ext cx="243628" cy="23960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r</a:t>
              </a:r>
            </a:p>
          </p:txBody>
        </p:sp>
        <p:sp>
          <p:nvSpPr>
            <p:cNvPr id="142" name="Freeform 22">
              <a:extLst>
                <a:ext uri="{FF2B5EF4-FFF2-40B4-BE49-F238E27FC236}">
                  <a16:creationId xmlns:a16="http://schemas.microsoft.com/office/drawing/2014/main" id="{6B528C40-E7C3-43E4-8CD8-5B5B15E5CBE8}"/>
                </a:ext>
              </a:extLst>
            </p:cNvPr>
            <p:cNvSpPr/>
            <p:nvPr/>
          </p:nvSpPr>
          <p:spPr bwMode="auto">
            <a:xfrm>
              <a:off x="5449051" y="3667142"/>
              <a:ext cx="146764" cy="184168"/>
            </a:xfrm>
            <a:custGeom>
              <a:avLst/>
              <a:gdLst/>
              <a:ahLst/>
              <a:cxnLst>
                <a:cxn ang="0">
                  <a:pos x="150" y="0"/>
                </a:cxn>
                <a:cxn ang="0">
                  <a:pos x="0" y="196"/>
                </a:cxn>
              </a:cxnLst>
              <a:rect l="0" t="0" r="r" b="b"/>
              <a:pathLst>
                <a:path w="150" h="196">
                  <a:moveTo>
                    <a:pt x="150" y="0"/>
                  </a:moveTo>
                  <a:lnTo>
                    <a:pt x="0" y="19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43" name="Freeform 21">
              <a:extLst>
                <a:ext uri="{FF2B5EF4-FFF2-40B4-BE49-F238E27FC236}">
                  <a16:creationId xmlns:a16="http://schemas.microsoft.com/office/drawing/2014/main" id="{A19BC78E-3E2A-4654-A250-F638AA97F4D6}"/>
                </a:ext>
              </a:extLst>
            </p:cNvPr>
            <p:cNvSpPr/>
            <p:nvPr/>
          </p:nvSpPr>
          <p:spPr bwMode="auto">
            <a:xfrm>
              <a:off x="6582069" y="3746071"/>
              <a:ext cx="95886" cy="1691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9" y="180"/>
                </a:cxn>
              </a:cxnLst>
              <a:rect l="0" t="0" r="r" b="b"/>
              <a:pathLst>
                <a:path w="99" h="180">
                  <a:moveTo>
                    <a:pt x="0" y="0"/>
                  </a:moveTo>
                  <a:lnTo>
                    <a:pt x="99" y="18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44" name="Freeform 20">
              <a:extLst>
                <a:ext uri="{FF2B5EF4-FFF2-40B4-BE49-F238E27FC236}">
                  <a16:creationId xmlns:a16="http://schemas.microsoft.com/office/drawing/2014/main" id="{7082994D-9131-4ED1-BD6C-00D7B75B4862}"/>
                </a:ext>
              </a:extLst>
            </p:cNvPr>
            <p:cNvSpPr/>
            <p:nvPr/>
          </p:nvSpPr>
          <p:spPr bwMode="auto">
            <a:xfrm>
              <a:off x="6262124" y="3751709"/>
              <a:ext cx="102735" cy="186048"/>
            </a:xfrm>
            <a:custGeom>
              <a:avLst/>
              <a:gdLst/>
              <a:ahLst/>
              <a:cxnLst>
                <a:cxn ang="0">
                  <a:pos x="105" y="0"/>
                </a:cxn>
                <a:cxn ang="0">
                  <a:pos x="0" y="198"/>
                </a:cxn>
              </a:cxnLst>
              <a:rect l="0" t="0" r="r" b="b"/>
              <a:pathLst>
                <a:path w="105" h="198">
                  <a:moveTo>
                    <a:pt x="105" y="0"/>
                  </a:moveTo>
                  <a:lnTo>
                    <a:pt x="0" y="19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45" name="Freeform 19">
              <a:extLst>
                <a:ext uri="{FF2B5EF4-FFF2-40B4-BE49-F238E27FC236}">
                  <a16:creationId xmlns:a16="http://schemas.microsoft.com/office/drawing/2014/main" id="{150FAC7D-49D6-4901-94EB-069E750A3C74}"/>
                </a:ext>
              </a:extLst>
            </p:cNvPr>
            <p:cNvSpPr/>
            <p:nvPr/>
          </p:nvSpPr>
          <p:spPr bwMode="auto">
            <a:xfrm>
              <a:off x="5582578" y="4122054"/>
              <a:ext cx="111541" cy="1550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4" y="165"/>
                </a:cxn>
              </a:cxnLst>
              <a:rect l="0" t="0" r="r" b="b"/>
              <a:pathLst>
                <a:path w="114" h="165">
                  <a:moveTo>
                    <a:pt x="0" y="0"/>
                  </a:moveTo>
                  <a:lnTo>
                    <a:pt x="114" y="16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46" name="Rectangle 18">
              <a:extLst>
                <a:ext uri="{FF2B5EF4-FFF2-40B4-BE49-F238E27FC236}">
                  <a16:creationId xmlns:a16="http://schemas.microsoft.com/office/drawing/2014/main" id="{504094D0-B517-4323-8C38-ECAA7B968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1716" y="5291861"/>
              <a:ext cx="528350" cy="24054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rPr>
                <a:t>……</a:t>
              </a:r>
            </a:p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47" name="Freeform 17">
              <a:extLst>
                <a:ext uri="{FF2B5EF4-FFF2-40B4-BE49-F238E27FC236}">
                  <a16:creationId xmlns:a16="http://schemas.microsoft.com/office/drawing/2014/main" id="{696051BD-5F4F-4DF2-8850-91F4F0CD4E19}"/>
                </a:ext>
              </a:extLst>
            </p:cNvPr>
            <p:cNvSpPr/>
            <p:nvPr/>
          </p:nvSpPr>
          <p:spPr bwMode="auto">
            <a:xfrm>
              <a:off x="5598750" y="5042767"/>
              <a:ext cx="90994" cy="1710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3" y="183"/>
                </a:cxn>
              </a:cxnLst>
              <a:rect l="0" t="0" r="r" b="b"/>
              <a:pathLst>
                <a:path w="93" h="183">
                  <a:moveTo>
                    <a:pt x="0" y="0"/>
                  </a:moveTo>
                  <a:lnTo>
                    <a:pt x="93" y="18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48" name="Freeform 16">
              <a:extLst>
                <a:ext uri="{FF2B5EF4-FFF2-40B4-BE49-F238E27FC236}">
                  <a16:creationId xmlns:a16="http://schemas.microsoft.com/office/drawing/2014/main" id="{0F642E7B-CC3F-4D24-B79C-FA1BED5CBD20}"/>
                </a:ext>
              </a:extLst>
            </p:cNvPr>
            <p:cNvSpPr/>
            <p:nvPr/>
          </p:nvSpPr>
          <p:spPr bwMode="auto">
            <a:xfrm>
              <a:off x="5278806" y="5047467"/>
              <a:ext cx="103713" cy="186987"/>
            </a:xfrm>
            <a:custGeom>
              <a:avLst/>
              <a:gdLst/>
              <a:ahLst/>
              <a:cxnLst>
                <a:cxn ang="0">
                  <a:pos x="105" y="0"/>
                </a:cxn>
                <a:cxn ang="0">
                  <a:pos x="0" y="198"/>
                </a:cxn>
              </a:cxnLst>
              <a:rect l="0" t="0" r="r" b="b"/>
              <a:pathLst>
                <a:path w="105" h="198">
                  <a:moveTo>
                    <a:pt x="105" y="0"/>
                  </a:moveTo>
                  <a:lnTo>
                    <a:pt x="0" y="19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  <p:grpSp>
          <p:nvGrpSpPr>
            <p:cNvPr id="149" name="组合 148">
              <a:extLst>
                <a:ext uri="{FF2B5EF4-FFF2-40B4-BE49-F238E27FC236}">
                  <a16:creationId xmlns:a16="http://schemas.microsoft.com/office/drawing/2014/main" id="{B4D21BE3-FAB7-4552-9CB0-C42594D917BC}"/>
                </a:ext>
              </a:extLst>
            </p:cNvPr>
            <p:cNvGrpSpPr/>
            <p:nvPr/>
          </p:nvGrpSpPr>
          <p:grpSpPr>
            <a:xfrm>
              <a:off x="4325300" y="4267779"/>
              <a:ext cx="451572" cy="239607"/>
              <a:chOff x="2537630" y="2950189"/>
              <a:chExt cx="451572" cy="239607"/>
            </a:xfrm>
          </p:grpSpPr>
          <p:sp>
            <p:nvSpPr>
              <p:cNvPr id="151" name="Rectangle 23">
                <a:extLst>
                  <a:ext uri="{FF2B5EF4-FFF2-40B4-BE49-F238E27FC236}">
                    <a16:creationId xmlns:a16="http://schemas.microsoft.com/office/drawing/2014/main" id="{0E8CF932-303B-4383-9C68-557852F12F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7630" y="2950189"/>
                <a:ext cx="243628" cy="23960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+mn-ea"/>
                    <a:ea typeface="+mn-ea"/>
                    <a:cs typeface="Consolas" panose="020B0609020204030204" pitchFamily="49" charset="0"/>
                  </a:rPr>
                  <a:t>p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endParaRPr>
              </a:p>
            </p:txBody>
          </p:sp>
          <p:sp>
            <p:nvSpPr>
              <p:cNvPr id="152" name="Line 13">
                <a:extLst>
                  <a:ext uri="{FF2B5EF4-FFF2-40B4-BE49-F238E27FC236}">
                    <a16:creationId xmlns:a16="http://schemas.microsoft.com/office/drawing/2014/main" id="{FD42B843-FF29-44AE-BB2A-AB0CD6CD9E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3085" y="3134148"/>
                <a:ext cx="176117" cy="94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2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150" name="AutoShape 3">
              <a:extLst>
                <a:ext uri="{FF2B5EF4-FFF2-40B4-BE49-F238E27FC236}">
                  <a16:creationId xmlns:a16="http://schemas.microsoft.com/office/drawing/2014/main" id="{3633F070-AE98-48BC-BC54-6C7CB79795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1832" y="2795160"/>
              <a:ext cx="196664" cy="18135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154" name="Rectangle 38">
            <a:extLst>
              <a:ext uri="{FF2B5EF4-FFF2-40B4-BE49-F238E27FC236}">
                <a16:creationId xmlns:a16="http://schemas.microsoft.com/office/drawing/2014/main" id="{03E0CA84-18D7-4D2A-ABF4-766D26AC2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6681" y="789893"/>
            <a:ext cx="1855911" cy="159101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根结点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r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及左下结点：依次进栈但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不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访问</a:t>
            </a:r>
          </a:p>
        </p:txBody>
      </p: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8D648635-1930-4C75-AFBC-BCAA09E58D0C}"/>
              </a:ext>
            </a:extLst>
          </p:cNvPr>
          <p:cNvCxnSpPr>
            <a:cxnSpLocks/>
          </p:cNvCxnSpPr>
          <p:nvPr/>
        </p:nvCxnSpPr>
        <p:spPr>
          <a:xfrm flipH="1">
            <a:off x="6939844" y="1231662"/>
            <a:ext cx="1068443" cy="1335946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miter lim="800000"/>
            <a:tailEnd type="arrow"/>
          </a:ln>
          <a:effectLst/>
        </p:spPr>
      </p:cxnSp>
      <p:sp>
        <p:nvSpPr>
          <p:cNvPr id="246" name="文本框 245">
            <a:extLst>
              <a:ext uri="{FF2B5EF4-FFF2-40B4-BE49-F238E27FC236}">
                <a16:creationId xmlns:a16="http://schemas.microsoft.com/office/drawing/2014/main" id="{B1A79255-F022-4510-93F1-5AC0C201E551}"/>
              </a:ext>
            </a:extLst>
          </p:cNvPr>
          <p:cNvSpPr txBox="1"/>
          <p:nvPr/>
        </p:nvSpPr>
        <p:spPr>
          <a:xfrm>
            <a:off x="3744360" y="6119425"/>
            <a:ext cx="5188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如何判断结点 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 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是否可以访问？</a:t>
            </a:r>
          </a:p>
        </p:txBody>
      </p:sp>
    </p:spTree>
    <p:extLst>
      <p:ext uri="{BB962C8B-B14F-4D97-AF65-F5344CB8AC3E}">
        <p14:creationId xmlns:p14="http://schemas.microsoft.com/office/powerpoint/2010/main" val="220534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animBg="1"/>
      <p:bldP spid="154" grpId="0" animBg="1"/>
      <p:bldP spid="24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D6C332-8872-439F-A88E-292832CD4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后序遍历的非递归算法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F8AAC8-8D55-4C19-87D4-F42EB83BC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4"/>
            <a:ext cx="8642659" cy="5996863"/>
          </a:xfrm>
        </p:spPr>
        <p:txBody>
          <a:bodyPr/>
          <a:lstStyle/>
          <a:p>
            <a:r>
              <a:rPr lang="zh-CN" altLang="en-US" b="1" dirty="0"/>
              <a:t>前序：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中入栈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—&gt;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左入栈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—&gt;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左出栈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—&gt;</a:t>
            </a:r>
            <a:r>
              <a:rPr lang="zh-CN" altLang="en-US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中出栈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—&gt;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右入栈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—&gt;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右出栈</a:t>
            </a:r>
            <a:r>
              <a:rPr lang="zh-CN" altLang="en-US" dirty="0"/>
              <a:t>，在入栈时 </a:t>
            </a:r>
            <a:r>
              <a:rPr lang="en-US" altLang="zh-CN" dirty="0"/>
              <a:t>visit() </a:t>
            </a:r>
            <a:r>
              <a:rPr lang="zh-CN" altLang="en-US" dirty="0"/>
              <a:t>即可完成前序</a:t>
            </a:r>
          </a:p>
          <a:p>
            <a:r>
              <a:rPr lang="zh-CN" altLang="en-US" b="1" dirty="0"/>
              <a:t>中序：</a:t>
            </a:r>
            <a:r>
              <a:rPr lang="zh-CN" altLang="en-US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中入栈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—&gt;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左入栈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—&gt;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左出栈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—&gt;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中出栈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—&gt;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右入栈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—&gt;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右出栈</a:t>
            </a:r>
            <a:r>
              <a:rPr lang="zh-CN" altLang="en-US" dirty="0"/>
              <a:t>，在出栈时 </a:t>
            </a:r>
            <a:r>
              <a:rPr lang="en-US" altLang="zh-CN" dirty="0"/>
              <a:t>visit() </a:t>
            </a:r>
            <a:r>
              <a:rPr lang="zh-CN" altLang="en-US" dirty="0"/>
              <a:t>即可完成中序</a:t>
            </a:r>
            <a:endParaRPr lang="en-US" altLang="zh-CN" dirty="0"/>
          </a:p>
          <a:p>
            <a:r>
              <a:rPr lang="zh-CN" altLang="en-US" b="1" dirty="0"/>
              <a:t>后序：</a:t>
            </a:r>
            <a:r>
              <a:rPr lang="zh-CN" altLang="en-US" dirty="0"/>
              <a:t>只有访问完左右子树之后才能访问该结点。</a:t>
            </a:r>
            <a:endParaRPr lang="en-US" altLang="zh-CN" dirty="0"/>
          </a:p>
          <a:p>
            <a:pPr lvl="1"/>
            <a:r>
              <a:rPr lang="zh-CN" altLang="en-US" dirty="0"/>
              <a:t>方法一：每个结点两次出现在栈顶，第一次访问完左子树时不访问该结点，第二次访问完右子树时才访问，可以为</a:t>
            </a:r>
            <a:r>
              <a:rPr lang="zh-CN" altLang="en-US" dirty="0">
                <a:solidFill>
                  <a:srgbClr val="0000FF"/>
                </a:solidFill>
              </a:rPr>
              <a:t>每个结点配备一个标志位</a:t>
            </a:r>
            <a:r>
              <a:rPr lang="zh-CN" altLang="en-US" dirty="0"/>
              <a:t>，共同入栈。</a:t>
            </a:r>
            <a:endParaRPr lang="en-US" altLang="zh-CN" dirty="0"/>
          </a:p>
          <a:p>
            <a:pPr lvl="1"/>
            <a:r>
              <a:rPr lang="zh-CN" altLang="en-US" dirty="0"/>
              <a:t>方法二：结点可以被访问的条件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r>
              <a:rPr lang="zh-CN" altLang="en-US" dirty="0">
                <a:solidFill>
                  <a:srgbClr val="0000FF"/>
                </a:solidFill>
                <a:sym typeface="Wingdings" panose="05000000000000000000" pitchFamily="2" charset="2"/>
              </a:rPr>
              <a:t>该结点没有右孩子；或其右子结点是上一次访问的结点</a:t>
            </a:r>
            <a:r>
              <a:rPr lang="zh-CN" altLang="en-US" dirty="0">
                <a:sym typeface="Wingdings" panose="05000000000000000000" pitchFamily="2" charset="2"/>
              </a:rPr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241363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9038F-B11C-44A6-8DF2-36A35A87B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后序遍历的非递归算法</a:t>
            </a: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17D20B4E-61B7-4E59-8209-6D77B080B82D}"/>
              </a:ext>
            </a:extLst>
          </p:cNvPr>
          <p:cNvGrpSpPr/>
          <p:nvPr/>
        </p:nvGrpSpPr>
        <p:grpSpPr>
          <a:xfrm>
            <a:off x="2175912" y="3861048"/>
            <a:ext cx="1152526" cy="2271665"/>
            <a:chOff x="3000375" y="4226977"/>
            <a:chExt cx="1152526" cy="1824036"/>
          </a:xfrm>
        </p:grpSpPr>
        <p:sp>
          <p:nvSpPr>
            <p:cNvPr id="49" name="Line 17">
              <a:extLst>
                <a:ext uri="{FF2B5EF4-FFF2-40B4-BE49-F238E27FC236}">
                  <a16:creationId xmlns:a16="http://schemas.microsoft.com/office/drawing/2014/main" id="{489575F5-A738-491C-BBDB-347C1DC70A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375" y="4226977"/>
              <a:ext cx="0" cy="1800225"/>
            </a:xfrm>
            <a:prstGeom prst="line">
              <a:avLst/>
            </a:prstGeom>
            <a:noFill/>
            <a:ln w="38100" cap="flat" cmpd="sng" algn="ctr">
              <a:solidFill>
                <a:srgbClr val="4BACC6"/>
              </a:solidFill>
              <a:prstDash val="solid"/>
              <a:tailEnd type="none" w="med" len="lg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0" name="Line 18">
              <a:extLst>
                <a:ext uri="{FF2B5EF4-FFF2-40B4-BE49-F238E27FC236}">
                  <a16:creationId xmlns:a16="http://schemas.microsoft.com/office/drawing/2014/main" id="{205EA4FC-ED80-4837-9879-1A9855F412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2900" y="4226977"/>
              <a:ext cx="0" cy="1800225"/>
            </a:xfrm>
            <a:prstGeom prst="line">
              <a:avLst/>
            </a:prstGeom>
            <a:noFill/>
            <a:ln w="38100" cap="flat" cmpd="sng" algn="ctr">
              <a:solidFill>
                <a:srgbClr val="4BACC6"/>
              </a:solidFill>
              <a:prstDash val="solid"/>
              <a:tailEnd type="none" w="med" len="lg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1" name="Line 19">
              <a:extLst>
                <a:ext uri="{FF2B5EF4-FFF2-40B4-BE49-F238E27FC236}">
                  <a16:creationId xmlns:a16="http://schemas.microsoft.com/office/drawing/2014/main" id="{1F8971C3-F6AB-40BD-9BB8-75D9AFCD2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376" y="6051013"/>
              <a:ext cx="1152525" cy="0"/>
            </a:xfrm>
            <a:prstGeom prst="line">
              <a:avLst/>
            </a:prstGeom>
            <a:noFill/>
            <a:ln w="38100" cap="flat" cmpd="sng" algn="ctr">
              <a:solidFill>
                <a:srgbClr val="4BACC6"/>
              </a:solidFill>
              <a:prstDash val="solid"/>
              <a:tailEnd type="none" w="med" len="lg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52" name="Text Box 20">
            <a:extLst>
              <a:ext uri="{FF2B5EF4-FFF2-40B4-BE49-F238E27FC236}">
                <a16:creationId xmlns:a16="http://schemas.microsoft.com/office/drawing/2014/main" id="{616F6436-7A0D-4137-89C5-D1117F727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6157" y="6241555"/>
            <a:ext cx="1333715" cy="437043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b="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一个栈</a:t>
            </a:r>
          </a:p>
        </p:txBody>
      </p:sp>
      <p:sp>
        <p:nvSpPr>
          <p:cNvPr id="36" name="Line 4">
            <a:extLst>
              <a:ext uri="{FF2B5EF4-FFF2-40B4-BE49-F238E27FC236}">
                <a16:creationId xmlns:a16="http://schemas.microsoft.com/office/drawing/2014/main" id="{20E6C967-06AC-4F15-890B-39B0F5F5E9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3225" y="2988117"/>
            <a:ext cx="378530" cy="435263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37" name="Line 5">
            <a:extLst>
              <a:ext uri="{FF2B5EF4-FFF2-40B4-BE49-F238E27FC236}">
                <a16:creationId xmlns:a16="http://schemas.microsoft.com/office/drawing/2014/main" id="{DF9766C1-4E49-420E-89CF-2AC5E2CA5D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4611" y="1242251"/>
            <a:ext cx="376451" cy="435263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956DE24C-AA2B-4FFD-B280-AC1ADDF5DE83}"/>
              </a:ext>
            </a:extLst>
          </p:cNvPr>
          <p:cNvSpPr/>
          <p:nvPr/>
        </p:nvSpPr>
        <p:spPr bwMode="auto">
          <a:xfrm>
            <a:off x="2933269" y="1170108"/>
            <a:ext cx="395169" cy="58916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0" y="245"/>
              </a:cxn>
            </a:cxnLst>
            <a:rect l="0" t="0" r="r" b="b"/>
            <a:pathLst>
              <a:path w="190" h="245">
                <a:moveTo>
                  <a:pt x="0" y="0"/>
                </a:moveTo>
                <a:lnTo>
                  <a:pt x="190" y="245"/>
                </a:lnTo>
              </a:path>
            </a:pathLst>
          </a:cu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39" name="Line 7">
            <a:extLst>
              <a:ext uri="{FF2B5EF4-FFF2-40B4-BE49-F238E27FC236}">
                <a16:creationId xmlns:a16="http://schemas.microsoft.com/office/drawing/2014/main" id="{6C1D1142-57B6-415C-BA3E-F0A2DAD0A9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9632" y="2115183"/>
            <a:ext cx="472122" cy="545885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0" name="Line 8">
            <a:extLst>
              <a:ext uri="{FF2B5EF4-FFF2-40B4-BE49-F238E27FC236}">
                <a16:creationId xmlns:a16="http://schemas.microsoft.com/office/drawing/2014/main" id="{C9698BB1-1E06-428E-8E9A-45C9227C36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77114" y="2158468"/>
            <a:ext cx="376449" cy="435265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E5A20236-313C-4576-9430-62221A0C2A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571" y="2115183"/>
            <a:ext cx="376451" cy="545885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2" name="Oval 10">
            <a:extLst>
              <a:ext uri="{FF2B5EF4-FFF2-40B4-BE49-F238E27FC236}">
                <a16:creationId xmlns:a16="http://schemas.microsoft.com/office/drawing/2014/main" id="{DCA4383D-C791-4FB8-9FB7-7A3D855D5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7469" y="806986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43" name="Oval 11">
            <a:extLst>
              <a:ext uri="{FF2B5EF4-FFF2-40B4-BE49-F238E27FC236}">
                <a16:creationId xmlns:a16="http://schemas.microsoft.com/office/drawing/2014/main" id="{E7F87263-7BED-4DEA-993E-00721D305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081" y="1677514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44" name="Oval 12">
            <a:extLst>
              <a:ext uri="{FF2B5EF4-FFF2-40B4-BE49-F238E27FC236}">
                <a16:creationId xmlns:a16="http://schemas.microsoft.com/office/drawing/2014/main" id="{55B4E7AD-0CB8-46B5-8E22-01B55F9D1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2449" y="1677514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45" name="Oval 13">
            <a:extLst>
              <a:ext uri="{FF2B5EF4-FFF2-40B4-BE49-F238E27FC236}">
                <a16:creationId xmlns:a16="http://schemas.microsoft.com/office/drawing/2014/main" id="{24894121-4380-48DA-9F96-73826BE8B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181" y="2550447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D</a:t>
            </a:r>
          </a:p>
        </p:txBody>
      </p:sp>
      <p:sp>
        <p:nvSpPr>
          <p:cNvPr id="46" name="Oval 14">
            <a:extLst>
              <a:ext uri="{FF2B5EF4-FFF2-40B4-BE49-F238E27FC236}">
                <a16:creationId xmlns:a16="http://schemas.microsoft.com/office/drawing/2014/main" id="{C12ECCFA-41A2-4C54-B2E7-581E1E4B5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549" y="2550447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47" name="Oval 15">
            <a:extLst>
              <a:ext uri="{FF2B5EF4-FFF2-40B4-BE49-F238E27FC236}">
                <a16:creationId xmlns:a16="http://schemas.microsoft.com/office/drawing/2014/main" id="{5034242F-AB6F-4DDF-BB91-1A4D3FFD7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081" y="3315165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G</a:t>
            </a:r>
          </a:p>
        </p:txBody>
      </p:sp>
      <p:sp>
        <p:nvSpPr>
          <p:cNvPr id="48" name="Oval 16">
            <a:extLst>
              <a:ext uri="{FF2B5EF4-FFF2-40B4-BE49-F238E27FC236}">
                <a16:creationId xmlns:a16="http://schemas.microsoft.com/office/drawing/2014/main" id="{3DE0C769-8651-41B3-8030-FB9801DAA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3837" y="2550447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F</a:t>
            </a:r>
          </a:p>
        </p:txBody>
      </p:sp>
      <p:sp>
        <p:nvSpPr>
          <p:cNvPr id="53" name="Oval 27">
            <a:extLst>
              <a:ext uri="{FF2B5EF4-FFF2-40B4-BE49-F238E27FC236}">
                <a16:creationId xmlns:a16="http://schemas.microsoft.com/office/drawing/2014/main" id="{905674FC-6277-4F32-A5AD-B1AE85871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7469" y="806986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54" name="Oval 28">
            <a:extLst>
              <a:ext uri="{FF2B5EF4-FFF2-40B4-BE49-F238E27FC236}">
                <a16:creationId xmlns:a16="http://schemas.microsoft.com/office/drawing/2014/main" id="{1918996A-A7E5-4920-BA90-F49362A7E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081" y="1679918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55" name="Oval 29">
            <a:extLst>
              <a:ext uri="{FF2B5EF4-FFF2-40B4-BE49-F238E27FC236}">
                <a16:creationId xmlns:a16="http://schemas.microsoft.com/office/drawing/2014/main" id="{4F8E1C6A-5576-47D3-922C-28C311257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2449" y="1677514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56" name="Oval 30">
            <a:extLst>
              <a:ext uri="{FF2B5EF4-FFF2-40B4-BE49-F238E27FC236}">
                <a16:creationId xmlns:a16="http://schemas.microsoft.com/office/drawing/2014/main" id="{B9869271-7827-4CA6-9B3D-0E175E156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181" y="2552852"/>
            <a:ext cx="565715" cy="54588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D</a:t>
            </a:r>
          </a:p>
        </p:txBody>
      </p:sp>
      <p:sp>
        <p:nvSpPr>
          <p:cNvPr id="57" name="Oval 31">
            <a:extLst>
              <a:ext uri="{FF2B5EF4-FFF2-40B4-BE49-F238E27FC236}">
                <a16:creationId xmlns:a16="http://schemas.microsoft.com/office/drawing/2014/main" id="{3FA5C828-261B-4955-8AA0-2282D08A1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549" y="2550447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58" name="Oval 32">
            <a:extLst>
              <a:ext uri="{FF2B5EF4-FFF2-40B4-BE49-F238E27FC236}">
                <a16:creationId xmlns:a16="http://schemas.microsoft.com/office/drawing/2014/main" id="{39032AB1-6985-43D9-80B6-C2F93E944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081" y="3315165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G</a:t>
            </a:r>
          </a:p>
        </p:txBody>
      </p:sp>
      <p:sp>
        <p:nvSpPr>
          <p:cNvPr id="59" name="Oval 33">
            <a:extLst>
              <a:ext uri="{FF2B5EF4-FFF2-40B4-BE49-F238E27FC236}">
                <a16:creationId xmlns:a16="http://schemas.microsoft.com/office/drawing/2014/main" id="{5A1D6FCD-9558-4108-A623-AA27AF3C1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3837" y="2550447"/>
            <a:ext cx="565715" cy="545883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rPr>
              <a:t>F</a:t>
            </a:r>
          </a:p>
        </p:txBody>
      </p:sp>
      <p:sp>
        <p:nvSpPr>
          <p:cNvPr id="60" name="Text Box 34">
            <a:extLst>
              <a:ext uri="{FF2B5EF4-FFF2-40B4-BE49-F238E27FC236}">
                <a16:creationId xmlns:a16="http://schemas.microsoft.com/office/drawing/2014/main" id="{7C3A09E8-9859-4E74-A028-20EBC0C6B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9724" y="3236605"/>
            <a:ext cx="1728787" cy="437043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b="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后序序列：</a:t>
            </a:r>
          </a:p>
        </p:txBody>
      </p:sp>
      <p:sp>
        <p:nvSpPr>
          <p:cNvPr id="61" name="Text Box 35">
            <a:extLst>
              <a:ext uri="{FF2B5EF4-FFF2-40B4-BE49-F238E27FC236}">
                <a16:creationId xmlns:a16="http://schemas.microsoft.com/office/drawing/2014/main" id="{8CF82C0F-CB8D-4577-9D32-5C91AB78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1793" y="3876378"/>
            <a:ext cx="433387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G</a:t>
            </a:r>
          </a:p>
        </p:txBody>
      </p:sp>
      <p:sp>
        <p:nvSpPr>
          <p:cNvPr id="62" name="Text Box 36">
            <a:extLst>
              <a:ext uri="{FF2B5EF4-FFF2-40B4-BE49-F238E27FC236}">
                <a16:creationId xmlns:a16="http://schemas.microsoft.com/office/drawing/2014/main" id="{8ADF968E-67CC-42C7-A6DE-B077CE5E1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9493" y="3876378"/>
            <a:ext cx="433387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D</a:t>
            </a:r>
          </a:p>
        </p:txBody>
      </p:sp>
      <p:sp>
        <p:nvSpPr>
          <p:cNvPr id="63" name="Text Box 37">
            <a:extLst>
              <a:ext uri="{FF2B5EF4-FFF2-40B4-BE49-F238E27FC236}">
                <a16:creationId xmlns:a16="http://schemas.microsoft.com/office/drawing/2014/main" id="{94314F1A-A2E2-4F9D-9EFB-EA0A556D3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7193" y="3876378"/>
            <a:ext cx="433387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64" name="Text Box 38">
            <a:extLst>
              <a:ext uri="{FF2B5EF4-FFF2-40B4-BE49-F238E27FC236}">
                <a16:creationId xmlns:a16="http://schemas.microsoft.com/office/drawing/2014/main" id="{69E76BF1-B41E-434B-9A93-FE04178DD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6479" y="3876378"/>
            <a:ext cx="433388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65" name="Text Box 39">
            <a:extLst>
              <a:ext uri="{FF2B5EF4-FFF2-40B4-BE49-F238E27FC236}">
                <a16:creationId xmlns:a16="http://schemas.microsoft.com/office/drawing/2014/main" id="{3C03C316-EB6A-48D2-B1A6-EF7064A94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104" y="3876378"/>
            <a:ext cx="433388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</a:p>
        </p:txBody>
      </p:sp>
      <p:sp>
        <p:nvSpPr>
          <p:cNvPr id="66" name="Text Box 40">
            <a:extLst>
              <a:ext uri="{FF2B5EF4-FFF2-40B4-BE49-F238E27FC236}">
                <a16:creationId xmlns:a16="http://schemas.microsoft.com/office/drawing/2014/main" id="{4D4D155B-6815-4AA5-AF11-1C82D1BB5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9804" y="3876378"/>
            <a:ext cx="433388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wrap="square"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67" name="Text Box 41">
            <a:extLst>
              <a:ext uri="{FF2B5EF4-FFF2-40B4-BE49-F238E27FC236}">
                <a16:creationId xmlns:a16="http://schemas.microsoft.com/office/drawing/2014/main" id="{1098A2BD-F463-44E5-A226-3AB34E97A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9093" y="3876378"/>
            <a:ext cx="433387" cy="344710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68" name="Text Box 42">
            <a:extLst>
              <a:ext uri="{FF2B5EF4-FFF2-40B4-BE49-F238E27FC236}">
                <a16:creationId xmlns:a16="http://schemas.microsoft.com/office/drawing/2014/main" id="{F0185C91-94FB-45CB-B516-9878B5B3A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6097" y="5160805"/>
            <a:ext cx="2694812" cy="502061"/>
          </a:xfrm>
          <a:prstGeom prst="rect">
            <a:avLst/>
          </a:prstGeom>
          <a:noFill/>
          <a:ln w="38100" algn="ctr">
            <a:noFill/>
            <a:miter lim="800000"/>
            <a:tailEnd type="none" w="med" len="lg"/>
          </a:ln>
          <a:effectLst/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sz="3200" b="0" dirty="0">
                <a:latin typeface="华文新魏" panose="02010800040101010101" pitchFamily="2" charset="-122"/>
                <a:ea typeface="华文新魏" panose="02010800040101010101" pitchFamily="2" charset="-122"/>
                <a:cs typeface="Consolas" panose="020B0609020204030204" pitchFamily="49" charset="0"/>
              </a:rPr>
              <a:t>后序遍历完毕！</a:t>
            </a:r>
          </a:p>
        </p:txBody>
      </p:sp>
    </p:spTree>
    <p:extLst>
      <p:ext uri="{BB962C8B-B14F-4D97-AF65-F5344CB8AC3E}">
        <p14:creationId xmlns:p14="http://schemas.microsoft.com/office/powerpoint/2010/main" val="2311325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0.03727 L 0.0007 0.03727 C 0.00434 0.12824 0.00087 0.0368 0.00261 0.25416 C 0.00278 0.2743 0.00313 0.29421 0.00365 0.31435 C 0.00382 0.32569 0.00469 0.33703 0.00469 0.34838 C 0.00486 0.45995 0.00469 0.57153 0.00469 0.68287 L 0.00469 0.68287 " pathEditMode="relative" ptsTypes="AAAAAAA">
                                      <p:cBhvr>
                                        <p:cTn id="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.04213 L 0.0026 0.04213 C 0.01927 0.08912 0.00468 0.04375 0.01909 0.10996 C 0.02222 0.12408 0.02708 0.1375 0.02986 0.15185 C 0.03663 0.18496 0.03576 0.20301 0.04062 0.23681 C 0.04635 0.275 0.04948 0.28797 0.05642 0.32037 C 0.05781 0.36528 0.05781 0.39468 0.06423 0.43935 C 0.06527 0.4463 0.0684 0.45232 0.07014 0.45903 C 0.07135 0.46366 0.07187 0.46875 0.07309 0.47338 C 0.07465 0.48033 0.07326 0.47986 0.07604 0.47986 L 0.07604 0.47986 " pathEditMode="relative" ptsTypes="AAAAAAAAAAA">
                                      <p:cBhvr>
                                        <p:cTn id="10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0.00023 L 5E-6 2.96296E-6 C 0.00452 -0.00023 0.00921 -0.00047 0.01372 0.00069 C 0.02275 0.00301 0.04914 0.01852 0.05296 0.02268 C 0.06997 0.04074 0.08004 0.05532 0.10382 0.06458 L 0.10678 0.06551 C 0.10886 0.06967 0.11042 0.07361 0.11268 0.07731 C 0.11737 0.08495 0.12466 0.09074 0.12744 0.09953 C 0.13039 0.10856 0.12744 0.11944 0.12935 0.1294 C 0.13073 0.13634 0.1349 0.14213 0.13733 0.14907 C 0.14289 0.16504 0.1441 0.17477 0.1481 0.19282 C 0.14844 0.1949 0.15053 0.20416 0.15191 0.2081 C 0.15764 0.225 0.15573 0.21736 0.15782 0.22685 C 0.15816 0.23588 0.15834 0.24514 0.15886 0.2544 C 0.1599 0.27176 0.15973 0.25416 0.15973 0.25972 L 0.15973 0.25995 " pathEditMode="relative" rAng="0" ptsTypes="AAAAAAAAAAAAAAAA">
                                      <p:cBhvr>
                                        <p:cTn id="14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86" y="13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5185E-6 L 3.33333E-6 1.85185E-6 C 0.00468 0.00116 0.0092 0.00278 0.01406 0.00393 C 0.01788 0.00486 0.02083 0.00509 0.02465 0.00555 C 0.02586 0.00602 0.02708 0.00648 0.02847 0.00671 C 0.02968 0.00694 0.03107 0.00694 0.03229 0.00717 C 0.03507 0.00741 0.0401 0.00972 0.04097 0.01018 C 0.04843 0.01528 0.04496 0.0125 0.05416 0.01991 C 0.05486 0.02037 0.05538 0.02083 0.05607 0.02153 C 0.05677 0.02176 0.05764 0.02222 0.05816 0.02268 C 0.05885 0.02338 0.05885 0.0243 0.06007 0.025 C 0.06059 0.02523 0.06128 0.02569 0.0618 0.02592 C 0.06302 0.02685 0.06319 0.02801 0.06389 0.02916 C 0.06441 0.02986 0.0651 0.03079 0.0658 0.03148 C 0.06892 0.03935 0.06389 0.02616 0.06753 0.04745 C 0.06771 0.04815 0.06892 0.04907 0.06961 0.04954 L 0.07048 0.05069 C 0.07083 0.05162 0.07118 0.05254 0.07152 0.05347 C 0.07239 0.05741 0.07239 0.05671 0.07239 0.05903 L 0.07239 0.05926 " pathEditMode="relative" rAng="0" ptsTypes="AAAAAAAAAAAAAAAAAAAA">
                                      <p:cBhvr>
                                        <p:cTn id="1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1" y="2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7.40741E-7 L 2.22222E-6 -7.40741E-7 C -0.00278 0.01412 -0.00486 0.02894 -0.00799 0.04329 C -0.01007 0.0537 -0.01406 0.06343 -0.0158 0.07361 C -0.01771 0.08565 -0.01736 0.09792 -0.01875 0.11019 C -0.01979 0.11968 -0.02153 0.1294 -0.02257 0.13889 C -0.02448 0.15394 -0.02518 0.16875 -0.02761 0.18264 C -0.029 0.19167 -0.03264 0.19977 -0.03438 0.20833 C -0.0408 0.24144 -0.03715 0.23634 -0.04219 0.26204 C -0.04462 0.27361 -0.0474 0.28542 -0.05 0.29699 C -0.0507 0.30394 -0.05139 0.31088 -0.05209 0.31782 C -0.05261 0.32338 -0.05347 0.32917 -0.054 0.33495 C -0.05486 0.34306 -0.05538 0.35185 -0.0559 0.36019 C -0.05643 0.36551 -0.05643 0.37083 -0.05695 0.37593 C -0.05816 0.38796 -0.0632 0.41157 -0.06476 0.41968 C -0.06511 0.42407 -0.06563 0.43495 -0.06667 0.44028 C -0.06823 0.44745 -0.07066 0.45394 -0.0717 0.46111 C -0.07205 0.46343 -0.07188 0.4662 -0.07257 0.46852 C -0.07622 0.4794 -0.07552 0.46829 -0.07552 0.47708 L -0.07552 0.47755 " pathEditMode="relative" rAng="0" ptsTypes="AAAAAAAAAAAAAAAAAAAA">
                                      <p:cBhvr>
                                        <p:cTn id="43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85" y="23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4.07407E-6 L 3.88889E-6 -4.07407E-6 C 0.00416 0.04491 0.00017 -0.00324 0.00295 0.06204 C 0.00347 0.07246 0.00451 0.08287 0.00555 0.0926 C 0.00416 0.13912 0.00329 0.18519 0.00208 0.23079 C 0.00052 0.28311 0.00086 0.19352 0.00086 0.25463 L 0.00086 0.2551 " pathEditMode="relative" rAng="0" ptsTypes="AAAAAAA">
                                      <p:cBhvr>
                                        <p:cTn id="47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8" y="12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07407E-6 L -3.61111E-6 -4.07407E-6 C -0.01024 0.00741 -0.01961 0.01598 -0.03038 0.02315 C -0.04288 0.03125 -0.05833 0.03565 -0.06961 0.04514 C -0.07882 0.05255 -0.08246 0.06412 -0.09027 0.07315 C -0.09531 0.07894 -0.10191 0.08287 -0.10781 0.0882 C -0.11336 0.09838 -0.12257 0.11412 -0.12656 0.12639 C -0.12916 0.13473 -0.1309 0.14352 -0.13333 0.15186 C -0.14027 0.175 -0.14166 0.17686 -0.15104 0.19931 C -0.15364 0.23982 -0.15295 0.21899 -0.15295 0.26227 L -0.15295 0.26274 " pathEditMode="relative" rAng="0" ptsTypes="AAAAAAAAAAA">
                                      <p:cBhvr>
                                        <p:cTn id="58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56" y="13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4E19C-DD4B-4906-BC67-16FB99DED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后序遍历的非递归算法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9178B9-A307-42E8-B8B7-7CF2F5B53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44504"/>
            <a:ext cx="9144000" cy="611349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void </a:t>
            </a:r>
            <a:r>
              <a:rPr lang="en-US" altLang="zh-CN" sz="2400" dirty="0" err="1">
                <a:solidFill>
                  <a:srgbClr val="FF0000"/>
                </a:solidFill>
              </a:rPr>
              <a:t>PostOrder</a:t>
            </a:r>
            <a:r>
              <a:rPr lang="en-US" altLang="zh-CN" sz="2400" dirty="0">
                <a:solidFill>
                  <a:srgbClr val="0000FF"/>
                </a:solidFill>
              </a:rPr>
              <a:t> (</a:t>
            </a:r>
            <a:r>
              <a:rPr lang="en-US" altLang="zh-CN" sz="2400" dirty="0" err="1">
                <a:solidFill>
                  <a:srgbClr val="0000FF"/>
                </a:solidFill>
              </a:rPr>
              <a:t>BinTree</a:t>
            </a:r>
            <a:r>
              <a:rPr lang="en-US" altLang="zh-CN" sz="2400" dirty="0">
                <a:solidFill>
                  <a:srgbClr val="0000FF"/>
                </a:solidFill>
              </a:rPr>
              <a:t> T) {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</a:t>
            </a:r>
            <a:r>
              <a:rPr lang="en-US" altLang="zh-CN" sz="2400" dirty="0" err="1">
                <a:solidFill>
                  <a:srgbClr val="0000FF"/>
                </a:solidFill>
              </a:rPr>
              <a:t>InitStack</a:t>
            </a:r>
            <a:r>
              <a:rPr lang="en-US" altLang="zh-CN" sz="2400" dirty="0">
                <a:solidFill>
                  <a:srgbClr val="0000FF"/>
                </a:solidFill>
              </a:rPr>
              <a:t>(S);    </a:t>
            </a:r>
            <a:r>
              <a:rPr lang="en-US" altLang="zh-CN" sz="2400" dirty="0" err="1">
                <a:solidFill>
                  <a:srgbClr val="0000FF"/>
                </a:solidFill>
              </a:rPr>
              <a:t>BiTNode</a:t>
            </a:r>
            <a:r>
              <a:rPr lang="en-US" altLang="zh-CN" sz="2400" dirty="0">
                <a:solidFill>
                  <a:srgbClr val="0000FF"/>
                </a:solidFill>
              </a:rPr>
              <a:t> * p = T;</a:t>
            </a:r>
            <a:r>
              <a:rPr lang="zh-CN" altLang="en-US" sz="2400" dirty="0">
                <a:solidFill>
                  <a:srgbClr val="0000FF"/>
                </a:solidFill>
              </a:rPr>
              <a:t>    </a:t>
            </a:r>
            <a:r>
              <a:rPr lang="en-US" altLang="zh-CN" sz="2400" dirty="0" err="1">
                <a:solidFill>
                  <a:srgbClr val="0000FF"/>
                </a:solidFill>
              </a:rPr>
              <a:t>BiTNode</a:t>
            </a:r>
            <a:r>
              <a:rPr lang="en-US" altLang="zh-CN" sz="2400" dirty="0">
                <a:solidFill>
                  <a:srgbClr val="0000FF"/>
                </a:solidFill>
              </a:rPr>
              <a:t> * pre</a:t>
            </a:r>
            <a:r>
              <a:rPr lang="zh-CN" altLang="en-US" sz="2400" dirty="0">
                <a:solidFill>
                  <a:srgbClr val="0000FF"/>
                </a:solidFill>
              </a:rPr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=</a:t>
            </a:r>
            <a:r>
              <a:rPr lang="zh-CN" altLang="en-US" sz="2400" dirty="0">
                <a:solidFill>
                  <a:srgbClr val="0000FF"/>
                </a:solidFill>
              </a:rPr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NULL;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do {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while (p!=NULL) { Push(S, p);   p=p-&gt;</a:t>
            </a:r>
            <a:r>
              <a:rPr lang="en-US" altLang="zh-CN" sz="2400" dirty="0" err="1">
                <a:solidFill>
                  <a:srgbClr val="0000FF"/>
                </a:solidFill>
              </a:rPr>
              <a:t>lchild</a:t>
            </a:r>
            <a:r>
              <a:rPr lang="en-US" altLang="zh-CN" sz="2400" dirty="0">
                <a:solidFill>
                  <a:srgbClr val="0000FF"/>
                </a:solidFill>
              </a:rPr>
              <a:t>; }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if (!</a:t>
            </a:r>
            <a:r>
              <a:rPr lang="en-US" altLang="zh-CN" sz="2400" dirty="0" err="1">
                <a:solidFill>
                  <a:srgbClr val="0000FF"/>
                </a:solidFill>
              </a:rPr>
              <a:t>StackEmpty</a:t>
            </a:r>
            <a:r>
              <a:rPr lang="en-US" altLang="zh-CN" sz="2400" dirty="0">
                <a:solidFill>
                  <a:srgbClr val="0000FF"/>
                </a:solidFill>
              </a:rPr>
              <a:t>(S)) {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</a:rPr>
              <a:t>左子树遍历结束，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    </a:t>
            </a:r>
            <a:r>
              <a:rPr lang="en-US" altLang="zh-CN" sz="2400" dirty="0" err="1">
                <a:solidFill>
                  <a:srgbClr val="0000FF"/>
                </a:solidFill>
              </a:rPr>
              <a:t>GetTop</a:t>
            </a:r>
            <a:r>
              <a:rPr lang="en-US" altLang="zh-CN" sz="2400" dirty="0">
                <a:solidFill>
                  <a:srgbClr val="0000FF"/>
                </a:solidFill>
              </a:rPr>
              <a:t>(S, p);      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</a:rPr>
              <a:t>取栈顶结点，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B050"/>
                </a:solidFill>
              </a:rPr>
              <a:t>            </a:t>
            </a:r>
            <a:r>
              <a:rPr lang="en-US" altLang="zh-CN" sz="2400" dirty="0">
                <a:solidFill>
                  <a:srgbClr val="0000FF"/>
                </a:solidFill>
              </a:rPr>
              <a:t>if (</a:t>
            </a:r>
            <a:r>
              <a:rPr lang="en-US" altLang="zh-CN" sz="2400" dirty="0">
                <a:solidFill>
                  <a:srgbClr val="FF0000"/>
                </a:solidFill>
              </a:rPr>
              <a:t>p-&gt;</a:t>
            </a:r>
            <a:r>
              <a:rPr lang="en-US" altLang="zh-CN" sz="2400" dirty="0" err="1">
                <a:solidFill>
                  <a:srgbClr val="FF0000"/>
                </a:solidFill>
              </a:rPr>
              <a:t>rchild</a:t>
            </a:r>
            <a:r>
              <a:rPr lang="en-US" altLang="zh-CN" sz="2400" dirty="0">
                <a:solidFill>
                  <a:srgbClr val="FF0000"/>
                </a:solidFill>
              </a:rPr>
              <a:t>==NULL || pre==p-&gt;</a:t>
            </a:r>
            <a:r>
              <a:rPr lang="en-US" altLang="zh-CN" sz="2400" dirty="0" err="1">
                <a:solidFill>
                  <a:srgbClr val="FF0000"/>
                </a:solidFill>
              </a:rPr>
              <a:t>rchild</a:t>
            </a:r>
            <a:r>
              <a:rPr lang="en-US" altLang="zh-CN" sz="2400" dirty="0">
                <a:solidFill>
                  <a:srgbClr val="0000FF"/>
                </a:solidFill>
              </a:rPr>
              <a:t>)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</a:rPr>
              <a:t>可以访问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    {   Pop(S, p);  visit(p);  pre=p;  p=NULL;   }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    else p=p-&gt;</a:t>
            </a:r>
            <a:r>
              <a:rPr lang="en-US" altLang="zh-CN" sz="2400" dirty="0" err="1">
                <a:solidFill>
                  <a:srgbClr val="0000FF"/>
                </a:solidFill>
              </a:rPr>
              <a:t>rchild</a:t>
            </a:r>
            <a:r>
              <a:rPr lang="en-US" altLang="zh-CN" sz="2400" dirty="0">
                <a:solidFill>
                  <a:srgbClr val="0000FF"/>
                </a:solidFill>
              </a:rPr>
              <a:t>;  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</a:rPr>
              <a:t>不可以访问，则遍历右子树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} while (!</a:t>
            </a:r>
            <a:r>
              <a:rPr lang="en-US" altLang="zh-CN" sz="2400" dirty="0" err="1">
                <a:solidFill>
                  <a:srgbClr val="0000FF"/>
                </a:solidFill>
              </a:rPr>
              <a:t>StackEmpty</a:t>
            </a:r>
            <a:r>
              <a:rPr lang="en-US" altLang="zh-CN" sz="2400" dirty="0">
                <a:solidFill>
                  <a:srgbClr val="0000FF"/>
                </a:solidFill>
              </a:rPr>
              <a:t>(S) || p != NULL)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}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en-US" altLang="zh-CN" sz="2400" dirty="0" err="1">
                <a:solidFill>
                  <a:srgbClr val="00B050"/>
                </a:solidFill>
              </a:rPr>
              <a:t>PostOrder</a:t>
            </a:r>
            <a:endParaRPr lang="en-US" altLang="zh-CN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00489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3F869-590E-432E-8F35-2A2A81A77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 </a:t>
            </a:r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9D5D18-D0F6-4565-97D3-4FBE1D4B8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假设二叉树采用二叉链存储结构，设计一个算法输出从根结点到每个叶结点的路径逆序列。要求采用非递归算法来实现。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6CD7E9-10C7-4AB4-A2F7-AD8C88FCC504}"/>
              </a:ext>
            </a:extLst>
          </p:cNvPr>
          <p:cNvSpPr txBox="1"/>
          <p:nvPr/>
        </p:nvSpPr>
        <p:spPr>
          <a:xfrm>
            <a:off x="358682" y="3750151"/>
            <a:ext cx="8424936" cy="1499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后序遍历的非递归算法的特点：</a:t>
            </a:r>
            <a:r>
              <a:rPr lang="zh-CN" altLang="en-US" sz="3200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当访问某个结点时，栈中所有结点恰好是其祖先结点。</a:t>
            </a:r>
          </a:p>
        </p:txBody>
      </p:sp>
    </p:spTree>
    <p:extLst>
      <p:ext uri="{BB962C8B-B14F-4D97-AF65-F5344CB8AC3E}">
        <p14:creationId xmlns:p14="http://schemas.microsoft.com/office/powerpoint/2010/main" val="3793497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5BD2A-937F-4F9E-8FCF-88330B03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后序遍历的非递归算法 </a:t>
            </a:r>
            <a:r>
              <a:rPr lang="en-US" altLang="zh-CN" dirty="0"/>
              <a:t>2</a:t>
            </a:r>
            <a:r>
              <a:rPr lang="zh-CN" altLang="en-US" dirty="0"/>
              <a:t>（双栈法）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D1C0EC-2787-423C-B45A-164EEB750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6" y="744504"/>
            <a:ext cx="9036497" cy="6113495"/>
          </a:xfrm>
        </p:spPr>
        <p:txBody>
          <a:bodyPr/>
          <a:lstStyle/>
          <a:p>
            <a:r>
              <a:rPr lang="zh-CN" altLang="en-US" dirty="0"/>
              <a:t>后序遍历 </a:t>
            </a:r>
            <a:r>
              <a:rPr lang="en-US" altLang="zh-CN" dirty="0"/>
              <a:t>(H)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0000FF"/>
                </a:solidFill>
              </a:rPr>
              <a:t>先左、右子树，后根结点</a:t>
            </a:r>
            <a:r>
              <a:rPr lang="zh-CN" altLang="en-US" dirty="0"/>
              <a:t>，即 </a:t>
            </a:r>
            <a:r>
              <a:rPr lang="en-US" altLang="zh-CN" dirty="0" err="1">
                <a:solidFill>
                  <a:srgbClr val="FF0000"/>
                </a:solidFill>
              </a:rPr>
              <a:t>L</a:t>
            </a:r>
            <a:r>
              <a:rPr lang="en-US" altLang="zh-CN" baseline="30000" dirty="0" err="1">
                <a:solidFill>
                  <a:srgbClr val="FF0000"/>
                </a:solidFill>
              </a:rPr>
              <a:t>H</a:t>
            </a:r>
            <a:r>
              <a:rPr lang="en-US" altLang="zh-CN" dirty="0" err="1">
                <a:solidFill>
                  <a:srgbClr val="FF0000"/>
                </a:solidFill>
              </a:rPr>
              <a:t>R</a:t>
            </a:r>
            <a:r>
              <a:rPr lang="en-US" altLang="zh-CN" baseline="30000" dirty="0" err="1">
                <a:solidFill>
                  <a:srgbClr val="FF0000"/>
                </a:solidFill>
              </a:rPr>
              <a:t>H</a:t>
            </a:r>
            <a:r>
              <a:rPr lang="en-US" altLang="zh-CN" dirty="0" err="1">
                <a:solidFill>
                  <a:srgbClr val="FF0000"/>
                </a:solidFill>
              </a:rPr>
              <a:t>r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右子树优先的前序遍历 </a:t>
            </a:r>
            <a:r>
              <a:rPr lang="en-US" altLang="zh-CN" dirty="0"/>
              <a:t>(Y)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0000FF"/>
                </a:solidFill>
              </a:rPr>
              <a:t>先根结点，再右、左子树</a:t>
            </a:r>
            <a:r>
              <a:rPr lang="zh-CN" altLang="en-US" dirty="0"/>
              <a:t>，即 </a:t>
            </a:r>
            <a:r>
              <a:rPr lang="en-US" altLang="zh-CN" dirty="0" err="1">
                <a:solidFill>
                  <a:srgbClr val="FF0000"/>
                </a:solidFill>
              </a:rPr>
              <a:t>rR</a:t>
            </a:r>
            <a:r>
              <a:rPr lang="en-US" altLang="zh-CN" baseline="30000" dirty="0" err="1">
                <a:solidFill>
                  <a:srgbClr val="FF0000"/>
                </a:solidFill>
              </a:rPr>
              <a:t>Y</a:t>
            </a:r>
            <a:r>
              <a:rPr lang="en-US" altLang="zh-CN" dirty="0" err="1">
                <a:solidFill>
                  <a:srgbClr val="FF0000"/>
                </a:solidFill>
              </a:rPr>
              <a:t>L</a:t>
            </a:r>
            <a:r>
              <a:rPr lang="en-US" altLang="zh-CN" baseline="30000" dirty="0" err="1">
                <a:solidFill>
                  <a:srgbClr val="FF0000"/>
                </a:solidFill>
              </a:rPr>
              <a:t>Y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可以证明：</a:t>
            </a:r>
            <a:r>
              <a:rPr lang="zh-CN" altLang="en-US" dirty="0">
                <a:solidFill>
                  <a:srgbClr val="0000FF"/>
                </a:solidFill>
              </a:rPr>
              <a:t>后序遍历序列</a:t>
            </a:r>
            <a:r>
              <a:rPr lang="zh-CN" altLang="en-US" dirty="0"/>
              <a:t>等同于</a:t>
            </a:r>
            <a:r>
              <a:rPr lang="zh-CN" altLang="en-US" dirty="0">
                <a:solidFill>
                  <a:srgbClr val="0000FF"/>
                </a:solidFill>
              </a:rPr>
              <a:t>右子树优先的前序遍历序列的</a:t>
            </a:r>
            <a:r>
              <a:rPr lang="zh-CN" altLang="en-US" dirty="0">
                <a:solidFill>
                  <a:srgbClr val="FF0000"/>
                </a:solidFill>
              </a:rPr>
              <a:t>逆</a:t>
            </a:r>
            <a:r>
              <a:rPr lang="zh-CN" altLang="en-US" dirty="0">
                <a:solidFill>
                  <a:srgbClr val="0000FF"/>
                </a:solidFill>
              </a:rPr>
              <a:t>序列</a:t>
            </a:r>
            <a:r>
              <a:rPr lang="zh-CN" altLang="en-US" dirty="0"/>
              <a:t>。即 </a:t>
            </a:r>
            <a:r>
              <a:rPr lang="en-US" altLang="zh-CN" dirty="0" err="1">
                <a:solidFill>
                  <a:srgbClr val="0000FF"/>
                </a:solidFill>
              </a:rPr>
              <a:t>L</a:t>
            </a:r>
            <a:r>
              <a:rPr lang="en-US" altLang="zh-CN" baseline="30000" dirty="0" err="1">
                <a:solidFill>
                  <a:srgbClr val="0000FF"/>
                </a:solidFill>
              </a:rPr>
              <a:t>H</a:t>
            </a:r>
            <a:r>
              <a:rPr lang="en-US" altLang="zh-CN" dirty="0" err="1">
                <a:solidFill>
                  <a:srgbClr val="0000FF"/>
                </a:solidFill>
              </a:rPr>
              <a:t>R</a:t>
            </a:r>
            <a:r>
              <a:rPr lang="en-US" altLang="zh-CN" baseline="30000" dirty="0" err="1">
                <a:solidFill>
                  <a:srgbClr val="0000FF"/>
                </a:solidFill>
              </a:rPr>
              <a:t>H</a:t>
            </a:r>
            <a:r>
              <a:rPr lang="en-US" altLang="zh-CN" dirty="0" err="1">
                <a:solidFill>
                  <a:srgbClr val="0000FF"/>
                </a:solidFill>
              </a:rPr>
              <a:t>r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= (</a:t>
            </a:r>
            <a:r>
              <a:rPr lang="en-US" altLang="zh-CN" dirty="0" err="1">
                <a:solidFill>
                  <a:srgbClr val="0000FF"/>
                </a:solidFill>
              </a:rPr>
              <a:t>rR</a:t>
            </a:r>
            <a:r>
              <a:rPr lang="en-US" altLang="zh-CN" baseline="30000" dirty="0" err="1">
                <a:solidFill>
                  <a:srgbClr val="0000FF"/>
                </a:solidFill>
              </a:rPr>
              <a:t>Y</a:t>
            </a:r>
            <a:r>
              <a:rPr lang="en-US" altLang="zh-CN" dirty="0" err="1">
                <a:solidFill>
                  <a:srgbClr val="0000FF"/>
                </a:solidFill>
              </a:rPr>
              <a:t>L</a:t>
            </a:r>
            <a:r>
              <a:rPr lang="en-US" altLang="zh-CN" baseline="30000" dirty="0" err="1">
                <a:solidFill>
                  <a:srgbClr val="0000FF"/>
                </a:solidFill>
              </a:rPr>
              <a:t>Y</a:t>
            </a:r>
            <a:r>
              <a:rPr lang="en-US" altLang="zh-CN" dirty="0"/>
              <a:t>)</a:t>
            </a:r>
            <a:r>
              <a:rPr lang="en-US" altLang="zh-CN" baseline="30000" dirty="0">
                <a:solidFill>
                  <a:srgbClr val="FF0000"/>
                </a:solidFill>
                <a:latin typeface="Lucida Calligraphy" panose="03010101010101010101" pitchFamily="66" charset="0"/>
              </a:rPr>
              <a:t>R</a:t>
            </a:r>
          </a:p>
          <a:p>
            <a:r>
              <a:rPr lang="zh-CN" altLang="en-US" dirty="0"/>
              <a:t>所以，后序遍历算法可以直接基于前序遍历算法做些修改：</a:t>
            </a:r>
            <a:endParaRPr lang="en-US" altLang="zh-CN" dirty="0"/>
          </a:p>
          <a:p>
            <a:pPr lvl="1"/>
            <a:r>
              <a:rPr lang="zh-CN" altLang="en-US" dirty="0"/>
              <a:t>把遍历过程中左子树优先改成右子树优先；</a:t>
            </a:r>
            <a:endParaRPr lang="en-US" altLang="zh-CN" dirty="0"/>
          </a:p>
          <a:p>
            <a:pPr lvl="1"/>
            <a:r>
              <a:rPr lang="zh-CN" altLang="en-US" dirty="0"/>
              <a:t>使用另一个栈保存访问序列；</a:t>
            </a:r>
            <a:endParaRPr lang="en-US" altLang="zh-CN" dirty="0"/>
          </a:p>
          <a:p>
            <a:pPr lvl="1"/>
            <a:r>
              <a:rPr lang="zh-CN" altLang="en-US" dirty="0"/>
              <a:t>结束后再从栈中依次弹出，从而得到逆序列。</a:t>
            </a:r>
          </a:p>
        </p:txBody>
      </p:sp>
    </p:spTree>
    <p:extLst>
      <p:ext uri="{BB962C8B-B14F-4D97-AF65-F5344CB8AC3E}">
        <p14:creationId xmlns:p14="http://schemas.microsoft.com/office/powerpoint/2010/main" val="51795409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A0EC73-EB66-4D80-B0AC-9EEEEBAC3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后序遍历的非递归算法 </a:t>
            </a:r>
            <a:r>
              <a:rPr lang="en-US" altLang="zh-CN" dirty="0"/>
              <a:t>2</a:t>
            </a:r>
            <a:r>
              <a:rPr lang="zh-CN" altLang="en-US" dirty="0"/>
              <a:t>（双栈法）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F865BFD-A89E-4334-94A2-A019AAE2C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44504"/>
            <a:ext cx="9144000" cy="606887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void </a:t>
            </a:r>
            <a:r>
              <a:rPr lang="en-US" altLang="zh-CN" sz="2400" dirty="0" err="1">
                <a:solidFill>
                  <a:srgbClr val="FF0000"/>
                </a:solidFill>
              </a:rPr>
              <a:t>PostOrder</a:t>
            </a:r>
            <a:r>
              <a:rPr lang="en-US" altLang="zh-CN" sz="2400" dirty="0">
                <a:solidFill>
                  <a:srgbClr val="0000FF"/>
                </a:solidFill>
              </a:rPr>
              <a:t> (</a:t>
            </a:r>
            <a:r>
              <a:rPr lang="en-US" altLang="zh-CN" sz="2400" dirty="0" err="1">
                <a:solidFill>
                  <a:srgbClr val="0000FF"/>
                </a:solidFill>
              </a:rPr>
              <a:t>BinTree</a:t>
            </a:r>
            <a:r>
              <a:rPr lang="en-US" altLang="zh-CN" sz="2400" dirty="0">
                <a:solidFill>
                  <a:srgbClr val="0000FF"/>
                </a:solidFill>
              </a:rPr>
              <a:t> T) {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</a:t>
            </a:r>
            <a:r>
              <a:rPr lang="en-US" altLang="zh-CN" sz="2400" dirty="0" err="1">
                <a:solidFill>
                  <a:srgbClr val="0000FF"/>
                </a:solidFill>
              </a:rPr>
              <a:t>InitStack</a:t>
            </a:r>
            <a:r>
              <a:rPr lang="en-US" altLang="zh-CN" sz="2400" dirty="0">
                <a:solidFill>
                  <a:srgbClr val="0000FF"/>
                </a:solidFill>
              </a:rPr>
              <a:t>(S);   Push(S, NULL);   </a:t>
            </a:r>
            <a:r>
              <a:rPr lang="en-US" altLang="zh-CN" sz="2400" dirty="0" err="1">
                <a:solidFill>
                  <a:srgbClr val="0000FF"/>
                </a:solidFill>
              </a:rPr>
              <a:t>InitStack</a:t>
            </a:r>
            <a:r>
              <a:rPr lang="en-US" altLang="zh-CN" sz="2400" dirty="0">
                <a:solidFill>
                  <a:srgbClr val="0000FF"/>
                </a:solidFill>
              </a:rPr>
              <a:t>(res);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</a:t>
            </a:r>
            <a:r>
              <a:rPr lang="en-US" altLang="zh-CN" sz="2400" dirty="0" err="1">
                <a:solidFill>
                  <a:srgbClr val="0000FF"/>
                </a:solidFill>
              </a:rPr>
              <a:t>BiTNode</a:t>
            </a:r>
            <a:r>
              <a:rPr lang="en-US" altLang="zh-CN" sz="2400" dirty="0">
                <a:solidFill>
                  <a:srgbClr val="0000FF"/>
                </a:solidFill>
              </a:rPr>
              <a:t> * p = T;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while (p != NULL) {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</a:t>
            </a:r>
            <a:r>
              <a:rPr lang="en-US" altLang="zh-CN" sz="2400" dirty="0">
                <a:solidFill>
                  <a:srgbClr val="FF0000"/>
                </a:solidFill>
              </a:rPr>
              <a:t>Push(res, p);   </a:t>
            </a:r>
            <a:r>
              <a:rPr lang="en-US" altLang="zh-CN" sz="2400" dirty="0">
                <a:solidFill>
                  <a:srgbClr val="00B050"/>
                </a:solidFill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</a:rPr>
              <a:t> 将结点 </a:t>
            </a:r>
            <a:r>
              <a:rPr lang="en-US" altLang="zh-CN" sz="2400" dirty="0">
                <a:solidFill>
                  <a:srgbClr val="00B050"/>
                </a:solidFill>
              </a:rPr>
              <a:t>p </a:t>
            </a:r>
            <a:r>
              <a:rPr lang="zh-CN" altLang="en-US" sz="2400" dirty="0">
                <a:solidFill>
                  <a:srgbClr val="00B050"/>
                </a:solidFill>
              </a:rPr>
              <a:t>压入另一个栈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if (p-&gt;</a:t>
            </a:r>
            <a:r>
              <a:rPr lang="en-US" altLang="zh-CN" sz="2400" dirty="0" err="1">
                <a:solidFill>
                  <a:srgbClr val="0000FF"/>
                </a:solidFill>
              </a:rPr>
              <a:t>lchild</a:t>
            </a:r>
            <a:r>
              <a:rPr lang="en-US" altLang="zh-CN" sz="2400" dirty="0">
                <a:solidFill>
                  <a:srgbClr val="0000FF"/>
                </a:solidFill>
              </a:rPr>
              <a:t> != NULL)   Push(S, p-&gt;</a:t>
            </a:r>
            <a:r>
              <a:rPr lang="en-US" altLang="zh-CN" sz="2400" dirty="0" err="1">
                <a:solidFill>
                  <a:srgbClr val="0000FF"/>
                </a:solidFill>
              </a:rPr>
              <a:t>lchild</a:t>
            </a:r>
            <a:r>
              <a:rPr lang="en-US" altLang="zh-CN" sz="2400" dirty="0">
                <a:solidFill>
                  <a:srgbClr val="0000FF"/>
                </a:solidFill>
              </a:rPr>
              <a:t>); 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if (p-&gt;</a:t>
            </a:r>
            <a:r>
              <a:rPr lang="en-US" altLang="zh-CN" sz="2400" dirty="0" err="1">
                <a:solidFill>
                  <a:srgbClr val="0000FF"/>
                </a:solidFill>
              </a:rPr>
              <a:t>rchild</a:t>
            </a:r>
            <a:r>
              <a:rPr lang="en-US" altLang="zh-CN" sz="2400" dirty="0">
                <a:solidFill>
                  <a:srgbClr val="0000FF"/>
                </a:solidFill>
              </a:rPr>
              <a:t> != NULL)   p=p-&gt;</a:t>
            </a:r>
            <a:r>
              <a:rPr lang="en-US" altLang="zh-CN" sz="2400" dirty="0" err="1">
                <a:solidFill>
                  <a:srgbClr val="0000FF"/>
                </a:solidFill>
              </a:rPr>
              <a:t>rchild</a:t>
            </a:r>
            <a:r>
              <a:rPr lang="en-US" altLang="zh-CN" sz="2400" dirty="0">
                <a:solidFill>
                  <a:srgbClr val="0000FF"/>
                </a:solidFill>
              </a:rPr>
              <a:t>;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</a:rPr>
              <a:t>进右子树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else Pop(S, p);    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</a:rPr>
              <a:t>右子树空</a:t>
            </a:r>
            <a:r>
              <a:rPr lang="en-US" altLang="zh-CN" sz="2400" dirty="0">
                <a:solidFill>
                  <a:srgbClr val="00B050"/>
                </a:solidFill>
              </a:rPr>
              <a:t>, </a:t>
            </a:r>
            <a:r>
              <a:rPr lang="zh-CN" altLang="en-US" sz="2400" dirty="0">
                <a:solidFill>
                  <a:srgbClr val="00B050"/>
                </a:solidFill>
              </a:rPr>
              <a:t>进左子树</a:t>
            </a:r>
          </a:p>
          <a:p>
            <a:pPr marL="0" indent="0"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</a:t>
            </a:r>
            <a:r>
              <a:rPr lang="en-US" altLang="zh-CN" sz="2400" dirty="0">
                <a:solidFill>
                  <a:srgbClr val="0000FF"/>
                </a:solidFill>
              </a:rPr>
              <a:t>}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B050"/>
                </a:solidFill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</a:rPr>
              <a:t>while (!</a:t>
            </a:r>
            <a:r>
              <a:rPr lang="en-US" altLang="zh-CN" sz="2400" dirty="0" err="1">
                <a:solidFill>
                  <a:srgbClr val="FF0000"/>
                </a:solidFill>
              </a:rPr>
              <a:t>StackEmpty</a:t>
            </a:r>
            <a:r>
              <a:rPr lang="en-US" altLang="zh-CN" sz="2400" dirty="0">
                <a:solidFill>
                  <a:srgbClr val="FF0000"/>
                </a:solidFill>
              </a:rPr>
              <a:t>(res)) {  Pop(res, p);   visit(p);  }  </a:t>
            </a:r>
            <a:r>
              <a:rPr lang="en-US" altLang="zh-CN" sz="2400" dirty="0">
                <a:solidFill>
                  <a:srgbClr val="00B050"/>
                </a:solidFill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</a:rPr>
              <a:t> 逆序列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}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en-US" altLang="zh-CN" sz="2400" dirty="0" err="1">
                <a:solidFill>
                  <a:srgbClr val="00B050"/>
                </a:solidFill>
              </a:rPr>
              <a:t>PostOrder</a:t>
            </a:r>
            <a:endParaRPr lang="en-US" altLang="zh-CN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72588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04BF5-F1AA-42DF-8AED-4C1E965FA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二叉树的层序遍历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FE9CC3-C5FA-4B3A-BBD1-D1D392B15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5"/>
            <a:ext cx="8642659" cy="1964415"/>
          </a:xfrm>
        </p:spPr>
        <p:txBody>
          <a:bodyPr/>
          <a:lstStyle/>
          <a:p>
            <a:r>
              <a:rPr lang="zh-CN" altLang="en-US" b="1" dirty="0"/>
              <a:t>广度优先遍历：</a:t>
            </a:r>
            <a:r>
              <a:rPr lang="zh-CN" altLang="en-US" dirty="0"/>
              <a:t>从根结点开始，从上至下按层访问每个结点，并且每层的结点按照从左向右的顺序进行处理。</a:t>
            </a:r>
          </a:p>
        </p:txBody>
      </p:sp>
      <p:sp>
        <p:nvSpPr>
          <p:cNvPr id="7" name="任意多边形: 形状 13">
            <a:extLst>
              <a:ext uri="{FF2B5EF4-FFF2-40B4-BE49-F238E27FC236}">
                <a16:creationId xmlns:a16="http://schemas.microsoft.com/office/drawing/2014/main" id="{988E1703-0C52-403D-BE15-AF6ACD5057F7}"/>
              </a:ext>
            </a:extLst>
          </p:cNvPr>
          <p:cNvSpPr/>
          <p:nvPr/>
        </p:nvSpPr>
        <p:spPr>
          <a:xfrm>
            <a:off x="124060" y="5948420"/>
            <a:ext cx="8894179" cy="727967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</p:spPr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marL="0" marR="0" lvl="0" indent="0" defTabSz="11557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层序遍历方案通常设计成非递归的算法，可以用队列结构来实现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EE6BA2B-5424-48BD-A863-3E0AEF7B6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725267"/>
            <a:ext cx="4680520" cy="319464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7310351-6CEC-4129-86DF-5A12C7BE9952}"/>
              </a:ext>
            </a:extLst>
          </p:cNvPr>
          <p:cNvSpPr txBox="1"/>
          <p:nvPr/>
        </p:nvSpPr>
        <p:spPr>
          <a:xfrm>
            <a:off x="5126091" y="3902041"/>
            <a:ext cx="4017909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0" kern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层</a:t>
            </a:r>
            <a:r>
              <a:rPr lang="zh-CN" altLang="zh-CN" sz="2400" b="0" kern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序遍历：</a:t>
            </a:r>
            <a:endParaRPr lang="en-US" altLang="zh-CN" sz="2400" b="0" kern="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 kern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ymbol" pitchFamily="2" charset="2"/>
              </a:rPr>
              <a:t>A, B, C, D, E, F, H, I, J, K</a:t>
            </a:r>
            <a:endParaRPr lang="zh-CN" altLang="zh-CN" sz="2400" b="0" kern="1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ymbol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3447132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C5D50-67B3-4840-8848-60840DD12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二叉树的层序遍历算法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2FA7C1-E74E-43E6-A0D8-2D54ABF60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4"/>
            <a:ext cx="8642659" cy="6113495"/>
          </a:xfrm>
        </p:spPr>
        <p:txBody>
          <a:bodyPr/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void 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LevelOrder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(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BinTree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 T) {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//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 对树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T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进行层序遍历</a:t>
            </a:r>
          </a:p>
          <a:p>
            <a:pPr>
              <a:spcBef>
                <a:spcPct val="10000"/>
              </a:spcBef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    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InitQueue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(Q);     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EnQueue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(Q, T);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//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用到一个队列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/>
                <a:ea typeface="Microsoft YaHei"/>
              </a:rPr>
              <a:t>，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根结点进队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    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BiTNode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 *p;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while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(!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QueueEmpty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(Q))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    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DeQueue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(Q, p);    </a:t>
            </a:r>
            <a:r>
              <a:rPr lang="en-US" altLang="zh-CN" sz="2400" dirty="0">
                <a:solidFill>
                  <a:srgbClr val="00B050"/>
                </a:solidFill>
                <a:latin typeface="Times New Roman"/>
                <a:ea typeface="Microsoft YaHei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Times New Roman"/>
                <a:ea typeface="Microsoft YaHei"/>
              </a:rPr>
              <a:t> 从队列中取出一个元素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/>
              <a:ea typeface="Microsoft YaHei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400" dirty="0">
                <a:solidFill>
                  <a:srgbClr val="0000FF"/>
                </a:solidFill>
                <a:latin typeface="Times New Roman"/>
                <a:ea typeface="Microsoft YaHei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       if (p!=NULL) 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400" dirty="0">
                <a:solidFill>
                  <a:srgbClr val="0000FF"/>
                </a:solidFill>
                <a:latin typeface="Times New Roman"/>
                <a:ea typeface="Microsoft YaHei"/>
              </a:rPr>
              <a:t>        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visit(p);        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//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访问该元素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/>
              <a:ea typeface="Microsoft YaHei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400" dirty="0">
                <a:solidFill>
                  <a:srgbClr val="0000FF"/>
                </a:solidFill>
                <a:latin typeface="Times New Roman"/>
                <a:ea typeface="Microsoft YaHei"/>
              </a:rPr>
              <a:t>           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/>
                <a:ea typeface="Microsoft YaHei"/>
              </a:rPr>
              <a:t>EnQueue</a:t>
            </a:r>
            <a:r>
              <a:rPr lang="en-US" altLang="zh-CN" sz="2400" dirty="0">
                <a:solidFill>
                  <a:srgbClr val="FF0000"/>
                </a:solidFill>
                <a:latin typeface="Times New Roman"/>
                <a:ea typeface="Microsoft YaHei"/>
              </a:rPr>
              <a:t>(Q, p-&gt;</a:t>
            </a:r>
            <a:r>
              <a:rPr lang="en-US" altLang="zh-CN" sz="2400" dirty="0" err="1">
                <a:solidFill>
                  <a:srgbClr val="FF0000"/>
                </a:solidFill>
                <a:latin typeface="Times New Roman"/>
                <a:ea typeface="Microsoft YaHei"/>
              </a:rPr>
              <a:t>lchild</a:t>
            </a:r>
            <a:r>
              <a:rPr lang="en-US" altLang="zh-CN" sz="2400" dirty="0">
                <a:solidFill>
                  <a:srgbClr val="FF0000"/>
                </a:solidFill>
                <a:latin typeface="Times New Roman"/>
                <a:ea typeface="Microsoft YaHei"/>
              </a:rPr>
              <a:t>);   </a:t>
            </a:r>
            <a:r>
              <a:rPr lang="en-US" altLang="zh-CN" sz="2400" dirty="0">
                <a:solidFill>
                  <a:srgbClr val="00B050"/>
                </a:solidFill>
                <a:latin typeface="Times New Roman"/>
                <a:ea typeface="Microsoft YaHei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Times New Roman"/>
                <a:ea typeface="Microsoft YaHei"/>
              </a:rPr>
              <a:t> 左孩子进队</a:t>
            </a:r>
            <a:endParaRPr lang="en-US" altLang="zh-CN" sz="2400" dirty="0">
              <a:solidFill>
                <a:srgbClr val="00B050"/>
              </a:solidFill>
              <a:latin typeface="Times New Roman"/>
              <a:ea typeface="Microsoft YaHei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        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EnQueue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(Q, p-&gt;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rchild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);   </a:t>
            </a:r>
            <a:r>
              <a:rPr lang="en-US" altLang="zh-CN" sz="2400" dirty="0">
                <a:solidFill>
                  <a:srgbClr val="00B050"/>
                </a:solidFill>
                <a:latin typeface="Times New Roman"/>
                <a:ea typeface="Microsoft YaHei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Times New Roman"/>
                <a:ea typeface="Microsoft YaHei"/>
              </a:rPr>
              <a:t> 右孩子进队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/>
              <a:ea typeface="Microsoft YaHei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400" dirty="0">
                <a:solidFill>
                  <a:srgbClr val="0000FF"/>
                </a:solidFill>
                <a:latin typeface="Times New Roman"/>
                <a:ea typeface="Microsoft YaHei"/>
              </a:rPr>
              <a:t>    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}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// if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}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while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}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//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cs"/>
              </a:rPr>
              <a:t>LevelOrder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87430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BF5B44-2CE5-425F-8F28-8BFBED650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非递归遍历算法分析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41823F-7414-4ABB-BD72-CD7A4812D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5"/>
            <a:ext cx="8642659" cy="5472112"/>
          </a:xfrm>
        </p:spPr>
        <p:txBody>
          <a:bodyPr/>
          <a:lstStyle/>
          <a:p>
            <a:r>
              <a:rPr lang="zh-CN" altLang="en-US" dirty="0"/>
              <a:t>前序、中序和后序的非递归算法均使用一个存放结点的栈实现，并且在遍历过程中每个结点都有且仅有</a:t>
            </a:r>
            <a:r>
              <a:rPr lang="en-US" altLang="zh-CN" dirty="0"/>
              <a:t>1</a:t>
            </a:r>
            <a:r>
              <a:rPr lang="zh-CN" altLang="en-US" dirty="0"/>
              <a:t>次入栈和</a:t>
            </a:r>
            <a:r>
              <a:rPr lang="en-US" altLang="zh-CN" dirty="0"/>
              <a:t>1</a:t>
            </a:r>
            <a:r>
              <a:rPr lang="zh-CN" altLang="en-US" dirty="0"/>
              <a:t>次出栈的机会，因此算法的</a:t>
            </a:r>
            <a:r>
              <a:rPr lang="zh-CN" altLang="en-US" dirty="0">
                <a:solidFill>
                  <a:srgbClr val="0000FF"/>
                </a:solidFill>
              </a:rPr>
              <a:t>时间复杂度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空间复杂度</a:t>
            </a:r>
            <a:r>
              <a:rPr lang="zh-CN" altLang="en-US" dirty="0"/>
              <a:t>都是 </a:t>
            </a:r>
            <a:r>
              <a:rPr lang="en-US" altLang="zh-CN" b="1" dirty="0">
                <a:solidFill>
                  <a:srgbClr val="FF0000"/>
                </a:solidFill>
              </a:rPr>
              <a:t>O(n)</a:t>
            </a:r>
            <a:r>
              <a:rPr lang="zh-CN" altLang="en-US" dirty="0"/>
              <a:t>，其中 </a:t>
            </a:r>
            <a:r>
              <a:rPr lang="en-US" altLang="zh-CN" dirty="0"/>
              <a:t>n </a:t>
            </a:r>
            <a:r>
              <a:rPr lang="zh-CN" altLang="en-US" dirty="0"/>
              <a:t>表示二叉树的结点数 。</a:t>
            </a:r>
            <a:endParaRPr lang="en-US" altLang="zh-CN" dirty="0"/>
          </a:p>
          <a:p>
            <a:r>
              <a:rPr lang="zh-CN" altLang="en-US" dirty="0"/>
              <a:t>层序遍历算法中，二叉树的每个结点都会入队</a:t>
            </a:r>
            <a:r>
              <a:rPr lang="en-US" altLang="zh-CN" dirty="0"/>
              <a:t>1</a:t>
            </a:r>
            <a:r>
              <a:rPr lang="zh-CN" altLang="en-US" dirty="0"/>
              <a:t>次，然后出队</a:t>
            </a:r>
            <a:r>
              <a:rPr lang="en-US" altLang="zh-CN" dirty="0"/>
              <a:t>1</a:t>
            </a:r>
            <a:r>
              <a:rPr lang="zh-CN" altLang="en-US" dirty="0"/>
              <a:t>次，因此层序遍历的时间复杂度为 </a:t>
            </a:r>
            <a:r>
              <a:rPr lang="en-US" altLang="zh-CN" b="1" dirty="0">
                <a:solidFill>
                  <a:srgbClr val="FF0000"/>
                </a:solidFill>
              </a:rPr>
              <a:t>O(n)</a:t>
            </a:r>
            <a:r>
              <a:rPr lang="zh-CN" altLang="en-US" dirty="0"/>
              <a:t>，与深度优先遍历相同。</a:t>
            </a:r>
          </a:p>
        </p:txBody>
      </p:sp>
    </p:spTree>
    <p:extLst>
      <p:ext uri="{BB962C8B-B14F-4D97-AF65-F5344CB8AC3E}">
        <p14:creationId xmlns:p14="http://schemas.microsoft.com/office/powerpoint/2010/main" val="206842400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9C07AF-5ED6-40BB-8BF9-81BDD5DEE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二叉树的序列化与反序列化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635E44-522C-483D-A87E-AA1520D79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744504"/>
            <a:ext cx="8784975" cy="6113495"/>
          </a:xfrm>
        </p:spPr>
        <p:txBody>
          <a:bodyPr/>
          <a:lstStyle/>
          <a:p>
            <a:pPr marL="360000" indent="-360000">
              <a:spcAft>
                <a:spcPts val="0"/>
              </a:spcAft>
            </a:pPr>
            <a:r>
              <a:rPr lang="zh-CN" altLang="en-US" sz="2400" b="1" dirty="0"/>
              <a:t>二叉树的序列化：</a:t>
            </a:r>
            <a:r>
              <a:rPr lang="zh-CN" altLang="en-US" sz="2400" dirty="0"/>
              <a:t>按某种遍历方案访问所有结点并依次输出结点数据，由此</a:t>
            </a:r>
            <a:r>
              <a:rPr lang="zh-CN" altLang="en-US" sz="2400" dirty="0">
                <a:solidFill>
                  <a:srgbClr val="0000FF"/>
                </a:solidFill>
              </a:rPr>
              <a:t>形成结点的线性序列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360000" indent="-360000">
              <a:spcAft>
                <a:spcPts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序列化的作用：将树的非线性结构转换成线性结构，便于使用线性表或字符串等存储。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00" indent="-360000">
              <a:spcAft>
                <a:spcPts val="0"/>
              </a:spcAft>
            </a:pPr>
            <a:r>
              <a:rPr lang="zh-CN" altLang="en-US" sz="2400" b="1" dirty="0"/>
              <a:t>二叉树的反序列化：</a:t>
            </a:r>
            <a:r>
              <a:rPr lang="zh-CN" altLang="en-US" sz="2400" dirty="0"/>
              <a:t>根据线性序列重构原始的二叉树。</a:t>
            </a:r>
            <a:endParaRPr lang="en-US" altLang="zh-CN" sz="2400" dirty="0"/>
          </a:p>
          <a:p>
            <a:pPr marL="360000" indent="-360000" defTabSz="11557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完全二叉树的顺序存储是一种序列化方案，并且可以根据结点间的相对位置确定它们之间的逻辑关系，重构出二叉树。但对于一般的二叉树，此方法可能造成空间浪费，最坏情况下的空间复杂度达到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O(2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00" indent="-360000" defTabSz="1155700">
              <a:spcAft>
                <a:spcPts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常用的前序遍历或层序遍历算法，产生的结点序列只包含了树结构的部分信息，通常无法重构二叉树。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950930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95E9E7-7569-40BF-A471-2DD768F44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二叉树的序列化与反序列化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7CF4D7E-0D7F-4FE7-B1EF-B26C52AF0991}"/>
              </a:ext>
            </a:extLst>
          </p:cNvPr>
          <p:cNvGrpSpPr/>
          <p:nvPr/>
        </p:nvGrpSpPr>
        <p:grpSpPr>
          <a:xfrm>
            <a:off x="503548" y="3802957"/>
            <a:ext cx="8261756" cy="2757877"/>
            <a:chOff x="1357290" y="3714751"/>
            <a:chExt cx="7108345" cy="2915858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0D65AED6-0585-4655-BA8F-F6F2672A0A6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714480" y="3786188"/>
              <a:ext cx="464611" cy="570933"/>
            </a:xfrm>
            <a:prstGeom prst="ellipse">
              <a:avLst/>
            </a:prstGeom>
            <a:solidFill>
              <a:schemeClr val="accent6"/>
            </a:solidFill>
            <a:ln w="6350" cap="flat" cmpd="sng" algn="ctr">
              <a:solidFill>
                <a:srgbClr val="9A86C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057C31F0-E051-421E-8D69-09BAB7BE2924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357290" y="4786320"/>
              <a:ext cx="464611" cy="570933"/>
            </a:xfrm>
            <a:prstGeom prst="ellipse">
              <a:avLst/>
            </a:prstGeom>
            <a:solidFill>
              <a:schemeClr val="accent6"/>
            </a:solidFill>
            <a:ln w="6350" cap="flat" cmpd="sng" algn="ctr">
              <a:solidFill>
                <a:srgbClr val="63619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98BE1240-D5AF-4731-88F6-1810E9CDC292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2071670" y="4786320"/>
              <a:ext cx="464611" cy="570933"/>
            </a:xfrm>
            <a:prstGeom prst="ellipse">
              <a:avLst/>
            </a:prstGeom>
            <a:solidFill>
              <a:schemeClr val="accent6"/>
            </a:solidFill>
            <a:ln w="6350" cap="flat" cmpd="sng" algn="ctr">
              <a:solidFill>
                <a:srgbClr val="63619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CDF2F827-5546-4719-BC68-2F7E656352A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3214678" y="3714751"/>
              <a:ext cx="464611" cy="570933"/>
            </a:xfrm>
            <a:prstGeom prst="ellipse">
              <a:avLst/>
            </a:prstGeom>
            <a:solidFill>
              <a:schemeClr val="accent6"/>
            </a:solidFill>
            <a:ln w="6350" cap="flat" cmpd="sng" algn="ctr">
              <a:solidFill>
                <a:srgbClr val="9A86C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9B48925D-393F-43F9-A3E5-B84E27B15C9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2928926" y="4643444"/>
              <a:ext cx="464611" cy="570933"/>
            </a:xfrm>
            <a:prstGeom prst="ellipse">
              <a:avLst/>
            </a:prstGeom>
            <a:solidFill>
              <a:schemeClr val="accent6"/>
            </a:solidFill>
            <a:ln w="6350" cap="flat" cmpd="sng" algn="ctr">
              <a:solidFill>
                <a:srgbClr val="63619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84D5DCA3-BA08-48C1-B904-4B3AE7E97C1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3357554" y="5572139"/>
              <a:ext cx="464611" cy="570933"/>
            </a:xfrm>
            <a:prstGeom prst="ellipse">
              <a:avLst/>
            </a:prstGeom>
            <a:solidFill>
              <a:schemeClr val="accent6"/>
            </a:solidFill>
            <a:ln w="6350" cap="flat" cmpd="sng" algn="ctr">
              <a:solidFill>
                <a:srgbClr val="63619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D4401273-5033-4F9A-8CCA-53F620A38D5C}"/>
                </a:ext>
              </a:extLst>
            </p:cNvPr>
            <p:cNvCxnSpPr>
              <a:stCxn id="36" idx="3"/>
              <a:endCxn id="37" idx="0"/>
            </p:cNvCxnSpPr>
            <p:nvPr>
              <p:custDataLst>
                <p:tags r:id="rId8"/>
              </p:custDataLst>
            </p:nvPr>
          </p:nvCxnSpPr>
          <p:spPr>
            <a:xfrm flipH="1">
              <a:off x="1589596" y="4273511"/>
              <a:ext cx="192925" cy="512810"/>
            </a:xfrm>
            <a:prstGeom prst="line">
              <a:avLst/>
            </a:prstGeom>
            <a:noFill/>
            <a:ln w="12700" cap="flat" cmpd="sng" algn="ctr">
              <a:solidFill>
                <a:srgbClr val="9F92B0"/>
              </a:solidFill>
              <a:prstDash val="solid"/>
              <a:miter lim="800000"/>
            </a:ln>
            <a:effectLst/>
          </p:spPr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3D66C345-ADDE-4B41-B095-B7E466A68124}"/>
                </a:ext>
              </a:extLst>
            </p:cNvPr>
            <p:cNvCxnSpPr>
              <a:stCxn id="36" idx="5"/>
              <a:endCxn id="38" idx="0"/>
            </p:cNvCxnSpPr>
            <p:nvPr>
              <p:custDataLst>
                <p:tags r:id="rId9"/>
              </p:custDataLst>
            </p:nvPr>
          </p:nvCxnSpPr>
          <p:spPr>
            <a:xfrm>
              <a:off x="2111050" y="4273511"/>
              <a:ext cx="192926" cy="512810"/>
            </a:xfrm>
            <a:prstGeom prst="line">
              <a:avLst/>
            </a:prstGeom>
            <a:noFill/>
            <a:ln w="12700" cap="flat" cmpd="sng" algn="ctr">
              <a:solidFill>
                <a:srgbClr val="9F92B0"/>
              </a:solidFill>
              <a:prstDash val="solid"/>
              <a:miter lim="800000"/>
            </a:ln>
            <a:effectLst/>
          </p:spPr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2C1782B2-CB29-4BC1-A8F9-CAF783D7B941}"/>
                </a:ext>
              </a:extLst>
            </p:cNvPr>
            <p:cNvCxnSpPr>
              <a:stCxn id="39" idx="3"/>
              <a:endCxn id="40" idx="0"/>
            </p:cNvCxnSpPr>
            <p:nvPr>
              <p:custDataLst>
                <p:tags r:id="rId10"/>
              </p:custDataLst>
            </p:nvPr>
          </p:nvCxnSpPr>
          <p:spPr>
            <a:xfrm flipH="1">
              <a:off x="3161232" y="4202073"/>
              <a:ext cx="121487" cy="441371"/>
            </a:xfrm>
            <a:prstGeom prst="line">
              <a:avLst/>
            </a:prstGeom>
            <a:noFill/>
            <a:ln w="12700" cap="flat" cmpd="sng" algn="ctr">
              <a:solidFill>
                <a:srgbClr val="9F92B0"/>
              </a:solidFill>
              <a:prstDash val="solid"/>
              <a:miter lim="800000"/>
            </a:ln>
            <a:effectLst/>
          </p:spPr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D76DD3C7-2139-4CC9-A38C-554BB28C5379}"/>
                </a:ext>
              </a:extLst>
            </p:cNvPr>
            <p:cNvCxnSpPr>
              <a:stCxn id="40" idx="5"/>
              <a:endCxn id="41" idx="0"/>
            </p:cNvCxnSpPr>
            <p:nvPr>
              <p:custDataLst>
                <p:tags r:id="rId11"/>
              </p:custDataLst>
            </p:nvPr>
          </p:nvCxnSpPr>
          <p:spPr>
            <a:xfrm>
              <a:off x="3325496" y="5130767"/>
              <a:ext cx="264364" cy="441373"/>
            </a:xfrm>
            <a:prstGeom prst="line">
              <a:avLst/>
            </a:prstGeom>
            <a:noFill/>
            <a:ln w="12700" cap="flat" cmpd="sng" algn="ctr">
              <a:solidFill>
                <a:srgbClr val="9F92B0"/>
              </a:solidFill>
              <a:prstDash val="solid"/>
              <a:miter lim="800000"/>
            </a:ln>
            <a:effectLst/>
          </p:spPr>
        </p:cxn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71A18283-84FD-4D1F-9B83-80A0598048CD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4357686" y="3714751"/>
              <a:ext cx="464611" cy="570933"/>
            </a:xfrm>
            <a:prstGeom prst="ellipse">
              <a:avLst/>
            </a:prstGeom>
            <a:solidFill>
              <a:schemeClr val="accent6"/>
            </a:solidFill>
            <a:ln w="6350" cap="flat" cmpd="sng" algn="ctr">
              <a:solidFill>
                <a:srgbClr val="9A86C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7DFB64E2-6B6E-4BCF-9A5E-239175377E3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4857752" y="4643444"/>
              <a:ext cx="464611" cy="570933"/>
            </a:xfrm>
            <a:prstGeom prst="ellipse">
              <a:avLst/>
            </a:prstGeom>
            <a:solidFill>
              <a:schemeClr val="accent6"/>
            </a:solidFill>
            <a:ln w="6350" cap="flat" cmpd="sng" algn="ctr">
              <a:solidFill>
                <a:srgbClr val="63619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3E4227FD-9015-4E69-B8C9-8AA3A3F5F24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4500562" y="5572139"/>
              <a:ext cx="464611" cy="570933"/>
            </a:xfrm>
            <a:prstGeom prst="ellipse">
              <a:avLst/>
            </a:prstGeom>
            <a:solidFill>
              <a:schemeClr val="accent6"/>
            </a:solidFill>
            <a:ln w="6350" cap="flat" cmpd="sng" algn="ctr">
              <a:solidFill>
                <a:srgbClr val="63619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9A6F11D4-D895-4FF2-BBAE-6FF19ED19E99}"/>
                </a:ext>
              </a:extLst>
            </p:cNvPr>
            <p:cNvCxnSpPr>
              <a:stCxn id="46" idx="5"/>
              <a:endCxn id="47" idx="0"/>
            </p:cNvCxnSpPr>
            <p:nvPr>
              <p:custDataLst>
                <p:tags r:id="rId15"/>
              </p:custDataLst>
            </p:nvPr>
          </p:nvCxnSpPr>
          <p:spPr>
            <a:xfrm>
              <a:off x="4754256" y="4202073"/>
              <a:ext cx="335801" cy="441371"/>
            </a:xfrm>
            <a:prstGeom prst="line">
              <a:avLst/>
            </a:prstGeom>
            <a:noFill/>
            <a:ln w="12700" cap="flat" cmpd="sng" algn="ctr">
              <a:solidFill>
                <a:srgbClr val="9F92B0"/>
              </a:solidFill>
              <a:prstDash val="solid"/>
              <a:miter lim="800000"/>
            </a:ln>
            <a:effectLst/>
          </p:spPr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2DF3CFBB-A735-4F93-9F66-EE11962EE7B2}"/>
                </a:ext>
              </a:extLst>
            </p:cNvPr>
            <p:cNvCxnSpPr>
              <a:stCxn id="47" idx="3"/>
              <a:endCxn id="48" idx="0"/>
            </p:cNvCxnSpPr>
            <p:nvPr>
              <p:custDataLst>
                <p:tags r:id="rId16"/>
              </p:custDataLst>
            </p:nvPr>
          </p:nvCxnSpPr>
          <p:spPr>
            <a:xfrm flipH="1">
              <a:off x="4732868" y="5130767"/>
              <a:ext cx="192925" cy="441373"/>
            </a:xfrm>
            <a:prstGeom prst="line">
              <a:avLst/>
            </a:prstGeom>
            <a:noFill/>
            <a:ln w="12700" cap="flat" cmpd="sng" algn="ctr">
              <a:solidFill>
                <a:srgbClr val="9F92B0"/>
              </a:solidFill>
              <a:prstDash val="solid"/>
              <a:miter lim="800000"/>
            </a:ln>
            <a:effectLst/>
          </p:spPr>
        </p:cxn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B547BF56-323B-4363-AB91-852E4E6BF41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6357950" y="3714751"/>
              <a:ext cx="464611" cy="570933"/>
            </a:xfrm>
            <a:prstGeom prst="ellipse">
              <a:avLst/>
            </a:prstGeom>
            <a:solidFill>
              <a:schemeClr val="accent6"/>
            </a:solidFill>
            <a:ln w="6350" cap="flat" cmpd="sng" algn="ctr">
              <a:solidFill>
                <a:srgbClr val="9A86C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EEE8372A-5579-413A-AAF7-E09DB9FED570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143636" y="4643444"/>
              <a:ext cx="464611" cy="570933"/>
            </a:xfrm>
            <a:prstGeom prst="ellipse">
              <a:avLst/>
            </a:prstGeom>
            <a:solidFill>
              <a:schemeClr val="accent6"/>
            </a:solidFill>
            <a:ln w="6350" cap="flat" cmpd="sng" algn="ctr">
              <a:solidFill>
                <a:srgbClr val="63619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28506EC1-3981-43EF-AA13-87C0721199F2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5857884" y="5572139"/>
              <a:ext cx="464611" cy="570933"/>
            </a:xfrm>
            <a:prstGeom prst="ellipse">
              <a:avLst/>
            </a:prstGeom>
            <a:solidFill>
              <a:schemeClr val="accent6"/>
            </a:solidFill>
            <a:ln w="6350" cap="flat" cmpd="sng" algn="ctr">
              <a:solidFill>
                <a:srgbClr val="63619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5BD634BB-EAB3-45E3-A129-9317DD37BC23}"/>
                </a:ext>
              </a:extLst>
            </p:cNvPr>
            <p:cNvCxnSpPr>
              <a:endCxn id="52" idx="0"/>
            </p:cNvCxnSpPr>
            <p:nvPr>
              <p:custDataLst>
                <p:tags r:id="rId20"/>
              </p:custDataLst>
            </p:nvPr>
          </p:nvCxnSpPr>
          <p:spPr>
            <a:xfrm flipH="1">
              <a:off x="6375942" y="4214820"/>
              <a:ext cx="124886" cy="428625"/>
            </a:xfrm>
            <a:prstGeom prst="line">
              <a:avLst/>
            </a:prstGeom>
            <a:noFill/>
            <a:ln w="12700" cap="flat" cmpd="sng" algn="ctr">
              <a:solidFill>
                <a:srgbClr val="9F92B0"/>
              </a:solidFill>
              <a:prstDash val="solid"/>
              <a:miter lim="800000"/>
            </a:ln>
            <a:effectLst/>
          </p:spPr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A3A21271-2E07-4753-9C08-5306E1CA9725}"/>
                </a:ext>
              </a:extLst>
            </p:cNvPr>
            <p:cNvCxnSpPr>
              <a:stCxn id="52" idx="3"/>
              <a:endCxn id="53" idx="0"/>
            </p:cNvCxnSpPr>
            <p:nvPr>
              <p:custDataLst>
                <p:tags r:id="rId21"/>
              </p:custDataLst>
            </p:nvPr>
          </p:nvCxnSpPr>
          <p:spPr>
            <a:xfrm flipH="1">
              <a:off x="6090190" y="5130767"/>
              <a:ext cx="121487" cy="441373"/>
            </a:xfrm>
            <a:prstGeom prst="line">
              <a:avLst/>
            </a:prstGeom>
            <a:noFill/>
            <a:ln w="12700" cap="flat" cmpd="sng" algn="ctr">
              <a:solidFill>
                <a:srgbClr val="9F92B0"/>
              </a:solidFill>
              <a:prstDash val="solid"/>
              <a:miter lim="800000"/>
            </a:ln>
            <a:effectLst/>
          </p:spPr>
        </p:cxn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C786C286-24C5-4858-9FEC-27A1911B71A9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7286644" y="3714751"/>
              <a:ext cx="464611" cy="570933"/>
            </a:xfrm>
            <a:prstGeom prst="ellipse">
              <a:avLst/>
            </a:prstGeom>
            <a:solidFill>
              <a:schemeClr val="accent6"/>
            </a:solidFill>
            <a:ln w="6350" cap="flat" cmpd="sng" algn="ctr">
              <a:solidFill>
                <a:srgbClr val="9A86C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BF853B2B-4E61-41A3-88BF-5B6058AF61E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7643834" y="4643444"/>
              <a:ext cx="464611" cy="570933"/>
            </a:xfrm>
            <a:prstGeom prst="ellipse">
              <a:avLst/>
            </a:prstGeom>
            <a:solidFill>
              <a:schemeClr val="accent6"/>
            </a:solidFill>
            <a:ln w="6350" cap="flat" cmpd="sng" algn="ctr">
              <a:solidFill>
                <a:srgbClr val="63619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3E591CC2-8183-4893-9116-8B7284D470AB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8001024" y="5572139"/>
              <a:ext cx="464611" cy="570933"/>
            </a:xfrm>
            <a:prstGeom prst="ellipse">
              <a:avLst/>
            </a:prstGeom>
            <a:solidFill>
              <a:schemeClr val="accent6"/>
            </a:solidFill>
            <a:ln w="6350" cap="flat" cmpd="sng" algn="ctr">
              <a:solidFill>
                <a:srgbClr val="63619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A3D0AB09-965E-4A3B-B36C-D350F818AF72}"/>
                </a:ext>
              </a:extLst>
            </p:cNvPr>
            <p:cNvCxnSpPr>
              <a:stCxn id="56" idx="5"/>
              <a:endCxn id="57" idx="0"/>
            </p:cNvCxnSpPr>
            <p:nvPr>
              <p:custDataLst>
                <p:tags r:id="rId25"/>
              </p:custDataLst>
            </p:nvPr>
          </p:nvCxnSpPr>
          <p:spPr>
            <a:xfrm>
              <a:off x="7683214" y="4202073"/>
              <a:ext cx="192926" cy="441371"/>
            </a:xfrm>
            <a:prstGeom prst="line">
              <a:avLst/>
            </a:prstGeom>
            <a:noFill/>
            <a:ln w="12700" cap="flat" cmpd="sng" algn="ctr">
              <a:solidFill>
                <a:srgbClr val="9F92B0"/>
              </a:solidFill>
              <a:prstDash val="solid"/>
              <a:miter lim="800000"/>
            </a:ln>
            <a:effectLst/>
          </p:spPr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1EA1075F-D30E-43ED-A89A-0240BBD953AB}"/>
                </a:ext>
              </a:extLst>
            </p:cNvPr>
            <p:cNvCxnSpPr>
              <a:stCxn id="57" idx="5"/>
              <a:endCxn id="58" idx="0"/>
            </p:cNvCxnSpPr>
            <p:nvPr>
              <p:custDataLst>
                <p:tags r:id="rId26"/>
              </p:custDataLst>
            </p:nvPr>
          </p:nvCxnSpPr>
          <p:spPr>
            <a:xfrm>
              <a:off x="8040404" y="5130767"/>
              <a:ext cx="192926" cy="441373"/>
            </a:xfrm>
            <a:prstGeom prst="line">
              <a:avLst/>
            </a:prstGeom>
            <a:noFill/>
            <a:ln w="12700" cap="flat" cmpd="sng" algn="ctr">
              <a:solidFill>
                <a:srgbClr val="9F92B0"/>
              </a:solidFill>
              <a:prstDash val="solid"/>
              <a:miter lim="800000"/>
            </a:ln>
            <a:effectLst/>
          </p:spPr>
        </p:cxnSp>
        <p:sp>
          <p:nvSpPr>
            <p:cNvPr id="61" name="TextBox 29">
              <a:extLst>
                <a:ext uri="{FF2B5EF4-FFF2-40B4-BE49-F238E27FC236}">
                  <a16:creationId xmlns:a16="http://schemas.microsoft.com/office/drawing/2014/main" id="{7D8695DA-6702-4FB0-8F10-1D014AAA7773}"/>
                </a:ext>
              </a:extLst>
            </p:cNvPr>
            <p:cNvSpPr txBox="1"/>
            <p:nvPr/>
          </p:nvSpPr>
          <p:spPr>
            <a:xfrm>
              <a:off x="1714479" y="6215082"/>
              <a:ext cx="464611" cy="388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(a)</a:t>
              </a:r>
            </a:p>
          </p:txBody>
        </p:sp>
        <p:sp>
          <p:nvSpPr>
            <p:cNvPr id="62" name="TextBox 30">
              <a:extLst>
                <a:ext uri="{FF2B5EF4-FFF2-40B4-BE49-F238E27FC236}">
                  <a16:creationId xmlns:a16="http://schemas.microsoft.com/office/drawing/2014/main" id="{0DFBA42F-8B89-4784-BD35-75D4EF50F8A8}"/>
                </a:ext>
              </a:extLst>
            </p:cNvPr>
            <p:cNvSpPr txBox="1"/>
            <p:nvPr/>
          </p:nvSpPr>
          <p:spPr>
            <a:xfrm>
              <a:off x="3093190" y="6242018"/>
              <a:ext cx="464611" cy="388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(b)</a:t>
              </a:r>
            </a:p>
          </p:txBody>
        </p:sp>
        <p:sp>
          <p:nvSpPr>
            <p:cNvPr id="63" name="TextBox 31">
              <a:extLst>
                <a:ext uri="{FF2B5EF4-FFF2-40B4-BE49-F238E27FC236}">
                  <a16:creationId xmlns:a16="http://schemas.microsoft.com/office/drawing/2014/main" id="{0EB60454-C4A2-4D12-99E0-62E9C653B736}"/>
                </a:ext>
              </a:extLst>
            </p:cNvPr>
            <p:cNvSpPr txBox="1"/>
            <p:nvPr/>
          </p:nvSpPr>
          <p:spPr>
            <a:xfrm>
              <a:off x="4589991" y="6242018"/>
              <a:ext cx="464611" cy="388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(c)</a:t>
              </a:r>
            </a:p>
          </p:txBody>
        </p:sp>
        <p:sp>
          <p:nvSpPr>
            <p:cNvPr id="64" name="TextBox 32">
              <a:extLst>
                <a:ext uri="{FF2B5EF4-FFF2-40B4-BE49-F238E27FC236}">
                  <a16:creationId xmlns:a16="http://schemas.microsoft.com/office/drawing/2014/main" id="{D163C685-2B85-42F8-967F-B58243BBC78F}"/>
                </a:ext>
              </a:extLst>
            </p:cNvPr>
            <p:cNvSpPr txBox="1"/>
            <p:nvPr/>
          </p:nvSpPr>
          <p:spPr>
            <a:xfrm>
              <a:off x="6143636" y="6215082"/>
              <a:ext cx="464611" cy="388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(d)</a:t>
              </a:r>
            </a:p>
          </p:txBody>
        </p:sp>
        <p:sp>
          <p:nvSpPr>
            <p:cNvPr id="65" name="TextBox 33">
              <a:extLst>
                <a:ext uri="{FF2B5EF4-FFF2-40B4-BE49-F238E27FC236}">
                  <a16:creationId xmlns:a16="http://schemas.microsoft.com/office/drawing/2014/main" id="{62D4C6D9-CEB7-47F5-BA8A-28AAF40C1742}"/>
                </a:ext>
              </a:extLst>
            </p:cNvPr>
            <p:cNvSpPr txBox="1"/>
            <p:nvPr/>
          </p:nvSpPr>
          <p:spPr>
            <a:xfrm>
              <a:off x="7643833" y="6215082"/>
              <a:ext cx="464611" cy="388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(e)</a:t>
              </a:r>
            </a:p>
          </p:txBody>
        </p:sp>
      </p:grpSp>
      <p:graphicFrame>
        <p:nvGraphicFramePr>
          <p:cNvPr id="66" name="Group 169">
            <a:extLst>
              <a:ext uri="{FF2B5EF4-FFF2-40B4-BE49-F238E27FC236}">
                <a16:creationId xmlns:a16="http://schemas.microsoft.com/office/drawing/2014/main" id="{A85AC94B-7FE5-4E86-83EE-9C7479977F9B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6565859"/>
              </p:ext>
            </p:extLst>
          </p:nvPr>
        </p:nvGraphicFramePr>
        <p:xfrm>
          <a:off x="107504" y="1231190"/>
          <a:ext cx="8928992" cy="2214579"/>
        </p:xfrm>
        <a:graphic>
          <a:graphicData uri="http://schemas.openxmlformats.org/drawingml/2006/table">
            <a:tbl>
              <a:tblPr/>
              <a:tblGrid>
                <a:gridCol w="2091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75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75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75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91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二叉树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遍历序列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图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(a)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的二叉树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图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(b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)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的二叉树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图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(c)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的二叉树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图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(d)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的二叉树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图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(e)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的二叉树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4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前序遍历序列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ABC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ABC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ABC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ABC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ABC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4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中序遍历序列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BAC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BCA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ACB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CBA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ABC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4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后序遍历序列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BCA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CBA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CBA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CBA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CBA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04056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B6E0789-88A3-4125-ADA3-FE9C5F393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二叉树的序列化与反序列化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D12DA9-3DD1-405B-9A9F-7BC579EB5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000000"/>
                </a:solidFill>
                <a:cs typeface="Consolas" panose="020B0609020204030204" pitchFamily="49" charset="0"/>
              </a:rPr>
              <a:t>从中可以看到，对于不同形态的二叉树：</a:t>
            </a:r>
            <a:endParaRPr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前序遍历序列</a:t>
            </a:r>
            <a:r>
              <a:rPr lang="zh-CN" altLang="en-US" dirty="0"/>
              <a:t>可能相同。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中序遍历序列</a:t>
            </a:r>
            <a:r>
              <a:rPr lang="zh-CN" altLang="en-US" dirty="0"/>
              <a:t>可能相同。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后序遍历序列</a:t>
            </a:r>
            <a:r>
              <a:rPr lang="zh-CN" altLang="en-US" dirty="0"/>
              <a:t>可能相同。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前序遍历序列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后序遍历序列</a:t>
            </a:r>
            <a:r>
              <a:rPr lang="zh-CN" altLang="en-US" dirty="0"/>
              <a:t>可能都相同。</a:t>
            </a:r>
          </a:p>
        </p:txBody>
      </p:sp>
    </p:spTree>
    <p:extLst>
      <p:ext uri="{BB962C8B-B14F-4D97-AF65-F5344CB8AC3E}">
        <p14:creationId xmlns:p14="http://schemas.microsoft.com/office/powerpoint/2010/main" val="54848515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5"/>
          <p:cNvSpPr>
            <a:spLocks noChangeArrowheads="1"/>
          </p:cNvSpPr>
          <p:nvPr/>
        </p:nvSpPr>
        <p:spPr bwMode="auto">
          <a:xfrm>
            <a:off x="755576" y="188640"/>
            <a:ext cx="4752528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二叉树的序列化与反序列化</a:t>
            </a:r>
          </a:p>
        </p:txBody>
      </p:sp>
      <p:sp>
        <p:nvSpPr>
          <p:cNvPr id="67586" name="Rectangle 4"/>
          <p:cNvSpPr>
            <a:spLocks noChangeArrowheads="1"/>
          </p:cNvSpPr>
          <p:nvPr/>
        </p:nvSpPr>
        <p:spPr bwMode="auto">
          <a:xfrm>
            <a:off x="323528" y="757444"/>
            <a:ext cx="8496944" cy="3247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若二叉树中各结点的值均不相同，则：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由二叉树的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前序序列和中序序列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，或者由其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后序序列和中序序列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均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能唯一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地确定一棵二叉树；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但由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前序序列和后序序列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却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不一定能唯一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地确定一棵二叉树。 </a:t>
            </a:r>
          </a:p>
        </p:txBody>
      </p:sp>
      <p:sp>
        <p:nvSpPr>
          <p:cNvPr id="19" name="Text Box 6">
            <a:extLst>
              <a:ext uri="{FF2B5EF4-FFF2-40B4-BE49-F238E27FC236}">
                <a16:creationId xmlns:a16="http://schemas.microsoft.com/office/drawing/2014/main" id="{C31D1C9D-229C-47AE-8AD9-E0E63E034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082" y="4477003"/>
            <a:ext cx="3363870" cy="53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b="0" dirty="0">
                <a:solidFill>
                  <a:srgbClr val="800000"/>
                </a:solidFill>
                <a:latin typeface="+mn-ea"/>
                <a:ea typeface="+mn-ea"/>
              </a:rPr>
              <a:t>二叉树的先序序列：</a:t>
            </a:r>
            <a:endParaRPr lang="zh-CN" altLang="en-US" sz="2800" b="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20" name="Text Box 7">
            <a:extLst>
              <a:ext uri="{FF2B5EF4-FFF2-40B4-BE49-F238E27FC236}">
                <a16:creationId xmlns:a16="http://schemas.microsoft.com/office/drawing/2014/main" id="{15C7BBDA-FE9B-4D49-95CF-B69BB2B5E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082" y="5546010"/>
            <a:ext cx="3452689" cy="53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b="0" dirty="0">
                <a:solidFill>
                  <a:srgbClr val="800000"/>
                </a:solidFill>
                <a:latin typeface="+mn-ea"/>
                <a:ea typeface="+mn-ea"/>
              </a:rPr>
              <a:t>二叉树的中序序列：</a:t>
            </a:r>
            <a:endParaRPr lang="zh-CN" altLang="en-US" sz="2800" b="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21" name="Text Box 8">
            <a:extLst>
              <a:ext uri="{FF2B5EF4-FFF2-40B4-BE49-F238E27FC236}">
                <a16:creationId xmlns:a16="http://schemas.microsoft.com/office/drawing/2014/main" id="{3AFB44C3-4E15-42E3-B530-BF74C181A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4510" y="5561580"/>
            <a:ext cx="1654175" cy="523220"/>
          </a:xfrm>
          <a:prstGeom prst="rect">
            <a:avLst/>
          </a:prstGeom>
          <a:solidFill>
            <a:srgbClr val="CCFFCC"/>
          </a:solidFill>
          <a:ln w="31750" cap="sq">
            <a:solidFill>
              <a:srgbClr val="008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+mn-ea"/>
                <a:ea typeface="+mn-ea"/>
              </a:rPr>
              <a:t>左子树</a:t>
            </a:r>
            <a:endParaRPr kumimoji="1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2" name="Text Box 9">
            <a:extLst>
              <a:ext uri="{FF2B5EF4-FFF2-40B4-BE49-F238E27FC236}">
                <a16:creationId xmlns:a16="http://schemas.microsoft.com/office/drawing/2014/main" id="{3AFE6A2C-D386-4A50-AEDE-2B44C96CE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0" y="4484712"/>
            <a:ext cx="1654175" cy="523220"/>
          </a:xfrm>
          <a:prstGeom prst="rect">
            <a:avLst/>
          </a:prstGeom>
          <a:solidFill>
            <a:srgbClr val="CCFFCC"/>
          </a:solidFill>
          <a:ln w="31750" cap="sq">
            <a:solidFill>
              <a:srgbClr val="008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+mn-ea"/>
                <a:ea typeface="+mn-ea"/>
              </a:rPr>
              <a:t>左子树</a:t>
            </a:r>
            <a:endParaRPr kumimoji="1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8FBC84A3-5F16-4AC1-9685-59C3FF18A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865" y="4484712"/>
            <a:ext cx="1654175" cy="523220"/>
          </a:xfrm>
          <a:prstGeom prst="rect">
            <a:avLst/>
          </a:prstGeom>
          <a:solidFill>
            <a:srgbClr val="CCECFF"/>
          </a:solidFill>
          <a:ln w="31750" cap="sq">
            <a:solidFill>
              <a:srgbClr val="0000FF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ea"/>
                <a:ea typeface="+mn-ea"/>
              </a:rPr>
              <a:t>右子树</a:t>
            </a:r>
          </a:p>
        </p:txBody>
      </p:sp>
      <p:sp>
        <p:nvSpPr>
          <p:cNvPr id="24" name="Text Box 11">
            <a:extLst>
              <a:ext uri="{FF2B5EF4-FFF2-40B4-BE49-F238E27FC236}">
                <a16:creationId xmlns:a16="http://schemas.microsoft.com/office/drawing/2014/main" id="{51E455A6-13E0-40B6-BBB2-4887708E6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668" y="5551044"/>
            <a:ext cx="1654175" cy="523220"/>
          </a:xfrm>
          <a:prstGeom prst="rect">
            <a:avLst/>
          </a:prstGeom>
          <a:solidFill>
            <a:srgbClr val="CCECFF"/>
          </a:solidFill>
          <a:ln w="31750" cap="sq">
            <a:solidFill>
              <a:srgbClr val="0000FF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ea"/>
                <a:ea typeface="+mn-ea"/>
              </a:rPr>
              <a:t>右子树</a:t>
            </a:r>
          </a:p>
        </p:txBody>
      </p:sp>
      <p:sp>
        <p:nvSpPr>
          <p:cNvPr id="25" name="Oval 12">
            <a:extLst>
              <a:ext uri="{FF2B5EF4-FFF2-40B4-BE49-F238E27FC236}">
                <a16:creationId xmlns:a16="http://schemas.microsoft.com/office/drawing/2014/main" id="{B444CDDD-9D78-4BEB-9E72-5407BD44E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510" y="4437747"/>
            <a:ext cx="609600" cy="609600"/>
          </a:xfrm>
          <a:prstGeom prst="ellipse">
            <a:avLst/>
          </a:prstGeom>
          <a:solidFill>
            <a:srgbClr val="FFCC99"/>
          </a:solidFill>
          <a:ln w="31750" cap="sq">
            <a:solidFill>
              <a:srgbClr val="FF66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</a:rPr>
              <a:t>根</a:t>
            </a:r>
            <a:endParaRPr kumimoji="1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6" name="Oval 13">
            <a:extLst>
              <a:ext uri="{FF2B5EF4-FFF2-40B4-BE49-F238E27FC236}">
                <a16:creationId xmlns:a16="http://schemas.microsoft.com/office/drawing/2014/main" id="{298836BC-1EEA-4099-BE51-64916207E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0265" y="5518390"/>
            <a:ext cx="609600" cy="609600"/>
          </a:xfrm>
          <a:prstGeom prst="ellipse">
            <a:avLst/>
          </a:prstGeom>
          <a:solidFill>
            <a:srgbClr val="FFCC99"/>
          </a:solidFill>
          <a:ln w="31750" cap="sq">
            <a:solidFill>
              <a:srgbClr val="FF66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</a:rPr>
              <a:t>根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2904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0" grpId="0" autoUpdateAnimBg="0"/>
      <p:bldP spid="21" grpId="0" animBg="1" autoUpdateAnimBg="0"/>
      <p:bldP spid="22" grpId="0" animBg="1" autoUpdateAnimBg="0"/>
      <p:bldP spid="23" grpId="0" animBg="1" autoUpdateAnimBg="0"/>
      <p:bldP spid="24" grpId="0" animBg="1" autoUpdateAnimBg="0"/>
      <p:bldP spid="25" grpId="0" animBg="1" autoUpdateAnimBg="0"/>
      <p:bldP spid="26" grpId="0" animBg="1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4"/>
          <p:cNvSpPr>
            <a:spLocks noChangeArrowheads="1"/>
          </p:cNvSpPr>
          <p:nvPr/>
        </p:nvSpPr>
        <p:spPr bwMode="auto">
          <a:xfrm>
            <a:off x="827088" y="133350"/>
            <a:ext cx="23399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课堂讨论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12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微软雅黑" panose="020B0503020204020204" pitchFamily="34" charset="-122"/>
              <a:cs typeface="+mj-cs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9E4AB3-5FBC-4649-905E-B1E65647AE3E}"/>
              </a:ext>
            </a:extLst>
          </p:cNvPr>
          <p:cNvSpPr txBox="1"/>
          <p:nvPr/>
        </p:nvSpPr>
        <p:spPr>
          <a:xfrm>
            <a:off x="251520" y="764704"/>
            <a:ext cx="8568952" cy="1308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已知一棵二叉树的</a:t>
            </a:r>
            <a:r>
              <a:rPr kumimoji="0" lang="zh-CN" altLang="pt-BR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前序</a:t>
            </a:r>
            <a:r>
              <a:rPr kumimoji="0" lang="zh-CN" altLang="pt-B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序列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为 </a:t>
            </a:r>
            <a:r>
              <a:rPr kumimoji="0" lang="pt-BR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A B H F D E C K G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</a:t>
            </a:r>
            <a:r>
              <a:rPr kumimoji="0" lang="pt-BR" altLang="zh-CN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 </a:t>
            </a:r>
            <a:r>
              <a:rPr kumimoji="0" lang="zh-CN" altLang="pt-BR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中序</a:t>
            </a:r>
            <a:r>
              <a:rPr kumimoji="0" lang="zh-CN" altLang="pt-B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序列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为</a:t>
            </a:r>
            <a:r>
              <a:rPr kumimoji="0" lang="pt-BR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 H B D F A E K C G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，请画出这棵二叉树。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90030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4"/>
          <p:cNvSpPr>
            <a:spLocks noChangeArrowheads="1"/>
          </p:cNvSpPr>
          <p:nvPr/>
        </p:nvSpPr>
        <p:spPr bwMode="auto">
          <a:xfrm>
            <a:off x="827088" y="133350"/>
            <a:ext cx="23399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课堂讨论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13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微软雅黑" panose="020B0503020204020204" pitchFamily="34" charset="-122"/>
              <a:cs typeface="+mj-cs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9E4AB3-5FBC-4649-905E-B1E65647AE3E}"/>
              </a:ext>
            </a:extLst>
          </p:cNvPr>
          <p:cNvSpPr txBox="1"/>
          <p:nvPr/>
        </p:nvSpPr>
        <p:spPr>
          <a:xfrm>
            <a:off x="251520" y="764704"/>
            <a:ext cx="8712968" cy="1308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已知一棵二叉树的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中序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序列和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后序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序列分别是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B D C E A F H G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和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D E C B H G F A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，请画出这棵二叉树。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280999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E54AC1-0A2A-4709-B049-C60FDC00C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前序遍历序列化与反序列化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BE5163-F6DF-48DA-A74F-BC517BCC8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5"/>
            <a:ext cx="8642659" cy="5492807"/>
          </a:xfrm>
        </p:spPr>
        <p:txBody>
          <a:bodyPr/>
          <a:lstStyle/>
          <a:p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如何使前序遍历的结果能够重构二叉树？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altLang="zh-CN" sz="2800" kern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Symbol" pitchFamily="2" charset="2"/>
              </a:rPr>
              <a:t>A B D H I E J C F K</a:t>
            </a:r>
            <a:endParaRPr lang="en-US" altLang="zh-CN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通过在结点序列中插入空记号，如</a:t>
            </a:r>
            <a:r>
              <a:rPr lang="en-US" altLang="zh-CN" dirty="0">
                <a:latin typeface="+mn-lt"/>
                <a:ea typeface="+mj-ea"/>
              </a:rPr>
              <a:t>“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dirty="0">
                <a:latin typeface="+mn-lt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latin typeface="+mn-lt"/>
                <a:ea typeface="微软雅黑" panose="020B0503020204020204" pitchFamily="34" charset="-122"/>
              </a:rPr>
              <a:t>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记录二叉树的非线性结构</a:t>
            </a:r>
            <a:r>
              <a:rPr lang="zh-CN" altLang="en-US" dirty="0">
                <a:latin typeface="+mn-lt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+mn-lt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pt-BR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B D H # # I # # E # J # # C F # K # # #</a:t>
            </a:r>
            <a:endParaRPr lang="en-US" altLang="zh-CN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前序遍历二叉树，如果结点为空，输出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，否则输出结点数据。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等同于，将二叉树扩充为一棵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扩充二叉树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所有叶结点都是特殊空结点 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j-ea"/>
              </a:rPr>
              <a:t>“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微软雅黑" panose="020B0503020204020204" pitchFamily="34" charset="-122"/>
              </a:rPr>
              <a:t>” 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的满二叉树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），再前序遍历得到序列。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555197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F444D0-6335-41E8-815A-A7CFDD7C0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前序遍历序列化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250654B9-68BC-451F-B965-8B1819C45511}"/>
              </a:ext>
            </a:extLst>
          </p:cNvPr>
          <p:cNvGrpSpPr/>
          <p:nvPr/>
        </p:nvGrpSpPr>
        <p:grpSpPr>
          <a:xfrm>
            <a:off x="107504" y="1435273"/>
            <a:ext cx="3282751" cy="2654717"/>
            <a:chOff x="1214414" y="2427604"/>
            <a:chExt cx="2357454" cy="1963280"/>
          </a:xfrm>
          <a:solidFill>
            <a:srgbClr val="FFC000"/>
          </a:solidFill>
        </p:grpSpPr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84196466-00A2-4F3F-8913-3548F6E111CF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auto">
            <a:xfrm>
              <a:off x="2726081" y="3203407"/>
              <a:ext cx="208179" cy="328087"/>
            </a:xfrm>
            <a:custGeom>
              <a:avLst/>
              <a:gdLst/>
              <a:ahLst/>
              <a:cxnLst>
                <a:cxn ang="0">
                  <a:pos x="233" y="0"/>
                </a:cxn>
                <a:cxn ang="0">
                  <a:pos x="0" y="383"/>
                </a:cxn>
              </a:cxnLst>
              <a:rect l="0" t="0" r="r" b="b"/>
              <a:pathLst>
                <a:path w="233" h="383">
                  <a:moveTo>
                    <a:pt x="233" y="0"/>
                  </a:moveTo>
                  <a:lnTo>
                    <a:pt x="0" y="383"/>
                  </a:lnTo>
                </a:path>
              </a:pathLst>
            </a:cu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b" anchorCtr="0" compatLnSpc="1"/>
            <a:lstStyle/>
            <a:p>
              <a:pPr marL="0" marR="0" lvl="0" indent="0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59" name="Line 44">
              <a:extLst>
                <a:ext uri="{FF2B5EF4-FFF2-40B4-BE49-F238E27FC236}">
                  <a16:creationId xmlns:a16="http://schemas.microsoft.com/office/drawing/2014/main" id="{B7515983-1D22-4960-A74C-8193C0C8A9C2}"/>
                </a:ext>
              </a:extLst>
            </p:cNvPr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1433314" y="3761070"/>
              <a:ext cx="308248" cy="334084"/>
            </a:xfrm>
            <a:prstGeom prst="lin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b" anchorCtr="0" compatLnSpc="1"/>
            <a:lstStyle/>
            <a:p>
              <a:pPr marL="0" marR="0" lvl="0" indent="0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0" name="Freeform 43">
              <a:extLst>
                <a:ext uri="{FF2B5EF4-FFF2-40B4-BE49-F238E27FC236}">
                  <a16:creationId xmlns:a16="http://schemas.microsoft.com/office/drawing/2014/main" id="{D3AF410A-AA26-4865-AB07-D45A0A6B3C8F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auto">
            <a:xfrm>
              <a:off x="3101339" y="3172569"/>
              <a:ext cx="234983" cy="3657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3" y="427"/>
                </a:cxn>
              </a:cxnLst>
              <a:rect l="0" t="0" r="r" b="b"/>
              <a:pathLst>
                <a:path w="263" h="427">
                  <a:moveTo>
                    <a:pt x="0" y="0"/>
                  </a:moveTo>
                  <a:lnTo>
                    <a:pt x="263" y="427"/>
                  </a:lnTo>
                </a:path>
              </a:pathLst>
            </a:cu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b" anchorCtr="0" compatLnSpc="1"/>
            <a:lstStyle/>
            <a:p>
              <a:pPr marL="0" marR="0" lvl="0" indent="0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1" name="Line 42">
              <a:extLst>
                <a:ext uri="{FF2B5EF4-FFF2-40B4-BE49-F238E27FC236}">
                  <a16:creationId xmlns:a16="http://schemas.microsoft.com/office/drawing/2014/main" id="{72E36A1E-EF7E-4D45-AD73-9E3D5367AD81}"/>
                </a:ext>
              </a:extLst>
            </p:cNvPr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 flipH="1">
              <a:off x="1360943" y="3138304"/>
              <a:ext cx="285911" cy="406897"/>
            </a:xfrm>
            <a:prstGeom prst="lin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b" anchorCtr="0" compatLnSpc="1"/>
            <a:lstStyle/>
            <a:p>
              <a:pPr marL="0" marR="0" lvl="0" indent="0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2" name="Oval 40">
              <a:extLst>
                <a:ext uri="{FF2B5EF4-FFF2-40B4-BE49-F238E27FC236}">
                  <a16:creationId xmlns:a16="http://schemas.microsoft.com/office/drawing/2014/main" id="{AEDF3AE4-E965-422B-85AE-DE8AAF4578EB}"/>
                </a:ext>
              </a:extLst>
            </p:cNvPr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2247736" y="2427604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63" name="Oval 39">
              <a:extLst>
                <a:ext uri="{FF2B5EF4-FFF2-40B4-BE49-F238E27FC236}">
                  <a16:creationId xmlns:a16="http://schemas.microsoft.com/office/drawing/2014/main" id="{F7A94017-61A6-4FFA-A1E2-F61F501CC90E}"/>
                </a:ext>
              </a:extLst>
            </p:cNvPr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550359" y="2915580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64" name="Oval 38">
              <a:extLst>
                <a:ext uri="{FF2B5EF4-FFF2-40B4-BE49-F238E27FC236}">
                  <a16:creationId xmlns:a16="http://schemas.microsoft.com/office/drawing/2014/main" id="{495640D6-48DA-4C03-959C-66D0CAD558F8}"/>
                </a:ext>
              </a:extLst>
            </p:cNvPr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2878865" y="2954128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65" name="Oval 37">
              <a:extLst>
                <a:ext uri="{FF2B5EF4-FFF2-40B4-BE49-F238E27FC236}">
                  <a16:creationId xmlns:a16="http://schemas.microsoft.com/office/drawing/2014/main" id="{6FAD6463-927C-4E37-93D5-DC2C52DF0B2C}"/>
                </a:ext>
              </a:extLst>
            </p:cNvPr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2586699" y="3532350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66" name="Oval 36">
              <a:extLst>
                <a:ext uri="{FF2B5EF4-FFF2-40B4-BE49-F238E27FC236}">
                  <a16:creationId xmlns:a16="http://schemas.microsoft.com/office/drawing/2014/main" id="{73A60026-6963-4F5D-9752-68AEE65001BF}"/>
                </a:ext>
              </a:extLst>
            </p:cNvPr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3247868" y="3532350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67" name="Oval 35">
              <a:extLst>
                <a:ext uri="{FF2B5EF4-FFF2-40B4-BE49-F238E27FC236}">
                  <a16:creationId xmlns:a16="http://schemas.microsoft.com/office/drawing/2014/main" id="{91E3ABCB-0732-4ACE-B934-FD7FF97DF6AA}"/>
                </a:ext>
              </a:extLst>
            </p:cNvPr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1214414" y="3545199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68" name="Oval 33">
              <a:extLst>
                <a:ext uri="{FF2B5EF4-FFF2-40B4-BE49-F238E27FC236}">
                  <a16:creationId xmlns:a16="http://schemas.microsoft.com/office/drawing/2014/main" id="{0FD51FF5-8CBB-4C8F-9A1D-66367CEF105B}"/>
                </a:ext>
              </a:extLst>
            </p:cNvPr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632558" y="4066884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2DB7E4FE-0315-4141-832F-E38040C9E8B8}"/>
                </a:ext>
              </a:extLst>
            </p:cNvPr>
            <p:cNvCxnSpPr>
              <a:endCxn id="63" idx="7"/>
            </p:cNvCxnSpPr>
            <p:nvPr>
              <p:custDataLst>
                <p:tags r:id="rId43"/>
              </p:custDataLst>
            </p:nvPr>
          </p:nvCxnSpPr>
          <p:spPr>
            <a:xfrm rot="10800000" flipV="1">
              <a:off x="1826910" y="2656277"/>
              <a:ext cx="439876" cy="306751"/>
            </a:xfrm>
            <a:prstGeom prst="lin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2839259F-0832-4432-BF38-33E0A68C1265}"/>
                </a:ext>
              </a:extLst>
            </p:cNvPr>
            <p:cNvCxnSpPr>
              <a:endCxn id="64" idx="1"/>
            </p:cNvCxnSpPr>
            <p:nvPr>
              <p:custDataLst>
                <p:tags r:id="rId44"/>
              </p:custDataLst>
            </p:nvPr>
          </p:nvCxnSpPr>
          <p:spPr>
            <a:xfrm>
              <a:off x="2571736" y="2675329"/>
              <a:ext cx="354578" cy="326248"/>
            </a:xfrm>
            <a:prstGeom prst="lin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  <a:tailEnd type="none"/>
            </a:ln>
            <a:effectLst/>
          </p:spPr>
        </p:cxn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C4D7E68D-C083-4699-9CEC-6260C2AEC890}"/>
              </a:ext>
            </a:extLst>
          </p:cNvPr>
          <p:cNvGrpSpPr/>
          <p:nvPr/>
        </p:nvGrpSpPr>
        <p:grpSpPr>
          <a:xfrm>
            <a:off x="4564672" y="1196752"/>
            <a:ext cx="4056375" cy="3273212"/>
            <a:chOff x="4410073" y="2214554"/>
            <a:chExt cx="3019447" cy="2501594"/>
          </a:xfrm>
          <a:solidFill>
            <a:srgbClr val="FFC000"/>
          </a:solidFill>
        </p:grpSpPr>
        <p:sp>
          <p:nvSpPr>
            <p:cNvPr id="72" name="Freeform 45">
              <a:extLst>
                <a:ext uri="{FF2B5EF4-FFF2-40B4-BE49-F238E27FC236}">
                  <a16:creationId xmlns:a16="http://schemas.microsoft.com/office/drawing/2014/main" id="{E3EFCE38-EA1C-4B07-9F47-8C5C1935F4B6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6281749" y="2963388"/>
              <a:ext cx="285752" cy="357189"/>
            </a:xfrm>
            <a:custGeom>
              <a:avLst/>
              <a:gdLst/>
              <a:ahLst/>
              <a:cxnLst>
                <a:cxn ang="0">
                  <a:pos x="233" y="0"/>
                </a:cxn>
                <a:cxn ang="0">
                  <a:pos x="0" y="383"/>
                </a:cxn>
              </a:cxnLst>
              <a:rect l="0" t="0" r="r" b="b"/>
              <a:pathLst>
                <a:path w="233" h="383">
                  <a:moveTo>
                    <a:pt x="233" y="0"/>
                  </a:moveTo>
                  <a:lnTo>
                    <a:pt x="0" y="383"/>
                  </a:lnTo>
                </a:path>
              </a:pathLst>
            </a:cu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b" anchorCtr="0" compatLnSpc="1"/>
            <a:lstStyle/>
            <a:p>
              <a:pPr marL="0" marR="0" lvl="0" indent="0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3" name="Line 44">
              <a:extLst>
                <a:ext uri="{FF2B5EF4-FFF2-40B4-BE49-F238E27FC236}">
                  <a16:creationId xmlns:a16="http://schemas.microsoft.com/office/drawing/2014/main" id="{F4B38DE4-CFE5-4969-9E0A-B99E416EB58B}"/>
                </a:ext>
              </a:extLst>
            </p:cNvPr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4929013" y="3548020"/>
              <a:ext cx="308248" cy="334084"/>
            </a:xfrm>
            <a:prstGeom prst="lin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b" anchorCtr="0" compatLnSpc="1"/>
            <a:lstStyle/>
            <a:p>
              <a:pPr marL="0" marR="0" lvl="0" indent="0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4" name="Freeform 43">
              <a:extLst>
                <a:ext uri="{FF2B5EF4-FFF2-40B4-BE49-F238E27FC236}">
                  <a16:creationId xmlns:a16="http://schemas.microsoft.com/office/drawing/2014/main" id="{ED982EC7-6E5B-466E-B77B-3B96FE0673D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 bwMode="auto">
            <a:xfrm>
              <a:off x="6710377" y="2963388"/>
              <a:ext cx="307383" cy="3619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3" y="427"/>
                </a:cxn>
              </a:cxnLst>
              <a:rect l="0" t="0" r="r" b="b"/>
              <a:pathLst>
                <a:path w="263" h="427">
                  <a:moveTo>
                    <a:pt x="0" y="0"/>
                  </a:moveTo>
                  <a:lnTo>
                    <a:pt x="263" y="427"/>
                  </a:lnTo>
                </a:path>
              </a:pathLst>
            </a:cu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b" anchorCtr="0" compatLnSpc="1"/>
            <a:lstStyle/>
            <a:p>
              <a:pPr marL="0" marR="0" lvl="0" indent="0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5" name="Line 42">
              <a:extLst>
                <a:ext uri="{FF2B5EF4-FFF2-40B4-BE49-F238E27FC236}">
                  <a16:creationId xmlns:a16="http://schemas.microsoft.com/office/drawing/2014/main" id="{EFC77DA6-4FB4-40FA-967C-231224D9DBBF}"/>
                </a:ext>
              </a:extLst>
            </p:cNvPr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 flipH="1">
              <a:off x="4856642" y="2925254"/>
              <a:ext cx="285911" cy="406897"/>
            </a:xfrm>
            <a:prstGeom prst="lin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b" anchorCtr="0" compatLnSpc="1"/>
            <a:lstStyle/>
            <a:p>
              <a:pPr marL="0" marR="0" lvl="0" indent="0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6" name="Oval 40">
              <a:extLst>
                <a:ext uri="{FF2B5EF4-FFF2-40B4-BE49-F238E27FC236}">
                  <a16:creationId xmlns:a16="http://schemas.microsoft.com/office/drawing/2014/main" id="{FF8A19E0-CCB8-4B09-976F-FAC8088B9665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743435" y="2214554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77" name="Oval 39">
              <a:extLst>
                <a:ext uri="{FF2B5EF4-FFF2-40B4-BE49-F238E27FC236}">
                  <a16:creationId xmlns:a16="http://schemas.microsoft.com/office/drawing/2014/main" id="{47E213DD-0C85-45BC-8436-9961CF3DD099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046058" y="2702530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78" name="Oval 38">
              <a:extLst>
                <a:ext uri="{FF2B5EF4-FFF2-40B4-BE49-F238E27FC236}">
                  <a16:creationId xmlns:a16="http://schemas.microsoft.com/office/drawing/2014/main" id="{27CF58B9-450C-49EB-95F9-22FCD8EB69F7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443528" y="2741078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79" name="Oval 37">
              <a:extLst>
                <a:ext uri="{FF2B5EF4-FFF2-40B4-BE49-F238E27FC236}">
                  <a16:creationId xmlns:a16="http://schemas.microsoft.com/office/drawing/2014/main" id="{7987C292-6F1C-4FDA-BE27-7271D6640855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082398" y="3319300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80" name="Oval 36">
              <a:extLst>
                <a:ext uri="{FF2B5EF4-FFF2-40B4-BE49-F238E27FC236}">
                  <a16:creationId xmlns:a16="http://schemas.microsoft.com/office/drawing/2014/main" id="{E68B53E9-FEDD-4380-85C6-564D2A40540E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929306" y="3319300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81" name="Oval 35">
              <a:extLst>
                <a:ext uri="{FF2B5EF4-FFF2-40B4-BE49-F238E27FC236}">
                  <a16:creationId xmlns:a16="http://schemas.microsoft.com/office/drawing/2014/main" id="{FC32AE6B-39FB-49C1-82EA-C7045B3E7AF0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710113" y="3332149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82" name="Oval 33">
              <a:extLst>
                <a:ext uri="{FF2B5EF4-FFF2-40B4-BE49-F238E27FC236}">
                  <a16:creationId xmlns:a16="http://schemas.microsoft.com/office/drawing/2014/main" id="{3E5168ED-B3B5-4FD6-8E9D-03284A7E28DE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128257" y="3853834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3184E4DE-FF8A-43DE-B42D-BD255C6AFEC0}"/>
                </a:ext>
              </a:extLst>
            </p:cNvPr>
            <p:cNvCxnSpPr>
              <a:endCxn id="77" idx="7"/>
            </p:cNvCxnSpPr>
            <p:nvPr>
              <p:custDataLst>
                <p:tags r:id="rId14"/>
              </p:custDataLst>
            </p:nvPr>
          </p:nvCxnSpPr>
          <p:spPr>
            <a:xfrm rot="10800000" flipV="1">
              <a:off x="5322609" y="2443227"/>
              <a:ext cx="439876" cy="306751"/>
            </a:xfrm>
            <a:prstGeom prst="lin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9E71FB6-CC72-4F2B-ABF1-C7CE38364F18}"/>
                </a:ext>
              </a:extLst>
            </p:cNvPr>
            <p:cNvCxnSpPr>
              <a:endCxn id="78" idx="1"/>
            </p:cNvCxnSpPr>
            <p:nvPr>
              <p:custDataLst>
                <p:tags r:id="rId15"/>
              </p:custDataLst>
            </p:nvPr>
          </p:nvCxnSpPr>
          <p:spPr>
            <a:xfrm>
              <a:off x="6060199" y="2452754"/>
              <a:ext cx="430778" cy="335773"/>
            </a:xfrm>
            <a:prstGeom prst="lin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  <a:tailEnd type="none"/>
            </a:ln>
            <a:effectLst/>
          </p:spPr>
        </p:cxn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301DF8B2-73A4-439D-905B-88AF5E2DF17F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4943891" y="4392148"/>
              <a:ext cx="252000" cy="324000"/>
            </a:xfrm>
            <a:prstGeom prst="rect">
              <a:avLst/>
            </a:prstGeom>
            <a:solidFill>
              <a:schemeClr val="accent2"/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vert="horz" wrap="square" lIns="0" tIns="45720" rIns="0" bIns="45720" numCol="1" rtlCol="0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#</a:t>
              </a: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968E7455-BA51-483C-AF8C-5DC7B2730B19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 bwMode="auto">
            <a:xfrm>
              <a:off x="5386807" y="4392148"/>
              <a:ext cx="252000" cy="324000"/>
            </a:xfrm>
            <a:prstGeom prst="rect">
              <a:avLst/>
            </a:prstGeom>
            <a:solidFill>
              <a:schemeClr val="accent2"/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vert="horz" wrap="square" lIns="0" tIns="45720" rIns="0" bIns="45720" numCol="1" rtlCol="0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#</a:t>
              </a: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0CEB2971-9B8E-4161-9831-5A3B78B85AA0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 bwMode="auto">
            <a:xfrm>
              <a:off x="5920210" y="3877794"/>
              <a:ext cx="252000" cy="324000"/>
            </a:xfrm>
            <a:prstGeom prst="rect">
              <a:avLst/>
            </a:prstGeom>
            <a:solidFill>
              <a:schemeClr val="accent2"/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vert="horz" wrap="square" lIns="0" tIns="45720" rIns="0" bIns="45720" numCol="1" rtlCol="0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#</a:t>
              </a: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56C5FFD4-6289-4987-BFAC-FC853CB8B189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 bwMode="auto">
            <a:xfrm>
              <a:off x="6310738" y="3877794"/>
              <a:ext cx="252000" cy="324000"/>
            </a:xfrm>
            <a:prstGeom prst="rect">
              <a:avLst/>
            </a:prstGeom>
            <a:solidFill>
              <a:schemeClr val="accent2"/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vert="horz" wrap="square" lIns="0" tIns="45720" rIns="0" bIns="45720" numCol="1" rtlCol="0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#</a:t>
              </a: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D34A7C27-2724-455D-95DF-5CD4AA800AF4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auto">
            <a:xfrm>
              <a:off x="6786992" y="3877794"/>
              <a:ext cx="252000" cy="324000"/>
            </a:xfrm>
            <a:prstGeom prst="rect">
              <a:avLst/>
            </a:prstGeom>
            <a:solidFill>
              <a:schemeClr val="accent2"/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vert="horz" wrap="square" lIns="0" tIns="45720" rIns="0" bIns="45720" numCol="1" rtlCol="0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#</a:t>
              </a: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7B4A63A5-8741-40A7-9262-C568B898CEB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auto">
            <a:xfrm>
              <a:off x="7177520" y="3877794"/>
              <a:ext cx="252000" cy="324000"/>
            </a:xfrm>
            <a:prstGeom prst="rect">
              <a:avLst/>
            </a:prstGeom>
            <a:solidFill>
              <a:schemeClr val="accent2"/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vert="horz" wrap="square" lIns="0" tIns="45720" rIns="0" bIns="45720" numCol="1" rtlCol="0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#</a:t>
              </a:r>
            </a:p>
          </p:txBody>
        </p: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0FA4F07E-FC5A-4D5C-AB8A-A377FFE219F5}"/>
                </a:ext>
              </a:extLst>
            </p:cNvPr>
            <p:cNvCxnSpPr>
              <a:stCxn id="79" idx="3"/>
              <a:endCxn id="87" idx="0"/>
            </p:cNvCxnSpPr>
            <p:nvPr>
              <p:custDataLst>
                <p:tags r:id="rId22"/>
              </p:custDataLst>
            </p:nvPr>
          </p:nvCxnSpPr>
          <p:spPr>
            <a:xfrm rot="5400000">
              <a:off x="5947058" y="3695004"/>
              <a:ext cx="281943" cy="83637"/>
            </a:xfrm>
            <a:prstGeom prst="lin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E4661967-D56D-435B-A69E-BDA8D55665AE}"/>
                </a:ext>
              </a:extLst>
            </p:cNvPr>
            <p:cNvCxnSpPr>
              <a:stCxn id="79" idx="5"/>
              <a:endCxn id="88" idx="0"/>
            </p:cNvCxnSpPr>
            <p:nvPr>
              <p:custDataLst>
                <p:tags r:id="rId23"/>
              </p:custDataLst>
            </p:nvPr>
          </p:nvCxnSpPr>
          <p:spPr>
            <a:xfrm rot="16200000" flipH="1">
              <a:off x="6256872" y="3697927"/>
              <a:ext cx="281943" cy="77789"/>
            </a:xfrm>
            <a:prstGeom prst="lin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6FD96132-0A75-4D7E-B554-7B8122F00E41}"/>
                </a:ext>
              </a:extLst>
            </p:cNvPr>
            <p:cNvCxnSpPr>
              <a:stCxn id="80" idx="3"/>
              <a:endCxn id="89" idx="0"/>
            </p:cNvCxnSpPr>
            <p:nvPr>
              <p:custDataLst>
                <p:tags r:id="rId24"/>
              </p:custDataLst>
            </p:nvPr>
          </p:nvCxnSpPr>
          <p:spPr>
            <a:xfrm rot="5400000">
              <a:off x="6803903" y="3704941"/>
              <a:ext cx="281943" cy="63763"/>
            </a:xfrm>
            <a:prstGeom prst="lin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02EEA711-3BED-4A3D-954C-F4AC84F1187D}"/>
                </a:ext>
              </a:extLst>
            </p:cNvPr>
            <p:cNvCxnSpPr>
              <a:stCxn id="80" idx="5"/>
              <a:endCxn id="90" idx="0"/>
            </p:cNvCxnSpPr>
            <p:nvPr>
              <p:custDataLst>
                <p:tags r:id="rId25"/>
              </p:custDataLst>
            </p:nvPr>
          </p:nvCxnSpPr>
          <p:spPr>
            <a:xfrm rot="16200000" flipH="1">
              <a:off x="7113717" y="3687990"/>
              <a:ext cx="281943" cy="97663"/>
            </a:xfrm>
            <a:prstGeom prst="lin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3B9DA3E2-CBBE-4FB2-ABAB-DCCB08ABEC49}"/>
                </a:ext>
              </a:extLst>
            </p:cNvPr>
            <p:cNvCxnSpPr>
              <a:stCxn id="82" idx="3"/>
              <a:endCxn id="85" idx="0"/>
            </p:cNvCxnSpPr>
            <p:nvPr>
              <p:custDataLst>
                <p:tags r:id="rId26"/>
              </p:custDataLst>
            </p:nvPr>
          </p:nvCxnSpPr>
          <p:spPr>
            <a:xfrm rot="5400000">
              <a:off x="4991918" y="4208359"/>
              <a:ext cx="261763" cy="105815"/>
            </a:xfrm>
            <a:prstGeom prst="lin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6897E84C-D5EF-4739-B103-703388F4E10D}"/>
                </a:ext>
              </a:extLst>
            </p:cNvPr>
            <p:cNvCxnSpPr>
              <a:stCxn id="82" idx="5"/>
              <a:endCxn id="86" idx="0"/>
            </p:cNvCxnSpPr>
            <p:nvPr>
              <p:custDataLst>
                <p:tags r:id="rId27"/>
              </p:custDataLst>
            </p:nvPr>
          </p:nvCxnSpPr>
          <p:spPr>
            <a:xfrm rot="16200000" flipH="1">
              <a:off x="5327926" y="4207266"/>
              <a:ext cx="261763" cy="107999"/>
            </a:xfrm>
            <a:prstGeom prst="lin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  <a:tailEnd type="none"/>
            </a:ln>
            <a:effectLst/>
          </p:spPr>
        </p:cxn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ABC3B4D9-EFD2-4CB6-AF31-D4589541A246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auto">
            <a:xfrm>
              <a:off x="5482057" y="3282330"/>
              <a:ext cx="252000" cy="324000"/>
            </a:xfrm>
            <a:prstGeom prst="rect">
              <a:avLst/>
            </a:prstGeom>
            <a:solidFill>
              <a:schemeClr val="accent2"/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vert="horz" wrap="square" lIns="0" tIns="45720" rIns="0" bIns="45720" numCol="1" rtlCol="0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#</a:t>
              </a:r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EFE37193-78F5-4771-AE8B-55B17821355F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auto">
            <a:xfrm>
              <a:off x="4410073" y="3910984"/>
              <a:ext cx="252000" cy="324000"/>
            </a:xfrm>
            <a:prstGeom prst="rect">
              <a:avLst/>
            </a:prstGeom>
            <a:solidFill>
              <a:schemeClr val="accent2"/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vert="horz" wrap="square" lIns="0" tIns="45720" rIns="0" bIns="45720" numCol="1" rtlCol="0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#</a:t>
              </a:r>
            </a:p>
          </p:txBody>
        </p: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5E40536A-166D-4EDD-B2CF-995FDB940264}"/>
                </a:ext>
              </a:extLst>
            </p:cNvPr>
            <p:cNvCxnSpPr>
              <a:stCxn id="81" idx="3"/>
              <a:endCxn id="98" idx="0"/>
            </p:cNvCxnSpPr>
            <p:nvPr>
              <p:custDataLst>
                <p:tags r:id="rId30"/>
              </p:custDataLst>
            </p:nvPr>
          </p:nvCxnSpPr>
          <p:spPr>
            <a:xfrm rot="5400000">
              <a:off x="4495676" y="3649098"/>
              <a:ext cx="302284" cy="221489"/>
            </a:xfrm>
            <a:prstGeom prst="lin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75A38872-81BE-4EE4-B497-F66CD08674D5}"/>
                </a:ext>
              </a:extLst>
            </p:cNvPr>
            <p:cNvCxnSpPr>
              <a:stCxn id="77" idx="5"/>
              <a:endCxn id="97" idx="0"/>
            </p:cNvCxnSpPr>
            <p:nvPr>
              <p:custDataLst>
                <p:tags r:id="rId31"/>
              </p:custDataLst>
            </p:nvPr>
          </p:nvCxnSpPr>
          <p:spPr>
            <a:xfrm rot="16200000" flipH="1">
              <a:off x="5313709" y="2987981"/>
              <a:ext cx="303249" cy="285448"/>
            </a:xfrm>
            <a:prstGeom prst="lin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  <a:tailEnd type="none"/>
            </a:ln>
            <a:effectLst/>
          </p:spPr>
        </p:cxn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148DC7DE-4091-460A-8F29-992A7B8C3524}"/>
              </a:ext>
            </a:extLst>
          </p:cNvPr>
          <p:cNvGrpSpPr/>
          <p:nvPr/>
        </p:nvGrpSpPr>
        <p:grpSpPr>
          <a:xfrm>
            <a:off x="3419872" y="2299874"/>
            <a:ext cx="1144823" cy="1109682"/>
            <a:chOff x="3706319" y="2363806"/>
            <a:chExt cx="1714512" cy="1109682"/>
          </a:xfrm>
        </p:grpSpPr>
        <p:sp>
          <p:nvSpPr>
            <p:cNvPr id="102" name="右箭头 70">
              <a:extLst>
                <a:ext uri="{FF2B5EF4-FFF2-40B4-BE49-F238E27FC236}">
                  <a16:creationId xmlns:a16="http://schemas.microsoft.com/office/drawing/2014/main" id="{9CE1394E-CD14-4E29-B16B-74BB317B4E3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 bwMode="auto">
            <a:xfrm>
              <a:off x="3895411" y="3166345"/>
              <a:ext cx="1336292" cy="307143"/>
            </a:xfrm>
            <a:prstGeom prst="rightArrow">
              <a:avLst/>
            </a:prstGeom>
            <a:solidFill>
              <a:srgbClr val="92D050"/>
            </a:solidFill>
            <a:ln w="6350" cap="flat" cmpd="sng" algn="ctr">
              <a:solidFill>
                <a:srgbClr val="9F92B0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03" name="TextBox 71">
              <a:extLst>
                <a:ext uri="{FF2B5EF4-FFF2-40B4-BE49-F238E27FC236}">
                  <a16:creationId xmlns:a16="http://schemas.microsoft.com/office/drawing/2014/main" id="{77B9A89F-B645-432B-B4E1-FC42AD4D4513}"/>
                </a:ext>
              </a:extLst>
            </p:cNvPr>
            <p:cNvSpPr txBox="1"/>
            <p:nvPr/>
          </p:nvSpPr>
          <p:spPr>
            <a:xfrm>
              <a:off x="3706319" y="2363806"/>
              <a:ext cx="171451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扩充二叉树</a:t>
              </a:r>
            </a:p>
          </p:txBody>
        </p: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B1849C1B-3730-4B3E-BD5E-69A290D75E57}"/>
              </a:ext>
            </a:extLst>
          </p:cNvPr>
          <p:cNvGrpSpPr/>
          <p:nvPr/>
        </p:nvGrpSpPr>
        <p:grpSpPr>
          <a:xfrm>
            <a:off x="6487419" y="4686232"/>
            <a:ext cx="1833155" cy="498745"/>
            <a:chOff x="6866783" y="4148148"/>
            <a:chExt cx="1359328" cy="498745"/>
          </a:xfrm>
        </p:grpSpPr>
        <p:sp>
          <p:nvSpPr>
            <p:cNvPr id="105" name="下箭头 73">
              <a:extLst>
                <a:ext uri="{FF2B5EF4-FFF2-40B4-BE49-F238E27FC236}">
                  <a16:creationId xmlns:a16="http://schemas.microsoft.com/office/drawing/2014/main" id="{9C215997-53CA-41C6-B4D6-D7BEC421A72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 bwMode="auto">
            <a:xfrm>
              <a:off x="6866783" y="4218265"/>
              <a:ext cx="279356" cy="428628"/>
            </a:xfrm>
            <a:prstGeom prst="downArrow">
              <a:avLst/>
            </a:prstGeom>
            <a:solidFill>
              <a:srgbClr val="92D050"/>
            </a:solidFill>
            <a:ln w="6350" cap="flat" cmpd="sng" algn="ctr">
              <a:solidFill>
                <a:srgbClr val="9F92B0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06" name="TextBox 74">
              <a:extLst>
                <a:ext uri="{FF2B5EF4-FFF2-40B4-BE49-F238E27FC236}">
                  <a16:creationId xmlns:a16="http://schemas.microsoft.com/office/drawing/2014/main" id="{002EB63E-8208-46FD-BAA3-09DA8AC1A01E}"/>
                </a:ext>
              </a:extLst>
            </p:cNvPr>
            <p:cNvSpPr txBox="1"/>
            <p:nvPr/>
          </p:nvSpPr>
          <p:spPr>
            <a:xfrm>
              <a:off x="7154217" y="4148148"/>
              <a:ext cx="10718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0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前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序遍历</a:t>
              </a:r>
            </a:p>
          </p:txBody>
        </p:sp>
      </p:grpSp>
      <p:sp>
        <p:nvSpPr>
          <p:cNvPr id="108" name="TextBox 72">
            <a:extLst>
              <a:ext uri="{FF2B5EF4-FFF2-40B4-BE49-F238E27FC236}">
                <a16:creationId xmlns:a16="http://schemas.microsoft.com/office/drawing/2014/main" id="{FFFC9180-8A5D-4047-9333-0151792102D8}"/>
              </a:ext>
            </a:extLst>
          </p:cNvPr>
          <p:cNvSpPr txBox="1"/>
          <p:nvPr/>
        </p:nvSpPr>
        <p:spPr>
          <a:xfrm>
            <a:off x="4211960" y="5495099"/>
            <a:ext cx="4779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6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ABD#G###CE##F##</a:t>
            </a:r>
          </a:p>
        </p:txBody>
      </p:sp>
    </p:spTree>
    <p:extLst>
      <p:ext uri="{BB962C8B-B14F-4D97-AF65-F5344CB8AC3E}">
        <p14:creationId xmlns:p14="http://schemas.microsoft.com/office/powerpoint/2010/main" val="174220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DEC55-2FE8-49F5-A032-84E2470FB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前序遍历序列化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642179-F442-4830-93FA-24B1D14D0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void </a:t>
            </a:r>
            <a:r>
              <a:rPr kumimoji="1" lang="en-US" altLang="zh-CN" b="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PreOrderSerialize</a:t>
            </a: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kumimoji="1" lang="en-US" altLang="zh-CN" b="0" kern="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BiTNode</a:t>
            </a: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* T) {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if (T == NULL)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cout</a:t>
            </a:r>
            <a:r>
              <a:rPr kumimoji="1"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 &lt;&lt; “#”;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else {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kern="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cout</a:t>
            </a:r>
            <a:r>
              <a:rPr kumimoji="1"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&lt;&lt; T</a:t>
            </a:r>
            <a:r>
              <a:rPr kumimoji="1" lang="en-US" altLang="zh-CN" kern="0" dirty="0">
                <a:solidFill>
                  <a:srgbClr val="0000FF"/>
                </a:solidFill>
                <a:latin typeface="Courier New" panose="02070309020205020404" pitchFamily="49" charset="0"/>
              </a:rPr>
              <a:t>-&gt;</a:t>
            </a:r>
            <a:r>
              <a:rPr kumimoji="1"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data;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b="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PreOrderSerialize</a:t>
            </a: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 (T</a:t>
            </a:r>
            <a:r>
              <a:rPr kumimoji="1" lang="en-US" altLang="zh-CN" b="0" kern="0" dirty="0">
                <a:solidFill>
                  <a:srgbClr val="FF0000"/>
                </a:solidFill>
                <a:latin typeface="Courier New" panose="02070309020205020404" pitchFamily="49" charset="0"/>
              </a:rPr>
              <a:t>-&gt;</a:t>
            </a:r>
            <a:r>
              <a:rPr kumimoji="1" lang="en-US" altLang="zh-CN" b="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lchild</a:t>
            </a: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);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b="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PreOrderSerialize</a:t>
            </a: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 (T</a:t>
            </a:r>
            <a:r>
              <a:rPr kumimoji="1" lang="en-US" altLang="zh-CN" b="0" kern="0" dirty="0">
                <a:solidFill>
                  <a:srgbClr val="FF0000"/>
                </a:solidFill>
                <a:latin typeface="Courier New" panose="02070309020205020404" pitchFamily="49" charset="0"/>
              </a:rPr>
              <a:t>-&gt;</a:t>
            </a:r>
            <a:r>
              <a:rPr kumimoji="1" lang="en-US" altLang="zh-CN" b="0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rchild</a:t>
            </a:r>
            <a:r>
              <a:rPr kumimoji="1" lang="en-US" altLang="zh-CN" b="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);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}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384784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BEB8B3-2FE6-468F-A080-52D1A425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前序遍历反序列化</a:t>
            </a:r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A306D1AB-FBB1-4AFA-8B1C-559AED461F06}"/>
              </a:ext>
            </a:extLst>
          </p:cNvPr>
          <p:cNvSpPr txBox="1"/>
          <p:nvPr/>
        </p:nvSpPr>
        <p:spPr>
          <a:xfrm>
            <a:off x="35496" y="1185149"/>
            <a:ext cx="4896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b="0" spc="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ABD#G###CE##F##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70AA220-875D-4607-9020-D18844852338}"/>
              </a:ext>
            </a:extLst>
          </p:cNvPr>
          <p:cNvGrpSpPr>
            <a:grpSpLocks noChangeAspect="1"/>
          </p:cNvGrpSpPr>
          <p:nvPr/>
        </p:nvGrpSpPr>
        <p:grpSpPr>
          <a:xfrm>
            <a:off x="261467" y="2717714"/>
            <a:ext cx="4433284" cy="3692025"/>
            <a:chOff x="1214414" y="2427604"/>
            <a:chExt cx="2357454" cy="1963280"/>
          </a:xfrm>
          <a:solidFill>
            <a:srgbClr val="FFC000"/>
          </a:solidFill>
        </p:grpSpPr>
        <p:sp>
          <p:nvSpPr>
            <p:cNvPr id="27" name="Freeform 45">
              <a:extLst>
                <a:ext uri="{FF2B5EF4-FFF2-40B4-BE49-F238E27FC236}">
                  <a16:creationId xmlns:a16="http://schemas.microsoft.com/office/drawing/2014/main" id="{1D8B6DF9-D101-442B-9513-57C99B2EA312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 bwMode="auto">
            <a:xfrm>
              <a:off x="2726081" y="3203407"/>
              <a:ext cx="208179" cy="328087"/>
            </a:xfrm>
            <a:custGeom>
              <a:avLst/>
              <a:gdLst/>
              <a:ahLst/>
              <a:cxnLst>
                <a:cxn ang="0">
                  <a:pos x="233" y="0"/>
                </a:cxn>
                <a:cxn ang="0">
                  <a:pos x="0" y="383"/>
                </a:cxn>
              </a:cxnLst>
              <a:rect l="0" t="0" r="r" b="b"/>
              <a:pathLst>
                <a:path w="233" h="383">
                  <a:moveTo>
                    <a:pt x="233" y="0"/>
                  </a:moveTo>
                  <a:lnTo>
                    <a:pt x="0" y="383"/>
                  </a:lnTo>
                </a:path>
              </a:pathLst>
            </a:cu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b" anchorCtr="0" compatLnSpc="1"/>
            <a:lstStyle/>
            <a:p>
              <a:pPr marL="0" marR="0" lvl="0" indent="0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28" name="Line 44">
              <a:extLst>
                <a:ext uri="{FF2B5EF4-FFF2-40B4-BE49-F238E27FC236}">
                  <a16:creationId xmlns:a16="http://schemas.microsoft.com/office/drawing/2014/main" id="{29F67407-F88A-4A77-859F-A443BCB81A8C}"/>
                </a:ext>
              </a:extLst>
            </p:cNvPr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>
              <a:off x="1433314" y="3761070"/>
              <a:ext cx="308248" cy="334084"/>
            </a:xfrm>
            <a:prstGeom prst="lin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b" anchorCtr="0" compatLnSpc="1"/>
            <a:lstStyle/>
            <a:p>
              <a:pPr marL="0" marR="0" lvl="0" indent="0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29" name="Freeform 43">
              <a:extLst>
                <a:ext uri="{FF2B5EF4-FFF2-40B4-BE49-F238E27FC236}">
                  <a16:creationId xmlns:a16="http://schemas.microsoft.com/office/drawing/2014/main" id="{24E135F3-8B71-4FBB-8BC3-1356F757C072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3101339" y="3172569"/>
              <a:ext cx="234983" cy="3657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3" y="427"/>
                </a:cxn>
              </a:cxnLst>
              <a:rect l="0" t="0" r="r" b="b"/>
              <a:pathLst>
                <a:path w="263" h="427">
                  <a:moveTo>
                    <a:pt x="0" y="0"/>
                  </a:moveTo>
                  <a:lnTo>
                    <a:pt x="263" y="427"/>
                  </a:lnTo>
                </a:path>
              </a:pathLst>
            </a:cu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b" anchorCtr="0" compatLnSpc="1"/>
            <a:lstStyle/>
            <a:p>
              <a:pPr marL="0" marR="0" lvl="0" indent="0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0" name="Line 42">
              <a:extLst>
                <a:ext uri="{FF2B5EF4-FFF2-40B4-BE49-F238E27FC236}">
                  <a16:creationId xmlns:a16="http://schemas.microsoft.com/office/drawing/2014/main" id="{6AA41860-32A6-451E-972A-E53B50C697B0}"/>
                </a:ext>
              </a:extLst>
            </p:cNvPr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1360943" y="3138304"/>
              <a:ext cx="285911" cy="406897"/>
            </a:xfrm>
            <a:prstGeom prst="lin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b" anchorCtr="0" compatLnSpc="1"/>
            <a:lstStyle/>
            <a:p>
              <a:pPr marL="0" marR="0" lvl="0" indent="0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1" name="Oval 40">
              <a:extLst>
                <a:ext uri="{FF2B5EF4-FFF2-40B4-BE49-F238E27FC236}">
                  <a16:creationId xmlns:a16="http://schemas.microsoft.com/office/drawing/2014/main" id="{5E7C7812-DE02-4AD2-A881-4452CD4173C3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247736" y="2427604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32" name="Oval 39">
              <a:extLst>
                <a:ext uri="{FF2B5EF4-FFF2-40B4-BE49-F238E27FC236}">
                  <a16:creationId xmlns:a16="http://schemas.microsoft.com/office/drawing/2014/main" id="{D40CDFA8-22FA-4E26-9839-3F755B58D334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550359" y="2915580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33" name="Oval 38">
              <a:extLst>
                <a:ext uri="{FF2B5EF4-FFF2-40B4-BE49-F238E27FC236}">
                  <a16:creationId xmlns:a16="http://schemas.microsoft.com/office/drawing/2014/main" id="{0FC36A0F-1AF6-47ED-B35A-D758A8CE94B5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878865" y="2954128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34" name="Oval 37">
              <a:extLst>
                <a:ext uri="{FF2B5EF4-FFF2-40B4-BE49-F238E27FC236}">
                  <a16:creationId xmlns:a16="http://schemas.microsoft.com/office/drawing/2014/main" id="{239BC316-A08A-49A8-B1F1-89D7F5DB5AA1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586699" y="3532350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35" name="Oval 36">
              <a:extLst>
                <a:ext uri="{FF2B5EF4-FFF2-40B4-BE49-F238E27FC236}">
                  <a16:creationId xmlns:a16="http://schemas.microsoft.com/office/drawing/2014/main" id="{8A3164D5-9E8C-4A86-ABF9-93F9F1ABB921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47868" y="3532350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A9FB14F-4D13-4553-80E5-00D4E7B0108C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214414" y="3545199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37" name="Oval 33">
              <a:extLst>
                <a:ext uri="{FF2B5EF4-FFF2-40B4-BE49-F238E27FC236}">
                  <a16:creationId xmlns:a16="http://schemas.microsoft.com/office/drawing/2014/main" id="{15FD0CB1-A897-47B2-B473-23C2E056A0C0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632558" y="4066884"/>
              <a:ext cx="324000" cy="324000"/>
            </a:xfrm>
            <a:prstGeom prst="ellipse">
              <a:avLst/>
            </a:prstGeom>
            <a:grpFill/>
            <a:ln w="6350" cap="flat" cmpd="sng" algn="ctr">
              <a:solidFill>
                <a:srgbClr val="C79ED3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6AC1004D-3BC3-449A-8703-F0D61483E50E}"/>
                </a:ext>
              </a:extLst>
            </p:cNvPr>
            <p:cNvCxnSpPr>
              <a:endCxn id="32" idx="7"/>
            </p:cNvCxnSpPr>
            <p:nvPr>
              <p:custDataLst>
                <p:tags r:id="rId12"/>
              </p:custDataLst>
            </p:nvPr>
          </p:nvCxnSpPr>
          <p:spPr>
            <a:xfrm rot="10800000" flipV="1">
              <a:off x="1826910" y="2656277"/>
              <a:ext cx="439876" cy="306751"/>
            </a:xfrm>
            <a:prstGeom prst="lin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0850FE6E-5BF4-436A-A96D-AFC7CB5DBB54}"/>
                </a:ext>
              </a:extLst>
            </p:cNvPr>
            <p:cNvCxnSpPr>
              <a:endCxn id="33" idx="1"/>
            </p:cNvCxnSpPr>
            <p:nvPr>
              <p:custDataLst>
                <p:tags r:id="rId13"/>
              </p:custDataLst>
            </p:nvPr>
          </p:nvCxnSpPr>
          <p:spPr>
            <a:xfrm>
              <a:off x="2571736" y="2675329"/>
              <a:ext cx="354578" cy="326248"/>
            </a:xfrm>
            <a:prstGeom prst="lin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miter lim="800000"/>
              <a:tailEnd type="none"/>
            </a:ln>
            <a:effectLst/>
          </p:spPr>
        </p:cxnSp>
      </p:grpSp>
      <p:sp>
        <p:nvSpPr>
          <p:cNvPr id="42" name="TextBox 21">
            <a:extLst>
              <a:ext uri="{FF2B5EF4-FFF2-40B4-BE49-F238E27FC236}">
                <a16:creationId xmlns:a16="http://schemas.microsoft.com/office/drawing/2014/main" id="{EAA5BB22-4AE0-413D-8296-E739E90E773A}"/>
              </a:ext>
            </a:extLst>
          </p:cNvPr>
          <p:cNvSpPr txBox="1"/>
          <p:nvPr/>
        </p:nvSpPr>
        <p:spPr>
          <a:xfrm>
            <a:off x="2813323" y="1832609"/>
            <a:ext cx="1472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反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序列化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5" name="箭头: 下 44">
            <a:extLst>
              <a:ext uri="{FF2B5EF4-FFF2-40B4-BE49-F238E27FC236}">
                <a16:creationId xmlns:a16="http://schemas.microsoft.com/office/drawing/2014/main" id="{A2C013D5-AA0D-4C0F-AC27-B6CAF8EFD39A}"/>
              </a:ext>
            </a:extLst>
          </p:cNvPr>
          <p:cNvSpPr/>
          <p:nvPr/>
        </p:nvSpPr>
        <p:spPr bwMode="auto">
          <a:xfrm>
            <a:off x="2244027" y="1832609"/>
            <a:ext cx="432048" cy="657618"/>
          </a:xfrm>
          <a:prstGeom prst="downArrow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47" name="任意多边形: 形状 8">
            <a:extLst>
              <a:ext uri="{FF2B5EF4-FFF2-40B4-BE49-F238E27FC236}">
                <a16:creationId xmlns:a16="http://schemas.microsoft.com/office/drawing/2014/main" id="{9391B912-AEC6-4EA0-AE85-18E3A8D02833}"/>
              </a:ext>
            </a:extLst>
          </p:cNvPr>
          <p:cNvSpPr/>
          <p:nvPr/>
        </p:nvSpPr>
        <p:spPr>
          <a:xfrm>
            <a:off x="4857905" y="1697076"/>
            <a:ext cx="4097228" cy="4970423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</p:spPr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marR="0" lvl="0" defTabSz="11557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从输入序列依次读取数据，执行下面的操作：</a:t>
            </a:r>
          </a:p>
          <a:p>
            <a:pPr marL="342900" marR="0" lvl="0" indent="-342900" defTabSz="11557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如果读取的数据是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#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，则返回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NULL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，表示空结点或空树。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defTabSz="11557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否则新建二叉树结点，把数据代入结点，并递归地重构结点的左子树和右子树，然后返回结点。</a:t>
            </a:r>
          </a:p>
        </p:txBody>
      </p:sp>
    </p:spTree>
    <p:extLst>
      <p:ext uri="{BB962C8B-B14F-4D97-AF65-F5344CB8AC3E}">
        <p14:creationId xmlns:p14="http://schemas.microsoft.com/office/powerpoint/2010/main" val="142445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7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91B146-23A3-451F-99CB-82796B2BB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前序遍历反序列化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2AEAF9-87AB-4CDB-9380-94D700C52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4"/>
            <a:ext cx="8642659" cy="5780839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Status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CreateBiTree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(</a:t>
            </a:r>
            <a:r>
              <a:rPr kumimoji="1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BiTree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&amp;T) {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kern="1200" dirty="0">
                <a:solidFill>
                  <a:srgbClr val="0000FF"/>
                </a:solidFill>
                <a:latin typeface="+mn-lt"/>
                <a:ea typeface="楷体_GB2312" pitchFamily="49" charset="-122"/>
              </a:rPr>
              <a:t>    </a:t>
            </a:r>
            <a:r>
              <a:rPr kumimoji="1" lang="en-US" altLang="zh-CN" kern="1200" dirty="0" err="1">
                <a:solidFill>
                  <a:srgbClr val="0000FF"/>
                </a:solidFill>
                <a:latin typeface="+mn-lt"/>
                <a:ea typeface="楷体_GB2312" pitchFamily="49" charset="-122"/>
              </a:rPr>
              <a:t>cin</a:t>
            </a:r>
            <a:r>
              <a:rPr kumimoji="1" lang="en-US" altLang="zh-CN" kern="1200" dirty="0">
                <a:solidFill>
                  <a:srgbClr val="0000FF"/>
                </a:solidFill>
                <a:latin typeface="+mn-lt"/>
                <a:ea typeface="楷体_GB2312" pitchFamily="49" charset="-122"/>
              </a:rPr>
              <a:t> &gt;&gt; </a:t>
            </a:r>
            <a:r>
              <a:rPr kumimoji="1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ch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 if (</a:t>
            </a:r>
            <a:r>
              <a:rPr kumimoji="1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ch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==‘#’)   T = NULL;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 else {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     T = new </a:t>
            </a:r>
            <a:r>
              <a:rPr kumimoji="1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BiTNode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; 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     T-&gt;data = </a:t>
            </a:r>
            <a:r>
              <a:rPr kumimoji="1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ch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;                       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// 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生成根结点</a:t>
            </a:r>
            <a:endParaRPr kumimoji="1" lang="en-US" altLang="zh-CN" sz="28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kern="1200" dirty="0">
                <a:latin typeface="+mn-lt"/>
                <a:ea typeface="楷体_GB2312" pitchFamily="49" charset="-122"/>
              </a:rPr>
              <a:t>        </a:t>
            </a:r>
            <a:r>
              <a:rPr kumimoji="1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CreateBiTree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(T-&gt;</a:t>
            </a:r>
            <a:r>
              <a:rPr kumimoji="1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lchild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);   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// 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构造左子树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     </a:t>
            </a:r>
            <a:r>
              <a:rPr kumimoji="1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CreateBiTree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(T-&gt;</a:t>
            </a:r>
            <a:r>
              <a:rPr kumimoji="1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rchild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); 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// 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构造右子树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 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 return OK;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} 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// </a:t>
            </a:r>
            <a:r>
              <a:rPr kumimoji="1"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CreateBiTree</a:t>
            </a:r>
            <a:endParaRPr lang="zh-CN" altLang="en-US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27CE098B-3008-4B22-9273-97E14FC92124}"/>
              </a:ext>
            </a:extLst>
          </p:cNvPr>
          <p:cNvSpPr txBox="1"/>
          <p:nvPr/>
        </p:nvSpPr>
        <p:spPr>
          <a:xfrm>
            <a:off x="4260813" y="1340768"/>
            <a:ext cx="4896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 spc="600" dirty="0">
                <a:latin typeface="Comic Sans MS" panose="030F0702030302020204" pitchFamily="66" charset="0"/>
                <a:ea typeface="微软雅黑" panose="020B0503020204020204" pitchFamily="34" charset="-122"/>
                <a:cs typeface="Consolas" panose="020B0609020204030204" pitchFamily="49" charset="0"/>
              </a:rPr>
              <a:t>ABD#G###CE##F##</a:t>
            </a:r>
          </a:p>
        </p:txBody>
      </p:sp>
    </p:spTree>
    <p:extLst>
      <p:ext uri="{BB962C8B-B14F-4D97-AF65-F5344CB8AC3E}">
        <p14:creationId xmlns:p14="http://schemas.microsoft.com/office/powerpoint/2010/main" val="50487089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树的定义和基本概念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遍历二叉树和线索二叉树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遍历二叉树</a:t>
            </a:r>
            <a:endParaRPr lang="en-US" altLang="zh-CN" sz="24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线索二叉树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树和森林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哈夫曼树及其应用</a:t>
            </a:r>
          </a:p>
        </p:txBody>
      </p:sp>
    </p:spTree>
    <p:extLst>
      <p:ext uri="{BB962C8B-B14F-4D97-AF65-F5344CB8AC3E}">
        <p14:creationId xmlns:p14="http://schemas.microsoft.com/office/powerpoint/2010/main" val="3902916914"/>
      </p:ext>
    </p:extLst>
  </p:cSld>
  <p:clrMapOvr>
    <a:masterClrMapping/>
  </p:clrMapOvr>
  <p:transition>
    <p:wipe dir="r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60D596-68FE-4785-87C3-DCA012F95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线索二叉树 </a:t>
            </a:r>
            <a:r>
              <a:rPr lang="en-US" altLang="zh-CN" dirty="0"/>
              <a:t>(Threaded Binary Tree)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3ACB8B-FD8D-4763-97C1-F804AD4D3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5"/>
            <a:ext cx="8642659" cy="5877538"/>
          </a:xfrm>
        </p:spPr>
        <p:txBody>
          <a:bodyPr/>
          <a:lstStyle/>
          <a:p>
            <a:r>
              <a:rPr lang="zh-CN" altLang="en-US" dirty="0"/>
              <a:t>又称为</a:t>
            </a:r>
            <a:r>
              <a:rPr lang="zh-CN" altLang="en-US" dirty="0">
                <a:solidFill>
                  <a:srgbClr val="0000FF"/>
                </a:solidFill>
              </a:rPr>
              <a:t>穿线树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通过二叉树遍历，可将二叉树中所有结点的数据排列在一个线性序列中，可以找到某数据在这种排列下的前驱和后继。</a:t>
            </a:r>
          </a:p>
          <a:p>
            <a:r>
              <a:rPr lang="zh-CN" altLang="en-US" dirty="0"/>
              <a:t>希望不必每次都通过遍历来找出这样的线性序列。事先做</a:t>
            </a:r>
            <a:r>
              <a:rPr lang="zh-CN" altLang="en-US" dirty="0">
                <a:solidFill>
                  <a:srgbClr val="0000FF"/>
                </a:solidFill>
              </a:rPr>
              <a:t>预处理，将某种遍历顺序下的前驱、后继关系记在树的存储结构中</a:t>
            </a:r>
            <a:r>
              <a:rPr lang="zh-CN" altLang="en-US" dirty="0"/>
              <a:t>，以后就可以高效地找出某结点的前驱、后继。</a:t>
            </a:r>
          </a:p>
        </p:txBody>
      </p:sp>
    </p:spTree>
    <p:extLst>
      <p:ext uri="{BB962C8B-B14F-4D97-AF65-F5344CB8AC3E}">
        <p14:creationId xmlns:p14="http://schemas.microsoft.com/office/powerpoint/2010/main" val="9954392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04800-C9CF-481A-A0D9-945F94100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线索</a:t>
            </a:r>
          </a:p>
        </p:txBody>
      </p:sp>
      <p:sp>
        <p:nvSpPr>
          <p:cNvPr id="110" name="Text Box 4">
            <a:extLst>
              <a:ext uri="{FF2B5EF4-FFF2-40B4-BE49-F238E27FC236}">
                <a16:creationId xmlns:a16="http://schemas.microsoft.com/office/drawing/2014/main" id="{D54598C9-E79C-4C39-8161-39329899E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788" y="5905595"/>
            <a:ext cx="7848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增加前驱 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pred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指针和后继 </a:t>
            </a:r>
            <a:r>
              <a:rPr kumimoji="1"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s</a:t>
            </a:r>
            <a:r>
              <a:rPr kumimoji="1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ucc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指针的二叉树</a:t>
            </a:r>
          </a:p>
        </p:txBody>
      </p:sp>
      <p:grpSp>
        <p:nvGrpSpPr>
          <p:cNvPr id="111" name="Group 12">
            <a:extLst>
              <a:ext uri="{FF2B5EF4-FFF2-40B4-BE49-F238E27FC236}">
                <a16:creationId xmlns:a16="http://schemas.microsoft.com/office/drawing/2014/main" id="{10915B90-3A45-4366-A702-13BA70C452C3}"/>
              </a:ext>
            </a:extLst>
          </p:cNvPr>
          <p:cNvGrpSpPr>
            <a:grpSpLocks/>
          </p:cNvGrpSpPr>
          <p:nvPr/>
        </p:nvGrpSpPr>
        <p:grpSpPr bwMode="auto">
          <a:xfrm>
            <a:off x="952501" y="1279526"/>
            <a:ext cx="7308850" cy="576262"/>
            <a:chOff x="680" y="981"/>
            <a:chExt cx="4604" cy="363"/>
          </a:xfrm>
        </p:grpSpPr>
        <p:sp>
          <p:nvSpPr>
            <p:cNvPr id="112" name="Rectangle 6">
              <a:extLst>
                <a:ext uri="{FF2B5EF4-FFF2-40B4-BE49-F238E27FC236}">
                  <a16:creationId xmlns:a16="http://schemas.microsoft.com/office/drawing/2014/main" id="{FAB44072-A112-4ECA-8598-25AF39CFF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" y="981"/>
              <a:ext cx="4604" cy="363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C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" name="Text Box 7">
              <a:extLst>
                <a:ext uri="{FF2B5EF4-FFF2-40B4-BE49-F238E27FC236}">
                  <a16:creationId xmlns:a16="http://schemas.microsoft.com/office/drawing/2014/main" id="{B3F00B6C-4E08-4742-8551-02696CD2C0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5" y="981"/>
              <a:ext cx="432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pred </a:t>
              </a: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    </a:t>
              </a:r>
              <a:r>
                <a:rPr kumimoji="0" lang="en-US" altLang="zh-CN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leftChild</a:t>
              </a: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    data    </a:t>
              </a: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</a:t>
              </a:r>
              <a:r>
                <a:rPr kumimoji="0" lang="en-US" altLang="zh-CN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rightChild</a:t>
              </a: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     </a:t>
              </a:r>
              <a:r>
                <a:rPr kumimoji="0" lang="en-US" altLang="zh-CN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succ</a:t>
              </a:r>
              <a:endPara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14" name="Line 8">
              <a:extLst>
                <a:ext uri="{FF2B5EF4-FFF2-40B4-BE49-F238E27FC236}">
                  <a16:creationId xmlns:a16="http://schemas.microsoft.com/office/drawing/2014/main" id="{C75EF1BF-A36B-4E0F-B9E1-5F3B2E2DB2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5" y="981"/>
              <a:ext cx="0" cy="363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" name="Line 9">
              <a:extLst>
                <a:ext uri="{FF2B5EF4-FFF2-40B4-BE49-F238E27FC236}">
                  <a16:creationId xmlns:a16="http://schemas.microsoft.com/office/drawing/2014/main" id="{F839FF86-C836-4941-8198-9E05FBEC70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0" y="981"/>
              <a:ext cx="0" cy="363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6" name="Line 10">
              <a:extLst>
                <a:ext uri="{FF2B5EF4-FFF2-40B4-BE49-F238E27FC236}">
                  <a16:creationId xmlns:a16="http://schemas.microsoft.com/office/drawing/2014/main" id="{8CB13983-5534-434A-BC35-45AED3D6CF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981"/>
              <a:ext cx="0" cy="363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7" name="Line 11">
              <a:extLst>
                <a:ext uri="{FF2B5EF4-FFF2-40B4-BE49-F238E27FC236}">
                  <a16:creationId xmlns:a16="http://schemas.microsoft.com/office/drawing/2014/main" id="{6C63F8AD-7CC5-4836-9910-9586ED2AB9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0" y="981"/>
              <a:ext cx="0" cy="363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8" name="Group 132">
            <a:extLst>
              <a:ext uri="{FF2B5EF4-FFF2-40B4-BE49-F238E27FC236}">
                <a16:creationId xmlns:a16="http://schemas.microsoft.com/office/drawing/2014/main" id="{C122978D-1072-436A-83C8-2F0BDB985B8B}"/>
              </a:ext>
            </a:extLst>
          </p:cNvPr>
          <p:cNvGrpSpPr>
            <a:grpSpLocks/>
          </p:cNvGrpSpPr>
          <p:nvPr/>
        </p:nvGrpSpPr>
        <p:grpSpPr bwMode="auto">
          <a:xfrm>
            <a:off x="95771" y="2585246"/>
            <a:ext cx="3540125" cy="2379663"/>
            <a:chOff x="271" y="1636"/>
            <a:chExt cx="2230" cy="1499"/>
          </a:xfrm>
        </p:grpSpPr>
        <p:sp>
          <p:nvSpPr>
            <p:cNvPr id="119" name="Line 14">
              <a:extLst>
                <a:ext uri="{FF2B5EF4-FFF2-40B4-BE49-F238E27FC236}">
                  <a16:creationId xmlns:a16="http://schemas.microsoft.com/office/drawing/2014/main" id="{2202E3D2-AC45-4729-B243-DC78454C3B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66" y="2349"/>
              <a:ext cx="261" cy="499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0" name="Line 15">
              <a:extLst>
                <a:ext uri="{FF2B5EF4-FFF2-40B4-BE49-F238E27FC236}">
                  <a16:creationId xmlns:a16="http://schemas.microsoft.com/office/drawing/2014/main" id="{DE99815B-7136-4449-8323-8533EADD4A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" y="2396"/>
              <a:ext cx="192" cy="432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1" name="Line 16">
              <a:extLst>
                <a:ext uri="{FF2B5EF4-FFF2-40B4-BE49-F238E27FC236}">
                  <a16:creationId xmlns:a16="http://schemas.microsoft.com/office/drawing/2014/main" id="{4262B29A-1945-4397-BCE9-D1A83D9589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3" y="1895"/>
              <a:ext cx="408" cy="363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2" name="Line 17">
              <a:extLst>
                <a:ext uri="{FF2B5EF4-FFF2-40B4-BE49-F238E27FC236}">
                  <a16:creationId xmlns:a16="http://schemas.microsoft.com/office/drawing/2014/main" id="{AEA7B2DB-C1C6-43B7-A86A-50E73E605C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71" y="1872"/>
              <a:ext cx="444" cy="380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" name="Oval 18">
              <a:extLst>
                <a:ext uri="{FF2B5EF4-FFF2-40B4-BE49-F238E27FC236}">
                  <a16:creationId xmlns:a16="http://schemas.microsoft.com/office/drawing/2014/main" id="{414226BB-5EC7-4102-92A1-1B47C1113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" y="1676"/>
              <a:ext cx="288" cy="288"/>
            </a:xfrm>
            <a:prstGeom prst="ellipse">
              <a:avLst/>
            </a:prstGeom>
            <a:solidFill>
              <a:srgbClr val="FFFF99"/>
            </a:solidFill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24" name="Oval 19">
              <a:extLst>
                <a:ext uri="{FF2B5EF4-FFF2-40B4-BE49-F238E27FC236}">
                  <a16:creationId xmlns:a16="http://schemas.microsoft.com/office/drawing/2014/main" id="{81584FA2-697C-476A-BE82-CF5AA7808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" y="2156"/>
              <a:ext cx="288" cy="288"/>
            </a:xfrm>
            <a:prstGeom prst="ellipse">
              <a:avLst/>
            </a:prstGeom>
            <a:solidFill>
              <a:srgbClr val="FFFF99"/>
            </a:solidFill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5" name="Oval 20">
              <a:extLst>
                <a:ext uri="{FF2B5EF4-FFF2-40B4-BE49-F238E27FC236}">
                  <a16:creationId xmlns:a16="http://schemas.microsoft.com/office/drawing/2014/main" id="{14D90FC5-B36F-4996-A67C-051AC5F22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787"/>
              <a:ext cx="288" cy="288"/>
            </a:xfrm>
            <a:prstGeom prst="ellipse">
              <a:avLst/>
            </a:prstGeom>
            <a:solidFill>
              <a:srgbClr val="FFFF99"/>
            </a:solidFill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6" name="Oval 21">
              <a:extLst>
                <a:ext uri="{FF2B5EF4-FFF2-40B4-BE49-F238E27FC236}">
                  <a16:creationId xmlns:a16="http://schemas.microsoft.com/office/drawing/2014/main" id="{BA9219CF-3BDA-492D-B10C-E7FC8CB3F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3" y="2174"/>
              <a:ext cx="288" cy="288"/>
            </a:xfrm>
            <a:prstGeom prst="ellipse">
              <a:avLst/>
            </a:prstGeom>
            <a:solidFill>
              <a:srgbClr val="FFFF99"/>
            </a:solidFill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7" name="Oval 22">
              <a:extLst>
                <a:ext uri="{FF2B5EF4-FFF2-40B4-BE49-F238E27FC236}">
                  <a16:creationId xmlns:a16="http://schemas.microsoft.com/office/drawing/2014/main" id="{D3E27F42-80E4-4C09-8649-48CC123A7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" y="2780"/>
              <a:ext cx="288" cy="288"/>
            </a:xfrm>
            <a:prstGeom prst="ellipse">
              <a:avLst/>
            </a:prstGeom>
            <a:solidFill>
              <a:srgbClr val="FFFF99"/>
            </a:solidFill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" name="Text Box 23">
              <a:extLst>
                <a:ext uri="{FF2B5EF4-FFF2-40B4-BE49-F238E27FC236}">
                  <a16:creationId xmlns:a16="http://schemas.microsoft.com/office/drawing/2014/main" id="{6565E9DD-BB9B-4E09-8FAF-B16FC1DD8B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9" y="163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a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29" name="Text Box 24">
              <a:extLst>
                <a:ext uri="{FF2B5EF4-FFF2-40B4-BE49-F238E27FC236}">
                  <a16:creationId xmlns:a16="http://schemas.microsoft.com/office/drawing/2014/main" id="{F3EB5B1A-A610-435E-883F-F639674A3F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" y="2145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b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30" name="Text Box 25">
              <a:extLst>
                <a:ext uri="{FF2B5EF4-FFF2-40B4-BE49-F238E27FC236}">
                  <a16:creationId xmlns:a16="http://schemas.microsoft.com/office/drawing/2014/main" id="{8DD964AE-88A0-4E29-9C83-587A96871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134"/>
              <a:ext cx="2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c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31" name="Text Box 26">
              <a:extLst>
                <a:ext uri="{FF2B5EF4-FFF2-40B4-BE49-F238E27FC236}">
                  <a16:creationId xmlns:a16="http://schemas.microsoft.com/office/drawing/2014/main" id="{EED0FDBD-898D-415F-B496-84C8D37844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" y="2769"/>
              <a:ext cx="24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d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32" name="Text Box 27">
              <a:extLst>
                <a:ext uri="{FF2B5EF4-FFF2-40B4-BE49-F238E27FC236}">
                  <a16:creationId xmlns:a16="http://schemas.microsoft.com/office/drawing/2014/main" id="{7F1A1E78-7156-403A-99E1-F08A692F9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" y="2749"/>
              <a:ext cx="24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e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33" name="Freeform 37">
              <a:extLst>
                <a:ext uri="{FF2B5EF4-FFF2-40B4-BE49-F238E27FC236}">
                  <a16:creationId xmlns:a16="http://schemas.microsoft.com/office/drawing/2014/main" id="{2918B59D-6062-4181-9705-2E0007C26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1941"/>
              <a:ext cx="169" cy="1194"/>
            </a:xfrm>
            <a:custGeom>
              <a:avLst/>
              <a:gdLst>
                <a:gd name="T0" fmla="*/ 0 w 169"/>
                <a:gd name="T1" fmla="*/ 1111 h 1194"/>
                <a:gd name="T2" fmla="*/ 45 w 169"/>
                <a:gd name="T3" fmla="*/ 1179 h 1194"/>
                <a:gd name="T4" fmla="*/ 113 w 169"/>
                <a:gd name="T5" fmla="*/ 1179 h 1194"/>
                <a:gd name="T6" fmla="*/ 158 w 169"/>
                <a:gd name="T7" fmla="*/ 1088 h 1194"/>
                <a:gd name="T8" fmla="*/ 158 w 169"/>
                <a:gd name="T9" fmla="*/ 839 h 1194"/>
                <a:gd name="T10" fmla="*/ 90 w 169"/>
                <a:gd name="T11" fmla="*/ 567 h 1194"/>
                <a:gd name="T12" fmla="*/ 113 w 169"/>
                <a:gd name="T13" fmla="*/ 181 h 1194"/>
                <a:gd name="T14" fmla="*/ 158 w 169"/>
                <a:gd name="T15" fmla="*/ 0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9" h="1194">
                  <a:moveTo>
                    <a:pt x="0" y="1111"/>
                  </a:moveTo>
                  <a:cubicBezTo>
                    <a:pt x="13" y="1139"/>
                    <a:pt x="26" y="1168"/>
                    <a:pt x="45" y="1179"/>
                  </a:cubicBezTo>
                  <a:cubicBezTo>
                    <a:pt x="64" y="1190"/>
                    <a:pt x="94" y="1194"/>
                    <a:pt x="113" y="1179"/>
                  </a:cubicBezTo>
                  <a:cubicBezTo>
                    <a:pt x="132" y="1164"/>
                    <a:pt x="151" y="1145"/>
                    <a:pt x="158" y="1088"/>
                  </a:cubicBezTo>
                  <a:cubicBezTo>
                    <a:pt x="165" y="1031"/>
                    <a:pt x="169" y="926"/>
                    <a:pt x="158" y="839"/>
                  </a:cubicBezTo>
                  <a:cubicBezTo>
                    <a:pt x="147" y="752"/>
                    <a:pt x="97" y="677"/>
                    <a:pt x="90" y="567"/>
                  </a:cubicBezTo>
                  <a:cubicBezTo>
                    <a:pt x="83" y="457"/>
                    <a:pt x="102" y="275"/>
                    <a:pt x="113" y="181"/>
                  </a:cubicBezTo>
                  <a:cubicBezTo>
                    <a:pt x="124" y="87"/>
                    <a:pt x="151" y="30"/>
                    <a:pt x="158" y="0"/>
                  </a:cubicBezTo>
                </a:path>
              </a:pathLst>
            </a:custGeom>
            <a:noFill/>
            <a:ln w="25400">
              <a:solidFill>
                <a:srgbClr val="0000CC"/>
              </a:solidFill>
              <a:round/>
              <a:headEnd type="none" w="med" len="med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4" name="Freeform 38">
              <a:extLst>
                <a:ext uri="{FF2B5EF4-FFF2-40B4-BE49-F238E27FC236}">
                  <a16:creationId xmlns:a16="http://schemas.microsoft.com/office/drawing/2014/main" id="{97A3D82C-F80F-47D5-AF1D-E50C57CA36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417" y="1941"/>
              <a:ext cx="169" cy="1194"/>
            </a:xfrm>
            <a:custGeom>
              <a:avLst/>
              <a:gdLst>
                <a:gd name="T0" fmla="*/ 0 w 169"/>
                <a:gd name="T1" fmla="*/ 1111 h 1194"/>
                <a:gd name="T2" fmla="*/ 45 w 169"/>
                <a:gd name="T3" fmla="*/ 1179 h 1194"/>
                <a:gd name="T4" fmla="*/ 113 w 169"/>
                <a:gd name="T5" fmla="*/ 1179 h 1194"/>
                <a:gd name="T6" fmla="*/ 158 w 169"/>
                <a:gd name="T7" fmla="*/ 1088 h 1194"/>
                <a:gd name="T8" fmla="*/ 158 w 169"/>
                <a:gd name="T9" fmla="*/ 839 h 1194"/>
                <a:gd name="T10" fmla="*/ 90 w 169"/>
                <a:gd name="T11" fmla="*/ 567 h 1194"/>
                <a:gd name="T12" fmla="*/ 113 w 169"/>
                <a:gd name="T13" fmla="*/ 181 h 1194"/>
                <a:gd name="T14" fmla="*/ 158 w 169"/>
                <a:gd name="T15" fmla="*/ 0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9" h="1194">
                  <a:moveTo>
                    <a:pt x="0" y="1111"/>
                  </a:moveTo>
                  <a:cubicBezTo>
                    <a:pt x="13" y="1139"/>
                    <a:pt x="26" y="1168"/>
                    <a:pt x="45" y="1179"/>
                  </a:cubicBezTo>
                  <a:cubicBezTo>
                    <a:pt x="64" y="1190"/>
                    <a:pt x="94" y="1194"/>
                    <a:pt x="113" y="1179"/>
                  </a:cubicBezTo>
                  <a:cubicBezTo>
                    <a:pt x="132" y="1164"/>
                    <a:pt x="151" y="1145"/>
                    <a:pt x="158" y="1088"/>
                  </a:cubicBezTo>
                  <a:cubicBezTo>
                    <a:pt x="165" y="1031"/>
                    <a:pt x="169" y="926"/>
                    <a:pt x="158" y="839"/>
                  </a:cubicBezTo>
                  <a:cubicBezTo>
                    <a:pt x="147" y="752"/>
                    <a:pt x="97" y="677"/>
                    <a:pt x="90" y="567"/>
                  </a:cubicBezTo>
                  <a:cubicBezTo>
                    <a:pt x="83" y="457"/>
                    <a:pt x="102" y="275"/>
                    <a:pt x="113" y="181"/>
                  </a:cubicBezTo>
                  <a:cubicBezTo>
                    <a:pt x="124" y="87"/>
                    <a:pt x="151" y="30"/>
                    <a:pt x="158" y="0"/>
                  </a:cubicBezTo>
                </a:path>
              </a:pathLst>
            </a:custGeom>
            <a:noFill/>
            <a:ln w="25400">
              <a:solidFill>
                <a:srgbClr val="CC0000"/>
              </a:solidFill>
              <a:round/>
              <a:headEnd type="none" w="med" len="med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5" name="Freeform 40">
              <a:extLst>
                <a:ext uri="{FF2B5EF4-FFF2-40B4-BE49-F238E27FC236}">
                  <a16:creationId xmlns:a16="http://schemas.microsoft.com/office/drawing/2014/main" id="{5D9ACC5F-0F32-4226-B4EA-4352DFCC8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2439"/>
              <a:ext cx="231" cy="673"/>
            </a:xfrm>
            <a:custGeom>
              <a:avLst/>
              <a:gdLst>
                <a:gd name="T0" fmla="*/ 231 w 231"/>
                <a:gd name="T1" fmla="*/ 613 h 673"/>
                <a:gd name="T2" fmla="*/ 186 w 231"/>
                <a:gd name="T3" fmla="*/ 658 h 673"/>
                <a:gd name="T4" fmla="*/ 118 w 231"/>
                <a:gd name="T5" fmla="*/ 658 h 673"/>
                <a:gd name="T6" fmla="*/ 27 w 231"/>
                <a:gd name="T7" fmla="*/ 567 h 673"/>
                <a:gd name="T8" fmla="*/ 4 w 231"/>
                <a:gd name="T9" fmla="*/ 159 h 673"/>
                <a:gd name="T10" fmla="*/ 4 w 231"/>
                <a:gd name="T11" fmla="*/ 0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1" h="673">
                  <a:moveTo>
                    <a:pt x="231" y="613"/>
                  </a:moveTo>
                  <a:cubicBezTo>
                    <a:pt x="218" y="632"/>
                    <a:pt x="205" y="651"/>
                    <a:pt x="186" y="658"/>
                  </a:cubicBezTo>
                  <a:cubicBezTo>
                    <a:pt x="167" y="665"/>
                    <a:pt x="144" y="673"/>
                    <a:pt x="118" y="658"/>
                  </a:cubicBezTo>
                  <a:cubicBezTo>
                    <a:pt x="92" y="643"/>
                    <a:pt x="46" y="650"/>
                    <a:pt x="27" y="567"/>
                  </a:cubicBezTo>
                  <a:cubicBezTo>
                    <a:pt x="8" y="484"/>
                    <a:pt x="8" y="253"/>
                    <a:pt x="4" y="159"/>
                  </a:cubicBezTo>
                  <a:cubicBezTo>
                    <a:pt x="0" y="65"/>
                    <a:pt x="4" y="26"/>
                    <a:pt x="4" y="0"/>
                  </a:cubicBezTo>
                </a:path>
              </a:pathLst>
            </a:custGeom>
            <a:noFill/>
            <a:ln w="25400">
              <a:solidFill>
                <a:srgbClr val="CC0000"/>
              </a:solidFill>
              <a:round/>
              <a:headEnd type="none" w="med" len="med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6" name="Freeform 41">
              <a:extLst>
                <a:ext uri="{FF2B5EF4-FFF2-40B4-BE49-F238E27FC236}">
                  <a16:creationId xmlns:a16="http://schemas.microsoft.com/office/drawing/2014/main" id="{434ACFB4-81BD-4E3F-80B1-FAEA7CA24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" y="2417"/>
              <a:ext cx="249" cy="95"/>
            </a:xfrm>
            <a:custGeom>
              <a:avLst/>
              <a:gdLst>
                <a:gd name="T0" fmla="*/ 249 w 249"/>
                <a:gd name="T1" fmla="*/ 0 h 95"/>
                <a:gd name="T2" fmla="*/ 204 w 249"/>
                <a:gd name="T3" fmla="*/ 69 h 95"/>
                <a:gd name="T4" fmla="*/ 68 w 249"/>
                <a:gd name="T5" fmla="*/ 91 h 95"/>
                <a:gd name="T6" fmla="*/ 0 w 249"/>
                <a:gd name="T7" fmla="*/ 9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9" h="95">
                  <a:moveTo>
                    <a:pt x="249" y="0"/>
                  </a:moveTo>
                  <a:cubicBezTo>
                    <a:pt x="241" y="27"/>
                    <a:pt x="234" y="54"/>
                    <a:pt x="204" y="69"/>
                  </a:cubicBezTo>
                  <a:cubicBezTo>
                    <a:pt x="174" y="84"/>
                    <a:pt x="102" y="87"/>
                    <a:pt x="68" y="91"/>
                  </a:cubicBezTo>
                  <a:cubicBezTo>
                    <a:pt x="34" y="95"/>
                    <a:pt x="11" y="91"/>
                    <a:pt x="0" y="91"/>
                  </a:cubicBezTo>
                </a:path>
              </a:pathLst>
            </a:custGeom>
            <a:noFill/>
            <a:ln w="25400">
              <a:solidFill>
                <a:srgbClr val="CC0000"/>
              </a:solidFill>
              <a:round/>
              <a:headEnd type="none" w="med" len="med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7" name="Freeform 42">
              <a:extLst>
                <a:ext uri="{FF2B5EF4-FFF2-40B4-BE49-F238E27FC236}">
                  <a16:creationId xmlns:a16="http://schemas.microsoft.com/office/drawing/2014/main" id="{409F4BD7-ED8C-484A-9AC1-6CB48F39879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700" y="2447"/>
              <a:ext cx="249" cy="673"/>
            </a:xfrm>
            <a:custGeom>
              <a:avLst/>
              <a:gdLst>
                <a:gd name="T0" fmla="*/ 231 w 231"/>
                <a:gd name="T1" fmla="*/ 613 h 673"/>
                <a:gd name="T2" fmla="*/ 186 w 231"/>
                <a:gd name="T3" fmla="*/ 658 h 673"/>
                <a:gd name="T4" fmla="*/ 118 w 231"/>
                <a:gd name="T5" fmla="*/ 658 h 673"/>
                <a:gd name="T6" fmla="*/ 27 w 231"/>
                <a:gd name="T7" fmla="*/ 567 h 673"/>
                <a:gd name="T8" fmla="*/ 4 w 231"/>
                <a:gd name="T9" fmla="*/ 159 h 673"/>
                <a:gd name="T10" fmla="*/ 4 w 231"/>
                <a:gd name="T11" fmla="*/ 0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1" h="673">
                  <a:moveTo>
                    <a:pt x="231" y="613"/>
                  </a:moveTo>
                  <a:cubicBezTo>
                    <a:pt x="218" y="632"/>
                    <a:pt x="205" y="651"/>
                    <a:pt x="186" y="658"/>
                  </a:cubicBezTo>
                  <a:cubicBezTo>
                    <a:pt x="167" y="665"/>
                    <a:pt x="144" y="673"/>
                    <a:pt x="118" y="658"/>
                  </a:cubicBezTo>
                  <a:cubicBezTo>
                    <a:pt x="92" y="643"/>
                    <a:pt x="46" y="650"/>
                    <a:pt x="27" y="567"/>
                  </a:cubicBezTo>
                  <a:cubicBezTo>
                    <a:pt x="8" y="484"/>
                    <a:pt x="8" y="253"/>
                    <a:pt x="4" y="159"/>
                  </a:cubicBezTo>
                  <a:cubicBezTo>
                    <a:pt x="0" y="65"/>
                    <a:pt x="4" y="26"/>
                    <a:pt x="4" y="0"/>
                  </a:cubicBezTo>
                </a:path>
              </a:pathLst>
            </a:custGeom>
            <a:noFill/>
            <a:ln w="25400">
              <a:solidFill>
                <a:srgbClr val="0000CC"/>
              </a:solidFill>
              <a:round/>
              <a:headEnd type="none" w="med" len="med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8" name="Freeform 43">
              <a:extLst>
                <a:ext uri="{FF2B5EF4-FFF2-40B4-BE49-F238E27FC236}">
                  <a16:creationId xmlns:a16="http://schemas.microsoft.com/office/drawing/2014/main" id="{167D8B60-1CF1-45FA-B83B-9EE472FA6A5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017" y="2439"/>
              <a:ext cx="249" cy="95"/>
            </a:xfrm>
            <a:custGeom>
              <a:avLst/>
              <a:gdLst>
                <a:gd name="T0" fmla="*/ 249 w 249"/>
                <a:gd name="T1" fmla="*/ 0 h 95"/>
                <a:gd name="T2" fmla="*/ 204 w 249"/>
                <a:gd name="T3" fmla="*/ 69 h 95"/>
                <a:gd name="T4" fmla="*/ 68 w 249"/>
                <a:gd name="T5" fmla="*/ 91 h 95"/>
                <a:gd name="T6" fmla="*/ 0 w 249"/>
                <a:gd name="T7" fmla="*/ 9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9" h="95">
                  <a:moveTo>
                    <a:pt x="249" y="0"/>
                  </a:moveTo>
                  <a:cubicBezTo>
                    <a:pt x="241" y="27"/>
                    <a:pt x="234" y="54"/>
                    <a:pt x="204" y="69"/>
                  </a:cubicBezTo>
                  <a:cubicBezTo>
                    <a:pt x="174" y="84"/>
                    <a:pt x="102" y="87"/>
                    <a:pt x="68" y="91"/>
                  </a:cubicBezTo>
                  <a:cubicBezTo>
                    <a:pt x="34" y="95"/>
                    <a:pt x="11" y="91"/>
                    <a:pt x="0" y="91"/>
                  </a:cubicBezTo>
                </a:path>
              </a:pathLst>
            </a:custGeom>
            <a:noFill/>
            <a:ln w="25400">
              <a:solidFill>
                <a:srgbClr val="0000CC"/>
              </a:solidFill>
              <a:round/>
              <a:headEnd type="none" w="med" len="med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9" name="Text Box 44">
              <a:extLst>
                <a:ext uri="{FF2B5EF4-FFF2-40B4-BE49-F238E27FC236}">
                  <a16:creationId xmlns:a16="http://schemas.microsoft.com/office/drawing/2014/main" id="{FC9AE3CD-1690-4024-A99B-99406D3A6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" y="2462"/>
              <a:ext cx="4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pred</a:t>
              </a:r>
            </a:p>
          </p:txBody>
        </p:sp>
        <p:sp>
          <p:nvSpPr>
            <p:cNvPr id="140" name="Text Box 46">
              <a:extLst>
                <a:ext uri="{FF2B5EF4-FFF2-40B4-BE49-F238E27FC236}">
                  <a16:creationId xmlns:a16="http://schemas.microsoft.com/office/drawing/2014/main" id="{52489BF9-F2FD-4F00-8292-E9D6F60F8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" y="2825"/>
              <a:ext cx="4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pred</a:t>
              </a:r>
            </a:p>
          </p:txBody>
        </p:sp>
        <p:sp>
          <p:nvSpPr>
            <p:cNvPr id="141" name="Text Box 47">
              <a:extLst>
                <a:ext uri="{FF2B5EF4-FFF2-40B4-BE49-F238E27FC236}">
                  <a16:creationId xmlns:a16="http://schemas.microsoft.com/office/drawing/2014/main" id="{56739CFC-F5BC-4089-9319-26AB03D88A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9" y="2145"/>
              <a:ext cx="4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pred</a:t>
              </a:r>
            </a:p>
          </p:txBody>
        </p:sp>
        <p:sp>
          <p:nvSpPr>
            <p:cNvPr id="142" name="Text Box 48">
              <a:extLst>
                <a:ext uri="{FF2B5EF4-FFF2-40B4-BE49-F238E27FC236}">
                  <a16:creationId xmlns:a16="http://schemas.microsoft.com/office/drawing/2014/main" id="{151A8C8D-2C0F-4903-A6B0-4912FA8F5A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1" y="2281"/>
              <a:ext cx="4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succ</a:t>
              </a:r>
            </a:p>
          </p:txBody>
        </p:sp>
        <p:sp>
          <p:nvSpPr>
            <p:cNvPr id="143" name="Text Box 49">
              <a:extLst>
                <a:ext uri="{FF2B5EF4-FFF2-40B4-BE49-F238E27FC236}">
                  <a16:creationId xmlns:a16="http://schemas.microsoft.com/office/drawing/2014/main" id="{A988A474-32C4-4025-8EB8-8F60DE3D0B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" y="2485"/>
              <a:ext cx="4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succ</a:t>
              </a:r>
            </a:p>
          </p:txBody>
        </p:sp>
        <p:sp>
          <p:nvSpPr>
            <p:cNvPr id="144" name="Text Box 50">
              <a:extLst>
                <a:ext uri="{FF2B5EF4-FFF2-40B4-BE49-F238E27FC236}">
                  <a16:creationId xmlns:a16="http://schemas.microsoft.com/office/drawing/2014/main" id="{6471E78D-680B-48BD-9F99-53F777F0EA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4" y="2802"/>
              <a:ext cx="4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succ</a:t>
              </a:r>
            </a:p>
          </p:txBody>
        </p:sp>
      </p:grpSp>
      <p:grpSp>
        <p:nvGrpSpPr>
          <p:cNvPr id="145" name="Group 131">
            <a:extLst>
              <a:ext uri="{FF2B5EF4-FFF2-40B4-BE49-F238E27FC236}">
                <a16:creationId xmlns:a16="http://schemas.microsoft.com/office/drawing/2014/main" id="{93C30FEF-66A2-49E1-AFBB-324BD7F0BAFD}"/>
              </a:ext>
            </a:extLst>
          </p:cNvPr>
          <p:cNvGrpSpPr>
            <a:grpSpLocks/>
          </p:cNvGrpSpPr>
          <p:nvPr/>
        </p:nvGrpSpPr>
        <p:grpSpPr bwMode="auto">
          <a:xfrm>
            <a:off x="3745708" y="2344739"/>
            <a:ext cx="5268913" cy="2943225"/>
            <a:chOff x="3243" y="1509"/>
            <a:chExt cx="3319" cy="1854"/>
          </a:xfrm>
        </p:grpSpPr>
        <p:grpSp>
          <p:nvGrpSpPr>
            <p:cNvPr id="146" name="Group 61">
              <a:extLst>
                <a:ext uri="{FF2B5EF4-FFF2-40B4-BE49-F238E27FC236}">
                  <a16:creationId xmlns:a16="http://schemas.microsoft.com/office/drawing/2014/main" id="{EB4F5E17-28E3-473D-B9EB-B4BD636C72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3053"/>
              <a:ext cx="1044" cy="310"/>
              <a:chOff x="3696" y="3371"/>
              <a:chExt cx="1044" cy="310"/>
            </a:xfrm>
          </p:grpSpPr>
          <p:grpSp>
            <p:nvGrpSpPr>
              <p:cNvPr id="207" name="Group 59">
                <a:extLst>
                  <a:ext uri="{FF2B5EF4-FFF2-40B4-BE49-F238E27FC236}">
                    <a16:creationId xmlns:a16="http://schemas.microsoft.com/office/drawing/2014/main" id="{69381D50-646B-4F3B-8A27-F5781C6CB6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6" y="3407"/>
                <a:ext cx="1044" cy="274"/>
                <a:chOff x="3696" y="3452"/>
                <a:chExt cx="1044" cy="274"/>
              </a:xfrm>
            </p:grpSpPr>
            <p:sp>
              <p:nvSpPr>
                <p:cNvPr id="211" name="Rectangle 52">
                  <a:extLst>
                    <a:ext uri="{FF2B5EF4-FFF2-40B4-BE49-F238E27FC236}">
                      <a16:creationId xmlns:a16="http://schemas.microsoft.com/office/drawing/2014/main" id="{F63F71C6-65AC-49C5-925B-4B3950C7D2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6" y="3453"/>
                  <a:ext cx="1044" cy="272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0000C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2" name="Line 55">
                  <a:extLst>
                    <a:ext uri="{FF2B5EF4-FFF2-40B4-BE49-F238E27FC236}">
                      <a16:creationId xmlns:a16="http://schemas.microsoft.com/office/drawing/2014/main" id="{688ECDF9-A177-4730-834F-FB72408C43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1" y="3452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3" name="Line 56">
                  <a:extLst>
                    <a:ext uri="{FF2B5EF4-FFF2-40B4-BE49-F238E27FC236}">
                      <a16:creationId xmlns:a16="http://schemas.microsoft.com/office/drawing/2014/main" id="{69D2337C-4B26-4EAF-9989-740544F96C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5" y="3453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4" name="Line 57">
                  <a:extLst>
                    <a:ext uri="{FF2B5EF4-FFF2-40B4-BE49-F238E27FC236}">
                      <a16:creationId xmlns:a16="http://schemas.microsoft.com/office/drawing/2014/main" id="{11D54514-2BEE-4A16-A4D9-547D36BC48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9" y="3452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5" name="Line 58">
                  <a:extLst>
                    <a:ext uri="{FF2B5EF4-FFF2-40B4-BE49-F238E27FC236}">
                      <a16:creationId xmlns:a16="http://schemas.microsoft.com/office/drawing/2014/main" id="{03937B12-BED7-474E-AE20-DB1A786FD3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6" y="3453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08" name="Text Box 53">
                <a:extLst>
                  <a:ext uri="{FF2B5EF4-FFF2-40B4-BE49-F238E27FC236}">
                    <a16:creationId xmlns:a16="http://schemas.microsoft.com/office/drawing/2014/main" id="{01BED895-FDD5-4591-8351-AE63F9E78B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93" y="3371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209" name="Text Box 54">
                <a:extLst>
                  <a:ext uri="{FF2B5EF4-FFF2-40B4-BE49-F238E27FC236}">
                    <a16:creationId xmlns:a16="http://schemas.microsoft.com/office/drawing/2014/main" id="{79B7C81A-A8E0-4ED7-B28F-77D1F9FBC1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5" y="3388"/>
                <a:ext cx="25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∧</a:t>
                </a:r>
              </a:p>
            </p:txBody>
          </p:sp>
          <p:sp>
            <p:nvSpPr>
              <p:cNvPr id="210" name="Text Box 60">
                <a:extLst>
                  <a:ext uri="{FF2B5EF4-FFF2-40B4-BE49-F238E27FC236}">
                    <a16:creationId xmlns:a16="http://schemas.microsoft.com/office/drawing/2014/main" id="{C5E21C8C-38B3-4C6C-9A04-836767D35B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86" y="3388"/>
                <a:ext cx="25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∧</a:t>
                </a:r>
              </a:p>
            </p:txBody>
          </p:sp>
        </p:grpSp>
        <p:grpSp>
          <p:nvGrpSpPr>
            <p:cNvPr id="147" name="Group 72">
              <a:extLst>
                <a:ext uri="{FF2B5EF4-FFF2-40B4-BE49-F238E27FC236}">
                  <a16:creationId xmlns:a16="http://schemas.microsoft.com/office/drawing/2014/main" id="{4C80C074-A7F0-433C-A0F2-BF34DAAE23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7" y="1806"/>
              <a:ext cx="1044" cy="310"/>
              <a:chOff x="4377" y="1806"/>
              <a:chExt cx="1044" cy="310"/>
            </a:xfrm>
          </p:grpSpPr>
          <p:grpSp>
            <p:nvGrpSpPr>
              <p:cNvPr id="200" name="Group 63">
                <a:extLst>
                  <a:ext uri="{FF2B5EF4-FFF2-40B4-BE49-F238E27FC236}">
                    <a16:creationId xmlns:a16="http://schemas.microsoft.com/office/drawing/2014/main" id="{A2AD4CDA-7475-4E0A-836D-F00408E5A9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77" y="1842"/>
                <a:ext cx="1044" cy="274"/>
                <a:chOff x="3696" y="3452"/>
                <a:chExt cx="1044" cy="274"/>
              </a:xfrm>
            </p:grpSpPr>
            <p:sp>
              <p:nvSpPr>
                <p:cNvPr id="202" name="Rectangle 64">
                  <a:extLst>
                    <a:ext uri="{FF2B5EF4-FFF2-40B4-BE49-F238E27FC236}">
                      <a16:creationId xmlns:a16="http://schemas.microsoft.com/office/drawing/2014/main" id="{B2C52E7B-38D0-4397-8F44-136A7F9D6A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6" y="3453"/>
                  <a:ext cx="1044" cy="272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0000C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3" name="Line 65">
                  <a:extLst>
                    <a:ext uri="{FF2B5EF4-FFF2-40B4-BE49-F238E27FC236}">
                      <a16:creationId xmlns:a16="http://schemas.microsoft.com/office/drawing/2014/main" id="{9F30806F-827C-46DF-B711-574BEDF68E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1" y="3452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4" name="Line 66">
                  <a:extLst>
                    <a:ext uri="{FF2B5EF4-FFF2-40B4-BE49-F238E27FC236}">
                      <a16:creationId xmlns:a16="http://schemas.microsoft.com/office/drawing/2014/main" id="{91D6A7E7-F726-476F-B3CC-82CBCA7020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5" y="3453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5" name="Line 67">
                  <a:extLst>
                    <a:ext uri="{FF2B5EF4-FFF2-40B4-BE49-F238E27FC236}">
                      <a16:creationId xmlns:a16="http://schemas.microsoft.com/office/drawing/2014/main" id="{3E036282-84F5-4BBC-99D8-3E462FB10C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9" y="3452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6" name="Line 68">
                  <a:extLst>
                    <a:ext uri="{FF2B5EF4-FFF2-40B4-BE49-F238E27FC236}">
                      <a16:creationId xmlns:a16="http://schemas.microsoft.com/office/drawing/2014/main" id="{657E31C3-08E7-43E2-AFB7-C85AE6020B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6" y="3453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01" name="Text Box 69">
                <a:extLst>
                  <a:ext uri="{FF2B5EF4-FFF2-40B4-BE49-F238E27FC236}">
                    <a16:creationId xmlns:a16="http://schemas.microsoft.com/office/drawing/2014/main" id="{B157B014-0902-4EDB-9324-466EDBAD3D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74" y="1806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a</a:t>
                </a:r>
              </a:p>
            </p:txBody>
          </p:sp>
        </p:grpSp>
        <p:grpSp>
          <p:nvGrpSpPr>
            <p:cNvPr id="148" name="Group 73">
              <a:extLst>
                <a:ext uri="{FF2B5EF4-FFF2-40B4-BE49-F238E27FC236}">
                  <a16:creationId xmlns:a16="http://schemas.microsoft.com/office/drawing/2014/main" id="{7A7EE9DB-190D-4735-B2EA-2AECB01EC0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02" y="3053"/>
              <a:ext cx="1044" cy="310"/>
              <a:chOff x="3696" y="3371"/>
              <a:chExt cx="1044" cy="310"/>
            </a:xfrm>
          </p:grpSpPr>
          <p:grpSp>
            <p:nvGrpSpPr>
              <p:cNvPr id="191" name="Group 74">
                <a:extLst>
                  <a:ext uri="{FF2B5EF4-FFF2-40B4-BE49-F238E27FC236}">
                    <a16:creationId xmlns:a16="http://schemas.microsoft.com/office/drawing/2014/main" id="{5C766B07-3A41-490C-B571-D66F8E47FB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6" y="3407"/>
                <a:ext cx="1044" cy="274"/>
                <a:chOff x="3696" y="3452"/>
                <a:chExt cx="1044" cy="274"/>
              </a:xfrm>
            </p:grpSpPr>
            <p:sp>
              <p:nvSpPr>
                <p:cNvPr id="195" name="Rectangle 75">
                  <a:extLst>
                    <a:ext uri="{FF2B5EF4-FFF2-40B4-BE49-F238E27FC236}">
                      <a16:creationId xmlns:a16="http://schemas.microsoft.com/office/drawing/2014/main" id="{2D47B4E7-E5AE-4D17-9427-3847ED6594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6" y="3453"/>
                  <a:ext cx="1044" cy="272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0000C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6" name="Line 76">
                  <a:extLst>
                    <a:ext uri="{FF2B5EF4-FFF2-40B4-BE49-F238E27FC236}">
                      <a16:creationId xmlns:a16="http://schemas.microsoft.com/office/drawing/2014/main" id="{AE561165-FE52-47BC-BDB3-D482280482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1" y="3452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7" name="Line 77">
                  <a:extLst>
                    <a:ext uri="{FF2B5EF4-FFF2-40B4-BE49-F238E27FC236}">
                      <a16:creationId xmlns:a16="http://schemas.microsoft.com/office/drawing/2014/main" id="{825C9180-85DB-40DA-9359-9DFF5E87C2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5" y="3453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8" name="Line 78">
                  <a:extLst>
                    <a:ext uri="{FF2B5EF4-FFF2-40B4-BE49-F238E27FC236}">
                      <a16:creationId xmlns:a16="http://schemas.microsoft.com/office/drawing/2014/main" id="{D6DC9EC2-AA18-4637-9022-379D274026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9" y="3452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9" name="Line 79">
                  <a:extLst>
                    <a:ext uri="{FF2B5EF4-FFF2-40B4-BE49-F238E27FC236}">
                      <a16:creationId xmlns:a16="http://schemas.microsoft.com/office/drawing/2014/main" id="{56E9F2C1-14F5-4F2A-9308-A114E08BA8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6" y="3453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92" name="Text Box 80">
                <a:extLst>
                  <a:ext uri="{FF2B5EF4-FFF2-40B4-BE49-F238E27FC236}">
                    <a16:creationId xmlns:a16="http://schemas.microsoft.com/office/drawing/2014/main" id="{CC4524BD-986A-4B5B-98FF-6FFC263705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93" y="3371"/>
                <a:ext cx="20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193" name="Text Box 81">
                <a:extLst>
                  <a:ext uri="{FF2B5EF4-FFF2-40B4-BE49-F238E27FC236}">
                    <a16:creationId xmlns:a16="http://schemas.microsoft.com/office/drawing/2014/main" id="{5EDCB20D-60A4-4F5C-8561-C57835FD7A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5" y="3388"/>
                <a:ext cx="25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∧</a:t>
                </a:r>
              </a:p>
            </p:txBody>
          </p:sp>
          <p:sp>
            <p:nvSpPr>
              <p:cNvPr id="194" name="Text Box 82">
                <a:extLst>
                  <a:ext uri="{FF2B5EF4-FFF2-40B4-BE49-F238E27FC236}">
                    <a16:creationId xmlns:a16="http://schemas.microsoft.com/office/drawing/2014/main" id="{711075B7-983C-47FC-8DBC-F8B7CB6189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86" y="3388"/>
                <a:ext cx="25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∧</a:t>
                </a:r>
              </a:p>
            </p:txBody>
          </p:sp>
        </p:grpSp>
        <p:grpSp>
          <p:nvGrpSpPr>
            <p:cNvPr id="149" name="Group 93">
              <a:extLst>
                <a:ext uri="{FF2B5EF4-FFF2-40B4-BE49-F238E27FC236}">
                  <a16:creationId xmlns:a16="http://schemas.microsoft.com/office/drawing/2014/main" id="{C17ED81A-2883-4D84-B91A-2F9FA0C2BF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4" y="2418"/>
              <a:ext cx="1088" cy="310"/>
              <a:chOff x="3810" y="2418"/>
              <a:chExt cx="1088" cy="310"/>
            </a:xfrm>
          </p:grpSpPr>
          <p:grpSp>
            <p:nvGrpSpPr>
              <p:cNvPr id="182" name="Group 84">
                <a:extLst>
                  <a:ext uri="{FF2B5EF4-FFF2-40B4-BE49-F238E27FC236}">
                    <a16:creationId xmlns:a16="http://schemas.microsoft.com/office/drawing/2014/main" id="{DC053627-715B-40A7-A037-9D31503601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54" y="2454"/>
                <a:ext cx="1044" cy="274"/>
                <a:chOff x="3696" y="3452"/>
                <a:chExt cx="1044" cy="274"/>
              </a:xfrm>
            </p:grpSpPr>
            <p:sp>
              <p:nvSpPr>
                <p:cNvPr id="186" name="Rectangle 85">
                  <a:extLst>
                    <a:ext uri="{FF2B5EF4-FFF2-40B4-BE49-F238E27FC236}">
                      <a16:creationId xmlns:a16="http://schemas.microsoft.com/office/drawing/2014/main" id="{80F2399D-9A6C-475A-80DA-BFD7114964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6" y="3453"/>
                  <a:ext cx="1044" cy="272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0000C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7" name="Line 86">
                  <a:extLst>
                    <a:ext uri="{FF2B5EF4-FFF2-40B4-BE49-F238E27FC236}">
                      <a16:creationId xmlns:a16="http://schemas.microsoft.com/office/drawing/2014/main" id="{D4962F90-D791-4B1D-BDAC-9F65288D6D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1" y="3452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8" name="Line 87">
                  <a:extLst>
                    <a:ext uri="{FF2B5EF4-FFF2-40B4-BE49-F238E27FC236}">
                      <a16:creationId xmlns:a16="http://schemas.microsoft.com/office/drawing/2014/main" id="{6CA9D3EF-D95D-473B-9DBC-CE3C3B1B60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5" y="3453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9" name="Line 88">
                  <a:extLst>
                    <a:ext uri="{FF2B5EF4-FFF2-40B4-BE49-F238E27FC236}">
                      <a16:creationId xmlns:a16="http://schemas.microsoft.com/office/drawing/2014/main" id="{F0BD4A7E-D0A0-47BA-9EE5-F83F97DACD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9" y="3452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0" name="Line 89">
                  <a:extLst>
                    <a:ext uri="{FF2B5EF4-FFF2-40B4-BE49-F238E27FC236}">
                      <a16:creationId xmlns:a16="http://schemas.microsoft.com/office/drawing/2014/main" id="{0BBCF27D-83AB-45D5-BEBE-183B4B8BFE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6" y="3453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83" name="Text Box 90">
                <a:extLst>
                  <a:ext uri="{FF2B5EF4-FFF2-40B4-BE49-F238E27FC236}">
                    <a16:creationId xmlns:a16="http://schemas.microsoft.com/office/drawing/2014/main" id="{326F8BA8-07F0-4F62-BEE1-7C58510623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1" y="2418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184" name="Text Box 91">
                <a:extLst>
                  <a:ext uri="{FF2B5EF4-FFF2-40B4-BE49-F238E27FC236}">
                    <a16:creationId xmlns:a16="http://schemas.microsoft.com/office/drawing/2014/main" id="{0D53BDC7-8D26-45C0-B261-ACBB9E6FB6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13" y="2435"/>
                <a:ext cx="25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∧</a:t>
                </a:r>
              </a:p>
            </p:txBody>
          </p:sp>
          <p:sp>
            <p:nvSpPr>
              <p:cNvPr id="185" name="Text Box 92">
                <a:extLst>
                  <a:ext uri="{FF2B5EF4-FFF2-40B4-BE49-F238E27FC236}">
                    <a16:creationId xmlns:a16="http://schemas.microsoft.com/office/drawing/2014/main" id="{89D0AABD-F9B9-4D3D-988B-D54259C6A2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" y="2435"/>
                <a:ext cx="25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∧</a:t>
                </a:r>
              </a:p>
            </p:txBody>
          </p:sp>
        </p:grpSp>
        <p:grpSp>
          <p:nvGrpSpPr>
            <p:cNvPr id="150" name="Group 104">
              <a:extLst>
                <a:ext uri="{FF2B5EF4-FFF2-40B4-BE49-F238E27FC236}">
                  <a16:creationId xmlns:a16="http://schemas.microsoft.com/office/drawing/2014/main" id="{D29BFC3C-EBD3-48FA-B2F7-F8B92CA741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74" y="2418"/>
              <a:ext cx="1054" cy="310"/>
              <a:chOff x="5374" y="2418"/>
              <a:chExt cx="1054" cy="310"/>
            </a:xfrm>
          </p:grpSpPr>
          <p:grpSp>
            <p:nvGrpSpPr>
              <p:cNvPr id="173" name="Group 95">
                <a:extLst>
                  <a:ext uri="{FF2B5EF4-FFF2-40B4-BE49-F238E27FC236}">
                    <a16:creationId xmlns:a16="http://schemas.microsoft.com/office/drawing/2014/main" id="{FB17BF9B-73E9-4D1B-93E3-D242842139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74" y="2454"/>
                <a:ext cx="1044" cy="274"/>
                <a:chOff x="3696" y="3452"/>
                <a:chExt cx="1044" cy="274"/>
              </a:xfrm>
            </p:grpSpPr>
            <p:sp>
              <p:nvSpPr>
                <p:cNvPr id="177" name="Rectangle 96">
                  <a:extLst>
                    <a:ext uri="{FF2B5EF4-FFF2-40B4-BE49-F238E27FC236}">
                      <a16:creationId xmlns:a16="http://schemas.microsoft.com/office/drawing/2014/main" id="{63429C3E-4F1D-4EA6-A973-7DDF31F125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6" y="3453"/>
                  <a:ext cx="1044" cy="272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0000C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8" name="Line 97">
                  <a:extLst>
                    <a:ext uri="{FF2B5EF4-FFF2-40B4-BE49-F238E27FC236}">
                      <a16:creationId xmlns:a16="http://schemas.microsoft.com/office/drawing/2014/main" id="{48634780-4E96-43A1-8D12-2B9B31CE42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1" y="3452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9" name="Line 98">
                  <a:extLst>
                    <a:ext uri="{FF2B5EF4-FFF2-40B4-BE49-F238E27FC236}">
                      <a16:creationId xmlns:a16="http://schemas.microsoft.com/office/drawing/2014/main" id="{516D2B5D-3EB6-4E6F-9FDC-08AEC4BEEE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5" y="3453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0" name="Line 99">
                  <a:extLst>
                    <a:ext uri="{FF2B5EF4-FFF2-40B4-BE49-F238E27FC236}">
                      <a16:creationId xmlns:a16="http://schemas.microsoft.com/office/drawing/2014/main" id="{FE303E8E-28A0-471B-A48C-B54F7167D5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9" y="3452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1" name="Line 100">
                  <a:extLst>
                    <a:ext uri="{FF2B5EF4-FFF2-40B4-BE49-F238E27FC236}">
                      <a16:creationId xmlns:a16="http://schemas.microsoft.com/office/drawing/2014/main" id="{F60C41D0-7E68-4040-B210-6F973BC230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6" y="3453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74" name="Text Box 101">
                <a:extLst>
                  <a:ext uri="{FF2B5EF4-FFF2-40B4-BE49-F238E27FC236}">
                    <a16:creationId xmlns:a16="http://schemas.microsoft.com/office/drawing/2014/main" id="{E94070C3-1FA4-456E-8639-49D59CCAB7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71" y="2418"/>
                <a:ext cx="20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175" name="Text Box 102">
                <a:extLst>
                  <a:ext uri="{FF2B5EF4-FFF2-40B4-BE49-F238E27FC236}">
                    <a16:creationId xmlns:a16="http://schemas.microsoft.com/office/drawing/2014/main" id="{63F3DE4B-BEFB-4981-ADC9-DAC7D3226F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70" y="2435"/>
                <a:ext cx="25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∧</a:t>
                </a:r>
              </a:p>
            </p:txBody>
          </p:sp>
          <p:sp>
            <p:nvSpPr>
              <p:cNvPr id="176" name="Text Box 103">
                <a:extLst>
                  <a:ext uri="{FF2B5EF4-FFF2-40B4-BE49-F238E27FC236}">
                    <a16:creationId xmlns:a16="http://schemas.microsoft.com/office/drawing/2014/main" id="{56859341-89C8-4BBB-93B5-CA6CD6FE63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64" y="2435"/>
                <a:ext cx="25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∧</a:t>
                </a:r>
              </a:p>
            </p:txBody>
          </p:sp>
        </p:grpSp>
        <p:sp>
          <p:nvSpPr>
            <p:cNvPr id="151" name="Line 105">
              <a:extLst>
                <a:ext uri="{FF2B5EF4-FFF2-40B4-BE49-F238E27FC236}">
                  <a16:creationId xmlns:a16="http://schemas.microsoft.com/office/drawing/2014/main" id="{00C0EF2C-3482-4B54-B7D0-F8AAAAF1B3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18" y="2001"/>
              <a:ext cx="476" cy="454"/>
            </a:xfrm>
            <a:prstGeom prst="line">
              <a:avLst/>
            </a:prstGeom>
            <a:noFill/>
            <a:ln w="25400">
              <a:solidFill>
                <a:srgbClr val="00808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2" name="Line 106">
              <a:extLst>
                <a:ext uri="{FF2B5EF4-FFF2-40B4-BE49-F238E27FC236}">
                  <a16:creationId xmlns:a16="http://schemas.microsoft.com/office/drawing/2014/main" id="{F3B7850A-BE9F-4AD3-A097-7C3ABC3C6E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3" y="2001"/>
              <a:ext cx="476" cy="454"/>
            </a:xfrm>
            <a:prstGeom prst="line">
              <a:avLst/>
            </a:prstGeom>
            <a:noFill/>
            <a:ln w="25400">
              <a:solidFill>
                <a:srgbClr val="00808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" name="Line 107">
              <a:extLst>
                <a:ext uri="{FF2B5EF4-FFF2-40B4-BE49-F238E27FC236}">
                  <a16:creationId xmlns:a16="http://schemas.microsoft.com/office/drawing/2014/main" id="{46BE9ECB-6EF3-45F9-B8F9-8E07B018D7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43" y="2591"/>
              <a:ext cx="249" cy="499"/>
            </a:xfrm>
            <a:prstGeom prst="line">
              <a:avLst/>
            </a:prstGeom>
            <a:noFill/>
            <a:ln w="25400">
              <a:solidFill>
                <a:srgbClr val="00808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4" name="Line 110">
              <a:extLst>
                <a:ext uri="{FF2B5EF4-FFF2-40B4-BE49-F238E27FC236}">
                  <a16:creationId xmlns:a16="http://schemas.microsoft.com/office/drawing/2014/main" id="{491B2C56-221D-4ED0-8B98-D466AB8B90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5" y="2568"/>
              <a:ext cx="227" cy="545"/>
            </a:xfrm>
            <a:prstGeom prst="line">
              <a:avLst/>
            </a:prstGeom>
            <a:noFill/>
            <a:ln w="25400">
              <a:solidFill>
                <a:srgbClr val="00808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5" name="Freeform 111">
              <a:extLst>
                <a:ext uri="{FF2B5EF4-FFF2-40B4-BE49-F238E27FC236}">
                  <a16:creationId xmlns:a16="http://schemas.microsoft.com/office/drawing/2014/main" id="{FFBFD1C8-CC7D-440A-8B7D-E138B765A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8" y="1683"/>
              <a:ext cx="273" cy="137"/>
            </a:xfrm>
            <a:custGeom>
              <a:avLst/>
              <a:gdLst>
                <a:gd name="T0" fmla="*/ 273 w 273"/>
                <a:gd name="T1" fmla="*/ 1 h 137"/>
                <a:gd name="T2" fmla="*/ 137 w 273"/>
                <a:gd name="T3" fmla="*/ 23 h 137"/>
                <a:gd name="T4" fmla="*/ 0 w 273"/>
                <a:gd name="T5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3" h="137">
                  <a:moveTo>
                    <a:pt x="273" y="1"/>
                  </a:moveTo>
                  <a:cubicBezTo>
                    <a:pt x="227" y="0"/>
                    <a:pt x="182" y="0"/>
                    <a:pt x="137" y="23"/>
                  </a:cubicBezTo>
                  <a:cubicBezTo>
                    <a:pt x="92" y="46"/>
                    <a:pt x="23" y="118"/>
                    <a:pt x="0" y="137"/>
                  </a:cubicBezTo>
                </a:path>
              </a:pathLst>
            </a:custGeom>
            <a:noFill/>
            <a:ln w="25400">
              <a:solidFill>
                <a:srgbClr val="339966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6" name="Text Box 112">
              <a:extLst>
                <a:ext uri="{FF2B5EF4-FFF2-40B4-BE49-F238E27FC236}">
                  <a16:creationId xmlns:a16="http://schemas.microsoft.com/office/drawing/2014/main" id="{B8DEB63D-3B9C-4187-85B1-D73D97995D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8" y="1509"/>
              <a:ext cx="45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root</a:t>
              </a:r>
            </a:p>
          </p:txBody>
        </p:sp>
        <p:sp>
          <p:nvSpPr>
            <p:cNvPr id="157" name="Freeform 113">
              <a:extLst>
                <a:ext uri="{FF2B5EF4-FFF2-40B4-BE49-F238E27FC236}">
                  <a16:creationId xmlns:a16="http://schemas.microsoft.com/office/drawing/2014/main" id="{AF48130E-C1A3-4C0E-8E32-68FE5056C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8" y="1979"/>
              <a:ext cx="158" cy="1111"/>
            </a:xfrm>
            <a:custGeom>
              <a:avLst/>
              <a:gdLst>
                <a:gd name="T0" fmla="*/ 0 w 165"/>
                <a:gd name="T1" fmla="*/ 0 h 1088"/>
                <a:gd name="T2" fmla="*/ 22 w 165"/>
                <a:gd name="T3" fmla="*/ 181 h 1088"/>
                <a:gd name="T4" fmla="*/ 113 w 165"/>
                <a:gd name="T5" fmla="*/ 317 h 1088"/>
                <a:gd name="T6" fmla="*/ 158 w 165"/>
                <a:gd name="T7" fmla="*/ 453 h 1088"/>
                <a:gd name="T8" fmla="*/ 158 w 165"/>
                <a:gd name="T9" fmla="*/ 1088 h 1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" h="1088">
                  <a:moveTo>
                    <a:pt x="0" y="0"/>
                  </a:moveTo>
                  <a:cubicBezTo>
                    <a:pt x="1" y="64"/>
                    <a:pt x="3" y="128"/>
                    <a:pt x="22" y="181"/>
                  </a:cubicBezTo>
                  <a:cubicBezTo>
                    <a:pt x="41" y="234"/>
                    <a:pt x="90" y="272"/>
                    <a:pt x="113" y="317"/>
                  </a:cubicBezTo>
                  <a:cubicBezTo>
                    <a:pt x="136" y="362"/>
                    <a:pt x="151" y="325"/>
                    <a:pt x="158" y="453"/>
                  </a:cubicBezTo>
                  <a:cubicBezTo>
                    <a:pt x="165" y="581"/>
                    <a:pt x="158" y="982"/>
                    <a:pt x="158" y="1088"/>
                  </a:cubicBezTo>
                </a:path>
              </a:pathLst>
            </a:custGeom>
            <a:noFill/>
            <a:ln w="25400">
              <a:solidFill>
                <a:srgbClr val="CC0000"/>
              </a:solidFill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8" name="Freeform 116">
              <a:extLst>
                <a:ext uri="{FF2B5EF4-FFF2-40B4-BE49-F238E27FC236}">
                  <a16:creationId xmlns:a16="http://schemas.microsoft.com/office/drawing/2014/main" id="{AB152F9B-33AB-4662-AAAA-AF14EEC527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193" y="1979"/>
              <a:ext cx="113" cy="1111"/>
            </a:xfrm>
            <a:custGeom>
              <a:avLst/>
              <a:gdLst>
                <a:gd name="T0" fmla="*/ 0 w 165"/>
                <a:gd name="T1" fmla="*/ 0 h 1088"/>
                <a:gd name="T2" fmla="*/ 22 w 165"/>
                <a:gd name="T3" fmla="*/ 181 h 1088"/>
                <a:gd name="T4" fmla="*/ 113 w 165"/>
                <a:gd name="T5" fmla="*/ 317 h 1088"/>
                <a:gd name="T6" fmla="*/ 158 w 165"/>
                <a:gd name="T7" fmla="*/ 453 h 1088"/>
                <a:gd name="T8" fmla="*/ 158 w 165"/>
                <a:gd name="T9" fmla="*/ 1088 h 1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" h="1088">
                  <a:moveTo>
                    <a:pt x="0" y="0"/>
                  </a:moveTo>
                  <a:cubicBezTo>
                    <a:pt x="1" y="64"/>
                    <a:pt x="3" y="128"/>
                    <a:pt x="22" y="181"/>
                  </a:cubicBezTo>
                  <a:cubicBezTo>
                    <a:pt x="41" y="234"/>
                    <a:pt x="90" y="272"/>
                    <a:pt x="113" y="317"/>
                  </a:cubicBezTo>
                  <a:cubicBezTo>
                    <a:pt x="136" y="362"/>
                    <a:pt x="151" y="325"/>
                    <a:pt x="158" y="453"/>
                  </a:cubicBezTo>
                  <a:cubicBezTo>
                    <a:pt x="165" y="581"/>
                    <a:pt x="158" y="982"/>
                    <a:pt x="158" y="1088"/>
                  </a:cubicBezTo>
                </a:path>
              </a:pathLst>
            </a:custGeom>
            <a:noFill/>
            <a:ln w="25400">
              <a:solidFill>
                <a:srgbClr val="0000CC"/>
              </a:solidFill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9" name="Freeform 117">
              <a:extLst>
                <a:ext uri="{FF2B5EF4-FFF2-40B4-BE49-F238E27FC236}">
                  <a16:creationId xmlns:a16="http://schemas.microsoft.com/office/drawing/2014/main" id="{3018E675-22E7-45A1-AD38-4659655D3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2" y="2568"/>
              <a:ext cx="158" cy="499"/>
            </a:xfrm>
            <a:custGeom>
              <a:avLst/>
              <a:gdLst>
                <a:gd name="T0" fmla="*/ 0 w 136"/>
                <a:gd name="T1" fmla="*/ 0 h 431"/>
                <a:gd name="T2" fmla="*/ 22 w 136"/>
                <a:gd name="T3" fmla="*/ 136 h 431"/>
                <a:gd name="T4" fmla="*/ 90 w 136"/>
                <a:gd name="T5" fmla="*/ 272 h 431"/>
                <a:gd name="T6" fmla="*/ 136 w 136"/>
                <a:gd name="T7" fmla="*/ 431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6" h="431">
                  <a:moveTo>
                    <a:pt x="0" y="0"/>
                  </a:moveTo>
                  <a:cubicBezTo>
                    <a:pt x="3" y="45"/>
                    <a:pt x="7" y="91"/>
                    <a:pt x="22" y="136"/>
                  </a:cubicBezTo>
                  <a:cubicBezTo>
                    <a:pt x="37" y="181"/>
                    <a:pt x="71" y="223"/>
                    <a:pt x="90" y="272"/>
                  </a:cubicBezTo>
                  <a:cubicBezTo>
                    <a:pt x="109" y="321"/>
                    <a:pt x="128" y="397"/>
                    <a:pt x="136" y="431"/>
                  </a:cubicBezTo>
                </a:path>
              </a:pathLst>
            </a:custGeom>
            <a:noFill/>
            <a:ln w="25400">
              <a:solidFill>
                <a:srgbClr val="000099"/>
              </a:solidFill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0" name="Freeform 118">
              <a:extLst>
                <a:ext uri="{FF2B5EF4-FFF2-40B4-BE49-F238E27FC236}">
                  <a16:creationId xmlns:a16="http://schemas.microsoft.com/office/drawing/2014/main" id="{B2318DC8-52CE-4F5D-8394-80A5FCDE812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307" y="2568"/>
              <a:ext cx="181" cy="522"/>
            </a:xfrm>
            <a:custGeom>
              <a:avLst/>
              <a:gdLst>
                <a:gd name="T0" fmla="*/ 0 w 136"/>
                <a:gd name="T1" fmla="*/ 0 h 431"/>
                <a:gd name="T2" fmla="*/ 22 w 136"/>
                <a:gd name="T3" fmla="*/ 136 h 431"/>
                <a:gd name="T4" fmla="*/ 90 w 136"/>
                <a:gd name="T5" fmla="*/ 272 h 431"/>
                <a:gd name="T6" fmla="*/ 136 w 136"/>
                <a:gd name="T7" fmla="*/ 431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6" h="431">
                  <a:moveTo>
                    <a:pt x="0" y="0"/>
                  </a:moveTo>
                  <a:cubicBezTo>
                    <a:pt x="3" y="45"/>
                    <a:pt x="7" y="91"/>
                    <a:pt x="22" y="136"/>
                  </a:cubicBezTo>
                  <a:cubicBezTo>
                    <a:pt x="37" y="181"/>
                    <a:pt x="71" y="223"/>
                    <a:pt x="90" y="272"/>
                  </a:cubicBezTo>
                  <a:cubicBezTo>
                    <a:pt x="109" y="321"/>
                    <a:pt x="128" y="397"/>
                    <a:pt x="136" y="431"/>
                  </a:cubicBezTo>
                </a:path>
              </a:pathLst>
            </a:custGeom>
            <a:noFill/>
            <a:ln w="25400">
              <a:solidFill>
                <a:srgbClr val="CC0000"/>
              </a:solidFill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1" name="Freeform 119">
              <a:extLst>
                <a:ext uri="{FF2B5EF4-FFF2-40B4-BE49-F238E27FC236}">
                  <a16:creationId xmlns:a16="http://schemas.microsoft.com/office/drawing/2014/main" id="{5872FAAF-0B84-491B-A01E-331C9BA42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2727"/>
              <a:ext cx="314" cy="499"/>
            </a:xfrm>
            <a:custGeom>
              <a:avLst/>
              <a:gdLst>
                <a:gd name="T0" fmla="*/ 295 w 314"/>
                <a:gd name="T1" fmla="*/ 476 h 476"/>
                <a:gd name="T2" fmla="*/ 295 w 314"/>
                <a:gd name="T3" fmla="*/ 363 h 476"/>
                <a:gd name="T4" fmla="*/ 182 w 314"/>
                <a:gd name="T5" fmla="*/ 204 h 476"/>
                <a:gd name="T6" fmla="*/ 46 w 314"/>
                <a:gd name="T7" fmla="*/ 113 h 476"/>
                <a:gd name="T8" fmla="*/ 0 w 314"/>
                <a:gd name="T9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4" h="476">
                  <a:moveTo>
                    <a:pt x="295" y="476"/>
                  </a:moveTo>
                  <a:cubicBezTo>
                    <a:pt x="304" y="442"/>
                    <a:pt x="314" y="408"/>
                    <a:pt x="295" y="363"/>
                  </a:cubicBezTo>
                  <a:cubicBezTo>
                    <a:pt x="276" y="318"/>
                    <a:pt x="223" y="246"/>
                    <a:pt x="182" y="204"/>
                  </a:cubicBezTo>
                  <a:cubicBezTo>
                    <a:pt x="141" y="162"/>
                    <a:pt x="76" y="147"/>
                    <a:pt x="46" y="113"/>
                  </a:cubicBezTo>
                  <a:cubicBezTo>
                    <a:pt x="16" y="79"/>
                    <a:pt x="8" y="19"/>
                    <a:pt x="0" y="0"/>
                  </a:cubicBezTo>
                </a:path>
              </a:pathLst>
            </a:custGeom>
            <a:noFill/>
            <a:ln w="25400">
              <a:solidFill>
                <a:srgbClr val="CC0000"/>
              </a:solidFill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2" name="Freeform 120">
              <a:extLst>
                <a:ext uri="{FF2B5EF4-FFF2-40B4-BE49-F238E27FC236}">
                  <a16:creationId xmlns:a16="http://schemas.microsoft.com/office/drawing/2014/main" id="{27EE06B3-5B71-4DBD-AD2A-1DBD24244E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032" y="2727"/>
              <a:ext cx="269" cy="499"/>
            </a:xfrm>
            <a:custGeom>
              <a:avLst/>
              <a:gdLst>
                <a:gd name="T0" fmla="*/ 295 w 314"/>
                <a:gd name="T1" fmla="*/ 476 h 476"/>
                <a:gd name="T2" fmla="*/ 295 w 314"/>
                <a:gd name="T3" fmla="*/ 363 h 476"/>
                <a:gd name="T4" fmla="*/ 182 w 314"/>
                <a:gd name="T5" fmla="*/ 204 h 476"/>
                <a:gd name="T6" fmla="*/ 46 w 314"/>
                <a:gd name="T7" fmla="*/ 113 h 476"/>
                <a:gd name="T8" fmla="*/ 0 w 314"/>
                <a:gd name="T9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4" h="476">
                  <a:moveTo>
                    <a:pt x="295" y="476"/>
                  </a:moveTo>
                  <a:cubicBezTo>
                    <a:pt x="304" y="442"/>
                    <a:pt x="314" y="408"/>
                    <a:pt x="295" y="363"/>
                  </a:cubicBezTo>
                  <a:cubicBezTo>
                    <a:pt x="276" y="318"/>
                    <a:pt x="223" y="246"/>
                    <a:pt x="182" y="204"/>
                  </a:cubicBezTo>
                  <a:cubicBezTo>
                    <a:pt x="141" y="162"/>
                    <a:pt x="76" y="147"/>
                    <a:pt x="46" y="113"/>
                  </a:cubicBezTo>
                  <a:cubicBezTo>
                    <a:pt x="16" y="79"/>
                    <a:pt x="8" y="19"/>
                    <a:pt x="0" y="0"/>
                  </a:cubicBezTo>
                </a:path>
              </a:pathLst>
            </a:custGeom>
            <a:noFill/>
            <a:ln w="25400">
              <a:solidFill>
                <a:srgbClr val="0000CC"/>
              </a:solidFill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" name="Freeform 121">
              <a:extLst>
                <a:ext uri="{FF2B5EF4-FFF2-40B4-BE49-F238E27FC236}">
                  <a16:creationId xmlns:a16="http://schemas.microsoft.com/office/drawing/2014/main" id="{82064D00-AAB3-4158-AE68-9C9341042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9" y="2115"/>
              <a:ext cx="227" cy="1111"/>
            </a:xfrm>
            <a:custGeom>
              <a:avLst/>
              <a:gdLst>
                <a:gd name="T0" fmla="*/ 208 w 208"/>
                <a:gd name="T1" fmla="*/ 1089 h 1089"/>
                <a:gd name="T2" fmla="*/ 117 w 208"/>
                <a:gd name="T3" fmla="*/ 998 h 1089"/>
                <a:gd name="T4" fmla="*/ 49 w 208"/>
                <a:gd name="T5" fmla="*/ 771 h 1089"/>
                <a:gd name="T6" fmla="*/ 27 w 208"/>
                <a:gd name="T7" fmla="*/ 613 h 1089"/>
                <a:gd name="T8" fmla="*/ 4 w 208"/>
                <a:gd name="T9" fmla="*/ 136 h 1089"/>
                <a:gd name="T10" fmla="*/ 4 w 208"/>
                <a:gd name="T11" fmla="*/ 0 h 1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8" h="1089">
                  <a:moveTo>
                    <a:pt x="208" y="1089"/>
                  </a:moveTo>
                  <a:cubicBezTo>
                    <a:pt x="176" y="1070"/>
                    <a:pt x="144" y="1051"/>
                    <a:pt x="117" y="998"/>
                  </a:cubicBezTo>
                  <a:cubicBezTo>
                    <a:pt x="90" y="945"/>
                    <a:pt x="64" y="835"/>
                    <a:pt x="49" y="771"/>
                  </a:cubicBezTo>
                  <a:cubicBezTo>
                    <a:pt x="34" y="707"/>
                    <a:pt x="34" y="719"/>
                    <a:pt x="27" y="613"/>
                  </a:cubicBezTo>
                  <a:cubicBezTo>
                    <a:pt x="20" y="507"/>
                    <a:pt x="8" y="238"/>
                    <a:pt x="4" y="136"/>
                  </a:cubicBezTo>
                  <a:cubicBezTo>
                    <a:pt x="0" y="34"/>
                    <a:pt x="4" y="23"/>
                    <a:pt x="4" y="0"/>
                  </a:cubicBezTo>
                </a:path>
              </a:pathLst>
            </a:custGeom>
            <a:noFill/>
            <a:ln w="25400">
              <a:solidFill>
                <a:srgbClr val="CC0000"/>
              </a:solidFill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" name="Freeform 122">
              <a:extLst>
                <a:ext uri="{FF2B5EF4-FFF2-40B4-BE49-F238E27FC236}">
                  <a16:creationId xmlns:a16="http://schemas.microsoft.com/office/drawing/2014/main" id="{FE75B6D7-BE09-4C7A-828A-005491C3321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49" y="2115"/>
              <a:ext cx="159" cy="1111"/>
            </a:xfrm>
            <a:custGeom>
              <a:avLst/>
              <a:gdLst>
                <a:gd name="T0" fmla="*/ 208 w 208"/>
                <a:gd name="T1" fmla="*/ 1089 h 1089"/>
                <a:gd name="T2" fmla="*/ 117 w 208"/>
                <a:gd name="T3" fmla="*/ 998 h 1089"/>
                <a:gd name="T4" fmla="*/ 49 w 208"/>
                <a:gd name="T5" fmla="*/ 771 h 1089"/>
                <a:gd name="T6" fmla="*/ 27 w 208"/>
                <a:gd name="T7" fmla="*/ 613 h 1089"/>
                <a:gd name="T8" fmla="*/ 4 w 208"/>
                <a:gd name="T9" fmla="*/ 136 h 1089"/>
                <a:gd name="T10" fmla="*/ 4 w 208"/>
                <a:gd name="T11" fmla="*/ 0 h 1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8" h="1089">
                  <a:moveTo>
                    <a:pt x="208" y="1089"/>
                  </a:moveTo>
                  <a:cubicBezTo>
                    <a:pt x="176" y="1070"/>
                    <a:pt x="144" y="1051"/>
                    <a:pt x="117" y="998"/>
                  </a:cubicBezTo>
                  <a:cubicBezTo>
                    <a:pt x="90" y="945"/>
                    <a:pt x="64" y="835"/>
                    <a:pt x="49" y="771"/>
                  </a:cubicBezTo>
                  <a:cubicBezTo>
                    <a:pt x="34" y="707"/>
                    <a:pt x="34" y="719"/>
                    <a:pt x="27" y="613"/>
                  </a:cubicBezTo>
                  <a:cubicBezTo>
                    <a:pt x="20" y="507"/>
                    <a:pt x="8" y="238"/>
                    <a:pt x="4" y="136"/>
                  </a:cubicBezTo>
                  <a:cubicBezTo>
                    <a:pt x="0" y="34"/>
                    <a:pt x="4" y="23"/>
                    <a:pt x="4" y="0"/>
                  </a:cubicBezTo>
                </a:path>
              </a:pathLst>
            </a:custGeom>
            <a:noFill/>
            <a:ln w="25400">
              <a:solidFill>
                <a:srgbClr val="0000CC"/>
              </a:solidFill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5" name="Text Box 123">
              <a:extLst>
                <a:ext uri="{FF2B5EF4-FFF2-40B4-BE49-F238E27FC236}">
                  <a16:creationId xmlns:a16="http://schemas.microsoft.com/office/drawing/2014/main" id="{3C69285C-D990-429C-991B-9BD5B8C559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3" y="2863"/>
              <a:ext cx="4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pred</a:t>
              </a:r>
            </a:p>
          </p:txBody>
        </p:sp>
        <p:sp>
          <p:nvSpPr>
            <p:cNvPr id="166" name="Text Box 124">
              <a:extLst>
                <a:ext uri="{FF2B5EF4-FFF2-40B4-BE49-F238E27FC236}">
                  <a16:creationId xmlns:a16="http://schemas.microsoft.com/office/drawing/2014/main" id="{636A93EE-B203-4653-86D8-2B87F8F585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" y="2205"/>
              <a:ext cx="4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pred</a:t>
              </a:r>
            </a:p>
          </p:txBody>
        </p:sp>
        <p:sp>
          <p:nvSpPr>
            <p:cNvPr id="167" name="Text Box 125">
              <a:extLst>
                <a:ext uri="{FF2B5EF4-FFF2-40B4-BE49-F238E27FC236}">
                  <a16:creationId xmlns:a16="http://schemas.microsoft.com/office/drawing/2014/main" id="{48E6FBCA-1E91-4284-8A52-87A310AFCD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2" y="2798"/>
              <a:ext cx="4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pred</a:t>
              </a:r>
            </a:p>
          </p:txBody>
        </p:sp>
        <p:sp>
          <p:nvSpPr>
            <p:cNvPr id="168" name="Text Box 126">
              <a:extLst>
                <a:ext uri="{FF2B5EF4-FFF2-40B4-BE49-F238E27FC236}">
                  <a16:creationId xmlns:a16="http://schemas.microsoft.com/office/drawing/2014/main" id="{5184C901-65B7-4DBB-826E-FFD687D73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1" y="2685"/>
              <a:ext cx="4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pred</a:t>
              </a:r>
            </a:p>
          </p:txBody>
        </p:sp>
        <p:sp>
          <p:nvSpPr>
            <p:cNvPr id="169" name="Text Box 127">
              <a:extLst>
                <a:ext uri="{FF2B5EF4-FFF2-40B4-BE49-F238E27FC236}">
                  <a16:creationId xmlns:a16="http://schemas.microsoft.com/office/drawing/2014/main" id="{90F6D421-9D6D-4D4D-B931-25B99851B0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8" y="2682"/>
              <a:ext cx="4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succ</a:t>
              </a:r>
            </a:p>
          </p:txBody>
        </p:sp>
        <p:sp>
          <p:nvSpPr>
            <p:cNvPr id="170" name="Text Box 128">
              <a:extLst>
                <a:ext uri="{FF2B5EF4-FFF2-40B4-BE49-F238E27FC236}">
                  <a16:creationId xmlns:a16="http://schemas.microsoft.com/office/drawing/2014/main" id="{AFF1D587-0C6D-438E-9655-795584010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9" y="2546"/>
              <a:ext cx="4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succ</a:t>
              </a:r>
            </a:p>
          </p:txBody>
        </p:sp>
        <p:sp>
          <p:nvSpPr>
            <p:cNvPr id="171" name="Text Box 129">
              <a:extLst>
                <a:ext uri="{FF2B5EF4-FFF2-40B4-BE49-F238E27FC236}">
                  <a16:creationId xmlns:a16="http://schemas.microsoft.com/office/drawing/2014/main" id="{9280CE06-1E22-44BC-9552-7C4466A6D7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2205"/>
              <a:ext cx="4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succ</a:t>
              </a:r>
            </a:p>
          </p:txBody>
        </p:sp>
        <p:sp>
          <p:nvSpPr>
            <p:cNvPr id="172" name="Text Box 130">
              <a:extLst>
                <a:ext uri="{FF2B5EF4-FFF2-40B4-BE49-F238E27FC236}">
                  <a16:creationId xmlns:a16="http://schemas.microsoft.com/office/drawing/2014/main" id="{B5551D9E-0713-41D0-9BFF-553CFC3394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1" y="2844"/>
              <a:ext cx="4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succ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669881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0C301E-2FB6-4449-A3FC-46B4ABB24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BA8C7E-E793-4EB2-91AA-91DB6FA68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44504"/>
            <a:ext cx="9144000" cy="6113495"/>
          </a:xfrm>
        </p:spPr>
        <p:txBody>
          <a:bodyPr/>
          <a:lstStyle/>
          <a:p>
            <a:r>
              <a:rPr lang="zh-CN" altLang="en-US" dirty="0"/>
              <a:t>这种设计的缺点是每个结点增加两个指针，当结点数很大时存储消耗较大。</a:t>
            </a:r>
          </a:p>
          <a:p>
            <a:r>
              <a:rPr lang="zh-CN" altLang="en-US" dirty="0"/>
              <a:t>将 </a:t>
            </a:r>
            <a:r>
              <a:rPr lang="en-US" altLang="zh-CN" dirty="0">
                <a:solidFill>
                  <a:srgbClr val="0000FF"/>
                </a:solidFill>
              </a:rPr>
              <a:t>pred</a:t>
            </a:r>
            <a:r>
              <a:rPr lang="en-US" altLang="zh-CN" dirty="0"/>
              <a:t> </a:t>
            </a:r>
            <a:r>
              <a:rPr lang="zh-CN" altLang="en-US" dirty="0"/>
              <a:t>指针和 </a:t>
            </a:r>
            <a:r>
              <a:rPr lang="en-US" altLang="zh-CN" dirty="0" err="1">
                <a:solidFill>
                  <a:srgbClr val="0000FF"/>
                </a:solidFill>
              </a:rPr>
              <a:t>succ</a:t>
            </a:r>
            <a:r>
              <a:rPr lang="en-US" altLang="zh-CN" dirty="0"/>
              <a:t> </a:t>
            </a:r>
            <a:r>
              <a:rPr lang="zh-CN" altLang="en-US" dirty="0"/>
              <a:t>指针分别压缩到 </a:t>
            </a:r>
            <a:r>
              <a:rPr lang="en-US" altLang="zh-CN" dirty="0" err="1">
                <a:solidFill>
                  <a:srgbClr val="00B050"/>
                </a:solidFill>
              </a:rPr>
              <a:t>leftChild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>
                <a:solidFill>
                  <a:srgbClr val="00B050"/>
                </a:solidFill>
              </a:rPr>
              <a:t>rightChild</a:t>
            </a:r>
            <a:r>
              <a:rPr lang="en-US" altLang="zh-CN" dirty="0"/>
              <a:t> </a:t>
            </a:r>
            <a:r>
              <a:rPr lang="zh-CN" altLang="en-US" dirty="0"/>
              <a:t>的空闲指针（</a:t>
            </a:r>
            <a:r>
              <a:rPr lang="en-US" altLang="zh-CN" dirty="0"/>
              <a:t>n+1</a:t>
            </a:r>
            <a:r>
              <a:rPr lang="zh-CN" altLang="en-US" dirty="0"/>
              <a:t>个）中，并增设两个标志 </a:t>
            </a:r>
            <a:r>
              <a:rPr lang="en-US" altLang="zh-CN" dirty="0" err="1">
                <a:solidFill>
                  <a:srgbClr val="FF0000"/>
                </a:solidFill>
              </a:rPr>
              <a:t>ltag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>
                <a:solidFill>
                  <a:srgbClr val="FF0000"/>
                </a:solidFill>
              </a:rPr>
              <a:t>rtag</a:t>
            </a:r>
            <a:r>
              <a:rPr lang="zh-CN" altLang="en-US" dirty="0"/>
              <a:t>，标识指针是指向子女还是前驱／后继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ltag</a:t>
            </a:r>
            <a:r>
              <a:rPr lang="en-US" altLang="zh-CN" dirty="0"/>
              <a:t>(</a:t>
            </a:r>
            <a:r>
              <a:rPr lang="zh-CN" altLang="en-US" dirty="0"/>
              <a:t>或</a:t>
            </a:r>
            <a:r>
              <a:rPr lang="en-US" altLang="zh-CN" dirty="0" err="1">
                <a:solidFill>
                  <a:srgbClr val="FF0000"/>
                </a:solidFill>
              </a:rPr>
              <a:t>rtag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rgbClr val="FF0000"/>
                </a:solidFill>
              </a:rPr>
              <a:t>=0</a:t>
            </a:r>
            <a:r>
              <a:rPr lang="zh-CN" altLang="en-US" dirty="0"/>
              <a:t>，表示相应指针指示</a:t>
            </a:r>
            <a:r>
              <a:rPr lang="zh-CN" altLang="en-US" dirty="0">
                <a:solidFill>
                  <a:srgbClr val="00B050"/>
                </a:solidFill>
              </a:rPr>
              <a:t>左子结点</a:t>
            </a:r>
            <a:r>
              <a:rPr lang="zh-CN" altLang="en-US" dirty="0"/>
              <a:t>（或</a:t>
            </a:r>
            <a:r>
              <a:rPr lang="zh-CN" altLang="en-US" dirty="0">
                <a:solidFill>
                  <a:srgbClr val="00B050"/>
                </a:solidFill>
              </a:rPr>
              <a:t>右子结点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ltag</a:t>
            </a:r>
            <a:r>
              <a:rPr lang="en-US" altLang="zh-CN" dirty="0"/>
              <a:t>(</a:t>
            </a:r>
            <a:r>
              <a:rPr lang="zh-CN" altLang="en-US" dirty="0"/>
              <a:t>或</a:t>
            </a:r>
            <a:r>
              <a:rPr lang="en-US" altLang="zh-CN" dirty="0" err="1">
                <a:solidFill>
                  <a:srgbClr val="FF0000"/>
                </a:solidFill>
              </a:rPr>
              <a:t>rtag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rgbClr val="FF0000"/>
                </a:solidFill>
              </a:rPr>
              <a:t>=1</a:t>
            </a:r>
            <a:r>
              <a:rPr lang="zh-CN" altLang="en-US" dirty="0"/>
              <a:t>，表示相应指针为</a:t>
            </a:r>
            <a:r>
              <a:rPr lang="zh-CN" altLang="en-US" dirty="0">
                <a:solidFill>
                  <a:srgbClr val="0000FF"/>
                </a:solidFill>
              </a:rPr>
              <a:t>前驱</a:t>
            </a:r>
            <a:r>
              <a:rPr lang="zh-CN" altLang="en-US" dirty="0"/>
              <a:t>（或</a:t>
            </a:r>
            <a:r>
              <a:rPr lang="zh-CN" altLang="en-US" dirty="0">
                <a:solidFill>
                  <a:srgbClr val="0000FF"/>
                </a:solidFill>
              </a:rPr>
              <a:t>后继</a:t>
            </a:r>
            <a:r>
              <a:rPr lang="zh-CN" altLang="en-US" dirty="0"/>
              <a:t>）线索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8094A11A-7245-41F3-8F59-3743E9029357}"/>
              </a:ext>
            </a:extLst>
          </p:cNvPr>
          <p:cNvGrpSpPr>
            <a:grpSpLocks/>
          </p:cNvGrpSpPr>
          <p:nvPr/>
        </p:nvGrpSpPr>
        <p:grpSpPr bwMode="auto">
          <a:xfrm>
            <a:off x="1043608" y="4221089"/>
            <a:ext cx="7057527" cy="741418"/>
            <a:chOff x="589" y="913"/>
            <a:chExt cx="4237" cy="318"/>
          </a:xfrm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98B4299C-58B3-4DB2-84EB-54A05EFC1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" y="913"/>
              <a:ext cx="4151" cy="31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rgbClr val="000099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13" name="Text Box 6">
              <a:extLst>
                <a:ext uri="{FF2B5EF4-FFF2-40B4-BE49-F238E27FC236}">
                  <a16:creationId xmlns:a16="http://schemas.microsoft.com/office/drawing/2014/main" id="{D551C7EF-A7C2-4D34-969D-F7B7B09B5A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" y="940"/>
              <a:ext cx="4237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</a:rPr>
                <a:t>leftChild</a:t>
              </a: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</a:rPr>
                <a:t>    </a:t>
              </a:r>
              <a:r>
                <a:rPr kumimoji="0" lang="en-US" altLang="zh-CN" sz="3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</a:rPr>
                <a:t>ltag</a:t>
              </a: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</a:rPr>
                <a:t>     data     </a:t>
              </a:r>
              <a:r>
                <a:rPr kumimoji="0" lang="en-US" altLang="zh-CN" sz="3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</a:rPr>
                <a:t>rtag</a:t>
              </a: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</a:rPr>
                <a:t>   </a:t>
              </a:r>
              <a:r>
                <a:rPr kumimoji="0" lang="en-US" altLang="zh-CN" sz="3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</a:rPr>
                <a:t>rightChild</a:t>
              </a: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14" name="Line 7">
              <a:extLst>
                <a:ext uri="{FF2B5EF4-FFF2-40B4-BE49-F238E27FC236}">
                  <a16:creationId xmlns:a16="http://schemas.microsoft.com/office/drawing/2014/main" id="{F28DF070-0D27-4321-80C9-7ECFDEBFCA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913"/>
              <a:ext cx="0" cy="31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15" name="Line 8">
              <a:extLst>
                <a:ext uri="{FF2B5EF4-FFF2-40B4-BE49-F238E27FC236}">
                  <a16:creationId xmlns:a16="http://schemas.microsoft.com/office/drawing/2014/main" id="{3103CB49-C2D9-4E00-A6F6-B3506C5837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913"/>
              <a:ext cx="0" cy="31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16" name="Line 9">
              <a:extLst>
                <a:ext uri="{FF2B5EF4-FFF2-40B4-BE49-F238E27FC236}">
                  <a16:creationId xmlns:a16="http://schemas.microsoft.com/office/drawing/2014/main" id="{F7B14801-7DF2-4631-AC8D-6423251F5A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" y="913"/>
              <a:ext cx="0" cy="31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17" name="Line 10">
              <a:extLst>
                <a:ext uri="{FF2B5EF4-FFF2-40B4-BE49-F238E27FC236}">
                  <a16:creationId xmlns:a16="http://schemas.microsoft.com/office/drawing/2014/main" id="{4097A73F-C61A-4080-B40F-B9FE114270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8" y="913"/>
              <a:ext cx="0" cy="31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528065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FBD558-3F39-43DC-BA50-B4BBC95FD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线索二叉树及其链表表示</a:t>
            </a:r>
          </a:p>
        </p:txBody>
      </p:sp>
      <p:grpSp>
        <p:nvGrpSpPr>
          <p:cNvPr id="102" name="Group 5">
            <a:extLst>
              <a:ext uri="{FF2B5EF4-FFF2-40B4-BE49-F238E27FC236}">
                <a16:creationId xmlns:a16="http://schemas.microsoft.com/office/drawing/2014/main" id="{E8E5CA2F-BE8F-4BF5-89F5-DAEE54533D23}"/>
              </a:ext>
            </a:extLst>
          </p:cNvPr>
          <p:cNvGrpSpPr>
            <a:grpSpLocks/>
          </p:cNvGrpSpPr>
          <p:nvPr/>
        </p:nvGrpSpPr>
        <p:grpSpPr bwMode="auto">
          <a:xfrm>
            <a:off x="1210096" y="1127245"/>
            <a:ext cx="6589713" cy="523875"/>
            <a:chOff x="589" y="902"/>
            <a:chExt cx="4151" cy="330"/>
          </a:xfrm>
        </p:grpSpPr>
        <p:sp>
          <p:nvSpPr>
            <p:cNvPr id="103" name="Rectangle 6">
              <a:extLst>
                <a:ext uri="{FF2B5EF4-FFF2-40B4-BE49-F238E27FC236}">
                  <a16:creationId xmlns:a16="http://schemas.microsoft.com/office/drawing/2014/main" id="{E976B91E-E56C-4DA7-86D9-915D42003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" y="913"/>
              <a:ext cx="4151" cy="31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rgbClr val="000099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" name="Text Box 7">
              <a:extLst>
                <a:ext uri="{FF2B5EF4-FFF2-40B4-BE49-F238E27FC236}">
                  <a16:creationId xmlns:a16="http://schemas.microsoft.com/office/drawing/2014/main" id="{FD789CDC-F28E-418C-952C-EFE1681C1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9" y="902"/>
              <a:ext cx="369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lchild</a:t>
              </a: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     </a:t>
              </a:r>
              <a:r>
                <a:rPr kumimoji="0" lang="en-US" altLang="zh-CN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ltag</a:t>
              </a: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     </a:t>
              </a: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宋体" panose="02010600030101010101" pitchFamily="2" charset="-122"/>
                </a:rPr>
                <a:t>data</a:t>
              </a: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      </a:t>
              </a:r>
              <a:r>
                <a:rPr kumimoji="0" lang="en-US" altLang="zh-CN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rtag</a:t>
              </a: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 </a:t>
              </a: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   </a:t>
              </a:r>
              <a:r>
                <a:rPr kumimoji="0" lang="en-US" altLang="zh-CN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rchild</a:t>
              </a: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105" name="Line 8">
              <a:extLst>
                <a:ext uri="{FF2B5EF4-FFF2-40B4-BE49-F238E27FC236}">
                  <a16:creationId xmlns:a16="http://schemas.microsoft.com/office/drawing/2014/main" id="{5BECE905-0DFC-447E-B78F-BD3AC8219F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913"/>
              <a:ext cx="0" cy="31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" name="Line 9">
              <a:extLst>
                <a:ext uri="{FF2B5EF4-FFF2-40B4-BE49-F238E27FC236}">
                  <a16:creationId xmlns:a16="http://schemas.microsoft.com/office/drawing/2014/main" id="{59DB6645-6C9C-4D06-99E2-B7FAE6CB97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913"/>
              <a:ext cx="0" cy="31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" name="Line 10">
              <a:extLst>
                <a:ext uri="{FF2B5EF4-FFF2-40B4-BE49-F238E27FC236}">
                  <a16:creationId xmlns:a16="http://schemas.microsoft.com/office/drawing/2014/main" id="{8D095A32-FC3A-4219-B427-76CC218AE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" y="913"/>
              <a:ext cx="0" cy="31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" name="Line 11">
              <a:extLst>
                <a:ext uri="{FF2B5EF4-FFF2-40B4-BE49-F238E27FC236}">
                  <a16:creationId xmlns:a16="http://schemas.microsoft.com/office/drawing/2014/main" id="{F37D7B0E-0C2F-444E-B90F-126117740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8" y="913"/>
              <a:ext cx="0" cy="31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9" name="Group 126">
            <a:extLst>
              <a:ext uri="{FF2B5EF4-FFF2-40B4-BE49-F238E27FC236}">
                <a16:creationId xmlns:a16="http://schemas.microsoft.com/office/drawing/2014/main" id="{1253DDAA-F96A-4C57-860D-B6CEF6AF57D0}"/>
              </a:ext>
            </a:extLst>
          </p:cNvPr>
          <p:cNvGrpSpPr>
            <a:grpSpLocks/>
          </p:cNvGrpSpPr>
          <p:nvPr/>
        </p:nvGrpSpPr>
        <p:grpSpPr bwMode="auto">
          <a:xfrm>
            <a:off x="54956" y="2410669"/>
            <a:ext cx="3629025" cy="2413000"/>
            <a:chOff x="113" y="1720"/>
            <a:chExt cx="2286" cy="1520"/>
          </a:xfrm>
        </p:grpSpPr>
        <p:sp>
          <p:nvSpPr>
            <p:cNvPr id="110" name="Line 13">
              <a:extLst>
                <a:ext uri="{FF2B5EF4-FFF2-40B4-BE49-F238E27FC236}">
                  <a16:creationId xmlns:a16="http://schemas.microsoft.com/office/drawing/2014/main" id="{A2BE451B-4B99-47FE-A557-11E1776967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08" y="2434"/>
              <a:ext cx="261" cy="499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1" name="Line 14">
              <a:extLst>
                <a:ext uri="{FF2B5EF4-FFF2-40B4-BE49-F238E27FC236}">
                  <a16:creationId xmlns:a16="http://schemas.microsoft.com/office/drawing/2014/main" id="{D61CA2AA-4832-45D0-919A-91B4AF56B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481"/>
              <a:ext cx="192" cy="432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" name="Line 15">
              <a:extLst>
                <a:ext uri="{FF2B5EF4-FFF2-40B4-BE49-F238E27FC236}">
                  <a16:creationId xmlns:a16="http://schemas.microsoft.com/office/drawing/2014/main" id="{024F5913-7B1E-4745-B84C-546C0514E0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5" y="1980"/>
              <a:ext cx="408" cy="363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" name="Line 16">
              <a:extLst>
                <a:ext uri="{FF2B5EF4-FFF2-40B4-BE49-F238E27FC236}">
                  <a16:creationId xmlns:a16="http://schemas.microsoft.com/office/drawing/2014/main" id="{22B49198-6250-460E-80A7-29637630F1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3" y="1957"/>
              <a:ext cx="444" cy="380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" name="Oval 17">
              <a:extLst>
                <a:ext uri="{FF2B5EF4-FFF2-40B4-BE49-F238E27FC236}">
                  <a16:creationId xmlns:a16="http://schemas.microsoft.com/office/drawing/2014/main" id="{A77F5489-7E3A-4FEC-B8C7-5CFE04760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" y="1761"/>
              <a:ext cx="288" cy="288"/>
            </a:xfrm>
            <a:prstGeom prst="ellipse">
              <a:avLst/>
            </a:prstGeom>
            <a:solidFill>
              <a:srgbClr val="FFFF99"/>
            </a:solidFill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15" name="Oval 18">
              <a:extLst>
                <a:ext uri="{FF2B5EF4-FFF2-40B4-BE49-F238E27FC236}">
                  <a16:creationId xmlns:a16="http://schemas.microsoft.com/office/drawing/2014/main" id="{C647995A-1D35-40DA-A599-C204B07C2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2241"/>
              <a:ext cx="288" cy="288"/>
            </a:xfrm>
            <a:prstGeom prst="ellipse">
              <a:avLst/>
            </a:prstGeom>
            <a:solidFill>
              <a:srgbClr val="FFFF99"/>
            </a:solidFill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6" name="Oval 19">
              <a:extLst>
                <a:ext uri="{FF2B5EF4-FFF2-40B4-BE49-F238E27FC236}">
                  <a16:creationId xmlns:a16="http://schemas.microsoft.com/office/drawing/2014/main" id="{37070B70-7EA2-455D-8619-F54CF3D51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2872"/>
              <a:ext cx="288" cy="288"/>
            </a:xfrm>
            <a:prstGeom prst="ellipse">
              <a:avLst/>
            </a:prstGeom>
            <a:solidFill>
              <a:srgbClr val="FFFF99"/>
            </a:solidFill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7" name="Oval 20">
              <a:extLst>
                <a:ext uri="{FF2B5EF4-FFF2-40B4-BE49-F238E27FC236}">
                  <a16:creationId xmlns:a16="http://schemas.microsoft.com/office/drawing/2014/main" id="{29D6FB81-5D07-4042-B3D6-14DFD537F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2259"/>
              <a:ext cx="288" cy="288"/>
            </a:xfrm>
            <a:prstGeom prst="ellipse">
              <a:avLst/>
            </a:prstGeom>
            <a:solidFill>
              <a:srgbClr val="FFFF99"/>
            </a:solidFill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8" name="Oval 21">
              <a:extLst>
                <a:ext uri="{FF2B5EF4-FFF2-40B4-BE49-F238E27FC236}">
                  <a16:creationId xmlns:a16="http://schemas.microsoft.com/office/drawing/2014/main" id="{6DBE8245-A00C-4DFD-80A5-B9CCDC042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" y="2865"/>
              <a:ext cx="288" cy="288"/>
            </a:xfrm>
            <a:prstGeom prst="ellipse">
              <a:avLst/>
            </a:prstGeom>
            <a:solidFill>
              <a:srgbClr val="FFFF99"/>
            </a:solidFill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9" name="Text Box 22">
              <a:extLst>
                <a:ext uri="{FF2B5EF4-FFF2-40B4-BE49-F238E27FC236}">
                  <a16:creationId xmlns:a16="http://schemas.microsoft.com/office/drawing/2014/main" id="{EFE19575-989C-4107-8A0F-FC1C3B89CD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6" y="172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a</a:t>
              </a:r>
              <a:endPara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20" name="Text Box 23">
              <a:extLst>
                <a:ext uri="{FF2B5EF4-FFF2-40B4-BE49-F238E27FC236}">
                  <a16:creationId xmlns:a16="http://schemas.microsoft.com/office/drawing/2014/main" id="{8E34295F-6E51-4971-B0BE-BD96988CA2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" y="221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b</a:t>
              </a:r>
              <a:endPara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21" name="Text Box 24">
              <a:extLst>
                <a:ext uri="{FF2B5EF4-FFF2-40B4-BE49-F238E27FC236}">
                  <a16:creationId xmlns:a16="http://schemas.microsoft.com/office/drawing/2014/main" id="{0B601DE4-AA03-4721-915C-E5D1FF45D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8" y="2201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c</a:t>
              </a:r>
              <a:endPara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22" name="Text Box 25">
              <a:extLst>
                <a:ext uri="{FF2B5EF4-FFF2-40B4-BE49-F238E27FC236}">
                  <a16:creationId xmlns:a16="http://schemas.microsoft.com/office/drawing/2014/main" id="{1B1A8639-BD05-43C4-9D58-1C313A426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" y="2836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d</a:t>
              </a:r>
              <a:endPara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23" name="Text Box 26">
              <a:extLst>
                <a:ext uri="{FF2B5EF4-FFF2-40B4-BE49-F238E27FC236}">
                  <a16:creationId xmlns:a16="http://schemas.microsoft.com/office/drawing/2014/main" id="{87EB32F7-BB5B-4540-87A6-D587A798F6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5" y="2816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e</a:t>
              </a:r>
              <a:endPara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24" name="Freeform 27">
              <a:extLst>
                <a:ext uri="{FF2B5EF4-FFF2-40B4-BE49-F238E27FC236}">
                  <a16:creationId xmlns:a16="http://schemas.microsoft.com/office/drawing/2014/main" id="{F09A90A1-2E0A-4CC5-B920-1E8975573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" y="2026"/>
              <a:ext cx="169" cy="1194"/>
            </a:xfrm>
            <a:custGeom>
              <a:avLst/>
              <a:gdLst>
                <a:gd name="T0" fmla="*/ 0 w 169"/>
                <a:gd name="T1" fmla="*/ 1111 h 1194"/>
                <a:gd name="T2" fmla="*/ 45 w 169"/>
                <a:gd name="T3" fmla="*/ 1179 h 1194"/>
                <a:gd name="T4" fmla="*/ 113 w 169"/>
                <a:gd name="T5" fmla="*/ 1179 h 1194"/>
                <a:gd name="T6" fmla="*/ 158 w 169"/>
                <a:gd name="T7" fmla="*/ 1088 h 1194"/>
                <a:gd name="T8" fmla="*/ 158 w 169"/>
                <a:gd name="T9" fmla="*/ 839 h 1194"/>
                <a:gd name="T10" fmla="*/ 90 w 169"/>
                <a:gd name="T11" fmla="*/ 567 h 1194"/>
                <a:gd name="T12" fmla="*/ 113 w 169"/>
                <a:gd name="T13" fmla="*/ 181 h 1194"/>
                <a:gd name="T14" fmla="*/ 158 w 169"/>
                <a:gd name="T15" fmla="*/ 0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9" h="1194">
                  <a:moveTo>
                    <a:pt x="0" y="1111"/>
                  </a:moveTo>
                  <a:cubicBezTo>
                    <a:pt x="13" y="1139"/>
                    <a:pt x="26" y="1168"/>
                    <a:pt x="45" y="1179"/>
                  </a:cubicBezTo>
                  <a:cubicBezTo>
                    <a:pt x="64" y="1190"/>
                    <a:pt x="94" y="1194"/>
                    <a:pt x="113" y="1179"/>
                  </a:cubicBezTo>
                  <a:cubicBezTo>
                    <a:pt x="132" y="1164"/>
                    <a:pt x="151" y="1145"/>
                    <a:pt x="158" y="1088"/>
                  </a:cubicBezTo>
                  <a:cubicBezTo>
                    <a:pt x="165" y="1031"/>
                    <a:pt x="169" y="926"/>
                    <a:pt x="158" y="839"/>
                  </a:cubicBezTo>
                  <a:cubicBezTo>
                    <a:pt x="147" y="752"/>
                    <a:pt x="97" y="677"/>
                    <a:pt x="90" y="567"/>
                  </a:cubicBezTo>
                  <a:cubicBezTo>
                    <a:pt x="83" y="457"/>
                    <a:pt x="102" y="275"/>
                    <a:pt x="113" y="181"/>
                  </a:cubicBezTo>
                  <a:cubicBezTo>
                    <a:pt x="124" y="87"/>
                    <a:pt x="151" y="30"/>
                    <a:pt x="158" y="0"/>
                  </a:cubicBezTo>
                </a:path>
              </a:pathLst>
            </a:custGeom>
            <a:noFill/>
            <a:ln w="25400">
              <a:solidFill>
                <a:srgbClr val="0000CC"/>
              </a:solidFill>
              <a:round/>
              <a:headEnd type="none" w="med" len="med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5" name="Freeform 28">
              <a:extLst>
                <a:ext uri="{FF2B5EF4-FFF2-40B4-BE49-F238E27FC236}">
                  <a16:creationId xmlns:a16="http://schemas.microsoft.com/office/drawing/2014/main" id="{ECEBD60C-5902-4624-AC12-22D9AE16051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259" y="2026"/>
              <a:ext cx="169" cy="1194"/>
            </a:xfrm>
            <a:custGeom>
              <a:avLst/>
              <a:gdLst>
                <a:gd name="T0" fmla="*/ 0 w 169"/>
                <a:gd name="T1" fmla="*/ 1111 h 1194"/>
                <a:gd name="T2" fmla="*/ 45 w 169"/>
                <a:gd name="T3" fmla="*/ 1179 h 1194"/>
                <a:gd name="T4" fmla="*/ 113 w 169"/>
                <a:gd name="T5" fmla="*/ 1179 h 1194"/>
                <a:gd name="T6" fmla="*/ 158 w 169"/>
                <a:gd name="T7" fmla="*/ 1088 h 1194"/>
                <a:gd name="T8" fmla="*/ 158 w 169"/>
                <a:gd name="T9" fmla="*/ 839 h 1194"/>
                <a:gd name="T10" fmla="*/ 90 w 169"/>
                <a:gd name="T11" fmla="*/ 567 h 1194"/>
                <a:gd name="T12" fmla="*/ 113 w 169"/>
                <a:gd name="T13" fmla="*/ 181 h 1194"/>
                <a:gd name="T14" fmla="*/ 158 w 169"/>
                <a:gd name="T15" fmla="*/ 0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9" h="1194">
                  <a:moveTo>
                    <a:pt x="0" y="1111"/>
                  </a:moveTo>
                  <a:cubicBezTo>
                    <a:pt x="13" y="1139"/>
                    <a:pt x="26" y="1168"/>
                    <a:pt x="45" y="1179"/>
                  </a:cubicBezTo>
                  <a:cubicBezTo>
                    <a:pt x="64" y="1190"/>
                    <a:pt x="94" y="1194"/>
                    <a:pt x="113" y="1179"/>
                  </a:cubicBezTo>
                  <a:cubicBezTo>
                    <a:pt x="132" y="1164"/>
                    <a:pt x="151" y="1145"/>
                    <a:pt x="158" y="1088"/>
                  </a:cubicBezTo>
                  <a:cubicBezTo>
                    <a:pt x="165" y="1031"/>
                    <a:pt x="169" y="926"/>
                    <a:pt x="158" y="839"/>
                  </a:cubicBezTo>
                  <a:cubicBezTo>
                    <a:pt x="147" y="752"/>
                    <a:pt x="97" y="677"/>
                    <a:pt x="90" y="567"/>
                  </a:cubicBezTo>
                  <a:cubicBezTo>
                    <a:pt x="83" y="457"/>
                    <a:pt x="102" y="275"/>
                    <a:pt x="113" y="181"/>
                  </a:cubicBezTo>
                  <a:cubicBezTo>
                    <a:pt x="124" y="87"/>
                    <a:pt x="151" y="30"/>
                    <a:pt x="158" y="0"/>
                  </a:cubicBezTo>
                </a:path>
              </a:pathLst>
            </a:custGeom>
            <a:noFill/>
            <a:ln w="25400">
              <a:solidFill>
                <a:srgbClr val="CC0000"/>
              </a:solidFill>
              <a:round/>
              <a:headEnd type="none" w="med" len="med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6" name="Freeform 29">
              <a:extLst>
                <a:ext uri="{FF2B5EF4-FFF2-40B4-BE49-F238E27FC236}">
                  <a16:creationId xmlns:a16="http://schemas.microsoft.com/office/drawing/2014/main" id="{E892EFA9-2F13-4D5B-A8FB-27DD8073F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" y="2524"/>
              <a:ext cx="231" cy="673"/>
            </a:xfrm>
            <a:custGeom>
              <a:avLst/>
              <a:gdLst>
                <a:gd name="T0" fmla="*/ 231 w 231"/>
                <a:gd name="T1" fmla="*/ 613 h 673"/>
                <a:gd name="T2" fmla="*/ 186 w 231"/>
                <a:gd name="T3" fmla="*/ 658 h 673"/>
                <a:gd name="T4" fmla="*/ 118 w 231"/>
                <a:gd name="T5" fmla="*/ 658 h 673"/>
                <a:gd name="T6" fmla="*/ 27 w 231"/>
                <a:gd name="T7" fmla="*/ 567 h 673"/>
                <a:gd name="T8" fmla="*/ 4 w 231"/>
                <a:gd name="T9" fmla="*/ 159 h 673"/>
                <a:gd name="T10" fmla="*/ 4 w 231"/>
                <a:gd name="T11" fmla="*/ 0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1" h="673">
                  <a:moveTo>
                    <a:pt x="231" y="613"/>
                  </a:moveTo>
                  <a:cubicBezTo>
                    <a:pt x="218" y="632"/>
                    <a:pt x="205" y="651"/>
                    <a:pt x="186" y="658"/>
                  </a:cubicBezTo>
                  <a:cubicBezTo>
                    <a:pt x="167" y="665"/>
                    <a:pt x="144" y="673"/>
                    <a:pt x="118" y="658"/>
                  </a:cubicBezTo>
                  <a:cubicBezTo>
                    <a:pt x="92" y="643"/>
                    <a:pt x="46" y="650"/>
                    <a:pt x="27" y="567"/>
                  </a:cubicBezTo>
                  <a:cubicBezTo>
                    <a:pt x="8" y="484"/>
                    <a:pt x="8" y="253"/>
                    <a:pt x="4" y="159"/>
                  </a:cubicBezTo>
                  <a:cubicBezTo>
                    <a:pt x="0" y="65"/>
                    <a:pt x="4" y="26"/>
                    <a:pt x="4" y="0"/>
                  </a:cubicBezTo>
                </a:path>
              </a:pathLst>
            </a:custGeom>
            <a:noFill/>
            <a:ln w="25400">
              <a:solidFill>
                <a:srgbClr val="CC0000"/>
              </a:solidFill>
              <a:round/>
              <a:headEnd type="none" w="med" len="med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7" name="Freeform 30">
              <a:extLst>
                <a:ext uri="{FF2B5EF4-FFF2-40B4-BE49-F238E27FC236}">
                  <a16:creationId xmlns:a16="http://schemas.microsoft.com/office/drawing/2014/main" id="{F270DCDF-FED7-415F-A1D1-3F77B6CDC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2502"/>
              <a:ext cx="249" cy="95"/>
            </a:xfrm>
            <a:custGeom>
              <a:avLst/>
              <a:gdLst>
                <a:gd name="T0" fmla="*/ 249 w 249"/>
                <a:gd name="T1" fmla="*/ 0 h 95"/>
                <a:gd name="T2" fmla="*/ 204 w 249"/>
                <a:gd name="T3" fmla="*/ 69 h 95"/>
                <a:gd name="T4" fmla="*/ 68 w 249"/>
                <a:gd name="T5" fmla="*/ 91 h 95"/>
                <a:gd name="T6" fmla="*/ 0 w 249"/>
                <a:gd name="T7" fmla="*/ 9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9" h="95">
                  <a:moveTo>
                    <a:pt x="249" y="0"/>
                  </a:moveTo>
                  <a:cubicBezTo>
                    <a:pt x="241" y="27"/>
                    <a:pt x="234" y="54"/>
                    <a:pt x="204" y="69"/>
                  </a:cubicBezTo>
                  <a:cubicBezTo>
                    <a:pt x="174" y="84"/>
                    <a:pt x="102" y="87"/>
                    <a:pt x="68" y="91"/>
                  </a:cubicBezTo>
                  <a:cubicBezTo>
                    <a:pt x="34" y="95"/>
                    <a:pt x="11" y="91"/>
                    <a:pt x="0" y="91"/>
                  </a:cubicBezTo>
                </a:path>
              </a:pathLst>
            </a:custGeom>
            <a:noFill/>
            <a:ln w="25400">
              <a:solidFill>
                <a:srgbClr val="CC0000"/>
              </a:solidFill>
              <a:round/>
              <a:headEnd type="none" w="med" len="med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" name="Freeform 31">
              <a:extLst>
                <a:ext uri="{FF2B5EF4-FFF2-40B4-BE49-F238E27FC236}">
                  <a16:creationId xmlns:a16="http://schemas.microsoft.com/office/drawing/2014/main" id="{E0C220AE-BB7F-44CA-B1F5-0420C5E647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542" y="2532"/>
              <a:ext cx="249" cy="673"/>
            </a:xfrm>
            <a:custGeom>
              <a:avLst/>
              <a:gdLst>
                <a:gd name="T0" fmla="*/ 231 w 231"/>
                <a:gd name="T1" fmla="*/ 613 h 673"/>
                <a:gd name="T2" fmla="*/ 186 w 231"/>
                <a:gd name="T3" fmla="*/ 658 h 673"/>
                <a:gd name="T4" fmla="*/ 118 w 231"/>
                <a:gd name="T5" fmla="*/ 658 h 673"/>
                <a:gd name="T6" fmla="*/ 27 w 231"/>
                <a:gd name="T7" fmla="*/ 567 h 673"/>
                <a:gd name="T8" fmla="*/ 4 w 231"/>
                <a:gd name="T9" fmla="*/ 159 h 673"/>
                <a:gd name="T10" fmla="*/ 4 w 231"/>
                <a:gd name="T11" fmla="*/ 0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1" h="673">
                  <a:moveTo>
                    <a:pt x="231" y="613"/>
                  </a:moveTo>
                  <a:cubicBezTo>
                    <a:pt x="218" y="632"/>
                    <a:pt x="205" y="651"/>
                    <a:pt x="186" y="658"/>
                  </a:cubicBezTo>
                  <a:cubicBezTo>
                    <a:pt x="167" y="665"/>
                    <a:pt x="144" y="673"/>
                    <a:pt x="118" y="658"/>
                  </a:cubicBezTo>
                  <a:cubicBezTo>
                    <a:pt x="92" y="643"/>
                    <a:pt x="46" y="650"/>
                    <a:pt x="27" y="567"/>
                  </a:cubicBezTo>
                  <a:cubicBezTo>
                    <a:pt x="8" y="484"/>
                    <a:pt x="8" y="253"/>
                    <a:pt x="4" y="159"/>
                  </a:cubicBezTo>
                  <a:cubicBezTo>
                    <a:pt x="0" y="65"/>
                    <a:pt x="4" y="26"/>
                    <a:pt x="4" y="0"/>
                  </a:cubicBezTo>
                </a:path>
              </a:pathLst>
            </a:custGeom>
            <a:noFill/>
            <a:ln w="25400">
              <a:solidFill>
                <a:srgbClr val="0000CC"/>
              </a:solidFill>
              <a:round/>
              <a:headEnd type="none" w="med" len="med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9" name="Freeform 32">
              <a:extLst>
                <a:ext uri="{FF2B5EF4-FFF2-40B4-BE49-F238E27FC236}">
                  <a16:creationId xmlns:a16="http://schemas.microsoft.com/office/drawing/2014/main" id="{8331A613-A67E-4AD0-89DB-5BBDC60E2F7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859" y="2524"/>
              <a:ext cx="249" cy="95"/>
            </a:xfrm>
            <a:custGeom>
              <a:avLst/>
              <a:gdLst>
                <a:gd name="T0" fmla="*/ 249 w 249"/>
                <a:gd name="T1" fmla="*/ 0 h 95"/>
                <a:gd name="T2" fmla="*/ 204 w 249"/>
                <a:gd name="T3" fmla="*/ 69 h 95"/>
                <a:gd name="T4" fmla="*/ 68 w 249"/>
                <a:gd name="T5" fmla="*/ 91 h 95"/>
                <a:gd name="T6" fmla="*/ 0 w 249"/>
                <a:gd name="T7" fmla="*/ 9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9" h="95">
                  <a:moveTo>
                    <a:pt x="249" y="0"/>
                  </a:moveTo>
                  <a:cubicBezTo>
                    <a:pt x="241" y="27"/>
                    <a:pt x="234" y="54"/>
                    <a:pt x="204" y="69"/>
                  </a:cubicBezTo>
                  <a:cubicBezTo>
                    <a:pt x="174" y="84"/>
                    <a:pt x="102" y="87"/>
                    <a:pt x="68" y="91"/>
                  </a:cubicBezTo>
                  <a:cubicBezTo>
                    <a:pt x="34" y="95"/>
                    <a:pt x="11" y="91"/>
                    <a:pt x="0" y="91"/>
                  </a:cubicBezTo>
                </a:path>
              </a:pathLst>
            </a:custGeom>
            <a:noFill/>
            <a:ln w="25400">
              <a:solidFill>
                <a:srgbClr val="0000CC"/>
              </a:solidFill>
              <a:round/>
              <a:headEnd type="none" w="med" len="med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0" name="Text Box 33">
              <a:extLst>
                <a:ext uri="{FF2B5EF4-FFF2-40B4-BE49-F238E27FC236}">
                  <a16:creationId xmlns:a16="http://schemas.microsoft.com/office/drawing/2014/main" id="{EEAC2111-FBC5-47F3-9F19-FD723F1DC8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" y="2547"/>
              <a:ext cx="51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pred</a:t>
              </a:r>
            </a:p>
          </p:txBody>
        </p:sp>
        <p:sp>
          <p:nvSpPr>
            <p:cNvPr id="131" name="Text Box 34">
              <a:extLst>
                <a:ext uri="{FF2B5EF4-FFF2-40B4-BE49-F238E27FC236}">
                  <a16:creationId xmlns:a16="http://schemas.microsoft.com/office/drawing/2014/main" id="{2107321A-183B-43FE-A210-60E2ED50DE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" y="2910"/>
              <a:ext cx="51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pred</a:t>
              </a:r>
            </a:p>
          </p:txBody>
        </p:sp>
        <p:sp>
          <p:nvSpPr>
            <p:cNvPr id="132" name="Text Box 35">
              <a:extLst>
                <a:ext uri="{FF2B5EF4-FFF2-40B4-BE49-F238E27FC236}">
                  <a16:creationId xmlns:a16="http://schemas.microsoft.com/office/drawing/2014/main" id="{9388C0E0-05D7-40BB-B31D-6CF5E70129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1" y="2230"/>
              <a:ext cx="51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pred</a:t>
              </a:r>
            </a:p>
          </p:txBody>
        </p:sp>
        <p:sp>
          <p:nvSpPr>
            <p:cNvPr id="133" name="Text Box 36">
              <a:extLst>
                <a:ext uri="{FF2B5EF4-FFF2-40B4-BE49-F238E27FC236}">
                  <a16:creationId xmlns:a16="http://schemas.microsoft.com/office/drawing/2014/main" id="{D9A6F7E6-92C5-40A8-8063-0AE437884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2366"/>
              <a:ext cx="51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succ</a:t>
              </a:r>
            </a:p>
          </p:txBody>
        </p:sp>
        <p:sp>
          <p:nvSpPr>
            <p:cNvPr id="134" name="Text Box 37">
              <a:extLst>
                <a:ext uri="{FF2B5EF4-FFF2-40B4-BE49-F238E27FC236}">
                  <a16:creationId xmlns:a16="http://schemas.microsoft.com/office/drawing/2014/main" id="{902DBA9A-7ABB-405D-ADDD-14975CD93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2570"/>
              <a:ext cx="51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succ</a:t>
              </a:r>
            </a:p>
          </p:txBody>
        </p:sp>
        <p:sp>
          <p:nvSpPr>
            <p:cNvPr id="135" name="Text Box 38">
              <a:extLst>
                <a:ext uri="{FF2B5EF4-FFF2-40B4-BE49-F238E27FC236}">
                  <a16:creationId xmlns:a16="http://schemas.microsoft.com/office/drawing/2014/main" id="{708857DA-3754-4E8B-92A5-11945660C7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887"/>
              <a:ext cx="51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succ</a:t>
              </a:r>
            </a:p>
          </p:txBody>
        </p:sp>
      </p:grpSp>
      <p:grpSp>
        <p:nvGrpSpPr>
          <p:cNvPr id="136" name="Group 123">
            <a:extLst>
              <a:ext uri="{FF2B5EF4-FFF2-40B4-BE49-F238E27FC236}">
                <a16:creationId xmlns:a16="http://schemas.microsoft.com/office/drawing/2014/main" id="{DE94EFE3-1B5C-48F4-B425-A3CCECFCD4E7}"/>
              </a:ext>
            </a:extLst>
          </p:cNvPr>
          <p:cNvGrpSpPr>
            <a:grpSpLocks/>
          </p:cNvGrpSpPr>
          <p:nvPr/>
        </p:nvGrpSpPr>
        <p:grpSpPr bwMode="auto">
          <a:xfrm>
            <a:off x="3721287" y="2132856"/>
            <a:ext cx="5357813" cy="3005138"/>
            <a:chOff x="2238" y="1413"/>
            <a:chExt cx="3375" cy="1893"/>
          </a:xfrm>
        </p:grpSpPr>
        <p:grpSp>
          <p:nvGrpSpPr>
            <p:cNvPr id="137" name="Group 41">
              <a:extLst>
                <a:ext uri="{FF2B5EF4-FFF2-40B4-BE49-F238E27FC236}">
                  <a16:creationId xmlns:a16="http://schemas.microsoft.com/office/drawing/2014/main" id="{D86403B2-BA71-4B15-8174-D76A573904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91" y="2992"/>
              <a:ext cx="1044" cy="274"/>
              <a:chOff x="3696" y="3452"/>
              <a:chExt cx="1044" cy="274"/>
            </a:xfrm>
          </p:grpSpPr>
          <p:sp>
            <p:nvSpPr>
              <p:cNvPr id="196" name="Rectangle 42">
                <a:extLst>
                  <a:ext uri="{FF2B5EF4-FFF2-40B4-BE49-F238E27FC236}">
                    <a16:creationId xmlns:a16="http://schemas.microsoft.com/office/drawing/2014/main" id="{CE527349-A320-495B-B19B-625238D53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3453"/>
                <a:ext cx="1044" cy="272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99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0000CC"/>
                </a:outerShdw>
              </a:effec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7" name="Line 43">
                <a:extLst>
                  <a:ext uri="{FF2B5EF4-FFF2-40B4-BE49-F238E27FC236}">
                    <a16:creationId xmlns:a16="http://schemas.microsoft.com/office/drawing/2014/main" id="{CCAC6F64-BECF-440C-88A2-72D52B9F4D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1" y="3452"/>
                <a:ext cx="0" cy="273"/>
              </a:xfrm>
              <a:prstGeom prst="line">
                <a:avLst/>
              </a:prstGeom>
              <a:noFill/>
              <a:ln w="9525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8" name="Line 44">
                <a:extLst>
                  <a:ext uri="{FF2B5EF4-FFF2-40B4-BE49-F238E27FC236}">
                    <a16:creationId xmlns:a16="http://schemas.microsoft.com/office/drawing/2014/main" id="{337F0295-2E4F-42A5-BD4E-0382825A8F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5" y="3453"/>
                <a:ext cx="0" cy="273"/>
              </a:xfrm>
              <a:prstGeom prst="line">
                <a:avLst/>
              </a:prstGeom>
              <a:noFill/>
              <a:ln w="9525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9" name="Line 45">
                <a:extLst>
                  <a:ext uri="{FF2B5EF4-FFF2-40B4-BE49-F238E27FC236}">
                    <a16:creationId xmlns:a16="http://schemas.microsoft.com/office/drawing/2014/main" id="{7FD45FE7-24EC-4447-A2DE-C8FB90B392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9" y="3452"/>
                <a:ext cx="0" cy="273"/>
              </a:xfrm>
              <a:prstGeom prst="line">
                <a:avLst/>
              </a:prstGeom>
              <a:noFill/>
              <a:ln w="9525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0" name="Line 46">
                <a:extLst>
                  <a:ext uri="{FF2B5EF4-FFF2-40B4-BE49-F238E27FC236}">
                    <a16:creationId xmlns:a16="http://schemas.microsoft.com/office/drawing/2014/main" id="{736E64CE-BF32-43F7-BFFB-B547F50FBB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6" y="3453"/>
                <a:ext cx="0" cy="273"/>
              </a:xfrm>
              <a:prstGeom prst="line">
                <a:avLst/>
              </a:prstGeom>
              <a:noFill/>
              <a:ln w="9525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8" name="Text Box 47">
              <a:extLst>
                <a:ext uri="{FF2B5EF4-FFF2-40B4-BE49-F238E27FC236}">
                  <a16:creationId xmlns:a16="http://schemas.microsoft.com/office/drawing/2014/main" id="{DA4278B2-8EEA-4E90-9C08-AA77AA9391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" y="295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1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d</a:t>
              </a:r>
            </a:p>
          </p:txBody>
        </p:sp>
        <p:grpSp>
          <p:nvGrpSpPr>
            <p:cNvPr id="139" name="Group 50">
              <a:extLst>
                <a:ext uri="{FF2B5EF4-FFF2-40B4-BE49-F238E27FC236}">
                  <a16:creationId xmlns:a16="http://schemas.microsoft.com/office/drawing/2014/main" id="{00A5DC58-899F-4F93-AC6E-CD82EB8AA5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72" y="1709"/>
              <a:ext cx="1044" cy="327"/>
              <a:chOff x="4377" y="1806"/>
              <a:chExt cx="1044" cy="327"/>
            </a:xfrm>
          </p:grpSpPr>
          <p:grpSp>
            <p:nvGrpSpPr>
              <p:cNvPr id="189" name="Group 51">
                <a:extLst>
                  <a:ext uri="{FF2B5EF4-FFF2-40B4-BE49-F238E27FC236}">
                    <a16:creationId xmlns:a16="http://schemas.microsoft.com/office/drawing/2014/main" id="{4D9CB19E-DF70-47E8-8A5C-0AF9CF180A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77" y="1842"/>
                <a:ext cx="1044" cy="274"/>
                <a:chOff x="3696" y="3452"/>
                <a:chExt cx="1044" cy="274"/>
              </a:xfrm>
            </p:grpSpPr>
            <p:sp>
              <p:nvSpPr>
                <p:cNvPr id="191" name="Rectangle 52">
                  <a:extLst>
                    <a:ext uri="{FF2B5EF4-FFF2-40B4-BE49-F238E27FC236}">
                      <a16:creationId xmlns:a16="http://schemas.microsoft.com/office/drawing/2014/main" id="{7BEB9F1E-D3F4-41CB-BA12-C1AF067E9E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6" y="3453"/>
                  <a:ext cx="1044" cy="272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0000C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2" name="Line 53">
                  <a:extLst>
                    <a:ext uri="{FF2B5EF4-FFF2-40B4-BE49-F238E27FC236}">
                      <a16:creationId xmlns:a16="http://schemas.microsoft.com/office/drawing/2014/main" id="{704E54AC-0BBD-4F50-825D-EACAC830DD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1" y="3452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3" name="Line 54">
                  <a:extLst>
                    <a:ext uri="{FF2B5EF4-FFF2-40B4-BE49-F238E27FC236}">
                      <a16:creationId xmlns:a16="http://schemas.microsoft.com/office/drawing/2014/main" id="{D8811F0D-2564-4F56-83FF-849D53D743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5" y="3453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4" name="Line 55">
                  <a:extLst>
                    <a:ext uri="{FF2B5EF4-FFF2-40B4-BE49-F238E27FC236}">
                      <a16:creationId xmlns:a16="http://schemas.microsoft.com/office/drawing/2014/main" id="{4DA60886-74C5-4F4B-AF6D-8206F22181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9" y="3452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" name="Line 56">
                  <a:extLst>
                    <a:ext uri="{FF2B5EF4-FFF2-40B4-BE49-F238E27FC236}">
                      <a16:creationId xmlns:a16="http://schemas.microsoft.com/office/drawing/2014/main" id="{CECFE99B-7B40-467C-92D9-5187E516F3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6" y="3453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90" name="Text Box 57">
                <a:extLst>
                  <a:ext uri="{FF2B5EF4-FFF2-40B4-BE49-F238E27FC236}">
                    <a16:creationId xmlns:a16="http://schemas.microsoft.com/office/drawing/2014/main" id="{D149DCCA-86F4-4E7F-A49B-F9ACC8826C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74" y="1806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b="0" i="1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a</a:t>
                </a:r>
              </a:p>
            </p:txBody>
          </p:sp>
        </p:grpSp>
        <p:grpSp>
          <p:nvGrpSpPr>
            <p:cNvPr id="140" name="Group 59">
              <a:extLst>
                <a:ext uri="{FF2B5EF4-FFF2-40B4-BE49-F238E27FC236}">
                  <a16:creationId xmlns:a16="http://schemas.microsoft.com/office/drawing/2014/main" id="{603DDD00-7DDD-420F-9B62-CB565AE33E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7" y="2992"/>
              <a:ext cx="1044" cy="274"/>
              <a:chOff x="3696" y="3452"/>
              <a:chExt cx="1044" cy="274"/>
            </a:xfrm>
          </p:grpSpPr>
          <p:sp>
            <p:nvSpPr>
              <p:cNvPr id="184" name="Rectangle 60">
                <a:extLst>
                  <a:ext uri="{FF2B5EF4-FFF2-40B4-BE49-F238E27FC236}">
                    <a16:creationId xmlns:a16="http://schemas.microsoft.com/office/drawing/2014/main" id="{C299F3B4-2E25-4038-89B5-9FB1625A8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3453"/>
                <a:ext cx="1044" cy="272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99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0000CC"/>
                </a:outerShdw>
              </a:effec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5" name="Line 61">
                <a:extLst>
                  <a:ext uri="{FF2B5EF4-FFF2-40B4-BE49-F238E27FC236}">
                    <a16:creationId xmlns:a16="http://schemas.microsoft.com/office/drawing/2014/main" id="{BF6AF66C-276F-4820-A35D-83664CFB88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1" y="3452"/>
                <a:ext cx="0" cy="273"/>
              </a:xfrm>
              <a:prstGeom prst="line">
                <a:avLst/>
              </a:prstGeom>
              <a:noFill/>
              <a:ln w="9525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6" name="Line 62">
                <a:extLst>
                  <a:ext uri="{FF2B5EF4-FFF2-40B4-BE49-F238E27FC236}">
                    <a16:creationId xmlns:a16="http://schemas.microsoft.com/office/drawing/2014/main" id="{994B3853-2990-4C93-98F8-0F8F8D271F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5" y="3453"/>
                <a:ext cx="0" cy="273"/>
              </a:xfrm>
              <a:prstGeom prst="line">
                <a:avLst/>
              </a:prstGeom>
              <a:noFill/>
              <a:ln w="9525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7" name="Line 63">
                <a:extLst>
                  <a:ext uri="{FF2B5EF4-FFF2-40B4-BE49-F238E27FC236}">
                    <a16:creationId xmlns:a16="http://schemas.microsoft.com/office/drawing/2014/main" id="{4EAB008C-365A-4EC3-8F37-4AE3A62D66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9" y="3452"/>
                <a:ext cx="0" cy="273"/>
              </a:xfrm>
              <a:prstGeom prst="line">
                <a:avLst/>
              </a:prstGeom>
              <a:noFill/>
              <a:ln w="9525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8" name="Line 64">
                <a:extLst>
                  <a:ext uri="{FF2B5EF4-FFF2-40B4-BE49-F238E27FC236}">
                    <a16:creationId xmlns:a16="http://schemas.microsoft.com/office/drawing/2014/main" id="{9355C0AA-684C-46D2-A10B-A679D22281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6" y="3453"/>
                <a:ext cx="0" cy="273"/>
              </a:xfrm>
              <a:prstGeom prst="line">
                <a:avLst/>
              </a:prstGeom>
              <a:noFill/>
              <a:ln w="9525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41" name="Text Box 65">
              <a:extLst>
                <a:ext uri="{FF2B5EF4-FFF2-40B4-BE49-F238E27FC236}">
                  <a16:creationId xmlns:a16="http://schemas.microsoft.com/office/drawing/2014/main" id="{04A52725-5566-416C-8218-7CE415AAC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4" y="2956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1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e</a:t>
              </a:r>
            </a:p>
          </p:txBody>
        </p:sp>
        <p:grpSp>
          <p:nvGrpSpPr>
            <p:cNvPr id="142" name="Group 118">
              <a:extLst>
                <a:ext uri="{FF2B5EF4-FFF2-40B4-BE49-F238E27FC236}">
                  <a16:creationId xmlns:a16="http://schemas.microsoft.com/office/drawing/2014/main" id="{037B0CF3-1067-4DDB-A92D-24D8602255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9" y="2321"/>
              <a:ext cx="1088" cy="347"/>
              <a:chOff x="2329" y="2321"/>
              <a:chExt cx="1088" cy="347"/>
            </a:xfrm>
          </p:grpSpPr>
          <p:grpSp>
            <p:nvGrpSpPr>
              <p:cNvPr id="176" name="Group 69">
                <a:extLst>
                  <a:ext uri="{FF2B5EF4-FFF2-40B4-BE49-F238E27FC236}">
                    <a16:creationId xmlns:a16="http://schemas.microsoft.com/office/drawing/2014/main" id="{C5D528AA-1501-4DE2-8E31-D301866C9C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73" y="2357"/>
                <a:ext cx="1044" cy="274"/>
                <a:chOff x="3696" y="3452"/>
                <a:chExt cx="1044" cy="274"/>
              </a:xfrm>
            </p:grpSpPr>
            <p:sp>
              <p:nvSpPr>
                <p:cNvPr id="179" name="Rectangle 70">
                  <a:extLst>
                    <a:ext uri="{FF2B5EF4-FFF2-40B4-BE49-F238E27FC236}">
                      <a16:creationId xmlns:a16="http://schemas.microsoft.com/office/drawing/2014/main" id="{ECD08F77-99E1-4BBC-8DEE-A5CEB71DA1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6" y="3453"/>
                  <a:ext cx="1044" cy="272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0000C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0" name="Line 71">
                  <a:extLst>
                    <a:ext uri="{FF2B5EF4-FFF2-40B4-BE49-F238E27FC236}">
                      <a16:creationId xmlns:a16="http://schemas.microsoft.com/office/drawing/2014/main" id="{C052852B-14E3-4D1A-9FE9-DC3FE92F85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1" y="3452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1" name="Line 72">
                  <a:extLst>
                    <a:ext uri="{FF2B5EF4-FFF2-40B4-BE49-F238E27FC236}">
                      <a16:creationId xmlns:a16="http://schemas.microsoft.com/office/drawing/2014/main" id="{0627BA8E-56A7-4A80-9815-041432620F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5" y="3453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2" name="Line 73">
                  <a:extLst>
                    <a:ext uri="{FF2B5EF4-FFF2-40B4-BE49-F238E27FC236}">
                      <a16:creationId xmlns:a16="http://schemas.microsoft.com/office/drawing/2014/main" id="{3405C09B-3BF5-4C41-BEF0-247B7C4A82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9" y="3452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3" name="Line 74">
                  <a:extLst>
                    <a:ext uri="{FF2B5EF4-FFF2-40B4-BE49-F238E27FC236}">
                      <a16:creationId xmlns:a16="http://schemas.microsoft.com/office/drawing/2014/main" id="{D42B7FEF-6D8A-48C9-ADAB-93A249863A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6" y="3453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77" name="Text Box 75">
                <a:extLst>
                  <a:ext uri="{FF2B5EF4-FFF2-40B4-BE49-F238E27FC236}">
                    <a16:creationId xmlns:a16="http://schemas.microsoft.com/office/drawing/2014/main" id="{BF391FEF-D576-4ECD-BAC0-7409BEA8A3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0" y="2321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b="0" i="1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178" name="Text Box 77">
                <a:extLst>
                  <a:ext uri="{FF2B5EF4-FFF2-40B4-BE49-F238E27FC236}">
                    <a16:creationId xmlns:a16="http://schemas.microsoft.com/office/drawing/2014/main" id="{05458DC5-7D3D-43E6-9079-4CC5DF3A79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29" y="2338"/>
                <a:ext cx="281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b="0" i="0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∧</a:t>
                </a:r>
              </a:p>
            </p:txBody>
          </p:sp>
        </p:grpSp>
        <p:grpSp>
          <p:nvGrpSpPr>
            <p:cNvPr id="143" name="Group 115">
              <a:extLst>
                <a:ext uri="{FF2B5EF4-FFF2-40B4-BE49-F238E27FC236}">
                  <a16:creationId xmlns:a16="http://schemas.microsoft.com/office/drawing/2014/main" id="{D99981F7-F574-487D-B887-1B3F1CEF38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9" y="2321"/>
              <a:ext cx="1077" cy="347"/>
              <a:chOff x="4369" y="2321"/>
              <a:chExt cx="1077" cy="347"/>
            </a:xfrm>
          </p:grpSpPr>
          <p:grpSp>
            <p:nvGrpSpPr>
              <p:cNvPr id="168" name="Group 79">
                <a:extLst>
                  <a:ext uri="{FF2B5EF4-FFF2-40B4-BE49-F238E27FC236}">
                    <a16:creationId xmlns:a16="http://schemas.microsoft.com/office/drawing/2014/main" id="{1067C036-11B1-4052-A3F5-0EAA21C685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69" y="2357"/>
                <a:ext cx="1044" cy="274"/>
                <a:chOff x="3696" y="3452"/>
                <a:chExt cx="1044" cy="274"/>
              </a:xfrm>
            </p:grpSpPr>
            <p:sp>
              <p:nvSpPr>
                <p:cNvPr id="171" name="Rectangle 80">
                  <a:extLst>
                    <a:ext uri="{FF2B5EF4-FFF2-40B4-BE49-F238E27FC236}">
                      <a16:creationId xmlns:a16="http://schemas.microsoft.com/office/drawing/2014/main" id="{3C12F5A8-7C90-4EA0-A9A9-DE4CE7CA2C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6" y="3453"/>
                  <a:ext cx="1044" cy="272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0000C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2" name="Line 81">
                  <a:extLst>
                    <a:ext uri="{FF2B5EF4-FFF2-40B4-BE49-F238E27FC236}">
                      <a16:creationId xmlns:a16="http://schemas.microsoft.com/office/drawing/2014/main" id="{165E45E6-4DAB-4135-ADAD-B958B2AAA8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1" y="3452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3" name="Line 82">
                  <a:extLst>
                    <a:ext uri="{FF2B5EF4-FFF2-40B4-BE49-F238E27FC236}">
                      <a16:creationId xmlns:a16="http://schemas.microsoft.com/office/drawing/2014/main" id="{109F79CD-1AF9-471A-BAF7-BE75575913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5" y="3453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4" name="Line 83">
                  <a:extLst>
                    <a:ext uri="{FF2B5EF4-FFF2-40B4-BE49-F238E27FC236}">
                      <a16:creationId xmlns:a16="http://schemas.microsoft.com/office/drawing/2014/main" id="{7BB79C9D-1C86-45D4-BCCB-DD5FF43E60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9" y="3452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5" name="Line 84">
                  <a:extLst>
                    <a:ext uri="{FF2B5EF4-FFF2-40B4-BE49-F238E27FC236}">
                      <a16:creationId xmlns:a16="http://schemas.microsoft.com/office/drawing/2014/main" id="{434EB15E-5BE5-463C-90D3-AE8CD354A0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6" y="3453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69" name="Text Box 85">
                <a:extLst>
                  <a:ext uri="{FF2B5EF4-FFF2-40B4-BE49-F238E27FC236}">
                    <a16:creationId xmlns:a16="http://schemas.microsoft.com/office/drawing/2014/main" id="{6A7E59DF-24B8-4DBA-9853-5C54CA0EE9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6" y="2321"/>
                <a:ext cx="21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b="0" i="1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170" name="Text Box 86">
                <a:extLst>
                  <a:ext uri="{FF2B5EF4-FFF2-40B4-BE49-F238E27FC236}">
                    <a16:creationId xmlns:a16="http://schemas.microsoft.com/office/drawing/2014/main" id="{CA53E86C-9F64-4592-8A0B-6008BB813B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5" y="2338"/>
                <a:ext cx="281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b="0" i="0" u="none" strike="noStrike" kern="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∧</a:t>
                </a:r>
              </a:p>
            </p:txBody>
          </p:sp>
        </p:grpSp>
        <p:sp>
          <p:nvSpPr>
            <p:cNvPr id="144" name="Line 88">
              <a:extLst>
                <a:ext uri="{FF2B5EF4-FFF2-40B4-BE49-F238E27FC236}">
                  <a16:creationId xmlns:a16="http://schemas.microsoft.com/office/drawing/2014/main" id="{9EADC368-33AC-4CE6-B026-3AABD5E48B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6" y="1904"/>
              <a:ext cx="476" cy="454"/>
            </a:xfrm>
            <a:prstGeom prst="line">
              <a:avLst/>
            </a:prstGeom>
            <a:noFill/>
            <a:ln w="25400">
              <a:solidFill>
                <a:srgbClr val="00808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5" name="Line 89">
              <a:extLst>
                <a:ext uri="{FF2B5EF4-FFF2-40B4-BE49-F238E27FC236}">
                  <a16:creationId xmlns:a16="http://schemas.microsoft.com/office/drawing/2014/main" id="{F202AC6A-2C2A-4002-805D-6E4FA0EC6E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1904"/>
              <a:ext cx="476" cy="454"/>
            </a:xfrm>
            <a:prstGeom prst="line">
              <a:avLst/>
            </a:prstGeom>
            <a:noFill/>
            <a:ln w="25400">
              <a:solidFill>
                <a:srgbClr val="00808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6" name="Line 90">
              <a:extLst>
                <a:ext uri="{FF2B5EF4-FFF2-40B4-BE49-F238E27FC236}">
                  <a16:creationId xmlns:a16="http://schemas.microsoft.com/office/drawing/2014/main" id="{AD8E6D5A-6630-49A9-9A7E-C45AB6BFCF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32" y="2494"/>
              <a:ext cx="158" cy="505"/>
            </a:xfrm>
            <a:prstGeom prst="line">
              <a:avLst/>
            </a:prstGeom>
            <a:noFill/>
            <a:ln w="25400">
              <a:solidFill>
                <a:srgbClr val="00808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7" name="Line 91">
              <a:extLst>
                <a:ext uri="{FF2B5EF4-FFF2-40B4-BE49-F238E27FC236}">
                  <a16:creationId xmlns:a16="http://schemas.microsoft.com/office/drawing/2014/main" id="{A9FAEFE8-49F9-4D34-BB6E-1EA7AE8E83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1" y="2500"/>
              <a:ext cx="136" cy="476"/>
            </a:xfrm>
            <a:prstGeom prst="line">
              <a:avLst/>
            </a:prstGeom>
            <a:noFill/>
            <a:ln w="25400">
              <a:solidFill>
                <a:srgbClr val="00808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8" name="Freeform 92">
              <a:extLst>
                <a:ext uri="{FF2B5EF4-FFF2-40B4-BE49-F238E27FC236}">
                  <a16:creationId xmlns:a16="http://schemas.microsoft.com/office/drawing/2014/main" id="{032B8AC9-CAFE-4BAA-A100-ACBE5191C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3" y="1586"/>
              <a:ext cx="273" cy="137"/>
            </a:xfrm>
            <a:custGeom>
              <a:avLst/>
              <a:gdLst>
                <a:gd name="T0" fmla="*/ 273 w 273"/>
                <a:gd name="T1" fmla="*/ 1 h 137"/>
                <a:gd name="T2" fmla="*/ 137 w 273"/>
                <a:gd name="T3" fmla="*/ 23 h 137"/>
                <a:gd name="T4" fmla="*/ 0 w 273"/>
                <a:gd name="T5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3" h="137">
                  <a:moveTo>
                    <a:pt x="273" y="1"/>
                  </a:moveTo>
                  <a:cubicBezTo>
                    <a:pt x="227" y="0"/>
                    <a:pt x="182" y="0"/>
                    <a:pt x="137" y="23"/>
                  </a:cubicBezTo>
                  <a:cubicBezTo>
                    <a:pt x="92" y="46"/>
                    <a:pt x="23" y="118"/>
                    <a:pt x="0" y="137"/>
                  </a:cubicBezTo>
                </a:path>
              </a:pathLst>
            </a:custGeom>
            <a:noFill/>
            <a:ln w="25400">
              <a:solidFill>
                <a:srgbClr val="339966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9" name="Text Box 93">
              <a:extLst>
                <a:ext uri="{FF2B5EF4-FFF2-40B4-BE49-F238E27FC236}">
                  <a16:creationId xmlns:a16="http://schemas.microsoft.com/office/drawing/2014/main" id="{AFA0FAD6-F6F3-4D25-9B50-E4238D2C4C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" y="1413"/>
              <a:ext cx="49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1" u="none" strike="noStrike" kern="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root</a:t>
              </a:r>
            </a:p>
          </p:txBody>
        </p:sp>
        <p:sp>
          <p:nvSpPr>
            <p:cNvPr id="150" name="Freeform 98">
              <a:extLst>
                <a:ext uri="{FF2B5EF4-FFF2-40B4-BE49-F238E27FC236}">
                  <a16:creationId xmlns:a16="http://schemas.microsoft.com/office/drawing/2014/main" id="{BF45257C-0631-4893-A76A-8B02ABA83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" y="2630"/>
              <a:ext cx="314" cy="499"/>
            </a:xfrm>
            <a:custGeom>
              <a:avLst/>
              <a:gdLst>
                <a:gd name="T0" fmla="*/ 295 w 314"/>
                <a:gd name="T1" fmla="*/ 476 h 476"/>
                <a:gd name="T2" fmla="*/ 295 w 314"/>
                <a:gd name="T3" fmla="*/ 363 h 476"/>
                <a:gd name="T4" fmla="*/ 182 w 314"/>
                <a:gd name="T5" fmla="*/ 204 h 476"/>
                <a:gd name="T6" fmla="*/ 46 w 314"/>
                <a:gd name="T7" fmla="*/ 113 h 476"/>
                <a:gd name="T8" fmla="*/ 0 w 314"/>
                <a:gd name="T9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4" h="476">
                  <a:moveTo>
                    <a:pt x="295" y="476"/>
                  </a:moveTo>
                  <a:cubicBezTo>
                    <a:pt x="304" y="442"/>
                    <a:pt x="314" y="408"/>
                    <a:pt x="295" y="363"/>
                  </a:cubicBezTo>
                  <a:cubicBezTo>
                    <a:pt x="276" y="318"/>
                    <a:pt x="223" y="246"/>
                    <a:pt x="182" y="204"/>
                  </a:cubicBezTo>
                  <a:cubicBezTo>
                    <a:pt x="141" y="162"/>
                    <a:pt x="76" y="147"/>
                    <a:pt x="46" y="113"/>
                  </a:cubicBezTo>
                  <a:cubicBezTo>
                    <a:pt x="16" y="79"/>
                    <a:pt x="8" y="19"/>
                    <a:pt x="0" y="0"/>
                  </a:cubicBezTo>
                </a:path>
              </a:pathLst>
            </a:custGeom>
            <a:noFill/>
            <a:ln w="25400">
              <a:solidFill>
                <a:srgbClr val="CC0000"/>
              </a:solidFill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1" name="Freeform 99">
              <a:extLst>
                <a:ext uri="{FF2B5EF4-FFF2-40B4-BE49-F238E27FC236}">
                  <a16:creationId xmlns:a16="http://schemas.microsoft.com/office/drawing/2014/main" id="{90B1DA3B-60CB-4CB1-AC82-7C7605333A8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27" y="2630"/>
              <a:ext cx="269" cy="499"/>
            </a:xfrm>
            <a:custGeom>
              <a:avLst/>
              <a:gdLst>
                <a:gd name="T0" fmla="*/ 295 w 314"/>
                <a:gd name="T1" fmla="*/ 476 h 476"/>
                <a:gd name="T2" fmla="*/ 295 w 314"/>
                <a:gd name="T3" fmla="*/ 363 h 476"/>
                <a:gd name="T4" fmla="*/ 182 w 314"/>
                <a:gd name="T5" fmla="*/ 204 h 476"/>
                <a:gd name="T6" fmla="*/ 46 w 314"/>
                <a:gd name="T7" fmla="*/ 113 h 476"/>
                <a:gd name="T8" fmla="*/ 0 w 314"/>
                <a:gd name="T9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4" h="476">
                  <a:moveTo>
                    <a:pt x="295" y="476"/>
                  </a:moveTo>
                  <a:cubicBezTo>
                    <a:pt x="304" y="442"/>
                    <a:pt x="314" y="408"/>
                    <a:pt x="295" y="363"/>
                  </a:cubicBezTo>
                  <a:cubicBezTo>
                    <a:pt x="276" y="318"/>
                    <a:pt x="223" y="246"/>
                    <a:pt x="182" y="204"/>
                  </a:cubicBezTo>
                  <a:cubicBezTo>
                    <a:pt x="141" y="162"/>
                    <a:pt x="76" y="147"/>
                    <a:pt x="46" y="113"/>
                  </a:cubicBezTo>
                  <a:cubicBezTo>
                    <a:pt x="16" y="79"/>
                    <a:pt x="8" y="19"/>
                    <a:pt x="0" y="0"/>
                  </a:cubicBezTo>
                </a:path>
              </a:pathLst>
            </a:custGeom>
            <a:noFill/>
            <a:ln w="25400">
              <a:solidFill>
                <a:srgbClr val="0000CC"/>
              </a:solidFill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2" name="Freeform 100">
              <a:extLst>
                <a:ext uri="{FF2B5EF4-FFF2-40B4-BE49-F238E27FC236}">
                  <a16:creationId xmlns:a16="http://schemas.microsoft.com/office/drawing/2014/main" id="{E9DD4356-D591-4EC9-B1BD-95FA618A25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2018"/>
              <a:ext cx="227" cy="1111"/>
            </a:xfrm>
            <a:custGeom>
              <a:avLst/>
              <a:gdLst>
                <a:gd name="T0" fmla="*/ 208 w 208"/>
                <a:gd name="T1" fmla="*/ 1089 h 1089"/>
                <a:gd name="T2" fmla="*/ 117 w 208"/>
                <a:gd name="T3" fmla="*/ 998 h 1089"/>
                <a:gd name="T4" fmla="*/ 49 w 208"/>
                <a:gd name="T5" fmla="*/ 771 h 1089"/>
                <a:gd name="T6" fmla="*/ 27 w 208"/>
                <a:gd name="T7" fmla="*/ 613 h 1089"/>
                <a:gd name="T8" fmla="*/ 4 w 208"/>
                <a:gd name="T9" fmla="*/ 136 h 1089"/>
                <a:gd name="T10" fmla="*/ 4 w 208"/>
                <a:gd name="T11" fmla="*/ 0 h 1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8" h="1089">
                  <a:moveTo>
                    <a:pt x="208" y="1089"/>
                  </a:moveTo>
                  <a:cubicBezTo>
                    <a:pt x="176" y="1070"/>
                    <a:pt x="144" y="1051"/>
                    <a:pt x="117" y="998"/>
                  </a:cubicBezTo>
                  <a:cubicBezTo>
                    <a:pt x="90" y="945"/>
                    <a:pt x="64" y="835"/>
                    <a:pt x="49" y="771"/>
                  </a:cubicBezTo>
                  <a:cubicBezTo>
                    <a:pt x="34" y="707"/>
                    <a:pt x="34" y="719"/>
                    <a:pt x="27" y="613"/>
                  </a:cubicBezTo>
                  <a:cubicBezTo>
                    <a:pt x="20" y="507"/>
                    <a:pt x="8" y="238"/>
                    <a:pt x="4" y="136"/>
                  </a:cubicBezTo>
                  <a:cubicBezTo>
                    <a:pt x="0" y="34"/>
                    <a:pt x="4" y="23"/>
                    <a:pt x="4" y="0"/>
                  </a:cubicBezTo>
                </a:path>
              </a:pathLst>
            </a:custGeom>
            <a:noFill/>
            <a:ln w="25400">
              <a:solidFill>
                <a:srgbClr val="CC0000"/>
              </a:solidFill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" name="Freeform 101">
              <a:extLst>
                <a:ext uri="{FF2B5EF4-FFF2-40B4-BE49-F238E27FC236}">
                  <a16:creationId xmlns:a16="http://schemas.microsoft.com/office/drawing/2014/main" id="{235651BF-5BEA-46A9-AD2D-72E5117D00B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644" y="2018"/>
              <a:ext cx="159" cy="1111"/>
            </a:xfrm>
            <a:custGeom>
              <a:avLst/>
              <a:gdLst>
                <a:gd name="T0" fmla="*/ 208 w 208"/>
                <a:gd name="T1" fmla="*/ 1089 h 1089"/>
                <a:gd name="T2" fmla="*/ 117 w 208"/>
                <a:gd name="T3" fmla="*/ 998 h 1089"/>
                <a:gd name="T4" fmla="*/ 49 w 208"/>
                <a:gd name="T5" fmla="*/ 771 h 1089"/>
                <a:gd name="T6" fmla="*/ 27 w 208"/>
                <a:gd name="T7" fmla="*/ 613 h 1089"/>
                <a:gd name="T8" fmla="*/ 4 w 208"/>
                <a:gd name="T9" fmla="*/ 136 h 1089"/>
                <a:gd name="T10" fmla="*/ 4 w 208"/>
                <a:gd name="T11" fmla="*/ 0 h 1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8" h="1089">
                  <a:moveTo>
                    <a:pt x="208" y="1089"/>
                  </a:moveTo>
                  <a:cubicBezTo>
                    <a:pt x="176" y="1070"/>
                    <a:pt x="144" y="1051"/>
                    <a:pt x="117" y="998"/>
                  </a:cubicBezTo>
                  <a:cubicBezTo>
                    <a:pt x="90" y="945"/>
                    <a:pt x="64" y="835"/>
                    <a:pt x="49" y="771"/>
                  </a:cubicBezTo>
                  <a:cubicBezTo>
                    <a:pt x="34" y="707"/>
                    <a:pt x="34" y="719"/>
                    <a:pt x="27" y="613"/>
                  </a:cubicBezTo>
                  <a:cubicBezTo>
                    <a:pt x="20" y="507"/>
                    <a:pt x="8" y="238"/>
                    <a:pt x="4" y="136"/>
                  </a:cubicBezTo>
                  <a:cubicBezTo>
                    <a:pt x="0" y="34"/>
                    <a:pt x="4" y="23"/>
                    <a:pt x="4" y="0"/>
                  </a:cubicBezTo>
                </a:path>
              </a:pathLst>
            </a:custGeom>
            <a:noFill/>
            <a:ln w="25400">
              <a:solidFill>
                <a:srgbClr val="0000CC"/>
              </a:solidFill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4" name="Text Box 102">
              <a:extLst>
                <a:ext uri="{FF2B5EF4-FFF2-40B4-BE49-F238E27FC236}">
                  <a16:creationId xmlns:a16="http://schemas.microsoft.com/office/drawing/2014/main" id="{9A94ABA3-7C1E-49E5-8EF6-2895C6B6F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8" y="2766"/>
              <a:ext cx="51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pred</a:t>
              </a:r>
            </a:p>
          </p:txBody>
        </p:sp>
        <p:sp>
          <p:nvSpPr>
            <p:cNvPr id="155" name="Text Box 104">
              <a:extLst>
                <a:ext uri="{FF2B5EF4-FFF2-40B4-BE49-F238E27FC236}">
                  <a16:creationId xmlns:a16="http://schemas.microsoft.com/office/drawing/2014/main" id="{8BB51F1F-97C8-419F-ABD3-72364D23C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7" y="2701"/>
              <a:ext cx="51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pred</a:t>
              </a:r>
            </a:p>
          </p:txBody>
        </p:sp>
        <p:sp>
          <p:nvSpPr>
            <p:cNvPr id="156" name="Text Box 107">
              <a:extLst>
                <a:ext uri="{FF2B5EF4-FFF2-40B4-BE49-F238E27FC236}">
                  <a16:creationId xmlns:a16="http://schemas.microsoft.com/office/drawing/2014/main" id="{715E1E8E-9ACE-4AD5-9EC6-6F5DEB86F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4" y="2449"/>
              <a:ext cx="51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succ</a:t>
              </a:r>
            </a:p>
          </p:txBody>
        </p:sp>
        <p:sp>
          <p:nvSpPr>
            <p:cNvPr id="157" name="Text Box 109">
              <a:extLst>
                <a:ext uri="{FF2B5EF4-FFF2-40B4-BE49-F238E27FC236}">
                  <a16:creationId xmlns:a16="http://schemas.microsoft.com/office/drawing/2014/main" id="{DDFC0DF4-87DE-42A5-A08B-9A1D527DAB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6" y="2747"/>
              <a:ext cx="51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succ</a:t>
              </a:r>
            </a:p>
          </p:txBody>
        </p:sp>
        <p:sp>
          <p:nvSpPr>
            <p:cNvPr id="158" name="Text Box 110">
              <a:extLst>
                <a:ext uri="{FF2B5EF4-FFF2-40B4-BE49-F238E27FC236}">
                  <a16:creationId xmlns:a16="http://schemas.microsoft.com/office/drawing/2014/main" id="{8B44C39A-D210-4DFA-A143-3CF6241624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5" y="1736"/>
              <a:ext cx="21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9" name="Text Box 111">
              <a:extLst>
                <a:ext uri="{FF2B5EF4-FFF2-40B4-BE49-F238E27FC236}">
                  <a16:creationId xmlns:a16="http://schemas.microsoft.com/office/drawing/2014/main" id="{C55FBF38-1677-43D2-A448-F7F337E39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1" y="1736"/>
              <a:ext cx="21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60" name="Text Box 112">
              <a:extLst>
                <a:ext uri="{FF2B5EF4-FFF2-40B4-BE49-F238E27FC236}">
                  <a16:creationId xmlns:a16="http://schemas.microsoft.com/office/drawing/2014/main" id="{20498250-015B-421B-A917-00ED541099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6" y="2348"/>
              <a:ext cx="21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61" name="Text Box 113">
              <a:extLst>
                <a:ext uri="{FF2B5EF4-FFF2-40B4-BE49-F238E27FC236}">
                  <a16:creationId xmlns:a16="http://schemas.microsoft.com/office/drawing/2014/main" id="{D372EF94-C247-471B-9854-FCC58EF30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3" y="2348"/>
              <a:ext cx="21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62" name="Text Box 114">
              <a:extLst>
                <a:ext uri="{FF2B5EF4-FFF2-40B4-BE49-F238E27FC236}">
                  <a16:creationId xmlns:a16="http://schemas.microsoft.com/office/drawing/2014/main" id="{1D8E0C04-241A-4FAD-A904-C76A425871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1" y="2348"/>
              <a:ext cx="21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63" name="Text Box 117">
              <a:extLst>
                <a:ext uri="{FF2B5EF4-FFF2-40B4-BE49-F238E27FC236}">
                  <a16:creationId xmlns:a16="http://schemas.microsoft.com/office/drawing/2014/main" id="{15BA47E5-D1C2-41F8-A73A-651256DDAA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2" y="2348"/>
              <a:ext cx="21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64" name="Text Box 119">
              <a:extLst>
                <a:ext uri="{FF2B5EF4-FFF2-40B4-BE49-F238E27FC236}">
                  <a16:creationId xmlns:a16="http://schemas.microsoft.com/office/drawing/2014/main" id="{81C18A63-6E44-4467-8CE0-E9A5061E46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976"/>
              <a:ext cx="21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65" name="Text Box 120">
              <a:extLst>
                <a:ext uri="{FF2B5EF4-FFF2-40B4-BE49-F238E27FC236}">
                  <a16:creationId xmlns:a16="http://schemas.microsoft.com/office/drawing/2014/main" id="{5802ACB6-D2E1-4093-948C-E1F12B55B3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1" y="2976"/>
              <a:ext cx="21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66" name="Text Box 121">
              <a:extLst>
                <a:ext uri="{FF2B5EF4-FFF2-40B4-BE49-F238E27FC236}">
                  <a16:creationId xmlns:a16="http://schemas.microsoft.com/office/drawing/2014/main" id="{C2214C0D-2837-455A-9774-813FEA017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9" y="2976"/>
              <a:ext cx="21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67" name="Text Box 122">
              <a:extLst>
                <a:ext uri="{FF2B5EF4-FFF2-40B4-BE49-F238E27FC236}">
                  <a16:creationId xmlns:a16="http://schemas.microsoft.com/office/drawing/2014/main" id="{4365DAF6-C58E-46FB-98BB-FEAE1F30B0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7" y="2976"/>
              <a:ext cx="21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01" name="文本框 200">
            <a:extLst>
              <a:ext uri="{FF2B5EF4-FFF2-40B4-BE49-F238E27FC236}">
                <a16:creationId xmlns:a16="http://schemas.microsoft.com/office/drawing/2014/main" id="{986C4E36-F621-4F98-B0E4-955585B56C3C}"/>
              </a:ext>
            </a:extLst>
          </p:cNvPr>
          <p:cNvSpPr txBox="1"/>
          <p:nvPr/>
        </p:nvSpPr>
        <p:spPr>
          <a:xfrm>
            <a:off x="1074661" y="5573768"/>
            <a:ext cx="6982353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ltag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：</a:t>
            </a:r>
            <a:r>
              <a:rPr lang="en-US" altLang="zh-CN" sz="2400" dirty="0">
                <a:solidFill>
                  <a:srgbClr val="00B050"/>
                </a:solidFill>
                <a:latin typeface="+mn-ea"/>
                <a:ea typeface="+mn-ea"/>
              </a:rPr>
              <a:t>0</a:t>
            </a:r>
            <a:r>
              <a:rPr lang="zh-CN" altLang="en-US" sz="2400" b="0" dirty="0">
                <a:latin typeface="+mn-ea"/>
                <a:ea typeface="+mn-ea"/>
              </a:rPr>
              <a:t>，</a:t>
            </a:r>
            <a:r>
              <a:rPr lang="en-US" altLang="zh-CN" sz="2400" b="0" dirty="0" err="1">
                <a:latin typeface="+mn-ea"/>
                <a:ea typeface="+mn-ea"/>
              </a:rPr>
              <a:t>lchild</a:t>
            </a:r>
            <a:r>
              <a:rPr lang="en-US" altLang="zh-CN" sz="2400" b="0" dirty="0">
                <a:latin typeface="+mn-ea"/>
                <a:ea typeface="+mn-ea"/>
              </a:rPr>
              <a:t> </a:t>
            </a:r>
            <a:r>
              <a:rPr lang="zh-CN" altLang="en-US" sz="2400" b="0" dirty="0">
                <a:latin typeface="+mn-ea"/>
                <a:ea typeface="+mn-ea"/>
              </a:rPr>
              <a:t>指向左孩子；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zh-CN" altLang="en-US" sz="2400" b="0" dirty="0">
                <a:latin typeface="+mn-ea"/>
                <a:ea typeface="+mn-ea"/>
              </a:rPr>
              <a:t>，</a:t>
            </a:r>
            <a:r>
              <a:rPr lang="en-US" altLang="zh-CN" sz="2400" b="0" dirty="0" err="1">
                <a:latin typeface="+mn-ea"/>
                <a:ea typeface="+mn-ea"/>
              </a:rPr>
              <a:t>lchild</a:t>
            </a:r>
            <a:r>
              <a:rPr lang="en-US" altLang="zh-CN" sz="2400" b="0" dirty="0">
                <a:latin typeface="+mn-ea"/>
                <a:ea typeface="+mn-ea"/>
              </a:rPr>
              <a:t> </a:t>
            </a:r>
            <a:r>
              <a:rPr lang="zh-CN" altLang="en-US" sz="2400" b="0" dirty="0">
                <a:latin typeface="+mn-ea"/>
                <a:ea typeface="+mn-ea"/>
              </a:rPr>
              <a:t>指向前驱</a:t>
            </a:r>
            <a:endParaRPr lang="en-US" altLang="zh-CN" sz="2400" b="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rtag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：</a:t>
            </a:r>
            <a:r>
              <a:rPr lang="en-US" altLang="zh-CN" sz="2400" dirty="0">
                <a:solidFill>
                  <a:srgbClr val="00B050"/>
                </a:solidFill>
                <a:latin typeface="+mn-ea"/>
                <a:ea typeface="+mn-ea"/>
              </a:rPr>
              <a:t>0</a:t>
            </a:r>
            <a:r>
              <a:rPr lang="zh-CN" altLang="en-US" sz="2400" b="0" dirty="0">
                <a:latin typeface="+mn-ea"/>
                <a:ea typeface="+mn-ea"/>
              </a:rPr>
              <a:t>，</a:t>
            </a:r>
            <a:r>
              <a:rPr lang="en-US" altLang="zh-CN" sz="2400" b="0" dirty="0" err="1">
                <a:latin typeface="+mn-ea"/>
                <a:ea typeface="+mn-ea"/>
              </a:rPr>
              <a:t>rchild</a:t>
            </a:r>
            <a:r>
              <a:rPr lang="en-US" altLang="zh-CN" sz="2400" b="0" dirty="0">
                <a:latin typeface="+mn-ea"/>
                <a:ea typeface="+mn-ea"/>
              </a:rPr>
              <a:t> </a:t>
            </a:r>
            <a:r>
              <a:rPr lang="zh-CN" altLang="en-US" sz="2400" b="0" dirty="0">
                <a:latin typeface="+mn-ea"/>
                <a:ea typeface="+mn-ea"/>
              </a:rPr>
              <a:t>指向右孩子；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zh-CN" altLang="en-US" sz="2400" b="0" dirty="0">
                <a:latin typeface="+mn-ea"/>
                <a:ea typeface="+mn-ea"/>
              </a:rPr>
              <a:t>，</a:t>
            </a:r>
            <a:r>
              <a:rPr lang="en-US" altLang="zh-CN" sz="2400" b="0" dirty="0" err="1">
                <a:latin typeface="+mn-ea"/>
                <a:ea typeface="+mn-ea"/>
              </a:rPr>
              <a:t>rchild</a:t>
            </a:r>
            <a:r>
              <a:rPr lang="en-US" altLang="zh-CN" sz="2400" b="0" dirty="0">
                <a:latin typeface="+mn-ea"/>
                <a:ea typeface="+mn-ea"/>
              </a:rPr>
              <a:t> </a:t>
            </a:r>
            <a:r>
              <a:rPr lang="zh-CN" altLang="en-US" sz="2400" b="0" dirty="0">
                <a:latin typeface="+mn-ea"/>
                <a:ea typeface="+mn-ea"/>
              </a:rPr>
              <a:t>指向后继</a:t>
            </a:r>
            <a:endParaRPr lang="en-US" altLang="zh-CN" sz="2400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4223265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811F3C-DD0C-4E8F-BC5C-BB791B0E3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线索二叉树的结构定义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3AE509-9E41-429A-A067-7110D674B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628799"/>
            <a:ext cx="8064896" cy="3384377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+mn-lt"/>
              </a:rPr>
              <a:t>typedef struct node {</a:t>
            </a:r>
          </a:p>
          <a:p>
            <a:pPr marL="0" indent="0">
              <a:buNone/>
            </a:pPr>
            <a:r>
              <a:rPr lang="en-US" altLang="zh-CN" dirty="0">
                <a:latin typeface="+mn-lt"/>
              </a:rPr>
              <a:t>    int </a:t>
            </a:r>
            <a:r>
              <a:rPr lang="en-US" altLang="zh-CN" dirty="0" err="1">
                <a:solidFill>
                  <a:srgbClr val="FF0000"/>
                </a:solidFill>
                <a:latin typeface="+mn-lt"/>
              </a:rPr>
              <a:t>ltag</a:t>
            </a:r>
            <a:r>
              <a:rPr lang="en-US" altLang="zh-CN" dirty="0">
                <a:latin typeface="+mn-lt"/>
              </a:rPr>
              <a:t>, </a:t>
            </a:r>
            <a:r>
              <a:rPr lang="en-US" altLang="zh-CN" dirty="0" err="1">
                <a:solidFill>
                  <a:srgbClr val="FF0000"/>
                </a:solidFill>
                <a:latin typeface="+mn-lt"/>
              </a:rPr>
              <a:t>rtag</a:t>
            </a:r>
            <a:r>
              <a:rPr lang="en-US" altLang="zh-CN" dirty="0">
                <a:latin typeface="+mn-lt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latin typeface="+mn-lt"/>
              </a:rPr>
              <a:t>    struct node *</a:t>
            </a:r>
            <a:r>
              <a:rPr lang="en-US" altLang="zh-CN" dirty="0" err="1">
                <a:latin typeface="+mn-lt"/>
              </a:rPr>
              <a:t>lchild</a:t>
            </a:r>
            <a:r>
              <a:rPr lang="en-US" altLang="zh-CN" dirty="0">
                <a:latin typeface="+mn-lt"/>
              </a:rPr>
              <a:t>, *</a:t>
            </a:r>
            <a:r>
              <a:rPr lang="en-US" altLang="zh-CN" dirty="0" err="1">
                <a:latin typeface="+mn-lt"/>
              </a:rPr>
              <a:t>rchild</a:t>
            </a:r>
            <a:r>
              <a:rPr lang="en-US" altLang="zh-CN" dirty="0">
                <a:latin typeface="+mn-lt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latin typeface="+mn-lt"/>
              </a:rPr>
              <a:t>    </a:t>
            </a:r>
            <a:r>
              <a:rPr lang="en-US" altLang="zh-CN" dirty="0" err="1">
                <a:latin typeface="+mn-lt"/>
              </a:rPr>
              <a:t>ElemType</a:t>
            </a:r>
            <a:r>
              <a:rPr lang="en-US" altLang="zh-CN" dirty="0">
                <a:latin typeface="+mn-lt"/>
              </a:rPr>
              <a:t> data;</a:t>
            </a:r>
          </a:p>
          <a:p>
            <a:pPr marL="0" indent="0">
              <a:buNone/>
            </a:pPr>
            <a:r>
              <a:rPr lang="en-US" altLang="zh-CN" dirty="0">
                <a:latin typeface="+mn-lt"/>
              </a:rPr>
              <a:t>} </a:t>
            </a:r>
            <a:r>
              <a:rPr lang="en-US" altLang="zh-CN" dirty="0" err="1">
                <a:latin typeface="+mn-lt"/>
              </a:rPr>
              <a:t>ThreadNode</a:t>
            </a:r>
            <a:r>
              <a:rPr lang="en-US" altLang="zh-CN" dirty="0">
                <a:latin typeface="+mn-lt"/>
              </a:rPr>
              <a:t>, *</a:t>
            </a:r>
            <a:r>
              <a:rPr lang="en-US" altLang="zh-CN" dirty="0" err="1">
                <a:latin typeface="+mn-lt"/>
              </a:rPr>
              <a:t>ThreadTree</a:t>
            </a:r>
            <a:r>
              <a:rPr lang="en-US" altLang="zh-CN" dirty="0">
                <a:latin typeface="+mn-lt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2586079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2AA8ED-7CB1-4D3E-9E16-DC787CD66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建立中序线索二叉树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13EF96-C222-42C0-82ED-FC06C4E7D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44504"/>
            <a:ext cx="9144000" cy="6113495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void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InThread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ThreadNode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* t, 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ThreadNode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*&amp; pre)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{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 pre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指针，始终指向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t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的中序前驱，在调用函数中预置为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NULL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   if 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(t != NULL)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{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 b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InThread</a:t>
            </a: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 (t</a:t>
            </a:r>
            <a:r>
              <a:rPr lang="en-US" altLang="zh-CN" sz="2400" b="0" dirty="0">
                <a:solidFill>
                  <a:srgbClr val="FF0000"/>
                </a:solidFill>
                <a:latin typeface="Courier New" panose="02070309020205020404" pitchFamily="49" charset="0"/>
                <a:ea typeface="楷体_GB2312" pitchFamily="49" charset="-122"/>
              </a:rPr>
              <a:t>-&gt;</a:t>
            </a:r>
            <a:r>
              <a:rPr lang="en-US" altLang="zh-CN" sz="2400" b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lchild</a:t>
            </a: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, pre)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递归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左子树线索化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if (t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</a:rPr>
              <a:t>-&gt;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lchild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==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NULL) {   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建立当前结点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t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的前驱线索</a:t>
            </a:r>
            <a:endParaRPr lang="en-US" altLang="zh-CN" sz="2400" dirty="0">
              <a:solidFill>
                <a:srgbClr val="00B050"/>
              </a:solidFill>
              <a:latin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t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</a:rPr>
              <a:t>-&gt;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lchild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= pre;    t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</a:rPr>
              <a:t>-&gt;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ltag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= 1;   }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buClr>
                <a:schemeClr val="tx1"/>
              </a:buClr>
              <a:buNone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if (pre &amp;&amp; pre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</a:rPr>
              <a:t>-&gt;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rchild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==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NULL) { 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建立结点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pre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的后继线索</a:t>
            </a:r>
            <a:endParaRPr lang="en-US" altLang="zh-CN" sz="2400" dirty="0">
              <a:solidFill>
                <a:srgbClr val="00B050"/>
              </a:solidFill>
              <a:latin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pre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</a:rPr>
              <a:t>-&gt;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rchild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= t;    pre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</a:rPr>
              <a:t>-&gt;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rtag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= 1;   }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pre = t;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	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前驱跟上当前指针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 b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InThread</a:t>
            </a: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 (t</a:t>
            </a:r>
            <a:r>
              <a:rPr lang="en-US" altLang="zh-CN" sz="2400" b="0" dirty="0">
                <a:solidFill>
                  <a:srgbClr val="FF0000"/>
                </a:solidFill>
                <a:latin typeface="Courier New" panose="02070309020205020404" pitchFamily="49" charset="0"/>
                <a:ea typeface="楷体_GB2312" pitchFamily="49" charset="-122"/>
              </a:rPr>
              <a:t>-&gt;</a:t>
            </a:r>
            <a:r>
              <a:rPr lang="en-US" altLang="zh-CN" sz="2400" b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rchild</a:t>
            </a: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,  pre)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;  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递归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右子树线索化</a:t>
            </a:r>
            <a:endParaRPr kumimoji="1" lang="en-US" altLang="zh-CN" sz="2400" dirty="0">
              <a:solidFill>
                <a:srgbClr val="00B050"/>
              </a:solidFill>
              <a:latin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} 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 if   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}  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 </a:t>
            </a:r>
            <a:r>
              <a:rPr lang="en-US" altLang="zh-CN" sz="24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InThread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11352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08A08C-483F-4B44-80BB-F9B6953D9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建立中序线索二叉树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6EE433-4BAE-4E60-94C2-82D7B26CA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4"/>
            <a:ext cx="8642659" cy="6113495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void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CreateInThread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ThreadTree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T)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{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   if 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(T != NULL)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{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ThreadNode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*pre = NULL;  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前驱指针</a:t>
            </a:r>
            <a:endParaRPr kumimoji="1" lang="en-US" altLang="zh-CN" sz="2400" dirty="0">
              <a:solidFill>
                <a:srgbClr val="00B050"/>
              </a:solidFill>
              <a:latin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 b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InThread</a:t>
            </a: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 (T, pre);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	      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中序遍历中建立线索二叉树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pre</a:t>
            </a:r>
            <a:r>
              <a:rPr lang="en-US" altLang="zh-CN" sz="2400" b="0" dirty="0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</a:rPr>
              <a:t>-&gt;</a:t>
            </a:r>
            <a:r>
              <a:rPr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rchild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= NULL;           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后处理，中序最后一个结点</a:t>
            </a:r>
            <a:endParaRPr lang="en-US" altLang="zh-CN" sz="2400" b="0" dirty="0">
              <a:solidFill>
                <a:srgbClr val="00B050"/>
              </a:solidFill>
              <a:latin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pre</a:t>
            </a:r>
            <a:r>
              <a:rPr lang="en-US" altLang="zh-CN" sz="2400" b="0" dirty="0">
                <a:solidFill>
                  <a:srgbClr val="0000FF"/>
                </a:solidFill>
                <a:latin typeface="Courier New" panose="02070309020205020404" pitchFamily="49" charset="0"/>
                <a:ea typeface="楷体_GB2312" pitchFamily="49" charset="-122"/>
              </a:rPr>
              <a:t>-&gt;</a:t>
            </a:r>
            <a:r>
              <a:rPr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rtag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= 1;</a:t>
            </a:r>
            <a:endParaRPr kumimoji="1" lang="zh-CN" altLang="en-US" sz="24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   }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zh-CN" altLang="en-US" sz="2400" dirty="0"/>
              <a:t>通过该函数实现了对二叉树的中序线索化。它是基于二叉树的中序遍历实现的。在遍历过程中填充空的左右指针域，以保存当前访问结点的前驱和后继信息。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97497379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C2EC6-1638-46AA-8405-06748CDEC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建立中序线索二叉树</a:t>
            </a:r>
          </a:p>
        </p:txBody>
      </p:sp>
      <p:grpSp>
        <p:nvGrpSpPr>
          <p:cNvPr id="188460" name="Group 44">
            <a:extLst>
              <a:ext uri="{FF2B5EF4-FFF2-40B4-BE49-F238E27FC236}">
                <a16:creationId xmlns:a16="http://schemas.microsoft.com/office/drawing/2014/main" id="{BB20B339-70C9-4867-82AA-7929ADF96900}"/>
              </a:ext>
            </a:extLst>
          </p:cNvPr>
          <p:cNvGrpSpPr>
            <a:grpSpLocks/>
          </p:cNvGrpSpPr>
          <p:nvPr/>
        </p:nvGrpSpPr>
        <p:grpSpPr bwMode="auto">
          <a:xfrm>
            <a:off x="952500" y="1260000"/>
            <a:ext cx="7239000" cy="4673600"/>
            <a:chOff x="528" y="368"/>
            <a:chExt cx="4560" cy="2944"/>
          </a:xfrm>
        </p:grpSpPr>
        <p:sp>
          <p:nvSpPr>
            <p:cNvPr id="188421" name="Rectangle 5">
              <a:extLst>
                <a:ext uri="{FF2B5EF4-FFF2-40B4-BE49-F238E27FC236}">
                  <a16:creationId xmlns:a16="http://schemas.microsoft.com/office/drawing/2014/main" id="{81B6E9C0-EA06-40CC-81FF-D12A97978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864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22" name="Text Box 6">
              <a:extLst>
                <a:ext uri="{FF2B5EF4-FFF2-40B4-BE49-F238E27FC236}">
                  <a16:creationId xmlns:a16="http://schemas.microsoft.com/office/drawing/2014/main" id="{50F8B6D5-EB92-4969-8783-8B59FFBD0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1" y="835"/>
              <a:ext cx="94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A   0</a:t>
              </a:r>
              <a:endPara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23" name="Line 7">
              <a:extLst>
                <a:ext uri="{FF2B5EF4-FFF2-40B4-BE49-F238E27FC236}">
                  <a16:creationId xmlns:a16="http://schemas.microsoft.com/office/drawing/2014/main" id="{4906C28A-1CFC-41BA-9B01-2288DD079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24" name="Line 8">
              <a:extLst>
                <a:ext uri="{FF2B5EF4-FFF2-40B4-BE49-F238E27FC236}">
                  <a16:creationId xmlns:a16="http://schemas.microsoft.com/office/drawing/2014/main" id="{A3FE43C3-F5F0-4DFD-B0E3-3A06872EF4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25" name="Line 9">
              <a:extLst>
                <a:ext uri="{FF2B5EF4-FFF2-40B4-BE49-F238E27FC236}">
                  <a16:creationId xmlns:a16="http://schemas.microsoft.com/office/drawing/2014/main" id="{DA68AA83-6072-4E4B-A83D-804E8DA824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26" name="Line 10">
              <a:extLst>
                <a:ext uri="{FF2B5EF4-FFF2-40B4-BE49-F238E27FC236}">
                  <a16:creationId xmlns:a16="http://schemas.microsoft.com/office/drawing/2014/main" id="{21B7A210-10AA-4451-94D3-73EEC60B3B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27" name="Rectangle 11">
              <a:extLst>
                <a:ext uri="{FF2B5EF4-FFF2-40B4-BE49-F238E27FC236}">
                  <a16:creationId xmlns:a16="http://schemas.microsoft.com/office/drawing/2014/main" id="{088D7C40-715F-4616-B4FF-C91ED5123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872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28" name="Text Box 12">
              <a:extLst>
                <a:ext uri="{FF2B5EF4-FFF2-40B4-BE49-F238E27FC236}">
                  <a16:creationId xmlns:a16="http://schemas.microsoft.com/office/drawing/2014/main" id="{FE6DE859-4789-4508-AF4F-B331528BB8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843"/>
              <a:ext cx="14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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B   0   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29" name="Line 13">
              <a:extLst>
                <a:ext uri="{FF2B5EF4-FFF2-40B4-BE49-F238E27FC236}">
                  <a16:creationId xmlns:a16="http://schemas.microsoft.com/office/drawing/2014/main" id="{02E1AEE2-6E55-46B7-8EF6-4BB031F3A5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30" name="Line 14">
              <a:extLst>
                <a:ext uri="{FF2B5EF4-FFF2-40B4-BE49-F238E27FC236}">
                  <a16:creationId xmlns:a16="http://schemas.microsoft.com/office/drawing/2014/main" id="{B41F0136-E9F7-4D2E-8FED-71791AB9F9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31" name="Line 15">
              <a:extLst>
                <a:ext uri="{FF2B5EF4-FFF2-40B4-BE49-F238E27FC236}">
                  <a16:creationId xmlns:a16="http://schemas.microsoft.com/office/drawing/2014/main" id="{01F85BA5-77B0-447D-8960-EDC81BCF6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32" name="Line 16">
              <a:extLst>
                <a:ext uri="{FF2B5EF4-FFF2-40B4-BE49-F238E27FC236}">
                  <a16:creationId xmlns:a16="http://schemas.microsoft.com/office/drawing/2014/main" id="{C82DF950-1CA6-462A-8892-B600FC5BD1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33" name="Rectangle 17">
              <a:extLst>
                <a:ext uri="{FF2B5EF4-FFF2-40B4-BE49-F238E27FC236}">
                  <a16:creationId xmlns:a16="http://schemas.microsoft.com/office/drawing/2014/main" id="{F280ABD6-583B-4764-B792-726FF4C49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872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34" name="Text Box 18">
              <a:extLst>
                <a:ext uri="{FF2B5EF4-FFF2-40B4-BE49-F238E27FC236}">
                  <a16:creationId xmlns:a16="http://schemas.microsoft.com/office/drawing/2014/main" id="{DF70E7FB-4B0C-440C-BC79-FE90520BA4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0" y="1843"/>
              <a:ext cx="16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C   0   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35" name="Line 19">
              <a:extLst>
                <a:ext uri="{FF2B5EF4-FFF2-40B4-BE49-F238E27FC236}">
                  <a16:creationId xmlns:a16="http://schemas.microsoft.com/office/drawing/2014/main" id="{7F94ABD7-F592-46E5-9427-A5EB3D00BD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36" name="Line 20">
              <a:extLst>
                <a:ext uri="{FF2B5EF4-FFF2-40B4-BE49-F238E27FC236}">
                  <a16:creationId xmlns:a16="http://schemas.microsoft.com/office/drawing/2014/main" id="{2ED17960-B8B1-4D25-AD09-5878D9C6C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37" name="Line 21">
              <a:extLst>
                <a:ext uri="{FF2B5EF4-FFF2-40B4-BE49-F238E27FC236}">
                  <a16:creationId xmlns:a16="http://schemas.microsoft.com/office/drawing/2014/main" id="{AE576188-A068-4FA8-A8FB-2CEB47858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38" name="Line 22">
              <a:extLst>
                <a:ext uri="{FF2B5EF4-FFF2-40B4-BE49-F238E27FC236}">
                  <a16:creationId xmlns:a16="http://schemas.microsoft.com/office/drawing/2014/main" id="{3A962F9B-DE1F-4047-BF32-301A6407C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39" name="Rectangle 23">
              <a:extLst>
                <a:ext uri="{FF2B5EF4-FFF2-40B4-BE49-F238E27FC236}">
                  <a16:creationId xmlns:a16="http://schemas.microsoft.com/office/drawing/2014/main" id="{D9268137-0694-424E-AEB6-A58FE1085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976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40" name="Text Box 24">
              <a:extLst>
                <a:ext uri="{FF2B5EF4-FFF2-40B4-BE49-F238E27FC236}">
                  <a16:creationId xmlns:a16="http://schemas.microsoft.com/office/drawing/2014/main" id="{9D352A99-7BE8-44BE-A772-1B1C5B490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1" y="2947"/>
              <a:ext cx="163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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D   0   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41" name="Line 25">
              <a:extLst>
                <a:ext uri="{FF2B5EF4-FFF2-40B4-BE49-F238E27FC236}">
                  <a16:creationId xmlns:a16="http://schemas.microsoft.com/office/drawing/2014/main" id="{F4B9C9FB-1817-4DE4-9955-4BC2C57B24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42" name="Line 26">
              <a:extLst>
                <a:ext uri="{FF2B5EF4-FFF2-40B4-BE49-F238E27FC236}">
                  <a16:creationId xmlns:a16="http://schemas.microsoft.com/office/drawing/2014/main" id="{DCF077C9-865C-4AE6-B0C9-B2330E558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43" name="Line 27">
              <a:extLst>
                <a:ext uri="{FF2B5EF4-FFF2-40B4-BE49-F238E27FC236}">
                  <a16:creationId xmlns:a16="http://schemas.microsoft.com/office/drawing/2014/main" id="{CD8172F7-97E0-4C78-A8DE-36D7BFD8CC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44" name="Line 28">
              <a:extLst>
                <a:ext uri="{FF2B5EF4-FFF2-40B4-BE49-F238E27FC236}">
                  <a16:creationId xmlns:a16="http://schemas.microsoft.com/office/drawing/2014/main" id="{267FB59E-9335-46A9-8C59-24D482519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45" name="Rectangle 29">
              <a:extLst>
                <a:ext uri="{FF2B5EF4-FFF2-40B4-BE49-F238E27FC236}">
                  <a16:creationId xmlns:a16="http://schemas.microsoft.com/office/drawing/2014/main" id="{FF6EAA8D-7A3F-4D2E-8B81-25778984B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976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46" name="Text Box 30">
              <a:extLst>
                <a:ext uri="{FF2B5EF4-FFF2-40B4-BE49-F238E27FC236}">
                  <a16:creationId xmlns:a16="http://schemas.microsoft.com/office/drawing/2014/main" id="{4D6BE645-1EB5-41D6-9EDF-3771A8F5F0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8" y="2947"/>
              <a:ext cx="162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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E   0   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47" name="Line 31">
              <a:extLst>
                <a:ext uri="{FF2B5EF4-FFF2-40B4-BE49-F238E27FC236}">
                  <a16:creationId xmlns:a16="http://schemas.microsoft.com/office/drawing/2014/main" id="{382C0F80-968A-4595-A887-F54D8DBB8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48" name="Line 32">
              <a:extLst>
                <a:ext uri="{FF2B5EF4-FFF2-40B4-BE49-F238E27FC236}">
                  <a16:creationId xmlns:a16="http://schemas.microsoft.com/office/drawing/2014/main" id="{26DEA4B8-2250-4003-BD6E-B2FEF1C046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49" name="Line 33">
              <a:extLst>
                <a:ext uri="{FF2B5EF4-FFF2-40B4-BE49-F238E27FC236}">
                  <a16:creationId xmlns:a16="http://schemas.microsoft.com/office/drawing/2014/main" id="{C2AE76F1-2667-4F86-9FB7-1399839CB5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50" name="Line 34">
              <a:extLst>
                <a:ext uri="{FF2B5EF4-FFF2-40B4-BE49-F238E27FC236}">
                  <a16:creationId xmlns:a16="http://schemas.microsoft.com/office/drawing/2014/main" id="{C3586D0A-38D9-41FD-AB39-AC9605541E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51" name="Line 35">
              <a:extLst>
                <a:ext uri="{FF2B5EF4-FFF2-40B4-BE49-F238E27FC236}">
                  <a16:creationId xmlns:a16="http://schemas.microsoft.com/office/drawing/2014/main" id="{E5BA07AE-DF4F-449A-B899-ABD2BF72E7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1056"/>
              <a:ext cx="672" cy="816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52" name="Line 36">
              <a:extLst>
                <a:ext uri="{FF2B5EF4-FFF2-40B4-BE49-F238E27FC236}">
                  <a16:creationId xmlns:a16="http://schemas.microsoft.com/office/drawing/2014/main" id="{9C7EE900-4238-4C89-A542-F6240AED8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08"/>
              <a:ext cx="624" cy="864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53" name="Line 37">
              <a:extLst>
                <a:ext uri="{FF2B5EF4-FFF2-40B4-BE49-F238E27FC236}">
                  <a16:creationId xmlns:a16="http://schemas.microsoft.com/office/drawing/2014/main" id="{471AA959-0F0A-4878-80E7-86CB9F3153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016"/>
              <a:ext cx="288" cy="960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54" name="Line 38">
              <a:extLst>
                <a:ext uri="{FF2B5EF4-FFF2-40B4-BE49-F238E27FC236}">
                  <a16:creationId xmlns:a16="http://schemas.microsoft.com/office/drawing/2014/main" id="{5FD6EADB-3303-4222-AEB2-BC2274EEDF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2" y="2016"/>
              <a:ext cx="288" cy="960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55" name="Line 39">
              <a:extLst>
                <a:ext uri="{FF2B5EF4-FFF2-40B4-BE49-F238E27FC236}">
                  <a16:creationId xmlns:a16="http://schemas.microsoft.com/office/drawing/2014/main" id="{AD725832-B1BE-4AE5-ADBE-CA7077208F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576"/>
              <a:ext cx="144" cy="288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56" name="Text Box 40">
              <a:extLst>
                <a:ext uri="{FF2B5EF4-FFF2-40B4-BE49-F238E27FC236}">
                  <a16:creationId xmlns:a16="http://schemas.microsoft.com/office/drawing/2014/main" id="{1117DD43-2325-485D-B616-BBF8DE81AE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5" y="368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</a:p>
          </p:txBody>
        </p:sp>
        <p:sp>
          <p:nvSpPr>
            <p:cNvPr id="188457" name="Text Box 41">
              <a:extLst>
                <a:ext uri="{FF2B5EF4-FFF2-40B4-BE49-F238E27FC236}">
                  <a16:creationId xmlns:a16="http://schemas.microsoft.com/office/drawing/2014/main" id="{F9E8E823-8C2C-4247-9E65-8ED4D9B463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" y="368"/>
              <a:ext cx="14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pre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== NULL</a:t>
              </a:r>
              <a:endPara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58" name="Text Box 42">
              <a:extLst>
                <a:ext uri="{FF2B5EF4-FFF2-40B4-BE49-F238E27FC236}">
                  <a16:creationId xmlns:a16="http://schemas.microsoft.com/office/drawing/2014/main" id="{CFCEB053-70CE-414F-AAA9-B224C37A8C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1" y="368"/>
              <a:ext cx="1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endPara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8459" name="Line 43">
              <a:extLst>
                <a:ext uri="{FF2B5EF4-FFF2-40B4-BE49-F238E27FC236}">
                  <a16:creationId xmlns:a16="http://schemas.microsoft.com/office/drawing/2014/main" id="{FB847038-666E-4460-8DE2-3C9589D288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4" y="576"/>
              <a:ext cx="144" cy="288"/>
            </a:xfrm>
            <a:prstGeom prst="line">
              <a:avLst/>
            </a:prstGeom>
            <a:noFill/>
            <a:ln w="31750">
              <a:solidFill>
                <a:srgbClr val="00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C1489-8A56-4D48-8BDC-64108835A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建立中序线索二叉树</a:t>
            </a:r>
          </a:p>
        </p:txBody>
      </p:sp>
      <p:grpSp>
        <p:nvGrpSpPr>
          <p:cNvPr id="189485" name="Group 45">
            <a:extLst>
              <a:ext uri="{FF2B5EF4-FFF2-40B4-BE49-F238E27FC236}">
                <a16:creationId xmlns:a16="http://schemas.microsoft.com/office/drawing/2014/main" id="{7119B7E2-DA8C-4D47-9846-658EF2378BAC}"/>
              </a:ext>
            </a:extLst>
          </p:cNvPr>
          <p:cNvGrpSpPr>
            <a:grpSpLocks/>
          </p:cNvGrpSpPr>
          <p:nvPr/>
        </p:nvGrpSpPr>
        <p:grpSpPr bwMode="auto">
          <a:xfrm>
            <a:off x="952500" y="1260000"/>
            <a:ext cx="7239000" cy="4673600"/>
            <a:chOff x="528" y="368"/>
            <a:chExt cx="4560" cy="2944"/>
          </a:xfrm>
        </p:grpSpPr>
        <p:sp>
          <p:nvSpPr>
            <p:cNvPr id="189445" name="Rectangle 5">
              <a:extLst>
                <a:ext uri="{FF2B5EF4-FFF2-40B4-BE49-F238E27FC236}">
                  <a16:creationId xmlns:a16="http://schemas.microsoft.com/office/drawing/2014/main" id="{AE00DDF1-EBED-4156-9CEE-C49667B21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864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46" name="Text Box 6">
              <a:extLst>
                <a:ext uri="{FF2B5EF4-FFF2-40B4-BE49-F238E27FC236}">
                  <a16:creationId xmlns:a16="http://schemas.microsoft.com/office/drawing/2014/main" id="{17DCD0C3-0F85-4C27-81B8-C181C0F090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1" y="835"/>
              <a:ext cx="94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A   0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47" name="Line 7">
              <a:extLst>
                <a:ext uri="{FF2B5EF4-FFF2-40B4-BE49-F238E27FC236}">
                  <a16:creationId xmlns:a16="http://schemas.microsoft.com/office/drawing/2014/main" id="{F0AF14C5-62D8-468E-B361-BCFEA30CDC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48" name="Line 8">
              <a:extLst>
                <a:ext uri="{FF2B5EF4-FFF2-40B4-BE49-F238E27FC236}">
                  <a16:creationId xmlns:a16="http://schemas.microsoft.com/office/drawing/2014/main" id="{453B802B-3AE7-4947-9E7F-720661CA92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49" name="Line 9">
              <a:extLst>
                <a:ext uri="{FF2B5EF4-FFF2-40B4-BE49-F238E27FC236}">
                  <a16:creationId xmlns:a16="http://schemas.microsoft.com/office/drawing/2014/main" id="{13668FCC-A669-41B9-AE85-42E4D658E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50" name="Line 10">
              <a:extLst>
                <a:ext uri="{FF2B5EF4-FFF2-40B4-BE49-F238E27FC236}">
                  <a16:creationId xmlns:a16="http://schemas.microsoft.com/office/drawing/2014/main" id="{B01A1784-3E43-4ECD-94A5-3C6543F8B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51" name="Rectangle 11">
              <a:extLst>
                <a:ext uri="{FF2B5EF4-FFF2-40B4-BE49-F238E27FC236}">
                  <a16:creationId xmlns:a16="http://schemas.microsoft.com/office/drawing/2014/main" id="{1E423C3A-14D2-4EDC-ABEB-6AFA9F2F8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872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52" name="Text Box 12">
              <a:extLst>
                <a:ext uri="{FF2B5EF4-FFF2-40B4-BE49-F238E27FC236}">
                  <a16:creationId xmlns:a16="http://schemas.microsoft.com/office/drawing/2014/main" id="{0015E365-B1CB-45B3-8E70-7CAF3CDD7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843"/>
              <a:ext cx="14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</a:t>
              </a: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B   0   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53" name="Line 13">
              <a:extLst>
                <a:ext uri="{FF2B5EF4-FFF2-40B4-BE49-F238E27FC236}">
                  <a16:creationId xmlns:a16="http://schemas.microsoft.com/office/drawing/2014/main" id="{B59EAEA8-0A01-4FAD-BA60-F5DF3081AC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54" name="Line 14">
              <a:extLst>
                <a:ext uri="{FF2B5EF4-FFF2-40B4-BE49-F238E27FC236}">
                  <a16:creationId xmlns:a16="http://schemas.microsoft.com/office/drawing/2014/main" id="{5B170908-AB21-4A85-9C04-5EF9345FB8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55" name="Line 15">
              <a:extLst>
                <a:ext uri="{FF2B5EF4-FFF2-40B4-BE49-F238E27FC236}">
                  <a16:creationId xmlns:a16="http://schemas.microsoft.com/office/drawing/2014/main" id="{D110933F-EAE3-4D07-AA65-B08A290084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56" name="Line 16">
              <a:extLst>
                <a:ext uri="{FF2B5EF4-FFF2-40B4-BE49-F238E27FC236}">
                  <a16:creationId xmlns:a16="http://schemas.microsoft.com/office/drawing/2014/main" id="{8E20C275-BC35-4869-A7E7-194BE396F4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57" name="Rectangle 17">
              <a:extLst>
                <a:ext uri="{FF2B5EF4-FFF2-40B4-BE49-F238E27FC236}">
                  <a16:creationId xmlns:a16="http://schemas.microsoft.com/office/drawing/2014/main" id="{F620B80E-7169-49EC-9CBC-C9915FFA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872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58" name="Text Box 18">
              <a:extLst>
                <a:ext uri="{FF2B5EF4-FFF2-40B4-BE49-F238E27FC236}">
                  <a16:creationId xmlns:a16="http://schemas.microsoft.com/office/drawing/2014/main" id="{774177EA-5A5E-41D4-9653-4FCB5F08CE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0" y="1843"/>
              <a:ext cx="16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C   0   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59" name="Line 19">
              <a:extLst>
                <a:ext uri="{FF2B5EF4-FFF2-40B4-BE49-F238E27FC236}">
                  <a16:creationId xmlns:a16="http://schemas.microsoft.com/office/drawing/2014/main" id="{1C3C9051-66B9-4AE9-9CFB-96863025ED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60" name="Line 20">
              <a:extLst>
                <a:ext uri="{FF2B5EF4-FFF2-40B4-BE49-F238E27FC236}">
                  <a16:creationId xmlns:a16="http://schemas.microsoft.com/office/drawing/2014/main" id="{727D12AD-5171-4365-A40C-55F5B86BCE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61" name="Line 21">
              <a:extLst>
                <a:ext uri="{FF2B5EF4-FFF2-40B4-BE49-F238E27FC236}">
                  <a16:creationId xmlns:a16="http://schemas.microsoft.com/office/drawing/2014/main" id="{DC277EC8-EED5-4D23-9248-686C46165E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62" name="Line 22">
              <a:extLst>
                <a:ext uri="{FF2B5EF4-FFF2-40B4-BE49-F238E27FC236}">
                  <a16:creationId xmlns:a16="http://schemas.microsoft.com/office/drawing/2014/main" id="{603BC8BB-9C1B-492B-83FE-1888834DD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63" name="Rectangle 23">
              <a:extLst>
                <a:ext uri="{FF2B5EF4-FFF2-40B4-BE49-F238E27FC236}">
                  <a16:creationId xmlns:a16="http://schemas.microsoft.com/office/drawing/2014/main" id="{3EC8983C-0CA0-43E1-A923-4F5B6BE4A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976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64" name="Text Box 24">
              <a:extLst>
                <a:ext uri="{FF2B5EF4-FFF2-40B4-BE49-F238E27FC236}">
                  <a16:creationId xmlns:a16="http://schemas.microsoft.com/office/drawing/2014/main" id="{2769A3E6-C38E-4877-B15B-329FA8D32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1" y="2947"/>
              <a:ext cx="163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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D   0   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65" name="Line 25">
              <a:extLst>
                <a:ext uri="{FF2B5EF4-FFF2-40B4-BE49-F238E27FC236}">
                  <a16:creationId xmlns:a16="http://schemas.microsoft.com/office/drawing/2014/main" id="{A61FE3F1-5FA5-4D8B-B246-070E090153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66" name="Line 26">
              <a:extLst>
                <a:ext uri="{FF2B5EF4-FFF2-40B4-BE49-F238E27FC236}">
                  <a16:creationId xmlns:a16="http://schemas.microsoft.com/office/drawing/2014/main" id="{AD77D598-26F5-4DC1-97EE-B6BE1163B5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67" name="Line 27">
              <a:extLst>
                <a:ext uri="{FF2B5EF4-FFF2-40B4-BE49-F238E27FC236}">
                  <a16:creationId xmlns:a16="http://schemas.microsoft.com/office/drawing/2014/main" id="{96D87AD9-C290-46CD-9FD7-303BCC3AF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68" name="Line 28">
              <a:extLst>
                <a:ext uri="{FF2B5EF4-FFF2-40B4-BE49-F238E27FC236}">
                  <a16:creationId xmlns:a16="http://schemas.microsoft.com/office/drawing/2014/main" id="{88E9555B-B33C-491E-9ABC-68BDAC4CE6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69" name="Rectangle 29">
              <a:extLst>
                <a:ext uri="{FF2B5EF4-FFF2-40B4-BE49-F238E27FC236}">
                  <a16:creationId xmlns:a16="http://schemas.microsoft.com/office/drawing/2014/main" id="{8641DE22-98EE-47A5-B1E8-B6B9E88AC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976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70" name="Text Box 30">
              <a:extLst>
                <a:ext uri="{FF2B5EF4-FFF2-40B4-BE49-F238E27FC236}">
                  <a16:creationId xmlns:a16="http://schemas.microsoft.com/office/drawing/2014/main" id="{0A3BEEEF-6BE8-40B9-A7DF-941AAF494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8" y="2947"/>
              <a:ext cx="162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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E   0   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71" name="Line 31">
              <a:extLst>
                <a:ext uri="{FF2B5EF4-FFF2-40B4-BE49-F238E27FC236}">
                  <a16:creationId xmlns:a16="http://schemas.microsoft.com/office/drawing/2014/main" id="{3DD5DC34-1AB5-432F-867F-8373D35F6C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72" name="Line 32">
              <a:extLst>
                <a:ext uri="{FF2B5EF4-FFF2-40B4-BE49-F238E27FC236}">
                  <a16:creationId xmlns:a16="http://schemas.microsoft.com/office/drawing/2014/main" id="{222B0502-B443-425D-BF52-A9B6CDA0CC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73" name="Line 33">
              <a:extLst>
                <a:ext uri="{FF2B5EF4-FFF2-40B4-BE49-F238E27FC236}">
                  <a16:creationId xmlns:a16="http://schemas.microsoft.com/office/drawing/2014/main" id="{746CB322-4146-48D9-8F96-B16ED66376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74" name="Line 34">
              <a:extLst>
                <a:ext uri="{FF2B5EF4-FFF2-40B4-BE49-F238E27FC236}">
                  <a16:creationId xmlns:a16="http://schemas.microsoft.com/office/drawing/2014/main" id="{B0B2AD6C-AE19-4518-8B21-C3F23EFD8D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75" name="Line 35">
              <a:extLst>
                <a:ext uri="{FF2B5EF4-FFF2-40B4-BE49-F238E27FC236}">
                  <a16:creationId xmlns:a16="http://schemas.microsoft.com/office/drawing/2014/main" id="{8D3E30D0-0BCA-4BBE-A3CD-D19249D97E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1056"/>
              <a:ext cx="672" cy="816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76" name="Line 36">
              <a:extLst>
                <a:ext uri="{FF2B5EF4-FFF2-40B4-BE49-F238E27FC236}">
                  <a16:creationId xmlns:a16="http://schemas.microsoft.com/office/drawing/2014/main" id="{A7CAD522-B0DB-4CF1-BBE5-279ACF0747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08"/>
              <a:ext cx="624" cy="864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77" name="Line 37">
              <a:extLst>
                <a:ext uri="{FF2B5EF4-FFF2-40B4-BE49-F238E27FC236}">
                  <a16:creationId xmlns:a16="http://schemas.microsoft.com/office/drawing/2014/main" id="{E331F852-6141-4053-8882-7828186412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016"/>
              <a:ext cx="288" cy="960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78" name="Line 38">
              <a:extLst>
                <a:ext uri="{FF2B5EF4-FFF2-40B4-BE49-F238E27FC236}">
                  <a16:creationId xmlns:a16="http://schemas.microsoft.com/office/drawing/2014/main" id="{6087A5CF-99F4-41C6-B273-F4556F4626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2" y="2016"/>
              <a:ext cx="288" cy="960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79" name="Line 39">
              <a:extLst>
                <a:ext uri="{FF2B5EF4-FFF2-40B4-BE49-F238E27FC236}">
                  <a16:creationId xmlns:a16="http://schemas.microsoft.com/office/drawing/2014/main" id="{32ED5EB8-3421-4CE8-B743-9ACC707522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576"/>
              <a:ext cx="144" cy="288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80" name="Text Box 40">
              <a:extLst>
                <a:ext uri="{FF2B5EF4-FFF2-40B4-BE49-F238E27FC236}">
                  <a16:creationId xmlns:a16="http://schemas.microsoft.com/office/drawing/2014/main" id="{54FA1AB5-868F-40B9-BF2E-EA02805734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6" y="368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endPara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81" name="Text Box 41">
              <a:extLst>
                <a:ext uri="{FF2B5EF4-FFF2-40B4-BE49-F238E27FC236}">
                  <a16:creationId xmlns:a16="http://schemas.microsoft.com/office/drawing/2014/main" id="{77230618-82D8-471D-9A68-9ED9EAB60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" y="391"/>
              <a:ext cx="14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pre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== NULL</a:t>
              </a:r>
              <a:endPara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82" name="Text Box 42">
              <a:extLst>
                <a:ext uri="{FF2B5EF4-FFF2-40B4-BE49-F238E27FC236}">
                  <a16:creationId xmlns:a16="http://schemas.microsoft.com/office/drawing/2014/main" id="{6862522C-4099-4BBE-9FA4-346AD86AD5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9" y="1219"/>
              <a:ext cx="1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endPara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83" name="Line 43">
              <a:extLst>
                <a:ext uri="{FF2B5EF4-FFF2-40B4-BE49-F238E27FC236}">
                  <a16:creationId xmlns:a16="http://schemas.microsoft.com/office/drawing/2014/main" id="{AA0B7F28-E6B5-49C8-B807-E8A20E6823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536"/>
              <a:ext cx="163" cy="336"/>
            </a:xfrm>
            <a:prstGeom prst="line">
              <a:avLst/>
            </a:prstGeom>
            <a:noFill/>
            <a:ln w="31750">
              <a:solidFill>
                <a:srgbClr val="00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B6D097-15E5-482F-BCD3-5DA104AC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建立中序线索二叉树</a:t>
            </a:r>
          </a:p>
        </p:txBody>
      </p:sp>
      <p:grpSp>
        <p:nvGrpSpPr>
          <p:cNvPr id="190510" name="Group 46">
            <a:extLst>
              <a:ext uri="{FF2B5EF4-FFF2-40B4-BE49-F238E27FC236}">
                <a16:creationId xmlns:a16="http://schemas.microsoft.com/office/drawing/2014/main" id="{E41D64C3-AA9D-43E8-9BEC-C251A19EB3F0}"/>
              </a:ext>
            </a:extLst>
          </p:cNvPr>
          <p:cNvGrpSpPr>
            <a:grpSpLocks/>
          </p:cNvGrpSpPr>
          <p:nvPr/>
        </p:nvGrpSpPr>
        <p:grpSpPr bwMode="auto">
          <a:xfrm>
            <a:off x="952500" y="1260000"/>
            <a:ext cx="7239000" cy="4708525"/>
            <a:chOff x="528" y="346"/>
            <a:chExt cx="4560" cy="2966"/>
          </a:xfrm>
        </p:grpSpPr>
        <p:sp>
          <p:nvSpPr>
            <p:cNvPr id="190469" name="Rectangle 5">
              <a:extLst>
                <a:ext uri="{FF2B5EF4-FFF2-40B4-BE49-F238E27FC236}">
                  <a16:creationId xmlns:a16="http://schemas.microsoft.com/office/drawing/2014/main" id="{5291EEDC-27B0-441F-AB7A-FB6EA886C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864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70" name="Text Box 6">
              <a:extLst>
                <a:ext uri="{FF2B5EF4-FFF2-40B4-BE49-F238E27FC236}">
                  <a16:creationId xmlns:a16="http://schemas.microsoft.com/office/drawing/2014/main" id="{2B710E2A-EC9C-4E95-9FD2-3E274DC88B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1" y="835"/>
              <a:ext cx="94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A   0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71" name="Line 7">
              <a:extLst>
                <a:ext uri="{FF2B5EF4-FFF2-40B4-BE49-F238E27FC236}">
                  <a16:creationId xmlns:a16="http://schemas.microsoft.com/office/drawing/2014/main" id="{6C753F76-C279-49AE-8D12-9023C63949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72" name="Line 8">
              <a:extLst>
                <a:ext uri="{FF2B5EF4-FFF2-40B4-BE49-F238E27FC236}">
                  <a16:creationId xmlns:a16="http://schemas.microsoft.com/office/drawing/2014/main" id="{C919AA79-463B-40D6-9271-6D9BFB9CA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73" name="Line 9">
              <a:extLst>
                <a:ext uri="{FF2B5EF4-FFF2-40B4-BE49-F238E27FC236}">
                  <a16:creationId xmlns:a16="http://schemas.microsoft.com/office/drawing/2014/main" id="{CAE88F8F-6A03-486C-9C56-1D413142B2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74" name="Line 10">
              <a:extLst>
                <a:ext uri="{FF2B5EF4-FFF2-40B4-BE49-F238E27FC236}">
                  <a16:creationId xmlns:a16="http://schemas.microsoft.com/office/drawing/2014/main" id="{C8048440-1A98-4D62-91C8-93703532F8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75" name="Rectangle 11">
              <a:extLst>
                <a:ext uri="{FF2B5EF4-FFF2-40B4-BE49-F238E27FC236}">
                  <a16:creationId xmlns:a16="http://schemas.microsoft.com/office/drawing/2014/main" id="{A4DA58F9-86B9-486D-9D97-AB8A487DD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872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76" name="Text Box 12">
              <a:extLst>
                <a:ext uri="{FF2B5EF4-FFF2-40B4-BE49-F238E27FC236}">
                  <a16:creationId xmlns:a16="http://schemas.microsoft.com/office/drawing/2014/main" id="{F372AFB2-48D8-4521-857D-0F44741D89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843"/>
              <a:ext cx="14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</a:t>
              </a: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B   0   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77" name="Line 13">
              <a:extLst>
                <a:ext uri="{FF2B5EF4-FFF2-40B4-BE49-F238E27FC236}">
                  <a16:creationId xmlns:a16="http://schemas.microsoft.com/office/drawing/2014/main" id="{AFBD475D-9E7A-4495-8718-56653EC018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78" name="Line 14">
              <a:extLst>
                <a:ext uri="{FF2B5EF4-FFF2-40B4-BE49-F238E27FC236}">
                  <a16:creationId xmlns:a16="http://schemas.microsoft.com/office/drawing/2014/main" id="{3BAD8CBB-C64D-4B96-8794-6ACDCC251B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79" name="Line 15">
              <a:extLst>
                <a:ext uri="{FF2B5EF4-FFF2-40B4-BE49-F238E27FC236}">
                  <a16:creationId xmlns:a16="http://schemas.microsoft.com/office/drawing/2014/main" id="{5984215B-E489-43CB-BEBF-374779330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80" name="Line 16">
              <a:extLst>
                <a:ext uri="{FF2B5EF4-FFF2-40B4-BE49-F238E27FC236}">
                  <a16:creationId xmlns:a16="http://schemas.microsoft.com/office/drawing/2014/main" id="{A7C95D6D-5143-43B3-B432-91893BB141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81" name="Rectangle 17">
              <a:extLst>
                <a:ext uri="{FF2B5EF4-FFF2-40B4-BE49-F238E27FC236}">
                  <a16:creationId xmlns:a16="http://schemas.microsoft.com/office/drawing/2014/main" id="{F91CC6E7-5175-485F-8713-E2B360F5C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872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82" name="Text Box 18">
              <a:extLst>
                <a:ext uri="{FF2B5EF4-FFF2-40B4-BE49-F238E27FC236}">
                  <a16:creationId xmlns:a16="http://schemas.microsoft.com/office/drawing/2014/main" id="{126434CB-32E1-4529-A268-5A7AB22A75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0" y="1843"/>
              <a:ext cx="16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C   0   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83" name="Line 19">
              <a:extLst>
                <a:ext uri="{FF2B5EF4-FFF2-40B4-BE49-F238E27FC236}">
                  <a16:creationId xmlns:a16="http://schemas.microsoft.com/office/drawing/2014/main" id="{44DA2C99-A4E7-4A7B-8D9D-0EEA4F232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84" name="Line 20">
              <a:extLst>
                <a:ext uri="{FF2B5EF4-FFF2-40B4-BE49-F238E27FC236}">
                  <a16:creationId xmlns:a16="http://schemas.microsoft.com/office/drawing/2014/main" id="{231F365A-5D99-49B7-BD55-14FD3EEF3E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85" name="Line 21">
              <a:extLst>
                <a:ext uri="{FF2B5EF4-FFF2-40B4-BE49-F238E27FC236}">
                  <a16:creationId xmlns:a16="http://schemas.microsoft.com/office/drawing/2014/main" id="{3DADF1AF-9651-437C-AA8D-89EDE51F8E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86" name="Line 22">
              <a:extLst>
                <a:ext uri="{FF2B5EF4-FFF2-40B4-BE49-F238E27FC236}">
                  <a16:creationId xmlns:a16="http://schemas.microsoft.com/office/drawing/2014/main" id="{99BA7709-28B9-4CD2-818C-7BD30E9D6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87" name="Rectangle 23">
              <a:extLst>
                <a:ext uri="{FF2B5EF4-FFF2-40B4-BE49-F238E27FC236}">
                  <a16:creationId xmlns:a16="http://schemas.microsoft.com/office/drawing/2014/main" id="{CEF77430-EB21-4476-BAE0-C07AF32D4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976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88" name="Text Box 24">
              <a:extLst>
                <a:ext uri="{FF2B5EF4-FFF2-40B4-BE49-F238E27FC236}">
                  <a16:creationId xmlns:a16="http://schemas.microsoft.com/office/drawing/2014/main" id="{9262F079-EE88-4B3E-9964-D4D802D592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947"/>
              <a:ext cx="14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D   0   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89" name="Line 25">
              <a:extLst>
                <a:ext uri="{FF2B5EF4-FFF2-40B4-BE49-F238E27FC236}">
                  <a16:creationId xmlns:a16="http://schemas.microsoft.com/office/drawing/2014/main" id="{70EF40ED-E911-40E9-A94B-C67F3291DE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90" name="Line 26">
              <a:extLst>
                <a:ext uri="{FF2B5EF4-FFF2-40B4-BE49-F238E27FC236}">
                  <a16:creationId xmlns:a16="http://schemas.microsoft.com/office/drawing/2014/main" id="{DE9D9798-71E0-414F-8B3A-C7E6A15D02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91" name="Line 27">
              <a:extLst>
                <a:ext uri="{FF2B5EF4-FFF2-40B4-BE49-F238E27FC236}">
                  <a16:creationId xmlns:a16="http://schemas.microsoft.com/office/drawing/2014/main" id="{8F46C1DC-4FFA-40FF-9904-FA529E18A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92" name="Line 28">
              <a:extLst>
                <a:ext uri="{FF2B5EF4-FFF2-40B4-BE49-F238E27FC236}">
                  <a16:creationId xmlns:a16="http://schemas.microsoft.com/office/drawing/2014/main" id="{E2D415E1-A6F7-4F17-8AF5-0840BBC3AF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93" name="Rectangle 29">
              <a:extLst>
                <a:ext uri="{FF2B5EF4-FFF2-40B4-BE49-F238E27FC236}">
                  <a16:creationId xmlns:a16="http://schemas.microsoft.com/office/drawing/2014/main" id="{55902C9B-93E9-45B4-8466-479B3BA640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976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94" name="Text Box 30">
              <a:extLst>
                <a:ext uri="{FF2B5EF4-FFF2-40B4-BE49-F238E27FC236}">
                  <a16:creationId xmlns:a16="http://schemas.microsoft.com/office/drawing/2014/main" id="{3BAB875A-9E66-441A-8232-14811C55F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8" y="2947"/>
              <a:ext cx="162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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E   0   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95" name="Line 31">
              <a:extLst>
                <a:ext uri="{FF2B5EF4-FFF2-40B4-BE49-F238E27FC236}">
                  <a16:creationId xmlns:a16="http://schemas.microsoft.com/office/drawing/2014/main" id="{A176F2D9-0885-458A-8306-DC9BE27049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96" name="Line 32">
              <a:extLst>
                <a:ext uri="{FF2B5EF4-FFF2-40B4-BE49-F238E27FC236}">
                  <a16:creationId xmlns:a16="http://schemas.microsoft.com/office/drawing/2014/main" id="{15F57163-8C75-4988-A615-8D17E3332F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97" name="Line 33">
              <a:extLst>
                <a:ext uri="{FF2B5EF4-FFF2-40B4-BE49-F238E27FC236}">
                  <a16:creationId xmlns:a16="http://schemas.microsoft.com/office/drawing/2014/main" id="{45CDC000-603D-44FE-B534-A04FDDBCD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98" name="Line 34">
              <a:extLst>
                <a:ext uri="{FF2B5EF4-FFF2-40B4-BE49-F238E27FC236}">
                  <a16:creationId xmlns:a16="http://schemas.microsoft.com/office/drawing/2014/main" id="{8C41144C-68C4-4508-AA12-9DEDBDED2F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499" name="Line 35">
              <a:extLst>
                <a:ext uri="{FF2B5EF4-FFF2-40B4-BE49-F238E27FC236}">
                  <a16:creationId xmlns:a16="http://schemas.microsoft.com/office/drawing/2014/main" id="{2D10AAEE-5068-42DD-BF32-6820E86023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1056"/>
              <a:ext cx="672" cy="816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500" name="Line 36">
              <a:extLst>
                <a:ext uri="{FF2B5EF4-FFF2-40B4-BE49-F238E27FC236}">
                  <a16:creationId xmlns:a16="http://schemas.microsoft.com/office/drawing/2014/main" id="{97908AC6-490D-4B22-879A-956C7247D7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08"/>
              <a:ext cx="624" cy="864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501" name="Line 37">
              <a:extLst>
                <a:ext uri="{FF2B5EF4-FFF2-40B4-BE49-F238E27FC236}">
                  <a16:creationId xmlns:a16="http://schemas.microsoft.com/office/drawing/2014/main" id="{008E370B-DBE0-4690-8B09-3A95876518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016"/>
              <a:ext cx="288" cy="960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502" name="Line 38">
              <a:extLst>
                <a:ext uri="{FF2B5EF4-FFF2-40B4-BE49-F238E27FC236}">
                  <a16:creationId xmlns:a16="http://schemas.microsoft.com/office/drawing/2014/main" id="{46081EE8-C40B-4B27-A5DE-75DBC1B3AB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2" y="2016"/>
              <a:ext cx="288" cy="960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503" name="Line 39">
              <a:extLst>
                <a:ext uri="{FF2B5EF4-FFF2-40B4-BE49-F238E27FC236}">
                  <a16:creationId xmlns:a16="http://schemas.microsoft.com/office/drawing/2014/main" id="{68C0D937-50D6-4434-802E-4817800FFF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576"/>
              <a:ext cx="144" cy="288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504" name="Text Box 40">
              <a:extLst>
                <a:ext uri="{FF2B5EF4-FFF2-40B4-BE49-F238E27FC236}">
                  <a16:creationId xmlns:a16="http://schemas.microsoft.com/office/drawing/2014/main" id="{F4016BAC-42D6-42EC-BF32-656946B379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1" y="346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endPara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505" name="Text Box 41">
              <a:extLst>
                <a:ext uri="{FF2B5EF4-FFF2-40B4-BE49-F238E27FC236}">
                  <a16:creationId xmlns:a16="http://schemas.microsoft.com/office/drawing/2014/main" id="{2B532297-06EC-4BEB-AC40-B23D5C325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" y="1207"/>
              <a:ext cx="4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pre</a:t>
              </a:r>
              <a:endPara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506" name="Line 42">
              <a:extLst>
                <a:ext uri="{FF2B5EF4-FFF2-40B4-BE49-F238E27FC236}">
                  <a16:creationId xmlns:a16="http://schemas.microsoft.com/office/drawing/2014/main" id="{8E82DAA1-4A2D-4B34-9E69-7FAF335CD3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536"/>
              <a:ext cx="163" cy="336"/>
            </a:xfrm>
            <a:prstGeom prst="line">
              <a:avLst/>
            </a:prstGeom>
            <a:noFill/>
            <a:ln w="31750">
              <a:solidFill>
                <a:srgbClr val="00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507" name="Text Box 43">
              <a:extLst>
                <a:ext uri="{FF2B5EF4-FFF2-40B4-BE49-F238E27FC236}">
                  <a16:creationId xmlns:a16="http://schemas.microsoft.com/office/drawing/2014/main" id="{437D6577-63CF-475E-AB52-BC32463EE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6" y="2323"/>
              <a:ext cx="1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endPara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508" name="Line 44">
              <a:extLst>
                <a:ext uri="{FF2B5EF4-FFF2-40B4-BE49-F238E27FC236}">
                  <a16:creationId xmlns:a16="http://schemas.microsoft.com/office/drawing/2014/main" id="{037A2D1F-F453-4A7C-BF6B-01C4F6F02F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5" y="2640"/>
              <a:ext cx="163" cy="336"/>
            </a:xfrm>
            <a:prstGeom prst="line">
              <a:avLst/>
            </a:prstGeom>
            <a:noFill/>
            <a:ln w="31750">
              <a:solidFill>
                <a:srgbClr val="00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0509" name="Line 45">
              <a:extLst>
                <a:ext uri="{FF2B5EF4-FFF2-40B4-BE49-F238E27FC236}">
                  <a16:creationId xmlns:a16="http://schemas.microsoft.com/office/drawing/2014/main" id="{7D8814EB-D598-42E3-BBC5-6FA5C3BA4C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6" y="2256"/>
              <a:ext cx="240" cy="864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E8664-08D4-4288-9AB6-49B4B57C2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建立中序线索二叉树</a:t>
            </a:r>
          </a:p>
        </p:txBody>
      </p:sp>
      <p:grpSp>
        <p:nvGrpSpPr>
          <p:cNvPr id="191535" name="Group 47">
            <a:extLst>
              <a:ext uri="{FF2B5EF4-FFF2-40B4-BE49-F238E27FC236}">
                <a16:creationId xmlns:a16="http://schemas.microsoft.com/office/drawing/2014/main" id="{DFF929F5-7534-49D3-A6CB-27233C5CBF5A}"/>
              </a:ext>
            </a:extLst>
          </p:cNvPr>
          <p:cNvGrpSpPr>
            <a:grpSpLocks/>
          </p:cNvGrpSpPr>
          <p:nvPr/>
        </p:nvGrpSpPr>
        <p:grpSpPr bwMode="auto">
          <a:xfrm>
            <a:off x="952500" y="1260000"/>
            <a:ext cx="7239000" cy="4724400"/>
            <a:chOff x="528" y="336"/>
            <a:chExt cx="4560" cy="2976"/>
          </a:xfrm>
        </p:grpSpPr>
        <p:sp>
          <p:nvSpPr>
            <p:cNvPr id="191493" name="Rectangle 5">
              <a:extLst>
                <a:ext uri="{FF2B5EF4-FFF2-40B4-BE49-F238E27FC236}">
                  <a16:creationId xmlns:a16="http://schemas.microsoft.com/office/drawing/2014/main" id="{64B71AAE-61E3-4099-A6F0-9559A154F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864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494" name="Text Box 6">
              <a:extLst>
                <a:ext uri="{FF2B5EF4-FFF2-40B4-BE49-F238E27FC236}">
                  <a16:creationId xmlns:a16="http://schemas.microsoft.com/office/drawing/2014/main" id="{19EF47F4-B768-44D7-8BDF-BB193D9E2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1" y="835"/>
              <a:ext cx="94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A   0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495" name="Line 7">
              <a:extLst>
                <a:ext uri="{FF2B5EF4-FFF2-40B4-BE49-F238E27FC236}">
                  <a16:creationId xmlns:a16="http://schemas.microsoft.com/office/drawing/2014/main" id="{D1521D9F-FA2D-4545-9E36-380DEDDAB9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496" name="Line 8">
              <a:extLst>
                <a:ext uri="{FF2B5EF4-FFF2-40B4-BE49-F238E27FC236}">
                  <a16:creationId xmlns:a16="http://schemas.microsoft.com/office/drawing/2014/main" id="{53A72D67-23CE-4A56-8F55-DA46B78BC2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497" name="Line 9">
              <a:extLst>
                <a:ext uri="{FF2B5EF4-FFF2-40B4-BE49-F238E27FC236}">
                  <a16:creationId xmlns:a16="http://schemas.microsoft.com/office/drawing/2014/main" id="{D577438B-5BCE-4313-BCB4-29189531AE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498" name="Line 10">
              <a:extLst>
                <a:ext uri="{FF2B5EF4-FFF2-40B4-BE49-F238E27FC236}">
                  <a16:creationId xmlns:a16="http://schemas.microsoft.com/office/drawing/2014/main" id="{5A67FCFD-6AE4-49C3-AB45-231E324086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499" name="Rectangle 11">
              <a:extLst>
                <a:ext uri="{FF2B5EF4-FFF2-40B4-BE49-F238E27FC236}">
                  <a16:creationId xmlns:a16="http://schemas.microsoft.com/office/drawing/2014/main" id="{94920B61-7AE3-4782-8084-2ED873F0C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872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00" name="Text Box 12">
              <a:extLst>
                <a:ext uri="{FF2B5EF4-FFF2-40B4-BE49-F238E27FC236}">
                  <a16:creationId xmlns:a16="http://schemas.microsoft.com/office/drawing/2014/main" id="{AB38A527-5911-41CD-AC45-42553A4B55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843"/>
              <a:ext cx="14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</a:t>
              </a: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B   0   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01" name="Line 13">
              <a:extLst>
                <a:ext uri="{FF2B5EF4-FFF2-40B4-BE49-F238E27FC236}">
                  <a16:creationId xmlns:a16="http://schemas.microsoft.com/office/drawing/2014/main" id="{47700978-EBA2-4506-B37A-0DF98920CB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02" name="Line 14">
              <a:extLst>
                <a:ext uri="{FF2B5EF4-FFF2-40B4-BE49-F238E27FC236}">
                  <a16:creationId xmlns:a16="http://schemas.microsoft.com/office/drawing/2014/main" id="{D920F8B4-8A57-496A-9680-3CFB530D11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03" name="Line 15">
              <a:extLst>
                <a:ext uri="{FF2B5EF4-FFF2-40B4-BE49-F238E27FC236}">
                  <a16:creationId xmlns:a16="http://schemas.microsoft.com/office/drawing/2014/main" id="{2170A7B2-ECE9-4F4F-9EE3-6B6ED83B1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04" name="Line 16">
              <a:extLst>
                <a:ext uri="{FF2B5EF4-FFF2-40B4-BE49-F238E27FC236}">
                  <a16:creationId xmlns:a16="http://schemas.microsoft.com/office/drawing/2014/main" id="{7773E069-A9D6-4384-A47A-5C3D75DBA8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05" name="Rectangle 17">
              <a:extLst>
                <a:ext uri="{FF2B5EF4-FFF2-40B4-BE49-F238E27FC236}">
                  <a16:creationId xmlns:a16="http://schemas.microsoft.com/office/drawing/2014/main" id="{0B43544E-D4CA-4EFE-98AB-E59B59BE4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872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06" name="Text Box 18">
              <a:extLst>
                <a:ext uri="{FF2B5EF4-FFF2-40B4-BE49-F238E27FC236}">
                  <a16:creationId xmlns:a16="http://schemas.microsoft.com/office/drawing/2014/main" id="{FC50722E-9D3B-498C-BFBF-79B08FB7D9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0" y="1843"/>
              <a:ext cx="16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C   0   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07" name="Line 19">
              <a:extLst>
                <a:ext uri="{FF2B5EF4-FFF2-40B4-BE49-F238E27FC236}">
                  <a16:creationId xmlns:a16="http://schemas.microsoft.com/office/drawing/2014/main" id="{747A42BE-497A-499C-BAA1-1136C93CEC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08" name="Line 20">
              <a:extLst>
                <a:ext uri="{FF2B5EF4-FFF2-40B4-BE49-F238E27FC236}">
                  <a16:creationId xmlns:a16="http://schemas.microsoft.com/office/drawing/2014/main" id="{F2540117-D4BA-4A2E-9A5A-1A07A53B73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09" name="Line 21">
              <a:extLst>
                <a:ext uri="{FF2B5EF4-FFF2-40B4-BE49-F238E27FC236}">
                  <a16:creationId xmlns:a16="http://schemas.microsoft.com/office/drawing/2014/main" id="{5BF73D79-4267-4AF4-9FB8-58C5DA1D2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10" name="Line 22">
              <a:extLst>
                <a:ext uri="{FF2B5EF4-FFF2-40B4-BE49-F238E27FC236}">
                  <a16:creationId xmlns:a16="http://schemas.microsoft.com/office/drawing/2014/main" id="{439AEBE8-E55F-4C47-BADF-E4F7AB33AF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11" name="Rectangle 23">
              <a:extLst>
                <a:ext uri="{FF2B5EF4-FFF2-40B4-BE49-F238E27FC236}">
                  <a16:creationId xmlns:a16="http://schemas.microsoft.com/office/drawing/2014/main" id="{9CFE2DFF-4BC0-45BC-A213-36DF1E5B5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976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12" name="Text Box 24">
              <a:extLst>
                <a:ext uri="{FF2B5EF4-FFF2-40B4-BE49-F238E27FC236}">
                  <a16:creationId xmlns:a16="http://schemas.microsoft.com/office/drawing/2014/main" id="{29CCEDD0-6107-474A-804C-0A9DE35E1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947"/>
              <a:ext cx="126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D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13" name="Line 25">
              <a:extLst>
                <a:ext uri="{FF2B5EF4-FFF2-40B4-BE49-F238E27FC236}">
                  <a16:creationId xmlns:a16="http://schemas.microsoft.com/office/drawing/2014/main" id="{D0D4DC0D-E9C4-4F6E-B155-D599847A72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14" name="Line 26">
              <a:extLst>
                <a:ext uri="{FF2B5EF4-FFF2-40B4-BE49-F238E27FC236}">
                  <a16:creationId xmlns:a16="http://schemas.microsoft.com/office/drawing/2014/main" id="{F3071C7B-5345-4A60-9410-3B8540D484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15" name="Line 27">
              <a:extLst>
                <a:ext uri="{FF2B5EF4-FFF2-40B4-BE49-F238E27FC236}">
                  <a16:creationId xmlns:a16="http://schemas.microsoft.com/office/drawing/2014/main" id="{DE85EE4E-A4C0-4A29-B540-8C11CF3F0D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16" name="Line 28">
              <a:extLst>
                <a:ext uri="{FF2B5EF4-FFF2-40B4-BE49-F238E27FC236}">
                  <a16:creationId xmlns:a16="http://schemas.microsoft.com/office/drawing/2014/main" id="{7265C356-8484-478E-B309-E0ED540979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17" name="Rectangle 29">
              <a:extLst>
                <a:ext uri="{FF2B5EF4-FFF2-40B4-BE49-F238E27FC236}">
                  <a16:creationId xmlns:a16="http://schemas.microsoft.com/office/drawing/2014/main" id="{7F61A19C-4558-4CD3-B5BD-D5386B7FD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976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18" name="Text Box 30">
              <a:extLst>
                <a:ext uri="{FF2B5EF4-FFF2-40B4-BE49-F238E27FC236}">
                  <a16:creationId xmlns:a16="http://schemas.microsoft.com/office/drawing/2014/main" id="{7EE0BD36-7585-4392-9CED-94762E43C8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8" y="2947"/>
              <a:ext cx="162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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E   0   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19" name="Line 31">
              <a:extLst>
                <a:ext uri="{FF2B5EF4-FFF2-40B4-BE49-F238E27FC236}">
                  <a16:creationId xmlns:a16="http://schemas.microsoft.com/office/drawing/2014/main" id="{7D90AF7F-A432-4D25-A866-38F540980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20" name="Line 32">
              <a:extLst>
                <a:ext uri="{FF2B5EF4-FFF2-40B4-BE49-F238E27FC236}">
                  <a16:creationId xmlns:a16="http://schemas.microsoft.com/office/drawing/2014/main" id="{AF89E97E-AF10-489D-B264-04C1C8E43A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21" name="Line 33">
              <a:extLst>
                <a:ext uri="{FF2B5EF4-FFF2-40B4-BE49-F238E27FC236}">
                  <a16:creationId xmlns:a16="http://schemas.microsoft.com/office/drawing/2014/main" id="{8040738D-9C23-45A8-B5CA-D8F3E86D8D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22" name="Line 34">
              <a:extLst>
                <a:ext uri="{FF2B5EF4-FFF2-40B4-BE49-F238E27FC236}">
                  <a16:creationId xmlns:a16="http://schemas.microsoft.com/office/drawing/2014/main" id="{A6A21237-D7E1-44EE-9AE5-258053D4E3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23" name="Line 35">
              <a:extLst>
                <a:ext uri="{FF2B5EF4-FFF2-40B4-BE49-F238E27FC236}">
                  <a16:creationId xmlns:a16="http://schemas.microsoft.com/office/drawing/2014/main" id="{CBD29CE1-841E-4053-A32A-B8170FB7FE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1056"/>
              <a:ext cx="672" cy="816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24" name="Line 36">
              <a:extLst>
                <a:ext uri="{FF2B5EF4-FFF2-40B4-BE49-F238E27FC236}">
                  <a16:creationId xmlns:a16="http://schemas.microsoft.com/office/drawing/2014/main" id="{FA933ED8-AAC4-49FA-B9C0-C210D9D73B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08"/>
              <a:ext cx="624" cy="864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25" name="Line 37">
              <a:extLst>
                <a:ext uri="{FF2B5EF4-FFF2-40B4-BE49-F238E27FC236}">
                  <a16:creationId xmlns:a16="http://schemas.microsoft.com/office/drawing/2014/main" id="{224E10F6-87F7-4D5C-A57A-27749EED86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016"/>
              <a:ext cx="288" cy="960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26" name="Line 38">
              <a:extLst>
                <a:ext uri="{FF2B5EF4-FFF2-40B4-BE49-F238E27FC236}">
                  <a16:creationId xmlns:a16="http://schemas.microsoft.com/office/drawing/2014/main" id="{07941CB3-E180-43E7-A61E-3F625BA3DE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2" y="2016"/>
              <a:ext cx="288" cy="960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27" name="Line 39">
              <a:extLst>
                <a:ext uri="{FF2B5EF4-FFF2-40B4-BE49-F238E27FC236}">
                  <a16:creationId xmlns:a16="http://schemas.microsoft.com/office/drawing/2014/main" id="{E21C562F-3CD0-470F-AF92-DE0BC0E4A0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576"/>
              <a:ext cx="144" cy="288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28" name="Text Box 40">
              <a:extLst>
                <a:ext uri="{FF2B5EF4-FFF2-40B4-BE49-F238E27FC236}">
                  <a16:creationId xmlns:a16="http://schemas.microsoft.com/office/drawing/2014/main" id="{FF65C47E-21F0-4260-819A-A977E45F65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6" y="368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endPara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29" name="Text Box 41">
              <a:extLst>
                <a:ext uri="{FF2B5EF4-FFF2-40B4-BE49-F238E27FC236}">
                  <a16:creationId xmlns:a16="http://schemas.microsoft.com/office/drawing/2014/main" id="{FFDFEFFB-8C4F-4DA9-8404-83782ED6BB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3" y="2342"/>
              <a:ext cx="4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pre</a:t>
              </a:r>
              <a:endPara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30" name="Line 42">
              <a:extLst>
                <a:ext uri="{FF2B5EF4-FFF2-40B4-BE49-F238E27FC236}">
                  <a16:creationId xmlns:a16="http://schemas.microsoft.com/office/drawing/2014/main" id="{681872CA-A8C4-4275-969B-0B346FDAD6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640"/>
              <a:ext cx="163" cy="336"/>
            </a:xfrm>
            <a:prstGeom prst="line">
              <a:avLst/>
            </a:prstGeom>
            <a:noFill/>
            <a:ln w="31750">
              <a:solidFill>
                <a:srgbClr val="00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31" name="Text Box 43">
              <a:extLst>
                <a:ext uri="{FF2B5EF4-FFF2-40B4-BE49-F238E27FC236}">
                  <a16:creationId xmlns:a16="http://schemas.microsoft.com/office/drawing/2014/main" id="{7CEA45A3-212C-4D65-A5F3-31407F48E1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7" y="336"/>
              <a:ext cx="1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endPara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32" name="Line 44">
              <a:extLst>
                <a:ext uri="{FF2B5EF4-FFF2-40B4-BE49-F238E27FC236}">
                  <a16:creationId xmlns:a16="http://schemas.microsoft.com/office/drawing/2014/main" id="{6F1AD627-71A5-47F7-88BB-DB2F617E87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1" y="528"/>
              <a:ext cx="163" cy="336"/>
            </a:xfrm>
            <a:prstGeom prst="line">
              <a:avLst/>
            </a:prstGeom>
            <a:noFill/>
            <a:ln w="31750">
              <a:solidFill>
                <a:srgbClr val="00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33" name="Line 45">
              <a:extLst>
                <a:ext uri="{FF2B5EF4-FFF2-40B4-BE49-F238E27FC236}">
                  <a16:creationId xmlns:a16="http://schemas.microsoft.com/office/drawing/2014/main" id="{5FF43C45-05E2-4357-92F8-817A28A0E5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6" y="2256"/>
              <a:ext cx="240" cy="864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1534" name="Line 46">
              <a:extLst>
                <a:ext uri="{FF2B5EF4-FFF2-40B4-BE49-F238E27FC236}">
                  <a16:creationId xmlns:a16="http://schemas.microsoft.com/office/drawing/2014/main" id="{88A40331-7CF2-42C4-8DC6-2D3C1643B0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1248"/>
              <a:ext cx="336" cy="1872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21F648-6273-44FA-9D09-B097ECB46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建立中序线索二叉树</a:t>
            </a:r>
          </a:p>
        </p:txBody>
      </p:sp>
      <p:grpSp>
        <p:nvGrpSpPr>
          <p:cNvPr id="192560" name="Group 48">
            <a:extLst>
              <a:ext uri="{FF2B5EF4-FFF2-40B4-BE49-F238E27FC236}">
                <a16:creationId xmlns:a16="http://schemas.microsoft.com/office/drawing/2014/main" id="{350ED1B1-AE93-45BD-B88F-836912166C1E}"/>
              </a:ext>
            </a:extLst>
          </p:cNvPr>
          <p:cNvGrpSpPr>
            <a:grpSpLocks/>
          </p:cNvGrpSpPr>
          <p:nvPr/>
        </p:nvGrpSpPr>
        <p:grpSpPr bwMode="auto">
          <a:xfrm>
            <a:off x="952500" y="1260000"/>
            <a:ext cx="7239000" cy="4745037"/>
            <a:chOff x="528" y="323"/>
            <a:chExt cx="4560" cy="2989"/>
          </a:xfrm>
        </p:grpSpPr>
        <p:sp>
          <p:nvSpPr>
            <p:cNvPr id="192517" name="Rectangle 5">
              <a:extLst>
                <a:ext uri="{FF2B5EF4-FFF2-40B4-BE49-F238E27FC236}">
                  <a16:creationId xmlns:a16="http://schemas.microsoft.com/office/drawing/2014/main" id="{0C85FC27-1658-45FB-A597-7BF896309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864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18" name="Text Box 6">
              <a:extLst>
                <a:ext uri="{FF2B5EF4-FFF2-40B4-BE49-F238E27FC236}">
                  <a16:creationId xmlns:a16="http://schemas.microsoft.com/office/drawing/2014/main" id="{1A66085B-1BEB-47FC-BD13-FBC49A2636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1" y="835"/>
              <a:ext cx="94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A   0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19" name="Line 7">
              <a:extLst>
                <a:ext uri="{FF2B5EF4-FFF2-40B4-BE49-F238E27FC236}">
                  <a16:creationId xmlns:a16="http://schemas.microsoft.com/office/drawing/2014/main" id="{4C5A2644-3DC9-460F-AB14-4AA3C18E71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20" name="Line 8">
              <a:extLst>
                <a:ext uri="{FF2B5EF4-FFF2-40B4-BE49-F238E27FC236}">
                  <a16:creationId xmlns:a16="http://schemas.microsoft.com/office/drawing/2014/main" id="{17E26F3C-84A6-4A62-8005-44FC7ADB20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21" name="Line 9">
              <a:extLst>
                <a:ext uri="{FF2B5EF4-FFF2-40B4-BE49-F238E27FC236}">
                  <a16:creationId xmlns:a16="http://schemas.microsoft.com/office/drawing/2014/main" id="{F69EAF9B-2F39-4312-B2E2-1ECB815AF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22" name="Line 10">
              <a:extLst>
                <a:ext uri="{FF2B5EF4-FFF2-40B4-BE49-F238E27FC236}">
                  <a16:creationId xmlns:a16="http://schemas.microsoft.com/office/drawing/2014/main" id="{B0B1646E-203A-4E75-B40E-4B918E5644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23" name="Rectangle 11">
              <a:extLst>
                <a:ext uri="{FF2B5EF4-FFF2-40B4-BE49-F238E27FC236}">
                  <a16:creationId xmlns:a16="http://schemas.microsoft.com/office/drawing/2014/main" id="{FBCF776D-3585-4B8C-AFD3-29CC2B48C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872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24" name="Text Box 12">
              <a:extLst>
                <a:ext uri="{FF2B5EF4-FFF2-40B4-BE49-F238E27FC236}">
                  <a16:creationId xmlns:a16="http://schemas.microsoft.com/office/drawing/2014/main" id="{80A8AFBD-2204-4187-97D9-2521141AD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843"/>
              <a:ext cx="14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</a:t>
              </a: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B   0   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25" name="Line 13">
              <a:extLst>
                <a:ext uri="{FF2B5EF4-FFF2-40B4-BE49-F238E27FC236}">
                  <a16:creationId xmlns:a16="http://schemas.microsoft.com/office/drawing/2014/main" id="{FC1C4BF8-8926-484E-B891-0E08B7605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26" name="Line 14">
              <a:extLst>
                <a:ext uri="{FF2B5EF4-FFF2-40B4-BE49-F238E27FC236}">
                  <a16:creationId xmlns:a16="http://schemas.microsoft.com/office/drawing/2014/main" id="{2EF5A328-4306-427A-B421-A0F4EF756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27" name="Line 15">
              <a:extLst>
                <a:ext uri="{FF2B5EF4-FFF2-40B4-BE49-F238E27FC236}">
                  <a16:creationId xmlns:a16="http://schemas.microsoft.com/office/drawing/2014/main" id="{C5D3D213-4521-4EEA-B648-8082B29B0A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28" name="Line 16">
              <a:extLst>
                <a:ext uri="{FF2B5EF4-FFF2-40B4-BE49-F238E27FC236}">
                  <a16:creationId xmlns:a16="http://schemas.microsoft.com/office/drawing/2014/main" id="{951279C4-8F69-473D-805F-B5A69929E5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29" name="Rectangle 17">
              <a:extLst>
                <a:ext uri="{FF2B5EF4-FFF2-40B4-BE49-F238E27FC236}">
                  <a16:creationId xmlns:a16="http://schemas.microsoft.com/office/drawing/2014/main" id="{C8F8FDA8-7742-4DFB-A382-00DBCEF11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872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30" name="Text Box 18">
              <a:extLst>
                <a:ext uri="{FF2B5EF4-FFF2-40B4-BE49-F238E27FC236}">
                  <a16:creationId xmlns:a16="http://schemas.microsoft.com/office/drawing/2014/main" id="{FFB93053-7B5E-4627-BA09-DBB5473CE5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0" y="1843"/>
              <a:ext cx="16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C   0   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31" name="Line 19">
              <a:extLst>
                <a:ext uri="{FF2B5EF4-FFF2-40B4-BE49-F238E27FC236}">
                  <a16:creationId xmlns:a16="http://schemas.microsoft.com/office/drawing/2014/main" id="{8C1889B6-9E94-476E-AF23-B72941DE2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32" name="Line 20">
              <a:extLst>
                <a:ext uri="{FF2B5EF4-FFF2-40B4-BE49-F238E27FC236}">
                  <a16:creationId xmlns:a16="http://schemas.microsoft.com/office/drawing/2014/main" id="{A4B1F7E1-F4CF-437B-AEBC-FFE95D0EA7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33" name="Line 21">
              <a:extLst>
                <a:ext uri="{FF2B5EF4-FFF2-40B4-BE49-F238E27FC236}">
                  <a16:creationId xmlns:a16="http://schemas.microsoft.com/office/drawing/2014/main" id="{0E1B8E32-4A37-4C4B-9665-2456FC0EC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34" name="Line 22">
              <a:extLst>
                <a:ext uri="{FF2B5EF4-FFF2-40B4-BE49-F238E27FC236}">
                  <a16:creationId xmlns:a16="http://schemas.microsoft.com/office/drawing/2014/main" id="{D67399EF-BA15-405B-9BC8-4E96F425C9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35" name="Rectangle 23">
              <a:extLst>
                <a:ext uri="{FF2B5EF4-FFF2-40B4-BE49-F238E27FC236}">
                  <a16:creationId xmlns:a16="http://schemas.microsoft.com/office/drawing/2014/main" id="{239B11D2-F270-44C6-8FB1-D6E322DCB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976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36" name="Text Box 24">
              <a:extLst>
                <a:ext uri="{FF2B5EF4-FFF2-40B4-BE49-F238E27FC236}">
                  <a16:creationId xmlns:a16="http://schemas.microsoft.com/office/drawing/2014/main" id="{365BC8AB-6285-4F87-B347-FF0C21F4C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947"/>
              <a:ext cx="126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D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37" name="Line 25">
              <a:extLst>
                <a:ext uri="{FF2B5EF4-FFF2-40B4-BE49-F238E27FC236}">
                  <a16:creationId xmlns:a16="http://schemas.microsoft.com/office/drawing/2014/main" id="{81A93E52-8C87-4608-B41F-642DF3BDFE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38" name="Line 26">
              <a:extLst>
                <a:ext uri="{FF2B5EF4-FFF2-40B4-BE49-F238E27FC236}">
                  <a16:creationId xmlns:a16="http://schemas.microsoft.com/office/drawing/2014/main" id="{E448AA49-3F28-4A7D-9B31-3C6E153893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39" name="Line 27">
              <a:extLst>
                <a:ext uri="{FF2B5EF4-FFF2-40B4-BE49-F238E27FC236}">
                  <a16:creationId xmlns:a16="http://schemas.microsoft.com/office/drawing/2014/main" id="{280523BE-84F2-457B-BC73-FADC8B5B0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40" name="Line 28">
              <a:extLst>
                <a:ext uri="{FF2B5EF4-FFF2-40B4-BE49-F238E27FC236}">
                  <a16:creationId xmlns:a16="http://schemas.microsoft.com/office/drawing/2014/main" id="{B823B8F3-94F5-4C83-BAFF-6FA37DC91A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41" name="Rectangle 29">
              <a:extLst>
                <a:ext uri="{FF2B5EF4-FFF2-40B4-BE49-F238E27FC236}">
                  <a16:creationId xmlns:a16="http://schemas.microsoft.com/office/drawing/2014/main" id="{940B7724-BA0B-4AF9-97A5-3335A0886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976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42" name="Text Box 30">
              <a:extLst>
                <a:ext uri="{FF2B5EF4-FFF2-40B4-BE49-F238E27FC236}">
                  <a16:creationId xmlns:a16="http://schemas.microsoft.com/office/drawing/2014/main" id="{0C9057BB-97CB-4CE9-A7E1-5F061B575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947"/>
              <a:ext cx="133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E   0    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43" name="Line 31">
              <a:extLst>
                <a:ext uri="{FF2B5EF4-FFF2-40B4-BE49-F238E27FC236}">
                  <a16:creationId xmlns:a16="http://schemas.microsoft.com/office/drawing/2014/main" id="{16655F41-BAE7-4926-BB38-698477F47F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44" name="Line 32">
              <a:extLst>
                <a:ext uri="{FF2B5EF4-FFF2-40B4-BE49-F238E27FC236}">
                  <a16:creationId xmlns:a16="http://schemas.microsoft.com/office/drawing/2014/main" id="{A833B28F-54FB-4C72-B2BE-D7AB073A48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45" name="Line 33">
              <a:extLst>
                <a:ext uri="{FF2B5EF4-FFF2-40B4-BE49-F238E27FC236}">
                  <a16:creationId xmlns:a16="http://schemas.microsoft.com/office/drawing/2014/main" id="{7C44B70B-EF13-46BC-809E-4078F2B7F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46" name="Line 34">
              <a:extLst>
                <a:ext uri="{FF2B5EF4-FFF2-40B4-BE49-F238E27FC236}">
                  <a16:creationId xmlns:a16="http://schemas.microsoft.com/office/drawing/2014/main" id="{B70C9EE1-93F6-4411-BC73-0D32B547E7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47" name="Line 35">
              <a:extLst>
                <a:ext uri="{FF2B5EF4-FFF2-40B4-BE49-F238E27FC236}">
                  <a16:creationId xmlns:a16="http://schemas.microsoft.com/office/drawing/2014/main" id="{FC7D90F7-8671-47DB-A695-542767FCF9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1056"/>
              <a:ext cx="672" cy="816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48" name="Line 36">
              <a:extLst>
                <a:ext uri="{FF2B5EF4-FFF2-40B4-BE49-F238E27FC236}">
                  <a16:creationId xmlns:a16="http://schemas.microsoft.com/office/drawing/2014/main" id="{94C8EAB8-CA65-48FC-851C-D89A33C9D7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08"/>
              <a:ext cx="624" cy="864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49" name="Line 37">
              <a:extLst>
                <a:ext uri="{FF2B5EF4-FFF2-40B4-BE49-F238E27FC236}">
                  <a16:creationId xmlns:a16="http://schemas.microsoft.com/office/drawing/2014/main" id="{3136BF1B-3A27-43D9-84F4-BD1654209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016"/>
              <a:ext cx="288" cy="960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50" name="Line 38">
              <a:extLst>
                <a:ext uri="{FF2B5EF4-FFF2-40B4-BE49-F238E27FC236}">
                  <a16:creationId xmlns:a16="http://schemas.microsoft.com/office/drawing/2014/main" id="{ADCC599A-A8D8-482B-914B-FCC9932A6A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2" y="2016"/>
              <a:ext cx="288" cy="960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51" name="Line 39">
              <a:extLst>
                <a:ext uri="{FF2B5EF4-FFF2-40B4-BE49-F238E27FC236}">
                  <a16:creationId xmlns:a16="http://schemas.microsoft.com/office/drawing/2014/main" id="{A9355E41-1E07-4B4E-85F2-64BFAD0982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576"/>
              <a:ext cx="144" cy="288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52" name="Text Box 40">
              <a:extLst>
                <a:ext uri="{FF2B5EF4-FFF2-40B4-BE49-F238E27FC236}">
                  <a16:creationId xmlns:a16="http://schemas.microsoft.com/office/drawing/2014/main" id="{011C084A-EC64-4E60-AD4F-397E5239A9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6" y="368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endPara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53" name="Text Box 41">
              <a:extLst>
                <a:ext uri="{FF2B5EF4-FFF2-40B4-BE49-F238E27FC236}">
                  <a16:creationId xmlns:a16="http://schemas.microsoft.com/office/drawing/2014/main" id="{9F5DFDD8-2E5E-4988-B043-767437847B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5" y="323"/>
              <a:ext cx="4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pre</a:t>
              </a:r>
              <a:endPara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54" name="Line 42">
              <a:extLst>
                <a:ext uri="{FF2B5EF4-FFF2-40B4-BE49-F238E27FC236}">
                  <a16:creationId xmlns:a16="http://schemas.microsoft.com/office/drawing/2014/main" id="{CAF3D9AB-3044-4540-A784-A46B909089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6" y="557"/>
              <a:ext cx="163" cy="336"/>
            </a:xfrm>
            <a:prstGeom prst="line">
              <a:avLst/>
            </a:prstGeom>
            <a:noFill/>
            <a:ln w="31750">
              <a:solidFill>
                <a:srgbClr val="00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55" name="Text Box 43">
              <a:extLst>
                <a:ext uri="{FF2B5EF4-FFF2-40B4-BE49-F238E27FC236}">
                  <a16:creationId xmlns:a16="http://schemas.microsoft.com/office/drawing/2014/main" id="{34D92F32-B95C-4C7D-B4E8-512608C4CF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6" y="2474"/>
              <a:ext cx="1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endPara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56" name="Line 44">
              <a:extLst>
                <a:ext uri="{FF2B5EF4-FFF2-40B4-BE49-F238E27FC236}">
                  <a16:creationId xmlns:a16="http://schemas.microsoft.com/office/drawing/2014/main" id="{4743D5FD-EFFF-4379-98C2-121E1FDF9F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2640"/>
              <a:ext cx="192" cy="336"/>
            </a:xfrm>
            <a:prstGeom prst="line">
              <a:avLst/>
            </a:prstGeom>
            <a:noFill/>
            <a:ln w="31750">
              <a:solidFill>
                <a:srgbClr val="00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57" name="Line 45">
              <a:extLst>
                <a:ext uri="{FF2B5EF4-FFF2-40B4-BE49-F238E27FC236}">
                  <a16:creationId xmlns:a16="http://schemas.microsoft.com/office/drawing/2014/main" id="{CD198B81-FB02-40DA-A86C-2C23369863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6" y="2256"/>
              <a:ext cx="240" cy="864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58" name="Line 46">
              <a:extLst>
                <a:ext uri="{FF2B5EF4-FFF2-40B4-BE49-F238E27FC236}">
                  <a16:creationId xmlns:a16="http://schemas.microsoft.com/office/drawing/2014/main" id="{7864738A-1C65-4E75-B364-9C95528D33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1248"/>
              <a:ext cx="336" cy="1872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2559" name="Line 47">
              <a:extLst>
                <a:ext uri="{FF2B5EF4-FFF2-40B4-BE49-F238E27FC236}">
                  <a16:creationId xmlns:a16="http://schemas.microsoft.com/office/drawing/2014/main" id="{DBC952C6-4EC8-4163-9E10-4147F1C349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76" y="1248"/>
              <a:ext cx="240" cy="1872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BFF2FF-8271-48C3-AFED-83BC62799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建立中序线索二叉树</a:t>
            </a:r>
          </a:p>
        </p:txBody>
      </p:sp>
      <p:grpSp>
        <p:nvGrpSpPr>
          <p:cNvPr id="193585" name="Group 49">
            <a:extLst>
              <a:ext uri="{FF2B5EF4-FFF2-40B4-BE49-F238E27FC236}">
                <a16:creationId xmlns:a16="http://schemas.microsoft.com/office/drawing/2014/main" id="{E968AA09-80C5-42BB-87C6-E05CD901ED4B}"/>
              </a:ext>
            </a:extLst>
          </p:cNvPr>
          <p:cNvGrpSpPr>
            <a:grpSpLocks/>
          </p:cNvGrpSpPr>
          <p:nvPr/>
        </p:nvGrpSpPr>
        <p:grpSpPr bwMode="auto">
          <a:xfrm>
            <a:off x="952500" y="1260000"/>
            <a:ext cx="7239000" cy="4694237"/>
            <a:chOff x="528" y="355"/>
            <a:chExt cx="4560" cy="2957"/>
          </a:xfrm>
        </p:grpSpPr>
        <p:sp>
          <p:nvSpPr>
            <p:cNvPr id="193541" name="Rectangle 5">
              <a:extLst>
                <a:ext uri="{FF2B5EF4-FFF2-40B4-BE49-F238E27FC236}">
                  <a16:creationId xmlns:a16="http://schemas.microsoft.com/office/drawing/2014/main" id="{6C9E9317-3AF5-4E0B-B7C1-6FD8E922D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864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42" name="Text Box 6">
              <a:extLst>
                <a:ext uri="{FF2B5EF4-FFF2-40B4-BE49-F238E27FC236}">
                  <a16:creationId xmlns:a16="http://schemas.microsoft.com/office/drawing/2014/main" id="{EBFC14BC-32B2-46F7-A5C8-9DA48B414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1" y="835"/>
              <a:ext cx="94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A   0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43" name="Line 7">
              <a:extLst>
                <a:ext uri="{FF2B5EF4-FFF2-40B4-BE49-F238E27FC236}">
                  <a16:creationId xmlns:a16="http://schemas.microsoft.com/office/drawing/2014/main" id="{56D93216-3B82-46D7-83DC-1431D6828B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44" name="Line 8">
              <a:extLst>
                <a:ext uri="{FF2B5EF4-FFF2-40B4-BE49-F238E27FC236}">
                  <a16:creationId xmlns:a16="http://schemas.microsoft.com/office/drawing/2014/main" id="{F86B6834-6F78-4ED7-8888-6FFE3165B0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45" name="Line 9">
              <a:extLst>
                <a:ext uri="{FF2B5EF4-FFF2-40B4-BE49-F238E27FC236}">
                  <a16:creationId xmlns:a16="http://schemas.microsoft.com/office/drawing/2014/main" id="{8BFE3139-F35E-4970-AA91-9F6DE9456D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46" name="Line 10">
              <a:extLst>
                <a:ext uri="{FF2B5EF4-FFF2-40B4-BE49-F238E27FC236}">
                  <a16:creationId xmlns:a16="http://schemas.microsoft.com/office/drawing/2014/main" id="{7FE2448E-4B64-491C-A2B5-BA013E78FF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47" name="Rectangle 11">
              <a:extLst>
                <a:ext uri="{FF2B5EF4-FFF2-40B4-BE49-F238E27FC236}">
                  <a16:creationId xmlns:a16="http://schemas.microsoft.com/office/drawing/2014/main" id="{2AE3216D-D037-490B-91F2-96BA2D408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872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48" name="Text Box 12">
              <a:extLst>
                <a:ext uri="{FF2B5EF4-FFF2-40B4-BE49-F238E27FC236}">
                  <a16:creationId xmlns:a16="http://schemas.microsoft.com/office/drawing/2014/main" id="{5F97A953-333F-4D99-AA66-2334D33373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843"/>
              <a:ext cx="14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</a:t>
              </a: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B   0   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49" name="Line 13">
              <a:extLst>
                <a:ext uri="{FF2B5EF4-FFF2-40B4-BE49-F238E27FC236}">
                  <a16:creationId xmlns:a16="http://schemas.microsoft.com/office/drawing/2014/main" id="{95E3148C-24A2-405B-9973-15000375C3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50" name="Line 14">
              <a:extLst>
                <a:ext uri="{FF2B5EF4-FFF2-40B4-BE49-F238E27FC236}">
                  <a16:creationId xmlns:a16="http://schemas.microsoft.com/office/drawing/2014/main" id="{5EA60C8E-371D-47FD-A24E-DC1D9A5ACA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51" name="Line 15">
              <a:extLst>
                <a:ext uri="{FF2B5EF4-FFF2-40B4-BE49-F238E27FC236}">
                  <a16:creationId xmlns:a16="http://schemas.microsoft.com/office/drawing/2014/main" id="{F19FCD2A-C53F-45FC-A994-4280151F72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52" name="Line 16">
              <a:extLst>
                <a:ext uri="{FF2B5EF4-FFF2-40B4-BE49-F238E27FC236}">
                  <a16:creationId xmlns:a16="http://schemas.microsoft.com/office/drawing/2014/main" id="{9AF7C785-D6F5-4497-98C2-0CD16E78E6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53" name="Rectangle 17">
              <a:extLst>
                <a:ext uri="{FF2B5EF4-FFF2-40B4-BE49-F238E27FC236}">
                  <a16:creationId xmlns:a16="http://schemas.microsoft.com/office/drawing/2014/main" id="{53952119-AC91-4E16-A5D3-D56B3035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872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54" name="Text Box 18">
              <a:extLst>
                <a:ext uri="{FF2B5EF4-FFF2-40B4-BE49-F238E27FC236}">
                  <a16:creationId xmlns:a16="http://schemas.microsoft.com/office/drawing/2014/main" id="{FE921F22-7C39-464A-A02C-BB79AACE42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0" y="1843"/>
              <a:ext cx="16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C   0   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55" name="Line 19">
              <a:extLst>
                <a:ext uri="{FF2B5EF4-FFF2-40B4-BE49-F238E27FC236}">
                  <a16:creationId xmlns:a16="http://schemas.microsoft.com/office/drawing/2014/main" id="{A2777ECF-59AF-48B3-ADE5-482A0D244D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56" name="Line 20">
              <a:extLst>
                <a:ext uri="{FF2B5EF4-FFF2-40B4-BE49-F238E27FC236}">
                  <a16:creationId xmlns:a16="http://schemas.microsoft.com/office/drawing/2014/main" id="{F5DB3209-4D2A-44E1-B854-ABEDC038C0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57" name="Line 21">
              <a:extLst>
                <a:ext uri="{FF2B5EF4-FFF2-40B4-BE49-F238E27FC236}">
                  <a16:creationId xmlns:a16="http://schemas.microsoft.com/office/drawing/2014/main" id="{0842EC3D-E116-46F9-A350-BFAE350E92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58" name="Line 22">
              <a:extLst>
                <a:ext uri="{FF2B5EF4-FFF2-40B4-BE49-F238E27FC236}">
                  <a16:creationId xmlns:a16="http://schemas.microsoft.com/office/drawing/2014/main" id="{094E5446-7A87-4F27-8EA3-073C47900E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59" name="Rectangle 23">
              <a:extLst>
                <a:ext uri="{FF2B5EF4-FFF2-40B4-BE49-F238E27FC236}">
                  <a16:creationId xmlns:a16="http://schemas.microsoft.com/office/drawing/2014/main" id="{243AD11E-D2FC-45E6-B64B-EE9D0073F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976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60" name="Text Box 24">
              <a:extLst>
                <a:ext uri="{FF2B5EF4-FFF2-40B4-BE49-F238E27FC236}">
                  <a16:creationId xmlns:a16="http://schemas.microsoft.com/office/drawing/2014/main" id="{F40F03DA-1F57-4788-9CA8-7D243C8240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947"/>
              <a:ext cx="126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D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61" name="Line 25">
              <a:extLst>
                <a:ext uri="{FF2B5EF4-FFF2-40B4-BE49-F238E27FC236}">
                  <a16:creationId xmlns:a16="http://schemas.microsoft.com/office/drawing/2014/main" id="{CD294B72-AB43-435A-977A-418F22D283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62" name="Line 26">
              <a:extLst>
                <a:ext uri="{FF2B5EF4-FFF2-40B4-BE49-F238E27FC236}">
                  <a16:creationId xmlns:a16="http://schemas.microsoft.com/office/drawing/2014/main" id="{810EC17D-72A0-4F72-8E9B-28A18D1337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63" name="Line 27">
              <a:extLst>
                <a:ext uri="{FF2B5EF4-FFF2-40B4-BE49-F238E27FC236}">
                  <a16:creationId xmlns:a16="http://schemas.microsoft.com/office/drawing/2014/main" id="{6AD93BC1-058A-4EDF-99E0-FB32F2F5FD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64" name="Line 28">
              <a:extLst>
                <a:ext uri="{FF2B5EF4-FFF2-40B4-BE49-F238E27FC236}">
                  <a16:creationId xmlns:a16="http://schemas.microsoft.com/office/drawing/2014/main" id="{EAFB368A-2C6E-4BE8-B46C-987851305F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65" name="Rectangle 29">
              <a:extLst>
                <a:ext uri="{FF2B5EF4-FFF2-40B4-BE49-F238E27FC236}">
                  <a16:creationId xmlns:a16="http://schemas.microsoft.com/office/drawing/2014/main" id="{66444964-7B01-4D73-AF6D-ECB42270E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976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66" name="Text Box 30">
              <a:extLst>
                <a:ext uri="{FF2B5EF4-FFF2-40B4-BE49-F238E27FC236}">
                  <a16:creationId xmlns:a16="http://schemas.microsoft.com/office/drawing/2014/main" id="{09483620-0721-4B9A-89C1-F09010B95C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947"/>
              <a:ext cx="111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E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67" name="Line 31">
              <a:extLst>
                <a:ext uri="{FF2B5EF4-FFF2-40B4-BE49-F238E27FC236}">
                  <a16:creationId xmlns:a16="http://schemas.microsoft.com/office/drawing/2014/main" id="{70ED8BE8-1751-44E3-A858-430C0B39FF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68" name="Line 32">
              <a:extLst>
                <a:ext uri="{FF2B5EF4-FFF2-40B4-BE49-F238E27FC236}">
                  <a16:creationId xmlns:a16="http://schemas.microsoft.com/office/drawing/2014/main" id="{923BF460-E8CA-4C5F-9474-7D2114AA99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69" name="Line 33">
              <a:extLst>
                <a:ext uri="{FF2B5EF4-FFF2-40B4-BE49-F238E27FC236}">
                  <a16:creationId xmlns:a16="http://schemas.microsoft.com/office/drawing/2014/main" id="{127FF571-D7EE-437B-8727-292212396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70" name="Line 34">
              <a:extLst>
                <a:ext uri="{FF2B5EF4-FFF2-40B4-BE49-F238E27FC236}">
                  <a16:creationId xmlns:a16="http://schemas.microsoft.com/office/drawing/2014/main" id="{53A206AA-6EAC-4C24-8922-B7BA0F243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71" name="Line 35">
              <a:extLst>
                <a:ext uri="{FF2B5EF4-FFF2-40B4-BE49-F238E27FC236}">
                  <a16:creationId xmlns:a16="http://schemas.microsoft.com/office/drawing/2014/main" id="{1FFEA592-842C-42B0-8B51-2249E726E3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1056"/>
              <a:ext cx="672" cy="816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72" name="Line 36">
              <a:extLst>
                <a:ext uri="{FF2B5EF4-FFF2-40B4-BE49-F238E27FC236}">
                  <a16:creationId xmlns:a16="http://schemas.microsoft.com/office/drawing/2014/main" id="{1251C4CF-FDFE-4444-9B1B-E600E84B5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08"/>
              <a:ext cx="624" cy="864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73" name="Line 37">
              <a:extLst>
                <a:ext uri="{FF2B5EF4-FFF2-40B4-BE49-F238E27FC236}">
                  <a16:creationId xmlns:a16="http://schemas.microsoft.com/office/drawing/2014/main" id="{0FACA6FA-BBFF-4732-B947-29D61D760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016"/>
              <a:ext cx="288" cy="960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74" name="Line 38">
              <a:extLst>
                <a:ext uri="{FF2B5EF4-FFF2-40B4-BE49-F238E27FC236}">
                  <a16:creationId xmlns:a16="http://schemas.microsoft.com/office/drawing/2014/main" id="{58B0DD10-FE6F-4210-828D-C85AABB57A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2" y="2016"/>
              <a:ext cx="288" cy="960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75" name="Line 39">
              <a:extLst>
                <a:ext uri="{FF2B5EF4-FFF2-40B4-BE49-F238E27FC236}">
                  <a16:creationId xmlns:a16="http://schemas.microsoft.com/office/drawing/2014/main" id="{33421686-512A-4A28-B44B-0A6148E340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576"/>
              <a:ext cx="144" cy="288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76" name="Text Box 40">
              <a:extLst>
                <a:ext uri="{FF2B5EF4-FFF2-40B4-BE49-F238E27FC236}">
                  <a16:creationId xmlns:a16="http://schemas.microsoft.com/office/drawing/2014/main" id="{3C54B708-E25B-46FF-BDF1-06ACB0D05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2" y="355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endPara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77" name="Text Box 41">
              <a:extLst>
                <a:ext uri="{FF2B5EF4-FFF2-40B4-BE49-F238E27FC236}">
                  <a16:creationId xmlns:a16="http://schemas.microsoft.com/office/drawing/2014/main" id="{8D4254A7-B542-4244-97E5-AF2897A9A1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" y="2467"/>
              <a:ext cx="4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pre</a:t>
              </a:r>
            </a:p>
          </p:txBody>
        </p:sp>
        <p:sp>
          <p:nvSpPr>
            <p:cNvPr id="193578" name="Line 42">
              <a:extLst>
                <a:ext uri="{FF2B5EF4-FFF2-40B4-BE49-F238E27FC236}">
                  <a16:creationId xmlns:a16="http://schemas.microsoft.com/office/drawing/2014/main" id="{36971530-77ED-4446-90F0-0BA65E7A1E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2640"/>
              <a:ext cx="192" cy="336"/>
            </a:xfrm>
            <a:prstGeom prst="line">
              <a:avLst/>
            </a:prstGeom>
            <a:noFill/>
            <a:ln w="31750">
              <a:solidFill>
                <a:srgbClr val="00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79" name="Line 43">
              <a:extLst>
                <a:ext uri="{FF2B5EF4-FFF2-40B4-BE49-F238E27FC236}">
                  <a16:creationId xmlns:a16="http://schemas.microsoft.com/office/drawing/2014/main" id="{A645CEC0-87F6-4847-98CA-7F133B90D7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6" y="2256"/>
              <a:ext cx="240" cy="864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80" name="Line 44">
              <a:extLst>
                <a:ext uri="{FF2B5EF4-FFF2-40B4-BE49-F238E27FC236}">
                  <a16:creationId xmlns:a16="http://schemas.microsoft.com/office/drawing/2014/main" id="{073C07EA-57F9-4F15-9DDD-234ACE10AC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1248"/>
              <a:ext cx="336" cy="1872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81" name="Line 45">
              <a:extLst>
                <a:ext uri="{FF2B5EF4-FFF2-40B4-BE49-F238E27FC236}">
                  <a16:creationId xmlns:a16="http://schemas.microsoft.com/office/drawing/2014/main" id="{7D9D67B0-2948-4710-99FC-67ADCA33EE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76" y="1248"/>
              <a:ext cx="240" cy="1872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82" name="Text Box 46">
              <a:extLst>
                <a:ext uri="{FF2B5EF4-FFF2-40B4-BE49-F238E27FC236}">
                  <a16:creationId xmlns:a16="http://schemas.microsoft.com/office/drawing/2014/main" id="{0E78349F-A2AE-41FB-830C-6569ADCA4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" y="1289"/>
              <a:ext cx="1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endPara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83" name="Line 47">
              <a:extLst>
                <a:ext uri="{FF2B5EF4-FFF2-40B4-BE49-F238E27FC236}">
                  <a16:creationId xmlns:a16="http://schemas.microsoft.com/office/drawing/2014/main" id="{F504660C-D668-4473-AEDB-9D447BF0AA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1536"/>
              <a:ext cx="192" cy="336"/>
            </a:xfrm>
            <a:prstGeom prst="line">
              <a:avLst/>
            </a:prstGeom>
            <a:noFill/>
            <a:ln w="31750">
              <a:solidFill>
                <a:srgbClr val="00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3584" name="Line 48">
              <a:extLst>
                <a:ext uri="{FF2B5EF4-FFF2-40B4-BE49-F238E27FC236}">
                  <a16:creationId xmlns:a16="http://schemas.microsoft.com/office/drawing/2014/main" id="{4241DC4E-E26A-4C4D-B95D-13029788D3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0" y="2256"/>
              <a:ext cx="288" cy="864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481099-DC43-4C0F-996C-B74AC6A7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建立中序线索二叉树</a:t>
            </a:r>
          </a:p>
        </p:txBody>
      </p:sp>
      <p:grpSp>
        <p:nvGrpSpPr>
          <p:cNvPr id="194608" name="Group 48">
            <a:extLst>
              <a:ext uri="{FF2B5EF4-FFF2-40B4-BE49-F238E27FC236}">
                <a16:creationId xmlns:a16="http://schemas.microsoft.com/office/drawing/2014/main" id="{39665E68-6CDD-4811-9E5F-3CEF3040F12C}"/>
              </a:ext>
            </a:extLst>
          </p:cNvPr>
          <p:cNvGrpSpPr>
            <a:grpSpLocks/>
          </p:cNvGrpSpPr>
          <p:nvPr/>
        </p:nvGrpSpPr>
        <p:grpSpPr bwMode="auto">
          <a:xfrm>
            <a:off x="954000" y="1260000"/>
            <a:ext cx="7620000" cy="4694237"/>
            <a:chOff x="528" y="355"/>
            <a:chExt cx="4800" cy="2957"/>
          </a:xfrm>
        </p:grpSpPr>
        <p:sp>
          <p:nvSpPr>
            <p:cNvPr id="194565" name="Rectangle 5">
              <a:extLst>
                <a:ext uri="{FF2B5EF4-FFF2-40B4-BE49-F238E27FC236}">
                  <a16:creationId xmlns:a16="http://schemas.microsoft.com/office/drawing/2014/main" id="{3ECB81C5-245B-41D7-8944-7ADA0BBD6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864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66" name="Text Box 6">
              <a:extLst>
                <a:ext uri="{FF2B5EF4-FFF2-40B4-BE49-F238E27FC236}">
                  <a16:creationId xmlns:a16="http://schemas.microsoft.com/office/drawing/2014/main" id="{3070E9B1-26D8-4F10-8FBA-2811626C4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1" y="835"/>
              <a:ext cx="94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A   0</a:t>
              </a:r>
              <a:endPara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67" name="Line 7">
              <a:extLst>
                <a:ext uri="{FF2B5EF4-FFF2-40B4-BE49-F238E27FC236}">
                  <a16:creationId xmlns:a16="http://schemas.microsoft.com/office/drawing/2014/main" id="{5DFECF84-6B8D-4023-BC44-985F3BEFA7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68" name="Line 8">
              <a:extLst>
                <a:ext uri="{FF2B5EF4-FFF2-40B4-BE49-F238E27FC236}">
                  <a16:creationId xmlns:a16="http://schemas.microsoft.com/office/drawing/2014/main" id="{0FF44D8B-34F3-46C2-9F23-74F0BACDC8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69" name="Line 9">
              <a:extLst>
                <a:ext uri="{FF2B5EF4-FFF2-40B4-BE49-F238E27FC236}">
                  <a16:creationId xmlns:a16="http://schemas.microsoft.com/office/drawing/2014/main" id="{367A88DB-2B21-4C6B-B56A-9AA04CBF91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70" name="Line 10">
              <a:extLst>
                <a:ext uri="{FF2B5EF4-FFF2-40B4-BE49-F238E27FC236}">
                  <a16:creationId xmlns:a16="http://schemas.microsoft.com/office/drawing/2014/main" id="{03477EF9-9672-40DE-A63C-6C9FFECE56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864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71" name="Rectangle 11">
              <a:extLst>
                <a:ext uri="{FF2B5EF4-FFF2-40B4-BE49-F238E27FC236}">
                  <a16:creationId xmlns:a16="http://schemas.microsoft.com/office/drawing/2014/main" id="{53A8CF15-7439-49A6-81D3-6F6202C2C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872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72" name="Text Box 12">
              <a:extLst>
                <a:ext uri="{FF2B5EF4-FFF2-40B4-BE49-F238E27FC236}">
                  <a16:creationId xmlns:a16="http://schemas.microsoft.com/office/drawing/2014/main" id="{91D4EF73-2EAC-41B4-8ED3-078C9340CD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843"/>
              <a:ext cx="14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</a:t>
              </a: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B   0   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73" name="Line 13">
              <a:extLst>
                <a:ext uri="{FF2B5EF4-FFF2-40B4-BE49-F238E27FC236}">
                  <a16:creationId xmlns:a16="http://schemas.microsoft.com/office/drawing/2014/main" id="{2C0B0799-433B-42D4-8299-2ECBBA574D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74" name="Line 14">
              <a:extLst>
                <a:ext uri="{FF2B5EF4-FFF2-40B4-BE49-F238E27FC236}">
                  <a16:creationId xmlns:a16="http://schemas.microsoft.com/office/drawing/2014/main" id="{48113C75-5CA3-4EBB-BDF6-E8FD55E7C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75" name="Line 15">
              <a:extLst>
                <a:ext uri="{FF2B5EF4-FFF2-40B4-BE49-F238E27FC236}">
                  <a16:creationId xmlns:a16="http://schemas.microsoft.com/office/drawing/2014/main" id="{E03AB8B4-B98F-49B1-9137-0C985FBBD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76" name="Line 16">
              <a:extLst>
                <a:ext uri="{FF2B5EF4-FFF2-40B4-BE49-F238E27FC236}">
                  <a16:creationId xmlns:a16="http://schemas.microsoft.com/office/drawing/2014/main" id="{6707C742-F3AA-488E-9745-A2592DB309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77" name="Rectangle 17">
              <a:extLst>
                <a:ext uri="{FF2B5EF4-FFF2-40B4-BE49-F238E27FC236}">
                  <a16:creationId xmlns:a16="http://schemas.microsoft.com/office/drawing/2014/main" id="{79171B32-F120-45D0-BFB4-ACB5412AB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872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78" name="Text Box 18">
              <a:extLst>
                <a:ext uri="{FF2B5EF4-FFF2-40B4-BE49-F238E27FC236}">
                  <a16:creationId xmlns:a16="http://schemas.microsoft.com/office/drawing/2014/main" id="{00C8E74A-F658-43A7-A05E-D047A2BFF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0" y="1843"/>
              <a:ext cx="16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   C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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79" name="Line 19">
              <a:extLst>
                <a:ext uri="{FF2B5EF4-FFF2-40B4-BE49-F238E27FC236}">
                  <a16:creationId xmlns:a16="http://schemas.microsoft.com/office/drawing/2014/main" id="{39851719-D1D7-4D77-9A94-2838547D6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80" name="Line 20">
              <a:extLst>
                <a:ext uri="{FF2B5EF4-FFF2-40B4-BE49-F238E27FC236}">
                  <a16:creationId xmlns:a16="http://schemas.microsoft.com/office/drawing/2014/main" id="{67495C06-1B6F-4C7F-9673-79C00AE334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81" name="Line 21">
              <a:extLst>
                <a:ext uri="{FF2B5EF4-FFF2-40B4-BE49-F238E27FC236}">
                  <a16:creationId xmlns:a16="http://schemas.microsoft.com/office/drawing/2014/main" id="{866C1919-4FD2-4779-B8EB-EF429446B3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82" name="Line 22">
              <a:extLst>
                <a:ext uri="{FF2B5EF4-FFF2-40B4-BE49-F238E27FC236}">
                  <a16:creationId xmlns:a16="http://schemas.microsoft.com/office/drawing/2014/main" id="{2791919B-4BB9-4AF3-80D7-A1C720090E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872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83" name="Rectangle 23">
              <a:extLst>
                <a:ext uri="{FF2B5EF4-FFF2-40B4-BE49-F238E27FC236}">
                  <a16:creationId xmlns:a16="http://schemas.microsoft.com/office/drawing/2014/main" id="{62A02B09-94E6-4BE5-97E4-E4D7C91CD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976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84" name="Text Box 24">
              <a:extLst>
                <a:ext uri="{FF2B5EF4-FFF2-40B4-BE49-F238E27FC236}">
                  <a16:creationId xmlns:a16="http://schemas.microsoft.com/office/drawing/2014/main" id="{34D31D07-9339-4386-AE9E-A7CB6C954D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947"/>
              <a:ext cx="126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D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85" name="Line 25">
              <a:extLst>
                <a:ext uri="{FF2B5EF4-FFF2-40B4-BE49-F238E27FC236}">
                  <a16:creationId xmlns:a16="http://schemas.microsoft.com/office/drawing/2014/main" id="{7512DAE1-A690-4033-9BAE-CD8076DAC6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86" name="Line 26">
              <a:extLst>
                <a:ext uri="{FF2B5EF4-FFF2-40B4-BE49-F238E27FC236}">
                  <a16:creationId xmlns:a16="http://schemas.microsoft.com/office/drawing/2014/main" id="{DE63D210-8276-4220-A20E-0AF952EF9C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87" name="Line 27">
              <a:extLst>
                <a:ext uri="{FF2B5EF4-FFF2-40B4-BE49-F238E27FC236}">
                  <a16:creationId xmlns:a16="http://schemas.microsoft.com/office/drawing/2014/main" id="{FA288921-349D-42CB-9F77-73E9ECE33A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88" name="Line 28">
              <a:extLst>
                <a:ext uri="{FF2B5EF4-FFF2-40B4-BE49-F238E27FC236}">
                  <a16:creationId xmlns:a16="http://schemas.microsoft.com/office/drawing/2014/main" id="{1526612A-B878-4975-898E-EEA3FADA63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89" name="Rectangle 29">
              <a:extLst>
                <a:ext uri="{FF2B5EF4-FFF2-40B4-BE49-F238E27FC236}">
                  <a16:creationId xmlns:a16="http://schemas.microsoft.com/office/drawing/2014/main" id="{1F367874-7F10-4B94-8E75-EABAB23268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976"/>
              <a:ext cx="17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90" name="Text Box 30">
              <a:extLst>
                <a:ext uri="{FF2B5EF4-FFF2-40B4-BE49-F238E27FC236}">
                  <a16:creationId xmlns:a16="http://schemas.microsoft.com/office/drawing/2014/main" id="{EF26BF77-1838-466E-945C-1FB5EE86F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947"/>
              <a:ext cx="111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E   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  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91" name="Line 31">
              <a:extLst>
                <a:ext uri="{FF2B5EF4-FFF2-40B4-BE49-F238E27FC236}">
                  <a16:creationId xmlns:a16="http://schemas.microsoft.com/office/drawing/2014/main" id="{B8054C19-5DC2-4B07-9872-8BF6194A42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92" name="Line 32">
              <a:extLst>
                <a:ext uri="{FF2B5EF4-FFF2-40B4-BE49-F238E27FC236}">
                  <a16:creationId xmlns:a16="http://schemas.microsoft.com/office/drawing/2014/main" id="{F29CF822-0727-4351-B1C0-1F32DEFE1A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93" name="Line 33">
              <a:extLst>
                <a:ext uri="{FF2B5EF4-FFF2-40B4-BE49-F238E27FC236}">
                  <a16:creationId xmlns:a16="http://schemas.microsoft.com/office/drawing/2014/main" id="{CFC36D3C-E1F8-4394-9FEB-FC5A2BF1E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94" name="Line 34">
              <a:extLst>
                <a:ext uri="{FF2B5EF4-FFF2-40B4-BE49-F238E27FC236}">
                  <a16:creationId xmlns:a16="http://schemas.microsoft.com/office/drawing/2014/main" id="{04BBDA1B-1EE6-4B24-BD4E-8E98B7911F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976"/>
              <a:ext cx="0" cy="33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95" name="Line 35">
              <a:extLst>
                <a:ext uri="{FF2B5EF4-FFF2-40B4-BE49-F238E27FC236}">
                  <a16:creationId xmlns:a16="http://schemas.microsoft.com/office/drawing/2014/main" id="{30EC0EC6-A770-40EE-B210-2B43CCE313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1056"/>
              <a:ext cx="672" cy="816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96" name="Line 36">
              <a:extLst>
                <a:ext uri="{FF2B5EF4-FFF2-40B4-BE49-F238E27FC236}">
                  <a16:creationId xmlns:a16="http://schemas.microsoft.com/office/drawing/2014/main" id="{10D19ADB-194C-4D8A-902E-74420152C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08"/>
              <a:ext cx="624" cy="864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97" name="Line 37">
              <a:extLst>
                <a:ext uri="{FF2B5EF4-FFF2-40B4-BE49-F238E27FC236}">
                  <a16:creationId xmlns:a16="http://schemas.microsoft.com/office/drawing/2014/main" id="{B72B88C7-DE9D-4665-B538-20330275A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016"/>
              <a:ext cx="288" cy="960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98" name="Line 38">
              <a:extLst>
                <a:ext uri="{FF2B5EF4-FFF2-40B4-BE49-F238E27FC236}">
                  <a16:creationId xmlns:a16="http://schemas.microsoft.com/office/drawing/2014/main" id="{3D7DB845-E14C-4DF7-8A96-A3CE44B373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2" y="2016"/>
              <a:ext cx="288" cy="960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599" name="Line 39">
              <a:extLst>
                <a:ext uri="{FF2B5EF4-FFF2-40B4-BE49-F238E27FC236}">
                  <a16:creationId xmlns:a16="http://schemas.microsoft.com/office/drawing/2014/main" id="{7B27A656-2117-45C2-AE82-020D88AECF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576"/>
              <a:ext cx="144" cy="288"/>
            </a:xfrm>
            <a:prstGeom prst="line">
              <a:avLst/>
            </a:prstGeom>
            <a:noFill/>
            <a:ln w="31750">
              <a:solidFill>
                <a:srgbClr val="0099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600" name="Text Box 40">
              <a:extLst>
                <a:ext uri="{FF2B5EF4-FFF2-40B4-BE49-F238E27FC236}">
                  <a16:creationId xmlns:a16="http://schemas.microsoft.com/office/drawing/2014/main" id="{C7C8B219-18EA-43FE-960B-B8AB62D5D8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2" y="355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endPara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601" name="Text Box 41">
              <a:extLst>
                <a:ext uri="{FF2B5EF4-FFF2-40B4-BE49-F238E27FC236}">
                  <a16:creationId xmlns:a16="http://schemas.microsoft.com/office/drawing/2014/main" id="{04B4337C-0F01-49C5-9580-F1C72BEF07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6" y="1363"/>
              <a:ext cx="4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pre</a:t>
              </a:r>
            </a:p>
          </p:txBody>
        </p:sp>
        <p:sp>
          <p:nvSpPr>
            <p:cNvPr id="194602" name="Line 42">
              <a:extLst>
                <a:ext uri="{FF2B5EF4-FFF2-40B4-BE49-F238E27FC236}">
                  <a16:creationId xmlns:a16="http://schemas.microsoft.com/office/drawing/2014/main" id="{8661FD7E-5824-4B53-9F8E-FE5E004CE9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1536"/>
              <a:ext cx="192" cy="336"/>
            </a:xfrm>
            <a:prstGeom prst="line">
              <a:avLst/>
            </a:prstGeom>
            <a:noFill/>
            <a:ln w="31750">
              <a:solidFill>
                <a:srgbClr val="00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603" name="Line 43">
              <a:extLst>
                <a:ext uri="{FF2B5EF4-FFF2-40B4-BE49-F238E27FC236}">
                  <a16:creationId xmlns:a16="http://schemas.microsoft.com/office/drawing/2014/main" id="{03F71FF8-3CED-4CD2-98ED-715B9498AA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6" y="2256"/>
              <a:ext cx="240" cy="864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604" name="Line 44">
              <a:extLst>
                <a:ext uri="{FF2B5EF4-FFF2-40B4-BE49-F238E27FC236}">
                  <a16:creationId xmlns:a16="http://schemas.microsoft.com/office/drawing/2014/main" id="{DEB43A1E-3442-4046-9033-17828D2828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1248"/>
              <a:ext cx="336" cy="1872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605" name="Line 45">
              <a:extLst>
                <a:ext uri="{FF2B5EF4-FFF2-40B4-BE49-F238E27FC236}">
                  <a16:creationId xmlns:a16="http://schemas.microsoft.com/office/drawing/2014/main" id="{1FEC606B-9C2A-4142-99F2-89BE1D3084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76" y="1248"/>
              <a:ext cx="240" cy="1872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606" name="Line 46">
              <a:extLst>
                <a:ext uri="{FF2B5EF4-FFF2-40B4-BE49-F238E27FC236}">
                  <a16:creationId xmlns:a16="http://schemas.microsoft.com/office/drawing/2014/main" id="{A3E629C4-CA0D-4116-AD1B-FE8BFDC817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0" y="2256"/>
              <a:ext cx="288" cy="864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 type="oval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607" name="Text Box 47">
              <a:extLst>
                <a:ext uri="{FF2B5EF4-FFF2-40B4-BE49-F238E27FC236}">
                  <a16:creationId xmlns:a16="http://schemas.microsoft.com/office/drawing/2014/main" id="{D0E0AA33-5DB0-4025-AE15-23DC5541B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4" y="1075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rPr>
                <a:t>后处理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F8721E-D88A-4277-8C85-A2E12FFAD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寻找当前结点在中序下的后继</a:t>
            </a:r>
          </a:p>
        </p:txBody>
      </p:sp>
      <p:grpSp>
        <p:nvGrpSpPr>
          <p:cNvPr id="58" name="Group 40">
            <a:extLst>
              <a:ext uri="{FF2B5EF4-FFF2-40B4-BE49-F238E27FC236}">
                <a16:creationId xmlns:a16="http://schemas.microsoft.com/office/drawing/2014/main" id="{0B0E44E6-C23D-4C49-AA4B-DD5EEC8537E5}"/>
              </a:ext>
            </a:extLst>
          </p:cNvPr>
          <p:cNvGrpSpPr>
            <a:grpSpLocks/>
          </p:cNvGrpSpPr>
          <p:nvPr/>
        </p:nvGrpSpPr>
        <p:grpSpPr bwMode="auto">
          <a:xfrm>
            <a:off x="195262" y="1527175"/>
            <a:ext cx="4198938" cy="4206875"/>
            <a:chOff x="144" y="912"/>
            <a:chExt cx="2645" cy="2650"/>
          </a:xfrm>
        </p:grpSpPr>
        <p:sp>
          <p:nvSpPr>
            <p:cNvPr id="59" name="Line 2">
              <a:extLst>
                <a:ext uri="{FF2B5EF4-FFF2-40B4-BE49-F238E27FC236}">
                  <a16:creationId xmlns:a16="http://schemas.microsoft.com/office/drawing/2014/main" id="{024AB10F-C980-4688-977B-07CB873607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200"/>
              <a:ext cx="192" cy="288"/>
            </a:xfrm>
            <a:prstGeom prst="line">
              <a:avLst/>
            </a:prstGeom>
            <a:noFill/>
            <a:ln w="28575">
              <a:solidFill>
                <a:srgbClr val="00808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Line 3">
              <a:extLst>
                <a:ext uri="{FF2B5EF4-FFF2-40B4-BE49-F238E27FC236}">
                  <a16:creationId xmlns:a16="http://schemas.microsoft.com/office/drawing/2014/main" id="{C80814DC-CA48-4DC6-BECF-E9AF6BF9B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728"/>
              <a:ext cx="144" cy="288"/>
            </a:xfrm>
            <a:prstGeom prst="line">
              <a:avLst/>
            </a:prstGeom>
            <a:noFill/>
            <a:ln w="28575">
              <a:solidFill>
                <a:srgbClr val="00808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Line 4">
              <a:extLst>
                <a:ext uri="{FF2B5EF4-FFF2-40B4-BE49-F238E27FC236}">
                  <a16:creationId xmlns:a16="http://schemas.microsoft.com/office/drawing/2014/main" id="{4CCDE917-8F2C-46CB-9F0B-B7FA357EAF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304"/>
              <a:ext cx="144" cy="240"/>
            </a:xfrm>
            <a:prstGeom prst="line">
              <a:avLst/>
            </a:prstGeom>
            <a:noFill/>
            <a:ln w="28575">
              <a:solidFill>
                <a:srgbClr val="00808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5">
              <a:extLst>
                <a:ext uri="{FF2B5EF4-FFF2-40B4-BE49-F238E27FC236}">
                  <a16:creationId xmlns:a16="http://schemas.microsoft.com/office/drawing/2014/main" id="{0811FCAD-F961-4A1A-9ACC-DC4BE0DC91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2352"/>
              <a:ext cx="144" cy="240"/>
            </a:xfrm>
            <a:prstGeom prst="line">
              <a:avLst/>
            </a:prstGeom>
            <a:noFill/>
            <a:ln w="28575">
              <a:solidFill>
                <a:srgbClr val="00808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6">
              <a:extLst>
                <a:ext uri="{FF2B5EF4-FFF2-40B4-BE49-F238E27FC236}">
                  <a16:creationId xmlns:a16="http://schemas.microsoft.com/office/drawing/2014/main" id="{7FFC5B12-D3E6-43E9-A5FB-D4FBD35266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832"/>
              <a:ext cx="144" cy="336"/>
            </a:xfrm>
            <a:prstGeom prst="line">
              <a:avLst/>
            </a:prstGeom>
            <a:noFill/>
            <a:ln w="28575">
              <a:solidFill>
                <a:srgbClr val="00808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7">
              <a:extLst>
                <a:ext uri="{FF2B5EF4-FFF2-40B4-BE49-F238E27FC236}">
                  <a16:creationId xmlns:a16="http://schemas.microsoft.com/office/drawing/2014/main" id="{4E21F7CC-C12E-4F00-9E7E-CE840F55A7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1200"/>
              <a:ext cx="384" cy="288"/>
            </a:xfrm>
            <a:prstGeom prst="line">
              <a:avLst/>
            </a:prstGeom>
            <a:noFill/>
            <a:ln w="28575">
              <a:solidFill>
                <a:srgbClr val="00808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8">
              <a:extLst>
                <a:ext uri="{FF2B5EF4-FFF2-40B4-BE49-F238E27FC236}">
                  <a16:creationId xmlns:a16="http://schemas.microsoft.com/office/drawing/2014/main" id="{FB3A94A2-6F29-4196-9B15-4FF554DB91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728"/>
              <a:ext cx="240" cy="336"/>
            </a:xfrm>
            <a:prstGeom prst="line">
              <a:avLst/>
            </a:prstGeom>
            <a:noFill/>
            <a:ln w="28575">
              <a:solidFill>
                <a:srgbClr val="00808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9">
              <a:extLst>
                <a:ext uri="{FF2B5EF4-FFF2-40B4-BE49-F238E27FC236}">
                  <a16:creationId xmlns:a16="http://schemas.microsoft.com/office/drawing/2014/main" id="{B3B38988-D5C1-470B-97A9-BCBFA42C64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2304"/>
              <a:ext cx="144" cy="240"/>
            </a:xfrm>
            <a:prstGeom prst="line">
              <a:avLst/>
            </a:prstGeom>
            <a:noFill/>
            <a:ln w="28575">
              <a:solidFill>
                <a:srgbClr val="00808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10">
              <a:extLst>
                <a:ext uri="{FF2B5EF4-FFF2-40B4-BE49-F238E27FC236}">
                  <a16:creationId xmlns:a16="http://schemas.microsoft.com/office/drawing/2014/main" id="{225C3291-2D01-4910-B05E-4C8372C74E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832"/>
              <a:ext cx="192" cy="336"/>
            </a:xfrm>
            <a:prstGeom prst="line">
              <a:avLst/>
            </a:prstGeom>
            <a:noFill/>
            <a:ln w="28575">
              <a:solidFill>
                <a:srgbClr val="00808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11">
              <a:extLst>
                <a:ext uri="{FF2B5EF4-FFF2-40B4-BE49-F238E27FC236}">
                  <a16:creationId xmlns:a16="http://schemas.microsoft.com/office/drawing/2014/main" id="{F02D5E5B-5CEF-405F-BE44-EEC519F0A9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" y="1728"/>
              <a:ext cx="240" cy="288"/>
            </a:xfrm>
            <a:prstGeom prst="line">
              <a:avLst/>
            </a:prstGeom>
            <a:noFill/>
            <a:ln w="28575">
              <a:solidFill>
                <a:srgbClr val="00808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Oval 14">
              <a:extLst>
                <a:ext uri="{FF2B5EF4-FFF2-40B4-BE49-F238E27FC236}">
                  <a16:creationId xmlns:a16="http://schemas.microsoft.com/office/drawing/2014/main" id="{858A7A49-03F8-456A-9948-F3C192BF9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912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3200" b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70" name="Oval 15">
              <a:extLst>
                <a:ext uri="{FF2B5EF4-FFF2-40B4-BE49-F238E27FC236}">
                  <a16:creationId xmlns:a16="http://schemas.microsoft.com/office/drawing/2014/main" id="{9A66F2B9-22F8-4506-ADBF-463FA4A45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440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B</a:t>
              </a:r>
              <a:endParaRPr kumimoji="1" lang="en-US" altLang="zh-CN" sz="240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1" name="Oval 16">
              <a:extLst>
                <a:ext uri="{FF2B5EF4-FFF2-40B4-BE49-F238E27FC236}">
                  <a16:creationId xmlns:a16="http://schemas.microsoft.com/office/drawing/2014/main" id="{E5C5CFA9-7521-4F99-949C-83522A61F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968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D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72" name="Oval 17">
              <a:extLst>
                <a:ext uri="{FF2B5EF4-FFF2-40B4-BE49-F238E27FC236}">
                  <a16:creationId xmlns:a16="http://schemas.microsoft.com/office/drawing/2014/main" id="{26C99C77-FA25-4206-A25A-CECE43C0F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016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E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73" name="Oval 18">
              <a:extLst>
                <a:ext uri="{FF2B5EF4-FFF2-40B4-BE49-F238E27FC236}">
                  <a16:creationId xmlns:a16="http://schemas.microsoft.com/office/drawing/2014/main" id="{D4D3BA68-1946-46F8-8C74-F8372AE7C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440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C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74" name="Oval 19">
              <a:extLst>
                <a:ext uri="{FF2B5EF4-FFF2-40B4-BE49-F238E27FC236}">
                  <a16:creationId xmlns:a16="http://schemas.microsoft.com/office/drawing/2014/main" id="{4CF130B7-E7E3-4ABE-869B-8065D854C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016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r>
                <a:rPr kumimoji="1" lang="en-US" altLang="zh-CN" sz="2800" b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F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75" name="Oval 20">
              <a:extLst>
                <a:ext uri="{FF2B5EF4-FFF2-40B4-BE49-F238E27FC236}">
                  <a16:creationId xmlns:a16="http://schemas.microsoft.com/office/drawing/2014/main" id="{DF1F3219-A5EE-4AA7-AB52-89FF54F15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544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H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76" name="Oval 21">
              <a:extLst>
                <a:ext uri="{FF2B5EF4-FFF2-40B4-BE49-F238E27FC236}">
                  <a16:creationId xmlns:a16="http://schemas.microsoft.com/office/drawing/2014/main" id="{20B06C69-A736-4EC2-8E0F-FD520D54A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544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77" name="Oval 22">
              <a:extLst>
                <a:ext uri="{FF2B5EF4-FFF2-40B4-BE49-F238E27FC236}">
                  <a16:creationId xmlns:a16="http://schemas.microsoft.com/office/drawing/2014/main" id="{D548E74D-000B-45C1-967D-40B849D82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120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K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78" name="Oval 23">
              <a:extLst>
                <a:ext uri="{FF2B5EF4-FFF2-40B4-BE49-F238E27FC236}">
                  <a16:creationId xmlns:a16="http://schemas.microsoft.com/office/drawing/2014/main" id="{8DEDE459-B014-42AB-9EA6-AF2FA32A2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544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G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79" name="Oval 24">
              <a:extLst>
                <a:ext uri="{FF2B5EF4-FFF2-40B4-BE49-F238E27FC236}">
                  <a16:creationId xmlns:a16="http://schemas.microsoft.com/office/drawing/2014/main" id="{3BBB9CF6-FD66-4705-AC30-BF13E4830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" y="3120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J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80" name="Freeform 35">
              <a:extLst>
                <a:ext uri="{FF2B5EF4-FFF2-40B4-BE49-F238E27FC236}">
                  <a16:creationId xmlns:a16="http://schemas.microsoft.com/office/drawing/2014/main" id="{D658CF5B-6AF3-4DA6-8F90-5D0FE7D40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" y="1797"/>
              <a:ext cx="362" cy="616"/>
            </a:xfrm>
            <a:custGeom>
              <a:avLst/>
              <a:gdLst>
                <a:gd name="T0" fmla="*/ 0 w 362"/>
                <a:gd name="T1" fmla="*/ 522 h 616"/>
                <a:gd name="T2" fmla="*/ 90 w 362"/>
                <a:gd name="T3" fmla="*/ 612 h 616"/>
                <a:gd name="T4" fmla="*/ 249 w 362"/>
                <a:gd name="T5" fmla="*/ 544 h 616"/>
                <a:gd name="T6" fmla="*/ 317 w 362"/>
                <a:gd name="T7" fmla="*/ 272 h 616"/>
                <a:gd name="T8" fmla="*/ 362 w 362"/>
                <a:gd name="T9" fmla="*/ 0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2" h="616">
                  <a:moveTo>
                    <a:pt x="0" y="522"/>
                  </a:moveTo>
                  <a:cubicBezTo>
                    <a:pt x="24" y="565"/>
                    <a:pt x="49" y="608"/>
                    <a:pt x="90" y="612"/>
                  </a:cubicBezTo>
                  <a:cubicBezTo>
                    <a:pt x="131" y="616"/>
                    <a:pt x="211" y="601"/>
                    <a:pt x="249" y="544"/>
                  </a:cubicBezTo>
                  <a:cubicBezTo>
                    <a:pt x="287" y="487"/>
                    <a:pt x="298" y="363"/>
                    <a:pt x="317" y="272"/>
                  </a:cubicBezTo>
                  <a:cubicBezTo>
                    <a:pt x="336" y="181"/>
                    <a:pt x="355" y="45"/>
                    <a:pt x="362" y="0"/>
                  </a:cubicBezTo>
                </a:path>
              </a:pathLst>
            </a:custGeom>
            <a:noFill/>
            <a:ln w="25400" cap="flat">
              <a:solidFill>
                <a:srgbClr val="FF0000"/>
              </a:solidFill>
              <a:prstDash val="dash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Freeform 36">
              <a:extLst>
                <a:ext uri="{FF2B5EF4-FFF2-40B4-BE49-F238E27FC236}">
                  <a16:creationId xmlns:a16="http://schemas.microsoft.com/office/drawing/2014/main" id="{6D9B8F1B-827B-44C3-A744-08FF47770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7" y="1275"/>
              <a:ext cx="235" cy="1153"/>
            </a:xfrm>
            <a:custGeom>
              <a:avLst/>
              <a:gdLst>
                <a:gd name="T0" fmla="*/ 0 w 235"/>
                <a:gd name="T1" fmla="*/ 1066 h 1153"/>
                <a:gd name="T2" fmla="*/ 45 w 235"/>
                <a:gd name="T3" fmla="*/ 1134 h 1153"/>
                <a:gd name="T4" fmla="*/ 159 w 235"/>
                <a:gd name="T5" fmla="*/ 1134 h 1153"/>
                <a:gd name="T6" fmla="*/ 227 w 235"/>
                <a:gd name="T7" fmla="*/ 1021 h 1153"/>
                <a:gd name="T8" fmla="*/ 204 w 235"/>
                <a:gd name="T9" fmla="*/ 726 h 1153"/>
                <a:gd name="T10" fmla="*/ 91 w 235"/>
                <a:gd name="T11" fmla="*/ 386 h 1153"/>
                <a:gd name="T12" fmla="*/ 91 w 235"/>
                <a:gd name="T13" fmla="*/ 0 h 1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1153">
                  <a:moveTo>
                    <a:pt x="0" y="1066"/>
                  </a:moveTo>
                  <a:cubicBezTo>
                    <a:pt x="9" y="1094"/>
                    <a:pt x="19" y="1123"/>
                    <a:pt x="45" y="1134"/>
                  </a:cubicBezTo>
                  <a:cubicBezTo>
                    <a:pt x="71" y="1145"/>
                    <a:pt x="129" y="1153"/>
                    <a:pt x="159" y="1134"/>
                  </a:cubicBezTo>
                  <a:cubicBezTo>
                    <a:pt x="189" y="1115"/>
                    <a:pt x="219" y="1089"/>
                    <a:pt x="227" y="1021"/>
                  </a:cubicBezTo>
                  <a:cubicBezTo>
                    <a:pt x="235" y="953"/>
                    <a:pt x="227" y="832"/>
                    <a:pt x="204" y="726"/>
                  </a:cubicBezTo>
                  <a:cubicBezTo>
                    <a:pt x="181" y="620"/>
                    <a:pt x="110" y="507"/>
                    <a:pt x="91" y="386"/>
                  </a:cubicBezTo>
                  <a:cubicBezTo>
                    <a:pt x="72" y="265"/>
                    <a:pt x="91" y="64"/>
                    <a:pt x="91" y="0"/>
                  </a:cubicBezTo>
                </a:path>
              </a:pathLst>
            </a:custGeom>
            <a:noFill/>
            <a:ln w="25400" cap="flat">
              <a:solidFill>
                <a:srgbClr val="FF0000"/>
              </a:solidFill>
              <a:prstDash val="dash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Freeform 37">
              <a:extLst>
                <a:ext uri="{FF2B5EF4-FFF2-40B4-BE49-F238E27FC236}">
                  <a16:creationId xmlns:a16="http://schemas.microsoft.com/office/drawing/2014/main" id="{A1AB38C9-006E-4940-8F48-B42436494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" y="2364"/>
              <a:ext cx="390" cy="1161"/>
            </a:xfrm>
            <a:custGeom>
              <a:avLst/>
              <a:gdLst>
                <a:gd name="T0" fmla="*/ 122 w 390"/>
                <a:gd name="T1" fmla="*/ 1089 h 1161"/>
                <a:gd name="T2" fmla="*/ 212 w 390"/>
                <a:gd name="T3" fmla="*/ 1157 h 1161"/>
                <a:gd name="T4" fmla="*/ 349 w 390"/>
                <a:gd name="T5" fmla="*/ 1111 h 1161"/>
                <a:gd name="T6" fmla="*/ 371 w 390"/>
                <a:gd name="T7" fmla="*/ 907 h 1161"/>
                <a:gd name="T8" fmla="*/ 235 w 390"/>
                <a:gd name="T9" fmla="*/ 635 h 1161"/>
                <a:gd name="T10" fmla="*/ 76 w 390"/>
                <a:gd name="T11" fmla="*/ 363 h 1161"/>
                <a:gd name="T12" fmla="*/ 8 w 390"/>
                <a:gd name="T13" fmla="*/ 136 h 1161"/>
                <a:gd name="T14" fmla="*/ 31 w 390"/>
                <a:gd name="T15" fmla="*/ 0 h 1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0" h="1161">
                  <a:moveTo>
                    <a:pt x="122" y="1089"/>
                  </a:moveTo>
                  <a:cubicBezTo>
                    <a:pt x="148" y="1121"/>
                    <a:pt x="174" y="1153"/>
                    <a:pt x="212" y="1157"/>
                  </a:cubicBezTo>
                  <a:cubicBezTo>
                    <a:pt x="250" y="1161"/>
                    <a:pt x="322" y="1153"/>
                    <a:pt x="349" y="1111"/>
                  </a:cubicBezTo>
                  <a:cubicBezTo>
                    <a:pt x="376" y="1069"/>
                    <a:pt x="390" y="986"/>
                    <a:pt x="371" y="907"/>
                  </a:cubicBezTo>
                  <a:cubicBezTo>
                    <a:pt x="352" y="828"/>
                    <a:pt x="284" y="726"/>
                    <a:pt x="235" y="635"/>
                  </a:cubicBezTo>
                  <a:cubicBezTo>
                    <a:pt x="186" y="544"/>
                    <a:pt x="114" y="446"/>
                    <a:pt x="76" y="363"/>
                  </a:cubicBezTo>
                  <a:cubicBezTo>
                    <a:pt x="38" y="280"/>
                    <a:pt x="16" y="196"/>
                    <a:pt x="8" y="136"/>
                  </a:cubicBezTo>
                  <a:cubicBezTo>
                    <a:pt x="0" y="76"/>
                    <a:pt x="27" y="23"/>
                    <a:pt x="31" y="0"/>
                  </a:cubicBezTo>
                </a:path>
              </a:pathLst>
            </a:custGeom>
            <a:noFill/>
            <a:ln w="25400" cap="flat">
              <a:solidFill>
                <a:srgbClr val="FF0000"/>
              </a:solidFill>
              <a:prstDash val="dash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38">
              <a:extLst>
                <a:ext uri="{FF2B5EF4-FFF2-40B4-BE49-F238E27FC236}">
                  <a16:creationId xmlns:a16="http://schemas.microsoft.com/office/drawing/2014/main" id="{9CBCD7E6-736C-48DB-A18A-2A46F6047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7" y="2364"/>
              <a:ext cx="408" cy="1198"/>
            </a:xfrm>
            <a:custGeom>
              <a:avLst/>
              <a:gdLst>
                <a:gd name="T0" fmla="*/ 79 w 408"/>
                <a:gd name="T1" fmla="*/ 1089 h 1198"/>
                <a:gd name="T2" fmla="*/ 170 w 408"/>
                <a:gd name="T3" fmla="*/ 1179 h 1198"/>
                <a:gd name="T4" fmla="*/ 329 w 408"/>
                <a:gd name="T5" fmla="*/ 1179 h 1198"/>
                <a:gd name="T6" fmla="*/ 397 w 408"/>
                <a:gd name="T7" fmla="*/ 1066 h 1198"/>
                <a:gd name="T8" fmla="*/ 351 w 408"/>
                <a:gd name="T9" fmla="*/ 930 h 1198"/>
                <a:gd name="T10" fmla="*/ 57 w 408"/>
                <a:gd name="T11" fmla="*/ 499 h 1198"/>
                <a:gd name="T12" fmla="*/ 11 w 408"/>
                <a:gd name="T13" fmla="*/ 136 h 1198"/>
                <a:gd name="T14" fmla="*/ 11 w 408"/>
                <a:gd name="T15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8" h="1198">
                  <a:moveTo>
                    <a:pt x="79" y="1089"/>
                  </a:moveTo>
                  <a:cubicBezTo>
                    <a:pt x="103" y="1126"/>
                    <a:pt x="128" y="1164"/>
                    <a:pt x="170" y="1179"/>
                  </a:cubicBezTo>
                  <a:cubicBezTo>
                    <a:pt x="212" y="1194"/>
                    <a:pt x="291" y="1198"/>
                    <a:pt x="329" y="1179"/>
                  </a:cubicBezTo>
                  <a:cubicBezTo>
                    <a:pt x="367" y="1160"/>
                    <a:pt x="393" y="1107"/>
                    <a:pt x="397" y="1066"/>
                  </a:cubicBezTo>
                  <a:cubicBezTo>
                    <a:pt x="401" y="1025"/>
                    <a:pt x="408" y="1024"/>
                    <a:pt x="351" y="930"/>
                  </a:cubicBezTo>
                  <a:cubicBezTo>
                    <a:pt x="294" y="836"/>
                    <a:pt x="114" y="631"/>
                    <a:pt x="57" y="499"/>
                  </a:cubicBezTo>
                  <a:cubicBezTo>
                    <a:pt x="0" y="367"/>
                    <a:pt x="19" y="219"/>
                    <a:pt x="11" y="136"/>
                  </a:cubicBezTo>
                  <a:cubicBezTo>
                    <a:pt x="3" y="53"/>
                    <a:pt x="11" y="23"/>
                    <a:pt x="11" y="0"/>
                  </a:cubicBez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Freeform 39">
              <a:extLst>
                <a:ext uri="{FF2B5EF4-FFF2-40B4-BE49-F238E27FC236}">
                  <a16:creationId xmlns:a16="http://schemas.microsoft.com/office/drawing/2014/main" id="{6BD41FA7-BDD4-44A0-A13A-89E6EECA3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" y="2863"/>
              <a:ext cx="385" cy="132"/>
            </a:xfrm>
            <a:custGeom>
              <a:avLst/>
              <a:gdLst>
                <a:gd name="T0" fmla="*/ 0 w 385"/>
                <a:gd name="T1" fmla="*/ 0 h 132"/>
                <a:gd name="T2" fmla="*/ 113 w 385"/>
                <a:gd name="T3" fmla="*/ 113 h 132"/>
                <a:gd name="T4" fmla="*/ 295 w 385"/>
                <a:gd name="T5" fmla="*/ 113 h 132"/>
                <a:gd name="T6" fmla="*/ 385 w 385"/>
                <a:gd name="T7" fmla="*/ 91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5" h="132">
                  <a:moveTo>
                    <a:pt x="0" y="0"/>
                  </a:moveTo>
                  <a:cubicBezTo>
                    <a:pt x="32" y="47"/>
                    <a:pt x="64" y="94"/>
                    <a:pt x="113" y="113"/>
                  </a:cubicBezTo>
                  <a:cubicBezTo>
                    <a:pt x="162" y="132"/>
                    <a:pt x="250" y="117"/>
                    <a:pt x="295" y="113"/>
                  </a:cubicBezTo>
                  <a:cubicBezTo>
                    <a:pt x="340" y="109"/>
                    <a:pt x="370" y="95"/>
                    <a:pt x="385" y="91"/>
                  </a:cubicBezTo>
                </a:path>
              </a:pathLst>
            </a:custGeom>
            <a:noFill/>
            <a:ln w="25400" cap="flat">
              <a:solidFill>
                <a:srgbClr val="FF0000"/>
              </a:solidFill>
              <a:prstDash val="dash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7" name="Text Box 12">
            <a:extLst>
              <a:ext uri="{FF2B5EF4-FFF2-40B4-BE49-F238E27FC236}">
                <a16:creationId xmlns:a16="http://schemas.microsoft.com/office/drawing/2014/main" id="{B494816F-834D-4323-894A-D36A673D3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334040"/>
            <a:ext cx="4572322" cy="32476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b="0" dirty="0">
                <a:solidFill>
                  <a:srgbClr val="0000FF"/>
                </a:solidFill>
                <a:latin typeface="+mn-lt"/>
                <a:ea typeface="+mn-ea"/>
              </a:rPr>
              <a:t>if (current-&gt;</a:t>
            </a:r>
            <a:r>
              <a:rPr kumimoji="1" lang="en-US" altLang="zh-CN" b="0" dirty="0" err="1">
                <a:solidFill>
                  <a:srgbClr val="0000FF"/>
                </a:solidFill>
                <a:latin typeface="+mn-lt"/>
                <a:ea typeface="+mn-ea"/>
                <a:sym typeface="Symbol" panose="05050102010706020507" pitchFamily="18" charset="2"/>
              </a:rPr>
              <a:t>rtag</a:t>
            </a:r>
            <a:r>
              <a:rPr kumimoji="1" lang="en-US" altLang="zh-CN" b="0" dirty="0">
                <a:solidFill>
                  <a:srgbClr val="0000FF"/>
                </a:solidFill>
                <a:latin typeface="+mn-lt"/>
                <a:ea typeface="+mn-ea"/>
                <a:sym typeface="Symbol" panose="05050102010706020507" pitchFamily="18" charset="2"/>
              </a:rPr>
              <a:t>==1)</a:t>
            </a:r>
          </a:p>
          <a:p>
            <a:pPr>
              <a:lnSpc>
                <a:spcPct val="150000"/>
              </a:lnSpc>
            </a:pPr>
            <a:r>
              <a:rPr kumimoji="1" lang="en-US" altLang="zh-CN" b="0" dirty="0">
                <a:latin typeface="+mn-lt"/>
                <a:ea typeface="+mn-ea"/>
                <a:sym typeface="Symbol" panose="05050102010706020507" pitchFamily="18" charset="2"/>
              </a:rPr>
              <a:t>    </a:t>
            </a:r>
            <a:r>
              <a:rPr kumimoji="1" lang="zh-CN" altLang="en-US" b="0" dirty="0">
                <a:solidFill>
                  <a:srgbClr val="0000FF"/>
                </a:solidFill>
                <a:latin typeface="+mn-lt"/>
                <a:ea typeface="+mn-ea"/>
                <a:sym typeface="Symbol" panose="05050102010706020507" pitchFamily="18" charset="2"/>
              </a:rPr>
              <a:t>后继为</a:t>
            </a:r>
            <a:r>
              <a:rPr kumimoji="1" lang="en-US" altLang="zh-CN" b="0" dirty="0">
                <a:solidFill>
                  <a:srgbClr val="0000FF"/>
                </a:solidFill>
                <a:latin typeface="+mn-lt"/>
                <a:ea typeface="+mn-ea"/>
                <a:sym typeface="Symbol" panose="05050102010706020507" pitchFamily="18" charset="2"/>
              </a:rPr>
              <a:t>current-&gt;</a:t>
            </a:r>
            <a:r>
              <a:rPr kumimoji="1" lang="en-US" altLang="zh-CN" b="0" dirty="0" err="1">
                <a:solidFill>
                  <a:srgbClr val="0000FF"/>
                </a:solidFill>
                <a:latin typeface="+mn-lt"/>
                <a:ea typeface="+mn-ea"/>
                <a:sym typeface="Symbol" panose="05050102010706020507" pitchFamily="18" charset="2"/>
              </a:rPr>
              <a:t>rchild</a:t>
            </a:r>
            <a:r>
              <a:rPr kumimoji="1" lang="zh-CN" altLang="en-US" b="0" dirty="0">
                <a:solidFill>
                  <a:srgbClr val="0000FF"/>
                </a:solidFill>
                <a:latin typeface="+mn-lt"/>
                <a:ea typeface="+mn-ea"/>
                <a:sym typeface="Symbol" panose="05050102010706020507" pitchFamily="18" charset="2"/>
              </a:rPr>
              <a:t>；</a:t>
            </a:r>
            <a:endParaRPr kumimoji="1" lang="en-US" altLang="zh-CN" b="0" dirty="0">
              <a:solidFill>
                <a:srgbClr val="0000FF"/>
              </a:solidFill>
              <a:latin typeface="+mn-lt"/>
              <a:ea typeface="+mn-ea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kumimoji="1" lang="en-US" altLang="zh-CN" b="0" dirty="0">
                <a:solidFill>
                  <a:srgbClr val="0000FF"/>
                </a:solidFill>
                <a:latin typeface="+mn-lt"/>
                <a:ea typeface="+mn-ea"/>
                <a:sym typeface="Symbol" panose="05050102010706020507" pitchFamily="18" charset="2"/>
              </a:rPr>
              <a:t>else</a:t>
            </a:r>
            <a:r>
              <a:rPr kumimoji="1" lang="en-US" altLang="zh-CN" b="0" dirty="0">
                <a:latin typeface="+mn-lt"/>
                <a:ea typeface="+mn-ea"/>
                <a:sym typeface="Symbol" panose="05050102010706020507" pitchFamily="18" charset="2"/>
              </a:rPr>
              <a:t>   </a:t>
            </a:r>
            <a:r>
              <a:rPr kumimoji="1" lang="en-US" altLang="zh-CN" b="0" dirty="0">
                <a:solidFill>
                  <a:srgbClr val="00B050"/>
                </a:solidFill>
                <a:latin typeface="+mn-lt"/>
                <a:ea typeface="+mn-ea"/>
                <a:sym typeface="Symbol" panose="05050102010706020507" pitchFamily="18" charset="2"/>
              </a:rPr>
              <a:t>// current</a:t>
            </a:r>
            <a:r>
              <a:rPr kumimoji="1" lang="en-US" altLang="zh-CN" b="0" dirty="0">
                <a:solidFill>
                  <a:srgbClr val="00B050"/>
                </a:solidFill>
                <a:latin typeface="+mn-lt"/>
                <a:ea typeface="+mn-ea"/>
              </a:rPr>
              <a:t>-&gt;</a:t>
            </a:r>
            <a:r>
              <a:rPr kumimoji="1" lang="en-US" altLang="zh-CN" b="0" dirty="0" err="1">
                <a:solidFill>
                  <a:srgbClr val="00B050"/>
                </a:solidFill>
                <a:latin typeface="+mn-lt"/>
                <a:ea typeface="+mn-ea"/>
                <a:sym typeface="Symbol" panose="05050102010706020507" pitchFamily="18" charset="2"/>
              </a:rPr>
              <a:t>rtag</a:t>
            </a:r>
            <a:r>
              <a:rPr kumimoji="1" lang="en-US" altLang="zh-CN" b="0" dirty="0">
                <a:solidFill>
                  <a:srgbClr val="00B050"/>
                </a:solidFill>
                <a:latin typeface="+mn-lt"/>
                <a:ea typeface="+mn-ea"/>
                <a:sym typeface="Symbol" panose="05050102010706020507" pitchFamily="18" charset="2"/>
              </a:rPr>
              <a:t>==0</a:t>
            </a:r>
          </a:p>
          <a:p>
            <a:pPr>
              <a:lnSpc>
                <a:spcPct val="150000"/>
              </a:lnSpc>
            </a:pPr>
            <a:r>
              <a:rPr kumimoji="1" lang="en-US" altLang="zh-CN" b="0" dirty="0">
                <a:latin typeface="+mn-lt"/>
                <a:ea typeface="+mn-ea"/>
                <a:sym typeface="Symbol" panose="05050102010706020507" pitchFamily="18" charset="2"/>
              </a:rPr>
              <a:t>    </a:t>
            </a:r>
            <a:r>
              <a:rPr kumimoji="1" lang="zh-CN" altLang="en-US" b="0" dirty="0">
                <a:solidFill>
                  <a:srgbClr val="0000FF"/>
                </a:solidFill>
                <a:latin typeface="+mn-lt"/>
                <a:ea typeface="+mn-ea"/>
                <a:sym typeface="Symbol" panose="05050102010706020507" pitchFamily="18" charset="2"/>
              </a:rPr>
              <a:t>后继为当前结点右子树在中序下的</a:t>
            </a:r>
            <a:r>
              <a:rPr kumimoji="1" lang="zh-CN" altLang="en-US" dirty="0">
                <a:solidFill>
                  <a:srgbClr val="0000FF"/>
                </a:solidFill>
                <a:latin typeface="+mn-lt"/>
                <a:ea typeface="+mn-ea"/>
                <a:sym typeface="Symbol" panose="05050102010706020507" pitchFamily="18" charset="2"/>
              </a:rPr>
              <a:t>第一个结点</a:t>
            </a:r>
            <a:r>
              <a:rPr kumimoji="1" lang="zh-CN" altLang="en-US" b="0" dirty="0">
                <a:solidFill>
                  <a:srgbClr val="0000FF"/>
                </a:solidFill>
                <a:latin typeface="+mn-lt"/>
                <a:ea typeface="+mn-ea"/>
                <a:sym typeface="Symbol" panose="05050102010706020507" pitchFamily="18" charset="2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130943570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E028C2-10D3-4B87-A22A-4E0A786D9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线索二叉树的中序遍历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60221F-4019-4328-9964-5C32803C6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" y="744504"/>
            <a:ext cx="9036497" cy="6113495"/>
          </a:xfrm>
        </p:spPr>
        <p:txBody>
          <a:bodyPr/>
          <a:lstStyle/>
          <a:p>
            <a:pPr>
              <a:buNone/>
            </a:pPr>
            <a:r>
              <a:rPr kumimoji="1"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ThreadNode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* </a:t>
            </a:r>
            <a:r>
              <a:rPr kumimoji="1"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First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(</a:t>
            </a:r>
            <a:r>
              <a:rPr kumimoji="1"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ThreadNode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* t)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{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求线索树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t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中序第一个结点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while (t</a:t>
            </a:r>
            <a:r>
              <a:rPr kumimoji="1" lang="en-US" altLang="zh-CN" sz="2400" b="0" dirty="0">
                <a:solidFill>
                  <a:srgbClr val="0000FF"/>
                </a:solidFill>
                <a:latin typeface="Courier New" panose="02070309020205020404" pitchFamily="49" charset="0"/>
                <a:ea typeface="隶书" panose="02010509060101010101" pitchFamily="49" charset="-122"/>
              </a:rPr>
              <a:t>-&gt;</a:t>
            </a:r>
            <a:r>
              <a:rPr kumimoji="1"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ltag</a:t>
            </a:r>
            <a:r>
              <a:rPr kumimoji="1" lang="en-US" altLang="zh-CN" sz="2400" b="0" i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==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0) t = t</a:t>
            </a:r>
            <a:r>
              <a:rPr kumimoji="1" lang="en-US" altLang="zh-CN" sz="2400" b="0" dirty="0">
                <a:solidFill>
                  <a:srgbClr val="0000FF"/>
                </a:solidFill>
                <a:latin typeface="Courier New" panose="02070309020205020404" pitchFamily="49" charset="0"/>
                <a:ea typeface="隶书" panose="02010509060101010101" pitchFamily="49" charset="-122"/>
              </a:rPr>
              <a:t>-&gt;</a:t>
            </a:r>
            <a:r>
              <a:rPr kumimoji="1"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lchild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最左下的结点</a:t>
            </a:r>
            <a:endParaRPr kumimoji="1" lang="en-US" altLang="zh-CN" sz="2400" b="0" dirty="0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return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t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ThreadNode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* </a:t>
            </a:r>
            <a:r>
              <a:rPr kumimoji="1"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Next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kumimoji="1"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ThreadNode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* p) 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{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返回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p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的中序后继结点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if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(p</a:t>
            </a:r>
            <a:r>
              <a:rPr kumimoji="1" lang="en-US" altLang="zh-CN" sz="2400" b="0" dirty="0">
                <a:solidFill>
                  <a:srgbClr val="0000FF"/>
                </a:solidFill>
                <a:latin typeface="Courier New" panose="02070309020205020404" pitchFamily="49" charset="0"/>
                <a:ea typeface="隶书" panose="02010509060101010101" pitchFamily="49" charset="-122"/>
              </a:rPr>
              <a:t>-&gt;</a:t>
            </a:r>
            <a:r>
              <a:rPr kumimoji="1"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rtag</a:t>
            </a:r>
            <a:r>
              <a:rPr kumimoji="1" lang="en-US" altLang="zh-CN" sz="2400" b="0" i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==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0)  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return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kumimoji="1"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First(p</a:t>
            </a:r>
            <a:r>
              <a:rPr kumimoji="1" lang="en-US" altLang="zh-CN" sz="2400" b="0" dirty="0">
                <a:solidFill>
                  <a:srgbClr val="FF0000"/>
                </a:solidFill>
                <a:latin typeface="Courier New" panose="02070309020205020404" pitchFamily="49" charset="0"/>
                <a:ea typeface="隶书" panose="02010509060101010101" pitchFamily="49" charset="-122"/>
              </a:rPr>
              <a:t>-&gt;</a:t>
            </a:r>
            <a:r>
              <a:rPr kumimoji="1" lang="en-US" altLang="zh-CN" sz="2400" b="0" dirty="0" err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rchild</a:t>
            </a:r>
            <a:r>
              <a:rPr kumimoji="1"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</a:t>
            </a:r>
            <a:r>
              <a:rPr kumimoji="1"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else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return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p</a:t>
            </a:r>
            <a:r>
              <a:rPr kumimoji="1" lang="en-US" altLang="zh-CN" sz="2400" b="0" dirty="0">
                <a:solidFill>
                  <a:srgbClr val="0000FF"/>
                </a:solidFill>
                <a:latin typeface="Courier New" panose="02070309020205020404" pitchFamily="49" charset="0"/>
                <a:ea typeface="隶书" panose="02010509060101010101" pitchFamily="49" charset="-122"/>
              </a:rPr>
              <a:t>-&gt;</a:t>
            </a:r>
            <a:r>
              <a:rPr kumimoji="1"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rchild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void </a:t>
            </a:r>
            <a:r>
              <a:rPr kumimoji="1" lang="en-US" altLang="zh-CN" sz="2400" b="0" dirty="0" err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InOrder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(</a:t>
            </a:r>
            <a:r>
              <a:rPr kumimoji="1"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ThreadNode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* t) 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对线索二叉树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t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进行中序遍历</a:t>
            </a:r>
            <a:endParaRPr kumimoji="1" lang="en-US" altLang="zh-CN" sz="2400" dirty="0">
              <a:solidFill>
                <a:srgbClr val="00B05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for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(</a:t>
            </a:r>
            <a:r>
              <a:rPr kumimoji="1"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ThreadNode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* p=</a:t>
            </a:r>
            <a:r>
              <a:rPr kumimoji="1"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First(t)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p!=NULL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 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p=</a:t>
            </a:r>
            <a:r>
              <a:rPr kumimoji="1"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Next(p)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 </a:t>
            </a:r>
            <a:r>
              <a:rPr kumimoji="1"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cout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&lt;&lt;p</a:t>
            </a:r>
            <a:r>
              <a:rPr kumimoji="1" lang="en-US" altLang="zh-CN" sz="2400" b="0" dirty="0">
                <a:solidFill>
                  <a:srgbClr val="0000FF"/>
                </a:solidFill>
                <a:latin typeface="Courier New" panose="02070309020205020404" pitchFamily="49" charset="0"/>
                <a:ea typeface="隶书" panose="02010509060101010101" pitchFamily="49" charset="-122"/>
              </a:rPr>
              <a:t>-&gt;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data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  <a:endParaRPr kumimoji="1" lang="en-US" altLang="zh-CN" sz="2400" b="0" dirty="0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639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DE1966-243E-470B-AAFC-CA92D67D3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寻找当前结点在中序下的前驱</a:t>
            </a:r>
          </a:p>
        </p:txBody>
      </p:sp>
      <p:grpSp>
        <p:nvGrpSpPr>
          <p:cNvPr id="3" name="Group 45">
            <a:extLst>
              <a:ext uri="{FF2B5EF4-FFF2-40B4-BE49-F238E27FC236}">
                <a16:creationId xmlns:a16="http://schemas.microsoft.com/office/drawing/2014/main" id="{660E621B-3854-4CD0-9EE8-2CA1442B80EC}"/>
              </a:ext>
            </a:extLst>
          </p:cNvPr>
          <p:cNvGrpSpPr>
            <a:grpSpLocks/>
          </p:cNvGrpSpPr>
          <p:nvPr/>
        </p:nvGrpSpPr>
        <p:grpSpPr bwMode="auto">
          <a:xfrm>
            <a:off x="177006" y="1129553"/>
            <a:ext cx="4090988" cy="5065712"/>
            <a:chOff x="90" y="858"/>
            <a:chExt cx="2577" cy="3191"/>
          </a:xfrm>
        </p:grpSpPr>
        <p:sp>
          <p:nvSpPr>
            <p:cNvPr id="4" name="Line 5">
              <a:extLst>
                <a:ext uri="{FF2B5EF4-FFF2-40B4-BE49-F238E27FC236}">
                  <a16:creationId xmlns:a16="http://schemas.microsoft.com/office/drawing/2014/main" id="{F4F1D12D-3CF5-4CA7-BA4F-6AF7038687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1" y="1146"/>
              <a:ext cx="192" cy="288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Line 6">
              <a:extLst>
                <a:ext uri="{FF2B5EF4-FFF2-40B4-BE49-F238E27FC236}">
                  <a16:creationId xmlns:a16="http://schemas.microsoft.com/office/drawing/2014/main" id="{68947785-9693-4DA2-AAA0-F4B97A022A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7" y="1674"/>
              <a:ext cx="144" cy="288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7">
              <a:extLst>
                <a:ext uri="{FF2B5EF4-FFF2-40B4-BE49-F238E27FC236}">
                  <a16:creationId xmlns:a16="http://schemas.microsoft.com/office/drawing/2014/main" id="{868467E9-E34E-4462-A45B-21E0D2DF8E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3" y="2250"/>
              <a:ext cx="144" cy="240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71F03411-F5D0-4EBB-AB97-2F0CEE142E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7" y="2298"/>
              <a:ext cx="144" cy="240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6869BA5C-F89F-4D3C-8A0D-2A370ED480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7" y="2778"/>
              <a:ext cx="144" cy="336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1DE70653-A9D9-4A3E-BA7E-B02277F3B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7" y="1674"/>
              <a:ext cx="240" cy="336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94ADB60F-1A1B-4C32-AC3E-DDAB7D671B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5" y="2250"/>
              <a:ext cx="144" cy="240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3832D09C-52A9-4AF6-95D2-54D295AE80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5" y="2778"/>
              <a:ext cx="192" cy="336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02F5D4F9-5F56-42F9-B9D1-2F729DD121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5" y="1674"/>
              <a:ext cx="240" cy="288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BE06B578-A4C2-4DC2-8D09-B07E39B98D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7" y="3402"/>
              <a:ext cx="144" cy="288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21">
              <a:extLst>
                <a:ext uri="{FF2B5EF4-FFF2-40B4-BE49-F238E27FC236}">
                  <a16:creationId xmlns:a16="http://schemas.microsoft.com/office/drawing/2014/main" id="{977D2169-0CDF-4083-B253-7AEDA0882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" y="858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15" name="Oval 22">
              <a:extLst>
                <a:ext uri="{FF2B5EF4-FFF2-40B4-BE49-F238E27FC236}">
                  <a16:creationId xmlns:a16="http://schemas.microsoft.com/office/drawing/2014/main" id="{4366D811-1620-4A91-B098-CE578F829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" y="1386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B</a:t>
              </a:r>
              <a:endParaRPr kumimoji="1" lang="en-US" altLang="zh-CN" sz="240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6" name="Oval 23">
              <a:extLst>
                <a:ext uri="{FF2B5EF4-FFF2-40B4-BE49-F238E27FC236}">
                  <a16:creationId xmlns:a16="http://schemas.microsoft.com/office/drawing/2014/main" id="{39A46BE6-76B4-4AC8-8276-B142C785A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" y="1914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D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17" name="Oval 24">
              <a:extLst>
                <a:ext uri="{FF2B5EF4-FFF2-40B4-BE49-F238E27FC236}">
                  <a16:creationId xmlns:a16="http://schemas.microsoft.com/office/drawing/2014/main" id="{2607DD6D-2A76-4ADF-88F4-334B68CE0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" y="1962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E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18" name="Oval 25">
              <a:extLst>
                <a:ext uri="{FF2B5EF4-FFF2-40B4-BE49-F238E27FC236}">
                  <a16:creationId xmlns:a16="http://schemas.microsoft.com/office/drawing/2014/main" id="{E4AE9E10-D3DA-4D84-8DC0-0C662EC76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7" y="1386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C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19" name="Oval 26">
              <a:extLst>
                <a:ext uri="{FF2B5EF4-FFF2-40B4-BE49-F238E27FC236}">
                  <a16:creationId xmlns:a16="http://schemas.microsoft.com/office/drawing/2014/main" id="{644B3FD1-1988-4E6A-82E7-1306FD355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1962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r>
                <a:rPr kumimoji="1"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F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20" name="Oval 27">
              <a:extLst>
                <a:ext uri="{FF2B5EF4-FFF2-40B4-BE49-F238E27FC236}">
                  <a16:creationId xmlns:a16="http://schemas.microsoft.com/office/drawing/2014/main" id="{E7E4D933-6FE7-482D-B3CC-3A81F6D0C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7" y="2490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H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F3195702-7868-4798-B998-FA5E65F47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1" y="2490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22" name="Oval 29">
              <a:extLst>
                <a:ext uri="{FF2B5EF4-FFF2-40B4-BE49-F238E27FC236}">
                  <a16:creationId xmlns:a16="http://schemas.microsoft.com/office/drawing/2014/main" id="{A0C49CFC-3E35-4349-8538-2EB7478B8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3066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K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23" name="Oval 30">
              <a:extLst>
                <a:ext uri="{FF2B5EF4-FFF2-40B4-BE49-F238E27FC236}">
                  <a16:creationId xmlns:a16="http://schemas.microsoft.com/office/drawing/2014/main" id="{B249C8B1-CAEA-494F-B54D-3C35FD3EA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" y="2490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G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24" name="Oval 31">
              <a:extLst>
                <a:ext uri="{FF2B5EF4-FFF2-40B4-BE49-F238E27FC236}">
                  <a16:creationId xmlns:a16="http://schemas.microsoft.com/office/drawing/2014/main" id="{2DF5F195-069C-4C29-BA0A-68925D817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" y="3066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J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25" name="Line 32">
              <a:extLst>
                <a:ext uri="{FF2B5EF4-FFF2-40B4-BE49-F238E27FC236}">
                  <a16:creationId xmlns:a16="http://schemas.microsoft.com/office/drawing/2014/main" id="{5B2AC2C9-7A5A-4DCE-AFAF-5BF13B40F0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5" y="1146"/>
              <a:ext cx="384" cy="288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Oval 33">
              <a:extLst>
                <a:ext uri="{FF2B5EF4-FFF2-40B4-BE49-F238E27FC236}">
                  <a16:creationId xmlns:a16="http://schemas.microsoft.com/office/drawing/2014/main" id="{9700D792-49DE-47BC-B417-312C7AA87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7" y="3642"/>
              <a:ext cx="336" cy="3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L</a:t>
              </a:r>
              <a:endParaRPr kumimoji="1"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27" name="Freeform 37">
              <a:extLst>
                <a:ext uri="{FF2B5EF4-FFF2-40B4-BE49-F238E27FC236}">
                  <a16:creationId xmlns:a16="http://schemas.microsoft.com/office/drawing/2014/main" id="{B508521C-6A4D-4DE5-81DD-E65D67589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1" y="1207"/>
              <a:ext cx="280" cy="612"/>
            </a:xfrm>
            <a:custGeom>
              <a:avLst/>
              <a:gdLst>
                <a:gd name="T0" fmla="*/ 280 w 280"/>
                <a:gd name="T1" fmla="*/ 499 h 612"/>
                <a:gd name="T2" fmla="*/ 190 w 280"/>
                <a:gd name="T3" fmla="*/ 590 h 612"/>
                <a:gd name="T4" fmla="*/ 54 w 280"/>
                <a:gd name="T5" fmla="*/ 567 h 612"/>
                <a:gd name="T6" fmla="*/ 8 w 280"/>
                <a:gd name="T7" fmla="*/ 318 h 612"/>
                <a:gd name="T8" fmla="*/ 8 w 280"/>
                <a:gd name="T9" fmla="*/ 0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0" h="612">
                  <a:moveTo>
                    <a:pt x="280" y="499"/>
                  </a:moveTo>
                  <a:cubicBezTo>
                    <a:pt x="254" y="539"/>
                    <a:pt x="228" y="579"/>
                    <a:pt x="190" y="590"/>
                  </a:cubicBezTo>
                  <a:cubicBezTo>
                    <a:pt x="152" y="601"/>
                    <a:pt x="84" y="612"/>
                    <a:pt x="54" y="567"/>
                  </a:cubicBezTo>
                  <a:cubicBezTo>
                    <a:pt x="24" y="522"/>
                    <a:pt x="16" y="413"/>
                    <a:pt x="8" y="318"/>
                  </a:cubicBezTo>
                  <a:cubicBezTo>
                    <a:pt x="0" y="223"/>
                    <a:pt x="8" y="53"/>
                    <a:pt x="8" y="0"/>
                  </a:cubicBezTo>
                </a:path>
              </a:pathLst>
            </a:custGeom>
            <a:noFill/>
            <a:ln w="25400" cap="flat">
              <a:solidFill>
                <a:srgbClr val="660066"/>
              </a:solidFill>
              <a:prstDash val="dash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39">
              <a:extLst>
                <a:ext uri="{FF2B5EF4-FFF2-40B4-BE49-F238E27FC236}">
                  <a16:creationId xmlns:a16="http://schemas.microsoft.com/office/drawing/2014/main" id="{F3C0E583-7B3C-493E-9BA2-333344FAE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" y="2296"/>
              <a:ext cx="249" cy="642"/>
            </a:xfrm>
            <a:custGeom>
              <a:avLst/>
              <a:gdLst>
                <a:gd name="T0" fmla="*/ 276 w 276"/>
                <a:gd name="T1" fmla="*/ 522 h 642"/>
                <a:gd name="T2" fmla="*/ 254 w 276"/>
                <a:gd name="T3" fmla="*/ 590 h 642"/>
                <a:gd name="T4" fmla="*/ 163 w 276"/>
                <a:gd name="T5" fmla="*/ 635 h 642"/>
                <a:gd name="T6" fmla="*/ 72 w 276"/>
                <a:gd name="T7" fmla="*/ 612 h 642"/>
                <a:gd name="T8" fmla="*/ 4 w 276"/>
                <a:gd name="T9" fmla="*/ 454 h 642"/>
                <a:gd name="T10" fmla="*/ 50 w 276"/>
                <a:gd name="T11" fmla="*/ 113 h 642"/>
                <a:gd name="T12" fmla="*/ 50 w 276"/>
                <a:gd name="T13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" h="642">
                  <a:moveTo>
                    <a:pt x="276" y="522"/>
                  </a:moveTo>
                  <a:cubicBezTo>
                    <a:pt x="274" y="546"/>
                    <a:pt x="273" y="571"/>
                    <a:pt x="254" y="590"/>
                  </a:cubicBezTo>
                  <a:cubicBezTo>
                    <a:pt x="235" y="609"/>
                    <a:pt x="193" y="631"/>
                    <a:pt x="163" y="635"/>
                  </a:cubicBezTo>
                  <a:cubicBezTo>
                    <a:pt x="133" y="639"/>
                    <a:pt x="98" y="642"/>
                    <a:pt x="72" y="612"/>
                  </a:cubicBezTo>
                  <a:cubicBezTo>
                    <a:pt x="46" y="582"/>
                    <a:pt x="8" y="537"/>
                    <a:pt x="4" y="454"/>
                  </a:cubicBezTo>
                  <a:cubicBezTo>
                    <a:pt x="0" y="371"/>
                    <a:pt x="42" y="189"/>
                    <a:pt x="50" y="113"/>
                  </a:cubicBezTo>
                  <a:cubicBezTo>
                    <a:pt x="58" y="37"/>
                    <a:pt x="50" y="19"/>
                    <a:pt x="50" y="0"/>
                  </a:cubicBezTo>
                </a:path>
              </a:pathLst>
            </a:custGeom>
            <a:noFill/>
            <a:ln w="25400" cap="flat">
              <a:solidFill>
                <a:srgbClr val="660066"/>
              </a:solidFill>
              <a:prstDash val="dash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40">
              <a:extLst>
                <a:ext uri="{FF2B5EF4-FFF2-40B4-BE49-F238E27FC236}">
                  <a16:creationId xmlns:a16="http://schemas.microsoft.com/office/drawing/2014/main" id="{975CBA14-B61F-4927-9282-31934B183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" y="2205"/>
              <a:ext cx="273" cy="95"/>
            </a:xfrm>
            <a:custGeom>
              <a:avLst/>
              <a:gdLst>
                <a:gd name="T0" fmla="*/ 273 w 273"/>
                <a:gd name="T1" fmla="*/ 0 h 95"/>
                <a:gd name="T2" fmla="*/ 205 w 273"/>
                <a:gd name="T3" fmla="*/ 68 h 95"/>
                <a:gd name="T4" fmla="*/ 91 w 273"/>
                <a:gd name="T5" fmla="*/ 91 h 95"/>
                <a:gd name="T6" fmla="*/ 0 w 273"/>
                <a:gd name="T7" fmla="*/ 9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3" h="95">
                  <a:moveTo>
                    <a:pt x="273" y="0"/>
                  </a:moveTo>
                  <a:cubicBezTo>
                    <a:pt x="254" y="26"/>
                    <a:pt x="235" y="53"/>
                    <a:pt x="205" y="68"/>
                  </a:cubicBezTo>
                  <a:cubicBezTo>
                    <a:pt x="175" y="83"/>
                    <a:pt x="125" y="87"/>
                    <a:pt x="91" y="91"/>
                  </a:cubicBezTo>
                  <a:cubicBezTo>
                    <a:pt x="57" y="95"/>
                    <a:pt x="15" y="91"/>
                    <a:pt x="0" y="91"/>
                  </a:cubicBezTo>
                </a:path>
              </a:pathLst>
            </a:custGeom>
            <a:noFill/>
            <a:ln w="25400" cap="flat">
              <a:solidFill>
                <a:srgbClr val="660066"/>
              </a:solidFill>
              <a:prstDash val="dash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41">
              <a:extLst>
                <a:ext uri="{FF2B5EF4-FFF2-40B4-BE49-F238E27FC236}">
                  <a16:creationId xmlns:a16="http://schemas.microsoft.com/office/drawing/2014/main" id="{7832C984-3DB7-459E-90E7-067264669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1729"/>
              <a:ext cx="476" cy="1168"/>
            </a:xfrm>
            <a:custGeom>
              <a:avLst/>
              <a:gdLst>
                <a:gd name="T0" fmla="*/ 348 w 438"/>
                <a:gd name="T1" fmla="*/ 1043 h 1145"/>
                <a:gd name="T2" fmla="*/ 234 w 438"/>
                <a:gd name="T3" fmla="*/ 1134 h 1145"/>
                <a:gd name="T4" fmla="*/ 98 w 438"/>
                <a:gd name="T5" fmla="*/ 1111 h 1145"/>
                <a:gd name="T6" fmla="*/ 7 w 438"/>
                <a:gd name="T7" fmla="*/ 930 h 1145"/>
                <a:gd name="T8" fmla="*/ 143 w 438"/>
                <a:gd name="T9" fmla="*/ 657 h 1145"/>
                <a:gd name="T10" fmla="*/ 370 w 438"/>
                <a:gd name="T11" fmla="*/ 431 h 1145"/>
                <a:gd name="T12" fmla="*/ 438 w 438"/>
                <a:gd name="T13" fmla="*/ 0 h 1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8" h="1145">
                  <a:moveTo>
                    <a:pt x="348" y="1043"/>
                  </a:moveTo>
                  <a:cubicBezTo>
                    <a:pt x="312" y="1083"/>
                    <a:pt x="276" y="1123"/>
                    <a:pt x="234" y="1134"/>
                  </a:cubicBezTo>
                  <a:cubicBezTo>
                    <a:pt x="192" y="1145"/>
                    <a:pt x="136" y="1145"/>
                    <a:pt x="98" y="1111"/>
                  </a:cubicBezTo>
                  <a:cubicBezTo>
                    <a:pt x="60" y="1077"/>
                    <a:pt x="0" y="1006"/>
                    <a:pt x="7" y="930"/>
                  </a:cubicBezTo>
                  <a:cubicBezTo>
                    <a:pt x="14" y="854"/>
                    <a:pt x="83" y="740"/>
                    <a:pt x="143" y="657"/>
                  </a:cubicBezTo>
                  <a:cubicBezTo>
                    <a:pt x="203" y="574"/>
                    <a:pt x="321" y="540"/>
                    <a:pt x="370" y="431"/>
                  </a:cubicBezTo>
                  <a:cubicBezTo>
                    <a:pt x="419" y="322"/>
                    <a:pt x="427" y="72"/>
                    <a:pt x="438" y="0"/>
                  </a:cubicBezTo>
                </a:path>
              </a:pathLst>
            </a:custGeom>
            <a:noFill/>
            <a:ln w="25400" cap="flat">
              <a:solidFill>
                <a:srgbClr val="660066"/>
              </a:solidFill>
              <a:prstDash val="dash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42">
              <a:extLst>
                <a:ext uri="{FF2B5EF4-FFF2-40B4-BE49-F238E27FC236}">
                  <a16:creationId xmlns:a16="http://schemas.microsoft.com/office/drawing/2014/main" id="{5A6D0B75-7D8C-440C-A08E-7C32911EBF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1729"/>
              <a:ext cx="522" cy="1209"/>
            </a:xfrm>
            <a:custGeom>
              <a:avLst/>
              <a:gdLst>
                <a:gd name="T0" fmla="*/ 347 w 461"/>
                <a:gd name="T1" fmla="*/ 1066 h 1209"/>
                <a:gd name="T2" fmla="*/ 257 w 461"/>
                <a:gd name="T3" fmla="*/ 1179 h 1209"/>
                <a:gd name="T4" fmla="*/ 98 w 461"/>
                <a:gd name="T5" fmla="*/ 1179 h 1209"/>
                <a:gd name="T6" fmla="*/ 7 w 461"/>
                <a:gd name="T7" fmla="*/ 998 h 1209"/>
                <a:gd name="T8" fmla="*/ 143 w 461"/>
                <a:gd name="T9" fmla="*/ 749 h 1209"/>
                <a:gd name="T10" fmla="*/ 370 w 461"/>
                <a:gd name="T11" fmla="*/ 499 h 1209"/>
                <a:gd name="T12" fmla="*/ 461 w 461"/>
                <a:gd name="T13" fmla="*/ 0 h 1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1" h="1209">
                  <a:moveTo>
                    <a:pt x="347" y="1066"/>
                  </a:moveTo>
                  <a:cubicBezTo>
                    <a:pt x="322" y="1113"/>
                    <a:pt x="298" y="1160"/>
                    <a:pt x="257" y="1179"/>
                  </a:cubicBezTo>
                  <a:cubicBezTo>
                    <a:pt x="216" y="1198"/>
                    <a:pt x="140" y="1209"/>
                    <a:pt x="98" y="1179"/>
                  </a:cubicBezTo>
                  <a:cubicBezTo>
                    <a:pt x="56" y="1149"/>
                    <a:pt x="0" y="1070"/>
                    <a:pt x="7" y="998"/>
                  </a:cubicBezTo>
                  <a:cubicBezTo>
                    <a:pt x="14" y="926"/>
                    <a:pt x="83" y="832"/>
                    <a:pt x="143" y="749"/>
                  </a:cubicBezTo>
                  <a:cubicBezTo>
                    <a:pt x="203" y="666"/>
                    <a:pt x="317" y="624"/>
                    <a:pt x="370" y="499"/>
                  </a:cubicBezTo>
                  <a:cubicBezTo>
                    <a:pt x="423" y="374"/>
                    <a:pt x="446" y="83"/>
                    <a:pt x="461" y="0"/>
                  </a:cubicBezTo>
                </a:path>
              </a:pathLst>
            </a:custGeom>
            <a:noFill/>
            <a:ln w="25400" cap="flat">
              <a:solidFill>
                <a:srgbClr val="660066"/>
              </a:solidFill>
              <a:prstDash val="dash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43">
              <a:extLst>
                <a:ext uri="{FF2B5EF4-FFF2-40B4-BE49-F238E27FC236}">
                  <a16:creationId xmlns:a16="http://schemas.microsoft.com/office/drawing/2014/main" id="{CE72FC92-C86C-4DB0-B1E3-478C8DD98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7" y="2818"/>
              <a:ext cx="658" cy="1231"/>
            </a:xfrm>
            <a:custGeom>
              <a:avLst/>
              <a:gdLst>
                <a:gd name="T0" fmla="*/ 416 w 552"/>
                <a:gd name="T1" fmla="*/ 1111 h 1231"/>
                <a:gd name="T2" fmla="*/ 257 w 552"/>
                <a:gd name="T3" fmla="*/ 1224 h 1231"/>
                <a:gd name="T4" fmla="*/ 98 w 552"/>
                <a:gd name="T5" fmla="*/ 1156 h 1231"/>
                <a:gd name="T6" fmla="*/ 53 w 552"/>
                <a:gd name="T7" fmla="*/ 930 h 1231"/>
                <a:gd name="T8" fmla="*/ 416 w 552"/>
                <a:gd name="T9" fmla="*/ 521 h 1231"/>
                <a:gd name="T10" fmla="*/ 552 w 552"/>
                <a:gd name="T11" fmla="*/ 0 h 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2" h="1231">
                  <a:moveTo>
                    <a:pt x="416" y="1111"/>
                  </a:moveTo>
                  <a:cubicBezTo>
                    <a:pt x="363" y="1164"/>
                    <a:pt x="310" y="1217"/>
                    <a:pt x="257" y="1224"/>
                  </a:cubicBezTo>
                  <a:cubicBezTo>
                    <a:pt x="204" y="1231"/>
                    <a:pt x="132" y="1205"/>
                    <a:pt x="98" y="1156"/>
                  </a:cubicBezTo>
                  <a:cubicBezTo>
                    <a:pt x="64" y="1107"/>
                    <a:pt x="0" y="1036"/>
                    <a:pt x="53" y="930"/>
                  </a:cubicBezTo>
                  <a:cubicBezTo>
                    <a:pt x="106" y="824"/>
                    <a:pt x="333" y="676"/>
                    <a:pt x="416" y="521"/>
                  </a:cubicBezTo>
                  <a:cubicBezTo>
                    <a:pt x="499" y="366"/>
                    <a:pt x="529" y="83"/>
                    <a:pt x="552" y="0"/>
                  </a:cubicBezTo>
                </a:path>
              </a:pathLst>
            </a:custGeom>
            <a:noFill/>
            <a:ln w="25400" cap="flat">
              <a:solidFill>
                <a:srgbClr val="660066"/>
              </a:solidFill>
              <a:prstDash val="dash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44">
              <a:extLst>
                <a:ext uri="{FF2B5EF4-FFF2-40B4-BE49-F238E27FC236}">
                  <a16:creationId xmlns:a16="http://schemas.microsoft.com/office/drawing/2014/main" id="{62CB42E5-5191-42CC-ADFA-6D34AA713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" y="2818"/>
              <a:ext cx="258" cy="680"/>
            </a:xfrm>
            <a:custGeom>
              <a:avLst/>
              <a:gdLst>
                <a:gd name="T0" fmla="*/ 280 w 280"/>
                <a:gd name="T1" fmla="*/ 499 h 612"/>
                <a:gd name="T2" fmla="*/ 190 w 280"/>
                <a:gd name="T3" fmla="*/ 590 h 612"/>
                <a:gd name="T4" fmla="*/ 54 w 280"/>
                <a:gd name="T5" fmla="*/ 567 h 612"/>
                <a:gd name="T6" fmla="*/ 8 w 280"/>
                <a:gd name="T7" fmla="*/ 318 h 612"/>
                <a:gd name="T8" fmla="*/ 8 w 280"/>
                <a:gd name="T9" fmla="*/ 0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0" h="612">
                  <a:moveTo>
                    <a:pt x="280" y="499"/>
                  </a:moveTo>
                  <a:cubicBezTo>
                    <a:pt x="254" y="539"/>
                    <a:pt x="228" y="579"/>
                    <a:pt x="190" y="590"/>
                  </a:cubicBezTo>
                  <a:cubicBezTo>
                    <a:pt x="152" y="601"/>
                    <a:pt x="84" y="612"/>
                    <a:pt x="54" y="567"/>
                  </a:cubicBezTo>
                  <a:cubicBezTo>
                    <a:pt x="24" y="522"/>
                    <a:pt x="16" y="413"/>
                    <a:pt x="8" y="318"/>
                  </a:cubicBezTo>
                  <a:cubicBezTo>
                    <a:pt x="0" y="223"/>
                    <a:pt x="8" y="53"/>
                    <a:pt x="8" y="0"/>
                  </a:cubicBezTo>
                </a:path>
              </a:pathLst>
            </a:custGeom>
            <a:noFill/>
            <a:ln w="25400" cap="flat">
              <a:solidFill>
                <a:srgbClr val="660066"/>
              </a:solidFill>
              <a:prstDash val="dash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" name="Rectangle 35">
            <a:extLst>
              <a:ext uri="{FF2B5EF4-FFF2-40B4-BE49-F238E27FC236}">
                <a16:creationId xmlns:a16="http://schemas.microsoft.com/office/drawing/2014/main" id="{BC641F6B-8D08-490B-8ACB-7EAE0DA81049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0" y="1447944"/>
            <a:ext cx="4572000" cy="324941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/>
        </p:spPr>
        <p:txBody>
          <a:bodyPr/>
          <a:lstStyle>
            <a:lvl1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ea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+mn-lt"/>
              </a:rPr>
              <a:t>if (current-&gt;</a:t>
            </a:r>
            <a:r>
              <a:rPr kumimoji="1" lang="en-US" altLang="zh-CN" b="0" kern="0" dirty="0" err="1">
                <a:solidFill>
                  <a:srgbClr val="0000FF"/>
                </a:solidFill>
                <a:latin typeface="+mn-lt"/>
                <a:sym typeface="Symbol" panose="05050102010706020507" pitchFamily="18" charset="2"/>
              </a:rPr>
              <a:t>ltag</a:t>
            </a:r>
            <a:r>
              <a:rPr kumimoji="1" lang="en-US" altLang="zh-CN" b="0" kern="0" dirty="0">
                <a:solidFill>
                  <a:srgbClr val="0000FF"/>
                </a:solidFill>
                <a:latin typeface="+mn-lt"/>
                <a:sym typeface="Symbol" panose="05050102010706020507" pitchFamily="18" charset="2"/>
              </a:rPr>
              <a:t>==1)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+mn-lt"/>
                <a:sym typeface="Symbol" panose="05050102010706020507" pitchFamily="18" charset="2"/>
              </a:rPr>
              <a:t>    </a:t>
            </a:r>
            <a:r>
              <a:rPr kumimoji="1" lang="zh-CN" altLang="en-US" b="0" kern="0" dirty="0">
                <a:solidFill>
                  <a:srgbClr val="0000FF"/>
                </a:solidFill>
                <a:latin typeface="+mn-lt"/>
                <a:sym typeface="Symbol" panose="05050102010706020507" pitchFamily="18" charset="2"/>
              </a:rPr>
              <a:t>前驱为</a:t>
            </a:r>
            <a:r>
              <a:rPr kumimoji="1" lang="en-US" altLang="zh-CN" b="0" kern="0" dirty="0">
                <a:solidFill>
                  <a:srgbClr val="0000FF"/>
                </a:solidFill>
                <a:latin typeface="+mn-lt"/>
                <a:sym typeface="Symbol" panose="05050102010706020507" pitchFamily="18" charset="2"/>
              </a:rPr>
              <a:t>current-&gt;</a:t>
            </a:r>
            <a:r>
              <a:rPr kumimoji="1" lang="en-US" altLang="zh-CN" b="0" kern="0" dirty="0" err="1">
                <a:solidFill>
                  <a:srgbClr val="0000FF"/>
                </a:solidFill>
                <a:latin typeface="+mn-lt"/>
                <a:sym typeface="Symbol" panose="05050102010706020507" pitchFamily="18" charset="2"/>
              </a:rPr>
              <a:t>lchild</a:t>
            </a:r>
            <a:r>
              <a:rPr kumimoji="1" lang="zh-CN" altLang="en-US" b="0" kern="0" dirty="0">
                <a:solidFill>
                  <a:srgbClr val="0000FF"/>
                </a:solidFill>
                <a:latin typeface="+mn-lt"/>
                <a:sym typeface="Symbol" panose="05050102010706020507" pitchFamily="18" charset="2"/>
              </a:rPr>
              <a:t>；</a:t>
            </a:r>
            <a:r>
              <a:rPr kumimoji="1" lang="en-US" altLang="zh-CN" b="0" kern="0" dirty="0">
                <a:solidFill>
                  <a:srgbClr val="0000FF"/>
                </a:solidFill>
                <a:latin typeface="+mn-lt"/>
                <a:sym typeface="Symbol" panose="05050102010706020507" pitchFamily="18" charset="2"/>
              </a:rPr>
              <a:t> 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+mn-lt"/>
                <a:sym typeface="Symbol" panose="05050102010706020507" pitchFamily="18" charset="2"/>
              </a:rPr>
              <a:t>else   </a:t>
            </a:r>
            <a:r>
              <a:rPr kumimoji="1" lang="en-US" altLang="zh-CN" b="0" kern="0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// </a:t>
            </a:r>
            <a:r>
              <a:rPr kumimoji="1" lang="en-US" altLang="zh-CN" b="0" kern="0" dirty="0">
                <a:solidFill>
                  <a:srgbClr val="00B050"/>
                </a:solidFill>
                <a:latin typeface="+mn-lt"/>
              </a:rPr>
              <a:t>current-&gt;</a:t>
            </a:r>
            <a:r>
              <a:rPr kumimoji="1" lang="en-US" altLang="zh-CN" b="0" kern="0" dirty="0" err="1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ltag</a:t>
            </a:r>
            <a:r>
              <a:rPr kumimoji="1" lang="en-US" altLang="zh-CN" b="0" kern="0" dirty="0">
                <a:solidFill>
                  <a:srgbClr val="00B050"/>
                </a:solidFill>
                <a:latin typeface="+mn-lt"/>
                <a:sym typeface="Symbol" panose="05050102010706020507" pitchFamily="18" charset="2"/>
              </a:rPr>
              <a:t>==0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b="0" kern="0" dirty="0">
                <a:solidFill>
                  <a:srgbClr val="0000FF"/>
                </a:solidFill>
                <a:latin typeface="+mn-lt"/>
                <a:sym typeface="Symbol" panose="05050102010706020507" pitchFamily="18" charset="2"/>
              </a:rPr>
              <a:t>    </a:t>
            </a:r>
            <a:r>
              <a:rPr kumimoji="1" lang="zh-CN" altLang="en-US" b="0" kern="0" dirty="0">
                <a:solidFill>
                  <a:srgbClr val="0000FF"/>
                </a:solidFill>
                <a:latin typeface="+mn-lt"/>
                <a:sym typeface="Symbol" panose="05050102010706020507" pitchFamily="18" charset="2"/>
              </a:rPr>
              <a:t>前驱为当前结点左子树在中序下的</a:t>
            </a:r>
            <a:r>
              <a:rPr kumimoji="1" lang="zh-CN" altLang="en-US" kern="0" dirty="0">
                <a:solidFill>
                  <a:srgbClr val="0000FF"/>
                </a:solidFill>
                <a:latin typeface="+mn-lt"/>
                <a:sym typeface="Symbol" panose="05050102010706020507" pitchFamily="18" charset="2"/>
              </a:rPr>
              <a:t>最后一个结点</a:t>
            </a:r>
            <a:r>
              <a:rPr kumimoji="1" lang="zh-CN" altLang="en-US" b="0" kern="0" dirty="0">
                <a:solidFill>
                  <a:srgbClr val="0000FF"/>
                </a:solidFill>
                <a:latin typeface="+mn-lt"/>
                <a:sym typeface="Symbol" panose="05050102010706020507" pitchFamily="18" charset="2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176870460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51D0AE-0738-42D1-9348-3596D1B08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前序线索二叉树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950D9B-1CAB-4C6A-8408-5FBDBB671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5"/>
            <a:ext cx="8642659" cy="812287"/>
          </a:xfrm>
        </p:spPr>
        <p:txBody>
          <a:bodyPr/>
          <a:lstStyle/>
          <a:p>
            <a:r>
              <a:rPr lang="zh-CN" altLang="en-US" dirty="0"/>
              <a:t>在前序线索二叉树中寻找当前结点的后继</a:t>
            </a:r>
          </a:p>
        </p:txBody>
      </p:sp>
      <p:grpSp>
        <p:nvGrpSpPr>
          <p:cNvPr id="4" name="Group 40">
            <a:extLst>
              <a:ext uri="{FF2B5EF4-FFF2-40B4-BE49-F238E27FC236}">
                <a16:creationId xmlns:a16="http://schemas.microsoft.com/office/drawing/2014/main" id="{B43A325C-887E-4BBE-9B2A-9DDBFCB71BD7}"/>
              </a:ext>
            </a:extLst>
          </p:cNvPr>
          <p:cNvGrpSpPr>
            <a:grpSpLocks/>
          </p:cNvGrpSpPr>
          <p:nvPr/>
        </p:nvGrpSpPr>
        <p:grpSpPr bwMode="auto">
          <a:xfrm>
            <a:off x="194888" y="1710315"/>
            <a:ext cx="8732412" cy="4766789"/>
            <a:chOff x="416" y="719"/>
            <a:chExt cx="4426" cy="2220"/>
          </a:xfrm>
        </p:grpSpPr>
        <p:sp>
          <p:nvSpPr>
            <p:cNvPr id="5" name="Line 2">
              <a:extLst>
                <a:ext uri="{FF2B5EF4-FFF2-40B4-BE49-F238E27FC236}">
                  <a16:creationId xmlns:a16="http://schemas.microsoft.com/office/drawing/2014/main" id="{21B3BF00-55AE-47C9-BA1A-4256C293CA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1536"/>
              <a:ext cx="144" cy="38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" name="Line 3">
              <a:extLst>
                <a:ext uri="{FF2B5EF4-FFF2-40B4-BE49-F238E27FC236}">
                  <a16:creationId xmlns:a16="http://schemas.microsoft.com/office/drawing/2014/main" id="{A3C7E3EA-5AAA-4DC1-A6C5-4F9AD05FA1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488"/>
              <a:ext cx="144" cy="4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3D6A295B-711E-4D62-963B-2A1D7E11B7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960"/>
              <a:ext cx="432" cy="4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D1EB79DD-DA9D-409D-B3B8-75EE8F1912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008"/>
              <a:ext cx="384" cy="38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B652BFA6-4FF1-40FB-8E64-30F54C4F6D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2329"/>
              <a:ext cx="943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zh-CN" altLang="en-US" b="1" u="sng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ea"/>
                  <a:ea typeface="+mn-ea"/>
                </a:rPr>
                <a:t>前序序列</a:t>
              </a:r>
              <a:endParaRPr kumimoji="1" lang="zh-CN" altLang="en-US" dirty="0"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</a:pPr>
              <a:r>
                <a:rPr kumimoji="1" lang="en-US" altLang="zh-CN" b="1" dirty="0">
                  <a:solidFill>
                    <a:srgbClr val="008000"/>
                  </a:solidFill>
                  <a:latin typeface="+mn-ea"/>
                  <a:ea typeface="+mn-ea"/>
                </a:rPr>
                <a:t>A B D C E</a:t>
              </a:r>
              <a:endParaRPr kumimoji="1" lang="en-US" altLang="zh-CN" dirty="0">
                <a:latin typeface="+mn-ea"/>
                <a:ea typeface="+mn-ea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644AE74-29A3-4593-A8CF-D2975A9BD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816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endParaRPr kumimoji="1" lang="zh-CN" altLang="en-US">
                <a:latin typeface="+mn-ea"/>
                <a:ea typeface="+mn-ea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F962A29-F04E-4BC2-A4AA-0580C074E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296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B03F0BA-A9F5-4F37-9564-64EC32F66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296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0840E1E-5430-492B-B7B4-89DA9A873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872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1C4DEA6-CB96-442E-B6B5-231ADDB2C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872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F32B2B4-BF45-4629-9B1D-E7B594241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2112"/>
              <a:ext cx="240" cy="56"/>
            </a:xfrm>
            <a:custGeom>
              <a:avLst/>
              <a:gdLst>
                <a:gd name="T0" fmla="*/ 0 w 240"/>
                <a:gd name="T1" fmla="*/ 0 h 56"/>
                <a:gd name="T2" fmla="*/ 48 w 240"/>
                <a:gd name="T3" fmla="*/ 48 h 56"/>
                <a:gd name="T4" fmla="*/ 144 w 240"/>
                <a:gd name="T5" fmla="*/ 48 h 56"/>
                <a:gd name="T6" fmla="*/ 240 w 240"/>
                <a:gd name="T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0" h="56">
                  <a:moveTo>
                    <a:pt x="0" y="0"/>
                  </a:moveTo>
                  <a:cubicBezTo>
                    <a:pt x="12" y="20"/>
                    <a:pt x="24" y="40"/>
                    <a:pt x="48" y="48"/>
                  </a:cubicBezTo>
                  <a:cubicBezTo>
                    <a:pt x="72" y="56"/>
                    <a:pt x="112" y="56"/>
                    <a:pt x="144" y="48"/>
                  </a:cubicBezTo>
                  <a:cubicBezTo>
                    <a:pt x="176" y="40"/>
                    <a:pt x="224" y="8"/>
                    <a:pt x="240" y="0"/>
                  </a:cubicBez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ysDot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BF68DB3-0ABF-455A-8DF1-FCB1D9A67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536"/>
              <a:ext cx="384" cy="640"/>
            </a:xfrm>
            <a:custGeom>
              <a:avLst/>
              <a:gdLst>
                <a:gd name="T0" fmla="*/ 192 w 384"/>
                <a:gd name="T1" fmla="*/ 576 h 640"/>
                <a:gd name="T2" fmla="*/ 144 w 384"/>
                <a:gd name="T3" fmla="*/ 624 h 640"/>
                <a:gd name="T4" fmla="*/ 48 w 384"/>
                <a:gd name="T5" fmla="*/ 624 h 640"/>
                <a:gd name="T6" fmla="*/ 0 w 384"/>
                <a:gd name="T7" fmla="*/ 528 h 640"/>
                <a:gd name="T8" fmla="*/ 48 w 384"/>
                <a:gd name="T9" fmla="*/ 384 h 640"/>
                <a:gd name="T10" fmla="*/ 144 w 384"/>
                <a:gd name="T11" fmla="*/ 240 h 640"/>
                <a:gd name="T12" fmla="*/ 240 w 384"/>
                <a:gd name="T13" fmla="*/ 144 h 640"/>
                <a:gd name="T14" fmla="*/ 384 w 384"/>
                <a:gd name="T15" fmla="*/ 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4" h="640">
                  <a:moveTo>
                    <a:pt x="192" y="576"/>
                  </a:moveTo>
                  <a:cubicBezTo>
                    <a:pt x="180" y="596"/>
                    <a:pt x="168" y="616"/>
                    <a:pt x="144" y="624"/>
                  </a:cubicBezTo>
                  <a:cubicBezTo>
                    <a:pt x="120" y="632"/>
                    <a:pt x="72" y="640"/>
                    <a:pt x="48" y="624"/>
                  </a:cubicBezTo>
                  <a:cubicBezTo>
                    <a:pt x="24" y="608"/>
                    <a:pt x="0" y="568"/>
                    <a:pt x="0" y="528"/>
                  </a:cubicBezTo>
                  <a:cubicBezTo>
                    <a:pt x="0" y="488"/>
                    <a:pt x="24" y="432"/>
                    <a:pt x="48" y="384"/>
                  </a:cubicBezTo>
                  <a:cubicBezTo>
                    <a:pt x="72" y="336"/>
                    <a:pt x="112" y="280"/>
                    <a:pt x="144" y="240"/>
                  </a:cubicBezTo>
                  <a:cubicBezTo>
                    <a:pt x="176" y="200"/>
                    <a:pt x="200" y="184"/>
                    <a:pt x="240" y="144"/>
                  </a:cubicBezTo>
                  <a:cubicBezTo>
                    <a:pt x="280" y="104"/>
                    <a:pt x="360" y="24"/>
                    <a:pt x="384" y="0"/>
                  </a:cubicBez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ysDot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40C4E7B-AA2F-42A2-8D11-68EF6D776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1536"/>
              <a:ext cx="576" cy="624"/>
            </a:xfrm>
            <a:custGeom>
              <a:avLst/>
              <a:gdLst>
                <a:gd name="T0" fmla="*/ 0 w 576"/>
                <a:gd name="T1" fmla="*/ 576 h 624"/>
                <a:gd name="T2" fmla="*/ 48 w 576"/>
                <a:gd name="T3" fmla="*/ 624 h 624"/>
                <a:gd name="T4" fmla="*/ 96 w 576"/>
                <a:gd name="T5" fmla="*/ 576 h 624"/>
                <a:gd name="T6" fmla="*/ 144 w 576"/>
                <a:gd name="T7" fmla="*/ 432 h 624"/>
                <a:gd name="T8" fmla="*/ 192 w 576"/>
                <a:gd name="T9" fmla="*/ 288 h 624"/>
                <a:gd name="T10" fmla="*/ 240 w 576"/>
                <a:gd name="T11" fmla="*/ 192 h 624"/>
                <a:gd name="T12" fmla="*/ 336 w 576"/>
                <a:gd name="T13" fmla="*/ 96 h 624"/>
                <a:gd name="T14" fmla="*/ 432 w 576"/>
                <a:gd name="T15" fmla="*/ 48 h 624"/>
                <a:gd name="T16" fmla="*/ 576 w 576"/>
                <a:gd name="T17" fmla="*/ 0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6" h="624">
                  <a:moveTo>
                    <a:pt x="0" y="576"/>
                  </a:moveTo>
                  <a:cubicBezTo>
                    <a:pt x="16" y="600"/>
                    <a:pt x="32" y="624"/>
                    <a:pt x="48" y="624"/>
                  </a:cubicBezTo>
                  <a:cubicBezTo>
                    <a:pt x="64" y="624"/>
                    <a:pt x="80" y="608"/>
                    <a:pt x="96" y="576"/>
                  </a:cubicBezTo>
                  <a:cubicBezTo>
                    <a:pt x="112" y="544"/>
                    <a:pt x="128" y="480"/>
                    <a:pt x="144" y="432"/>
                  </a:cubicBezTo>
                  <a:cubicBezTo>
                    <a:pt x="160" y="384"/>
                    <a:pt x="176" y="328"/>
                    <a:pt x="192" y="288"/>
                  </a:cubicBezTo>
                  <a:cubicBezTo>
                    <a:pt x="208" y="248"/>
                    <a:pt x="216" y="224"/>
                    <a:pt x="240" y="192"/>
                  </a:cubicBezTo>
                  <a:cubicBezTo>
                    <a:pt x="264" y="160"/>
                    <a:pt x="304" y="120"/>
                    <a:pt x="336" y="96"/>
                  </a:cubicBezTo>
                  <a:cubicBezTo>
                    <a:pt x="368" y="72"/>
                    <a:pt x="392" y="64"/>
                    <a:pt x="432" y="48"/>
                  </a:cubicBezTo>
                  <a:cubicBezTo>
                    <a:pt x="472" y="32"/>
                    <a:pt x="552" y="8"/>
                    <a:pt x="576" y="0"/>
                  </a:cubicBez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ysDot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EB607BE-B8DC-487C-9A5E-8CF6A51A0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" y="960"/>
              <a:ext cx="640" cy="624"/>
            </a:xfrm>
            <a:custGeom>
              <a:avLst/>
              <a:gdLst>
                <a:gd name="T0" fmla="*/ 208 w 640"/>
                <a:gd name="T1" fmla="*/ 576 h 624"/>
                <a:gd name="T2" fmla="*/ 112 w 640"/>
                <a:gd name="T3" fmla="*/ 624 h 624"/>
                <a:gd name="T4" fmla="*/ 16 w 640"/>
                <a:gd name="T5" fmla="*/ 576 h 624"/>
                <a:gd name="T6" fmla="*/ 16 w 640"/>
                <a:gd name="T7" fmla="*/ 480 h 624"/>
                <a:gd name="T8" fmla="*/ 112 w 640"/>
                <a:gd name="T9" fmla="*/ 336 h 624"/>
                <a:gd name="T10" fmla="*/ 208 w 640"/>
                <a:gd name="T11" fmla="*/ 240 h 624"/>
                <a:gd name="T12" fmla="*/ 352 w 640"/>
                <a:gd name="T13" fmla="*/ 144 h 624"/>
                <a:gd name="T14" fmla="*/ 544 w 640"/>
                <a:gd name="T15" fmla="*/ 48 h 624"/>
                <a:gd name="T16" fmla="*/ 640 w 640"/>
                <a:gd name="T17" fmla="*/ 0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40" h="624">
                  <a:moveTo>
                    <a:pt x="208" y="576"/>
                  </a:moveTo>
                  <a:cubicBezTo>
                    <a:pt x="176" y="600"/>
                    <a:pt x="144" y="624"/>
                    <a:pt x="112" y="624"/>
                  </a:cubicBezTo>
                  <a:cubicBezTo>
                    <a:pt x="80" y="624"/>
                    <a:pt x="32" y="600"/>
                    <a:pt x="16" y="576"/>
                  </a:cubicBezTo>
                  <a:cubicBezTo>
                    <a:pt x="0" y="552"/>
                    <a:pt x="0" y="520"/>
                    <a:pt x="16" y="480"/>
                  </a:cubicBezTo>
                  <a:cubicBezTo>
                    <a:pt x="32" y="440"/>
                    <a:pt x="80" y="376"/>
                    <a:pt x="112" y="336"/>
                  </a:cubicBezTo>
                  <a:cubicBezTo>
                    <a:pt x="144" y="296"/>
                    <a:pt x="168" y="272"/>
                    <a:pt x="208" y="240"/>
                  </a:cubicBezTo>
                  <a:cubicBezTo>
                    <a:pt x="248" y="208"/>
                    <a:pt x="296" y="176"/>
                    <a:pt x="352" y="144"/>
                  </a:cubicBezTo>
                  <a:cubicBezTo>
                    <a:pt x="408" y="112"/>
                    <a:pt x="496" y="72"/>
                    <a:pt x="544" y="48"/>
                  </a:cubicBezTo>
                  <a:cubicBezTo>
                    <a:pt x="592" y="24"/>
                    <a:pt x="624" y="8"/>
                    <a:pt x="640" y="0"/>
                  </a:cubicBez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ysDot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374E8C5-7FDA-48A7-81AB-4E35047EC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1536"/>
              <a:ext cx="256" cy="640"/>
            </a:xfrm>
            <a:custGeom>
              <a:avLst/>
              <a:gdLst>
                <a:gd name="T0" fmla="*/ 256 w 256"/>
                <a:gd name="T1" fmla="*/ 576 h 640"/>
                <a:gd name="T2" fmla="*/ 208 w 256"/>
                <a:gd name="T3" fmla="*/ 624 h 640"/>
                <a:gd name="T4" fmla="*/ 112 w 256"/>
                <a:gd name="T5" fmla="*/ 624 h 640"/>
                <a:gd name="T6" fmla="*/ 16 w 256"/>
                <a:gd name="T7" fmla="*/ 528 h 640"/>
                <a:gd name="T8" fmla="*/ 16 w 256"/>
                <a:gd name="T9" fmla="*/ 288 h 640"/>
                <a:gd name="T10" fmla="*/ 112 w 256"/>
                <a:gd name="T11" fmla="*/ 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6" h="640">
                  <a:moveTo>
                    <a:pt x="256" y="576"/>
                  </a:moveTo>
                  <a:cubicBezTo>
                    <a:pt x="244" y="596"/>
                    <a:pt x="232" y="616"/>
                    <a:pt x="208" y="624"/>
                  </a:cubicBezTo>
                  <a:cubicBezTo>
                    <a:pt x="184" y="632"/>
                    <a:pt x="144" y="640"/>
                    <a:pt x="112" y="624"/>
                  </a:cubicBezTo>
                  <a:cubicBezTo>
                    <a:pt x="80" y="608"/>
                    <a:pt x="32" y="584"/>
                    <a:pt x="16" y="528"/>
                  </a:cubicBezTo>
                  <a:cubicBezTo>
                    <a:pt x="0" y="472"/>
                    <a:pt x="0" y="376"/>
                    <a:pt x="16" y="288"/>
                  </a:cubicBezTo>
                  <a:cubicBezTo>
                    <a:pt x="32" y="200"/>
                    <a:pt x="96" y="48"/>
                    <a:pt x="112" y="0"/>
                  </a:cubicBez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ysDot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FA50F0E8-C982-4A54-8412-5823E1465B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3" y="719"/>
              <a:ext cx="1264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 dirty="0">
                  <a:solidFill>
                    <a:srgbClr val="CC3300"/>
                  </a:solidFill>
                  <a:latin typeface="+mn-ea"/>
                  <a:ea typeface="+mn-ea"/>
                </a:rPr>
                <a:t>p-&gt;</a:t>
              </a:r>
              <a:r>
                <a:rPr kumimoji="1" lang="en-US" altLang="zh-CN" b="1" dirty="0" err="1">
                  <a:solidFill>
                    <a:srgbClr val="CC3300"/>
                  </a:solidFill>
                  <a:latin typeface="+mn-ea"/>
                  <a:ea typeface="+mn-ea"/>
                </a:rPr>
                <a:t>ltag</a:t>
              </a:r>
              <a:r>
                <a:rPr kumimoji="1" lang="en-US" altLang="zh-CN" b="1" dirty="0">
                  <a:solidFill>
                    <a:srgbClr val="CC3300"/>
                  </a:solidFill>
                  <a:latin typeface="+mn-ea"/>
                  <a:ea typeface="+mn-ea"/>
                </a:rPr>
                <a:t>==1?</a:t>
              </a:r>
              <a:endParaRPr kumimoji="1" lang="en-US" altLang="zh-CN" dirty="0">
                <a:latin typeface="+mn-ea"/>
                <a:ea typeface="+mn-ea"/>
              </a:endParaRP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E1B40F7F-E2B4-4B0F-8E48-65ACCDF653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8" y="1001"/>
              <a:ext cx="432" cy="4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6ED74FCA-3040-4C42-8DE0-00DFD65820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7" y="993"/>
              <a:ext cx="429" cy="44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4F3CACB9-DCA3-479B-9624-73A99B6CE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9" y="1068"/>
              <a:ext cx="1178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zh-CN" altLang="en-US" b="0" dirty="0">
                  <a:solidFill>
                    <a:srgbClr val="0000FF"/>
                  </a:solidFill>
                  <a:latin typeface="+mn-ea"/>
                  <a:ea typeface="+mn-ea"/>
                </a:rPr>
                <a:t>前驱线索    </a:t>
              </a:r>
              <a:r>
                <a:rPr kumimoji="1" lang="en-US" altLang="zh-CN" b="1" dirty="0">
                  <a:solidFill>
                    <a:srgbClr val="0000FF"/>
                  </a:solidFill>
                  <a:latin typeface="+mn-ea"/>
                  <a:ea typeface="+mn-ea"/>
                </a:rPr>
                <a:t>=</a:t>
              </a:r>
              <a:endParaRPr kumimoji="1" lang="en-US" altLang="zh-CN" dirty="0">
                <a:solidFill>
                  <a:srgbClr val="0000FF"/>
                </a:solidFill>
                <a:latin typeface="+mn-ea"/>
                <a:ea typeface="+mn-ea"/>
              </a:endParaRPr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D12E0D9E-EBF8-4E03-914A-AB05936F40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050"/>
              <a:ext cx="957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zh-CN" altLang="en-US" dirty="0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</a:t>
              </a:r>
              <a:r>
                <a:rPr kumimoji="1" lang="zh-CN" altLang="en-US" b="0" dirty="0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    左子女</a:t>
              </a:r>
              <a:endParaRPr kumimoji="1" lang="zh-CN" altLang="en-US" b="0" dirty="0">
                <a:solidFill>
                  <a:srgbClr val="0000FF"/>
                </a:solidFill>
                <a:latin typeface="+mn-ea"/>
                <a:ea typeface="+mn-ea"/>
              </a:endParaRPr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9D80F9A3-A673-4551-A7E4-1D691C6C4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5" y="1448"/>
              <a:ext cx="1085" cy="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b="1" dirty="0">
                  <a:solidFill>
                    <a:srgbClr val="CC3300"/>
                  </a:solidFill>
                  <a:latin typeface="+mn-ea"/>
                  <a:ea typeface="+mn-ea"/>
                </a:rPr>
                <a:t>p-&gt;</a:t>
              </a:r>
              <a:r>
                <a:rPr kumimoji="1" lang="en-US" altLang="zh-CN" b="1" dirty="0" err="1">
                  <a:solidFill>
                    <a:srgbClr val="CC3300"/>
                  </a:solidFill>
                  <a:latin typeface="+mn-ea"/>
                  <a:ea typeface="+mn-ea"/>
                </a:rPr>
                <a:t>rchild</a:t>
              </a:r>
              <a:endParaRPr kumimoji="1" lang="en-US" altLang="zh-CN" b="1" dirty="0">
                <a:solidFill>
                  <a:srgbClr val="CC3300"/>
                </a:solidFill>
                <a:latin typeface="+mn-ea"/>
                <a:ea typeface="+mn-ea"/>
              </a:endParaRPr>
            </a:p>
            <a:p>
              <a:r>
                <a:rPr kumimoji="1" lang="en-US" altLang="zh-CN" b="1" dirty="0">
                  <a:solidFill>
                    <a:srgbClr val="CC3300"/>
                  </a:solidFill>
                  <a:latin typeface="+mn-ea"/>
                  <a:ea typeface="+mn-ea"/>
                </a:rPr>
                <a:t>   == NULL</a:t>
              </a:r>
              <a:endParaRPr kumimoji="1" lang="en-US" altLang="zh-CN" dirty="0">
                <a:latin typeface="+mn-ea"/>
                <a:ea typeface="+mn-ea"/>
              </a:endParaRPr>
            </a:p>
          </p:txBody>
        </p:sp>
        <p:sp>
          <p:nvSpPr>
            <p:cNvPr id="26" name="Text Box 25">
              <a:extLst>
                <a:ext uri="{FF2B5EF4-FFF2-40B4-BE49-F238E27FC236}">
                  <a16:creationId xmlns:a16="http://schemas.microsoft.com/office/drawing/2014/main" id="{066616FD-CE2B-4AFC-B421-B5045426F9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3" y="1466"/>
              <a:ext cx="949" cy="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r>
                <a:rPr kumimoji="1" lang="zh-CN" altLang="en-US" b="1" dirty="0">
                  <a:solidFill>
                    <a:srgbClr val="006600"/>
                  </a:solidFill>
                  <a:latin typeface="+mn-ea"/>
                  <a:ea typeface="+mn-ea"/>
                </a:rPr>
                <a:t>后继为</a:t>
              </a:r>
            </a:p>
            <a:p>
              <a:r>
                <a:rPr kumimoji="1" lang="en-US" altLang="zh-CN" b="1" dirty="0">
                  <a:solidFill>
                    <a:srgbClr val="CC3300"/>
                  </a:solidFill>
                  <a:latin typeface="+mn-ea"/>
                  <a:ea typeface="+mn-ea"/>
                </a:rPr>
                <a:t>p-&gt;</a:t>
              </a:r>
              <a:r>
                <a:rPr kumimoji="1" lang="en-US" altLang="zh-CN" b="1" dirty="0" err="1">
                  <a:solidFill>
                    <a:srgbClr val="CC3300"/>
                  </a:solidFill>
                  <a:latin typeface="+mn-ea"/>
                  <a:ea typeface="+mn-ea"/>
                </a:rPr>
                <a:t>lchild</a:t>
              </a:r>
              <a:endParaRPr kumimoji="1" lang="en-US" altLang="zh-CN" dirty="0">
                <a:latin typeface="+mn-ea"/>
                <a:ea typeface="+mn-ea"/>
              </a:endParaRP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785B6C63-C6B0-4F01-A8EF-F7E7DCC1DB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9" y="1872"/>
              <a:ext cx="432" cy="4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1292A2EE-DDFE-4E5F-ACE2-3A42D9CF96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0" y="1880"/>
              <a:ext cx="432" cy="4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" name="Text Box 28">
              <a:extLst>
                <a:ext uri="{FF2B5EF4-FFF2-40B4-BE49-F238E27FC236}">
                  <a16:creationId xmlns:a16="http://schemas.microsoft.com/office/drawing/2014/main" id="{5452BD17-DD7B-48D2-B99C-9845528B05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7" y="1913"/>
              <a:ext cx="233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b="1" dirty="0">
                  <a:solidFill>
                    <a:srgbClr val="0000FF"/>
                  </a:solidFill>
                  <a:latin typeface="+mn-ea"/>
                  <a:ea typeface="+mn-ea"/>
                </a:rPr>
                <a:t>=</a:t>
              </a:r>
              <a:endParaRPr kumimoji="1" lang="en-US" altLang="zh-CN" dirty="0">
                <a:solidFill>
                  <a:srgbClr val="0000FF"/>
                </a:solidFill>
                <a:latin typeface="+mn-ea"/>
                <a:ea typeface="+mn-ea"/>
              </a:endParaRPr>
            </a:p>
          </p:txBody>
        </p: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B08E3229-C0CC-496D-8E4C-F81603CB11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9" y="1902"/>
              <a:ext cx="194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zh-CN" altLang="en-US" b="1" dirty="0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</a:t>
              </a:r>
              <a:endParaRPr kumimoji="1" lang="zh-CN" altLang="en-US" dirty="0">
                <a:solidFill>
                  <a:srgbClr val="0000FF"/>
                </a:solidFill>
                <a:latin typeface="+mn-ea"/>
                <a:ea typeface="+mn-ea"/>
              </a:endParaRPr>
            </a:p>
          </p:txBody>
        </p:sp>
        <p:sp>
          <p:nvSpPr>
            <p:cNvPr id="31" name="Text Box 30">
              <a:extLst>
                <a:ext uri="{FF2B5EF4-FFF2-40B4-BE49-F238E27FC236}">
                  <a16:creationId xmlns:a16="http://schemas.microsoft.com/office/drawing/2014/main" id="{713BA85B-F140-4B38-BA33-A95162FB46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345"/>
              <a:ext cx="694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zh-CN" altLang="en-US" b="1" dirty="0">
                  <a:solidFill>
                    <a:srgbClr val="006600"/>
                  </a:solidFill>
                  <a:latin typeface="+mn-ea"/>
                  <a:ea typeface="+mn-ea"/>
                </a:rPr>
                <a:t>无后继</a:t>
              </a:r>
              <a:r>
                <a:rPr kumimoji="1" lang="zh-CN" altLang="en-US" b="1" dirty="0">
                  <a:solidFill>
                    <a:srgbClr val="009900"/>
                  </a:solidFill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2" name="Text Box 31">
              <a:extLst>
                <a:ext uri="{FF2B5EF4-FFF2-40B4-BE49-F238E27FC236}">
                  <a16:creationId xmlns:a16="http://schemas.microsoft.com/office/drawing/2014/main" id="{4177F69C-E566-4B90-87AB-75D9A6078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3" y="2327"/>
              <a:ext cx="943" cy="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r>
                <a:rPr kumimoji="1" lang="zh-CN" altLang="en-US" b="1" dirty="0">
                  <a:solidFill>
                    <a:srgbClr val="006600"/>
                  </a:solidFill>
                  <a:latin typeface="+mn-ea"/>
                  <a:ea typeface="+mn-ea"/>
                </a:rPr>
                <a:t>后继为</a:t>
              </a:r>
            </a:p>
            <a:p>
              <a:r>
                <a:rPr kumimoji="1" lang="en-US" altLang="zh-CN" b="1" dirty="0">
                  <a:solidFill>
                    <a:srgbClr val="CC3300"/>
                  </a:solidFill>
                  <a:latin typeface="+mn-ea"/>
                  <a:ea typeface="+mn-ea"/>
                </a:rPr>
                <a:t>p-&gt;</a:t>
              </a:r>
              <a:r>
                <a:rPr kumimoji="1" lang="en-US" altLang="zh-CN" b="1" dirty="0" err="1">
                  <a:solidFill>
                    <a:srgbClr val="CC3300"/>
                  </a:solidFill>
                  <a:latin typeface="+mn-ea"/>
                  <a:ea typeface="+mn-ea"/>
                </a:rPr>
                <a:t>rchild</a:t>
              </a:r>
              <a:endParaRPr kumimoji="1" lang="en-US" altLang="zh-CN" dirty="0">
                <a:latin typeface="+mn-ea"/>
                <a:ea typeface="+mn-ea"/>
              </a:endParaRPr>
            </a:p>
          </p:txBody>
        </p:sp>
        <p:sp>
          <p:nvSpPr>
            <p:cNvPr id="33" name="Text Box 32">
              <a:extLst>
                <a:ext uri="{FF2B5EF4-FFF2-40B4-BE49-F238E27FC236}">
                  <a16:creationId xmlns:a16="http://schemas.microsoft.com/office/drawing/2014/main" id="{6700AEE9-A6BD-4FD4-B4E9-47BCA9D1C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791"/>
              <a:ext cx="230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 dirty="0">
                  <a:solidFill>
                    <a:srgbClr val="009900"/>
                  </a:solidFill>
                  <a:latin typeface="+mn-ea"/>
                  <a:ea typeface="+mn-ea"/>
                </a:rPr>
                <a:t>A</a:t>
              </a:r>
              <a:endParaRPr kumimoji="1" lang="en-US" altLang="zh-CN" dirty="0">
                <a:latin typeface="+mn-ea"/>
                <a:ea typeface="+mn-ea"/>
              </a:endParaRPr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573E3114-BDC9-4EC7-BDE8-03370314D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" y="1290"/>
              <a:ext cx="218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>
                  <a:solidFill>
                    <a:srgbClr val="009900"/>
                  </a:solidFill>
                  <a:latin typeface="+mn-ea"/>
                  <a:ea typeface="+mn-ea"/>
                </a:rPr>
                <a:t>B</a:t>
              </a:r>
              <a:endParaRPr kumimoji="1" lang="en-US" altLang="zh-CN">
                <a:latin typeface="+mn-ea"/>
                <a:ea typeface="+mn-ea"/>
              </a:endParaRPr>
            </a:p>
          </p:txBody>
        </p:sp>
        <p:sp>
          <p:nvSpPr>
            <p:cNvPr id="35" name="Text Box 34">
              <a:extLst>
                <a:ext uri="{FF2B5EF4-FFF2-40B4-BE49-F238E27FC236}">
                  <a16:creationId xmlns:a16="http://schemas.microsoft.com/office/drawing/2014/main" id="{95DC5571-3623-43F9-BB13-96A427A46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8" y="1299"/>
              <a:ext cx="216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>
                  <a:solidFill>
                    <a:srgbClr val="009900"/>
                  </a:solidFill>
                  <a:latin typeface="+mn-ea"/>
                  <a:ea typeface="+mn-ea"/>
                </a:rPr>
                <a:t>C</a:t>
              </a:r>
              <a:endParaRPr kumimoji="1" lang="en-US" altLang="zh-CN">
                <a:latin typeface="+mn-ea"/>
                <a:ea typeface="+mn-ea"/>
              </a:endParaRPr>
            </a:p>
          </p:txBody>
        </p:sp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21DA1B37-EA85-49C8-BF02-863586B2F6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4" y="1875"/>
              <a:ext cx="198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>
                  <a:solidFill>
                    <a:srgbClr val="009900"/>
                  </a:solidFill>
                  <a:latin typeface="+mn-ea"/>
                  <a:ea typeface="+mn-ea"/>
                </a:rPr>
                <a:t>E</a:t>
              </a:r>
              <a:endParaRPr kumimoji="1" lang="en-US" altLang="zh-CN">
                <a:latin typeface="+mn-ea"/>
                <a:ea typeface="+mn-ea"/>
              </a:endParaRPr>
            </a:p>
          </p:txBody>
        </p:sp>
        <p:sp>
          <p:nvSpPr>
            <p:cNvPr id="37" name="Text Box 36">
              <a:extLst>
                <a:ext uri="{FF2B5EF4-FFF2-40B4-BE49-F238E27FC236}">
                  <a16:creationId xmlns:a16="http://schemas.microsoft.com/office/drawing/2014/main" id="{7672F751-F8E1-4BF5-81C9-42D76F43B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8" y="1875"/>
              <a:ext cx="237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>
                  <a:solidFill>
                    <a:srgbClr val="009900"/>
                  </a:solidFill>
                  <a:latin typeface="+mn-ea"/>
                  <a:ea typeface="+mn-ea"/>
                </a:rPr>
                <a:t>D</a:t>
              </a:r>
              <a:endParaRPr kumimoji="1" lang="en-US" altLang="zh-CN">
                <a:latin typeface="+mn-ea"/>
                <a:ea typeface="+mn-ea"/>
              </a:endParaRPr>
            </a:p>
          </p:txBody>
        </p:sp>
        <p:cxnSp>
          <p:nvCxnSpPr>
            <p:cNvPr id="38" name="AutoShape 37">
              <a:extLst>
                <a:ext uri="{FF2B5EF4-FFF2-40B4-BE49-F238E27FC236}">
                  <a16:creationId xmlns:a16="http://schemas.microsoft.com/office/drawing/2014/main" id="{5F14E439-8CE6-4AD8-B237-D597E49CAD39}"/>
                </a:ext>
              </a:extLst>
            </p:cNvPr>
            <p:cNvCxnSpPr>
              <a:cxnSpLocks noChangeShapeType="1"/>
              <a:stCxn id="35" idx="3"/>
              <a:endCxn id="36" idx="3"/>
            </p:cNvCxnSpPr>
            <p:nvPr/>
          </p:nvCxnSpPr>
          <p:spPr bwMode="auto">
            <a:xfrm flipH="1">
              <a:off x="1582" y="1421"/>
              <a:ext cx="162" cy="576"/>
            </a:xfrm>
            <a:prstGeom prst="curvedConnector3">
              <a:avLst>
                <a:gd name="adj1" fmla="val -71522"/>
              </a:avLst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85699258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C5ED6E-EB25-479E-9970-9D216B5A0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后序线索二叉树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ABB020-D376-47C1-B3C2-872B2F10E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5"/>
            <a:ext cx="8642659" cy="812287"/>
          </a:xfrm>
        </p:spPr>
        <p:txBody>
          <a:bodyPr/>
          <a:lstStyle/>
          <a:p>
            <a:r>
              <a:rPr lang="zh-CN" altLang="en-US" dirty="0"/>
              <a:t>在后序线索二叉树中寻找当前结点的后继</a:t>
            </a:r>
          </a:p>
          <a:p>
            <a:endParaRPr lang="zh-CN" altLang="en-US" dirty="0"/>
          </a:p>
        </p:txBody>
      </p:sp>
      <p:grpSp>
        <p:nvGrpSpPr>
          <p:cNvPr id="4" name="Group 48">
            <a:extLst>
              <a:ext uri="{FF2B5EF4-FFF2-40B4-BE49-F238E27FC236}">
                <a16:creationId xmlns:a16="http://schemas.microsoft.com/office/drawing/2014/main" id="{3E7BFE00-36E0-42C4-AB0C-58EC9023E30D}"/>
              </a:ext>
            </a:extLst>
          </p:cNvPr>
          <p:cNvGrpSpPr>
            <a:grpSpLocks/>
          </p:cNvGrpSpPr>
          <p:nvPr/>
        </p:nvGrpSpPr>
        <p:grpSpPr bwMode="auto">
          <a:xfrm>
            <a:off x="306080" y="1439252"/>
            <a:ext cx="8585953" cy="5257802"/>
            <a:chOff x="445" y="637"/>
            <a:chExt cx="5148" cy="3312"/>
          </a:xfrm>
        </p:grpSpPr>
        <p:sp>
          <p:nvSpPr>
            <p:cNvPr id="5" name="Line 2">
              <a:extLst>
                <a:ext uri="{FF2B5EF4-FFF2-40B4-BE49-F238E27FC236}">
                  <a16:creationId xmlns:a16="http://schemas.microsoft.com/office/drawing/2014/main" id="{B9B30FFB-1FCD-44D7-BD79-F12AC37AA1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77" y="1557"/>
              <a:ext cx="144" cy="38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" name="Line 3">
              <a:extLst>
                <a:ext uri="{FF2B5EF4-FFF2-40B4-BE49-F238E27FC236}">
                  <a16:creationId xmlns:a16="http://schemas.microsoft.com/office/drawing/2014/main" id="{D0A76A9A-8E9A-4B89-A63A-DCD9A3D67B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" y="1509"/>
              <a:ext cx="144" cy="4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9841494F-53DB-4062-B575-93D72793D9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9" y="981"/>
              <a:ext cx="432" cy="4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928BA14E-99D9-48EF-A46D-54FBA407E7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9" y="1029"/>
              <a:ext cx="384" cy="38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EBBF5B60-83BE-4F37-A399-5D9E64D83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" y="837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endParaRPr kumimoji="1" lang="zh-CN" altLang="en-US">
                <a:latin typeface="+mn-ea"/>
                <a:ea typeface="+mn-ea"/>
              </a:endParaRPr>
            </a:p>
          </p:txBody>
        </p:sp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8FF0E4A8-AC73-4DD7-B401-A2DA6CBF1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" y="1317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" name="Oval 11">
              <a:extLst>
                <a:ext uri="{FF2B5EF4-FFF2-40B4-BE49-F238E27FC236}">
                  <a16:creationId xmlns:a16="http://schemas.microsoft.com/office/drawing/2014/main" id="{C6BAC18E-182E-414A-91F2-9186F37BD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5" y="1317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2" name="Oval 12">
              <a:extLst>
                <a:ext uri="{FF2B5EF4-FFF2-40B4-BE49-F238E27FC236}">
                  <a16:creationId xmlns:a16="http://schemas.microsoft.com/office/drawing/2014/main" id="{5C3AC9A1-ABCD-4DFE-8E95-0191C35E1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1893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" name="Oval 13">
              <a:extLst>
                <a:ext uri="{FF2B5EF4-FFF2-40B4-BE49-F238E27FC236}">
                  <a16:creationId xmlns:a16="http://schemas.microsoft.com/office/drawing/2014/main" id="{B63DEBE4-5875-420B-9ECA-B7790B186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3" y="1893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DE53012-0CA6-4961-8FB1-9F7D0167264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3" y="2133"/>
              <a:ext cx="240" cy="56"/>
            </a:xfrm>
            <a:custGeom>
              <a:avLst/>
              <a:gdLst>
                <a:gd name="T0" fmla="*/ 0 w 240"/>
                <a:gd name="T1" fmla="*/ 0 h 56"/>
                <a:gd name="T2" fmla="*/ 48 w 240"/>
                <a:gd name="T3" fmla="*/ 48 h 56"/>
                <a:gd name="T4" fmla="*/ 144 w 240"/>
                <a:gd name="T5" fmla="*/ 48 h 56"/>
                <a:gd name="T6" fmla="*/ 240 w 240"/>
                <a:gd name="T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0" h="56">
                  <a:moveTo>
                    <a:pt x="0" y="0"/>
                  </a:moveTo>
                  <a:cubicBezTo>
                    <a:pt x="12" y="20"/>
                    <a:pt x="24" y="40"/>
                    <a:pt x="48" y="48"/>
                  </a:cubicBezTo>
                  <a:cubicBezTo>
                    <a:pt x="72" y="56"/>
                    <a:pt x="112" y="56"/>
                    <a:pt x="144" y="48"/>
                  </a:cubicBezTo>
                  <a:cubicBezTo>
                    <a:pt x="176" y="40"/>
                    <a:pt x="224" y="8"/>
                    <a:pt x="240" y="0"/>
                  </a:cubicBez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ysDot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80CCA3BE-11E1-44CB-A247-D5920D8924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63" y="1557"/>
              <a:ext cx="384" cy="640"/>
            </a:xfrm>
            <a:custGeom>
              <a:avLst/>
              <a:gdLst>
                <a:gd name="T0" fmla="*/ 192 w 384"/>
                <a:gd name="T1" fmla="*/ 576 h 640"/>
                <a:gd name="T2" fmla="*/ 144 w 384"/>
                <a:gd name="T3" fmla="*/ 624 h 640"/>
                <a:gd name="T4" fmla="*/ 48 w 384"/>
                <a:gd name="T5" fmla="*/ 624 h 640"/>
                <a:gd name="T6" fmla="*/ 0 w 384"/>
                <a:gd name="T7" fmla="*/ 528 h 640"/>
                <a:gd name="T8" fmla="*/ 48 w 384"/>
                <a:gd name="T9" fmla="*/ 384 h 640"/>
                <a:gd name="T10" fmla="*/ 144 w 384"/>
                <a:gd name="T11" fmla="*/ 240 h 640"/>
                <a:gd name="T12" fmla="*/ 240 w 384"/>
                <a:gd name="T13" fmla="*/ 144 h 640"/>
                <a:gd name="T14" fmla="*/ 384 w 384"/>
                <a:gd name="T15" fmla="*/ 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4" h="640">
                  <a:moveTo>
                    <a:pt x="192" y="576"/>
                  </a:moveTo>
                  <a:cubicBezTo>
                    <a:pt x="180" y="596"/>
                    <a:pt x="168" y="616"/>
                    <a:pt x="144" y="624"/>
                  </a:cubicBezTo>
                  <a:cubicBezTo>
                    <a:pt x="120" y="632"/>
                    <a:pt x="72" y="640"/>
                    <a:pt x="48" y="624"/>
                  </a:cubicBezTo>
                  <a:cubicBezTo>
                    <a:pt x="24" y="608"/>
                    <a:pt x="0" y="568"/>
                    <a:pt x="0" y="528"/>
                  </a:cubicBezTo>
                  <a:cubicBezTo>
                    <a:pt x="0" y="488"/>
                    <a:pt x="24" y="432"/>
                    <a:pt x="48" y="384"/>
                  </a:cubicBezTo>
                  <a:cubicBezTo>
                    <a:pt x="72" y="336"/>
                    <a:pt x="112" y="280"/>
                    <a:pt x="144" y="240"/>
                  </a:cubicBezTo>
                  <a:cubicBezTo>
                    <a:pt x="176" y="200"/>
                    <a:pt x="200" y="184"/>
                    <a:pt x="240" y="144"/>
                  </a:cubicBezTo>
                  <a:cubicBezTo>
                    <a:pt x="280" y="104"/>
                    <a:pt x="360" y="24"/>
                    <a:pt x="384" y="0"/>
                  </a:cubicBez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ysDot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B3AA8505-D210-42C9-BB6F-EE35E844766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95" y="1557"/>
              <a:ext cx="576" cy="624"/>
            </a:xfrm>
            <a:custGeom>
              <a:avLst/>
              <a:gdLst>
                <a:gd name="T0" fmla="*/ 0 w 576"/>
                <a:gd name="T1" fmla="*/ 576 h 624"/>
                <a:gd name="T2" fmla="*/ 48 w 576"/>
                <a:gd name="T3" fmla="*/ 624 h 624"/>
                <a:gd name="T4" fmla="*/ 96 w 576"/>
                <a:gd name="T5" fmla="*/ 576 h 624"/>
                <a:gd name="T6" fmla="*/ 144 w 576"/>
                <a:gd name="T7" fmla="*/ 432 h 624"/>
                <a:gd name="T8" fmla="*/ 192 w 576"/>
                <a:gd name="T9" fmla="*/ 288 h 624"/>
                <a:gd name="T10" fmla="*/ 240 w 576"/>
                <a:gd name="T11" fmla="*/ 192 h 624"/>
                <a:gd name="T12" fmla="*/ 336 w 576"/>
                <a:gd name="T13" fmla="*/ 96 h 624"/>
                <a:gd name="T14" fmla="*/ 432 w 576"/>
                <a:gd name="T15" fmla="*/ 48 h 624"/>
                <a:gd name="T16" fmla="*/ 576 w 576"/>
                <a:gd name="T17" fmla="*/ 0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6" h="624">
                  <a:moveTo>
                    <a:pt x="0" y="576"/>
                  </a:moveTo>
                  <a:cubicBezTo>
                    <a:pt x="16" y="600"/>
                    <a:pt x="32" y="624"/>
                    <a:pt x="48" y="624"/>
                  </a:cubicBezTo>
                  <a:cubicBezTo>
                    <a:pt x="64" y="624"/>
                    <a:pt x="80" y="608"/>
                    <a:pt x="96" y="576"/>
                  </a:cubicBezTo>
                  <a:cubicBezTo>
                    <a:pt x="112" y="544"/>
                    <a:pt x="128" y="480"/>
                    <a:pt x="144" y="432"/>
                  </a:cubicBezTo>
                  <a:cubicBezTo>
                    <a:pt x="160" y="384"/>
                    <a:pt x="176" y="328"/>
                    <a:pt x="192" y="288"/>
                  </a:cubicBezTo>
                  <a:cubicBezTo>
                    <a:pt x="208" y="248"/>
                    <a:pt x="216" y="224"/>
                    <a:pt x="240" y="192"/>
                  </a:cubicBezTo>
                  <a:cubicBezTo>
                    <a:pt x="264" y="160"/>
                    <a:pt x="304" y="120"/>
                    <a:pt x="336" y="96"/>
                  </a:cubicBezTo>
                  <a:cubicBezTo>
                    <a:pt x="368" y="72"/>
                    <a:pt x="392" y="64"/>
                    <a:pt x="432" y="48"/>
                  </a:cubicBezTo>
                  <a:cubicBezTo>
                    <a:pt x="472" y="32"/>
                    <a:pt x="552" y="8"/>
                    <a:pt x="576" y="0"/>
                  </a:cubicBez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ysDot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734EEED-A82C-4214-A76B-88328ED8245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175" y="981"/>
              <a:ext cx="640" cy="624"/>
            </a:xfrm>
            <a:custGeom>
              <a:avLst/>
              <a:gdLst>
                <a:gd name="T0" fmla="*/ 208 w 640"/>
                <a:gd name="T1" fmla="*/ 576 h 624"/>
                <a:gd name="T2" fmla="*/ 112 w 640"/>
                <a:gd name="T3" fmla="*/ 624 h 624"/>
                <a:gd name="T4" fmla="*/ 16 w 640"/>
                <a:gd name="T5" fmla="*/ 576 h 624"/>
                <a:gd name="T6" fmla="*/ 16 w 640"/>
                <a:gd name="T7" fmla="*/ 480 h 624"/>
                <a:gd name="T8" fmla="*/ 112 w 640"/>
                <a:gd name="T9" fmla="*/ 336 h 624"/>
                <a:gd name="T10" fmla="*/ 208 w 640"/>
                <a:gd name="T11" fmla="*/ 240 h 624"/>
                <a:gd name="T12" fmla="*/ 352 w 640"/>
                <a:gd name="T13" fmla="*/ 144 h 624"/>
                <a:gd name="T14" fmla="*/ 544 w 640"/>
                <a:gd name="T15" fmla="*/ 48 h 624"/>
                <a:gd name="T16" fmla="*/ 640 w 640"/>
                <a:gd name="T17" fmla="*/ 0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40" h="624">
                  <a:moveTo>
                    <a:pt x="208" y="576"/>
                  </a:moveTo>
                  <a:cubicBezTo>
                    <a:pt x="176" y="600"/>
                    <a:pt x="144" y="624"/>
                    <a:pt x="112" y="624"/>
                  </a:cubicBezTo>
                  <a:cubicBezTo>
                    <a:pt x="80" y="624"/>
                    <a:pt x="32" y="600"/>
                    <a:pt x="16" y="576"/>
                  </a:cubicBezTo>
                  <a:cubicBezTo>
                    <a:pt x="0" y="552"/>
                    <a:pt x="0" y="520"/>
                    <a:pt x="16" y="480"/>
                  </a:cubicBezTo>
                  <a:cubicBezTo>
                    <a:pt x="32" y="440"/>
                    <a:pt x="80" y="376"/>
                    <a:pt x="112" y="336"/>
                  </a:cubicBezTo>
                  <a:cubicBezTo>
                    <a:pt x="144" y="296"/>
                    <a:pt x="168" y="272"/>
                    <a:pt x="208" y="240"/>
                  </a:cubicBezTo>
                  <a:cubicBezTo>
                    <a:pt x="248" y="208"/>
                    <a:pt x="296" y="176"/>
                    <a:pt x="352" y="144"/>
                  </a:cubicBezTo>
                  <a:cubicBezTo>
                    <a:pt x="408" y="112"/>
                    <a:pt x="496" y="72"/>
                    <a:pt x="544" y="48"/>
                  </a:cubicBezTo>
                  <a:cubicBezTo>
                    <a:pt x="592" y="24"/>
                    <a:pt x="624" y="8"/>
                    <a:pt x="640" y="0"/>
                  </a:cubicBez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ysDot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11570A91-A85D-449C-9A3F-5B3389071E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409" y="1541"/>
              <a:ext cx="256" cy="640"/>
            </a:xfrm>
            <a:custGeom>
              <a:avLst/>
              <a:gdLst>
                <a:gd name="T0" fmla="*/ 256 w 256"/>
                <a:gd name="T1" fmla="*/ 576 h 640"/>
                <a:gd name="T2" fmla="*/ 208 w 256"/>
                <a:gd name="T3" fmla="*/ 624 h 640"/>
                <a:gd name="T4" fmla="*/ 112 w 256"/>
                <a:gd name="T5" fmla="*/ 624 h 640"/>
                <a:gd name="T6" fmla="*/ 16 w 256"/>
                <a:gd name="T7" fmla="*/ 528 h 640"/>
                <a:gd name="T8" fmla="*/ 16 w 256"/>
                <a:gd name="T9" fmla="*/ 288 h 640"/>
                <a:gd name="T10" fmla="*/ 112 w 256"/>
                <a:gd name="T11" fmla="*/ 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6" h="640">
                  <a:moveTo>
                    <a:pt x="256" y="576"/>
                  </a:moveTo>
                  <a:cubicBezTo>
                    <a:pt x="244" y="596"/>
                    <a:pt x="232" y="616"/>
                    <a:pt x="208" y="624"/>
                  </a:cubicBezTo>
                  <a:cubicBezTo>
                    <a:pt x="184" y="632"/>
                    <a:pt x="144" y="640"/>
                    <a:pt x="112" y="624"/>
                  </a:cubicBezTo>
                  <a:cubicBezTo>
                    <a:pt x="80" y="608"/>
                    <a:pt x="32" y="584"/>
                    <a:pt x="16" y="528"/>
                  </a:cubicBezTo>
                  <a:cubicBezTo>
                    <a:pt x="0" y="472"/>
                    <a:pt x="0" y="376"/>
                    <a:pt x="16" y="288"/>
                  </a:cubicBezTo>
                  <a:cubicBezTo>
                    <a:pt x="32" y="200"/>
                    <a:pt x="96" y="48"/>
                    <a:pt x="112" y="0"/>
                  </a:cubicBez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ysDot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9355753A-65E5-4EC5-BFB8-D5A6CD843B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2" y="637"/>
              <a:ext cx="153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b="1" dirty="0">
                  <a:solidFill>
                    <a:srgbClr val="CC3300"/>
                  </a:solidFill>
                  <a:latin typeface="+mn-ea"/>
                  <a:ea typeface="+mn-ea"/>
                </a:rPr>
                <a:t>p-&gt;</a:t>
              </a:r>
              <a:r>
                <a:rPr kumimoji="1" lang="en-US" altLang="zh-CN" b="1" dirty="0" err="1">
                  <a:solidFill>
                    <a:srgbClr val="CC3300"/>
                  </a:solidFill>
                  <a:latin typeface="+mn-ea"/>
                  <a:ea typeface="+mn-ea"/>
                </a:rPr>
                <a:t>rtag</a:t>
              </a:r>
              <a:r>
                <a:rPr kumimoji="1" lang="en-US" altLang="zh-CN" b="1" dirty="0">
                  <a:solidFill>
                    <a:srgbClr val="CC3300"/>
                  </a:solidFill>
                  <a:latin typeface="+mn-ea"/>
                  <a:ea typeface="+mn-ea"/>
                </a:rPr>
                <a:t>==1?</a:t>
              </a:r>
              <a:endParaRPr kumimoji="1" lang="en-US" altLang="zh-CN" dirty="0">
                <a:latin typeface="+mn-ea"/>
                <a:ea typeface="+mn-ea"/>
              </a:endParaRP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07AAD9B3-6437-4B5B-B569-8F4E401145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5" y="981"/>
              <a:ext cx="501" cy="48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552FAA3D-E04B-46D1-A705-50B65F9B9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9" y="949"/>
              <a:ext cx="528" cy="51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6BF3AD96-3E9C-4675-87CC-EBB9E0F54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032"/>
              <a:ext cx="139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zh-CN" altLang="en-US" b="0" dirty="0">
                  <a:solidFill>
                    <a:srgbClr val="0000FF"/>
                  </a:solidFill>
                  <a:latin typeface="+mn-ea"/>
                  <a:ea typeface="+mn-ea"/>
                </a:rPr>
                <a:t>后继线索    </a:t>
              </a:r>
              <a:r>
                <a:rPr kumimoji="1" lang="en-US" altLang="zh-CN" b="1" dirty="0">
                  <a:solidFill>
                    <a:srgbClr val="0000FF"/>
                  </a:solidFill>
                  <a:latin typeface="+mn-ea"/>
                  <a:ea typeface="+mn-ea"/>
                </a:rPr>
                <a:t>=</a:t>
              </a:r>
              <a:endParaRPr kumimoji="1" lang="en-US" altLang="zh-CN" dirty="0">
                <a:solidFill>
                  <a:srgbClr val="0000FF"/>
                </a:solidFill>
                <a:latin typeface="+mn-ea"/>
                <a:ea typeface="+mn-ea"/>
              </a:endParaRPr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793964B6-CEC5-4FDD-ACA5-2A7F41530C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9" y="1033"/>
              <a:ext cx="114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zh-CN" altLang="en-US" b="1" dirty="0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    </a:t>
              </a:r>
              <a:r>
                <a:rPr kumimoji="1" lang="zh-CN" altLang="en-US" b="0" dirty="0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右子女</a:t>
              </a:r>
              <a:endParaRPr kumimoji="1" lang="zh-CN" altLang="en-US" b="0" dirty="0">
                <a:solidFill>
                  <a:srgbClr val="0000FF"/>
                </a:solidFill>
                <a:latin typeface="+mn-ea"/>
                <a:ea typeface="+mn-ea"/>
              </a:endParaRPr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6D224E56-E1E8-43EF-BB4F-78644CF10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3348"/>
              <a:ext cx="2105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zh-CN" altLang="en-US" b="1" dirty="0">
                  <a:solidFill>
                    <a:srgbClr val="006600"/>
                  </a:solidFill>
                  <a:latin typeface="+mn-ea"/>
                  <a:ea typeface="+mn-ea"/>
                </a:rPr>
                <a:t>后继为 </a:t>
              </a:r>
              <a:r>
                <a:rPr kumimoji="1" lang="en-US" altLang="zh-CN" b="1" dirty="0">
                  <a:solidFill>
                    <a:srgbClr val="CC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ea"/>
                  <a:ea typeface="+mn-ea"/>
                </a:rPr>
                <a:t>q </a:t>
              </a:r>
              <a:r>
                <a:rPr kumimoji="1" lang="zh-CN" altLang="en-US" b="1" dirty="0">
                  <a:solidFill>
                    <a:srgbClr val="006600"/>
                  </a:solidFill>
                  <a:latin typeface="+mn-ea"/>
                  <a:ea typeface="+mn-ea"/>
                </a:rPr>
                <a:t>的右子树中</a:t>
              </a:r>
            </a:p>
            <a:p>
              <a:r>
                <a:rPr kumimoji="1" lang="zh-CN" altLang="en-US" b="1" dirty="0">
                  <a:solidFill>
                    <a:srgbClr val="006600"/>
                  </a:solidFill>
                  <a:latin typeface="+mn-ea"/>
                  <a:ea typeface="+mn-ea"/>
                </a:rPr>
                <a:t>后序下第一个结点</a:t>
              </a:r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957B0BAE-B731-40B7-A889-67A92840D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0" y="1488"/>
              <a:ext cx="1124" cy="5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kumimoji="1" lang="zh-CN" altLang="en-US" b="1" dirty="0">
                  <a:solidFill>
                    <a:srgbClr val="009900"/>
                  </a:solidFill>
                  <a:latin typeface="+mn-ea"/>
                  <a:ea typeface="+mn-ea"/>
                </a:rPr>
                <a:t>    </a:t>
              </a:r>
              <a:r>
                <a:rPr kumimoji="1" lang="zh-CN" altLang="en-US" b="1" dirty="0">
                  <a:solidFill>
                    <a:srgbClr val="006600"/>
                  </a:solidFill>
                  <a:latin typeface="+mn-ea"/>
                  <a:ea typeface="+mn-ea"/>
                </a:rPr>
                <a:t>后继为</a:t>
              </a:r>
            </a:p>
            <a:p>
              <a:pPr>
                <a:lnSpc>
                  <a:spcPct val="90000"/>
                </a:lnSpc>
              </a:pPr>
              <a:r>
                <a:rPr kumimoji="1" lang="en-US" altLang="zh-CN" b="1" dirty="0">
                  <a:solidFill>
                    <a:srgbClr val="CC3300"/>
                  </a:solidFill>
                  <a:latin typeface="+mn-ea"/>
                  <a:ea typeface="+mn-ea"/>
                </a:rPr>
                <a:t>p-&gt;</a:t>
              </a:r>
              <a:r>
                <a:rPr kumimoji="1" lang="en-US" altLang="zh-CN" b="1" dirty="0" err="1">
                  <a:solidFill>
                    <a:srgbClr val="CC3300"/>
                  </a:solidFill>
                  <a:latin typeface="+mn-ea"/>
                  <a:ea typeface="+mn-ea"/>
                </a:rPr>
                <a:t>rchild</a:t>
              </a:r>
              <a:endParaRPr kumimoji="1" lang="en-US" altLang="zh-CN" dirty="0">
                <a:latin typeface="+mn-ea"/>
                <a:ea typeface="+mn-ea"/>
              </a:endParaRPr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8D0CC0A8-04F6-4FDA-B398-A87E5E176D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87" y="1941"/>
              <a:ext cx="432" cy="4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5014B5A9-6898-4007-9B05-D968629A03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5" y="1941"/>
              <a:ext cx="411" cy="39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" name="Text Box 28">
              <a:extLst>
                <a:ext uri="{FF2B5EF4-FFF2-40B4-BE49-F238E27FC236}">
                  <a16:creationId xmlns:a16="http://schemas.microsoft.com/office/drawing/2014/main" id="{2160FD71-CD6A-4B88-ACCE-4753083EC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7" y="1930"/>
              <a:ext cx="27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b="1" dirty="0">
                  <a:solidFill>
                    <a:schemeClr val="accent2"/>
                  </a:solidFill>
                  <a:latin typeface="+mn-ea"/>
                  <a:ea typeface="+mn-ea"/>
                </a:rPr>
                <a:t>=</a:t>
              </a:r>
              <a:endParaRPr kumimoji="1" lang="en-US" altLang="zh-CN" dirty="0">
                <a:latin typeface="+mn-ea"/>
                <a:ea typeface="+mn-ea"/>
              </a:endParaRPr>
            </a:p>
          </p:txBody>
        </p:sp>
        <p:sp>
          <p:nvSpPr>
            <p:cNvPr id="29" name="Text Box 29">
              <a:extLst>
                <a:ext uri="{FF2B5EF4-FFF2-40B4-BE49-F238E27FC236}">
                  <a16:creationId xmlns:a16="http://schemas.microsoft.com/office/drawing/2014/main" id="{AAE18C19-418A-444C-A9A1-60F68A72EF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5" y="1940"/>
              <a:ext cx="2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zh-CN" altLang="en-US" b="1">
                  <a:solidFill>
                    <a:schemeClr val="accent2"/>
                  </a:solidFill>
                  <a:latin typeface="+mn-ea"/>
                  <a:ea typeface="+mn-ea"/>
                  <a:sym typeface="Symbol" panose="05050102010706020507" pitchFamily="18" charset="2"/>
                </a:rPr>
                <a:t></a:t>
              </a:r>
              <a:endParaRPr kumimoji="1" lang="zh-CN" altLang="en-US">
                <a:latin typeface="+mn-ea"/>
                <a:ea typeface="+mn-ea"/>
              </a:endParaRPr>
            </a:p>
          </p:txBody>
        </p:sp>
        <p:sp>
          <p:nvSpPr>
            <p:cNvPr id="30" name="Text Box 30">
              <a:extLst>
                <a:ext uri="{FF2B5EF4-FFF2-40B4-BE49-F238E27FC236}">
                  <a16:creationId xmlns:a16="http://schemas.microsoft.com/office/drawing/2014/main" id="{810144DF-17C5-49A0-95CA-6B54F37311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7" y="2333"/>
              <a:ext cx="82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zh-CN" altLang="en-US" b="1">
                  <a:solidFill>
                    <a:srgbClr val="006600"/>
                  </a:solidFill>
                  <a:latin typeface="+mn-ea"/>
                  <a:ea typeface="+mn-ea"/>
                </a:rPr>
                <a:t>无后继</a:t>
              </a:r>
              <a:r>
                <a:rPr kumimoji="1" lang="zh-CN" altLang="en-US" b="1">
                  <a:solidFill>
                    <a:srgbClr val="009900"/>
                  </a:solidFill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31" name="Text Box 31">
              <a:extLst>
                <a:ext uri="{FF2B5EF4-FFF2-40B4-BE49-F238E27FC236}">
                  <a16:creationId xmlns:a16="http://schemas.microsoft.com/office/drawing/2014/main" id="{65CFA1EB-9980-4826-B04B-685A41E34C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7" y="3348"/>
              <a:ext cx="10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1" lang="zh-CN" altLang="en-US" b="1" dirty="0">
                  <a:solidFill>
                    <a:srgbClr val="006600"/>
                  </a:solidFill>
                  <a:latin typeface="+mn-ea"/>
                  <a:ea typeface="+mn-ea"/>
                </a:rPr>
                <a:t>后继为 </a:t>
              </a:r>
              <a:r>
                <a:rPr kumimoji="1" lang="en-US" altLang="zh-CN" b="1" dirty="0">
                  <a:solidFill>
                    <a:srgbClr val="CC3300"/>
                  </a:solidFill>
                  <a:latin typeface="+mn-ea"/>
                  <a:ea typeface="+mn-ea"/>
                </a:rPr>
                <a:t>q</a:t>
              </a:r>
              <a:endParaRPr kumimoji="1" lang="en-US" altLang="zh-CN" dirty="0">
                <a:latin typeface="+mn-ea"/>
                <a:ea typeface="+mn-ea"/>
              </a:endParaRPr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DDF70CC3-3210-48CE-B4B2-58D8618EE3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3" y="770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 dirty="0">
                  <a:solidFill>
                    <a:srgbClr val="009900"/>
                  </a:solidFill>
                  <a:latin typeface="+mn-ea"/>
                  <a:ea typeface="+mn-ea"/>
                </a:rPr>
                <a:t>A</a:t>
              </a:r>
              <a:endParaRPr kumimoji="1" lang="en-US" altLang="zh-CN" dirty="0">
                <a:latin typeface="+mn-ea"/>
                <a:ea typeface="+mn-ea"/>
              </a:endParaRPr>
            </a:p>
          </p:txBody>
        </p:sp>
        <p:sp>
          <p:nvSpPr>
            <p:cNvPr id="33" name="Text Box 33">
              <a:extLst>
                <a:ext uri="{FF2B5EF4-FFF2-40B4-BE49-F238E27FC236}">
                  <a16:creationId xmlns:a16="http://schemas.microsoft.com/office/drawing/2014/main" id="{700A3FD5-A11F-4308-B07C-60ED42295F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" y="1269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 dirty="0">
                  <a:solidFill>
                    <a:srgbClr val="009900"/>
                  </a:solidFill>
                  <a:latin typeface="+mn-ea"/>
                  <a:ea typeface="+mn-ea"/>
                </a:rPr>
                <a:t>B</a:t>
              </a:r>
              <a:endParaRPr kumimoji="1" lang="en-US" altLang="zh-CN" dirty="0">
                <a:latin typeface="+mn-ea"/>
                <a:ea typeface="+mn-ea"/>
              </a:endParaRPr>
            </a:p>
          </p:txBody>
        </p:sp>
        <p:sp>
          <p:nvSpPr>
            <p:cNvPr id="34" name="Text Box 34">
              <a:extLst>
                <a:ext uri="{FF2B5EF4-FFF2-40B4-BE49-F238E27FC236}">
                  <a16:creationId xmlns:a16="http://schemas.microsoft.com/office/drawing/2014/main" id="{3B9D110A-BC69-4E16-B2D7-F669FD3A9E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8" y="1277"/>
              <a:ext cx="25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 dirty="0">
                  <a:solidFill>
                    <a:srgbClr val="009900"/>
                  </a:solidFill>
                  <a:latin typeface="+mn-ea"/>
                  <a:ea typeface="+mn-ea"/>
                </a:rPr>
                <a:t>C</a:t>
              </a:r>
              <a:endParaRPr kumimoji="1" lang="en-US" altLang="zh-CN" dirty="0">
                <a:latin typeface="+mn-ea"/>
                <a:ea typeface="+mn-ea"/>
              </a:endParaRPr>
            </a:p>
          </p:txBody>
        </p:sp>
        <p:sp>
          <p:nvSpPr>
            <p:cNvPr id="35" name="Text Box 35">
              <a:extLst>
                <a:ext uri="{FF2B5EF4-FFF2-40B4-BE49-F238E27FC236}">
                  <a16:creationId xmlns:a16="http://schemas.microsoft.com/office/drawing/2014/main" id="{C416D898-2BF5-407E-B2AA-4B99C2AE54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5" y="1853"/>
              <a:ext cx="23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>
                  <a:solidFill>
                    <a:srgbClr val="009900"/>
                  </a:solidFill>
                  <a:latin typeface="+mn-ea"/>
                  <a:ea typeface="+mn-ea"/>
                </a:rPr>
                <a:t>E</a:t>
              </a:r>
              <a:endParaRPr kumimoji="1" lang="en-US" altLang="zh-CN">
                <a:latin typeface="+mn-ea"/>
                <a:ea typeface="+mn-ea"/>
              </a:endParaRPr>
            </a:p>
          </p:txBody>
        </p:sp>
        <p:sp>
          <p:nvSpPr>
            <p:cNvPr id="36" name="Text Box 36">
              <a:extLst>
                <a:ext uri="{FF2B5EF4-FFF2-40B4-BE49-F238E27FC236}">
                  <a16:creationId xmlns:a16="http://schemas.microsoft.com/office/drawing/2014/main" id="{627C4D2C-5236-47C4-BC0D-359CAC51F7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" y="1853"/>
              <a:ext cx="28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>
                  <a:solidFill>
                    <a:srgbClr val="009900"/>
                  </a:solidFill>
                  <a:latin typeface="+mn-ea"/>
                  <a:ea typeface="+mn-ea"/>
                </a:rPr>
                <a:t>D</a:t>
              </a:r>
              <a:endParaRPr kumimoji="1" lang="en-US" altLang="zh-CN">
                <a:latin typeface="+mn-ea"/>
                <a:ea typeface="+mn-ea"/>
              </a:endParaRPr>
            </a:p>
          </p:txBody>
        </p:sp>
        <p:sp>
          <p:nvSpPr>
            <p:cNvPr id="37" name="Text Box 37">
              <a:extLst>
                <a:ext uri="{FF2B5EF4-FFF2-40B4-BE49-F238E27FC236}">
                  <a16:creationId xmlns:a16="http://schemas.microsoft.com/office/drawing/2014/main" id="{BB54D573-E226-4E28-8F62-FBE3083959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8" y="1397"/>
              <a:ext cx="1529" cy="5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b="1" dirty="0">
                  <a:solidFill>
                    <a:srgbClr val="CC3300"/>
                  </a:solidFill>
                  <a:latin typeface="+mn-ea"/>
                  <a:ea typeface="+mn-ea"/>
                </a:rPr>
                <a:t>q=p-&gt;parent</a:t>
              </a:r>
            </a:p>
            <a:p>
              <a:pPr algn="ctr">
                <a:lnSpc>
                  <a:spcPct val="90000"/>
                </a:lnSpc>
              </a:pPr>
              <a:r>
                <a:rPr kumimoji="1" lang="en-US" altLang="zh-CN" b="1" dirty="0">
                  <a:solidFill>
                    <a:srgbClr val="CC3300"/>
                  </a:solidFill>
                  <a:latin typeface="+mn-ea"/>
                  <a:ea typeface="+mn-ea"/>
                </a:rPr>
                <a:t>q==NULL?</a:t>
              </a:r>
              <a:endParaRPr kumimoji="1" lang="en-US" altLang="zh-CN" dirty="0">
                <a:latin typeface="+mn-ea"/>
                <a:ea typeface="+mn-ea"/>
              </a:endParaRPr>
            </a:p>
          </p:txBody>
        </p:sp>
        <p:sp>
          <p:nvSpPr>
            <p:cNvPr id="38" name="Text Box 38">
              <a:extLst>
                <a:ext uri="{FF2B5EF4-FFF2-40B4-BE49-F238E27FC236}">
                  <a16:creationId xmlns:a16="http://schemas.microsoft.com/office/drawing/2014/main" id="{C1E6E57E-1B0D-48DD-B2FC-672803A8E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0" y="2302"/>
              <a:ext cx="1697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>
                  <a:solidFill>
                    <a:srgbClr val="CC3300"/>
                  </a:solidFill>
                  <a:latin typeface="+mn-ea"/>
                  <a:ea typeface="+mn-ea"/>
                </a:rPr>
                <a:t>q-&gt;rtag==1 ||</a:t>
              </a:r>
            </a:p>
            <a:p>
              <a:pPr algn="ctr"/>
              <a:r>
                <a:rPr kumimoji="1" lang="en-US" altLang="zh-CN" b="1">
                  <a:solidFill>
                    <a:srgbClr val="CC3300"/>
                  </a:solidFill>
                  <a:latin typeface="+mn-ea"/>
                  <a:ea typeface="+mn-ea"/>
                </a:rPr>
                <a:t>q-&gt;rchild==p?</a:t>
              </a:r>
              <a:endParaRPr kumimoji="1" lang="en-US" altLang="zh-CN">
                <a:latin typeface="+mn-ea"/>
                <a:ea typeface="+mn-ea"/>
              </a:endParaRPr>
            </a:p>
          </p:txBody>
        </p:sp>
        <p:sp>
          <p:nvSpPr>
            <p:cNvPr id="39" name="Line 39">
              <a:extLst>
                <a:ext uri="{FF2B5EF4-FFF2-40B4-BE49-F238E27FC236}">
                  <a16:creationId xmlns:a16="http://schemas.microsoft.com/office/drawing/2014/main" id="{5AB6D3DA-707C-4E77-B876-AC53E31CE7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70" y="2901"/>
              <a:ext cx="432" cy="4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0" name="Line 40">
              <a:extLst>
                <a:ext uri="{FF2B5EF4-FFF2-40B4-BE49-F238E27FC236}">
                  <a16:creationId xmlns:a16="http://schemas.microsoft.com/office/drawing/2014/main" id="{B0436AE6-4EE5-4AD3-A59E-4AAB18FED7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2901"/>
              <a:ext cx="432" cy="4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1" name="Text Box 41">
              <a:extLst>
                <a:ext uri="{FF2B5EF4-FFF2-40B4-BE49-F238E27FC236}">
                  <a16:creationId xmlns:a16="http://schemas.microsoft.com/office/drawing/2014/main" id="{7B7CBB90-901F-48FB-8C70-4158E44FF8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9" y="2900"/>
              <a:ext cx="27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b="1">
                  <a:solidFill>
                    <a:schemeClr val="accent2"/>
                  </a:solidFill>
                  <a:latin typeface="+mn-ea"/>
                  <a:ea typeface="+mn-ea"/>
                </a:rPr>
                <a:t>=</a:t>
              </a:r>
              <a:endParaRPr kumimoji="1" lang="en-US" altLang="zh-CN">
                <a:latin typeface="+mn-ea"/>
                <a:ea typeface="+mn-ea"/>
              </a:endParaRPr>
            </a:p>
          </p:txBody>
        </p:sp>
        <p:sp>
          <p:nvSpPr>
            <p:cNvPr id="42" name="Text Box 42">
              <a:extLst>
                <a:ext uri="{FF2B5EF4-FFF2-40B4-BE49-F238E27FC236}">
                  <a16:creationId xmlns:a16="http://schemas.microsoft.com/office/drawing/2014/main" id="{82F5ECBD-0DC7-42F1-915B-3964CA2F82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2900"/>
              <a:ext cx="2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zh-CN" altLang="en-US" b="1" dirty="0">
                  <a:solidFill>
                    <a:schemeClr val="accent2"/>
                  </a:solidFill>
                  <a:latin typeface="+mn-ea"/>
                  <a:ea typeface="+mn-ea"/>
                  <a:sym typeface="Symbol" panose="05050102010706020507" pitchFamily="18" charset="2"/>
                </a:rPr>
                <a:t></a:t>
              </a:r>
              <a:endParaRPr kumimoji="1" lang="zh-CN" altLang="en-US" dirty="0">
                <a:latin typeface="+mn-ea"/>
                <a:ea typeface="+mn-ea"/>
              </a:endParaRPr>
            </a:p>
          </p:txBody>
        </p:sp>
        <p:cxnSp>
          <p:nvCxnSpPr>
            <p:cNvPr id="43" name="AutoShape 44">
              <a:extLst>
                <a:ext uri="{FF2B5EF4-FFF2-40B4-BE49-F238E27FC236}">
                  <a16:creationId xmlns:a16="http://schemas.microsoft.com/office/drawing/2014/main" id="{CA6C234E-23C8-4F7E-AC11-A4F2E4764C4F}"/>
                </a:ext>
              </a:extLst>
            </p:cNvPr>
            <p:cNvCxnSpPr>
              <a:cxnSpLocks noChangeShapeType="1"/>
              <a:stCxn id="33" idx="1"/>
              <a:endCxn id="36" idx="1"/>
            </p:cNvCxnSpPr>
            <p:nvPr/>
          </p:nvCxnSpPr>
          <p:spPr bwMode="auto">
            <a:xfrm rot="10800000" flipH="1" flipV="1">
              <a:off x="445" y="1432"/>
              <a:ext cx="195" cy="585"/>
            </a:xfrm>
            <a:prstGeom prst="curvedConnector3">
              <a:avLst>
                <a:gd name="adj1" fmla="val -70290"/>
              </a:avLst>
            </a:prstGeom>
            <a:noFill/>
            <a:ln w="19050" cap="rnd">
              <a:solidFill>
                <a:srgbClr val="0099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4" name="Text Box 7">
            <a:extLst>
              <a:ext uri="{FF2B5EF4-FFF2-40B4-BE49-F238E27FC236}">
                <a16:creationId xmlns:a16="http://schemas.microsoft.com/office/drawing/2014/main" id="{9F3FD91E-F6D8-4FC2-A646-395E359F6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925" y="4512787"/>
            <a:ext cx="1780680" cy="130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u="sng" dirty="0">
                <a:solidFill>
                  <a:schemeClr val="hlink"/>
                </a:solidFill>
              </a:rPr>
              <a:t>后序序列</a:t>
            </a:r>
          </a:p>
          <a:p>
            <a:pPr>
              <a:lnSpc>
                <a:spcPct val="150000"/>
              </a:lnSpc>
            </a:pPr>
            <a:r>
              <a:rPr kumimoji="1" lang="en-US" altLang="zh-CN" b="1" dirty="0">
                <a:solidFill>
                  <a:srgbClr val="008000"/>
                </a:solidFill>
                <a:ea typeface="黑体" panose="02010609060101010101" pitchFamily="49" charset="-122"/>
              </a:rPr>
              <a:t>D B E C A</a:t>
            </a:r>
            <a:endParaRPr kumimoji="1" lang="en-US" altLang="zh-CN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116025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2566C9-6708-483C-B286-EC33137A9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 </a:t>
            </a:r>
            <a:r>
              <a:rPr lang="en-US" altLang="zh-CN" dirty="0"/>
              <a:t>14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E4786B-0067-49D2-A46E-8FE3F511D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893752"/>
            <a:ext cx="8642659" cy="735048"/>
          </a:xfrm>
        </p:spPr>
        <p:txBody>
          <a:bodyPr/>
          <a:lstStyle/>
          <a:p>
            <a:pPr marL="0" indent="0">
              <a:buNone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画出以下二叉树对应的中序线索二叉树。</a:t>
            </a:r>
            <a:endParaRPr lang="zh-CN" altLang="en-US" dirty="0"/>
          </a:p>
        </p:txBody>
      </p:sp>
      <p:grpSp>
        <p:nvGrpSpPr>
          <p:cNvPr id="4" name="Group 42">
            <a:extLst>
              <a:ext uri="{FF2B5EF4-FFF2-40B4-BE49-F238E27FC236}">
                <a16:creationId xmlns:a16="http://schemas.microsoft.com/office/drawing/2014/main" id="{FBE4B5BE-A195-47F4-9EFF-9E80E9C503FC}"/>
              </a:ext>
            </a:extLst>
          </p:cNvPr>
          <p:cNvGrpSpPr/>
          <p:nvPr/>
        </p:nvGrpSpPr>
        <p:grpSpPr>
          <a:xfrm>
            <a:off x="855606" y="1912069"/>
            <a:ext cx="7431088" cy="4459289"/>
            <a:chOff x="644" y="1082"/>
            <a:chExt cx="4681" cy="2809"/>
          </a:xfrm>
        </p:grpSpPr>
        <p:grpSp>
          <p:nvGrpSpPr>
            <p:cNvPr id="5" name="Group 43">
              <a:extLst>
                <a:ext uri="{FF2B5EF4-FFF2-40B4-BE49-F238E27FC236}">
                  <a16:creationId xmlns:a16="http://schemas.microsoft.com/office/drawing/2014/main" id="{4D8B4270-D1CB-4274-8ECA-2728AF3E39A5}"/>
                </a:ext>
              </a:extLst>
            </p:cNvPr>
            <p:cNvGrpSpPr/>
            <p:nvPr/>
          </p:nvGrpSpPr>
          <p:grpSpPr>
            <a:xfrm>
              <a:off x="3056" y="1321"/>
              <a:ext cx="349" cy="359"/>
              <a:chOff x="3089" y="1206"/>
              <a:chExt cx="360" cy="359"/>
            </a:xfrm>
          </p:grpSpPr>
          <p:sp>
            <p:nvSpPr>
              <p:cNvPr id="40" name="Oval 44">
                <a:extLst>
                  <a:ext uri="{FF2B5EF4-FFF2-40B4-BE49-F238E27FC236}">
                    <a16:creationId xmlns:a16="http://schemas.microsoft.com/office/drawing/2014/main" id="{4E7FD7B9-841E-4A93-B704-EA68CCA6AE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9" y="1206"/>
                <a:ext cx="360" cy="359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1" name="Rectangle 45">
                <a:extLst>
                  <a:ext uri="{FF2B5EF4-FFF2-40B4-BE49-F238E27FC236}">
                    <a16:creationId xmlns:a16="http://schemas.microsoft.com/office/drawing/2014/main" id="{2FD59811-B923-4FB0-BC6D-87ED29A0C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7" y="1226"/>
                <a:ext cx="290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TW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ea"/>
                    <a:sym typeface="+mn-lt"/>
                  </a:rPr>
                  <a:t>A</a:t>
                </a:r>
              </a:p>
            </p:txBody>
          </p:sp>
        </p:grpSp>
        <p:grpSp>
          <p:nvGrpSpPr>
            <p:cNvPr id="6" name="Group 46">
              <a:extLst>
                <a:ext uri="{FF2B5EF4-FFF2-40B4-BE49-F238E27FC236}">
                  <a16:creationId xmlns:a16="http://schemas.microsoft.com/office/drawing/2014/main" id="{991C5AE4-F5CF-465E-BD56-CC4A19FE694D}"/>
                </a:ext>
              </a:extLst>
            </p:cNvPr>
            <p:cNvGrpSpPr/>
            <p:nvPr/>
          </p:nvGrpSpPr>
          <p:grpSpPr>
            <a:xfrm>
              <a:off x="1774" y="2055"/>
              <a:ext cx="349" cy="366"/>
              <a:chOff x="1766" y="1940"/>
              <a:chExt cx="360" cy="366"/>
            </a:xfrm>
          </p:grpSpPr>
          <p:sp>
            <p:nvSpPr>
              <p:cNvPr id="38" name="Oval 47">
                <a:extLst>
                  <a:ext uri="{FF2B5EF4-FFF2-40B4-BE49-F238E27FC236}">
                    <a16:creationId xmlns:a16="http://schemas.microsoft.com/office/drawing/2014/main" id="{6723B8FE-2807-40C6-838C-F3F0FD489B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6" y="1940"/>
                <a:ext cx="360" cy="359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9" name="Rectangle 48">
                <a:extLst>
                  <a:ext uri="{FF2B5EF4-FFF2-40B4-BE49-F238E27FC236}">
                    <a16:creationId xmlns:a16="http://schemas.microsoft.com/office/drawing/2014/main" id="{42E490D8-F0A2-4C7C-A0B2-A32680BBC0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8" y="1976"/>
                <a:ext cx="27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TW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ea"/>
                    <a:sym typeface="+mn-lt"/>
                  </a:rPr>
                  <a:t>B</a:t>
                </a:r>
              </a:p>
            </p:txBody>
          </p:sp>
        </p:grpSp>
        <p:sp>
          <p:nvSpPr>
            <p:cNvPr id="7" name="Line 49">
              <a:extLst>
                <a:ext uri="{FF2B5EF4-FFF2-40B4-BE49-F238E27FC236}">
                  <a16:creationId xmlns:a16="http://schemas.microsoft.com/office/drawing/2014/main" id="{42BCFB3B-1394-4E3B-A540-8D2F7CBCDF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6" y="1593"/>
              <a:ext cx="1011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8" name="Group 50">
              <a:extLst>
                <a:ext uri="{FF2B5EF4-FFF2-40B4-BE49-F238E27FC236}">
                  <a16:creationId xmlns:a16="http://schemas.microsoft.com/office/drawing/2014/main" id="{F2EC8C73-2399-45A6-90FA-4CDACFA94329}"/>
                </a:ext>
              </a:extLst>
            </p:cNvPr>
            <p:cNvGrpSpPr/>
            <p:nvPr/>
          </p:nvGrpSpPr>
          <p:grpSpPr>
            <a:xfrm>
              <a:off x="4374" y="2031"/>
              <a:ext cx="349" cy="359"/>
              <a:chOff x="4449" y="1916"/>
              <a:chExt cx="360" cy="359"/>
            </a:xfrm>
          </p:grpSpPr>
          <p:sp>
            <p:nvSpPr>
              <p:cNvPr id="36" name="Oval 51">
                <a:extLst>
                  <a:ext uri="{FF2B5EF4-FFF2-40B4-BE49-F238E27FC236}">
                    <a16:creationId xmlns:a16="http://schemas.microsoft.com/office/drawing/2014/main" id="{9B4260F1-1583-43D4-AEFA-906FC79062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9" y="1916"/>
                <a:ext cx="360" cy="359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7" name="Rectangle 52">
                <a:extLst>
                  <a:ext uri="{FF2B5EF4-FFF2-40B4-BE49-F238E27FC236}">
                    <a16:creationId xmlns:a16="http://schemas.microsoft.com/office/drawing/2014/main" id="{BBCED2B5-2D78-4830-90E4-C5AD293651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1945"/>
                <a:ext cx="27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TW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ea"/>
                    <a:sym typeface="+mn-lt"/>
                  </a:rPr>
                  <a:t>C</a:t>
                </a:r>
              </a:p>
            </p:txBody>
          </p:sp>
        </p:grpSp>
        <p:grpSp>
          <p:nvGrpSpPr>
            <p:cNvPr id="9" name="Group 53">
              <a:extLst>
                <a:ext uri="{FF2B5EF4-FFF2-40B4-BE49-F238E27FC236}">
                  <a16:creationId xmlns:a16="http://schemas.microsoft.com/office/drawing/2014/main" id="{8DA3677A-8A05-4EEF-8A1C-90848AD6F8E5}"/>
                </a:ext>
              </a:extLst>
            </p:cNvPr>
            <p:cNvGrpSpPr/>
            <p:nvPr/>
          </p:nvGrpSpPr>
          <p:grpSpPr>
            <a:xfrm>
              <a:off x="4976" y="2729"/>
              <a:ext cx="349" cy="359"/>
              <a:chOff x="5070" y="2614"/>
              <a:chExt cx="360" cy="359"/>
            </a:xfrm>
          </p:grpSpPr>
          <p:sp>
            <p:nvSpPr>
              <p:cNvPr id="34" name="Oval 54">
                <a:extLst>
                  <a:ext uri="{FF2B5EF4-FFF2-40B4-BE49-F238E27FC236}">
                    <a16:creationId xmlns:a16="http://schemas.microsoft.com/office/drawing/2014/main" id="{C174779E-F6B2-48F7-9EC3-5C53A1D6E8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70" y="2614"/>
                <a:ext cx="360" cy="359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5" name="Rectangle 55">
                <a:extLst>
                  <a:ext uri="{FF2B5EF4-FFF2-40B4-BE49-F238E27FC236}">
                    <a16:creationId xmlns:a16="http://schemas.microsoft.com/office/drawing/2014/main" id="{008F8937-C8B4-458B-B8FE-0B6992CF7B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4" y="2633"/>
                <a:ext cx="30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TW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ea"/>
                    <a:ea typeface="+mn-ea"/>
                    <a:cs typeface="+mn-ea"/>
                    <a:sym typeface="+mn-lt"/>
                  </a:rPr>
                  <a:t>G</a:t>
                </a:r>
              </a:p>
            </p:txBody>
          </p:sp>
        </p:grpSp>
        <p:sp>
          <p:nvSpPr>
            <p:cNvPr id="10" name="Line 56">
              <a:extLst>
                <a:ext uri="{FF2B5EF4-FFF2-40B4-BE49-F238E27FC236}">
                  <a16:creationId xmlns:a16="http://schemas.microsoft.com/office/drawing/2014/main" id="{AB791E74-72FD-4D66-B70A-E30DD216BF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3" y="2353"/>
              <a:ext cx="436" cy="3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1" name="Group 57">
              <a:extLst>
                <a:ext uri="{FF2B5EF4-FFF2-40B4-BE49-F238E27FC236}">
                  <a16:creationId xmlns:a16="http://schemas.microsoft.com/office/drawing/2014/main" id="{8B1EA84F-E0DF-41B4-ACFF-622E9AE24033}"/>
                </a:ext>
              </a:extLst>
            </p:cNvPr>
            <p:cNvGrpSpPr/>
            <p:nvPr/>
          </p:nvGrpSpPr>
          <p:grpSpPr>
            <a:xfrm>
              <a:off x="2496" y="2768"/>
              <a:ext cx="349" cy="366"/>
              <a:chOff x="2511" y="2653"/>
              <a:chExt cx="360" cy="366"/>
            </a:xfrm>
          </p:grpSpPr>
          <p:sp>
            <p:nvSpPr>
              <p:cNvPr id="32" name="Oval 58">
                <a:extLst>
                  <a:ext uri="{FF2B5EF4-FFF2-40B4-BE49-F238E27FC236}">
                    <a16:creationId xmlns:a16="http://schemas.microsoft.com/office/drawing/2014/main" id="{93696204-9BF0-4E4D-9357-F4D4A45A90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1" y="2653"/>
                <a:ext cx="360" cy="359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3" name="Rectangle 59">
                <a:extLst>
                  <a:ext uri="{FF2B5EF4-FFF2-40B4-BE49-F238E27FC236}">
                    <a16:creationId xmlns:a16="http://schemas.microsoft.com/office/drawing/2014/main" id="{66FA6947-5EAA-4115-B8BA-D246232C8A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9" y="2689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TW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ea"/>
                    <a:sym typeface="+mn-lt"/>
                  </a:rPr>
                  <a:t>E</a:t>
                </a:r>
              </a:p>
            </p:txBody>
          </p:sp>
        </p:grpSp>
        <p:grpSp>
          <p:nvGrpSpPr>
            <p:cNvPr id="12" name="Group 60">
              <a:extLst>
                <a:ext uri="{FF2B5EF4-FFF2-40B4-BE49-F238E27FC236}">
                  <a16:creationId xmlns:a16="http://schemas.microsoft.com/office/drawing/2014/main" id="{5AB10D88-5E42-4396-AE4C-EF94D66C65F8}"/>
                </a:ext>
              </a:extLst>
            </p:cNvPr>
            <p:cNvGrpSpPr/>
            <p:nvPr/>
          </p:nvGrpSpPr>
          <p:grpSpPr>
            <a:xfrm>
              <a:off x="1708" y="3514"/>
              <a:ext cx="348" cy="374"/>
              <a:chOff x="1697" y="3399"/>
              <a:chExt cx="360" cy="374"/>
            </a:xfrm>
          </p:grpSpPr>
          <p:sp>
            <p:nvSpPr>
              <p:cNvPr id="30" name="Oval 61">
                <a:extLst>
                  <a:ext uri="{FF2B5EF4-FFF2-40B4-BE49-F238E27FC236}">
                    <a16:creationId xmlns:a16="http://schemas.microsoft.com/office/drawing/2014/main" id="{2443AB40-A1C2-4B16-8707-DECAFC0222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7" y="3399"/>
                <a:ext cx="360" cy="359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1" name="Rectangle 62">
                <a:extLst>
                  <a:ext uri="{FF2B5EF4-FFF2-40B4-BE49-F238E27FC236}">
                    <a16:creationId xmlns:a16="http://schemas.microsoft.com/office/drawing/2014/main" id="{6ECAA709-8FF0-4329-B03E-129E91D6ED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2" y="3443"/>
                <a:ext cx="190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TW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ea"/>
                    <a:sym typeface="+mn-lt"/>
                  </a:rPr>
                  <a:t>I</a:t>
                </a:r>
              </a:p>
            </p:txBody>
          </p:sp>
        </p:grpSp>
        <p:sp>
          <p:nvSpPr>
            <p:cNvPr id="13" name="Line 63">
              <a:extLst>
                <a:ext uri="{FF2B5EF4-FFF2-40B4-BE49-F238E27FC236}">
                  <a16:creationId xmlns:a16="http://schemas.microsoft.com/office/drawing/2014/main" id="{F4972F3F-C214-412F-8471-29F92E8183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3103"/>
              <a:ext cx="422" cy="4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4" name="Group 64">
              <a:extLst>
                <a:ext uri="{FF2B5EF4-FFF2-40B4-BE49-F238E27FC236}">
                  <a16:creationId xmlns:a16="http://schemas.microsoft.com/office/drawing/2014/main" id="{2DB5845F-1627-4578-975F-0F575D21FD6C}"/>
                </a:ext>
              </a:extLst>
            </p:cNvPr>
            <p:cNvGrpSpPr/>
            <p:nvPr/>
          </p:nvGrpSpPr>
          <p:grpSpPr>
            <a:xfrm>
              <a:off x="1180" y="2772"/>
              <a:ext cx="349" cy="359"/>
              <a:chOff x="1153" y="2657"/>
              <a:chExt cx="360" cy="359"/>
            </a:xfrm>
          </p:grpSpPr>
          <p:sp>
            <p:nvSpPr>
              <p:cNvPr id="28" name="Oval 65">
                <a:extLst>
                  <a:ext uri="{FF2B5EF4-FFF2-40B4-BE49-F238E27FC236}">
                    <a16:creationId xmlns:a16="http://schemas.microsoft.com/office/drawing/2014/main" id="{71785A86-A3E2-49B1-A798-9C25D956B7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3" y="2657"/>
                <a:ext cx="360" cy="359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9" name="Rectangle 66">
                <a:extLst>
                  <a:ext uri="{FF2B5EF4-FFF2-40B4-BE49-F238E27FC236}">
                    <a16:creationId xmlns:a16="http://schemas.microsoft.com/office/drawing/2014/main" id="{1BCDB9DA-E07E-440A-B391-BD86279ED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8" y="2686"/>
                <a:ext cx="29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TW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ea"/>
                    <a:sym typeface="+mn-lt"/>
                  </a:rPr>
                  <a:t>D</a:t>
                </a:r>
              </a:p>
            </p:txBody>
          </p:sp>
        </p:grpSp>
        <p:grpSp>
          <p:nvGrpSpPr>
            <p:cNvPr id="15" name="Group 67">
              <a:extLst>
                <a:ext uri="{FF2B5EF4-FFF2-40B4-BE49-F238E27FC236}">
                  <a16:creationId xmlns:a16="http://schemas.microsoft.com/office/drawing/2014/main" id="{E8C6DB0D-25FC-4930-AFC6-4B7376F36EF7}"/>
                </a:ext>
              </a:extLst>
            </p:cNvPr>
            <p:cNvGrpSpPr/>
            <p:nvPr/>
          </p:nvGrpSpPr>
          <p:grpSpPr>
            <a:xfrm>
              <a:off x="644" y="3529"/>
              <a:ext cx="350" cy="362"/>
              <a:chOff x="598" y="3414"/>
              <a:chExt cx="360" cy="362"/>
            </a:xfrm>
          </p:grpSpPr>
          <p:sp>
            <p:nvSpPr>
              <p:cNvPr id="26" name="Oval 68">
                <a:extLst>
                  <a:ext uri="{FF2B5EF4-FFF2-40B4-BE49-F238E27FC236}">
                    <a16:creationId xmlns:a16="http://schemas.microsoft.com/office/drawing/2014/main" id="{9685946A-140E-4A44-B8CC-92F0DF8F09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8" y="3414"/>
                <a:ext cx="360" cy="359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7" name="Rectangle 69">
                <a:extLst>
                  <a:ext uri="{FF2B5EF4-FFF2-40B4-BE49-F238E27FC236}">
                    <a16:creationId xmlns:a16="http://schemas.microsoft.com/office/drawing/2014/main" id="{7CEA6370-9A56-43BE-9BAE-73C74FD513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3446"/>
                <a:ext cx="31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TW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ea"/>
                    <a:ea typeface="+mn-ea"/>
                    <a:cs typeface="+mn-ea"/>
                    <a:sym typeface="+mn-lt"/>
                  </a:rPr>
                  <a:t>H</a:t>
                </a:r>
              </a:p>
            </p:txBody>
          </p:sp>
        </p:grpSp>
        <p:grpSp>
          <p:nvGrpSpPr>
            <p:cNvPr id="16" name="Group 70">
              <a:extLst>
                <a:ext uri="{FF2B5EF4-FFF2-40B4-BE49-F238E27FC236}">
                  <a16:creationId xmlns:a16="http://schemas.microsoft.com/office/drawing/2014/main" id="{820DF7A4-A6AC-431F-8626-20A443A2558B}"/>
                </a:ext>
              </a:extLst>
            </p:cNvPr>
            <p:cNvGrpSpPr/>
            <p:nvPr/>
          </p:nvGrpSpPr>
          <p:grpSpPr>
            <a:xfrm>
              <a:off x="3750" y="2736"/>
              <a:ext cx="349" cy="359"/>
              <a:chOff x="3805" y="2621"/>
              <a:chExt cx="360" cy="359"/>
            </a:xfrm>
          </p:grpSpPr>
          <p:sp>
            <p:nvSpPr>
              <p:cNvPr id="24" name="Oval 71">
                <a:extLst>
                  <a:ext uri="{FF2B5EF4-FFF2-40B4-BE49-F238E27FC236}">
                    <a16:creationId xmlns:a16="http://schemas.microsoft.com/office/drawing/2014/main" id="{32E5ADDD-CF9C-4367-86EA-36FDD080F3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5" y="2621"/>
                <a:ext cx="360" cy="359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5" name="Rectangle 72">
                <a:extLst>
                  <a:ext uri="{FF2B5EF4-FFF2-40B4-BE49-F238E27FC236}">
                    <a16:creationId xmlns:a16="http://schemas.microsoft.com/office/drawing/2014/main" id="{EF3F6890-DCDC-4DF1-92B1-7EF4BDD0EF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9" y="2643"/>
                <a:ext cx="25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TW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ea typeface="+mn-ea"/>
                    <a:cs typeface="+mn-ea"/>
                    <a:sym typeface="+mn-lt"/>
                  </a:rPr>
                  <a:t>F</a:t>
                </a:r>
              </a:p>
            </p:txBody>
          </p:sp>
        </p:grpSp>
        <p:sp>
          <p:nvSpPr>
            <p:cNvPr id="17" name="Line 73">
              <a:extLst>
                <a:ext uri="{FF2B5EF4-FFF2-40B4-BE49-F238E27FC236}">
                  <a16:creationId xmlns:a16="http://schemas.microsoft.com/office/drawing/2014/main" id="{E2B2B59F-FFB5-4D59-8EA6-1E1D8FC8F2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08" y="2344"/>
              <a:ext cx="506" cy="3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Line 74">
              <a:extLst>
                <a:ext uri="{FF2B5EF4-FFF2-40B4-BE49-F238E27FC236}">
                  <a16:creationId xmlns:a16="http://schemas.microsoft.com/office/drawing/2014/main" id="{02CC3F3B-3C21-43B6-83B3-3F992AC89C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8" y="2373"/>
              <a:ext cx="578" cy="3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Line 75">
              <a:extLst>
                <a:ext uri="{FF2B5EF4-FFF2-40B4-BE49-F238E27FC236}">
                  <a16:creationId xmlns:a16="http://schemas.microsoft.com/office/drawing/2014/main" id="{672C6728-F054-450D-8245-97BF1F338F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3" y="2369"/>
              <a:ext cx="466" cy="4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Line 76">
              <a:extLst>
                <a:ext uri="{FF2B5EF4-FFF2-40B4-BE49-F238E27FC236}">
                  <a16:creationId xmlns:a16="http://schemas.microsoft.com/office/drawing/2014/main" id="{85D089BD-390F-4A4F-BB21-CABFB1D91D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7" y="3106"/>
              <a:ext cx="392" cy="4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Line 77">
              <a:extLst>
                <a:ext uri="{FF2B5EF4-FFF2-40B4-BE49-F238E27FC236}">
                  <a16:creationId xmlns:a16="http://schemas.microsoft.com/office/drawing/2014/main" id="{42005D46-5D9A-4904-8728-9AD8947370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1" y="1593"/>
              <a:ext cx="1023" cy="4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Line 78">
              <a:extLst>
                <a:ext uri="{FF2B5EF4-FFF2-40B4-BE49-F238E27FC236}">
                  <a16:creationId xmlns:a16="http://schemas.microsoft.com/office/drawing/2014/main" id="{4DA3E5CF-2513-4CF4-B107-56FC21A364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3" y="1321"/>
              <a:ext cx="510" cy="1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Rectangle 79">
              <a:extLst>
                <a:ext uri="{FF2B5EF4-FFF2-40B4-BE49-F238E27FC236}">
                  <a16:creationId xmlns:a16="http://schemas.microsoft.com/office/drawing/2014/main" id="{66823C0B-0702-45A4-AFE4-489250EC4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6" y="1082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TW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rPr>
                <a:t>root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358119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1E68EA-5952-42F8-B8D3-03BA64943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 </a:t>
            </a:r>
            <a:r>
              <a:rPr lang="en-US" altLang="zh-CN" dirty="0"/>
              <a:t>15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FB6CAF-5D30-4FEF-BA91-2DD09CC6B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960529"/>
            <a:ext cx="8642659" cy="812287"/>
          </a:xfrm>
        </p:spPr>
        <p:txBody>
          <a:bodyPr/>
          <a:lstStyle/>
          <a:p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画出以下二叉树对应的中序线索二叉树。</a:t>
            </a:r>
            <a:endParaRPr lang="zh-CN" altLang="en-US" dirty="0"/>
          </a:p>
        </p:txBody>
      </p:sp>
      <p:grpSp>
        <p:nvGrpSpPr>
          <p:cNvPr id="4" name="Group 7">
            <a:extLst>
              <a:ext uri="{FF2B5EF4-FFF2-40B4-BE49-F238E27FC236}">
                <a16:creationId xmlns:a16="http://schemas.microsoft.com/office/drawing/2014/main" id="{FF54B961-F5B9-4D86-84D7-A7B8BD441082}"/>
              </a:ext>
            </a:extLst>
          </p:cNvPr>
          <p:cNvGrpSpPr/>
          <p:nvPr/>
        </p:nvGrpSpPr>
        <p:grpSpPr>
          <a:xfrm>
            <a:off x="2638424" y="2347166"/>
            <a:ext cx="4309839" cy="3359022"/>
            <a:chOff x="1174" y="864"/>
            <a:chExt cx="2160" cy="1763"/>
          </a:xfrm>
        </p:grpSpPr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E85ACD23-C54A-4EF0-ABB4-4925BC2A8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2" y="864"/>
              <a:ext cx="314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rPr>
                <a:t>28</a:t>
              </a:r>
            </a:p>
          </p:txBody>
        </p:sp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67774F3C-9311-46A9-9F54-77D0C4A66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8" y="1392"/>
              <a:ext cx="314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rPr>
                <a:t>25</a:t>
              </a:r>
            </a:p>
          </p:txBody>
        </p:sp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DC071847-DD9B-4B73-9972-DA27AC564792}"/>
                </a:ext>
              </a:extLst>
            </p:cNvPr>
            <p:cNvGrpSpPr/>
            <p:nvPr/>
          </p:nvGrpSpPr>
          <p:grpSpPr>
            <a:xfrm>
              <a:off x="1669" y="1649"/>
              <a:ext cx="491" cy="250"/>
              <a:chOff x="2293" y="2321"/>
              <a:chExt cx="491" cy="250"/>
            </a:xfrm>
          </p:grpSpPr>
          <p:sp>
            <p:nvSpPr>
              <p:cNvPr id="21" name="Line 11">
                <a:extLst>
                  <a:ext uri="{FF2B5EF4-FFF2-40B4-BE49-F238E27FC236}">
                    <a16:creationId xmlns:a16="http://schemas.microsoft.com/office/drawing/2014/main" id="{B9279B31-36C3-40E3-BE27-12097A393B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93" y="2321"/>
                <a:ext cx="188" cy="240"/>
              </a:xfrm>
              <a:prstGeom prst="line">
                <a:avLst/>
              </a:prstGeom>
              <a:noFill/>
              <a:ln w="2222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2" name="Line 12">
                <a:extLst>
                  <a:ext uri="{FF2B5EF4-FFF2-40B4-BE49-F238E27FC236}">
                    <a16:creationId xmlns:a16="http://schemas.microsoft.com/office/drawing/2014/main" id="{A875A0A6-83B2-4A78-8DF7-E0F54A7B21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2331"/>
                <a:ext cx="144" cy="240"/>
              </a:xfrm>
              <a:prstGeom prst="line">
                <a:avLst/>
              </a:prstGeom>
              <a:noFill/>
              <a:ln w="2222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Group 13">
              <a:extLst>
                <a:ext uri="{FF2B5EF4-FFF2-40B4-BE49-F238E27FC236}">
                  <a16:creationId xmlns:a16="http://schemas.microsoft.com/office/drawing/2014/main" id="{606655D1-9B50-459E-B077-1D923B6EE938}"/>
                </a:ext>
              </a:extLst>
            </p:cNvPr>
            <p:cNvGrpSpPr/>
            <p:nvPr/>
          </p:nvGrpSpPr>
          <p:grpSpPr>
            <a:xfrm>
              <a:off x="2083" y="1113"/>
              <a:ext cx="580" cy="298"/>
              <a:chOff x="2275" y="2265"/>
              <a:chExt cx="580" cy="298"/>
            </a:xfrm>
          </p:grpSpPr>
          <p:sp>
            <p:nvSpPr>
              <p:cNvPr id="19" name="Line 14">
                <a:extLst>
                  <a:ext uri="{FF2B5EF4-FFF2-40B4-BE49-F238E27FC236}">
                    <a16:creationId xmlns:a16="http://schemas.microsoft.com/office/drawing/2014/main" id="{33A99E47-B3C4-47F8-84A9-5C3DEF1707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75" y="2291"/>
                <a:ext cx="196" cy="272"/>
              </a:xfrm>
              <a:prstGeom prst="line">
                <a:avLst/>
              </a:prstGeom>
              <a:noFill/>
              <a:ln w="2222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0" name="Line 15">
                <a:extLst>
                  <a:ext uri="{FF2B5EF4-FFF2-40B4-BE49-F238E27FC236}">
                    <a16:creationId xmlns:a16="http://schemas.microsoft.com/office/drawing/2014/main" id="{431A02AD-3028-4159-AD9E-85AC1DDEA8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12" y="2265"/>
                <a:ext cx="243" cy="279"/>
              </a:xfrm>
              <a:prstGeom prst="line">
                <a:avLst/>
              </a:prstGeom>
              <a:noFill/>
              <a:ln w="2222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9" name="Rectangle 16">
              <a:extLst>
                <a:ext uri="{FF2B5EF4-FFF2-40B4-BE49-F238E27FC236}">
                  <a16:creationId xmlns:a16="http://schemas.microsoft.com/office/drawing/2014/main" id="{48AFE2D3-3F83-4C98-9DF2-CAE57FE92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1872"/>
              <a:ext cx="314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rPr>
                <a:t>40</a:t>
              </a:r>
            </a:p>
          </p:txBody>
        </p:sp>
        <p:sp>
          <p:nvSpPr>
            <p:cNvPr id="10" name="Line 17">
              <a:extLst>
                <a:ext uri="{FF2B5EF4-FFF2-40B4-BE49-F238E27FC236}">
                  <a16:creationId xmlns:a16="http://schemas.microsoft.com/office/drawing/2014/main" id="{71659E35-7AA4-49F1-84BF-D76FC6A873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6" y="2122"/>
              <a:ext cx="192" cy="24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Rectangle 18">
              <a:extLst>
                <a:ext uri="{FF2B5EF4-FFF2-40B4-BE49-F238E27FC236}">
                  <a16:creationId xmlns:a16="http://schemas.microsoft.com/office/drawing/2014/main" id="{923F813F-A5E9-439F-B18C-E035EAD84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4" y="2352"/>
              <a:ext cx="314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rPr>
                <a:t>55</a:t>
              </a:r>
            </a:p>
          </p:txBody>
        </p:sp>
        <p:sp>
          <p:nvSpPr>
            <p:cNvPr id="12" name="Rectangle 19">
              <a:extLst>
                <a:ext uri="{FF2B5EF4-FFF2-40B4-BE49-F238E27FC236}">
                  <a16:creationId xmlns:a16="http://schemas.microsoft.com/office/drawing/2014/main" id="{3B003BEC-D586-4518-8D61-03E0A6AC7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0" y="1872"/>
              <a:ext cx="374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rPr>
                <a:t>60</a:t>
              </a:r>
            </a:p>
          </p:txBody>
        </p:sp>
        <p:sp>
          <p:nvSpPr>
            <p:cNvPr id="13" name="Rectangle 20">
              <a:extLst>
                <a:ext uri="{FF2B5EF4-FFF2-40B4-BE49-F238E27FC236}">
                  <a16:creationId xmlns:a16="http://schemas.microsoft.com/office/drawing/2014/main" id="{9C2B1D78-2766-4182-9320-13556D919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4" y="1392"/>
              <a:ext cx="314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rPr>
                <a:t>33</a:t>
              </a:r>
            </a:p>
          </p:txBody>
        </p:sp>
        <p:grpSp>
          <p:nvGrpSpPr>
            <p:cNvPr id="14" name="Group 21">
              <a:extLst>
                <a:ext uri="{FF2B5EF4-FFF2-40B4-BE49-F238E27FC236}">
                  <a16:creationId xmlns:a16="http://schemas.microsoft.com/office/drawing/2014/main" id="{076DE862-0414-4BFF-8979-8CACE9F7B010}"/>
                </a:ext>
              </a:extLst>
            </p:cNvPr>
            <p:cNvGrpSpPr/>
            <p:nvPr/>
          </p:nvGrpSpPr>
          <p:grpSpPr>
            <a:xfrm>
              <a:off x="2506" y="1670"/>
              <a:ext cx="481" cy="250"/>
              <a:chOff x="2340" y="2342"/>
              <a:chExt cx="481" cy="250"/>
            </a:xfrm>
          </p:grpSpPr>
          <p:sp>
            <p:nvSpPr>
              <p:cNvPr id="17" name="Line 22">
                <a:extLst>
                  <a:ext uri="{FF2B5EF4-FFF2-40B4-BE49-F238E27FC236}">
                    <a16:creationId xmlns:a16="http://schemas.microsoft.com/office/drawing/2014/main" id="{FC62BF00-0A75-4162-9BF1-E207AB79FD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40" y="2352"/>
                <a:ext cx="156" cy="240"/>
              </a:xfrm>
              <a:prstGeom prst="line">
                <a:avLst/>
              </a:prstGeom>
              <a:noFill/>
              <a:ln w="2222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8" name="Line 23">
                <a:extLst>
                  <a:ext uri="{FF2B5EF4-FFF2-40B4-BE49-F238E27FC236}">
                    <a16:creationId xmlns:a16="http://schemas.microsoft.com/office/drawing/2014/main" id="{22EC1AC0-5578-403C-A910-2F1F1AC2D6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9" y="2342"/>
                <a:ext cx="192" cy="240"/>
              </a:xfrm>
              <a:prstGeom prst="line">
                <a:avLst/>
              </a:prstGeom>
              <a:noFill/>
              <a:ln w="2222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15" name="Rectangle 24">
              <a:extLst>
                <a:ext uri="{FF2B5EF4-FFF2-40B4-BE49-F238E27FC236}">
                  <a16:creationId xmlns:a16="http://schemas.microsoft.com/office/drawing/2014/main" id="{9F445F90-310E-48D0-AA78-37F5E26E6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9" y="1872"/>
              <a:ext cx="314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rPr>
                <a:t>08</a:t>
              </a:r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2088064B-3CF1-4D62-8266-E044135B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1872"/>
              <a:ext cx="480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ea"/>
                  <a:sym typeface="+mn-lt"/>
                </a:rPr>
                <a:t>54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86652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YyYjA1ZGJjMGQ3Zjc4ZjRiYTA5MzdjMzk4NGFhZG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283b644-03c4-4809-b233-a0fb610fe8a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02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5"/>
  <p:tag name="KSO_WM_UNIT_FILL_FORE_SCHEMECOLOR_INDEX_2_TRANS" val="0"/>
  <p:tag name="KSO_WM_UNIT_FILL_FORE_SCHEMECOLOR_INDEX_3_BRIGHTNESS" val="-0.01"/>
  <p:tag name="KSO_WM_UNIT_FILL_FORE_SCHEMECOLOR_INDEX_3" val="7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7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5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5"/>
  <p:tag name="KSO_WM_UNIT_LINE_FILL_TYPE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5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5"/>
  <p:tag name="KSO_WM_UNIT_LINE_FILL_TYPE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02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5"/>
  <p:tag name="KSO_WM_UNIT_FILL_FORE_SCHEMECOLOR_INDEX_2_TRANS" val="0"/>
  <p:tag name="KSO_WM_UNIT_FILL_FORE_SCHEMECOLOR_INDEX_3_BRIGHTNESS" val="-0.01"/>
  <p:tag name="KSO_WM_UNIT_FILL_FORE_SCHEMECOLOR_INDEX_3" val="7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7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5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5"/>
  <p:tag name="KSO_WM_UNIT_LINE_FILL_TYPE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5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5"/>
  <p:tag name="KSO_WM_UNIT_LINE_FILL_TYPE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02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5"/>
  <p:tag name="KSO_WM_UNIT_FILL_FORE_SCHEMECOLOR_INDEX_2_TRANS" val="0"/>
  <p:tag name="KSO_WM_UNIT_FILL_FORE_SCHEMECOLOR_INDEX_3_BRIGHTNESS" val="-0.01"/>
  <p:tag name="KSO_WM_UNIT_FILL_FORE_SCHEMECOLOR_INDEX_3" val="7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7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5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5"/>
  <p:tag name="KSO_WM_UNIT_LINE_FILL_TYPE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5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5"/>
  <p:tag name="KSO_WM_UNIT_LINE_FILL_TYPE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02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5"/>
  <p:tag name="KSO_WM_UNIT_FILL_FORE_SCHEMECOLOR_INDEX_2_TRANS" val="0"/>
  <p:tag name="KSO_WM_UNIT_FILL_FORE_SCHEMECOLOR_INDEX_3_BRIGHTNESS" val="-0.01"/>
  <p:tag name="KSO_WM_UNIT_FILL_FORE_SCHEMECOLOR_INDEX_3" val="7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7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5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5"/>
  <p:tag name="KSO_WM_UNIT_LINE_FILL_TYP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5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5"/>
  <p:tag name="KSO_WM_UNIT_LINE_FILL_TYP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02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5"/>
  <p:tag name="KSO_WM_UNIT_FILL_FORE_SCHEMECOLOR_INDEX_2_TRANS" val="0"/>
  <p:tag name="KSO_WM_UNIT_FILL_FORE_SCHEMECOLOR_INDEX_3_BRIGHTNESS" val="-0.01"/>
  <p:tag name="KSO_WM_UNIT_FILL_FORE_SCHEMECOLOR_INDEX_3" val="7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7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5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5"/>
  <p:tag name="KSO_WM_UNIT_LINE_FILL_TYP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5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5"/>
  <p:tag name="KSO_WM_UNIT_LINE_FILL_TYP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02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5"/>
  <p:tag name="KSO_WM_UNIT_FILL_FORE_SCHEMECOLOR_INDEX_2_TRANS" val="0"/>
  <p:tag name="KSO_WM_UNIT_FILL_FORE_SCHEMECOLOR_INDEX_3_BRIGHTNESS" val="-0.01"/>
  <p:tag name="KSO_WM_UNIT_FILL_FORE_SCHEMECOLOR_INDEX_3" val="6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6"/>
  <p:tag name="KSO_WM_UNIT_LINE_FILL_TYPE" val="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02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5"/>
  <p:tag name="KSO_WM_UNIT_FILL_FORE_SCHEMECOLOR_INDEX_2_TRANS" val="0"/>
  <p:tag name="KSO_WM_UNIT_FILL_FORE_SCHEMECOLOR_INDEX_3_BRIGHTNESS" val="-0.01"/>
  <p:tag name="KSO_WM_UNIT_FILL_FORE_SCHEMECOLOR_INDEX_3" val="6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6"/>
  <p:tag name="KSO_WM_UNIT_LINE_FILL_TYPE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1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1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1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1"/>
  <p:tag name="KSO_WM_UNIT_LINE_FILL_TYPE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1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1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1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1"/>
  <p:tag name="KSO_WM_UNIT_LINE_FILL_TYPE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1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1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1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1"/>
  <p:tag name="KSO_WM_UNIT_LINE_FILL_TYPE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1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1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1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1"/>
  <p:tag name="KSO_WM_UNIT_LINE_FILL_TYPE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1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1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1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1"/>
  <p:tag name="KSO_WM_UNIT_LINE_FILL_TYPE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1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1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1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1"/>
  <p:tag name="KSO_WM_UNIT_LINE_FILL_TYPE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1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1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1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1"/>
  <p:tag name="KSO_WM_UNIT_LINE_FILL_TYPE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1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1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1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1"/>
  <p:tag name="KSO_WM_UNIT_LINE_FILL_TYPE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.1"/>
  <p:tag name="KSO_WM_UNIT_FILL_FORE_SCHEMECOLOR_INDEX_1" val="9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9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9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BRIGHTNESS" val="0"/>
  <p:tag name="KSO_WM_UNIT_LINE_FORE_SCHEMECOLOR_INDEX" val="9"/>
  <p:tag name="KSO_WM_UNIT_LINE_FILL_TYPE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heme/theme1.xml><?xml version="1.0" encoding="utf-8"?>
<a:theme xmlns:a="http://schemas.openxmlformats.org/drawingml/2006/main" name="1_默认设计模板">
  <a:themeElements>
    <a:clrScheme name="自定义 33">
      <a:dk1>
        <a:srgbClr val="000000"/>
      </a:dk1>
      <a:lt1>
        <a:srgbClr val="FEFFFF"/>
      </a:lt1>
      <a:dk2>
        <a:srgbClr val="000000"/>
      </a:dk2>
      <a:lt2>
        <a:srgbClr val="969696"/>
      </a:lt2>
      <a:accent1>
        <a:srgbClr val="6C4C8F"/>
      </a:accent1>
      <a:accent2>
        <a:srgbClr val="3333CC"/>
      </a:accent2>
      <a:accent3>
        <a:srgbClr val="FE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3366"/>
      </a:folHlink>
    </a:clrScheme>
    <a:fontScheme name="zrfpac5l">
      <a:majorFont>
        <a:latin typeface="Times New Roman"/>
        <a:ea typeface="Microsoft YaHei"/>
        <a:cs typeface=""/>
      </a:majorFont>
      <a:minorFont>
        <a:latin typeface="Times New Roman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ixel">
  <a:themeElements>
    <a:clrScheme name="">
      <a:dk1>
        <a:srgbClr val="000099"/>
      </a:dk1>
      <a:lt1>
        <a:srgbClr val="FFFFFF"/>
      </a:lt1>
      <a:dk2>
        <a:srgbClr val="CC0000"/>
      </a:dk2>
      <a:lt2>
        <a:srgbClr val="0000CC"/>
      </a:lt2>
      <a:accent1>
        <a:srgbClr val="CCFFCC"/>
      </a:accent1>
      <a:accent2>
        <a:srgbClr val="3366FF"/>
      </a:accent2>
      <a:accent3>
        <a:srgbClr val="FFFFFF"/>
      </a:accent3>
      <a:accent4>
        <a:srgbClr val="000082"/>
      </a:accent4>
      <a:accent5>
        <a:srgbClr val="E2FFE2"/>
      </a:accent5>
      <a:accent6>
        <a:srgbClr val="2D5CE7"/>
      </a:accent6>
      <a:hlink>
        <a:srgbClr val="800000"/>
      </a:hlink>
      <a:folHlink>
        <a:srgbClr val="E1E1E1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3">
        <a:dk1>
          <a:srgbClr val="000099"/>
        </a:dk1>
        <a:lt1>
          <a:srgbClr val="FFFFFF"/>
        </a:lt1>
        <a:dk2>
          <a:srgbClr val="CC0000"/>
        </a:dk2>
        <a:lt2>
          <a:srgbClr val="808080"/>
        </a:lt2>
        <a:accent1>
          <a:srgbClr val="FFCC66"/>
        </a:accent1>
        <a:accent2>
          <a:srgbClr val="CC0000"/>
        </a:accent2>
        <a:accent3>
          <a:srgbClr val="FFFFFF"/>
        </a:accent3>
        <a:accent4>
          <a:srgbClr val="000082"/>
        </a:accent4>
        <a:accent5>
          <a:srgbClr val="FFE2B8"/>
        </a:accent5>
        <a:accent6>
          <a:srgbClr val="B90000"/>
        </a:accent6>
        <a:hlink>
          <a:srgbClr val="0000CC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4">
        <a:dk1>
          <a:srgbClr val="000099"/>
        </a:dk1>
        <a:lt1>
          <a:srgbClr val="FFFFFF"/>
        </a:lt1>
        <a:dk2>
          <a:srgbClr val="CC0000"/>
        </a:dk2>
        <a:lt2>
          <a:srgbClr val="0000CC"/>
        </a:lt2>
        <a:accent1>
          <a:srgbClr val="FFCC66"/>
        </a:accent1>
        <a:accent2>
          <a:srgbClr val="CC0000"/>
        </a:accent2>
        <a:accent3>
          <a:srgbClr val="FFFFFF"/>
        </a:accent3>
        <a:accent4>
          <a:srgbClr val="000082"/>
        </a:accent4>
        <a:accent5>
          <a:srgbClr val="FFE2B8"/>
        </a:accent5>
        <a:accent6>
          <a:srgbClr val="B90000"/>
        </a:accent6>
        <a:hlink>
          <a:srgbClr val="8000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5">
        <a:dk1>
          <a:srgbClr val="000099"/>
        </a:dk1>
        <a:lt1>
          <a:srgbClr val="FFFFFF"/>
        </a:lt1>
        <a:dk2>
          <a:srgbClr val="CC0000"/>
        </a:dk2>
        <a:lt2>
          <a:srgbClr val="0000CC"/>
        </a:lt2>
        <a:accent1>
          <a:srgbClr val="FFCC66"/>
        </a:accent1>
        <a:accent2>
          <a:srgbClr val="99FFCC"/>
        </a:accent2>
        <a:accent3>
          <a:srgbClr val="FFFFFF"/>
        </a:accent3>
        <a:accent4>
          <a:srgbClr val="000082"/>
        </a:accent4>
        <a:accent5>
          <a:srgbClr val="FFE2B8"/>
        </a:accent5>
        <a:accent6>
          <a:srgbClr val="8AE7B9"/>
        </a:accent6>
        <a:hlink>
          <a:srgbClr val="8000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6">
        <a:dk1>
          <a:srgbClr val="000099"/>
        </a:dk1>
        <a:lt1>
          <a:srgbClr val="FFFFFF"/>
        </a:lt1>
        <a:dk2>
          <a:srgbClr val="CC0000"/>
        </a:dk2>
        <a:lt2>
          <a:srgbClr val="0000CC"/>
        </a:lt2>
        <a:accent1>
          <a:srgbClr val="99FFCC"/>
        </a:accent1>
        <a:accent2>
          <a:srgbClr val="99FFCC"/>
        </a:accent2>
        <a:accent3>
          <a:srgbClr val="FFFFFF"/>
        </a:accent3>
        <a:accent4>
          <a:srgbClr val="000082"/>
        </a:accent4>
        <a:accent5>
          <a:srgbClr val="CAFFE2"/>
        </a:accent5>
        <a:accent6>
          <a:srgbClr val="8AE7B9"/>
        </a:accent6>
        <a:hlink>
          <a:srgbClr val="8000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16989</TotalTime>
  <Words>8532</Words>
  <Application>Microsoft Office PowerPoint</Application>
  <PresentationFormat>全屏显示(4:3)</PresentationFormat>
  <Paragraphs>1264</Paragraphs>
  <Slides>112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112</vt:i4>
      </vt:variant>
    </vt:vector>
  </HeadingPairs>
  <TitlesOfParts>
    <vt:vector size="131" baseType="lpstr">
      <vt:lpstr>DengXian</vt:lpstr>
      <vt:lpstr>仿宋_GB2312</vt:lpstr>
      <vt:lpstr>黑体</vt:lpstr>
      <vt:lpstr>华文新魏</vt:lpstr>
      <vt:lpstr>楷体_GB2312</vt:lpstr>
      <vt:lpstr>Microsoft YaHei</vt:lpstr>
      <vt:lpstr>Microsoft YaHei</vt:lpstr>
      <vt:lpstr>Arial</vt:lpstr>
      <vt:lpstr>Arial Black</vt:lpstr>
      <vt:lpstr>Calibri</vt:lpstr>
      <vt:lpstr>Cambria Math</vt:lpstr>
      <vt:lpstr>Comic Sans MS</vt:lpstr>
      <vt:lpstr>Consolas</vt:lpstr>
      <vt:lpstr>Courier New</vt:lpstr>
      <vt:lpstr>Lucida Calligraphy</vt:lpstr>
      <vt:lpstr>Times New Roman</vt:lpstr>
      <vt:lpstr>Wingdings</vt:lpstr>
      <vt:lpstr>1_默认设计模板</vt:lpstr>
      <vt:lpstr>Pixel</vt:lpstr>
      <vt:lpstr>目录（Contents）</vt:lpstr>
      <vt:lpstr>PowerPoint 演示文稿</vt:lpstr>
      <vt:lpstr>二叉树的5种基本形态</vt:lpstr>
      <vt:lpstr>PowerPoint 演示文稿</vt:lpstr>
      <vt:lpstr>PowerPoint 演示文稿</vt:lpstr>
      <vt:lpstr>特殊形态的二叉树</vt:lpstr>
      <vt:lpstr>满二叉树（full binary tree）</vt:lpstr>
      <vt:lpstr>完美二叉树（perfect binary tree）</vt:lpstr>
      <vt:lpstr>完全二叉树（complete binary tree）</vt:lpstr>
      <vt:lpstr>完全二叉树（complete binary tree）</vt:lpstr>
      <vt:lpstr>非完全二叉树示例</vt:lpstr>
      <vt:lpstr>二叉树的基本性质</vt:lpstr>
      <vt:lpstr>二叉树的基本性质</vt:lpstr>
      <vt:lpstr>二叉树的基本性质</vt:lpstr>
      <vt:lpstr>二叉树的基本性质</vt:lpstr>
      <vt:lpstr>完全二叉树的分层编号</vt:lpstr>
      <vt:lpstr>完全二叉树的分层编号</vt:lpstr>
      <vt:lpstr>课堂讨论 2</vt:lpstr>
      <vt:lpstr>课堂讨论 3</vt:lpstr>
      <vt:lpstr>课堂讨论 4</vt:lpstr>
      <vt:lpstr>课堂讨论 5</vt:lpstr>
      <vt:lpstr>课堂讨论 6</vt:lpstr>
      <vt:lpstr>目录（Contents）</vt:lpstr>
      <vt:lpstr>二叉树的顺序存储</vt:lpstr>
      <vt:lpstr>完全二叉树的顺序存储</vt:lpstr>
      <vt:lpstr>非完全二叉树的顺序存储</vt:lpstr>
      <vt:lpstr>二叉树的顺序存储</vt:lpstr>
      <vt:lpstr>二叉树的链式存储</vt:lpstr>
      <vt:lpstr>二叉链表</vt:lpstr>
      <vt:lpstr>二叉链表</vt:lpstr>
      <vt:lpstr>课堂讨论 7</vt:lpstr>
      <vt:lpstr>PowerPoint 演示文稿</vt:lpstr>
      <vt:lpstr>三叉链表</vt:lpstr>
      <vt:lpstr>静态链表结构</vt:lpstr>
      <vt:lpstr>目录（Contents）</vt:lpstr>
      <vt:lpstr>遍历二叉树</vt:lpstr>
      <vt:lpstr>遍历二叉树</vt:lpstr>
      <vt:lpstr>思考练习</vt:lpstr>
      <vt:lpstr>二叉树遍历的递归算法</vt:lpstr>
      <vt:lpstr>前序遍历（Pre-order Traversal）的递归算法</vt:lpstr>
      <vt:lpstr>中序遍历（In-order Traversal）的递归算法</vt:lpstr>
      <vt:lpstr>后序遍历（Post-order Traversal）的递归算法</vt:lpstr>
      <vt:lpstr>PowerPoint 演示文稿</vt:lpstr>
      <vt:lpstr>PowerPoint 演示文稿</vt:lpstr>
      <vt:lpstr>二叉树递归遍历算法的应用</vt:lpstr>
      <vt:lpstr>二叉树递归遍历算法的应用</vt:lpstr>
      <vt:lpstr>课堂讨论 8</vt:lpstr>
      <vt:lpstr>二叉树递归遍历算法的应用</vt:lpstr>
      <vt:lpstr>二叉树递归遍历算法的应用</vt:lpstr>
      <vt:lpstr>二叉树递归遍历算法的应用</vt:lpstr>
      <vt:lpstr>课堂讨论 9</vt:lpstr>
      <vt:lpstr>课堂讨论 10</vt:lpstr>
      <vt:lpstr>二叉树递归遍历算法的应用</vt:lpstr>
      <vt:lpstr>二叉树递归遍历算法的应用</vt:lpstr>
      <vt:lpstr>表达式树</vt:lpstr>
      <vt:lpstr>表达式树</vt:lpstr>
      <vt:lpstr>表达式树</vt:lpstr>
      <vt:lpstr>表达式树转换为中缀表达式</vt:lpstr>
      <vt:lpstr>表达式树转换为中缀表达式</vt:lpstr>
      <vt:lpstr>二叉树遍历的非递归算法</vt:lpstr>
      <vt:lpstr>前序遍历的非递归算法 1</vt:lpstr>
      <vt:lpstr>前序遍历的非递归算法 1</vt:lpstr>
      <vt:lpstr>前序遍历的非递归算法 1</vt:lpstr>
      <vt:lpstr>前序遍历的非递归算法 2</vt:lpstr>
      <vt:lpstr>前序遍历的非递归算法 2</vt:lpstr>
      <vt:lpstr>前序遍历的非递归算法 2</vt:lpstr>
      <vt:lpstr>中序遍历的非递归算法</vt:lpstr>
      <vt:lpstr>中序遍历的非递归算法</vt:lpstr>
      <vt:lpstr>中序遍历的非递归算法</vt:lpstr>
      <vt:lpstr>后序遍历的非递归算法</vt:lpstr>
      <vt:lpstr>后序遍历的非递归算法</vt:lpstr>
      <vt:lpstr>后序遍历的非递归算法</vt:lpstr>
      <vt:lpstr>后序遍历的非递归算法</vt:lpstr>
      <vt:lpstr>课堂讨论 11</vt:lpstr>
      <vt:lpstr>后序遍历的非递归算法 2（双栈法）</vt:lpstr>
      <vt:lpstr>后序遍历的非递归算法 2（双栈法）</vt:lpstr>
      <vt:lpstr>二叉树的层序遍历</vt:lpstr>
      <vt:lpstr>二叉树的层序遍历算法</vt:lpstr>
      <vt:lpstr>非递归遍历算法分析</vt:lpstr>
      <vt:lpstr>二叉树的序列化与反序列化</vt:lpstr>
      <vt:lpstr>二叉树的序列化与反序列化</vt:lpstr>
      <vt:lpstr>二叉树的序列化与反序列化</vt:lpstr>
      <vt:lpstr>PowerPoint 演示文稿</vt:lpstr>
      <vt:lpstr>PowerPoint 演示文稿</vt:lpstr>
      <vt:lpstr>PowerPoint 演示文稿</vt:lpstr>
      <vt:lpstr>前序遍历序列化与反序列化</vt:lpstr>
      <vt:lpstr>前序遍历序列化</vt:lpstr>
      <vt:lpstr>前序遍历序列化</vt:lpstr>
      <vt:lpstr>前序遍历反序列化</vt:lpstr>
      <vt:lpstr>前序遍历反序列化</vt:lpstr>
      <vt:lpstr>目录（Contents）</vt:lpstr>
      <vt:lpstr>线索二叉树 (Threaded Binary Tree)</vt:lpstr>
      <vt:lpstr>线索</vt:lpstr>
      <vt:lpstr>线索</vt:lpstr>
      <vt:lpstr>线索二叉树及其链表表示</vt:lpstr>
      <vt:lpstr>线索二叉树的结构定义</vt:lpstr>
      <vt:lpstr>建立中序线索二叉树</vt:lpstr>
      <vt:lpstr>建立中序线索二叉树</vt:lpstr>
      <vt:lpstr>建立中序线索二叉树</vt:lpstr>
      <vt:lpstr>建立中序线索二叉树</vt:lpstr>
      <vt:lpstr>建立中序线索二叉树</vt:lpstr>
      <vt:lpstr>建立中序线索二叉树</vt:lpstr>
      <vt:lpstr>建立中序线索二叉树</vt:lpstr>
      <vt:lpstr>建立中序线索二叉树</vt:lpstr>
      <vt:lpstr>建立中序线索二叉树</vt:lpstr>
      <vt:lpstr>寻找当前结点在中序下的后继</vt:lpstr>
      <vt:lpstr>线索二叉树的中序遍历</vt:lpstr>
      <vt:lpstr>寻找当前结点在中序下的前驱</vt:lpstr>
      <vt:lpstr>前序线索二叉树</vt:lpstr>
      <vt:lpstr>后序线索二叉树</vt:lpstr>
      <vt:lpstr>课堂讨论 14</vt:lpstr>
      <vt:lpstr>课堂讨论 15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lx</dc:creator>
  <cp:lastModifiedBy>Wang Qiuyue</cp:lastModifiedBy>
  <cp:revision>393</cp:revision>
  <dcterms:created xsi:type="dcterms:W3CDTF">2018-11-02T06:03:00Z</dcterms:created>
  <dcterms:modified xsi:type="dcterms:W3CDTF">2025-11-07T06:06:56Z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BB9AFE0996D2412F8938B6B22E38AD83</vt:lpwstr>
  </property>
  <property fmtid="{D5CDD505-2E9C-101B-9397-08002B2CF9AE}" pid="3" name="KSOProductBuildVer">
    <vt:lpwstr>2052-11.1.0.12358</vt:lpwstr>
  </property>
</Properties>
</file>